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37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BCF38-3086-4DA8-95E6-7595442C52E1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41936-0635-4AC7-819F-0FC38D771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91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60F51-7699-4A04-AB41-B81E279D9893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60DA-B98A-4574-98EE-AAAA4F152DEF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A7A6C-A8DC-4E84-B844-A1FD41005B50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50466-A44C-4F16-8927-DE9E3DA59BCA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C2BA4-E73D-45DE-9D1F-6B63598FC516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12027535" cy="713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72949" y="2157137"/>
            <a:ext cx="7570470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46201" y="8207366"/>
            <a:ext cx="6096634" cy="371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14864-5E84-4B04-9454-BF75CD6304B2}" type="datetime1">
              <a:rPr lang="en-US" altLang="ko-KR" smtClean="0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2201" rIns="0" bIns="0" rtlCol="0">
            <a:spAutoFit/>
          </a:bodyPr>
          <a:lstStyle/>
          <a:p>
            <a:pPr marL="61594" algn="ctr">
              <a:lnSpc>
                <a:spcPct val="100000"/>
              </a:lnSpc>
              <a:spcBef>
                <a:spcPts val="2860"/>
              </a:spcBef>
            </a:pPr>
            <a:r>
              <a:rPr spc="-365" dirty="0"/>
              <a:t>Preprocessing</a:t>
            </a:r>
            <a:r>
              <a:rPr spc="-330" dirty="0"/>
              <a:t> </a:t>
            </a:r>
            <a:r>
              <a:rPr spc="-20" dirty="0"/>
              <a:t>data</a:t>
            </a:r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16445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0890E75-5ED7-E056-6548-9786434EBA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0" dirty="0"/>
              <a:t>scikit-</a:t>
            </a:r>
            <a:r>
              <a:rPr spc="-204" dirty="0"/>
              <a:t>learn</a:t>
            </a:r>
            <a:r>
              <a:rPr spc="-85" dirty="0"/>
              <a:t> </a:t>
            </a:r>
            <a:r>
              <a:rPr spc="-275" dirty="0"/>
              <a:t>requirements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278511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Numeric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No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missing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values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47996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961020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4616072"/>
            <a:ext cx="122822" cy="1228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7056" y="3205245"/>
            <a:ext cx="7494270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773170" indent="-368935">
              <a:lnSpc>
                <a:spcPct val="126400"/>
              </a:lnSpc>
              <a:spcBef>
                <a:spcPts val="95"/>
              </a:spcBef>
            </a:pP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real-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world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data: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This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rarely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case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will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often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need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preprocess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our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first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4D368A3E-6BD1-CF6E-7390-FF5C697AE1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0" dirty="0"/>
              <a:t>Dealing</a:t>
            </a:r>
            <a:r>
              <a:rPr spc="-140" dirty="0"/>
              <a:t> </a:t>
            </a:r>
            <a:r>
              <a:rPr spc="-330" dirty="0"/>
              <a:t>with</a:t>
            </a:r>
            <a:r>
              <a:rPr spc="-140" dirty="0"/>
              <a:t> </a:t>
            </a:r>
            <a:r>
              <a:rPr spc="-135" dirty="0"/>
              <a:t>categorical</a:t>
            </a:r>
            <a:r>
              <a:rPr spc="-140" dirty="0"/>
              <a:t> </a:t>
            </a:r>
            <a:r>
              <a:rPr spc="-155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6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9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142203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797256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174581"/>
            <a:ext cx="8933180" cy="287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scikit-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learn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will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accept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categorical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default</a:t>
            </a:r>
            <a:endParaRPr sz="2550">
              <a:latin typeface="Tahoma"/>
              <a:cs typeface="Tahoma"/>
            </a:endParaRPr>
          </a:p>
          <a:p>
            <a:pPr marL="12700" marR="161925">
              <a:lnSpc>
                <a:spcPts val="5160"/>
              </a:lnSpc>
              <a:spcBef>
                <a:spcPts val="520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Need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convert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categorical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numeric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values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Convert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binary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called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dummy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variables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8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0: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Observation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was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category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-365" dirty="0">
                <a:solidFill>
                  <a:srgbClr val="04182D"/>
                </a:solidFill>
                <a:latin typeface="Tahoma"/>
                <a:cs typeface="Tahoma"/>
              </a:rPr>
              <a:t>1: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Observation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was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category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E63DE55-B30B-ADA4-F9DF-B4B36BD22E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Dummy</a:t>
            </a:r>
            <a:r>
              <a:rPr spc="-120" dirty="0"/>
              <a:t> </a:t>
            </a:r>
            <a:r>
              <a:rPr spc="-175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746" y="1166812"/>
            <a:ext cx="14552462" cy="526089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A4FA08-B4CD-D46C-0D54-24A57F38E1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Dummy</a:t>
            </a:r>
            <a:r>
              <a:rPr spc="-120" dirty="0"/>
              <a:t> </a:t>
            </a:r>
            <a:r>
              <a:rPr spc="-175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537" y="1166809"/>
            <a:ext cx="14540422" cy="403266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16D4C2-55C8-839A-00DB-997309D8EF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Dummy</a:t>
            </a:r>
            <a:r>
              <a:rPr spc="-120" dirty="0"/>
              <a:t> </a:t>
            </a:r>
            <a:r>
              <a:rPr spc="-175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558" y="1166812"/>
            <a:ext cx="14557650" cy="403266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1DE60D-58A3-6FB0-7A36-E60C9E6D14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1145667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0" dirty="0"/>
              <a:t>Dealing</a:t>
            </a:r>
            <a:r>
              <a:rPr spc="-140" dirty="0"/>
              <a:t> </a:t>
            </a:r>
            <a:r>
              <a:rPr spc="-330" dirty="0"/>
              <a:t>with</a:t>
            </a:r>
            <a:r>
              <a:rPr spc="-140" dirty="0"/>
              <a:t> </a:t>
            </a:r>
            <a:r>
              <a:rPr spc="-135" dirty="0"/>
              <a:t>categorical </a:t>
            </a:r>
            <a:r>
              <a:rPr spc="-220" dirty="0"/>
              <a:t>features</a:t>
            </a:r>
            <a:r>
              <a:rPr spc="-140" dirty="0"/>
              <a:t> </a:t>
            </a:r>
            <a:r>
              <a:rPr spc="-265" dirty="0"/>
              <a:t>in</a:t>
            </a:r>
            <a:r>
              <a:rPr spc="-135" dirty="0"/>
              <a:t> </a:t>
            </a:r>
            <a:r>
              <a:rPr spc="-120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763503" y="1207753"/>
            <a:ext cx="2661285" cy="429895"/>
          </a:xfrm>
          <a:custGeom>
            <a:avLst/>
            <a:gdLst/>
            <a:ahLst/>
            <a:cxnLst/>
            <a:rect l="l" t="t" r="r" b="b"/>
            <a:pathLst>
              <a:path w="2661285" h="429894">
                <a:moveTo>
                  <a:pt x="2584644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584644" y="0"/>
                </a:lnTo>
                <a:lnTo>
                  <a:pt x="2629230" y="16786"/>
                </a:lnTo>
                <a:lnTo>
                  <a:pt x="2656974" y="55513"/>
                </a:lnTo>
                <a:lnTo>
                  <a:pt x="2661151" y="76505"/>
                </a:lnTo>
                <a:lnTo>
                  <a:pt x="2661151" y="353373"/>
                </a:lnTo>
                <a:lnTo>
                  <a:pt x="2644363" y="397957"/>
                </a:lnTo>
                <a:lnTo>
                  <a:pt x="2605636" y="425702"/>
                </a:lnTo>
                <a:lnTo>
                  <a:pt x="2589970" y="429353"/>
                </a:lnTo>
                <a:lnTo>
                  <a:pt x="2584644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210802" y="1862805"/>
            <a:ext cx="2333625" cy="429895"/>
          </a:xfrm>
          <a:custGeom>
            <a:avLst/>
            <a:gdLst/>
            <a:ahLst/>
            <a:cxnLst/>
            <a:rect l="l" t="t" r="r" b="b"/>
            <a:pathLst>
              <a:path w="2333625" h="429894">
                <a:moveTo>
                  <a:pt x="225711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257119" y="0"/>
                </a:lnTo>
                <a:lnTo>
                  <a:pt x="2301704" y="16786"/>
                </a:lnTo>
                <a:lnTo>
                  <a:pt x="2329449" y="55513"/>
                </a:lnTo>
                <a:lnTo>
                  <a:pt x="2333624" y="76505"/>
                </a:lnTo>
                <a:lnTo>
                  <a:pt x="2333624" y="353373"/>
                </a:lnTo>
                <a:lnTo>
                  <a:pt x="2316838" y="397957"/>
                </a:lnTo>
                <a:lnTo>
                  <a:pt x="2278110" y="425702"/>
                </a:lnTo>
                <a:lnTo>
                  <a:pt x="2262444" y="429353"/>
                </a:lnTo>
                <a:lnTo>
                  <a:pt x="225711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7056" y="1174582"/>
            <a:ext cx="455295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60245" algn="l"/>
              </a:tabLst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scikit-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learn: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OneHotEncoder()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1413510" algn="l"/>
              </a:tabLst>
            </a:pP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pandas: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get_dummies()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4B00606-07C4-D33D-E406-8C4250AA1C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Music</a:t>
            </a:r>
            <a:r>
              <a:rPr spc="-180" dirty="0"/>
              <a:t> </a:t>
            </a:r>
            <a:r>
              <a:rPr spc="-150" dirty="0"/>
              <a:t>dataset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2476917"/>
            <a:ext cx="14575155" cy="675640"/>
          </a:xfrm>
          <a:custGeom>
            <a:avLst/>
            <a:gdLst/>
            <a:ahLst/>
            <a:cxnLst/>
            <a:rect l="l" t="t" r="r" b="b"/>
            <a:pathLst>
              <a:path w="14575155" h="675639">
                <a:moveTo>
                  <a:pt x="14498413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5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99017"/>
                </a:lnTo>
                <a:lnTo>
                  <a:pt x="14558132" y="643601"/>
                </a:lnTo>
                <a:lnTo>
                  <a:pt x="14519404" y="671347"/>
                </a:lnTo>
                <a:lnTo>
                  <a:pt x="14503737" y="674998"/>
                </a:lnTo>
                <a:lnTo>
                  <a:pt x="14498413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398085"/>
            <a:ext cx="14575155" cy="2600325"/>
          </a:xfrm>
          <a:custGeom>
            <a:avLst/>
            <a:gdLst/>
            <a:ahLst/>
            <a:cxnLst/>
            <a:rect l="l" t="t" r="r" b="b"/>
            <a:pathLst>
              <a:path w="14575155" h="2600325">
                <a:moveTo>
                  <a:pt x="14498413" y="2599739"/>
                </a:moveTo>
                <a:lnTo>
                  <a:pt x="76505" y="2599739"/>
                </a:lnTo>
                <a:lnTo>
                  <a:pt x="71180" y="2599214"/>
                </a:lnTo>
                <a:lnTo>
                  <a:pt x="31920" y="2582952"/>
                </a:lnTo>
                <a:lnTo>
                  <a:pt x="4175" y="2544224"/>
                </a:lnTo>
                <a:lnTo>
                  <a:pt x="0" y="2523234"/>
                </a:lnTo>
                <a:lnTo>
                  <a:pt x="0" y="251785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523234"/>
                </a:lnTo>
                <a:lnTo>
                  <a:pt x="14558132" y="2567818"/>
                </a:lnTo>
                <a:lnTo>
                  <a:pt x="14519404" y="2595563"/>
                </a:lnTo>
                <a:lnTo>
                  <a:pt x="14503737" y="2599214"/>
                </a:lnTo>
                <a:lnTo>
                  <a:pt x="14498413" y="259973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00697" y="1207753"/>
            <a:ext cx="1801495" cy="429895"/>
          </a:xfrm>
          <a:custGeom>
            <a:avLst/>
            <a:gdLst/>
            <a:ahLst/>
            <a:cxnLst/>
            <a:rect l="l" t="t" r="r" b="b"/>
            <a:pathLst>
              <a:path w="1801495" h="429894">
                <a:moveTo>
                  <a:pt x="172488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724889" y="0"/>
                </a:lnTo>
                <a:lnTo>
                  <a:pt x="1769474" y="16786"/>
                </a:lnTo>
                <a:lnTo>
                  <a:pt x="1797219" y="55513"/>
                </a:lnTo>
                <a:lnTo>
                  <a:pt x="1801394" y="76505"/>
                </a:lnTo>
                <a:lnTo>
                  <a:pt x="1801394" y="353373"/>
                </a:lnTo>
                <a:lnTo>
                  <a:pt x="1784607" y="397957"/>
                </a:lnTo>
                <a:lnTo>
                  <a:pt x="1745880" y="425702"/>
                </a:lnTo>
                <a:lnTo>
                  <a:pt x="1730213" y="429353"/>
                </a:lnTo>
                <a:lnTo>
                  <a:pt x="172488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00697" y="1862805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9408" y="1174582"/>
            <a:ext cx="4671695" cy="1770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popularity</a:t>
            </a:r>
            <a:r>
              <a:rPr sz="2250" spc="-2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-27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Target</a:t>
            </a:r>
            <a:r>
              <a:rPr sz="2550" spc="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variable</a:t>
            </a:r>
            <a:endParaRPr sz="2550">
              <a:latin typeface="Tahoma"/>
              <a:cs typeface="Tahoma"/>
            </a:endParaRPr>
          </a:p>
          <a:p>
            <a:pPr marL="332105">
              <a:lnSpc>
                <a:spcPct val="100000"/>
              </a:lnSpc>
              <a:spcBef>
                <a:spcPts val="210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genre</a:t>
            </a:r>
            <a:r>
              <a:rPr sz="2250" spc="-3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-270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Categorical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feature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(music.info())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408" y="3820176"/>
            <a:ext cx="163195" cy="197040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449" y="3431239"/>
            <a:ext cx="140017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popularity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41.0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62.0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42.0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64.0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60.0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0166" y="3431239"/>
            <a:ext cx="167449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acousticness 0.6440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0.0855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0.2390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0.0125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0.1210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8699" y="3431239"/>
            <a:ext cx="167449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danceability 0.823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0.686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0.669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0.522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0.780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17228" y="3431239"/>
            <a:ext cx="438150" cy="235902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79084" y="3431239"/>
            <a:ext cx="140017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tempo 102.619000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173.915000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145.061000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120.406497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96.056000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02796" y="3431239"/>
            <a:ext cx="98742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valence 0.649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0.636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0.494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0.595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0.312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14285" y="3431239"/>
            <a:ext cx="140017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1515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genre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Jazz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Rap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Electronic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Rock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Rap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EE69ADC2-D4C0-B1F6-97A4-0B5AF12080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/>
              <a:t>EDA</a:t>
            </a:r>
            <a:r>
              <a:rPr spc="-220" dirty="0"/>
              <a:t> </a:t>
            </a:r>
            <a:r>
              <a:rPr spc="-395" dirty="0"/>
              <a:t>w/</a:t>
            </a:r>
            <a:r>
              <a:rPr spc="-165" dirty="0"/>
              <a:t> </a:t>
            </a:r>
            <a:r>
              <a:rPr spc="-135" dirty="0"/>
              <a:t>categorical</a:t>
            </a:r>
            <a:r>
              <a:rPr spc="-190" dirty="0"/>
              <a:t> </a:t>
            </a:r>
            <a:r>
              <a:rPr spc="-145" dirty="0"/>
              <a:t>feature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4860" y="1489597"/>
            <a:ext cx="8809236" cy="594687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2950A-80DF-32F2-7F34-8D482A6433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5" dirty="0"/>
              <a:t>Encoding</a:t>
            </a:r>
            <a:r>
              <a:rPr spc="-130" dirty="0"/>
              <a:t> </a:t>
            </a:r>
            <a:r>
              <a:rPr spc="-225" dirty="0"/>
              <a:t>dummy</a:t>
            </a:r>
            <a:r>
              <a:rPr spc="-130" dirty="0"/>
              <a:t> </a:t>
            </a:r>
            <a:r>
              <a:rPr spc="-155" dirty="0"/>
              <a:t>variables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06"/>
            <a:ext cx="14575155" cy="1904364"/>
            <a:chOff x="491289" y="1166806"/>
            <a:chExt cx="14575155" cy="1904364"/>
          </a:xfrm>
        </p:grpSpPr>
        <p:sp>
          <p:nvSpPr>
            <p:cNvPr id="4" name="object 4"/>
            <p:cNvSpPr/>
            <p:nvPr/>
          </p:nvSpPr>
          <p:spPr>
            <a:xfrm>
              <a:off x="491289" y="1166806"/>
              <a:ext cx="14575155" cy="1904364"/>
            </a:xfrm>
            <a:custGeom>
              <a:avLst/>
              <a:gdLst/>
              <a:ahLst/>
              <a:cxnLst/>
              <a:rect l="l" t="t" r="r" b="b"/>
              <a:pathLst>
                <a:path w="14575155" h="1904364">
                  <a:moveTo>
                    <a:pt x="14498413" y="1903746"/>
                  </a:moveTo>
                  <a:lnTo>
                    <a:pt x="76505" y="1903746"/>
                  </a:lnTo>
                  <a:lnTo>
                    <a:pt x="71180" y="1903221"/>
                  </a:lnTo>
                  <a:lnTo>
                    <a:pt x="31920" y="1886959"/>
                  </a:lnTo>
                  <a:lnTo>
                    <a:pt x="4175" y="1848232"/>
                  </a:lnTo>
                  <a:lnTo>
                    <a:pt x="0" y="1827241"/>
                  </a:lnTo>
                  <a:lnTo>
                    <a:pt x="0" y="1821864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1827241"/>
                  </a:lnTo>
                  <a:lnTo>
                    <a:pt x="14558132" y="1871825"/>
                  </a:lnTo>
                  <a:lnTo>
                    <a:pt x="14519404" y="1899570"/>
                  </a:lnTo>
                  <a:lnTo>
                    <a:pt x="14503737" y="1903221"/>
                  </a:lnTo>
                  <a:lnTo>
                    <a:pt x="14498413" y="1903746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467" y="1391333"/>
              <a:ext cx="797560" cy="226695"/>
            </a:xfrm>
            <a:custGeom>
              <a:avLst/>
              <a:gdLst/>
              <a:ahLst/>
              <a:cxnLst/>
              <a:rect l="l" t="t" r="r" b="b"/>
              <a:pathLst>
                <a:path w="797560" h="226694">
                  <a:moveTo>
                    <a:pt x="65414" y="36998"/>
                  </a:moveTo>
                  <a:lnTo>
                    <a:pt x="49368" y="36998"/>
                  </a:lnTo>
                  <a:lnTo>
                    <a:pt x="44629" y="35338"/>
                  </a:lnTo>
                  <a:lnTo>
                    <a:pt x="40972" y="32017"/>
                  </a:lnTo>
                  <a:lnTo>
                    <a:pt x="37353" y="28658"/>
                  </a:lnTo>
                  <a:lnTo>
                    <a:pt x="35543" y="24218"/>
                  </a:lnTo>
                  <a:lnTo>
                    <a:pt x="35543" y="13209"/>
                  </a:lnTo>
                  <a:lnTo>
                    <a:pt x="37390" y="8731"/>
                  </a:lnTo>
                  <a:lnTo>
                    <a:pt x="44779" y="1753"/>
                  </a:lnTo>
                  <a:lnTo>
                    <a:pt x="49480" y="0"/>
                  </a:lnTo>
                  <a:lnTo>
                    <a:pt x="65489" y="0"/>
                  </a:lnTo>
                  <a:lnTo>
                    <a:pt x="70191" y="1753"/>
                  </a:lnTo>
                  <a:lnTo>
                    <a:pt x="77579" y="8731"/>
                  </a:lnTo>
                  <a:lnTo>
                    <a:pt x="79426" y="13209"/>
                  </a:lnTo>
                  <a:lnTo>
                    <a:pt x="79426" y="24218"/>
                  </a:lnTo>
                  <a:lnTo>
                    <a:pt x="77576" y="28658"/>
                  </a:lnTo>
                  <a:lnTo>
                    <a:pt x="70097" y="35338"/>
                  </a:lnTo>
                  <a:lnTo>
                    <a:pt x="65414" y="36998"/>
                  </a:lnTo>
                  <a:close/>
                </a:path>
                <a:path w="797560" h="226694">
                  <a:moveTo>
                    <a:pt x="74836" y="156558"/>
                  </a:moveTo>
                  <a:lnTo>
                    <a:pt x="44667" y="156558"/>
                  </a:lnTo>
                  <a:lnTo>
                    <a:pt x="44667" y="77579"/>
                  </a:lnTo>
                  <a:lnTo>
                    <a:pt x="5709" y="77579"/>
                  </a:lnTo>
                  <a:lnTo>
                    <a:pt x="5709" y="49256"/>
                  </a:lnTo>
                  <a:lnTo>
                    <a:pt x="74836" y="49256"/>
                  </a:lnTo>
                  <a:lnTo>
                    <a:pt x="74836" y="156558"/>
                  </a:lnTo>
                  <a:close/>
                </a:path>
                <a:path w="797560" h="226694">
                  <a:moveTo>
                    <a:pt x="117264" y="184881"/>
                  </a:moveTo>
                  <a:lnTo>
                    <a:pt x="0" y="184881"/>
                  </a:lnTo>
                  <a:lnTo>
                    <a:pt x="0" y="156558"/>
                  </a:lnTo>
                  <a:lnTo>
                    <a:pt x="117264" y="156558"/>
                  </a:lnTo>
                  <a:lnTo>
                    <a:pt x="117264" y="184881"/>
                  </a:lnTo>
                  <a:close/>
                </a:path>
                <a:path w="797560" h="226694">
                  <a:moveTo>
                    <a:pt x="199439" y="67840"/>
                  </a:moveTo>
                  <a:lnTo>
                    <a:pt x="158398" y="67840"/>
                  </a:lnTo>
                  <a:lnTo>
                    <a:pt x="160980" y="53789"/>
                  </a:lnTo>
                  <a:lnTo>
                    <a:pt x="166184" y="49256"/>
                  </a:lnTo>
                  <a:lnTo>
                    <a:pt x="166889" y="48808"/>
                  </a:lnTo>
                  <a:lnTo>
                    <a:pt x="172149" y="46961"/>
                  </a:lnTo>
                  <a:lnTo>
                    <a:pt x="185172" y="46961"/>
                  </a:lnTo>
                  <a:lnTo>
                    <a:pt x="190508" y="48808"/>
                  </a:lnTo>
                  <a:lnTo>
                    <a:pt x="194837" y="52503"/>
                  </a:lnTo>
                  <a:lnTo>
                    <a:pt x="199203" y="56160"/>
                  </a:lnTo>
                  <a:lnTo>
                    <a:pt x="199651" y="57414"/>
                  </a:lnTo>
                  <a:lnTo>
                    <a:pt x="198390" y="61328"/>
                  </a:lnTo>
                  <a:lnTo>
                    <a:pt x="198496" y="63012"/>
                  </a:lnTo>
                  <a:lnTo>
                    <a:pt x="199384" y="67560"/>
                  </a:lnTo>
                  <a:lnTo>
                    <a:pt x="199439" y="67840"/>
                  </a:lnTo>
                  <a:close/>
                </a:path>
                <a:path w="797560" h="226694">
                  <a:moveTo>
                    <a:pt x="248436" y="67840"/>
                  </a:moveTo>
                  <a:lnTo>
                    <a:pt x="200395" y="67840"/>
                  </a:lnTo>
                  <a:lnTo>
                    <a:pt x="201020" y="61627"/>
                  </a:lnTo>
                  <a:lnTo>
                    <a:pt x="201050" y="61328"/>
                  </a:lnTo>
                  <a:lnTo>
                    <a:pt x="199651" y="57414"/>
                  </a:lnTo>
                  <a:lnTo>
                    <a:pt x="199893" y="56664"/>
                  </a:lnTo>
                  <a:lnTo>
                    <a:pt x="208547" y="49256"/>
                  </a:lnTo>
                  <a:lnTo>
                    <a:pt x="209231" y="48808"/>
                  </a:lnTo>
                  <a:lnTo>
                    <a:pt x="214577" y="46961"/>
                  </a:lnTo>
                  <a:lnTo>
                    <a:pt x="230660" y="46961"/>
                  </a:lnTo>
                  <a:lnTo>
                    <a:pt x="237955" y="50450"/>
                  </a:lnTo>
                  <a:lnTo>
                    <a:pt x="243132" y="57414"/>
                  </a:lnTo>
                  <a:lnTo>
                    <a:pt x="246571" y="63012"/>
                  </a:lnTo>
                  <a:lnTo>
                    <a:pt x="248328" y="67560"/>
                  </a:lnTo>
                  <a:lnTo>
                    <a:pt x="248436" y="67840"/>
                  </a:lnTo>
                  <a:close/>
                </a:path>
                <a:path w="797560" h="226694">
                  <a:moveTo>
                    <a:pt x="162708" y="184881"/>
                  </a:moveTo>
                  <a:lnTo>
                    <a:pt x="134161" y="184881"/>
                  </a:lnTo>
                  <a:lnTo>
                    <a:pt x="134161" y="49256"/>
                  </a:lnTo>
                  <a:lnTo>
                    <a:pt x="161812" y="49256"/>
                  </a:lnTo>
                  <a:lnTo>
                    <a:pt x="160980" y="53789"/>
                  </a:lnTo>
                  <a:lnTo>
                    <a:pt x="157679" y="56664"/>
                  </a:lnTo>
                  <a:lnTo>
                    <a:pt x="157377" y="57414"/>
                  </a:lnTo>
                  <a:lnTo>
                    <a:pt x="156037" y="61328"/>
                  </a:lnTo>
                  <a:lnTo>
                    <a:pt x="155935" y="61627"/>
                  </a:lnTo>
                  <a:lnTo>
                    <a:pt x="157055" y="67560"/>
                  </a:lnTo>
                  <a:lnTo>
                    <a:pt x="158398" y="67840"/>
                  </a:lnTo>
                  <a:lnTo>
                    <a:pt x="248436" y="67840"/>
                  </a:lnTo>
                  <a:lnTo>
                    <a:pt x="249019" y="69351"/>
                  </a:lnTo>
                  <a:lnTo>
                    <a:pt x="249634" y="72318"/>
                  </a:lnTo>
                  <a:lnTo>
                    <a:pt x="168212" y="72318"/>
                  </a:lnTo>
                  <a:lnTo>
                    <a:pt x="166197" y="73213"/>
                  </a:lnTo>
                  <a:lnTo>
                    <a:pt x="163398" y="76758"/>
                  </a:lnTo>
                  <a:lnTo>
                    <a:pt x="162708" y="79706"/>
                  </a:lnTo>
                  <a:lnTo>
                    <a:pt x="162708" y="184881"/>
                  </a:lnTo>
                  <a:close/>
                </a:path>
                <a:path w="797560" h="226694">
                  <a:moveTo>
                    <a:pt x="158398" y="67840"/>
                  </a:moveTo>
                  <a:lnTo>
                    <a:pt x="157055" y="67560"/>
                  </a:lnTo>
                  <a:lnTo>
                    <a:pt x="156197" y="63012"/>
                  </a:lnTo>
                  <a:lnTo>
                    <a:pt x="156065" y="61627"/>
                  </a:lnTo>
                  <a:lnTo>
                    <a:pt x="156037" y="61328"/>
                  </a:lnTo>
                  <a:lnTo>
                    <a:pt x="157377" y="57414"/>
                  </a:lnTo>
                  <a:lnTo>
                    <a:pt x="157679" y="56664"/>
                  </a:lnTo>
                  <a:lnTo>
                    <a:pt x="160980" y="53789"/>
                  </a:lnTo>
                  <a:lnTo>
                    <a:pt x="158449" y="67560"/>
                  </a:lnTo>
                  <a:lnTo>
                    <a:pt x="158398" y="67840"/>
                  </a:lnTo>
                  <a:close/>
                </a:path>
                <a:path w="797560" h="226694">
                  <a:moveTo>
                    <a:pt x="200395" y="67840"/>
                  </a:moveTo>
                  <a:lnTo>
                    <a:pt x="199439" y="67840"/>
                  </a:lnTo>
                  <a:lnTo>
                    <a:pt x="198496" y="63012"/>
                  </a:lnTo>
                  <a:lnTo>
                    <a:pt x="198390" y="61328"/>
                  </a:lnTo>
                  <a:lnTo>
                    <a:pt x="199651" y="57414"/>
                  </a:lnTo>
                  <a:lnTo>
                    <a:pt x="201050" y="61328"/>
                  </a:lnTo>
                  <a:lnTo>
                    <a:pt x="200423" y="67560"/>
                  </a:lnTo>
                  <a:lnTo>
                    <a:pt x="200395" y="67840"/>
                  </a:lnTo>
                  <a:close/>
                </a:path>
                <a:path w="797560" h="226694">
                  <a:moveTo>
                    <a:pt x="205584" y="184881"/>
                  </a:moveTo>
                  <a:lnTo>
                    <a:pt x="179556" y="184881"/>
                  </a:lnTo>
                  <a:lnTo>
                    <a:pt x="179479" y="79706"/>
                  </a:lnTo>
                  <a:lnTo>
                    <a:pt x="178564" y="76758"/>
                  </a:lnTo>
                  <a:lnTo>
                    <a:pt x="175605" y="73213"/>
                  </a:lnTo>
                  <a:lnTo>
                    <a:pt x="173586" y="72318"/>
                  </a:lnTo>
                  <a:lnTo>
                    <a:pt x="211498" y="72318"/>
                  </a:lnTo>
                  <a:lnTo>
                    <a:pt x="209451" y="73213"/>
                  </a:lnTo>
                  <a:lnTo>
                    <a:pt x="206428" y="76758"/>
                  </a:lnTo>
                  <a:lnTo>
                    <a:pt x="205603" y="79706"/>
                  </a:lnTo>
                  <a:lnTo>
                    <a:pt x="205584" y="184881"/>
                  </a:lnTo>
                  <a:close/>
                </a:path>
                <a:path w="797560" h="226694">
                  <a:moveTo>
                    <a:pt x="250979" y="184881"/>
                  </a:moveTo>
                  <a:lnTo>
                    <a:pt x="222432" y="184881"/>
                  </a:lnTo>
                  <a:lnTo>
                    <a:pt x="222370" y="79706"/>
                  </a:lnTo>
                  <a:lnTo>
                    <a:pt x="221555" y="76758"/>
                  </a:lnTo>
                  <a:lnTo>
                    <a:pt x="218842" y="73213"/>
                  </a:lnTo>
                  <a:lnTo>
                    <a:pt x="216872" y="72318"/>
                  </a:lnTo>
                  <a:lnTo>
                    <a:pt x="249634" y="72318"/>
                  </a:lnTo>
                  <a:lnTo>
                    <a:pt x="250489" y="76446"/>
                  </a:lnTo>
                  <a:lnTo>
                    <a:pt x="250979" y="84296"/>
                  </a:lnTo>
                  <a:lnTo>
                    <a:pt x="250979" y="184881"/>
                  </a:lnTo>
                  <a:close/>
                </a:path>
                <a:path w="797560" h="226694">
                  <a:moveTo>
                    <a:pt x="316801" y="77747"/>
                  </a:moveTo>
                  <a:lnTo>
                    <a:pt x="303204" y="77747"/>
                  </a:lnTo>
                  <a:lnTo>
                    <a:pt x="305238" y="64775"/>
                  </a:lnTo>
                  <a:lnTo>
                    <a:pt x="305610" y="61423"/>
                  </a:lnTo>
                  <a:lnTo>
                    <a:pt x="305820" y="61067"/>
                  </a:lnTo>
                  <a:lnTo>
                    <a:pt x="305889" y="60627"/>
                  </a:lnTo>
                  <a:lnTo>
                    <a:pt x="306494" y="59517"/>
                  </a:lnTo>
                  <a:lnTo>
                    <a:pt x="337563" y="46961"/>
                  </a:lnTo>
                  <a:lnTo>
                    <a:pt x="347610" y="47843"/>
                  </a:lnTo>
                  <a:lnTo>
                    <a:pt x="378916" y="74388"/>
                  </a:lnTo>
                  <a:lnTo>
                    <a:pt x="323513" y="74388"/>
                  </a:lnTo>
                  <a:lnTo>
                    <a:pt x="318117" y="76497"/>
                  </a:lnTo>
                  <a:lnTo>
                    <a:pt x="317048" y="77481"/>
                  </a:lnTo>
                  <a:lnTo>
                    <a:pt x="316801" y="77747"/>
                  </a:lnTo>
                  <a:close/>
                </a:path>
                <a:path w="797560" h="226694">
                  <a:moveTo>
                    <a:pt x="307673" y="226133"/>
                  </a:moveTo>
                  <a:lnTo>
                    <a:pt x="277559" y="226133"/>
                  </a:lnTo>
                  <a:lnTo>
                    <a:pt x="277559" y="49256"/>
                  </a:lnTo>
                  <a:lnTo>
                    <a:pt x="307673" y="49256"/>
                  </a:lnTo>
                  <a:lnTo>
                    <a:pt x="305889" y="60627"/>
                  </a:lnTo>
                  <a:lnTo>
                    <a:pt x="303629" y="64775"/>
                  </a:lnTo>
                  <a:lnTo>
                    <a:pt x="302436" y="70852"/>
                  </a:lnTo>
                  <a:lnTo>
                    <a:pt x="302828" y="76497"/>
                  </a:lnTo>
                  <a:lnTo>
                    <a:pt x="302915" y="77747"/>
                  </a:lnTo>
                  <a:lnTo>
                    <a:pt x="316801" y="77747"/>
                  </a:lnTo>
                  <a:lnTo>
                    <a:pt x="309706" y="85359"/>
                  </a:lnTo>
                  <a:lnTo>
                    <a:pt x="307781" y="91311"/>
                  </a:lnTo>
                  <a:lnTo>
                    <a:pt x="307781" y="142826"/>
                  </a:lnTo>
                  <a:lnTo>
                    <a:pt x="309706" y="148796"/>
                  </a:lnTo>
                  <a:lnTo>
                    <a:pt x="313774" y="153200"/>
                  </a:lnTo>
                  <a:lnTo>
                    <a:pt x="316971" y="156600"/>
                  </a:lnTo>
                  <a:lnTo>
                    <a:pt x="302513" y="156600"/>
                  </a:lnTo>
                  <a:lnTo>
                    <a:pt x="301125" y="165426"/>
                  </a:lnTo>
                  <a:lnTo>
                    <a:pt x="301012" y="166148"/>
                  </a:lnTo>
                  <a:lnTo>
                    <a:pt x="303848" y="173518"/>
                  </a:lnTo>
                  <a:lnTo>
                    <a:pt x="306171" y="175306"/>
                  </a:lnTo>
                  <a:lnTo>
                    <a:pt x="307511" y="183649"/>
                  </a:lnTo>
                  <a:lnTo>
                    <a:pt x="307673" y="226133"/>
                  </a:lnTo>
                  <a:close/>
                </a:path>
                <a:path w="797560" h="226694">
                  <a:moveTo>
                    <a:pt x="305610" y="61423"/>
                  </a:moveTo>
                  <a:lnTo>
                    <a:pt x="305649" y="61067"/>
                  </a:lnTo>
                  <a:lnTo>
                    <a:pt x="305889" y="60627"/>
                  </a:lnTo>
                  <a:lnTo>
                    <a:pt x="305820" y="61067"/>
                  </a:lnTo>
                  <a:lnTo>
                    <a:pt x="305610" y="61423"/>
                  </a:lnTo>
                  <a:close/>
                </a:path>
                <a:path w="797560" h="226694">
                  <a:moveTo>
                    <a:pt x="303629" y="64775"/>
                  </a:moveTo>
                  <a:lnTo>
                    <a:pt x="305649" y="61067"/>
                  </a:lnTo>
                  <a:lnTo>
                    <a:pt x="305610" y="61423"/>
                  </a:lnTo>
                  <a:lnTo>
                    <a:pt x="303629" y="64775"/>
                  </a:lnTo>
                  <a:close/>
                </a:path>
                <a:path w="797560" h="226694">
                  <a:moveTo>
                    <a:pt x="303204" y="77747"/>
                  </a:moveTo>
                  <a:lnTo>
                    <a:pt x="302915" y="77747"/>
                  </a:lnTo>
                  <a:lnTo>
                    <a:pt x="302436" y="70852"/>
                  </a:lnTo>
                  <a:lnTo>
                    <a:pt x="303629" y="64775"/>
                  </a:lnTo>
                  <a:lnTo>
                    <a:pt x="305610" y="61423"/>
                  </a:lnTo>
                  <a:lnTo>
                    <a:pt x="305238" y="64775"/>
                  </a:lnTo>
                  <a:lnTo>
                    <a:pt x="303245" y="77481"/>
                  </a:lnTo>
                  <a:lnTo>
                    <a:pt x="303204" y="77747"/>
                  </a:lnTo>
                  <a:close/>
                </a:path>
                <a:path w="797560" h="226694">
                  <a:moveTo>
                    <a:pt x="378898" y="159748"/>
                  </a:moveTo>
                  <a:lnTo>
                    <a:pt x="338029" y="159748"/>
                  </a:lnTo>
                  <a:lnTo>
                    <a:pt x="343694" y="157566"/>
                  </a:lnTo>
                  <a:lnTo>
                    <a:pt x="351314" y="149207"/>
                  </a:lnTo>
                  <a:lnTo>
                    <a:pt x="353235" y="142826"/>
                  </a:lnTo>
                  <a:lnTo>
                    <a:pt x="353235" y="91311"/>
                  </a:lnTo>
                  <a:lnTo>
                    <a:pt x="351314" y="84930"/>
                  </a:lnTo>
                  <a:lnTo>
                    <a:pt x="343626" y="76497"/>
                  </a:lnTo>
                  <a:lnTo>
                    <a:pt x="338029" y="74388"/>
                  </a:lnTo>
                  <a:lnTo>
                    <a:pt x="378916" y="74388"/>
                  </a:lnTo>
                  <a:lnTo>
                    <a:pt x="380271" y="77481"/>
                  </a:lnTo>
                  <a:lnTo>
                    <a:pt x="382580" y="87420"/>
                  </a:lnTo>
                  <a:lnTo>
                    <a:pt x="383349" y="98513"/>
                  </a:lnTo>
                  <a:lnTo>
                    <a:pt x="383349" y="135400"/>
                  </a:lnTo>
                  <a:lnTo>
                    <a:pt x="382580" y="146591"/>
                  </a:lnTo>
                  <a:lnTo>
                    <a:pt x="380271" y="156600"/>
                  </a:lnTo>
                  <a:lnTo>
                    <a:pt x="378898" y="159748"/>
                  </a:lnTo>
                  <a:close/>
                </a:path>
                <a:path w="797560" h="226694">
                  <a:moveTo>
                    <a:pt x="306171" y="175306"/>
                  </a:moveTo>
                  <a:lnTo>
                    <a:pt x="303848" y="173518"/>
                  </a:lnTo>
                  <a:lnTo>
                    <a:pt x="301012" y="166148"/>
                  </a:lnTo>
                  <a:lnTo>
                    <a:pt x="302513" y="156600"/>
                  </a:lnTo>
                  <a:lnTo>
                    <a:pt x="303166" y="156600"/>
                  </a:lnTo>
                  <a:lnTo>
                    <a:pt x="306171" y="175306"/>
                  </a:lnTo>
                  <a:close/>
                </a:path>
                <a:path w="797560" h="226694">
                  <a:moveTo>
                    <a:pt x="337563" y="187176"/>
                  </a:moveTo>
                  <a:lnTo>
                    <a:pt x="303166" y="156600"/>
                  </a:lnTo>
                  <a:lnTo>
                    <a:pt x="316971" y="156600"/>
                  </a:lnTo>
                  <a:lnTo>
                    <a:pt x="317879" y="157566"/>
                  </a:lnTo>
                  <a:lnTo>
                    <a:pt x="323513" y="159748"/>
                  </a:lnTo>
                  <a:lnTo>
                    <a:pt x="378898" y="159748"/>
                  </a:lnTo>
                  <a:lnTo>
                    <a:pt x="376422" y="165426"/>
                  </a:lnTo>
                  <a:lnTo>
                    <a:pt x="371035" y="173070"/>
                  </a:lnTo>
                  <a:lnTo>
                    <a:pt x="364346" y="179241"/>
                  </a:lnTo>
                  <a:lnTo>
                    <a:pt x="356538" y="183649"/>
                  </a:lnTo>
                  <a:lnTo>
                    <a:pt x="347610" y="186294"/>
                  </a:lnTo>
                  <a:lnTo>
                    <a:pt x="337563" y="187176"/>
                  </a:lnTo>
                  <a:close/>
                </a:path>
                <a:path w="797560" h="226694">
                  <a:moveTo>
                    <a:pt x="467415" y="187176"/>
                  </a:moveTo>
                  <a:lnTo>
                    <a:pt x="428457" y="172958"/>
                  </a:lnTo>
                  <a:lnTo>
                    <a:pt x="414016" y="134280"/>
                  </a:lnTo>
                  <a:lnTo>
                    <a:pt x="414033" y="99633"/>
                  </a:lnTo>
                  <a:lnTo>
                    <a:pt x="428457" y="61179"/>
                  </a:lnTo>
                  <a:lnTo>
                    <a:pt x="467415" y="46961"/>
                  </a:lnTo>
                  <a:lnTo>
                    <a:pt x="478994" y="47850"/>
                  </a:lnTo>
                  <a:lnTo>
                    <a:pt x="512603" y="68914"/>
                  </a:lnTo>
                  <a:lnTo>
                    <a:pt x="515588" y="74836"/>
                  </a:lnTo>
                  <a:lnTo>
                    <a:pt x="459765" y="74836"/>
                  </a:lnTo>
                  <a:lnTo>
                    <a:pt x="453981" y="76926"/>
                  </a:lnTo>
                  <a:lnTo>
                    <a:pt x="446145" y="85247"/>
                  </a:lnTo>
                  <a:lnTo>
                    <a:pt x="444185" y="91498"/>
                  </a:lnTo>
                  <a:lnTo>
                    <a:pt x="444185" y="142639"/>
                  </a:lnTo>
                  <a:lnTo>
                    <a:pt x="446145" y="148908"/>
                  </a:lnTo>
                  <a:lnTo>
                    <a:pt x="453981" y="157230"/>
                  </a:lnTo>
                  <a:lnTo>
                    <a:pt x="459765" y="159301"/>
                  </a:lnTo>
                  <a:lnTo>
                    <a:pt x="515568" y="159301"/>
                  </a:lnTo>
                  <a:lnTo>
                    <a:pt x="512603" y="165209"/>
                  </a:lnTo>
                  <a:lnTo>
                    <a:pt x="506260" y="172958"/>
                  </a:lnTo>
                  <a:lnTo>
                    <a:pt x="498417" y="179178"/>
                  </a:lnTo>
                  <a:lnTo>
                    <a:pt x="489328" y="183621"/>
                  </a:lnTo>
                  <a:lnTo>
                    <a:pt x="478994" y="186287"/>
                  </a:lnTo>
                  <a:lnTo>
                    <a:pt x="467415" y="187176"/>
                  </a:lnTo>
                  <a:close/>
                </a:path>
                <a:path w="797560" h="226694">
                  <a:moveTo>
                    <a:pt x="515568" y="159301"/>
                  </a:moveTo>
                  <a:lnTo>
                    <a:pt x="475027" y="159301"/>
                  </a:lnTo>
                  <a:lnTo>
                    <a:pt x="480792" y="157230"/>
                  </a:lnTo>
                  <a:lnTo>
                    <a:pt x="488666" y="148908"/>
                  </a:lnTo>
                  <a:lnTo>
                    <a:pt x="490644" y="142639"/>
                  </a:lnTo>
                  <a:lnTo>
                    <a:pt x="490644" y="91498"/>
                  </a:lnTo>
                  <a:lnTo>
                    <a:pt x="488666" y="85247"/>
                  </a:lnTo>
                  <a:lnTo>
                    <a:pt x="484710" y="81105"/>
                  </a:lnTo>
                  <a:lnTo>
                    <a:pt x="480792" y="76926"/>
                  </a:lnTo>
                  <a:lnTo>
                    <a:pt x="475027" y="74836"/>
                  </a:lnTo>
                  <a:lnTo>
                    <a:pt x="515588" y="74836"/>
                  </a:lnTo>
                  <a:lnTo>
                    <a:pt x="517133" y="77901"/>
                  </a:lnTo>
                  <a:lnTo>
                    <a:pt x="519851" y="88141"/>
                  </a:lnTo>
                  <a:lnTo>
                    <a:pt x="520758" y="99633"/>
                  </a:lnTo>
                  <a:lnTo>
                    <a:pt x="520758" y="134280"/>
                  </a:lnTo>
                  <a:lnTo>
                    <a:pt x="519851" y="145870"/>
                  </a:lnTo>
                  <a:lnTo>
                    <a:pt x="517133" y="156180"/>
                  </a:lnTo>
                  <a:lnTo>
                    <a:pt x="515568" y="159301"/>
                  </a:lnTo>
                  <a:close/>
                </a:path>
                <a:path w="797560" h="226694">
                  <a:moveTo>
                    <a:pt x="596735" y="76516"/>
                  </a:moveTo>
                  <a:lnTo>
                    <a:pt x="581650" y="76516"/>
                  </a:lnTo>
                  <a:lnTo>
                    <a:pt x="584672" y="63586"/>
                  </a:lnTo>
                  <a:lnTo>
                    <a:pt x="591221" y="54350"/>
                  </a:lnTo>
                  <a:lnTo>
                    <a:pt x="601297" y="48809"/>
                  </a:lnTo>
                  <a:lnTo>
                    <a:pt x="614898" y="46961"/>
                  </a:lnTo>
                  <a:lnTo>
                    <a:pt x="625344" y="47832"/>
                  </a:lnTo>
                  <a:lnTo>
                    <a:pt x="658396" y="73941"/>
                  </a:lnTo>
                  <a:lnTo>
                    <a:pt x="602771" y="73941"/>
                  </a:lnTo>
                  <a:lnTo>
                    <a:pt x="597157" y="76124"/>
                  </a:lnTo>
                  <a:lnTo>
                    <a:pt x="596735" y="76516"/>
                  </a:lnTo>
                  <a:close/>
                </a:path>
                <a:path w="797560" h="226694">
                  <a:moveTo>
                    <a:pt x="586855" y="184881"/>
                  </a:moveTo>
                  <a:lnTo>
                    <a:pt x="556741" y="184881"/>
                  </a:lnTo>
                  <a:lnTo>
                    <a:pt x="556741" y="49256"/>
                  </a:lnTo>
                  <a:lnTo>
                    <a:pt x="586408" y="49256"/>
                  </a:lnTo>
                  <a:lnTo>
                    <a:pt x="581718" y="76124"/>
                  </a:lnTo>
                  <a:lnTo>
                    <a:pt x="581650" y="76516"/>
                  </a:lnTo>
                  <a:lnTo>
                    <a:pt x="596735" y="76516"/>
                  </a:lnTo>
                  <a:lnTo>
                    <a:pt x="589061" y="84856"/>
                  </a:lnTo>
                  <a:lnTo>
                    <a:pt x="588259" y="87032"/>
                  </a:lnTo>
                  <a:lnTo>
                    <a:pt x="586903" y="91311"/>
                  </a:lnTo>
                  <a:lnTo>
                    <a:pt x="586855" y="184881"/>
                  </a:lnTo>
                  <a:close/>
                </a:path>
                <a:path w="797560" h="226694">
                  <a:moveTo>
                    <a:pt x="663204" y="110380"/>
                  </a:moveTo>
                  <a:lnTo>
                    <a:pt x="633090" y="110380"/>
                  </a:lnTo>
                  <a:lnTo>
                    <a:pt x="633090" y="91311"/>
                  </a:lnTo>
                  <a:lnTo>
                    <a:pt x="631112" y="84856"/>
                  </a:lnTo>
                  <a:lnTo>
                    <a:pt x="623238" y="76124"/>
                  </a:lnTo>
                  <a:lnTo>
                    <a:pt x="617548" y="73941"/>
                  </a:lnTo>
                  <a:lnTo>
                    <a:pt x="658396" y="73941"/>
                  </a:lnTo>
                  <a:lnTo>
                    <a:pt x="659915" y="77159"/>
                  </a:lnTo>
                  <a:lnTo>
                    <a:pt x="662381" y="87032"/>
                  </a:lnTo>
                  <a:lnTo>
                    <a:pt x="663204" y="98065"/>
                  </a:lnTo>
                  <a:lnTo>
                    <a:pt x="663204" y="110380"/>
                  </a:lnTo>
                  <a:close/>
                </a:path>
                <a:path w="797560" h="226694">
                  <a:moveTo>
                    <a:pt x="746989" y="49256"/>
                  </a:moveTo>
                  <a:lnTo>
                    <a:pt x="716819" y="49256"/>
                  </a:lnTo>
                  <a:lnTo>
                    <a:pt x="716819" y="14888"/>
                  </a:lnTo>
                  <a:lnTo>
                    <a:pt x="746989" y="14888"/>
                  </a:lnTo>
                  <a:lnTo>
                    <a:pt x="746989" y="49256"/>
                  </a:lnTo>
                  <a:close/>
                </a:path>
                <a:path w="797560" h="226694">
                  <a:moveTo>
                    <a:pt x="797421" y="77579"/>
                  </a:moveTo>
                  <a:lnTo>
                    <a:pt x="681276" y="77579"/>
                  </a:lnTo>
                  <a:lnTo>
                    <a:pt x="681276" y="49256"/>
                  </a:lnTo>
                  <a:lnTo>
                    <a:pt x="797421" y="49256"/>
                  </a:lnTo>
                  <a:lnTo>
                    <a:pt x="797421" y="77579"/>
                  </a:lnTo>
                  <a:close/>
                </a:path>
                <a:path w="797560" h="226694">
                  <a:moveTo>
                    <a:pt x="795126" y="184881"/>
                  </a:moveTo>
                  <a:lnTo>
                    <a:pt x="756001" y="184881"/>
                  </a:lnTo>
                  <a:lnTo>
                    <a:pt x="747384" y="184251"/>
                  </a:lnTo>
                  <a:lnTo>
                    <a:pt x="717473" y="155316"/>
                  </a:lnTo>
                  <a:lnTo>
                    <a:pt x="716819" y="146874"/>
                  </a:lnTo>
                  <a:lnTo>
                    <a:pt x="716819" y="77579"/>
                  </a:lnTo>
                  <a:lnTo>
                    <a:pt x="746989" y="77579"/>
                  </a:lnTo>
                  <a:lnTo>
                    <a:pt x="746989" y="150494"/>
                  </a:lnTo>
                  <a:lnTo>
                    <a:pt x="747642" y="153013"/>
                  </a:lnTo>
                  <a:lnTo>
                    <a:pt x="750291" y="155849"/>
                  </a:lnTo>
                  <a:lnTo>
                    <a:pt x="752642" y="156558"/>
                  </a:lnTo>
                  <a:lnTo>
                    <a:pt x="795126" y="156558"/>
                  </a:lnTo>
                  <a:lnTo>
                    <a:pt x="795126" y="18488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254" y="1438295"/>
              <a:ext cx="250070" cy="14021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91289" y="3316197"/>
            <a:ext cx="14575155" cy="2600325"/>
          </a:xfrm>
          <a:custGeom>
            <a:avLst/>
            <a:gdLst/>
            <a:ahLst/>
            <a:cxnLst/>
            <a:rect l="l" t="t" r="r" b="b"/>
            <a:pathLst>
              <a:path w="14575155" h="2600325">
                <a:moveTo>
                  <a:pt x="14498413" y="2599739"/>
                </a:moveTo>
                <a:lnTo>
                  <a:pt x="76505" y="2599739"/>
                </a:lnTo>
                <a:lnTo>
                  <a:pt x="71180" y="2599215"/>
                </a:lnTo>
                <a:lnTo>
                  <a:pt x="31920" y="2582952"/>
                </a:lnTo>
                <a:lnTo>
                  <a:pt x="4175" y="2544225"/>
                </a:lnTo>
                <a:lnTo>
                  <a:pt x="0" y="2523234"/>
                </a:lnTo>
                <a:lnTo>
                  <a:pt x="0" y="251785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523234"/>
                </a:lnTo>
                <a:lnTo>
                  <a:pt x="14558132" y="2567819"/>
                </a:lnTo>
                <a:lnTo>
                  <a:pt x="14519404" y="2595563"/>
                </a:lnTo>
                <a:lnTo>
                  <a:pt x="14503737" y="2599215"/>
                </a:lnTo>
                <a:lnTo>
                  <a:pt x="14498413" y="259973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289" y="6161582"/>
            <a:ext cx="14575155" cy="1064895"/>
          </a:xfrm>
          <a:custGeom>
            <a:avLst/>
            <a:gdLst/>
            <a:ahLst/>
            <a:cxnLst/>
            <a:rect l="l" t="t" r="r" b="b"/>
            <a:pathLst>
              <a:path w="14575155" h="1064895">
                <a:moveTo>
                  <a:pt x="14498413" y="1064459"/>
                </a:moveTo>
                <a:lnTo>
                  <a:pt x="76505" y="1064459"/>
                </a:lnTo>
                <a:lnTo>
                  <a:pt x="71180" y="1063934"/>
                </a:lnTo>
                <a:lnTo>
                  <a:pt x="31920" y="1047673"/>
                </a:lnTo>
                <a:lnTo>
                  <a:pt x="4175" y="1008945"/>
                </a:lnTo>
                <a:lnTo>
                  <a:pt x="0" y="987954"/>
                </a:lnTo>
                <a:lnTo>
                  <a:pt x="0" y="982578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987954"/>
                </a:lnTo>
                <a:lnTo>
                  <a:pt x="14558132" y="1032539"/>
                </a:lnTo>
                <a:lnTo>
                  <a:pt x="14519404" y="1060284"/>
                </a:lnTo>
                <a:lnTo>
                  <a:pt x="14503737" y="1063935"/>
                </a:lnTo>
                <a:lnTo>
                  <a:pt x="14498413" y="1064459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9408" y="1199959"/>
            <a:ext cx="9094470" cy="1663064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974090">
              <a:lnSpc>
                <a:spcPct val="100000"/>
              </a:lnSpc>
              <a:spcBef>
                <a:spcPts val="1160"/>
              </a:spcBef>
              <a:tabLst>
                <a:tab pos="2347595" algn="l"/>
              </a:tabLst>
            </a:pP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pandas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04182D"/>
                </a:solidFill>
                <a:latin typeface="Courier New"/>
                <a:cs typeface="Courier New"/>
              </a:rPr>
              <a:t>pd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music_df</a:t>
            </a:r>
            <a:r>
              <a:rPr sz="180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pd.read_csv(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'music.csv'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9200"/>
              </a:lnSpc>
            </a:pP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music_dummies</a:t>
            </a:r>
            <a:r>
              <a:rPr sz="1800" spc="-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800" spc="-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pd.get_dummies(music_df[</a:t>
            </a:r>
            <a:r>
              <a:rPr sz="180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r>
              <a:rPr sz="1800" spc="-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drop_first=</a:t>
            </a:r>
            <a:r>
              <a:rPr sz="1800" spc="-1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(music_dummies.head())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408" y="3738288"/>
            <a:ext cx="163195" cy="197040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449" y="3349351"/>
            <a:ext cx="71310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Anime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3124" y="3349351"/>
            <a:ext cx="71310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Blues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69799" y="3349351"/>
            <a:ext cx="1262380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Classical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6107" y="3349351"/>
            <a:ext cx="98742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Country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7596" y="3349351"/>
            <a:ext cx="140017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Electronic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91309" y="3349351"/>
            <a:ext cx="987425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Hip-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Hop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02796" y="3349351"/>
            <a:ext cx="575310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Jazz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02060" y="3349351"/>
            <a:ext cx="438150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Rap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63916" y="3349351"/>
            <a:ext cx="575310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Rock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90358" y="6348599"/>
          <a:ext cx="8306434" cy="693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6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710"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</a:pP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music_dummies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1800" spc="-5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10"/>
                        </a:lnSpc>
                      </a:pPr>
                      <a:r>
                        <a:rPr sz="180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pd.concat([music_df,</a:t>
                      </a:r>
                      <a:r>
                        <a:rPr sz="1800" spc="-105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music_dummies],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110"/>
                        </a:lnSpc>
                      </a:pP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axis=</a:t>
                      </a:r>
                      <a:r>
                        <a:rPr sz="1800" spc="-10" dirty="0">
                          <a:solidFill>
                            <a:srgbClr val="BE2F72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music_dummies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music_dummies.drop(</a:t>
                      </a:r>
                      <a:r>
                        <a:rPr sz="1800" dirty="0">
                          <a:solidFill>
                            <a:srgbClr val="BE2F72"/>
                          </a:solidFill>
                          <a:latin typeface="Courier New"/>
                          <a:cs typeface="Courier New"/>
                        </a:rPr>
                        <a:t>"genre"</a:t>
                      </a:r>
                      <a:r>
                        <a:rPr sz="180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14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axis=</a:t>
                      </a:r>
                      <a:r>
                        <a:rPr sz="1800" spc="-10" dirty="0">
                          <a:solidFill>
                            <a:srgbClr val="BE2F72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spc="-10" dirty="0">
                          <a:solidFill>
                            <a:srgbClr val="04182D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DB927CA7-0615-A816-CA72-6BBA7236F7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5" dirty="0"/>
              <a:t>Encoding</a:t>
            </a:r>
            <a:r>
              <a:rPr spc="-130" dirty="0"/>
              <a:t> </a:t>
            </a:r>
            <a:r>
              <a:rPr spc="-225" dirty="0"/>
              <a:t>dummy</a:t>
            </a:r>
            <a:r>
              <a:rPr spc="-130" dirty="0"/>
              <a:t> </a:t>
            </a:r>
            <a:r>
              <a:rPr spc="-15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62"/>
            <a:ext cx="14575155" cy="3275329"/>
          </a:xfrm>
          <a:custGeom>
            <a:avLst/>
            <a:gdLst/>
            <a:ahLst/>
            <a:cxnLst/>
            <a:rect l="l" t="t" r="r" b="b"/>
            <a:pathLst>
              <a:path w="14575155" h="3275329">
                <a:moveTo>
                  <a:pt x="14498413" y="3275262"/>
                </a:moveTo>
                <a:lnTo>
                  <a:pt x="76505" y="3275262"/>
                </a:lnTo>
                <a:lnTo>
                  <a:pt x="71180" y="3274737"/>
                </a:lnTo>
                <a:lnTo>
                  <a:pt x="31920" y="3258475"/>
                </a:lnTo>
                <a:lnTo>
                  <a:pt x="4175" y="3219747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198757"/>
                </a:lnTo>
                <a:lnTo>
                  <a:pt x="14558132" y="3243341"/>
                </a:lnTo>
                <a:lnTo>
                  <a:pt x="14519404" y="3271086"/>
                </a:lnTo>
                <a:lnTo>
                  <a:pt x="14503737" y="3274737"/>
                </a:lnTo>
                <a:lnTo>
                  <a:pt x="14498413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982662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music_dummies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 pd.get_dummies(music_df,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drop_first=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(music_dummies.columns)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787649"/>
            <a:ext cx="13265785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6025" marR="5080" indent="-120396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Index(['popularity', 'acousticness', 'danceability', 'duration_ms',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'energy',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'instrumentalness', 'liveness', 'loudness', 'speechiness',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'tempo',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'valence', 'genre_Anime', 'genre_Blues',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'genre_Classical',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'genre_Country', 'genre_Electronic', 'genre_Hip-Hop',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'genre_Jazz',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'genre_Rap',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'genre_Rock'],</a:t>
            </a:r>
            <a:endParaRPr sz="2250">
              <a:latin typeface="Courier New"/>
              <a:cs typeface="Courier New"/>
            </a:endParaRPr>
          </a:p>
          <a:p>
            <a:pPr marL="1043940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dtype='object')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DE4DC3E-81FB-0354-1601-D2D78CAFE2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Linear</a:t>
            </a:r>
            <a:r>
              <a:rPr spc="-135" dirty="0"/>
              <a:t> </a:t>
            </a:r>
            <a:r>
              <a:rPr spc="-254" dirty="0"/>
              <a:t>regression</a:t>
            </a:r>
            <a:r>
              <a:rPr spc="-130" dirty="0"/>
              <a:t> </a:t>
            </a:r>
            <a:r>
              <a:rPr spc="-330" dirty="0"/>
              <a:t>with</a:t>
            </a:r>
            <a:r>
              <a:rPr spc="-130" dirty="0"/>
              <a:t> </a:t>
            </a:r>
            <a:r>
              <a:rPr spc="-225" dirty="0"/>
              <a:t>dummy</a:t>
            </a:r>
            <a:r>
              <a:rPr spc="-130" dirty="0"/>
              <a:t> </a:t>
            </a:r>
            <a:r>
              <a:rPr spc="-14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8" cy="53223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91289" y="6734759"/>
            <a:ext cx="14575155" cy="777875"/>
          </a:xfrm>
          <a:custGeom>
            <a:avLst/>
            <a:gdLst/>
            <a:ahLst/>
            <a:cxnLst/>
            <a:rect l="l" t="t" r="r" b="b"/>
            <a:pathLst>
              <a:path w="14575155" h="777875">
                <a:moveTo>
                  <a:pt x="14498413" y="777874"/>
                </a:moveTo>
                <a:lnTo>
                  <a:pt x="76505" y="777874"/>
                </a:lnTo>
                <a:lnTo>
                  <a:pt x="71180" y="777349"/>
                </a:lnTo>
                <a:lnTo>
                  <a:pt x="31920" y="761087"/>
                </a:lnTo>
                <a:lnTo>
                  <a:pt x="4175" y="722359"/>
                </a:lnTo>
                <a:lnTo>
                  <a:pt x="0" y="701369"/>
                </a:lnTo>
                <a:lnTo>
                  <a:pt x="0" y="695993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01369"/>
                </a:lnTo>
                <a:lnTo>
                  <a:pt x="14558132" y="745953"/>
                </a:lnTo>
                <a:lnTo>
                  <a:pt x="14519404" y="773698"/>
                </a:lnTo>
                <a:lnTo>
                  <a:pt x="14503737" y="777349"/>
                </a:lnTo>
                <a:lnTo>
                  <a:pt x="14498413" y="77787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50484" y="1229033"/>
            <a:ext cx="378206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 sklearn.linear_model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3058" y="1229033"/>
            <a:ext cx="410845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9584">
              <a:lnSpc>
                <a:spcPct val="137400"/>
              </a:lnSpc>
              <a:spcBef>
                <a:spcPts val="100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cross_val_score,</a:t>
            </a:r>
            <a:r>
              <a:rPr sz="2150" spc="-2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KFold LinearRegression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36" y="2129731"/>
            <a:ext cx="11783695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34715">
              <a:lnSpc>
                <a:spcPct val="137400"/>
              </a:lnSpc>
              <a:spcBef>
                <a:spcPts val="100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</a:t>
            </a:r>
            <a:r>
              <a:rPr sz="2150" spc="-1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music_dummies.drop(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).values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</a:t>
            </a:r>
            <a:r>
              <a:rPr sz="215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music_dummies[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].values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150" spc="-1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2150" spc="-1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150" spc="-1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150" spc="-1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1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2150" spc="-1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150" spc="-1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150">
              <a:latin typeface="Courier New"/>
              <a:cs typeface="Courier New"/>
            </a:endParaRPr>
          </a:p>
          <a:p>
            <a:pPr marL="12700" marR="657860" indent="8491855">
              <a:lnSpc>
                <a:spcPts val="3710"/>
              </a:lnSpc>
              <a:spcBef>
                <a:spcPts val="150"/>
              </a:spcBef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kf</a:t>
            </a:r>
            <a:r>
              <a:rPr sz="2150" spc="-1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1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KFold(n_splits=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5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1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shuffle=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1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linreg</a:t>
            </a:r>
            <a:r>
              <a:rPr sz="2150" spc="-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LinearRegression()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linreg_cv</a:t>
            </a:r>
            <a:r>
              <a:rPr sz="2150" spc="-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cross_val_score(linreg,</a:t>
            </a:r>
            <a:r>
              <a:rPr sz="2150" spc="-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150" spc="-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150" spc="-1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cv=kf,</a:t>
            </a:r>
            <a:endParaRPr sz="2150">
              <a:latin typeface="Courier New"/>
              <a:cs typeface="Courier New"/>
            </a:endParaRPr>
          </a:p>
          <a:p>
            <a:pPr marL="4585335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scoring=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"neg_mean_squared_error"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spc="-25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(np.sqrt(-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linreg_cv))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036" y="6941092"/>
            <a:ext cx="9661525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[8.15792932,</a:t>
            </a:r>
            <a:r>
              <a:rPr sz="2150" spc="-2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8.63117538,</a:t>
            </a:r>
            <a:r>
              <a:rPr sz="2150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7.52275279,</a:t>
            </a:r>
            <a:r>
              <a:rPr sz="2150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8.6205778,</a:t>
            </a:r>
            <a:r>
              <a:rPr sz="2150" spc="-2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Courier New"/>
                <a:cs typeface="Courier New"/>
              </a:rPr>
              <a:t>7.91329988]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2F8576E-77E4-5786-4191-7AFB6E0339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629920" marR="560705" algn="ctr">
              <a:lnSpc>
                <a:spcPts val="6770"/>
              </a:lnSpc>
              <a:spcBef>
                <a:spcPts val="1130"/>
              </a:spcBef>
            </a:pPr>
            <a:r>
              <a:rPr spc="-340" dirty="0"/>
              <a:t>Handling</a:t>
            </a:r>
            <a:r>
              <a:rPr spc="-335" dirty="0"/>
              <a:t> </a:t>
            </a:r>
            <a:r>
              <a:rPr spc="-434" dirty="0"/>
              <a:t>missing </a:t>
            </a:r>
            <a:r>
              <a:rPr spc="-20" dirty="0"/>
              <a:t>data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16445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5B7B937-D954-9F27-FD4D-4119D896BC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40169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Missing</a:t>
            </a:r>
            <a:r>
              <a:rPr spc="-114" dirty="0"/>
              <a:t> </a:t>
            </a:r>
            <a:r>
              <a:rPr spc="-65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056" y="1174582"/>
            <a:ext cx="6312535" cy="287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No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value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feature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particular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row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This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occur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because: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There </a:t>
            </a:r>
            <a:r>
              <a:rPr sz="2550" spc="195" dirty="0">
                <a:solidFill>
                  <a:srgbClr val="04182D"/>
                </a:solidFill>
                <a:latin typeface="Tahoma"/>
                <a:cs typeface="Tahoma"/>
              </a:rPr>
              <a:t>may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have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been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no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observation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might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corrupt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need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deal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missing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E1152C-4A85-C3AB-6AD7-F134407D3B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Music</a:t>
            </a:r>
            <a:r>
              <a:rPr spc="-180" dirty="0"/>
              <a:t> </a:t>
            </a:r>
            <a:r>
              <a:rPr spc="-150" dirty="0"/>
              <a:t>dataset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675640"/>
          </a:xfrm>
          <a:custGeom>
            <a:avLst/>
            <a:gdLst/>
            <a:ahLst/>
            <a:cxnLst/>
            <a:rect l="l" t="t" r="r" b="b"/>
            <a:pathLst>
              <a:path w="14575155" h="675639">
                <a:moveTo>
                  <a:pt x="14498413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6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99017"/>
                </a:lnTo>
                <a:lnTo>
                  <a:pt x="14558132" y="643602"/>
                </a:lnTo>
                <a:lnTo>
                  <a:pt x="14519404" y="671347"/>
                </a:lnTo>
                <a:lnTo>
                  <a:pt x="14503737" y="674998"/>
                </a:lnTo>
                <a:lnTo>
                  <a:pt x="14498413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87980"/>
            <a:ext cx="14575155" cy="5322570"/>
          </a:xfrm>
          <a:custGeom>
            <a:avLst/>
            <a:gdLst/>
            <a:ahLst/>
            <a:cxnLst/>
            <a:rect l="l" t="t" r="r" b="b"/>
            <a:pathLst>
              <a:path w="14575155" h="5322570">
                <a:moveTo>
                  <a:pt x="14498413" y="5322301"/>
                </a:moveTo>
                <a:lnTo>
                  <a:pt x="76505" y="5322301"/>
                </a:lnTo>
                <a:lnTo>
                  <a:pt x="71180" y="5321775"/>
                </a:lnTo>
                <a:lnTo>
                  <a:pt x="31920" y="5305514"/>
                </a:lnTo>
                <a:lnTo>
                  <a:pt x="4175" y="5266786"/>
                </a:lnTo>
                <a:lnTo>
                  <a:pt x="0" y="5245796"/>
                </a:lnTo>
                <a:lnTo>
                  <a:pt x="0" y="524042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245796"/>
                </a:lnTo>
                <a:lnTo>
                  <a:pt x="14558132" y="5290380"/>
                </a:lnTo>
                <a:lnTo>
                  <a:pt x="14519404" y="5318125"/>
                </a:lnTo>
                <a:lnTo>
                  <a:pt x="14503737" y="5321776"/>
                </a:lnTo>
                <a:lnTo>
                  <a:pt x="14498413" y="532230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408" y="1334251"/>
            <a:ext cx="579691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(music_df.isna().</a:t>
            </a:r>
            <a:r>
              <a:rPr sz="1800" spc="-10" dirty="0">
                <a:solidFill>
                  <a:srgbClr val="008600"/>
                </a:solidFill>
                <a:latin typeface="Courier New"/>
                <a:cs typeface="Courier New"/>
              </a:rPr>
              <a:t>sum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().sort_values())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7574" y="2121133"/>
            <a:ext cx="438150" cy="469265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31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44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46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46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59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91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91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143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143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200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408" y="2121133"/>
            <a:ext cx="2224405" cy="5081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1515">
              <a:lnSpc>
                <a:spcPct val="141800"/>
              </a:lnSpc>
              <a:spcBef>
                <a:spcPts val="95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genre popularity loudness liveness tempo speechiness duration_ms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instrumentalness danceability valence acousticness energy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dtype: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int64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56E8D8C-E098-18CC-73F7-3114C7C357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59848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9" dirty="0"/>
              <a:t>Dropping</a:t>
            </a:r>
            <a:r>
              <a:rPr spc="-114" dirty="0"/>
              <a:t> </a:t>
            </a:r>
            <a:r>
              <a:rPr spc="-265" dirty="0"/>
              <a:t>missing</a:t>
            </a:r>
            <a:r>
              <a:rPr spc="-114" dirty="0"/>
              <a:t> </a:t>
            </a:r>
            <a:r>
              <a:rPr spc="-2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1044575"/>
          </a:xfrm>
          <a:custGeom>
            <a:avLst/>
            <a:gdLst/>
            <a:ahLst/>
            <a:cxnLst/>
            <a:rect l="l" t="t" r="r" b="b"/>
            <a:pathLst>
              <a:path w="14575155" h="1044575">
                <a:moveTo>
                  <a:pt x="14498413" y="1043989"/>
                </a:moveTo>
                <a:lnTo>
                  <a:pt x="76505" y="1043989"/>
                </a:lnTo>
                <a:lnTo>
                  <a:pt x="71180" y="1043465"/>
                </a:lnTo>
                <a:lnTo>
                  <a:pt x="31920" y="1027203"/>
                </a:lnTo>
                <a:lnTo>
                  <a:pt x="4175" y="988475"/>
                </a:lnTo>
                <a:lnTo>
                  <a:pt x="0" y="967484"/>
                </a:lnTo>
                <a:lnTo>
                  <a:pt x="0" y="96210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967484"/>
                </a:lnTo>
                <a:lnTo>
                  <a:pt x="14558132" y="1012069"/>
                </a:lnTo>
                <a:lnTo>
                  <a:pt x="14519404" y="1039814"/>
                </a:lnTo>
                <a:lnTo>
                  <a:pt x="14503737" y="1043465"/>
                </a:lnTo>
                <a:lnTo>
                  <a:pt x="14498413" y="1043989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456435"/>
            <a:ext cx="14575155" cy="5036185"/>
          </a:xfrm>
          <a:custGeom>
            <a:avLst/>
            <a:gdLst/>
            <a:ahLst/>
            <a:cxnLst/>
            <a:rect l="l" t="t" r="r" b="b"/>
            <a:pathLst>
              <a:path w="14575155" h="5036184">
                <a:moveTo>
                  <a:pt x="14498413" y="5035716"/>
                </a:moveTo>
                <a:lnTo>
                  <a:pt x="76505" y="5035716"/>
                </a:lnTo>
                <a:lnTo>
                  <a:pt x="71180" y="5035191"/>
                </a:lnTo>
                <a:lnTo>
                  <a:pt x="31920" y="5018928"/>
                </a:lnTo>
                <a:lnTo>
                  <a:pt x="4175" y="4980202"/>
                </a:lnTo>
                <a:lnTo>
                  <a:pt x="0" y="4959210"/>
                </a:lnTo>
                <a:lnTo>
                  <a:pt x="0" y="49538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959210"/>
                </a:lnTo>
                <a:lnTo>
                  <a:pt x="14558132" y="5003795"/>
                </a:lnTo>
                <a:lnTo>
                  <a:pt x="14519404" y="5031539"/>
                </a:lnTo>
                <a:lnTo>
                  <a:pt x="14503737" y="5035191"/>
                </a:lnTo>
                <a:lnTo>
                  <a:pt x="14498413" y="5035716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808" y="1219851"/>
            <a:ext cx="12371705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95"/>
              </a:spcBef>
            </a:pP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music_df</a:t>
            </a:r>
            <a:r>
              <a:rPr sz="175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75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music_df.dropna(subset=[</a:t>
            </a:r>
            <a:r>
              <a:rPr sz="17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75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75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BE2F72"/>
                </a:solidFill>
                <a:latin typeface="Courier New"/>
                <a:cs typeface="Courier New"/>
              </a:rPr>
              <a:t>"loudness"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75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BE2F72"/>
                </a:solidFill>
                <a:latin typeface="Courier New"/>
                <a:cs typeface="Courier New"/>
              </a:rPr>
              <a:t>"liveness"</a:t>
            </a:r>
            <a:r>
              <a:rPr sz="17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75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750" spc="-10" dirty="0">
                <a:solidFill>
                  <a:srgbClr val="BE2F72"/>
                </a:solidFill>
                <a:latin typeface="Courier New"/>
                <a:cs typeface="Courier New"/>
              </a:rPr>
              <a:t>"tempo"</a:t>
            </a:r>
            <a:r>
              <a:rPr sz="1750" spc="-10" dirty="0">
                <a:solidFill>
                  <a:srgbClr val="04182D"/>
                </a:solidFill>
                <a:latin typeface="Courier New"/>
                <a:cs typeface="Courier New"/>
              </a:rPr>
              <a:t>]) </a:t>
            </a:r>
            <a:r>
              <a:rPr sz="17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750" spc="-10" dirty="0">
                <a:solidFill>
                  <a:srgbClr val="04182D"/>
                </a:solidFill>
                <a:latin typeface="Courier New"/>
                <a:cs typeface="Courier New"/>
              </a:rPr>
              <a:t>(music_df.isna().</a:t>
            </a:r>
            <a:r>
              <a:rPr sz="1750" spc="-10" dirty="0">
                <a:solidFill>
                  <a:srgbClr val="008600"/>
                </a:solidFill>
                <a:latin typeface="Courier New"/>
                <a:cs typeface="Courier New"/>
              </a:rPr>
              <a:t>sum</a:t>
            </a:r>
            <a:r>
              <a:rPr sz="1750" spc="-10" dirty="0">
                <a:solidFill>
                  <a:srgbClr val="04182D"/>
                </a:solidFill>
                <a:latin typeface="Courier New"/>
                <a:cs typeface="Courier New"/>
              </a:rPr>
              <a:t>().sort_values())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1416" y="2509485"/>
            <a:ext cx="433070" cy="444754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895"/>
              </a:spcBef>
            </a:pPr>
            <a:r>
              <a:rPr sz="175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800"/>
              </a:spcBef>
            </a:pPr>
            <a:r>
              <a:rPr sz="175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800"/>
              </a:spcBef>
            </a:pPr>
            <a:r>
              <a:rPr sz="175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800"/>
              </a:spcBef>
            </a:pPr>
            <a:r>
              <a:rPr sz="175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  <a:p>
            <a:pPr marL="283845">
              <a:lnSpc>
                <a:spcPct val="100000"/>
              </a:lnSpc>
              <a:spcBef>
                <a:spcPts val="805"/>
              </a:spcBef>
            </a:pPr>
            <a:r>
              <a:rPr sz="1750" spc="-50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750">
              <a:latin typeface="Courier New"/>
              <a:cs typeface="Courier New"/>
            </a:endParaRPr>
          </a:p>
          <a:p>
            <a:pPr marL="147955">
              <a:lnSpc>
                <a:spcPct val="100000"/>
              </a:lnSpc>
              <a:spcBef>
                <a:spcPts val="800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29</a:t>
            </a:r>
            <a:endParaRPr sz="1750">
              <a:latin typeface="Courier New"/>
              <a:cs typeface="Courier New"/>
            </a:endParaRPr>
          </a:p>
          <a:p>
            <a:pPr marL="147955">
              <a:lnSpc>
                <a:spcPct val="100000"/>
              </a:lnSpc>
              <a:spcBef>
                <a:spcPts val="800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29</a:t>
            </a:r>
            <a:endParaRPr sz="1750">
              <a:latin typeface="Courier New"/>
              <a:cs typeface="Courier New"/>
            </a:endParaRPr>
          </a:p>
          <a:p>
            <a:pPr marL="147955">
              <a:lnSpc>
                <a:spcPct val="100000"/>
              </a:lnSpc>
              <a:spcBef>
                <a:spcPts val="800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53</a:t>
            </a: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127</a:t>
            </a: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127</a:t>
            </a: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178</a:t>
            </a: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-25" dirty="0">
                <a:solidFill>
                  <a:srgbClr val="FFFFFF"/>
                </a:solidFill>
                <a:latin typeface="Courier New"/>
                <a:cs typeface="Courier New"/>
              </a:rPr>
              <a:t>178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808" y="2509485"/>
            <a:ext cx="2196465" cy="4815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83260">
              <a:lnSpc>
                <a:spcPct val="138200"/>
              </a:lnSpc>
              <a:spcBef>
                <a:spcPts val="90"/>
              </a:spcBef>
            </a:pPr>
            <a:r>
              <a:rPr sz="1750" spc="-10" dirty="0">
                <a:solidFill>
                  <a:srgbClr val="FFFFFF"/>
                </a:solidFill>
                <a:latin typeface="Courier New"/>
                <a:cs typeface="Courier New"/>
              </a:rPr>
              <a:t>popularity liveness loudness tempo  genre duration_ms</a:t>
            </a:r>
            <a:endParaRPr sz="1750">
              <a:latin typeface="Courier New"/>
              <a:cs typeface="Courier New"/>
            </a:endParaRPr>
          </a:p>
          <a:p>
            <a:pPr marL="12700" marR="5080">
              <a:lnSpc>
                <a:spcPct val="138200"/>
              </a:lnSpc>
            </a:pPr>
            <a:r>
              <a:rPr sz="1750" spc="-10" dirty="0">
                <a:solidFill>
                  <a:srgbClr val="FFFFFF"/>
                </a:solidFill>
                <a:latin typeface="Courier New"/>
                <a:cs typeface="Courier New"/>
              </a:rPr>
              <a:t>instrumentalness speechiness danceability valence acousticness energy</a:t>
            </a:r>
            <a:endParaRPr sz="1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dirty="0">
                <a:solidFill>
                  <a:srgbClr val="FFFFFF"/>
                </a:solidFill>
                <a:latin typeface="Courier New"/>
                <a:cs typeface="Courier New"/>
              </a:rPr>
              <a:t>dtype:</a:t>
            </a:r>
            <a:r>
              <a:rPr sz="1750" spc="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ourier New"/>
                <a:cs typeface="Courier New"/>
              </a:rPr>
              <a:t>int64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26A0B8A8-1AD2-C3BD-728B-99E75697EA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42100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0" dirty="0"/>
              <a:t>Imputing</a:t>
            </a:r>
            <a:r>
              <a:rPr spc="-145" dirty="0"/>
              <a:t> </a:t>
            </a:r>
            <a:r>
              <a:rPr spc="-170" dirty="0"/>
              <a:t>values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71"/>
            <a:ext cx="13707744" cy="3041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Imputation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-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subject-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matter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expertise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replace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missing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educated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guesses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Common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mean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229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median,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another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value</a:t>
            </a:r>
            <a:endParaRPr sz="2550">
              <a:latin typeface="Tahoma"/>
              <a:cs typeface="Tahoma"/>
            </a:endParaRPr>
          </a:p>
          <a:p>
            <a:pPr marL="12700" marR="2074545">
              <a:lnSpc>
                <a:spcPct val="165300"/>
              </a:lnSpc>
              <a:spcBef>
                <a:spcPts val="100"/>
              </a:spcBef>
            </a:pP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categorical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values,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typically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most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frequent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value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-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mode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Must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split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our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first,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avoid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650" i="1" spc="114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650" i="1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650" i="1" spc="80" dirty="0">
                <a:solidFill>
                  <a:srgbClr val="04182D"/>
                </a:solidFill>
                <a:latin typeface="Tahoma"/>
                <a:cs typeface="Tahoma"/>
              </a:rPr>
              <a:t>leakage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3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191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3971244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6D28C5E-0EED-473D-E9A7-8EAA11E83A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723010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25" dirty="0"/>
              <a:t>Imputation</a:t>
            </a:r>
            <a:r>
              <a:rPr spc="-135" dirty="0"/>
              <a:t> </a:t>
            </a:r>
            <a:r>
              <a:rPr spc="-330" dirty="0"/>
              <a:t>with</a:t>
            </a:r>
            <a:r>
              <a:rPr spc="-135" dirty="0"/>
              <a:t> </a:t>
            </a:r>
            <a:r>
              <a:rPr spc="-250" dirty="0"/>
              <a:t>scikit-</a:t>
            </a:r>
            <a:r>
              <a:rPr spc="-110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00"/>
            <a:ext cx="14575155" cy="5506720"/>
            <a:chOff x="491289" y="1166800"/>
            <a:chExt cx="14575155" cy="5506720"/>
          </a:xfrm>
        </p:grpSpPr>
        <p:sp>
          <p:nvSpPr>
            <p:cNvPr id="4" name="object 4"/>
            <p:cNvSpPr/>
            <p:nvPr/>
          </p:nvSpPr>
          <p:spPr>
            <a:xfrm>
              <a:off x="491289" y="1166800"/>
              <a:ext cx="14575155" cy="5506720"/>
            </a:xfrm>
            <a:custGeom>
              <a:avLst/>
              <a:gdLst/>
              <a:ahLst/>
              <a:cxnLst/>
              <a:rect l="l" t="t" r="r" b="b"/>
              <a:pathLst>
                <a:path w="14575155" h="5506720">
                  <a:moveTo>
                    <a:pt x="14498413" y="5506534"/>
                  </a:moveTo>
                  <a:lnTo>
                    <a:pt x="76505" y="5506534"/>
                  </a:lnTo>
                  <a:lnTo>
                    <a:pt x="71180" y="5506010"/>
                  </a:lnTo>
                  <a:lnTo>
                    <a:pt x="31920" y="5489748"/>
                  </a:lnTo>
                  <a:lnTo>
                    <a:pt x="4175" y="5451021"/>
                  </a:lnTo>
                  <a:lnTo>
                    <a:pt x="0" y="5430029"/>
                  </a:lnTo>
                  <a:lnTo>
                    <a:pt x="0" y="542465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5430029"/>
                  </a:lnTo>
                  <a:lnTo>
                    <a:pt x="14558132" y="5474614"/>
                  </a:lnTo>
                  <a:lnTo>
                    <a:pt x="14519404" y="5502359"/>
                  </a:lnTo>
                  <a:lnTo>
                    <a:pt x="14503737" y="5506010"/>
                  </a:lnTo>
                  <a:lnTo>
                    <a:pt x="14498413" y="550653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8401" y="1431619"/>
              <a:ext cx="4353560" cy="277495"/>
            </a:xfrm>
            <a:custGeom>
              <a:avLst/>
              <a:gdLst/>
              <a:ahLst/>
              <a:cxnLst/>
              <a:rect l="l" t="t" r="r" b="b"/>
              <a:pathLst>
                <a:path w="4353560" h="277494">
                  <a:moveTo>
                    <a:pt x="145021" y="9804"/>
                  </a:moveTo>
                  <a:lnTo>
                    <a:pt x="91465" y="9804"/>
                  </a:lnTo>
                  <a:lnTo>
                    <a:pt x="81432" y="10553"/>
                  </a:lnTo>
                  <a:lnTo>
                    <a:pt x="48082" y="35991"/>
                  </a:lnTo>
                  <a:lnTo>
                    <a:pt x="44907" y="54368"/>
                  </a:lnTo>
                  <a:lnTo>
                    <a:pt x="44907" y="63423"/>
                  </a:lnTo>
                  <a:lnTo>
                    <a:pt x="0" y="63423"/>
                  </a:lnTo>
                  <a:lnTo>
                    <a:pt x="0" y="98120"/>
                  </a:lnTo>
                  <a:lnTo>
                    <a:pt x="44907" y="98120"/>
                  </a:lnTo>
                  <a:lnTo>
                    <a:pt x="44907" y="226479"/>
                  </a:lnTo>
                  <a:lnTo>
                    <a:pt x="81864" y="226479"/>
                  </a:lnTo>
                  <a:lnTo>
                    <a:pt x="81864" y="98120"/>
                  </a:lnTo>
                  <a:lnTo>
                    <a:pt x="145021" y="98120"/>
                  </a:lnTo>
                  <a:lnTo>
                    <a:pt x="145021" y="63423"/>
                  </a:lnTo>
                  <a:lnTo>
                    <a:pt x="81864" y="63423"/>
                  </a:lnTo>
                  <a:lnTo>
                    <a:pt x="81864" y="50850"/>
                  </a:lnTo>
                  <a:lnTo>
                    <a:pt x="82638" y="48450"/>
                  </a:lnTo>
                  <a:lnTo>
                    <a:pt x="85801" y="45300"/>
                  </a:lnTo>
                  <a:lnTo>
                    <a:pt x="88214" y="44500"/>
                  </a:lnTo>
                  <a:lnTo>
                    <a:pt x="145021" y="44500"/>
                  </a:lnTo>
                  <a:lnTo>
                    <a:pt x="145021" y="9804"/>
                  </a:lnTo>
                  <a:close/>
                </a:path>
                <a:path w="4353560" h="277494">
                  <a:moveTo>
                    <a:pt x="313245" y="120129"/>
                  </a:moveTo>
                  <a:lnTo>
                    <a:pt x="297129" y="74599"/>
                  </a:lnTo>
                  <a:lnTo>
                    <a:pt x="254063" y="57518"/>
                  </a:lnTo>
                  <a:lnTo>
                    <a:pt x="237401" y="59791"/>
                  </a:lnTo>
                  <a:lnTo>
                    <a:pt x="225056" y="66573"/>
                  </a:lnTo>
                  <a:lnTo>
                    <a:pt x="217043" y="77889"/>
                  </a:lnTo>
                  <a:lnTo>
                    <a:pt x="213334" y="93726"/>
                  </a:lnTo>
                  <a:lnTo>
                    <a:pt x="213423" y="93243"/>
                  </a:lnTo>
                  <a:lnTo>
                    <a:pt x="219163" y="60337"/>
                  </a:lnTo>
                  <a:lnTo>
                    <a:pt x="182829" y="60337"/>
                  </a:lnTo>
                  <a:lnTo>
                    <a:pt x="182829" y="226479"/>
                  </a:lnTo>
                  <a:lnTo>
                    <a:pt x="219710" y="226479"/>
                  </a:lnTo>
                  <a:lnTo>
                    <a:pt x="219773" y="111848"/>
                  </a:lnTo>
                  <a:lnTo>
                    <a:pt x="222199" y="104178"/>
                  </a:lnTo>
                  <a:lnTo>
                    <a:pt x="231813" y="93726"/>
                  </a:lnTo>
                  <a:lnTo>
                    <a:pt x="232333" y="93243"/>
                  </a:lnTo>
                  <a:lnTo>
                    <a:pt x="239204" y="90576"/>
                  </a:lnTo>
                  <a:lnTo>
                    <a:pt x="257314" y="90576"/>
                  </a:lnTo>
                  <a:lnTo>
                    <a:pt x="264287" y="93243"/>
                  </a:lnTo>
                  <a:lnTo>
                    <a:pt x="273926" y="103949"/>
                  </a:lnTo>
                  <a:lnTo>
                    <a:pt x="274002" y="104178"/>
                  </a:lnTo>
                  <a:lnTo>
                    <a:pt x="276352" y="111848"/>
                  </a:lnTo>
                  <a:lnTo>
                    <a:pt x="276352" y="135216"/>
                  </a:lnTo>
                  <a:lnTo>
                    <a:pt x="313245" y="135216"/>
                  </a:lnTo>
                  <a:lnTo>
                    <a:pt x="313245" y="120129"/>
                  </a:lnTo>
                  <a:close/>
                </a:path>
                <a:path w="4353560" h="277494">
                  <a:moveTo>
                    <a:pt x="475564" y="122047"/>
                  </a:moveTo>
                  <a:lnTo>
                    <a:pt x="465582" y="84416"/>
                  </a:lnTo>
                  <a:lnTo>
                    <a:pt x="438670" y="62661"/>
                  </a:lnTo>
                  <a:lnTo>
                    <a:pt x="438670" y="112077"/>
                  </a:lnTo>
                  <a:lnTo>
                    <a:pt x="438670" y="174726"/>
                  </a:lnTo>
                  <a:lnTo>
                    <a:pt x="436257" y="182410"/>
                  </a:lnTo>
                  <a:lnTo>
                    <a:pt x="426605" y="192608"/>
                  </a:lnTo>
                  <a:lnTo>
                    <a:pt x="419544" y="195135"/>
                  </a:lnTo>
                  <a:lnTo>
                    <a:pt x="400850" y="195135"/>
                  </a:lnTo>
                  <a:lnTo>
                    <a:pt x="393763" y="192608"/>
                  </a:lnTo>
                  <a:lnTo>
                    <a:pt x="384162" y="182410"/>
                  </a:lnTo>
                  <a:lnTo>
                    <a:pt x="381762" y="174726"/>
                  </a:lnTo>
                  <a:lnTo>
                    <a:pt x="381762" y="112077"/>
                  </a:lnTo>
                  <a:lnTo>
                    <a:pt x="384162" y="104419"/>
                  </a:lnTo>
                  <a:lnTo>
                    <a:pt x="393763" y="94234"/>
                  </a:lnTo>
                  <a:lnTo>
                    <a:pt x="400850" y="91668"/>
                  </a:lnTo>
                  <a:lnTo>
                    <a:pt x="419544" y="91668"/>
                  </a:lnTo>
                  <a:lnTo>
                    <a:pt x="426605" y="94234"/>
                  </a:lnTo>
                  <a:lnTo>
                    <a:pt x="431406" y="99352"/>
                  </a:lnTo>
                  <a:lnTo>
                    <a:pt x="436257" y="104419"/>
                  </a:lnTo>
                  <a:lnTo>
                    <a:pt x="438670" y="62661"/>
                  </a:lnTo>
                  <a:lnTo>
                    <a:pt x="410222" y="57518"/>
                  </a:lnTo>
                  <a:lnTo>
                    <a:pt x="395998" y="58610"/>
                  </a:lnTo>
                  <a:lnTo>
                    <a:pt x="354774" y="84416"/>
                  </a:lnTo>
                  <a:lnTo>
                    <a:pt x="344830" y="122047"/>
                  </a:lnTo>
                  <a:lnTo>
                    <a:pt x="344805" y="164490"/>
                  </a:lnTo>
                  <a:lnTo>
                    <a:pt x="345909" y="178689"/>
                  </a:lnTo>
                  <a:lnTo>
                    <a:pt x="372135" y="219494"/>
                  </a:lnTo>
                  <a:lnTo>
                    <a:pt x="410222" y="229285"/>
                  </a:lnTo>
                  <a:lnTo>
                    <a:pt x="424408" y="228193"/>
                  </a:lnTo>
                  <a:lnTo>
                    <a:pt x="465582" y="202374"/>
                  </a:lnTo>
                  <a:lnTo>
                    <a:pt x="475564" y="164490"/>
                  </a:lnTo>
                  <a:lnTo>
                    <a:pt x="475564" y="122047"/>
                  </a:lnTo>
                  <a:close/>
                </a:path>
                <a:path w="4353560" h="277494">
                  <a:moveTo>
                    <a:pt x="650240" y="103263"/>
                  </a:moveTo>
                  <a:lnTo>
                    <a:pt x="647115" y="83096"/>
                  </a:lnTo>
                  <a:lnTo>
                    <a:pt x="644829" y="77190"/>
                  </a:lnTo>
                  <a:lnTo>
                    <a:pt x="613829" y="57518"/>
                  </a:lnTo>
                  <a:lnTo>
                    <a:pt x="605637" y="57518"/>
                  </a:lnTo>
                  <a:lnTo>
                    <a:pt x="599097" y="59791"/>
                  </a:lnTo>
                  <a:lnTo>
                    <a:pt x="598258" y="60337"/>
                  </a:lnTo>
                  <a:lnTo>
                    <a:pt x="587654" y="69405"/>
                  </a:lnTo>
                  <a:lnTo>
                    <a:pt x="587362" y="70332"/>
                  </a:lnTo>
                  <a:lnTo>
                    <a:pt x="586816" y="68795"/>
                  </a:lnTo>
                  <a:lnTo>
                    <a:pt x="585939" y="68072"/>
                  </a:lnTo>
                  <a:lnTo>
                    <a:pt x="585939" y="77190"/>
                  </a:lnTo>
                  <a:lnTo>
                    <a:pt x="585698" y="75488"/>
                  </a:lnTo>
                  <a:lnTo>
                    <a:pt x="585812" y="75120"/>
                  </a:lnTo>
                  <a:lnTo>
                    <a:pt x="585838" y="75488"/>
                  </a:lnTo>
                  <a:lnTo>
                    <a:pt x="585939" y="77190"/>
                  </a:lnTo>
                  <a:lnTo>
                    <a:pt x="585939" y="68072"/>
                  </a:lnTo>
                  <a:lnTo>
                    <a:pt x="581456" y="64312"/>
                  </a:lnTo>
                  <a:lnTo>
                    <a:pt x="576160" y="59791"/>
                  </a:lnTo>
                  <a:lnTo>
                    <a:pt x="569620" y="57518"/>
                  </a:lnTo>
                  <a:lnTo>
                    <a:pt x="553669" y="57518"/>
                  </a:lnTo>
                  <a:lnTo>
                    <a:pt x="547230" y="59791"/>
                  </a:lnTo>
                  <a:lnTo>
                    <a:pt x="546989" y="59791"/>
                  </a:lnTo>
                  <a:lnTo>
                    <a:pt x="539991" y="65887"/>
                  </a:lnTo>
                  <a:lnTo>
                    <a:pt x="541007" y="60337"/>
                  </a:lnTo>
                  <a:lnTo>
                    <a:pt x="534111" y="60337"/>
                  </a:lnTo>
                  <a:lnTo>
                    <a:pt x="534111" y="77152"/>
                  </a:lnTo>
                  <a:lnTo>
                    <a:pt x="533806" y="75488"/>
                  </a:lnTo>
                  <a:lnTo>
                    <a:pt x="533933" y="75120"/>
                  </a:lnTo>
                  <a:lnTo>
                    <a:pt x="533971" y="75488"/>
                  </a:lnTo>
                  <a:lnTo>
                    <a:pt x="534111" y="77152"/>
                  </a:lnTo>
                  <a:lnTo>
                    <a:pt x="534111" y="60337"/>
                  </a:lnTo>
                  <a:lnTo>
                    <a:pt x="507136" y="60337"/>
                  </a:lnTo>
                  <a:lnTo>
                    <a:pt x="507136" y="226479"/>
                  </a:lnTo>
                  <a:lnTo>
                    <a:pt x="542099" y="226479"/>
                  </a:lnTo>
                  <a:lnTo>
                    <a:pt x="542099" y="97637"/>
                  </a:lnTo>
                  <a:lnTo>
                    <a:pt x="542950" y="94030"/>
                  </a:lnTo>
                  <a:lnTo>
                    <a:pt x="546379" y="89687"/>
                  </a:lnTo>
                  <a:lnTo>
                    <a:pt x="548843" y="88582"/>
                  </a:lnTo>
                  <a:lnTo>
                    <a:pt x="555434" y="88582"/>
                  </a:lnTo>
                  <a:lnTo>
                    <a:pt x="557898" y="89687"/>
                  </a:lnTo>
                  <a:lnTo>
                    <a:pt x="561530" y="94030"/>
                  </a:lnTo>
                  <a:lnTo>
                    <a:pt x="562648" y="97637"/>
                  </a:lnTo>
                  <a:lnTo>
                    <a:pt x="562737" y="226479"/>
                  </a:lnTo>
                  <a:lnTo>
                    <a:pt x="594626" y="226479"/>
                  </a:lnTo>
                  <a:lnTo>
                    <a:pt x="594652" y="97637"/>
                  </a:lnTo>
                  <a:lnTo>
                    <a:pt x="595655" y="94030"/>
                  </a:lnTo>
                  <a:lnTo>
                    <a:pt x="599363" y="89687"/>
                  </a:lnTo>
                  <a:lnTo>
                    <a:pt x="601878" y="88582"/>
                  </a:lnTo>
                  <a:lnTo>
                    <a:pt x="608457" y="88582"/>
                  </a:lnTo>
                  <a:lnTo>
                    <a:pt x="610870" y="89687"/>
                  </a:lnTo>
                  <a:lnTo>
                    <a:pt x="614197" y="94030"/>
                  </a:lnTo>
                  <a:lnTo>
                    <a:pt x="615188" y="97637"/>
                  </a:lnTo>
                  <a:lnTo>
                    <a:pt x="615264" y="226479"/>
                  </a:lnTo>
                  <a:lnTo>
                    <a:pt x="650240" y="226479"/>
                  </a:lnTo>
                  <a:lnTo>
                    <a:pt x="650240" y="103263"/>
                  </a:lnTo>
                  <a:close/>
                </a:path>
                <a:path w="4353560" h="277494">
                  <a:moveTo>
                    <a:pt x="3472535" y="16179"/>
                  </a:moveTo>
                  <a:lnTo>
                    <a:pt x="3470275" y="10693"/>
                  </a:lnTo>
                  <a:lnTo>
                    <a:pt x="3461220" y="2146"/>
                  </a:lnTo>
                  <a:lnTo>
                    <a:pt x="3455454" y="0"/>
                  </a:lnTo>
                  <a:lnTo>
                    <a:pt x="3435845" y="0"/>
                  </a:lnTo>
                  <a:lnTo>
                    <a:pt x="3430092" y="2146"/>
                  </a:lnTo>
                  <a:lnTo>
                    <a:pt x="3421037" y="10693"/>
                  </a:lnTo>
                  <a:lnTo>
                    <a:pt x="3418776" y="16179"/>
                  </a:lnTo>
                  <a:lnTo>
                    <a:pt x="3418776" y="29667"/>
                  </a:lnTo>
                  <a:lnTo>
                    <a:pt x="3420999" y="35102"/>
                  </a:lnTo>
                  <a:lnTo>
                    <a:pt x="3425431" y="39217"/>
                  </a:lnTo>
                  <a:lnTo>
                    <a:pt x="3429901" y="43281"/>
                  </a:lnTo>
                  <a:lnTo>
                    <a:pt x="3435718" y="45313"/>
                  </a:lnTo>
                  <a:lnTo>
                    <a:pt x="3455365" y="45313"/>
                  </a:lnTo>
                  <a:lnTo>
                    <a:pt x="3461105" y="43281"/>
                  </a:lnTo>
                  <a:lnTo>
                    <a:pt x="3470262" y="35102"/>
                  </a:lnTo>
                  <a:lnTo>
                    <a:pt x="3472535" y="29667"/>
                  </a:lnTo>
                  <a:lnTo>
                    <a:pt x="3472535" y="16179"/>
                  </a:lnTo>
                  <a:close/>
                </a:path>
                <a:path w="4353560" h="277494">
                  <a:moveTo>
                    <a:pt x="3518890" y="191782"/>
                  </a:moveTo>
                  <a:lnTo>
                    <a:pt x="3466909" y="191782"/>
                  </a:lnTo>
                  <a:lnTo>
                    <a:pt x="3466909" y="60337"/>
                  </a:lnTo>
                  <a:lnTo>
                    <a:pt x="3382226" y="60337"/>
                  </a:lnTo>
                  <a:lnTo>
                    <a:pt x="3382226" y="95034"/>
                  </a:lnTo>
                  <a:lnTo>
                    <a:pt x="3429952" y="95034"/>
                  </a:lnTo>
                  <a:lnTo>
                    <a:pt x="3429952" y="191782"/>
                  </a:lnTo>
                  <a:lnTo>
                    <a:pt x="3375241" y="191782"/>
                  </a:lnTo>
                  <a:lnTo>
                    <a:pt x="3375241" y="226479"/>
                  </a:lnTo>
                  <a:lnTo>
                    <a:pt x="3518890" y="226479"/>
                  </a:lnTo>
                  <a:lnTo>
                    <a:pt x="3518890" y="191782"/>
                  </a:lnTo>
                  <a:close/>
                </a:path>
                <a:path w="4353560" h="277494">
                  <a:moveTo>
                    <a:pt x="3682860" y="103263"/>
                  </a:moveTo>
                  <a:lnTo>
                    <a:pt x="3682263" y="93637"/>
                  </a:lnTo>
                  <a:lnTo>
                    <a:pt x="3681209" y="88582"/>
                  </a:lnTo>
                  <a:lnTo>
                    <a:pt x="3680460" y="84950"/>
                  </a:lnTo>
                  <a:lnTo>
                    <a:pt x="3679825" y="83312"/>
                  </a:lnTo>
                  <a:lnTo>
                    <a:pt x="3679748" y="83096"/>
                  </a:lnTo>
                  <a:lnTo>
                    <a:pt x="3677462" y="77190"/>
                  </a:lnTo>
                  <a:lnTo>
                    <a:pt x="3646449" y="57518"/>
                  </a:lnTo>
                  <a:lnTo>
                    <a:pt x="3638270" y="57518"/>
                  </a:lnTo>
                  <a:lnTo>
                    <a:pt x="3631717" y="59791"/>
                  </a:lnTo>
                  <a:lnTo>
                    <a:pt x="3630879" y="60337"/>
                  </a:lnTo>
                  <a:lnTo>
                    <a:pt x="3620274" y="69405"/>
                  </a:lnTo>
                  <a:lnTo>
                    <a:pt x="3619982" y="70332"/>
                  </a:lnTo>
                  <a:lnTo>
                    <a:pt x="3619436" y="68795"/>
                  </a:lnTo>
                  <a:lnTo>
                    <a:pt x="3618573" y="68072"/>
                  </a:lnTo>
                  <a:lnTo>
                    <a:pt x="3618573" y="77190"/>
                  </a:lnTo>
                  <a:lnTo>
                    <a:pt x="3618319" y="75488"/>
                  </a:lnTo>
                  <a:lnTo>
                    <a:pt x="3618433" y="75120"/>
                  </a:lnTo>
                  <a:lnTo>
                    <a:pt x="3618458" y="75488"/>
                  </a:lnTo>
                  <a:lnTo>
                    <a:pt x="3618573" y="77190"/>
                  </a:lnTo>
                  <a:lnTo>
                    <a:pt x="3618573" y="68072"/>
                  </a:lnTo>
                  <a:lnTo>
                    <a:pt x="3614089" y="64312"/>
                  </a:lnTo>
                  <a:lnTo>
                    <a:pt x="3608781" y="59791"/>
                  </a:lnTo>
                  <a:lnTo>
                    <a:pt x="3602240" y="57518"/>
                  </a:lnTo>
                  <a:lnTo>
                    <a:pt x="3586289" y="57518"/>
                  </a:lnTo>
                  <a:lnTo>
                    <a:pt x="3579850" y="59791"/>
                  </a:lnTo>
                  <a:lnTo>
                    <a:pt x="3579609" y="59791"/>
                  </a:lnTo>
                  <a:lnTo>
                    <a:pt x="3572611" y="65887"/>
                  </a:lnTo>
                  <a:lnTo>
                    <a:pt x="3573627" y="60337"/>
                  </a:lnTo>
                  <a:lnTo>
                    <a:pt x="3566731" y="60337"/>
                  </a:lnTo>
                  <a:lnTo>
                    <a:pt x="3566731" y="77152"/>
                  </a:lnTo>
                  <a:lnTo>
                    <a:pt x="3566426" y="75488"/>
                  </a:lnTo>
                  <a:lnTo>
                    <a:pt x="3566553" y="75120"/>
                  </a:lnTo>
                  <a:lnTo>
                    <a:pt x="3566591" y="75488"/>
                  </a:lnTo>
                  <a:lnTo>
                    <a:pt x="3566731" y="77152"/>
                  </a:lnTo>
                  <a:lnTo>
                    <a:pt x="3566731" y="60337"/>
                  </a:lnTo>
                  <a:lnTo>
                    <a:pt x="3539756" y="60337"/>
                  </a:lnTo>
                  <a:lnTo>
                    <a:pt x="3539756" y="226479"/>
                  </a:lnTo>
                  <a:lnTo>
                    <a:pt x="3574732" y="226479"/>
                  </a:lnTo>
                  <a:lnTo>
                    <a:pt x="3574732" y="97637"/>
                  </a:lnTo>
                  <a:lnTo>
                    <a:pt x="3575570" y="94030"/>
                  </a:lnTo>
                  <a:lnTo>
                    <a:pt x="3578999" y="89687"/>
                  </a:lnTo>
                  <a:lnTo>
                    <a:pt x="3581463" y="88582"/>
                  </a:lnTo>
                  <a:lnTo>
                    <a:pt x="3588054" y="88582"/>
                  </a:lnTo>
                  <a:lnTo>
                    <a:pt x="3590518" y="89687"/>
                  </a:lnTo>
                  <a:lnTo>
                    <a:pt x="3594150" y="94030"/>
                  </a:lnTo>
                  <a:lnTo>
                    <a:pt x="3595268" y="97637"/>
                  </a:lnTo>
                  <a:lnTo>
                    <a:pt x="3595370" y="226479"/>
                  </a:lnTo>
                  <a:lnTo>
                    <a:pt x="3627247" y="226479"/>
                  </a:lnTo>
                  <a:lnTo>
                    <a:pt x="3627272" y="97637"/>
                  </a:lnTo>
                  <a:lnTo>
                    <a:pt x="3628288" y="94030"/>
                  </a:lnTo>
                  <a:lnTo>
                    <a:pt x="3631984" y="89687"/>
                  </a:lnTo>
                  <a:lnTo>
                    <a:pt x="3634498" y="88582"/>
                  </a:lnTo>
                  <a:lnTo>
                    <a:pt x="3641077" y="88582"/>
                  </a:lnTo>
                  <a:lnTo>
                    <a:pt x="3643490" y="89687"/>
                  </a:lnTo>
                  <a:lnTo>
                    <a:pt x="3646817" y="94030"/>
                  </a:lnTo>
                  <a:lnTo>
                    <a:pt x="3647808" y="97637"/>
                  </a:lnTo>
                  <a:lnTo>
                    <a:pt x="3647884" y="226479"/>
                  </a:lnTo>
                  <a:lnTo>
                    <a:pt x="3682860" y="226479"/>
                  </a:lnTo>
                  <a:lnTo>
                    <a:pt x="3682860" y="103263"/>
                  </a:lnTo>
                  <a:close/>
                </a:path>
                <a:path w="4353560" h="277494">
                  <a:moveTo>
                    <a:pt x="3845179" y="120675"/>
                  </a:moveTo>
                  <a:lnTo>
                    <a:pt x="3844239" y="107086"/>
                  </a:lnTo>
                  <a:lnTo>
                    <a:pt x="3841419" y="94907"/>
                  </a:lnTo>
                  <a:lnTo>
                    <a:pt x="3839756" y="91122"/>
                  </a:lnTo>
                  <a:lnTo>
                    <a:pt x="3836695" y="84150"/>
                  </a:lnTo>
                  <a:lnTo>
                    <a:pt x="3830104" y="74803"/>
                  </a:lnTo>
                  <a:lnTo>
                    <a:pt x="3821900" y="67246"/>
                  </a:lnTo>
                  <a:lnTo>
                    <a:pt x="3812336" y="61849"/>
                  </a:lnTo>
                  <a:lnTo>
                    <a:pt x="3808298" y="60655"/>
                  </a:lnTo>
                  <a:lnTo>
                    <a:pt x="3808298" y="111848"/>
                  </a:lnTo>
                  <a:lnTo>
                    <a:pt x="3808298" y="174955"/>
                  </a:lnTo>
                  <a:lnTo>
                    <a:pt x="3805936" y="182778"/>
                  </a:lnTo>
                  <a:lnTo>
                    <a:pt x="3796614" y="193014"/>
                  </a:lnTo>
                  <a:lnTo>
                    <a:pt x="3789667" y="195694"/>
                  </a:lnTo>
                  <a:lnTo>
                    <a:pt x="3771887" y="195694"/>
                  </a:lnTo>
                  <a:lnTo>
                    <a:pt x="3764978" y="193014"/>
                  </a:lnTo>
                  <a:lnTo>
                    <a:pt x="3764076" y="192049"/>
                  </a:lnTo>
                  <a:lnTo>
                    <a:pt x="3759949" y="187667"/>
                  </a:lnTo>
                  <a:lnTo>
                    <a:pt x="3754971" y="182270"/>
                  </a:lnTo>
                  <a:lnTo>
                    <a:pt x="3752608" y="174955"/>
                  </a:lnTo>
                  <a:lnTo>
                    <a:pt x="3752608" y="111848"/>
                  </a:lnTo>
                  <a:lnTo>
                    <a:pt x="3754971" y="104559"/>
                  </a:lnTo>
                  <a:lnTo>
                    <a:pt x="3763657" y="95237"/>
                  </a:lnTo>
                  <a:lnTo>
                    <a:pt x="3763962" y="94907"/>
                  </a:lnTo>
                  <a:lnTo>
                    <a:pt x="3765270" y="93700"/>
                  </a:lnTo>
                  <a:lnTo>
                    <a:pt x="3771887" y="91122"/>
                  </a:lnTo>
                  <a:lnTo>
                    <a:pt x="3789667" y="91122"/>
                  </a:lnTo>
                  <a:lnTo>
                    <a:pt x="3796525" y="93700"/>
                  </a:lnTo>
                  <a:lnTo>
                    <a:pt x="3805936" y="104038"/>
                  </a:lnTo>
                  <a:lnTo>
                    <a:pt x="3808298" y="111848"/>
                  </a:lnTo>
                  <a:lnTo>
                    <a:pt x="3808298" y="60655"/>
                  </a:lnTo>
                  <a:lnTo>
                    <a:pt x="3801402" y="58610"/>
                  </a:lnTo>
                  <a:lnTo>
                    <a:pt x="3789095" y="57518"/>
                  </a:lnTo>
                  <a:lnTo>
                    <a:pt x="3779812" y="58140"/>
                  </a:lnTo>
                  <a:lnTo>
                    <a:pt x="3750297" y="74269"/>
                  </a:lnTo>
                  <a:lnTo>
                    <a:pt x="3752481" y="60337"/>
                  </a:lnTo>
                  <a:lnTo>
                    <a:pt x="3746106" y="60337"/>
                  </a:lnTo>
                  <a:lnTo>
                    <a:pt x="3746106" y="192049"/>
                  </a:lnTo>
                  <a:lnTo>
                    <a:pt x="3746068" y="193014"/>
                  </a:lnTo>
                  <a:lnTo>
                    <a:pt x="3745954" y="195694"/>
                  </a:lnTo>
                  <a:lnTo>
                    <a:pt x="3745750" y="200266"/>
                  </a:lnTo>
                  <a:lnTo>
                    <a:pt x="3746106" y="192049"/>
                  </a:lnTo>
                  <a:lnTo>
                    <a:pt x="3746106" y="60337"/>
                  </a:lnTo>
                  <a:lnTo>
                    <a:pt x="3715588" y="60337"/>
                  </a:lnTo>
                  <a:lnTo>
                    <a:pt x="3715588" y="277012"/>
                  </a:lnTo>
                  <a:lnTo>
                    <a:pt x="3752481" y="277012"/>
                  </a:lnTo>
                  <a:lnTo>
                    <a:pt x="3752278" y="224967"/>
                  </a:lnTo>
                  <a:lnTo>
                    <a:pt x="3750297" y="212636"/>
                  </a:lnTo>
                  <a:lnTo>
                    <a:pt x="3750957" y="213804"/>
                  </a:lnTo>
                  <a:lnTo>
                    <a:pt x="3789095" y="229285"/>
                  </a:lnTo>
                  <a:lnTo>
                    <a:pt x="3801402" y="228206"/>
                  </a:lnTo>
                  <a:lnTo>
                    <a:pt x="3836695" y="202641"/>
                  </a:lnTo>
                  <a:lnTo>
                    <a:pt x="3839730" y="195694"/>
                  </a:lnTo>
                  <a:lnTo>
                    <a:pt x="3841419" y="191833"/>
                  </a:lnTo>
                  <a:lnTo>
                    <a:pt x="3844239" y="179565"/>
                  </a:lnTo>
                  <a:lnTo>
                    <a:pt x="3845179" y="165862"/>
                  </a:lnTo>
                  <a:lnTo>
                    <a:pt x="3845179" y="120675"/>
                  </a:lnTo>
                  <a:close/>
                </a:path>
                <a:path w="4353560" h="277494">
                  <a:moveTo>
                    <a:pt x="4013682" y="122047"/>
                  </a:moveTo>
                  <a:lnTo>
                    <a:pt x="4003687" y="84416"/>
                  </a:lnTo>
                  <a:lnTo>
                    <a:pt x="3976789" y="62674"/>
                  </a:lnTo>
                  <a:lnTo>
                    <a:pt x="3976789" y="112077"/>
                  </a:lnTo>
                  <a:lnTo>
                    <a:pt x="3976789" y="174726"/>
                  </a:lnTo>
                  <a:lnTo>
                    <a:pt x="3974376" y="182410"/>
                  </a:lnTo>
                  <a:lnTo>
                    <a:pt x="3964724" y="192608"/>
                  </a:lnTo>
                  <a:lnTo>
                    <a:pt x="3957663" y="195135"/>
                  </a:lnTo>
                  <a:lnTo>
                    <a:pt x="3938968" y="195135"/>
                  </a:lnTo>
                  <a:lnTo>
                    <a:pt x="3931882" y="192608"/>
                  </a:lnTo>
                  <a:lnTo>
                    <a:pt x="3922280" y="182410"/>
                  </a:lnTo>
                  <a:lnTo>
                    <a:pt x="3919880" y="174726"/>
                  </a:lnTo>
                  <a:lnTo>
                    <a:pt x="3919880" y="112077"/>
                  </a:lnTo>
                  <a:lnTo>
                    <a:pt x="3922280" y="104419"/>
                  </a:lnTo>
                  <a:lnTo>
                    <a:pt x="3931882" y="94234"/>
                  </a:lnTo>
                  <a:lnTo>
                    <a:pt x="3938968" y="91668"/>
                  </a:lnTo>
                  <a:lnTo>
                    <a:pt x="3957663" y="91668"/>
                  </a:lnTo>
                  <a:lnTo>
                    <a:pt x="3964724" y="94234"/>
                  </a:lnTo>
                  <a:lnTo>
                    <a:pt x="3969524" y="99352"/>
                  </a:lnTo>
                  <a:lnTo>
                    <a:pt x="3974376" y="104419"/>
                  </a:lnTo>
                  <a:lnTo>
                    <a:pt x="3976789" y="62674"/>
                  </a:lnTo>
                  <a:lnTo>
                    <a:pt x="3948341" y="57518"/>
                  </a:lnTo>
                  <a:lnTo>
                    <a:pt x="3934117" y="58610"/>
                  </a:lnTo>
                  <a:lnTo>
                    <a:pt x="3892893" y="84416"/>
                  </a:lnTo>
                  <a:lnTo>
                    <a:pt x="3882948" y="122047"/>
                  </a:lnTo>
                  <a:lnTo>
                    <a:pt x="3882923" y="164490"/>
                  </a:lnTo>
                  <a:lnTo>
                    <a:pt x="3884028" y="178689"/>
                  </a:lnTo>
                  <a:lnTo>
                    <a:pt x="3910253" y="219494"/>
                  </a:lnTo>
                  <a:lnTo>
                    <a:pt x="3948341" y="229285"/>
                  </a:lnTo>
                  <a:lnTo>
                    <a:pt x="3962527" y="228193"/>
                  </a:lnTo>
                  <a:lnTo>
                    <a:pt x="4003687" y="202374"/>
                  </a:lnTo>
                  <a:lnTo>
                    <a:pt x="4013682" y="164490"/>
                  </a:lnTo>
                  <a:lnTo>
                    <a:pt x="4013682" y="122047"/>
                  </a:lnTo>
                  <a:close/>
                </a:path>
                <a:path w="4353560" h="277494">
                  <a:moveTo>
                    <a:pt x="4188358" y="120129"/>
                  </a:moveTo>
                  <a:lnTo>
                    <a:pt x="4172242" y="74599"/>
                  </a:lnTo>
                  <a:lnTo>
                    <a:pt x="4129176" y="57518"/>
                  </a:lnTo>
                  <a:lnTo>
                    <a:pt x="4112514" y="59791"/>
                  </a:lnTo>
                  <a:lnTo>
                    <a:pt x="4100169" y="66573"/>
                  </a:lnTo>
                  <a:lnTo>
                    <a:pt x="4092156" y="77889"/>
                  </a:lnTo>
                  <a:lnTo>
                    <a:pt x="4088447" y="93726"/>
                  </a:lnTo>
                  <a:lnTo>
                    <a:pt x="4088536" y="93243"/>
                  </a:lnTo>
                  <a:lnTo>
                    <a:pt x="4094276" y="60337"/>
                  </a:lnTo>
                  <a:lnTo>
                    <a:pt x="4057942" y="60337"/>
                  </a:lnTo>
                  <a:lnTo>
                    <a:pt x="4057942" y="226479"/>
                  </a:lnTo>
                  <a:lnTo>
                    <a:pt x="4094823" y="226479"/>
                  </a:lnTo>
                  <a:lnTo>
                    <a:pt x="4094886" y="111848"/>
                  </a:lnTo>
                  <a:lnTo>
                    <a:pt x="4097312" y="104178"/>
                  </a:lnTo>
                  <a:lnTo>
                    <a:pt x="4106926" y="93726"/>
                  </a:lnTo>
                  <a:lnTo>
                    <a:pt x="4107446" y="93243"/>
                  </a:lnTo>
                  <a:lnTo>
                    <a:pt x="4114317" y="90576"/>
                  </a:lnTo>
                  <a:lnTo>
                    <a:pt x="4132427" y="90576"/>
                  </a:lnTo>
                  <a:lnTo>
                    <a:pt x="4139400" y="93243"/>
                  </a:lnTo>
                  <a:lnTo>
                    <a:pt x="4149039" y="103949"/>
                  </a:lnTo>
                  <a:lnTo>
                    <a:pt x="4149115" y="104178"/>
                  </a:lnTo>
                  <a:lnTo>
                    <a:pt x="4151465" y="111848"/>
                  </a:lnTo>
                  <a:lnTo>
                    <a:pt x="4151465" y="135216"/>
                  </a:lnTo>
                  <a:lnTo>
                    <a:pt x="4188358" y="135216"/>
                  </a:lnTo>
                  <a:lnTo>
                    <a:pt x="4188358" y="120129"/>
                  </a:lnTo>
                  <a:close/>
                </a:path>
                <a:path w="4353560" h="277494">
                  <a:moveTo>
                    <a:pt x="4352937" y="60337"/>
                  </a:moveTo>
                  <a:lnTo>
                    <a:pt x="4291165" y="60337"/>
                  </a:lnTo>
                  <a:lnTo>
                    <a:pt x="4291165" y="18237"/>
                  </a:lnTo>
                  <a:lnTo>
                    <a:pt x="4254208" y="18237"/>
                  </a:lnTo>
                  <a:lnTo>
                    <a:pt x="4254208" y="60337"/>
                  </a:lnTo>
                  <a:lnTo>
                    <a:pt x="4210659" y="60337"/>
                  </a:lnTo>
                  <a:lnTo>
                    <a:pt x="4210659" y="95034"/>
                  </a:lnTo>
                  <a:lnTo>
                    <a:pt x="4254208" y="95034"/>
                  </a:lnTo>
                  <a:lnTo>
                    <a:pt x="4254208" y="179920"/>
                  </a:lnTo>
                  <a:lnTo>
                    <a:pt x="4255008" y="190258"/>
                  </a:lnTo>
                  <a:lnTo>
                    <a:pt x="4282262" y="223393"/>
                  </a:lnTo>
                  <a:lnTo>
                    <a:pt x="4302201" y="226479"/>
                  </a:lnTo>
                  <a:lnTo>
                    <a:pt x="4350131" y="226479"/>
                  </a:lnTo>
                  <a:lnTo>
                    <a:pt x="4350131" y="191782"/>
                  </a:lnTo>
                  <a:lnTo>
                    <a:pt x="4298086" y="191782"/>
                  </a:lnTo>
                  <a:lnTo>
                    <a:pt x="4295203" y="190906"/>
                  </a:lnTo>
                  <a:lnTo>
                    <a:pt x="4291965" y="187439"/>
                  </a:lnTo>
                  <a:lnTo>
                    <a:pt x="4291165" y="184353"/>
                  </a:lnTo>
                  <a:lnTo>
                    <a:pt x="4291165" y="95034"/>
                  </a:lnTo>
                  <a:lnTo>
                    <a:pt x="4352937" y="95034"/>
                  </a:lnTo>
                  <a:lnTo>
                    <a:pt x="4352937" y="60337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8834" y="1230740"/>
            <a:ext cx="14179550" cy="520446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854710">
              <a:lnSpc>
                <a:spcPct val="100000"/>
              </a:lnSpc>
              <a:spcBef>
                <a:spcPts val="1165"/>
              </a:spcBef>
              <a:tabLst>
                <a:tab pos="4561205" algn="l"/>
              </a:tabLst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sklearn.impute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SimpleImputer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X_cat</a:t>
            </a:r>
            <a:r>
              <a:rPr sz="22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music_df[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].values.reshape(-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00" spc="-2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2700" marR="3881120">
              <a:lnSpc>
                <a:spcPct val="140400"/>
              </a:lnSpc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X_num</a:t>
            </a:r>
            <a:r>
              <a:rPr sz="2200" spc="-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music_df.drop([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-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r>
              <a:rPr sz="220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).values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</a:t>
            </a:r>
            <a:r>
              <a:rPr sz="2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music_df[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].values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X_train_cat,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X_test_cat,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train_test_split(X_cat,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00">
              <a:latin typeface="Courier New"/>
              <a:cs typeface="Courier New"/>
            </a:endParaRPr>
          </a:p>
          <a:p>
            <a:pPr marL="12700" marR="5080" indent="10109835">
              <a:lnSpc>
                <a:spcPct val="140400"/>
              </a:lnSpc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12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X_train_num,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X_test_num,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train_test_split(X_num,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20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00">
              <a:latin typeface="Courier New"/>
              <a:cs typeface="Courier New"/>
            </a:endParaRPr>
          </a:p>
          <a:p>
            <a:pPr marL="10122535">
              <a:lnSpc>
                <a:spcPct val="100000"/>
              </a:lnSpc>
              <a:spcBef>
                <a:spcPts val="1065"/>
              </a:spcBef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12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2700" marR="5902325">
              <a:lnSpc>
                <a:spcPct val="140400"/>
              </a:lnSpc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imp_cat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 SimpleImputer(strategy=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"most_frequent"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X_train_cat</a:t>
            </a:r>
            <a:r>
              <a:rPr sz="220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imp_cat.fit_transform(X_train_cat)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X_test_cat</a:t>
            </a:r>
            <a:r>
              <a:rPr sz="220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imp_cat.transform(X_test_cat)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6354A4D-451A-46CF-D164-C35DE1886E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723010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25" dirty="0"/>
              <a:t>Imputation</a:t>
            </a:r>
            <a:r>
              <a:rPr spc="-135" dirty="0"/>
              <a:t> </a:t>
            </a:r>
            <a:r>
              <a:rPr spc="-330" dirty="0"/>
              <a:t>with</a:t>
            </a:r>
            <a:r>
              <a:rPr spc="-135" dirty="0"/>
              <a:t> </a:t>
            </a:r>
            <a:r>
              <a:rPr spc="-250" dirty="0"/>
              <a:t>scikit-</a:t>
            </a:r>
            <a:r>
              <a:rPr spc="-110" dirty="0"/>
              <a:t>learn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3"/>
                </a:moveTo>
                <a:lnTo>
                  <a:pt x="76505" y="2783973"/>
                </a:lnTo>
                <a:lnTo>
                  <a:pt x="71180" y="2783448"/>
                </a:lnTo>
                <a:lnTo>
                  <a:pt x="31920" y="2767186"/>
                </a:lnTo>
                <a:lnTo>
                  <a:pt x="4175" y="2728459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7"/>
                </a:lnTo>
                <a:lnTo>
                  <a:pt x="14558132" y="2752052"/>
                </a:lnTo>
                <a:lnTo>
                  <a:pt x="14519404" y="2779797"/>
                </a:lnTo>
                <a:lnTo>
                  <a:pt x="14503737" y="2783448"/>
                </a:lnTo>
                <a:lnTo>
                  <a:pt x="14498413" y="278397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2352" y="1231899"/>
            <a:ext cx="9138920" cy="339090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imp_num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SimpleImputer()</a:t>
            </a:r>
            <a:endParaRPr sz="2250">
              <a:latin typeface="Courier New"/>
              <a:cs typeface="Courier New"/>
            </a:endParaRPr>
          </a:p>
          <a:p>
            <a:pPr marL="12700" marR="86423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X_train_num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imp_num.fit_transform(X_train_num)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X_test_num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imp_num.transform(X_test_num)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 = np.append(X_train_num, X_train_cat,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 = np.append(X_test_num, X_test_cat,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250">
              <a:latin typeface="Courier New"/>
              <a:cs typeface="Courier New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Imputers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known</a:t>
            </a:r>
            <a:r>
              <a:rPr sz="2550" spc="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transformers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380664"/>
            <a:ext cx="102352" cy="10235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A7A8F-4E69-AE1C-FC57-C998EF286F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0" dirty="0"/>
              <a:t>Imputing</a:t>
            </a:r>
            <a:r>
              <a:rPr spc="-150" dirty="0"/>
              <a:t> </a:t>
            </a:r>
            <a:r>
              <a:rPr spc="-325" dirty="0"/>
              <a:t>within</a:t>
            </a:r>
            <a:r>
              <a:rPr spc="-145" dirty="0"/>
              <a:t> </a:t>
            </a:r>
            <a:r>
              <a:rPr spc="50" dirty="0"/>
              <a:t>a</a:t>
            </a:r>
            <a:r>
              <a:rPr spc="-150" dirty="0"/>
              <a:t> </a:t>
            </a:r>
            <a:r>
              <a:rPr spc="-170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2456815"/>
            <a:chOff x="491289" y="1166812"/>
            <a:chExt cx="14575155" cy="245681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2456815"/>
            </a:xfrm>
            <a:custGeom>
              <a:avLst/>
              <a:gdLst/>
              <a:ahLst/>
              <a:cxnLst/>
              <a:rect l="l" t="t" r="r" b="b"/>
              <a:pathLst>
                <a:path w="14575155" h="2456815">
                  <a:moveTo>
                    <a:pt x="14498413" y="2456447"/>
                  </a:moveTo>
                  <a:lnTo>
                    <a:pt x="76505" y="2456447"/>
                  </a:lnTo>
                  <a:lnTo>
                    <a:pt x="71180" y="2455922"/>
                  </a:lnTo>
                  <a:lnTo>
                    <a:pt x="31920" y="2439660"/>
                  </a:lnTo>
                  <a:lnTo>
                    <a:pt x="4175" y="2400932"/>
                  </a:lnTo>
                  <a:lnTo>
                    <a:pt x="0" y="2379941"/>
                  </a:lnTo>
                  <a:lnTo>
                    <a:pt x="0" y="2374565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2379941"/>
                  </a:lnTo>
                  <a:lnTo>
                    <a:pt x="14558132" y="2424526"/>
                  </a:lnTo>
                  <a:lnTo>
                    <a:pt x="14519404" y="2452271"/>
                  </a:lnTo>
                  <a:lnTo>
                    <a:pt x="14503737" y="2455922"/>
                  </a:lnTo>
                  <a:lnTo>
                    <a:pt x="14498413" y="2456447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675" y="1406867"/>
              <a:ext cx="4354195" cy="257810"/>
            </a:xfrm>
            <a:custGeom>
              <a:avLst/>
              <a:gdLst/>
              <a:ahLst/>
              <a:cxnLst/>
              <a:rect l="l" t="t" r="r" b="b"/>
              <a:pathLst>
                <a:path w="4354195" h="257810">
                  <a:moveTo>
                    <a:pt x="134658" y="9105"/>
                  </a:moveTo>
                  <a:lnTo>
                    <a:pt x="84937" y="9105"/>
                  </a:lnTo>
                  <a:lnTo>
                    <a:pt x="75615" y="9804"/>
                  </a:lnTo>
                  <a:lnTo>
                    <a:pt x="44653" y="33426"/>
                  </a:lnTo>
                  <a:lnTo>
                    <a:pt x="41706" y="50482"/>
                  </a:lnTo>
                  <a:lnTo>
                    <a:pt x="41706" y="58889"/>
                  </a:lnTo>
                  <a:lnTo>
                    <a:pt x="0" y="58889"/>
                  </a:lnTo>
                  <a:lnTo>
                    <a:pt x="0" y="91109"/>
                  </a:lnTo>
                  <a:lnTo>
                    <a:pt x="41706" y="91109"/>
                  </a:lnTo>
                  <a:lnTo>
                    <a:pt x="41706" y="210299"/>
                  </a:lnTo>
                  <a:lnTo>
                    <a:pt x="76022" y="210299"/>
                  </a:lnTo>
                  <a:lnTo>
                    <a:pt x="76022" y="91109"/>
                  </a:lnTo>
                  <a:lnTo>
                    <a:pt x="134658" y="91109"/>
                  </a:lnTo>
                  <a:lnTo>
                    <a:pt x="134658" y="58889"/>
                  </a:lnTo>
                  <a:lnTo>
                    <a:pt x="76022" y="58889"/>
                  </a:lnTo>
                  <a:lnTo>
                    <a:pt x="76022" y="47218"/>
                  </a:lnTo>
                  <a:lnTo>
                    <a:pt x="76746" y="44996"/>
                  </a:lnTo>
                  <a:lnTo>
                    <a:pt x="79667" y="42062"/>
                  </a:lnTo>
                  <a:lnTo>
                    <a:pt x="81927" y="41313"/>
                  </a:lnTo>
                  <a:lnTo>
                    <a:pt x="134658" y="41313"/>
                  </a:lnTo>
                  <a:lnTo>
                    <a:pt x="134658" y="9105"/>
                  </a:lnTo>
                  <a:close/>
                </a:path>
                <a:path w="4354195" h="257810">
                  <a:moveTo>
                    <a:pt x="290817" y="111544"/>
                  </a:moveTo>
                  <a:lnTo>
                    <a:pt x="275856" y="69265"/>
                  </a:lnTo>
                  <a:lnTo>
                    <a:pt x="235864" y="53416"/>
                  </a:lnTo>
                  <a:lnTo>
                    <a:pt x="220395" y="55511"/>
                  </a:lnTo>
                  <a:lnTo>
                    <a:pt x="208940" y="61823"/>
                  </a:lnTo>
                  <a:lnTo>
                    <a:pt x="201485" y="72326"/>
                  </a:lnTo>
                  <a:lnTo>
                    <a:pt x="198043" y="87033"/>
                  </a:lnTo>
                  <a:lnTo>
                    <a:pt x="198120" y="86588"/>
                  </a:lnTo>
                  <a:lnTo>
                    <a:pt x="203454" y="56032"/>
                  </a:lnTo>
                  <a:lnTo>
                    <a:pt x="169710" y="56032"/>
                  </a:lnTo>
                  <a:lnTo>
                    <a:pt x="169710" y="210299"/>
                  </a:lnTo>
                  <a:lnTo>
                    <a:pt x="203974" y="210299"/>
                  </a:lnTo>
                  <a:lnTo>
                    <a:pt x="204025" y="103860"/>
                  </a:lnTo>
                  <a:lnTo>
                    <a:pt x="206286" y="96735"/>
                  </a:lnTo>
                  <a:lnTo>
                    <a:pt x="215201" y="87033"/>
                  </a:lnTo>
                  <a:lnTo>
                    <a:pt x="215684" y="86588"/>
                  </a:lnTo>
                  <a:lnTo>
                    <a:pt x="222072" y="84099"/>
                  </a:lnTo>
                  <a:lnTo>
                    <a:pt x="238887" y="84099"/>
                  </a:lnTo>
                  <a:lnTo>
                    <a:pt x="245351" y="86588"/>
                  </a:lnTo>
                  <a:lnTo>
                    <a:pt x="254317" y="96520"/>
                  </a:lnTo>
                  <a:lnTo>
                    <a:pt x="254381" y="96735"/>
                  </a:lnTo>
                  <a:lnTo>
                    <a:pt x="256565" y="103860"/>
                  </a:lnTo>
                  <a:lnTo>
                    <a:pt x="256565" y="125552"/>
                  </a:lnTo>
                  <a:lnTo>
                    <a:pt x="290817" y="125552"/>
                  </a:lnTo>
                  <a:lnTo>
                    <a:pt x="290817" y="111544"/>
                  </a:lnTo>
                  <a:close/>
                </a:path>
                <a:path w="4354195" h="257810">
                  <a:moveTo>
                    <a:pt x="441490" y="113334"/>
                  </a:moveTo>
                  <a:lnTo>
                    <a:pt x="440461" y="100253"/>
                  </a:lnTo>
                  <a:lnTo>
                    <a:pt x="437375" y="88607"/>
                  </a:lnTo>
                  <a:lnTo>
                    <a:pt x="435610" y="85128"/>
                  </a:lnTo>
                  <a:lnTo>
                    <a:pt x="432219" y="78384"/>
                  </a:lnTo>
                  <a:lnTo>
                    <a:pt x="425005" y="69583"/>
                  </a:lnTo>
                  <a:lnTo>
                    <a:pt x="416077" y="62509"/>
                  </a:lnTo>
                  <a:lnTo>
                    <a:pt x="407238" y="58191"/>
                  </a:lnTo>
                  <a:lnTo>
                    <a:pt x="407238" y="104076"/>
                  </a:lnTo>
                  <a:lnTo>
                    <a:pt x="407238" y="162255"/>
                  </a:lnTo>
                  <a:lnTo>
                    <a:pt x="404990" y="169379"/>
                  </a:lnTo>
                  <a:lnTo>
                    <a:pt x="396036" y="178841"/>
                  </a:lnTo>
                  <a:lnTo>
                    <a:pt x="389470" y="181203"/>
                  </a:lnTo>
                  <a:lnTo>
                    <a:pt x="372110" y="181203"/>
                  </a:lnTo>
                  <a:lnTo>
                    <a:pt x="365531" y="178841"/>
                  </a:lnTo>
                  <a:lnTo>
                    <a:pt x="356616" y="169379"/>
                  </a:lnTo>
                  <a:lnTo>
                    <a:pt x="354393" y="162255"/>
                  </a:lnTo>
                  <a:lnTo>
                    <a:pt x="354393" y="104076"/>
                  </a:lnTo>
                  <a:lnTo>
                    <a:pt x="356616" y="96964"/>
                  </a:lnTo>
                  <a:lnTo>
                    <a:pt x="365531" y="87503"/>
                  </a:lnTo>
                  <a:lnTo>
                    <a:pt x="372110" y="85128"/>
                  </a:lnTo>
                  <a:lnTo>
                    <a:pt x="389470" y="85128"/>
                  </a:lnTo>
                  <a:lnTo>
                    <a:pt x="396036" y="87503"/>
                  </a:lnTo>
                  <a:lnTo>
                    <a:pt x="400494" y="92252"/>
                  </a:lnTo>
                  <a:lnTo>
                    <a:pt x="404990" y="96964"/>
                  </a:lnTo>
                  <a:lnTo>
                    <a:pt x="407238" y="58191"/>
                  </a:lnTo>
                  <a:lnTo>
                    <a:pt x="380809" y="53416"/>
                  </a:lnTo>
                  <a:lnTo>
                    <a:pt x="367614" y="54432"/>
                  </a:lnTo>
                  <a:lnTo>
                    <a:pt x="329323" y="78384"/>
                  </a:lnTo>
                  <a:lnTo>
                    <a:pt x="320078" y="152742"/>
                  </a:lnTo>
                  <a:lnTo>
                    <a:pt x="321094" y="165925"/>
                  </a:lnTo>
                  <a:lnTo>
                    <a:pt x="345452" y="203809"/>
                  </a:lnTo>
                  <a:lnTo>
                    <a:pt x="380809" y="212915"/>
                  </a:lnTo>
                  <a:lnTo>
                    <a:pt x="393992" y="211899"/>
                  </a:lnTo>
                  <a:lnTo>
                    <a:pt x="432219" y="187921"/>
                  </a:lnTo>
                  <a:lnTo>
                    <a:pt x="435584" y="181203"/>
                  </a:lnTo>
                  <a:lnTo>
                    <a:pt x="437375" y="177647"/>
                  </a:lnTo>
                  <a:lnTo>
                    <a:pt x="440461" y="165925"/>
                  </a:lnTo>
                  <a:lnTo>
                    <a:pt x="441490" y="152742"/>
                  </a:lnTo>
                  <a:lnTo>
                    <a:pt x="441490" y="113334"/>
                  </a:lnTo>
                  <a:close/>
                </a:path>
                <a:path w="4354195" h="257810">
                  <a:moveTo>
                    <a:pt x="603631" y="95885"/>
                  </a:moveTo>
                  <a:lnTo>
                    <a:pt x="603072" y="86956"/>
                  </a:lnTo>
                  <a:lnTo>
                    <a:pt x="602094" y="82257"/>
                  </a:lnTo>
                  <a:lnTo>
                    <a:pt x="601395" y="78879"/>
                  </a:lnTo>
                  <a:lnTo>
                    <a:pt x="600735" y="77165"/>
                  </a:lnTo>
                  <a:lnTo>
                    <a:pt x="600608" y="76847"/>
                  </a:lnTo>
                  <a:lnTo>
                    <a:pt x="598614" y="71678"/>
                  </a:lnTo>
                  <a:lnTo>
                    <a:pt x="569823" y="53416"/>
                  </a:lnTo>
                  <a:lnTo>
                    <a:pt x="562229" y="53416"/>
                  </a:lnTo>
                  <a:lnTo>
                    <a:pt x="556145" y="55511"/>
                  </a:lnTo>
                  <a:lnTo>
                    <a:pt x="555358" y="56032"/>
                  </a:lnTo>
                  <a:lnTo>
                    <a:pt x="545515" y="64452"/>
                  </a:lnTo>
                  <a:lnTo>
                    <a:pt x="545249" y="65303"/>
                  </a:lnTo>
                  <a:lnTo>
                    <a:pt x="544741" y="63881"/>
                  </a:lnTo>
                  <a:lnTo>
                    <a:pt x="543928" y="63207"/>
                  </a:lnTo>
                  <a:lnTo>
                    <a:pt x="543928" y="71678"/>
                  </a:lnTo>
                  <a:lnTo>
                    <a:pt x="543699" y="70104"/>
                  </a:lnTo>
                  <a:lnTo>
                    <a:pt x="543814" y="69761"/>
                  </a:lnTo>
                  <a:lnTo>
                    <a:pt x="543928" y="71678"/>
                  </a:lnTo>
                  <a:lnTo>
                    <a:pt x="543928" y="63207"/>
                  </a:lnTo>
                  <a:lnTo>
                    <a:pt x="539762" y="59715"/>
                  </a:lnTo>
                  <a:lnTo>
                    <a:pt x="534847" y="55511"/>
                  </a:lnTo>
                  <a:lnTo>
                    <a:pt x="528777" y="53416"/>
                  </a:lnTo>
                  <a:lnTo>
                    <a:pt x="513956" y="53416"/>
                  </a:lnTo>
                  <a:lnTo>
                    <a:pt x="507974" y="55511"/>
                  </a:lnTo>
                  <a:lnTo>
                    <a:pt x="507758" y="55511"/>
                  </a:lnTo>
                  <a:lnTo>
                    <a:pt x="501256" y="61188"/>
                  </a:lnTo>
                  <a:lnTo>
                    <a:pt x="502208" y="56032"/>
                  </a:lnTo>
                  <a:lnTo>
                    <a:pt x="496785" y="56032"/>
                  </a:lnTo>
                  <a:lnTo>
                    <a:pt x="496785" y="76847"/>
                  </a:lnTo>
                  <a:lnTo>
                    <a:pt x="495515" y="70104"/>
                  </a:lnTo>
                  <a:lnTo>
                    <a:pt x="495630" y="69761"/>
                  </a:lnTo>
                  <a:lnTo>
                    <a:pt x="495668" y="70104"/>
                  </a:lnTo>
                  <a:lnTo>
                    <a:pt x="495820" y="71678"/>
                  </a:lnTo>
                  <a:lnTo>
                    <a:pt x="496785" y="76847"/>
                  </a:lnTo>
                  <a:lnTo>
                    <a:pt x="496785" y="56032"/>
                  </a:lnTo>
                  <a:lnTo>
                    <a:pt x="470750" y="56032"/>
                  </a:lnTo>
                  <a:lnTo>
                    <a:pt x="470750" y="210299"/>
                  </a:lnTo>
                  <a:lnTo>
                    <a:pt x="503224" y="210299"/>
                  </a:lnTo>
                  <a:lnTo>
                    <a:pt x="503224" y="90665"/>
                  </a:lnTo>
                  <a:lnTo>
                    <a:pt x="504012" y="87312"/>
                  </a:lnTo>
                  <a:lnTo>
                    <a:pt x="507187" y="83273"/>
                  </a:lnTo>
                  <a:lnTo>
                    <a:pt x="509485" y="82257"/>
                  </a:lnTo>
                  <a:lnTo>
                    <a:pt x="515594" y="82257"/>
                  </a:lnTo>
                  <a:lnTo>
                    <a:pt x="517893" y="83273"/>
                  </a:lnTo>
                  <a:lnTo>
                    <a:pt x="521258" y="87312"/>
                  </a:lnTo>
                  <a:lnTo>
                    <a:pt x="522300" y="90665"/>
                  </a:lnTo>
                  <a:lnTo>
                    <a:pt x="522389" y="210299"/>
                  </a:lnTo>
                  <a:lnTo>
                    <a:pt x="551992" y="210299"/>
                  </a:lnTo>
                  <a:lnTo>
                    <a:pt x="552018" y="90665"/>
                  </a:lnTo>
                  <a:lnTo>
                    <a:pt x="552958" y="87312"/>
                  </a:lnTo>
                  <a:lnTo>
                    <a:pt x="556387" y="83273"/>
                  </a:lnTo>
                  <a:lnTo>
                    <a:pt x="558723" y="82257"/>
                  </a:lnTo>
                  <a:lnTo>
                    <a:pt x="564832" y="82257"/>
                  </a:lnTo>
                  <a:lnTo>
                    <a:pt x="567080" y="83273"/>
                  </a:lnTo>
                  <a:lnTo>
                    <a:pt x="570166" y="87312"/>
                  </a:lnTo>
                  <a:lnTo>
                    <a:pt x="571093" y="90665"/>
                  </a:lnTo>
                  <a:lnTo>
                    <a:pt x="571157" y="210299"/>
                  </a:lnTo>
                  <a:lnTo>
                    <a:pt x="603631" y="210299"/>
                  </a:lnTo>
                  <a:lnTo>
                    <a:pt x="603631" y="95885"/>
                  </a:lnTo>
                  <a:close/>
                </a:path>
                <a:path w="4354195" h="257810">
                  <a:moveTo>
                    <a:pt x="3536518" y="15024"/>
                  </a:moveTo>
                  <a:lnTo>
                    <a:pt x="3534410" y="9931"/>
                  </a:lnTo>
                  <a:lnTo>
                    <a:pt x="3526002" y="1993"/>
                  </a:lnTo>
                  <a:lnTo>
                    <a:pt x="3520656" y="0"/>
                  </a:lnTo>
                  <a:lnTo>
                    <a:pt x="3502456" y="0"/>
                  </a:lnTo>
                  <a:lnTo>
                    <a:pt x="3497097" y="1993"/>
                  </a:lnTo>
                  <a:lnTo>
                    <a:pt x="3488702" y="9931"/>
                  </a:lnTo>
                  <a:lnTo>
                    <a:pt x="3486594" y="15024"/>
                  </a:lnTo>
                  <a:lnTo>
                    <a:pt x="3486594" y="27546"/>
                  </a:lnTo>
                  <a:lnTo>
                    <a:pt x="3488652" y="32600"/>
                  </a:lnTo>
                  <a:lnTo>
                    <a:pt x="3492766" y="36410"/>
                  </a:lnTo>
                  <a:lnTo>
                    <a:pt x="3496932" y="40195"/>
                  </a:lnTo>
                  <a:lnTo>
                    <a:pt x="3502329" y="42087"/>
                  </a:lnTo>
                  <a:lnTo>
                    <a:pt x="3520579" y="42087"/>
                  </a:lnTo>
                  <a:lnTo>
                    <a:pt x="3525901" y="40195"/>
                  </a:lnTo>
                  <a:lnTo>
                    <a:pt x="3534410" y="32600"/>
                  </a:lnTo>
                  <a:lnTo>
                    <a:pt x="3536518" y="27546"/>
                  </a:lnTo>
                  <a:lnTo>
                    <a:pt x="3536518" y="15024"/>
                  </a:lnTo>
                  <a:close/>
                </a:path>
                <a:path w="4354195" h="257810">
                  <a:moveTo>
                    <a:pt x="3579558" y="178079"/>
                  </a:moveTo>
                  <a:lnTo>
                    <a:pt x="3531298" y="178079"/>
                  </a:lnTo>
                  <a:lnTo>
                    <a:pt x="3531298" y="56032"/>
                  </a:lnTo>
                  <a:lnTo>
                    <a:pt x="3452660" y="56032"/>
                  </a:lnTo>
                  <a:lnTo>
                    <a:pt x="3452660" y="88239"/>
                  </a:lnTo>
                  <a:lnTo>
                    <a:pt x="3496970" y="88239"/>
                  </a:lnTo>
                  <a:lnTo>
                    <a:pt x="3496970" y="178079"/>
                  </a:lnTo>
                  <a:lnTo>
                    <a:pt x="3446170" y="178079"/>
                  </a:lnTo>
                  <a:lnTo>
                    <a:pt x="3446170" y="210299"/>
                  </a:lnTo>
                  <a:lnTo>
                    <a:pt x="3579558" y="210299"/>
                  </a:lnTo>
                  <a:lnTo>
                    <a:pt x="3579558" y="178079"/>
                  </a:lnTo>
                  <a:close/>
                </a:path>
                <a:path w="4354195" h="257810">
                  <a:moveTo>
                    <a:pt x="3731755" y="95885"/>
                  </a:moveTo>
                  <a:lnTo>
                    <a:pt x="3731209" y="86956"/>
                  </a:lnTo>
                  <a:lnTo>
                    <a:pt x="3730231" y="82257"/>
                  </a:lnTo>
                  <a:lnTo>
                    <a:pt x="3729532" y="78879"/>
                  </a:lnTo>
                  <a:lnTo>
                    <a:pt x="3728872" y="77165"/>
                  </a:lnTo>
                  <a:lnTo>
                    <a:pt x="3728745" y="76847"/>
                  </a:lnTo>
                  <a:lnTo>
                    <a:pt x="3726751" y="71678"/>
                  </a:lnTo>
                  <a:lnTo>
                    <a:pt x="3697948" y="53416"/>
                  </a:lnTo>
                  <a:lnTo>
                    <a:pt x="3690353" y="53416"/>
                  </a:lnTo>
                  <a:lnTo>
                    <a:pt x="3684270" y="55511"/>
                  </a:lnTo>
                  <a:lnTo>
                    <a:pt x="3683495" y="56032"/>
                  </a:lnTo>
                  <a:lnTo>
                    <a:pt x="3674961" y="63334"/>
                  </a:lnTo>
                  <a:lnTo>
                    <a:pt x="3674961" y="69761"/>
                  </a:lnTo>
                  <a:lnTo>
                    <a:pt x="3674935" y="70104"/>
                  </a:lnTo>
                  <a:lnTo>
                    <a:pt x="3674249" y="76847"/>
                  </a:lnTo>
                  <a:lnTo>
                    <a:pt x="3674961" y="69761"/>
                  </a:lnTo>
                  <a:lnTo>
                    <a:pt x="3674961" y="63334"/>
                  </a:lnTo>
                  <a:lnTo>
                    <a:pt x="3673652" y="64452"/>
                  </a:lnTo>
                  <a:lnTo>
                    <a:pt x="3673373" y="65303"/>
                  </a:lnTo>
                  <a:lnTo>
                    <a:pt x="3672865" y="63881"/>
                  </a:lnTo>
                  <a:lnTo>
                    <a:pt x="3672065" y="63220"/>
                  </a:lnTo>
                  <a:lnTo>
                    <a:pt x="3672065" y="71678"/>
                  </a:lnTo>
                  <a:lnTo>
                    <a:pt x="3671836" y="70104"/>
                  </a:lnTo>
                  <a:lnTo>
                    <a:pt x="3671938" y="69761"/>
                  </a:lnTo>
                  <a:lnTo>
                    <a:pt x="3672065" y="71678"/>
                  </a:lnTo>
                  <a:lnTo>
                    <a:pt x="3672065" y="63220"/>
                  </a:lnTo>
                  <a:lnTo>
                    <a:pt x="3667899" y="59715"/>
                  </a:lnTo>
                  <a:lnTo>
                    <a:pt x="3662972" y="55511"/>
                  </a:lnTo>
                  <a:lnTo>
                    <a:pt x="3656901" y="53416"/>
                  </a:lnTo>
                  <a:lnTo>
                    <a:pt x="3642093" y="53416"/>
                  </a:lnTo>
                  <a:lnTo>
                    <a:pt x="3636111" y="55511"/>
                  </a:lnTo>
                  <a:lnTo>
                    <a:pt x="3635895" y="55511"/>
                  </a:lnTo>
                  <a:lnTo>
                    <a:pt x="3629380" y="61188"/>
                  </a:lnTo>
                  <a:lnTo>
                    <a:pt x="3630333" y="56032"/>
                  </a:lnTo>
                  <a:lnTo>
                    <a:pt x="3623932" y="56032"/>
                  </a:lnTo>
                  <a:lnTo>
                    <a:pt x="3623932" y="71640"/>
                  </a:lnTo>
                  <a:lnTo>
                    <a:pt x="3623653" y="70104"/>
                  </a:lnTo>
                  <a:lnTo>
                    <a:pt x="3623767" y="69761"/>
                  </a:lnTo>
                  <a:lnTo>
                    <a:pt x="3623792" y="70104"/>
                  </a:lnTo>
                  <a:lnTo>
                    <a:pt x="3623932" y="71640"/>
                  </a:lnTo>
                  <a:lnTo>
                    <a:pt x="3623932" y="56032"/>
                  </a:lnTo>
                  <a:lnTo>
                    <a:pt x="3598875" y="56032"/>
                  </a:lnTo>
                  <a:lnTo>
                    <a:pt x="3598875" y="210299"/>
                  </a:lnTo>
                  <a:lnTo>
                    <a:pt x="3631349" y="210299"/>
                  </a:lnTo>
                  <a:lnTo>
                    <a:pt x="3631349" y="90665"/>
                  </a:lnTo>
                  <a:lnTo>
                    <a:pt x="3632136" y="87312"/>
                  </a:lnTo>
                  <a:lnTo>
                    <a:pt x="3635324" y="83273"/>
                  </a:lnTo>
                  <a:lnTo>
                    <a:pt x="3637610" y="82257"/>
                  </a:lnTo>
                  <a:lnTo>
                    <a:pt x="3643731" y="82257"/>
                  </a:lnTo>
                  <a:lnTo>
                    <a:pt x="3646017" y="83273"/>
                  </a:lnTo>
                  <a:lnTo>
                    <a:pt x="3649383" y="87312"/>
                  </a:lnTo>
                  <a:lnTo>
                    <a:pt x="3650424" y="90665"/>
                  </a:lnTo>
                  <a:lnTo>
                    <a:pt x="3650513" y="210299"/>
                  </a:lnTo>
                  <a:lnTo>
                    <a:pt x="3680129" y="210299"/>
                  </a:lnTo>
                  <a:lnTo>
                    <a:pt x="3680142" y="90665"/>
                  </a:lnTo>
                  <a:lnTo>
                    <a:pt x="3681082" y="87312"/>
                  </a:lnTo>
                  <a:lnTo>
                    <a:pt x="3684524" y="83273"/>
                  </a:lnTo>
                  <a:lnTo>
                    <a:pt x="3686848" y="82257"/>
                  </a:lnTo>
                  <a:lnTo>
                    <a:pt x="3692969" y="82257"/>
                  </a:lnTo>
                  <a:lnTo>
                    <a:pt x="3695204" y="83273"/>
                  </a:lnTo>
                  <a:lnTo>
                    <a:pt x="3698290" y="87312"/>
                  </a:lnTo>
                  <a:lnTo>
                    <a:pt x="3699218" y="90665"/>
                  </a:lnTo>
                  <a:lnTo>
                    <a:pt x="3699294" y="210299"/>
                  </a:lnTo>
                  <a:lnTo>
                    <a:pt x="3731755" y="210299"/>
                  </a:lnTo>
                  <a:lnTo>
                    <a:pt x="3731755" y="95885"/>
                  </a:lnTo>
                  <a:close/>
                </a:path>
                <a:path w="4354195" h="257810">
                  <a:moveTo>
                    <a:pt x="3882440" y="112052"/>
                  </a:moveTo>
                  <a:lnTo>
                    <a:pt x="3868432" y="69456"/>
                  </a:lnTo>
                  <a:lnTo>
                    <a:pt x="3848189" y="56324"/>
                  </a:lnTo>
                  <a:lnTo>
                    <a:pt x="3848189" y="103860"/>
                  </a:lnTo>
                  <a:lnTo>
                    <a:pt x="3848189" y="162458"/>
                  </a:lnTo>
                  <a:lnTo>
                    <a:pt x="3845991" y="169722"/>
                  </a:lnTo>
                  <a:lnTo>
                    <a:pt x="3837330" y="179222"/>
                  </a:lnTo>
                  <a:lnTo>
                    <a:pt x="3830891" y="181711"/>
                  </a:lnTo>
                  <a:lnTo>
                    <a:pt x="3814368" y="181711"/>
                  </a:lnTo>
                  <a:lnTo>
                    <a:pt x="3796474" y="162458"/>
                  </a:lnTo>
                  <a:lnTo>
                    <a:pt x="3796474" y="103860"/>
                  </a:lnTo>
                  <a:lnTo>
                    <a:pt x="3814368" y="84620"/>
                  </a:lnTo>
                  <a:lnTo>
                    <a:pt x="3830891" y="84620"/>
                  </a:lnTo>
                  <a:lnTo>
                    <a:pt x="3837254" y="87007"/>
                  </a:lnTo>
                  <a:lnTo>
                    <a:pt x="3845991" y="96608"/>
                  </a:lnTo>
                  <a:lnTo>
                    <a:pt x="3848189" y="103860"/>
                  </a:lnTo>
                  <a:lnTo>
                    <a:pt x="3848189" y="56324"/>
                  </a:lnTo>
                  <a:lnTo>
                    <a:pt x="3841788" y="54419"/>
                  </a:lnTo>
                  <a:lnTo>
                    <a:pt x="3830358" y="53416"/>
                  </a:lnTo>
                  <a:lnTo>
                    <a:pt x="3821734" y="53987"/>
                  </a:lnTo>
                  <a:lnTo>
                    <a:pt x="3794328" y="68961"/>
                  </a:lnTo>
                  <a:lnTo>
                    <a:pt x="3796360" y="56032"/>
                  </a:lnTo>
                  <a:lnTo>
                    <a:pt x="3762095" y="56032"/>
                  </a:lnTo>
                  <a:lnTo>
                    <a:pt x="3762095" y="257225"/>
                  </a:lnTo>
                  <a:lnTo>
                    <a:pt x="3796360" y="257225"/>
                  </a:lnTo>
                  <a:lnTo>
                    <a:pt x="3796169" y="208902"/>
                  </a:lnTo>
                  <a:lnTo>
                    <a:pt x="3794328" y="197446"/>
                  </a:lnTo>
                  <a:lnTo>
                    <a:pt x="3794950" y="198526"/>
                  </a:lnTo>
                  <a:lnTo>
                    <a:pt x="3830358" y="212915"/>
                  </a:lnTo>
                  <a:lnTo>
                    <a:pt x="3841788" y="211912"/>
                  </a:lnTo>
                  <a:lnTo>
                    <a:pt x="3874554" y="188175"/>
                  </a:lnTo>
                  <a:lnTo>
                    <a:pt x="3877373" y="181711"/>
                  </a:lnTo>
                  <a:lnTo>
                    <a:pt x="3878935" y="178130"/>
                  </a:lnTo>
                  <a:lnTo>
                    <a:pt x="3881564" y="166751"/>
                  </a:lnTo>
                  <a:lnTo>
                    <a:pt x="3882440" y="154012"/>
                  </a:lnTo>
                  <a:lnTo>
                    <a:pt x="3882440" y="112052"/>
                  </a:lnTo>
                  <a:close/>
                </a:path>
                <a:path w="4354195" h="257810">
                  <a:moveTo>
                    <a:pt x="4038841" y="113334"/>
                  </a:moveTo>
                  <a:lnTo>
                    <a:pt x="4037812" y="100253"/>
                  </a:lnTo>
                  <a:lnTo>
                    <a:pt x="4034726" y="88607"/>
                  </a:lnTo>
                  <a:lnTo>
                    <a:pt x="4032961" y="85128"/>
                  </a:lnTo>
                  <a:lnTo>
                    <a:pt x="4029570" y="78384"/>
                  </a:lnTo>
                  <a:lnTo>
                    <a:pt x="4022356" y="69583"/>
                  </a:lnTo>
                  <a:lnTo>
                    <a:pt x="4013428" y="62509"/>
                  </a:lnTo>
                  <a:lnTo>
                    <a:pt x="4004589" y="58191"/>
                  </a:lnTo>
                  <a:lnTo>
                    <a:pt x="4004589" y="104076"/>
                  </a:lnTo>
                  <a:lnTo>
                    <a:pt x="4004589" y="162255"/>
                  </a:lnTo>
                  <a:lnTo>
                    <a:pt x="4002341" y="169379"/>
                  </a:lnTo>
                  <a:lnTo>
                    <a:pt x="3993388" y="178841"/>
                  </a:lnTo>
                  <a:lnTo>
                    <a:pt x="3986822" y="181203"/>
                  </a:lnTo>
                  <a:lnTo>
                    <a:pt x="3969461" y="181203"/>
                  </a:lnTo>
                  <a:lnTo>
                    <a:pt x="3962882" y="178841"/>
                  </a:lnTo>
                  <a:lnTo>
                    <a:pt x="3953967" y="169379"/>
                  </a:lnTo>
                  <a:lnTo>
                    <a:pt x="3951744" y="162255"/>
                  </a:lnTo>
                  <a:lnTo>
                    <a:pt x="3951744" y="104076"/>
                  </a:lnTo>
                  <a:lnTo>
                    <a:pt x="3953967" y="96964"/>
                  </a:lnTo>
                  <a:lnTo>
                    <a:pt x="3962882" y="87503"/>
                  </a:lnTo>
                  <a:lnTo>
                    <a:pt x="3969461" y="85128"/>
                  </a:lnTo>
                  <a:lnTo>
                    <a:pt x="3986822" y="85128"/>
                  </a:lnTo>
                  <a:lnTo>
                    <a:pt x="3993388" y="87503"/>
                  </a:lnTo>
                  <a:lnTo>
                    <a:pt x="3997845" y="92252"/>
                  </a:lnTo>
                  <a:lnTo>
                    <a:pt x="4002341" y="96964"/>
                  </a:lnTo>
                  <a:lnTo>
                    <a:pt x="4004589" y="58191"/>
                  </a:lnTo>
                  <a:lnTo>
                    <a:pt x="3978160" y="53416"/>
                  </a:lnTo>
                  <a:lnTo>
                    <a:pt x="3964965" y="54432"/>
                  </a:lnTo>
                  <a:lnTo>
                    <a:pt x="3926675" y="78384"/>
                  </a:lnTo>
                  <a:lnTo>
                    <a:pt x="3917429" y="152742"/>
                  </a:lnTo>
                  <a:lnTo>
                    <a:pt x="3918458" y="165925"/>
                  </a:lnTo>
                  <a:lnTo>
                    <a:pt x="3942804" y="203809"/>
                  </a:lnTo>
                  <a:lnTo>
                    <a:pt x="3978160" y="212915"/>
                  </a:lnTo>
                  <a:lnTo>
                    <a:pt x="3991343" y="211899"/>
                  </a:lnTo>
                  <a:lnTo>
                    <a:pt x="4029570" y="187921"/>
                  </a:lnTo>
                  <a:lnTo>
                    <a:pt x="4032935" y="181203"/>
                  </a:lnTo>
                  <a:lnTo>
                    <a:pt x="4034726" y="177647"/>
                  </a:lnTo>
                  <a:lnTo>
                    <a:pt x="4037812" y="165925"/>
                  </a:lnTo>
                  <a:lnTo>
                    <a:pt x="4038841" y="152742"/>
                  </a:lnTo>
                  <a:lnTo>
                    <a:pt x="4038841" y="113334"/>
                  </a:lnTo>
                  <a:close/>
                </a:path>
                <a:path w="4354195" h="257810">
                  <a:moveTo>
                    <a:pt x="4200982" y="111544"/>
                  </a:moveTo>
                  <a:lnTo>
                    <a:pt x="4186021" y="69265"/>
                  </a:lnTo>
                  <a:lnTo>
                    <a:pt x="4146029" y="53416"/>
                  </a:lnTo>
                  <a:lnTo>
                    <a:pt x="4130560" y="55511"/>
                  </a:lnTo>
                  <a:lnTo>
                    <a:pt x="4119105" y="61823"/>
                  </a:lnTo>
                  <a:lnTo>
                    <a:pt x="4111650" y="72326"/>
                  </a:lnTo>
                  <a:lnTo>
                    <a:pt x="4108208" y="87033"/>
                  </a:lnTo>
                  <a:lnTo>
                    <a:pt x="4108297" y="86588"/>
                  </a:lnTo>
                  <a:lnTo>
                    <a:pt x="4113631" y="56032"/>
                  </a:lnTo>
                  <a:lnTo>
                    <a:pt x="4079875" y="56032"/>
                  </a:lnTo>
                  <a:lnTo>
                    <a:pt x="4079875" y="210299"/>
                  </a:lnTo>
                  <a:lnTo>
                    <a:pt x="4114139" y="210299"/>
                  </a:lnTo>
                  <a:lnTo>
                    <a:pt x="4114190" y="103860"/>
                  </a:lnTo>
                  <a:lnTo>
                    <a:pt x="4116451" y="96735"/>
                  </a:lnTo>
                  <a:lnTo>
                    <a:pt x="4125379" y="87033"/>
                  </a:lnTo>
                  <a:lnTo>
                    <a:pt x="4125849" y="86588"/>
                  </a:lnTo>
                  <a:lnTo>
                    <a:pt x="4132237" y="84099"/>
                  </a:lnTo>
                  <a:lnTo>
                    <a:pt x="4149052" y="84099"/>
                  </a:lnTo>
                  <a:lnTo>
                    <a:pt x="4155516" y="86588"/>
                  </a:lnTo>
                  <a:lnTo>
                    <a:pt x="4164482" y="96520"/>
                  </a:lnTo>
                  <a:lnTo>
                    <a:pt x="4164546" y="96735"/>
                  </a:lnTo>
                  <a:lnTo>
                    <a:pt x="4166730" y="103860"/>
                  </a:lnTo>
                  <a:lnTo>
                    <a:pt x="4166730" y="125552"/>
                  </a:lnTo>
                  <a:lnTo>
                    <a:pt x="4200982" y="125552"/>
                  </a:lnTo>
                  <a:lnTo>
                    <a:pt x="4200982" y="111544"/>
                  </a:lnTo>
                  <a:close/>
                </a:path>
                <a:path w="4354195" h="257810">
                  <a:moveTo>
                    <a:pt x="4353763" y="56032"/>
                  </a:moveTo>
                  <a:lnTo>
                    <a:pt x="4296397" y="56032"/>
                  </a:lnTo>
                  <a:lnTo>
                    <a:pt x="4296397" y="16929"/>
                  </a:lnTo>
                  <a:lnTo>
                    <a:pt x="4262069" y="16929"/>
                  </a:lnTo>
                  <a:lnTo>
                    <a:pt x="4262069" y="56032"/>
                  </a:lnTo>
                  <a:lnTo>
                    <a:pt x="4221645" y="56032"/>
                  </a:lnTo>
                  <a:lnTo>
                    <a:pt x="4221645" y="88239"/>
                  </a:lnTo>
                  <a:lnTo>
                    <a:pt x="4262069" y="88239"/>
                  </a:lnTo>
                  <a:lnTo>
                    <a:pt x="4262069" y="167068"/>
                  </a:lnTo>
                  <a:lnTo>
                    <a:pt x="4262818" y="176669"/>
                  </a:lnTo>
                  <a:lnTo>
                    <a:pt x="4288129" y="207429"/>
                  </a:lnTo>
                  <a:lnTo>
                    <a:pt x="4306646" y="210299"/>
                  </a:lnTo>
                  <a:lnTo>
                    <a:pt x="4351147" y="210299"/>
                  </a:lnTo>
                  <a:lnTo>
                    <a:pt x="4351147" y="178079"/>
                  </a:lnTo>
                  <a:lnTo>
                    <a:pt x="4302823" y="178079"/>
                  </a:lnTo>
                  <a:lnTo>
                    <a:pt x="4300144" y="177279"/>
                  </a:lnTo>
                  <a:lnTo>
                    <a:pt x="4297134" y="174053"/>
                  </a:lnTo>
                  <a:lnTo>
                    <a:pt x="4296397" y="171183"/>
                  </a:lnTo>
                  <a:lnTo>
                    <a:pt x="4296397" y="88239"/>
                  </a:lnTo>
                  <a:lnTo>
                    <a:pt x="4353763" y="88239"/>
                  </a:lnTo>
                  <a:lnTo>
                    <a:pt x="4353763" y="56032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319" y="1226741"/>
            <a:ext cx="14258925" cy="217487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794385">
              <a:lnSpc>
                <a:spcPct val="100000"/>
              </a:lnSpc>
              <a:spcBef>
                <a:spcPts val="1025"/>
              </a:spcBef>
              <a:tabLst>
                <a:tab pos="4547870" algn="l"/>
              </a:tabLst>
            </a:pP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sklearn.pipeline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Pipeline</a:t>
            </a:r>
            <a:endParaRPr sz="2050">
              <a:latin typeface="Courier New"/>
              <a:cs typeface="Courier New"/>
            </a:endParaRPr>
          </a:p>
          <a:p>
            <a:pPr marL="12700" marR="5080">
              <a:lnSpc>
                <a:spcPct val="137600"/>
              </a:lnSpc>
            </a:pP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music_df</a:t>
            </a:r>
            <a:r>
              <a:rPr sz="205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5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music_df.dropna(subset=[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"popularity"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"loudness"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"liveness"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spc="-10" dirty="0">
                <a:solidFill>
                  <a:srgbClr val="BE2F72"/>
                </a:solidFill>
                <a:latin typeface="Courier New"/>
                <a:cs typeface="Courier New"/>
              </a:rPr>
              <a:t>"tempo"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])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music_df[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]</a:t>
            </a:r>
            <a:r>
              <a:rPr sz="20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np.where(music_df[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]</a:t>
            </a:r>
            <a:r>
              <a:rPr sz="20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==</a:t>
            </a:r>
            <a:r>
              <a:rPr sz="20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"Rock"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spc="-25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2050" spc="-2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050">
              <a:latin typeface="Courier New"/>
              <a:cs typeface="Courier New"/>
            </a:endParaRPr>
          </a:p>
          <a:p>
            <a:pPr marL="12700" marR="7825105">
              <a:lnSpc>
                <a:spcPct val="137600"/>
              </a:lnSpc>
            </a:pP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X</a:t>
            </a:r>
            <a:r>
              <a:rPr sz="20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0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music_df.drop(</a:t>
            </a:r>
            <a:r>
              <a:rPr sz="20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0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0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).values </a:t>
            </a:r>
            <a:r>
              <a:rPr sz="2050" dirty="0">
                <a:solidFill>
                  <a:srgbClr val="04182D"/>
                </a:solidFill>
                <a:latin typeface="Courier New"/>
                <a:cs typeface="Courier New"/>
              </a:rPr>
              <a:t>y = 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music_df[</a:t>
            </a:r>
            <a:r>
              <a:rPr sz="2050" spc="-1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050" spc="-10" dirty="0">
                <a:solidFill>
                  <a:srgbClr val="04182D"/>
                </a:solidFill>
                <a:latin typeface="Courier New"/>
                <a:cs typeface="Courier New"/>
              </a:rPr>
              <a:t>].values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CEE9E2B-7FD0-94D3-D359-DEA8EEEBA6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0" dirty="0"/>
              <a:t>Imputing</a:t>
            </a:r>
            <a:r>
              <a:rPr spc="-150" dirty="0"/>
              <a:t> </a:t>
            </a:r>
            <a:r>
              <a:rPr spc="-325" dirty="0"/>
              <a:t>within</a:t>
            </a:r>
            <a:r>
              <a:rPr spc="-145" dirty="0"/>
              <a:t> </a:t>
            </a:r>
            <a:r>
              <a:rPr spc="50" dirty="0"/>
              <a:t>a</a:t>
            </a:r>
            <a:r>
              <a:rPr spc="-150" dirty="0"/>
              <a:t> </a:t>
            </a:r>
            <a:r>
              <a:rPr spc="-170" dirty="0"/>
              <a:t>pipeline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2"/>
                </a:moveTo>
                <a:lnTo>
                  <a:pt x="76505" y="3766552"/>
                </a:lnTo>
                <a:lnTo>
                  <a:pt x="71180" y="3766027"/>
                </a:lnTo>
                <a:lnTo>
                  <a:pt x="31920" y="3749764"/>
                </a:lnTo>
                <a:lnTo>
                  <a:pt x="4175" y="3711037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1"/>
                </a:lnTo>
                <a:lnTo>
                  <a:pt x="14519404" y="3762376"/>
                </a:lnTo>
                <a:lnTo>
                  <a:pt x="14503737" y="3766027"/>
                </a:lnTo>
                <a:lnTo>
                  <a:pt x="14498413" y="376655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179009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12405995" cy="346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0195" marR="2927985" indent="-154813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steps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[(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"imputation"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SimpleImputer()),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"logistic_regression"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LogisticRegression())]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pipeline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Pipeline(steps)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X_test, y_train, y_test = train_test_split(X, y,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0.3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50">
              <a:latin typeface="Courier New"/>
              <a:cs typeface="Courier New"/>
            </a:endParaRPr>
          </a:p>
          <a:p>
            <a:pPr marL="8953500">
              <a:lnSpc>
                <a:spcPct val="100000"/>
              </a:lnSpc>
              <a:spcBef>
                <a:spcPts val="11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722630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pipeline.fit(X_train,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pipeline.score(X_test,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y_test)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5391483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0.7593582887700535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7D21C46-03E7-5FE1-CBD3-3444909AC2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153795" marR="1084580" algn="ctr">
              <a:lnSpc>
                <a:spcPts val="6770"/>
              </a:lnSpc>
              <a:spcBef>
                <a:spcPts val="1130"/>
              </a:spcBef>
            </a:pPr>
            <a:r>
              <a:rPr spc="-325" dirty="0"/>
              <a:t>Centering</a:t>
            </a:r>
            <a:r>
              <a:rPr spc="-315" dirty="0"/>
              <a:t> </a:t>
            </a:r>
            <a:r>
              <a:rPr spc="-175" dirty="0"/>
              <a:t>and </a:t>
            </a:r>
            <a:r>
              <a:rPr spc="-290" dirty="0"/>
              <a:t>scaling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58"/>
            <a:ext cx="354012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320755D-3BDA-99BC-D885-F76004C3E2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43941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Why</a:t>
            </a:r>
            <a:r>
              <a:rPr spc="-165" dirty="0"/>
              <a:t> </a:t>
            </a:r>
            <a:r>
              <a:rPr spc="-114" dirty="0"/>
              <a:t>scale</a:t>
            </a:r>
            <a:r>
              <a:rPr spc="-165" dirty="0"/>
              <a:t> </a:t>
            </a:r>
            <a:r>
              <a:rPr spc="-250" dirty="0"/>
              <a:t>our</a:t>
            </a:r>
            <a:r>
              <a:rPr spc="-165" dirty="0"/>
              <a:t> </a:t>
            </a:r>
            <a:r>
              <a:rPr spc="-95" dirty="0"/>
              <a:t>data?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749165"/>
          </a:xfrm>
          <a:custGeom>
            <a:avLst/>
            <a:gdLst/>
            <a:ahLst/>
            <a:cxnLst/>
            <a:rect l="l" t="t" r="r" b="b"/>
            <a:pathLst>
              <a:path w="14575155" h="4749165">
                <a:moveTo>
                  <a:pt x="14498413" y="4749130"/>
                </a:moveTo>
                <a:lnTo>
                  <a:pt x="76505" y="4749130"/>
                </a:lnTo>
                <a:lnTo>
                  <a:pt x="71180" y="4748605"/>
                </a:lnTo>
                <a:lnTo>
                  <a:pt x="31920" y="4732343"/>
                </a:lnTo>
                <a:lnTo>
                  <a:pt x="4175" y="4693615"/>
                </a:lnTo>
                <a:lnTo>
                  <a:pt x="0" y="4672624"/>
                </a:lnTo>
                <a:lnTo>
                  <a:pt x="0" y="466724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672624"/>
                </a:lnTo>
                <a:lnTo>
                  <a:pt x="14558132" y="4717210"/>
                </a:lnTo>
                <a:lnTo>
                  <a:pt x="14519404" y="4744954"/>
                </a:lnTo>
                <a:lnTo>
                  <a:pt x="14503737" y="4748605"/>
                </a:lnTo>
                <a:lnTo>
                  <a:pt x="14498413" y="474913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120605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(music_df[[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"duration_ms"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"loudness"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"speechiness"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]].describe())</a:t>
            </a:r>
            <a:endParaRPr sz="22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8832849" cy="4281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duration_ms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loudness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speechiness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count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1.000000e+03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1000.000000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1000.000000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mean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2.176493e+05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8.284354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0.078642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std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1.137703e+05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5.065447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0.088291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min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1.000000e+00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38.718000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0.023400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25%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1.831070e+05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9.658500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0.033700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50%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2.176493e+05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7.033500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0.045000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75%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2.564468e+05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5.034000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0.078642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max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1.617333e+06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0.883000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0.710000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61C4494-0407-37C6-12D6-18723EC5BF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43941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Why</a:t>
            </a:r>
            <a:r>
              <a:rPr spc="-165" dirty="0"/>
              <a:t> </a:t>
            </a:r>
            <a:r>
              <a:rPr spc="-114" dirty="0"/>
              <a:t>scale</a:t>
            </a:r>
            <a:r>
              <a:rPr spc="-165" dirty="0"/>
              <a:t> </a:t>
            </a:r>
            <a:r>
              <a:rPr spc="-250" dirty="0"/>
              <a:t>our</a:t>
            </a:r>
            <a:r>
              <a:rPr spc="-165" dirty="0"/>
              <a:t> </a:t>
            </a:r>
            <a:r>
              <a:rPr spc="-95" dirty="0"/>
              <a:t>data?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0582275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200" dirty="0">
                <a:solidFill>
                  <a:srgbClr val="04182D"/>
                </a:solidFill>
                <a:latin typeface="Tahoma"/>
                <a:cs typeface="Tahoma"/>
              </a:rPr>
              <a:t>Many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form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distance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inform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them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ts val="5160"/>
              </a:lnSpc>
              <a:spcBef>
                <a:spcPts val="520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larger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scales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disproportionately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influence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Example: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KNN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uses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distance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explicitly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when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making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predictions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want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similar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scale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Normalizing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standardizing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(scaling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centering)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5698A7C-10A6-6080-F4DF-CCE4B008F1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8483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75" dirty="0"/>
              <a:t>How</a:t>
            </a:r>
            <a:r>
              <a:rPr spc="-165" dirty="0"/>
              <a:t> </a:t>
            </a:r>
            <a:r>
              <a:rPr spc="-215" dirty="0"/>
              <a:t>to</a:t>
            </a:r>
            <a:r>
              <a:rPr spc="-160" dirty="0"/>
              <a:t> </a:t>
            </a:r>
            <a:r>
              <a:rPr spc="-114" dirty="0"/>
              <a:t>scale</a:t>
            </a:r>
            <a:r>
              <a:rPr spc="-165" dirty="0"/>
              <a:t> </a:t>
            </a:r>
            <a:r>
              <a:rPr spc="-250" dirty="0"/>
              <a:t>our</a:t>
            </a:r>
            <a:r>
              <a:rPr spc="-160" dirty="0"/>
              <a:t> </a:t>
            </a:r>
            <a:r>
              <a:rPr spc="-4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633494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076324"/>
            <a:ext cx="10457815" cy="411987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Subtract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mean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divide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variance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All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centered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around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zero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have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variance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one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This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called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standardization</a:t>
            </a:r>
            <a:endParaRPr sz="2550">
              <a:latin typeface="Tahoma"/>
              <a:cs typeface="Tahoma"/>
            </a:endParaRPr>
          </a:p>
          <a:p>
            <a:pPr marL="381000" marR="1833245" indent="-368935">
              <a:lnSpc>
                <a:spcPct val="126400"/>
              </a:lnSpc>
              <a:spcBef>
                <a:spcPts val="1290"/>
              </a:spcBef>
            </a:pPr>
            <a:r>
              <a:rPr sz="2550" spc="229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subtract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minimum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divide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range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Minimum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zero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maximum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one</a:t>
            </a:r>
            <a:endParaRPr sz="2550">
              <a:latin typeface="Tahoma"/>
              <a:cs typeface="Tahoma"/>
            </a:endParaRPr>
          </a:p>
          <a:p>
            <a:pPr marL="12700" marR="2541270">
              <a:lnSpc>
                <a:spcPts val="5160"/>
              </a:lnSpc>
              <a:spcBef>
                <a:spcPts val="320"/>
              </a:spcBef>
            </a:pPr>
            <a:r>
              <a:rPr sz="2550" spc="229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650" i="1" spc="55" dirty="0">
                <a:solidFill>
                  <a:srgbClr val="04182D"/>
                </a:solidFill>
                <a:latin typeface="Tahoma"/>
                <a:cs typeface="Tahoma"/>
              </a:rPr>
              <a:t>normalize</a:t>
            </a:r>
            <a:r>
              <a:rPr sz="2650" i="1" spc="-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ranges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from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-</a:t>
            </a:r>
            <a:r>
              <a:rPr sz="2550" spc="-45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450" dirty="0">
                <a:solidFill>
                  <a:srgbClr val="04182D"/>
                </a:solidFill>
                <a:latin typeface="Tahoma"/>
                <a:cs typeface="Tahoma"/>
              </a:rPr>
              <a:t>+1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See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scikit-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learn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docs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further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details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298782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759" y="4953834"/>
            <a:ext cx="102352" cy="102351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65DC962-A490-9783-F7DC-4AC2C582B8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6502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5" dirty="0"/>
              <a:t>Scaling</a:t>
            </a:r>
            <a:r>
              <a:rPr spc="-114" dirty="0"/>
              <a:t> </a:t>
            </a:r>
            <a:r>
              <a:rPr spc="-265" dirty="0"/>
              <a:t>in</a:t>
            </a:r>
            <a:r>
              <a:rPr spc="-110" dirty="0"/>
              <a:t> </a:t>
            </a:r>
            <a:r>
              <a:rPr spc="-250" dirty="0"/>
              <a:t>scikit-</a:t>
            </a:r>
            <a:r>
              <a:rPr spc="-125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5015865"/>
            <a:chOff x="491289" y="1166812"/>
            <a:chExt cx="14575155" cy="501586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5015865"/>
            </a:xfrm>
            <a:custGeom>
              <a:avLst/>
              <a:gdLst/>
              <a:ahLst/>
              <a:cxnLst/>
              <a:rect l="l" t="t" r="r" b="b"/>
              <a:pathLst>
                <a:path w="14575155" h="5015865">
                  <a:moveTo>
                    <a:pt x="14498413" y="5015246"/>
                  </a:moveTo>
                  <a:lnTo>
                    <a:pt x="76505" y="5015246"/>
                  </a:lnTo>
                  <a:lnTo>
                    <a:pt x="71180" y="5014721"/>
                  </a:lnTo>
                  <a:lnTo>
                    <a:pt x="31920" y="4998459"/>
                  </a:lnTo>
                  <a:lnTo>
                    <a:pt x="4175" y="4959732"/>
                  </a:lnTo>
                  <a:lnTo>
                    <a:pt x="0" y="4938740"/>
                  </a:lnTo>
                  <a:lnTo>
                    <a:pt x="0" y="4933364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938740"/>
                  </a:lnTo>
                  <a:lnTo>
                    <a:pt x="14558132" y="4983325"/>
                  </a:lnTo>
                  <a:lnTo>
                    <a:pt x="14519404" y="5011069"/>
                  </a:lnTo>
                  <a:lnTo>
                    <a:pt x="14503737" y="5014721"/>
                  </a:lnTo>
                  <a:lnTo>
                    <a:pt x="14498413" y="5015246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4857" y="1436255"/>
              <a:ext cx="5419725" cy="271780"/>
            </a:xfrm>
            <a:custGeom>
              <a:avLst/>
              <a:gdLst/>
              <a:ahLst/>
              <a:cxnLst/>
              <a:rect l="l" t="t" r="r" b="b"/>
              <a:pathLst>
                <a:path w="5419725" h="271780">
                  <a:moveTo>
                    <a:pt x="142062" y="9601"/>
                  </a:moveTo>
                  <a:lnTo>
                    <a:pt x="89598" y="9601"/>
                  </a:lnTo>
                  <a:lnTo>
                    <a:pt x="79768" y="10337"/>
                  </a:lnTo>
                  <a:lnTo>
                    <a:pt x="47091" y="35255"/>
                  </a:lnTo>
                  <a:lnTo>
                    <a:pt x="43992" y="53263"/>
                  </a:lnTo>
                  <a:lnTo>
                    <a:pt x="43992" y="62128"/>
                  </a:lnTo>
                  <a:lnTo>
                    <a:pt x="0" y="62128"/>
                  </a:lnTo>
                  <a:lnTo>
                    <a:pt x="0" y="96113"/>
                  </a:lnTo>
                  <a:lnTo>
                    <a:pt x="43992" y="96113"/>
                  </a:lnTo>
                  <a:lnTo>
                    <a:pt x="43992" y="221856"/>
                  </a:lnTo>
                  <a:lnTo>
                    <a:pt x="80200" y="221856"/>
                  </a:lnTo>
                  <a:lnTo>
                    <a:pt x="80200" y="96113"/>
                  </a:lnTo>
                  <a:lnTo>
                    <a:pt x="142062" y="96113"/>
                  </a:lnTo>
                  <a:lnTo>
                    <a:pt x="142062" y="62128"/>
                  </a:lnTo>
                  <a:lnTo>
                    <a:pt x="80200" y="62128"/>
                  </a:lnTo>
                  <a:lnTo>
                    <a:pt x="80200" y="49809"/>
                  </a:lnTo>
                  <a:lnTo>
                    <a:pt x="80949" y="47459"/>
                  </a:lnTo>
                  <a:lnTo>
                    <a:pt x="84048" y="44373"/>
                  </a:lnTo>
                  <a:lnTo>
                    <a:pt x="86423" y="43586"/>
                  </a:lnTo>
                  <a:lnTo>
                    <a:pt x="142062" y="43586"/>
                  </a:lnTo>
                  <a:lnTo>
                    <a:pt x="142062" y="9601"/>
                  </a:lnTo>
                  <a:close/>
                </a:path>
                <a:path w="5419725" h="271780">
                  <a:moveTo>
                    <a:pt x="306832" y="117678"/>
                  </a:moveTo>
                  <a:lnTo>
                    <a:pt x="291045" y="73075"/>
                  </a:lnTo>
                  <a:lnTo>
                    <a:pt x="248869" y="56349"/>
                  </a:lnTo>
                  <a:lnTo>
                    <a:pt x="232537" y="58559"/>
                  </a:lnTo>
                  <a:lnTo>
                    <a:pt x="220446" y="65214"/>
                  </a:lnTo>
                  <a:lnTo>
                    <a:pt x="212598" y="76301"/>
                  </a:lnTo>
                  <a:lnTo>
                    <a:pt x="208965" y="91808"/>
                  </a:lnTo>
                  <a:lnTo>
                    <a:pt x="209042" y="91338"/>
                  </a:lnTo>
                  <a:lnTo>
                    <a:pt x="214680" y="59105"/>
                  </a:lnTo>
                  <a:lnTo>
                    <a:pt x="179070" y="59105"/>
                  </a:lnTo>
                  <a:lnTo>
                    <a:pt x="179070" y="221856"/>
                  </a:lnTo>
                  <a:lnTo>
                    <a:pt x="215214" y="221856"/>
                  </a:lnTo>
                  <a:lnTo>
                    <a:pt x="215265" y="109562"/>
                  </a:lnTo>
                  <a:lnTo>
                    <a:pt x="217652" y="102044"/>
                  </a:lnTo>
                  <a:lnTo>
                    <a:pt x="227063" y="91808"/>
                  </a:lnTo>
                  <a:lnTo>
                    <a:pt x="227571" y="91338"/>
                  </a:lnTo>
                  <a:lnTo>
                    <a:pt x="234315" y="88722"/>
                  </a:lnTo>
                  <a:lnTo>
                    <a:pt x="252044" y="88722"/>
                  </a:lnTo>
                  <a:lnTo>
                    <a:pt x="258876" y="91338"/>
                  </a:lnTo>
                  <a:lnTo>
                    <a:pt x="268325" y="101815"/>
                  </a:lnTo>
                  <a:lnTo>
                    <a:pt x="268389" y="102044"/>
                  </a:lnTo>
                  <a:lnTo>
                    <a:pt x="270687" y="109562"/>
                  </a:lnTo>
                  <a:lnTo>
                    <a:pt x="270687" y="132448"/>
                  </a:lnTo>
                  <a:lnTo>
                    <a:pt x="306832" y="132448"/>
                  </a:lnTo>
                  <a:lnTo>
                    <a:pt x="306832" y="117678"/>
                  </a:lnTo>
                  <a:close/>
                </a:path>
                <a:path w="5419725" h="271780">
                  <a:moveTo>
                    <a:pt x="465823" y="119557"/>
                  </a:moveTo>
                  <a:lnTo>
                    <a:pt x="464743" y="105765"/>
                  </a:lnTo>
                  <a:lnTo>
                    <a:pt x="461479" y="93472"/>
                  </a:lnTo>
                  <a:lnTo>
                    <a:pt x="459625" y="89801"/>
                  </a:lnTo>
                  <a:lnTo>
                    <a:pt x="456044" y="82689"/>
                  </a:lnTo>
                  <a:lnTo>
                    <a:pt x="448437" y="73406"/>
                  </a:lnTo>
                  <a:lnTo>
                    <a:pt x="439013" y="65951"/>
                  </a:lnTo>
                  <a:lnTo>
                    <a:pt x="429691" y="61391"/>
                  </a:lnTo>
                  <a:lnTo>
                    <a:pt x="429691" y="109791"/>
                  </a:lnTo>
                  <a:lnTo>
                    <a:pt x="429691" y="171157"/>
                  </a:lnTo>
                  <a:lnTo>
                    <a:pt x="427316" y="178689"/>
                  </a:lnTo>
                  <a:lnTo>
                    <a:pt x="417868" y="188671"/>
                  </a:lnTo>
                  <a:lnTo>
                    <a:pt x="410946" y="191160"/>
                  </a:lnTo>
                  <a:lnTo>
                    <a:pt x="392633" y="191160"/>
                  </a:lnTo>
                  <a:lnTo>
                    <a:pt x="385699" y="188671"/>
                  </a:lnTo>
                  <a:lnTo>
                    <a:pt x="376288" y="178689"/>
                  </a:lnTo>
                  <a:lnTo>
                    <a:pt x="373938" y="171157"/>
                  </a:lnTo>
                  <a:lnTo>
                    <a:pt x="373938" y="109791"/>
                  </a:lnTo>
                  <a:lnTo>
                    <a:pt x="376288" y="102298"/>
                  </a:lnTo>
                  <a:lnTo>
                    <a:pt x="385699" y="92303"/>
                  </a:lnTo>
                  <a:lnTo>
                    <a:pt x="392633" y="89801"/>
                  </a:lnTo>
                  <a:lnTo>
                    <a:pt x="410946" y="89801"/>
                  </a:lnTo>
                  <a:lnTo>
                    <a:pt x="417868" y="92303"/>
                  </a:lnTo>
                  <a:lnTo>
                    <a:pt x="422567" y="97320"/>
                  </a:lnTo>
                  <a:lnTo>
                    <a:pt x="427316" y="102298"/>
                  </a:lnTo>
                  <a:lnTo>
                    <a:pt x="429691" y="61391"/>
                  </a:lnTo>
                  <a:lnTo>
                    <a:pt x="401815" y="56349"/>
                  </a:lnTo>
                  <a:lnTo>
                    <a:pt x="387883" y="57416"/>
                  </a:lnTo>
                  <a:lnTo>
                    <a:pt x="347497" y="82689"/>
                  </a:lnTo>
                  <a:lnTo>
                    <a:pt x="337756" y="119557"/>
                  </a:lnTo>
                  <a:lnTo>
                    <a:pt x="337731" y="161137"/>
                  </a:lnTo>
                  <a:lnTo>
                    <a:pt x="338823" y="175044"/>
                  </a:lnTo>
                  <a:lnTo>
                    <a:pt x="364515" y="215011"/>
                  </a:lnTo>
                  <a:lnTo>
                    <a:pt x="401815" y="224612"/>
                  </a:lnTo>
                  <a:lnTo>
                    <a:pt x="415709" y="223545"/>
                  </a:lnTo>
                  <a:lnTo>
                    <a:pt x="456044" y="198247"/>
                  </a:lnTo>
                  <a:lnTo>
                    <a:pt x="465823" y="161137"/>
                  </a:lnTo>
                  <a:lnTo>
                    <a:pt x="465823" y="119557"/>
                  </a:lnTo>
                  <a:close/>
                </a:path>
                <a:path w="5419725" h="271780">
                  <a:moveTo>
                    <a:pt x="636917" y="101155"/>
                  </a:moveTo>
                  <a:lnTo>
                    <a:pt x="636333" y="91732"/>
                  </a:lnTo>
                  <a:lnTo>
                    <a:pt x="635304" y="86779"/>
                  </a:lnTo>
                  <a:lnTo>
                    <a:pt x="634568" y="83210"/>
                  </a:lnTo>
                  <a:lnTo>
                    <a:pt x="601243" y="56349"/>
                  </a:lnTo>
                  <a:lnTo>
                    <a:pt x="593229" y="56349"/>
                  </a:lnTo>
                  <a:lnTo>
                    <a:pt x="586816" y="58559"/>
                  </a:lnTo>
                  <a:lnTo>
                    <a:pt x="586003" y="59105"/>
                  </a:lnTo>
                  <a:lnTo>
                    <a:pt x="575614" y="67995"/>
                  </a:lnTo>
                  <a:lnTo>
                    <a:pt x="575322" y="68897"/>
                  </a:lnTo>
                  <a:lnTo>
                    <a:pt x="574789" y="67386"/>
                  </a:lnTo>
                  <a:lnTo>
                    <a:pt x="573938" y="66687"/>
                  </a:lnTo>
                  <a:lnTo>
                    <a:pt x="573938" y="75615"/>
                  </a:lnTo>
                  <a:lnTo>
                    <a:pt x="573697" y="73952"/>
                  </a:lnTo>
                  <a:lnTo>
                    <a:pt x="573811" y="73583"/>
                  </a:lnTo>
                  <a:lnTo>
                    <a:pt x="573836" y="73952"/>
                  </a:lnTo>
                  <a:lnTo>
                    <a:pt x="573938" y="75615"/>
                  </a:lnTo>
                  <a:lnTo>
                    <a:pt x="573938" y="66687"/>
                  </a:lnTo>
                  <a:lnTo>
                    <a:pt x="569544" y="63004"/>
                  </a:lnTo>
                  <a:lnTo>
                    <a:pt x="564349" y="58559"/>
                  </a:lnTo>
                  <a:lnTo>
                    <a:pt x="557949" y="56349"/>
                  </a:lnTo>
                  <a:lnTo>
                    <a:pt x="542315" y="56349"/>
                  </a:lnTo>
                  <a:lnTo>
                    <a:pt x="536003" y="58559"/>
                  </a:lnTo>
                  <a:lnTo>
                    <a:pt x="535774" y="58559"/>
                  </a:lnTo>
                  <a:lnTo>
                    <a:pt x="528916" y="64541"/>
                  </a:lnTo>
                  <a:lnTo>
                    <a:pt x="529920" y="59105"/>
                  </a:lnTo>
                  <a:lnTo>
                    <a:pt x="524205" y="59105"/>
                  </a:lnTo>
                  <a:lnTo>
                    <a:pt x="524205" y="81064"/>
                  </a:lnTo>
                  <a:lnTo>
                    <a:pt x="522859" y="73952"/>
                  </a:lnTo>
                  <a:lnTo>
                    <a:pt x="522986" y="73583"/>
                  </a:lnTo>
                  <a:lnTo>
                    <a:pt x="523024" y="73952"/>
                  </a:lnTo>
                  <a:lnTo>
                    <a:pt x="523176" y="75615"/>
                  </a:lnTo>
                  <a:lnTo>
                    <a:pt x="524205" y="81064"/>
                  </a:lnTo>
                  <a:lnTo>
                    <a:pt x="524205" y="59105"/>
                  </a:lnTo>
                  <a:lnTo>
                    <a:pt x="496735" y="59105"/>
                  </a:lnTo>
                  <a:lnTo>
                    <a:pt x="496735" y="221856"/>
                  </a:lnTo>
                  <a:lnTo>
                    <a:pt x="530987" y="221856"/>
                  </a:lnTo>
                  <a:lnTo>
                    <a:pt x="530987" y="95643"/>
                  </a:lnTo>
                  <a:lnTo>
                    <a:pt x="531825" y="92100"/>
                  </a:lnTo>
                  <a:lnTo>
                    <a:pt x="535178" y="87845"/>
                  </a:lnTo>
                  <a:lnTo>
                    <a:pt x="537591" y="86779"/>
                  </a:lnTo>
                  <a:lnTo>
                    <a:pt x="544042" y="86779"/>
                  </a:lnTo>
                  <a:lnTo>
                    <a:pt x="546468" y="87845"/>
                  </a:lnTo>
                  <a:lnTo>
                    <a:pt x="550011" y="92100"/>
                  </a:lnTo>
                  <a:lnTo>
                    <a:pt x="551116" y="95643"/>
                  </a:lnTo>
                  <a:lnTo>
                    <a:pt x="551205" y="221856"/>
                  </a:lnTo>
                  <a:lnTo>
                    <a:pt x="582447" y="221856"/>
                  </a:lnTo>
                  <a:lnTo>
                    <a:pt x="582460" y="95643"/>
                  </a:lnTo>
                  <a:lnTo>
                    <a:pt x="583450" y="92100"/>
                  </a:lnTo>
                  <a:lnTo>
                    <a:pt x="587082" y="87845"/>
                  </a:lnTo>
                  <a:lnTo>
                    <a:pt x="589534" y="86779"/>
                  </a:lnTo>
                  <a:lnTo>
                    <a:pt x="595985" y="86779"/>
                  </a:lnTo>
                  <a:lnTo>
                    <a:pt x="598347" y="87845"/>
                  </a:lnTo>
                  <a:lnTo>
                    <a:pt x="601611" y="92100"/>
                  </a:lnTo>
                  <a:lnTo>
                    <a:pt x="602589" y="95643"/>
                  </a:lnTo>
                  <a:lnTo>
                    <a:pt x="602665" y="221856"/>
                  </a:lnTo>
                  <a:lnTo>
                    <a:pt x="636917" y="221856"/>
                  </a:lnTo>
                  <a:lnTo>
                    <a:pt x="636917" y="101155"/>
                  </a:lnTo>
                  <a:close/>
                </a:path>
                <a:path w="5419725" h="271780">
                  <a:moveTo>
                    <a:pt x="4556963" y="15849"/>
                  </a:moveTo>
                  <a:lnTo>
                    <a:pt x="4554740" y="10477"/>
                  </a:lnTo>
                  <a:lnTo>
                    <a:pt x="4545876" y="2095"/>
                  </a:lnTo>
                  <a:lnTo>
                    <a:pt x="4540237" y="0"/>
                  </a:lnTo>
                  <a:lnTo>
                    <a:pt x="4521022" y="0"/>
                  </a:lnTo>
                  <a:lnTo>
                    <a:pt x="4515383" y="2095"/>
                  </a:lnTo>
                  <a:lnTo>
                    <a:pt x="4506519" y="10477"/>
                  </a:lnTo>
                  <a:lnTo>
                    <a:pt x="4504309" y="15849"/>
                  </a:lnTo>
                  <a:lnTo>
                    <a:pt x="4504309" y="29057"/>
                  </a:lnTo>
                  <a:lnTo>
                    <a:pt x="4506480" y="34378"/>
                  </a:lnTo>
                  <a:lnTo>
                    <a:pt x="4510824" y="38417"/>
                  </a:lnTo>
                  <a:lnTo>
                    <a:pt x="4515205" y="42405"/>
                  </a:lnTo>
                  <a:lnTo>
                    <a:pt x="4520895" y="44399"/>
                  </a:lnTo>
                  <a:lnTo>
                    <a:pt x="4540148" y="44399"/>
                  </a:lnTo>
                  <a:lnTo>
                    <a:pt x="4545774" y="42405"/>
                  </a:lnTo>
                  <a:lnTo>
                    <a:pt x="4554740" y="34378"/>
                  </a:lnTo>
                  <a:lnTo>
                    <a:pt x="4556963" y="29057"/>
                  </a:lnTo>
                  <a:lnTo>
                    <a:pt x="4556963" y="15849"/>
                  </a:lnTo>
                  <a:close/>
                </a:path>
                <a:path w="5419725" h="271780">
                  <a:moveTo>
                    <a:pt x="4602365" y="187871"/>
                  </a:moveTo>
                  <a:lnTo>
                    <a:pt x="4551451" y="187871"/>
                  </a:lnTo>
                  <a:lnTo>
                    <a:pt x="4551451" y="59105"/>
                  </a:lnTo>
                  <a:lnTo>
                    <a:pt x="4468507" y="59105"/>
                  </a:lnTo>
                  <a:lnTo>
                    <a:pt x="4468507" y="93091"/>
                  </a:lnTo>
                  <a:lnTo>
                    <a:pt x="4515256" y="93091"/>
                  </a:lnTo>
                  <a:lnTo>
                    <a:pt x="4515256" y="187871"/>
                  </a:lnTo>
                  <a:lnTo>
                    <a:pt x="4461649" y="187871"/>
                  </a:lnTo>
                  <a:lnTo>
                    <a:pt x="4461649" y="221856"/>
                  </a:lnTo>
                  <a:lnTo>
                    <a:pt x="4602365" y="221856"/>
                  </a:lnTo>
                  <a:lnTo>
                    <a:pt x="4602365" y="187871"/>
                  </a:lnTo>
                  <a:close/>
                </a:path>
                <a:path w="5419725" h="271780">
                  <a:moveTo>
                    <a:pt x="4762982" y="101155"/>
                  </a:moveTo>
                  <a:lnTo>
                    <a:pt x="4762385" y="91732"/>
                  </a:lnTo>
                  <a:lnTo>
                    <a:pt x="4761369" y="86779"/>
                  </a:lnTo>
                  <a:lnTo>
                    <a:pt x="4760633" y="83210"/>
                  </a:lnTo>
                  <a:lnTo>
                    <a:pt x="4759922" y="81407"/>
                  </a:lnTo>
                  <a:lnTo>
                    <a:pt x="4757686" y="75615"/>
                  </a:lnTo>
                  <a:lnTo>
                    <a:pt x="4727308" y="56349"/>
                  </a:lnTo>
                  <a:lnTo>
                    <a:pt x="4719294" y="56349"/>
                  </a:lnTo>
                  <a:lnTo>
                    <a:pt x="4712881" y="58559"/>
                  </a:lnTo>
                  <a:lnTo>
                    <a:pt x="4712055" y="59105"/>
                  </a:lnTo>
                  <a:lnTo>
                    <a:pt x="4701679" y="67995"/>
                  </a:lnTo>
                  <a:lnTo>
                    <a:pt x="4701387" y="68897"/>
                  </a:lnTo>
                  <a:lnTo>
                    <a:pt x="4700854" y="67386"/>
                  </a:lnTo>
                  <a:lnTo>
                    <a:pt x="4700003" y="66687"/>
                  </a:lnTo>
                  <a:lnTo>
                    <a:pt x="4700003" y="75615"/>
                  </a:lnTo>
                  <a:lnTo>
                    <a:pt x="4699762" y="73952"/>
                  </a:lnTo>
                  <a:lnTo>
                    <a:pt x="4699876" y="73583"/>
                  </a:lnTo>
                  <a:lnTo>
                    <a:pt x="4699889" y="73952"/>
                  </a:lnTo>
                  <a:lnTo>
                    <a:pt x="4700003" y="75615"/>
                  </a:lnTo>
                  <a:lnTo>
                    <a:pt x="4700003" y="66687"/>
                  </a:lnTo>
                  <a:lnTo>
                    <a:pt x="4695609" y="63004"/>
                  </a:lnTo>
                  <a:lnTo>
                    <a:pt x="4690415" y="58559"/>
                  </a:lnTo>
                  <a:lnTo>
                    <a:pt x="4684014" y="56349"/>
                  </a:lnTo>
                  <a:lnTo>
                    <a:pt x="4668380" y="56349"/>
                  </a:lnTo>
                  <a:lnTo>
                    <a:pt x="4662068" y="58559"/>
                  </a:lnTo>
                  <a:lnTo>
                    <a:pt x="4661840" y="58559"/>
                  </a:lnTo>
                  <a:lnTo>
                    <a:pt x="4654982" y="64541"/>
                  </a:lnTo>
                  <a:lnTo>
                    <a:pt x="4655985" y="59105"/>
                  </a:lnTo>
                  <a:lnTo>
                    <a:pt x="4650270" y="59105"/>
                  </a:lnTo>
                  <a:lnTo>
                    <a:pt x="4650270" y="81064"/>
                  </a:lnTo>
                  <a:lnTo>
                    <a:pt x="4648924" y="73952"/>
                  </a:lnTo>
                  <a:lnTo>
                    <a:pt x="4649051" y="73583"/>
                  </a:lnTo>
                  <a:lnTo>
                    <a:pt x="4649089" y="73952"/>
                  </a:lnTo>
                  <a:lnTo>
                    <a:pt x="4649241" y="75615"/>
                  </a:lnTo>
                  <a:lnTo>
                    <a:pt x="4650270" y="81064"/>
                  </a:lnTo>
                  <a:lnTo>
                    <a:pt x="4650270" y="59105"/>
                  </a:lnTo>
                  <a:lnTo>
                    <a:pt x="4622800" y="59105"/>
                  </a:lnTo>
                  <a:lnTo>
                    <a:pt x="4622800" y="221856"/>
                  </a:lnTo>
                  <a:lnTo>
                    <a:pt x="4657052" y="221856"/>
                  </a:lnTo>
                  <a:lnTo>
                    <a:pt x="4657052" y="95643"/>
                  </a:lnTo>
                  <a:lnTo>
                    <a:pt x="4657877" y="92100"/>
                  </a:lnTo>
                  <a:lnTo>
                    <a:pt x="4661243" y="87845"/>
                  </a:lnTo>
                  <a:lnTo>
                    <a:pt x="4663656" y="86779"/>
                  </a:lnTo>
                  <a:lnTo>
                    <a:pt x="4670107" y="86779"/>
                  </a:lnTo>
                  <a:lnTo>
                    <a:pt x="4672533" y="87845"/>
                  </a:lnTo>
                  <a:lnTo>
                    <a:pt x="4676076" y="92100"/>
                  </a:lnTo>
                  <a:lnTo>
                    <a:pt x="4677181" y="95643"/>
                  </a:lnTo>
                  <a:lnTo>
                    <a:pt x="4677270" y="221856"/>
                  </a:lnTo>
                  <a:lnTo>
                    <a:pt x="4708499" y="221856"/>
                  </a:lnTo>
                  <a:lnTo>
                    <a:pt x="4708525" y="95643"/>
                  </a:lnTo>
                  <a:lnTo>
                    <a:pt x="4709515" y="92100"/>
                  </a:lnTo>
                  <a:lnTo>
                    <a:pt x="4713148" y="87845"/>
                  </a:lnTo>
                  <a:lnTo>
                    <a:pt x="4715599" y="86779"/>
                  </a:lnTo>
                  <a:lnTo>
                    <a:pt x="4722050" y="86779"/>
                  </a:lnTo>
                  <a:lnTo>
                    <a:pt x="4724412" y="87845"/>
                  </a:lnTo>
                  <a:lnTo>
                    <a:pt x="4727676" y="92100"/>
                  </a:lnTo>
                  <a:lnTo>
                    <a:pt x="4728654" y="95643"/>
                  </a:lnTo>
                  <a:lnTo>
                    <a:pt x="4728718" y="221856"/>
                  </a:lnTo>
                  <a:lnTo>
                    <a:pt x="4762982" y="221856"/>
                  </a:lnTo>
                  <a:lnTo>
                    <a:pt x="4762982" y="101155"/>
                  </a:lnTo>
                  <a:close/>
                </a:path>
                <a:path w="5419725" h="271780">
                  <a:moveTo>
                    <a:pt x="4921974" y="118211"/>
                  </a:moveTo>
                  <a:lnTo>
                    <a:pt x="4907204" y="73279"/>
                  </a:lnTo>
                  <a:lnTo>
                    <a:pt x="4885842" y="59410"/>
                  </a:lnTo>
                  <a:lnTo>
                    <a:pt x="4885842" y="109562"/>
                  </a:lnTo>
                  <a:lnTo>
                    <a:pt x="4885842" y="171386"/>
                  </a:lnTo>
                  <a:lnTo>
                    <a:pt x="4883531" y="179044"/>
                  </a:lnTo>
                  <a:lnTo>
                    <a:pt x="4874387" y="189077"/>
                  </a:lnTo>
                  <a:lnTo>
                    <a:pt x="4867592" y="191693"/>
                  </a:lnTo>
                  <a:lnTo>
                    <a:pt x="4850168" y="191693"/>
                  </a:lnTo>
                  <a:lnTo>
                    <a:pt x="4831296" y="171386"/>
                  </a:lnTo>
                  <a:lnTo>
                    <a:pt x="4831296" y="109562"/>
                  </a:lnTo>
                  <a:lnTo>
                    <a:pt x="4850168" y="89255"/>
                  </a:lnTo>
                  <a:lnTo>
                    <a:pt x="4867592" y="89255"/>
                  </a:lnTo>
                  <a:lnTo>
                    <a:pt x="4874311" y="91795"/>
                  </a:lnTo>
                  <a:lnTo>
                    <a:pt x="4883531" y="101917"/>
                  </a:lnTo>
                  <a:lnTo>
                    <a:pt x="4885842" y="109562"/>
                  </a:lnTo>
                  <a:lnTo>
                    <a:pt x="4885842" y="59410"/>
                  </a:lnTo>
                  <a:lnTo>
                    <a:pt x="4879086" y="57404"/>
                  </a:lnTo>
                  <a:lnTo>
                    <a:pt x="4867033" y="56349"/>
                  </a:lnTo>
                  <a:lnTo>
                    <a:pt x="4857940" y="56959"/>
                  </a:lnTo>
                  <a:lnTo>
                    <a:pt x="4828946" y="73279"/>
                  </a:lnTo>
                  <a:lnTo>
                    <a:pt x="4826152" y="91008"/>
                  </a:lnTo>
                  <a:lnTo>
                    <a:pt x="4829022" y="72745"/>
                  </a:lnTo>
                  <a:lnTo>
                    <a:pt x="4831169" y="59105"/>
                  </a:lnTo>
                  <a:lnTo>
                    <a:pt x="4824920" y="59105"/>
                  </a:lnTo>
                  <a:lnTo>
                    <a:pt x="4824920" y="188137"/>
                  </a:lnTo>
                  <a:lnTo>
                    <a:pt x="4824882" y="189077"/>
                  </a:lnTo>
                  <a:lnTo>
                    <a:pt x="4824793" y="191008"/>
                  </a:lnTo>
                  <a:lnTo>
                    <a:pt x="4824920" y="188137"/>
                  </a:lnTo>
                  <a:lnTo>
                    <a:pt x="4824920" y="59105"/>
                  </a:lnTo>
                  <a:lnTo>
                    <a:pt x="4795024" y="59105"/>
                  </a:lnTo>
                  <a:lnTo>
                    <a:pt x="4795024" y="271360"/>
                  </a:lnTo>
                  <a:lnTo>
                    <a:pt x="4831169" y="271360"/>
                  </a:lnTo>
                  <a:lnTo>
                    <a:pt x="4830965" y="220370"/>
                  </a:lnTo>
                  <a:lnTo>
                    <a:pt x="4829035" y="208292"/>
                  </a:lnTo>
                  <a:lnTo>
                    <a:pt x="4829683" y="209435"/>
                  </a:lnTo>
                  <a:lnTo>
                    <a:pt x="4867033" y="224612"/>
                  </a:lnTo>
                  <a:lnTo>
                    <a:pt x="4879086" y="223545"/>
                  </a:lnTo>
                  <a:lnTo>
                    <a:pt x="4913668" y="198501"/>
                  </a:lnTo>
                  <a:lnTo>
                    <a:pt x="4921974" y="162471"/>
                  </a:lnTo>
                  <a:lnTo>
                    <a:pt x="4921974" y="118211"/>
                  </a:lnTo>
                  <a:close/>
                </a:path>
                <a:path w="5419725" h="271780">
                  <a:moveTo>
                    <a:pt x="5087023" y="119557"/>
                  </a:moveTo>
                  <a:lnTo>
                    <a:pt x="5085931" y="105765"/>
                  </a:lnTo>
                  <a:lnTo>
                    <a:pt x="5082667" y="93472"/>
                  </a:lnTo>
                  <a:lnTo>
                    <a:pt x="5080813" y="89801"/>
                  </a:lnTo>
                  <a:lnTo>
                    <a:pt x="5077231" y="82689"/>
                  </a:lnTo>
                  <a:lnTo>
                    <a:pt x="5069624" y="73406"/>
                  </a:lnTo>
                  <a:lnTo>
                    <a:pt x="5060213" y="65951"/>
                  </a:lnTo>
                  <a:lnTo>
                    <a:pt x="5050879" y="61391"/>
                  </a:lnTo>
                  <a:lnTo>
                    <a:pt x="5050879" y="109791"/>
                  </a:lnTo>
                  <a:lnTo>
                    <a:pt x="5050879" y="171157"/>
                  </a:lnTo>
                  <a:lnTo>
                    <a:pt x="5048504" y="178689"/>
                  </a:lnTo>
                  <a:lnTo>
                    <a:pt x="5039055" y="188671"/>
                  </a:lnTo>
                  <a:lnTo>
                    <a:pt x="5032146" y="191160"/>
                  </a:lnTo>
                  <a:lnTo>
                    <a:pt x="5013833" y="191160"/>
                  </a:lnTo>
                  <a:lnTo>
                    <a:pt x="5006886" y="188671"/>
                  </a:lnTo>
                  <a:lnTo>
                    <a:pt x="4997488" y="178689"/>
                  </a:lnTo>
                  <a:lnTo>
                    <a:pt x="4995126" y="171157"/>
                  </a:lnTo>
                  <a:lnTo>
                    <a:pt x="4995126" y="109791"/>
                  </a:lnTo>
                  <a:lnTo>
                    <a:pt x="4997488" y="102298"/>
                  </a:lnTo>
                  <a:lnTo>
                    <a:pt x="5006886" y="92303"/>
                  </a:lnTo>
                  <a:lnTo>
                    <a:pt x="5013833" y="89801"/>
                  </a:lnTo>
                  <a:lnTo>
                    <a:pt x="5032146" y="89801"/>
                  </a:lnTo>
                  <a:lnTo>
                    <a:pt x="5039055" y="92303"/>
                  </a:lnTo>
                  <a:lnTo>
                    <a:pt x="5043767" y="97320"/>
                  </a:lnTo>
                  <a:lnTo>
                    <a:pt x="5048504" y="102298"/>
                  </a:lnTo>
                  <a:lnTo>
                    <a:pt x="5050879" y="61391"/>
                  </a:lnTo>
                  <a:lnTo>
                    <a:pt x="5023002" y="56349"/>
                  </a:lnTo>
                  <a:lnTo>
                    <a:pt x="5009083" y="57416"/>
                  </a:lnTo>
                  <a:lnTo>
                    <a:pt x="4968684" y="82689"/>
                  </a:lnTo>
                  <a:lnTo>
                    <a:pt x="4958943" y="119557"/>
                  </a:lnTo>
                  <a:lnTo>
                    <a:pt x="4958931" y="161137"/>
                  </a:lnTo>
                  <a:lnTo>
                    <a:pt x="4960010" y="175044"/>
                  </a:lnTo>
                  <a:lnTo>
                    <a:pt x="4985702" y="215011"/>
                  </a:lnTo>
                  <a:lnTo>
                    <a:pt x="5023002" y="224612"/>
                  </a:lnTo>
                  <a:lnTo>
                    <a:pt x="5036909" y="223545"/>
                  </a:lnTo>
                  <a:lnTo>
                    <a:pt x="5077231" y="198247"/>
                  </a:lnTo>
                  <a:lnTo>
                    <a:pt x="5087023" y="161137"/>
                  </a:lnTo>
                  <a:lnTo>
                    <a:pt x="5087023" y="119557"/>
                  </a:lnTo>
                  <a:close/>
                </a:path>
                <a:path w="5419725" h="271780">
                  <a:moveTo>
                    <a:pt x="5258105" y="117678"/>
                  </a:moveTo>
                  <a:lnTo>
                    <a:pt x="5242318" y="73075"/>
                  </a:lnTo>
                  <a:lnTo>
                    <a:pt x="5200142" y="56349"/>
                  </a:lnTo>
                  <a:lnTo>
                    <a:pt x="5183822" y="58559"/>
                  </a:lnTo>
                  <a:lnTo>
                    <a:pt x="5171732" y="65214"/>
                  </a:lnTo>
                  <a:lnTo>
                    <a:pt x="5163871" y="76301"/>
                  </a:lnTo>
                  <a:lnTo>
                    <a:pt x="5160238" y="91808"/>
                  </a:lnTo>
                  <a:lnTo>
                    <a:pt x="5160327" y="91338"/>
                  </a:lnTo>
                  <a:lnTo>
                    <a:pt x="5165953" y="59105"/>
                  </a:lnTo>
                  <a:lnTo>
                    <a:pt x="5130355" y="59105"/>
                  </a:lnTo>
                  <a:lnTo>
                    <a:pt x="5130355" y="221856"/>
                  </a:lnTo>
                  <a:lnTo>
                    <a:pt x="5166487" y="221856"/>
                  </a:lnTo>
                  <a:lnTo>
                    <a:pt x="5166550" y="109562"/>
                  </a:lnTo>
                  <a:lnTo>
                    <a:pt x="5168925" y="102044"/>
                  </a:lnTo>
                  <a:lnTo>
                    <a:pt x="5178349" y="91808"/>
                  </a:lnTo>
                  <a:lnTo>
                    <a:pt x="5178857" y="91338"/>
                  </a:lnTo>
                  <a:lnTo>
                    <a:pt x="5185588" y="88722"/>
                  </a:lnTo>
                  <a:lnTo>
                    <a:pt x="5203317" y="88722"/>
                  </a:lnTo>
                  <a:lnTo>
                    <a:pt x="5210149" y="91338"/>
                  </a:lnTo>
                  <a:lnTo>
                    <a:pt x="5219598" y="101815"/>
                  </a:lnTo>
                  <a:lnTo>
                    <a:pt x="5219662" y="102044"/>
                  </a:lnTo>
                  <a:lnTo>
                    <a:pt x="5221973" y="109562"/>
                  </a:lnTo>
                  <a:lnTo>
                    <a:pt x="5221973" y="132448"/>
                  </a:lnTo>
                  <a:lnTo>
                    <a:pt x="5258105" y="132448"/>
                  </a:lnTo>
                  <a:lnTo>
                    <a:pt x="5258105" y="117678"/>
                  </a:lnTo>
                  <a:close/>
                </a:path>
                <a:path w="5419725" h="271780">
                  <a:moveTo>
                    <a:pt x="5419318" y="59105"/>
                  </a:moveTo>
                  <a:lnTo>
                    <a:pt x="5358803" y="59105"/>
                  </a:lnTo>
                  <a:lnTo>
                    <a:pt x="5358803" y="17856"/>
                  </a:lnTo>
                  <a:lnTo>
                    <a:pt x="5322595" y="17856"/>
                  </a:lnTo>
                  <a:lnTo>
                    <a:pt x="5322595" y="59105"/>
                  </a:lnTo>
                  <a:lnTo>
                    <a:pt x="5279949" y="59105"/>
                  </a:lnTo>
                  <a:lnTo>
                    <a:pt x="5279949" y="93091"/>
                  </a:lnTo>
                  <a:lnTo>
                    <a:pt x="5322595" y="93091"/>
                  </a:lnTo>
                  <a:lnTo>
                    <a:pt x="5322595" y="176250"/>
                  </a:lnTo>
                  <a:lnTo>
                    <a:pt x="5323383" y="186372"/>
                  </a:lnTo>
                  <a:lnTo>
                    <a:pt x="5350091" y="218833"/>
                  </a:lnTo>
                  <a:lnTo>
                    <a:pt x="5369611" y="221856"/>
                  </a:lnTo>
                  <a:lnTo>
                    <a:pt x="5416562" y="221856"/>
                  </a:lnTo>
                  <a:lnTo>
                    <a:pt x="5416562" y="187871"/>
                  </a:lnTo>
                  <a:lnTo>
                    <a:pt x="5365585" y="187871"/>
                  </a:lnTo>
                  <a:lnTo>
                    <a:pt x="5362765" y="187020"/>
                  </a:lnTo>
                  <a:lnTo>
                    <a:pt x="5359590" y="183616"/>
                  </a:lnTo>
                  <a:lnTo>
                    <a:pt x="5358803" y="180594"/>
                  </a:lnTo>
                  <a:lnTo>
                    <a:pt x="5358803" y="93091"/>
                  </a:lnTo>
                  <a:lnTo>
                    <a:pt x="5419318" y="93091"/>
                  </a:lnTo>
                  <a:lnTo>
                    <a:pt x="5419318" y="5910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6427703"/>
            <a:ext cx="14575155" cy="1269365"/>
          </a:xfrm>
          <a:custGeom>
            <a:avLst/>
            <a:gdLst/>
            <a:ahLst/>
            <a:cxnLst/>
            <a:rect l="l" t="t" r="r" b="b"/>
            <a:pathLst>
              <a:path w="14575155" h="1269365">
                <a:moveTo>
                  <a:pt x="14498413" y="1269163"/>
                </a:moveTo>
                <a:lnTo>
                  <a:pt x="76505" y="1269163"/>
                </a:lnTo>
                <a:lnTo>
                  <a:pt x="71180" y="1268638"/>
                </a:lnTo>
                <a:lnTo>
                  <a:pt x="31920" y="1252377"/>
                </a:lnTo>
                <a:lnTo>
                  <a:pt x="4175" y="1213649"/>
                </a:lnTo>
                <a:lnTo>
                  <a:pt x="0" y="1192658"/>
                </a:lnTo>
                <a:lnTo>
                  <a:pt x="0" y="1187282"/>
                </a:lnTo>
                <a:lnTo>
                  <a:pt x="0" y="76505"/>
                </a:lnTo>
                <a:lnTo>
                  <a:pt x="16786" y="31918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1192658"/>
                </a:lnTo>
                <a:lnTo>
                  <a:pt x="14558132" y="1237242"/>
                </a:lnTo>
                <a:lnTo>
                  <a:pt x="14519404" y="1264988"/>
                </a:lnTo>
                <a:lnTo>
                  <a:pt x="14503737" y="1268638"/>
                </a:lnTo>
                <a:lnTo>
                  <a:pt x="14498413" y="126916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5635" y="1229607"/>
            <a:ext cx="11908790" cy="473392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1220"/>
              </a:spcBef>
              <a:tabLst>
                <a:tab pos="5623560" algn="l"/>
              </a:tabLst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sklearn.preprocessing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</a:t>
            </a:r>
            <a:endParaRPr sz="2150">
              <a:latin typeface="Courier New"/>
              <a:cs typeface="Courier New"/>
            </a:endParaRPr>
          </a:p>
          <a:p>
            <a:pPr marL="12700" marR="5121275">
              <a:lnSpc>
                <a:spcPct val="143700"/>
              </a:lnSpc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</a:t>
            </a:r>
            <a:r>
              <a:rPr sz="215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music_df.drop(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).values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</a:t>
            </a:r>
            <a:r>
              <a:rPr sz="21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music_df[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].values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1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15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150">
              <a:latin typeface="Courier New"/>
              <a:cs typeface="Courier New"/>
            </a:endParaRPr>
          </a:p>
          <a:p>
            <a:pPr marL="8594725">
              <a:lnSpc>
                <a:spcPct val="100000"/>
              </a:lnSpc>
              <a:spcBef>
                <a:spcPts val="1125"/>
              </a:spcBef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scaler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StandardScaler()</a:t>
            </a:r>
            <a:endParaRPr sz="2150">
              <a:latin typeface="Courier New"/>
              <a:cs typeface="Courier New"/>
            </a:endParaRPr>
          </a:p>
          <a:p>
            <a:pPr marL="12700" marR="2975610">
              <a:lnSpc>
                <a:spcPct val="143700"/>
              </a:lnSpc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X_train_scaled</a:t>
            </a:r>
            <a:r>
              <a:rPr sz="2150" spc="-3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scaler.fit_transform(X_train)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X_test_scaled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scaler.transform(X_test) </a:t>
            </a:r>
            <a:r>
              <a:rPr sz="21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(np.mean(X),</a:t>
            </a:r>
            <a:r>
              <a:rPr sz="2150" spc="-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np.std(X)) </a:t>
            </a:r>
            <a:r>
              <a:rPr sz="21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(np.mean(X_train_scaled),</a:t>
            </a:r>
            <a:r>
              <a:rPr sz="2150" spc="-1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np.std(X_train_scaled))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635" y="6490498"/>
            <a:ext cx="5967095" cy="9671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19801.42536120538,</a:t>
            </a:r>
            <a:r>
              <a:rPr sz="215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Courier New"/>
                <a:cs typeface="Courier New"/>
              </a:rPr>
              <a:t>71343.52910125865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10" dirty="0">
                <a:solidFill>
                  <a:srgbClr val="FFFFFF"/>
                </a:solidFill>
                <a:latin typeface="Courier New"/>
                <a:cs typeface="Courier New"/>
              </a:rPr>
              <a:t>2.260817795600319e-</a:t>
            </a:r>
            <a:r>
              <a:rPr sz="2150" dirty="0">
                <a:solidFill>
                  <a:srgbClr val="FFFFFF"/>
                </a:solidFill>
                <a:latin typeface="Courier New"/>
                <a:cs typeface="Courier New"/>
              </a:rPr>
              <a:t>17,</a:t>
            </a:r>
            <a:r>
              <a:rPr sz="2150" spc="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Courier New"/>
                <a:cs typeface="Courier New"/>
              </a:rPr>
              <a:t>1.0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7F5D999-CAAC-65E0-0E7A-FAA336384D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30542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5" dirty="0"/>
              <a:t>Scaling</a:t>
            </a:r>
            <a:r>
              <a:rPr spc="-145" dirty="0"/>
              <a:t> </a:t>
            </a:r>
            <a:r>
              <a:rPr spc="-265" dirty="0"/>
              <a:t>in</a:t>
            </a:r>
            <a:r>
              <a:rPr spc="-145" dirty="0"/>
              <a:t> </a:t>
            </a:r>
            <a:r>
              <a:rPr spc="50" dirty="0"/>
              <a:t>a</a:t>
            </a:r>
            <a:r>
              <a:rPr spc="-140" dirty="0"/>
              <a:t> </a:t>
            </a:r>
            <a:r>
              <a:rPr spc="-180" dirty="0"/>
              <a:t>pipeline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4094479"/>
          </a:xfrm>
          <a:custGeom>
            <a:avLst/>
            <a:gdLst/>
            <a:ahLst/>
            <a:cxnLst/>
            <a:rect l="l" t="t" r="r" b="b"/>
            <a:pathLst>
              <a:path w="14575155" h="4094479">
                <a:moveTo>
                  <a:pt x="14498413" y="4094078"/>
                </a:moveTo>
                <a:lnTo>
                  <a:pt x="76505" y="4094078"/>
                </a:lnTo>
                <a:lnTo>
                  <a:pt x="71180" y="4093553"/>
                </a:lnTo>
                <a:lnTo>
                  <a:pt x="31920" y="4077291"/>
                </a:lnTo>
                <a:lnTo>
                  <a:pt x="4175" y="4038563"/>
                </a:lnTo>
                <a:lnTo>
                  <a:pt x="0" y="4017573"/>
                </a:lnTo>
                <a:lnTo>
                  <a:pt x="0" y="40121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017573"/>
                </a:lnTo>
                <a:lnTo>
                  <a:pt x="14558132" y="4062157"/>
                </a:lnTo>
                <a:lnTo>
                  <a:pt x="14519404" y="4089902"/>
                </a:lnTo>
                <a:lnTo>
                  <a:pt x="14503737" y="4093553"/>
                </a:lnTo>
                <a:lnTo>
                  <a:pt x="14498413" y="4094078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506535"/>
            <a:ext cx="14575155" cy="798830"/>
          </a:xfrm>
          <a:custGeom>
            <a:avLst/>
            <a:gdLst/>
            <a:ahLst/>
            <a:cxnLst/>
            <a:rect l="l" t="t" r="r" b="b"/>
            <a:pathLst>
              <a:path w="14575155" h="798829">
                <a:moveTo>
                  <a:pt x="14498413" y="798345"/>
                </a:moveTo>
                <a:lnTo>
                  <a:pt x="76505" y="798345"/>
                </a:lnTo>
                <a:lnTo>
                  <a:pt x="71180" y="797820"/>
                </a:lnTo>
                <a:lnTo>
                  <a:pt x="31920" y="781557"/>
                </a:lnTo>
                <a:lnTo>
                  <a:pt x="4175" y="742830"/>
                </a:lnTo>
                <a:lnTo>
                  <a:pt x="0" y="721839"/>
                </a:lnTo>
                <a:lnTo>
                  <a:pt x="0" y="716463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21839"/>
                </a:lnTo>
                <a:lnTo>
                  <a:pt x="14558132" y="766423"/>
                </a:lnTo>
                <a:lnTo>
                  <a:pt x="14519404" y="794169"/>
                </a:lnTo>
                <a:lnTo>
                  <a:pt x="14503737" y="797820"/>
                </a:lnTo>
                <a:lnTo>
                  <a:pt x="14498413" y="79834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0433" y="1231327"/>
            <a:ext cx="12281535" cy="379222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steps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[(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'scaler'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StandardScaler()),</a:t>
            </a:r>
            <a:endParaRPr sz="2200">
              <a:latin typeface="Courier New"/>
              <a:cs typeface="Courier New"/>
            </a:endParaRPr>
          </a:p>
          <a:p>
            <a:pPr marL="12700" marR="3069590" indent="1531620">
              <a:lnSpc>
                <a:spcPct val="140400"/>
              </a:lnSpc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'knn'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KNeighborsClassifier(n_neighbors=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6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))]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pipeline</a:t>
            </a:r>
            <a:r>
              <a:rPr sz="22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Pipeline(steps)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00">
              <a:latin typeface="Courier New"/>
              <a:cs typeface="Courier New"/>
            </a:endParaRPr>
          </a:p>
          <a:p>
            <a:pPr marL="8863965">
              <a:lnSpc>
                <a:spcPct val="100000"/>
              </a:lnSpc>
              <a:spcBef>
                <a:spcPts val="1070"/>
              </a:spcBef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21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2700" marR="4940935">
              <a:lnSpc>
                <a:spcPct val="140400"/>
              </a:lnSpc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knn_scaled</a:t>
            </a:r>
            <a:r>
              <a:rPr sz="2200" spc="1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114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pipeline.fit(X_train,</a:t>
            </a:r>
            <a:r>
              <a:rPr sz="2200" spc="1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y_pred</a:t>
            </a:r>
            <a:r>
              <a:rPr sz="22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knn_scaled.predict(X_test) </a:t>
            </a:r>
            <a:r>
              <a:rPr sz="22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(knn_scaled.score(X_test,</a:t>
            </a:r>
            <a:r>
              <a:rPr sz="2200" spc="2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y_test))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433" y="5701405"/>
            <a:ext cx="70675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0.81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42CBDC1-B07C-A1A3-8E3F-E089E109FB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0" dirty="0"/>
              <a:t>Comparing</a:t>
            </a:r>
            <a:r>
              <a:rPr spc="-120" dirty="0"/>
              <a:t> </a:t>
            </a:r>
            <a:r>
              <a:rPr spc="-190" dirty="0"/>
              <a:t>performance</a:t>
            </a:r>
            <a:r>
              <a:rPr spc="-120" dirty="0"/>
              <a:t> </a:t>
            </a:r>
            <a:r>
              <a:rPr spc="-265" dirty="0"/>
              <a:t>using</a:t>
            </a:r>
            <a:r>
              <a:rPr spc="-120" dirty="0"/>
              <a:t> </a:t>
            </a:r>
            <a:r>
              <a:rPr spc="-195" dirty="0"/>
              <a:t>unscaled</a:t>
            </a:r>
            <a:r>
              <a:rPr spc="-12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2211070"/>
          </a:xfrm>
          <a:custGeom>
            <a:avLst/>
            <a:gdLst/>
            <a:ahLst/>
            <a:cxnLst/>
            <a:rect l="l" t="t" r="r" b="b"/>
            <a:pathLst>
              <a:path w="14575155" h="2211070">
                <a:moveTo>
                  <a:pt x="14498413" y="2210802"/>
                </a:moveTo>
                <a:lnTo>
                  <a:pt x="76505" y="2210802"/>
                </a:lnTo>
                <a:lnTo>
                  <a:pt x="71180" y="2210277"/>
                </a:lnTo>
                <a:lnTo>
                  <a:pt x="31920" y="2194015"/>
                </a:lnTo>
                <a:lnTo>
                  <a:pt x="4175" y="2155287"/>
                </a:lnTo>
                <a:lnTo>
                  <a:pt x="0" y="2134297"/>
                </a:lnTo>
                <a:lnTo>
                  <a:pt x="0" y="212892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134297"/>
                </a:lnTo>
                <a:lnTo>
                  <a:pt x="14558132" y="2178881"/>
                </a:lnTo>
                <a:lnTo>
                  <a:pt x="14519404" y="2206626"/>
                </a:lnTo>
                <a:lnTo>
                  <a:pt x="14503737" y="2210277"/>
                </a:lnTo>
                <a:lnTo>
                  <a:pt x="14498413" y="221080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623259"/>
            <a:ext cx="14575155" cy="798830"/>
          </a:xfrm>
          <a:custGeom>
            <a:avLst/>
            <a:gdLst/>
            <a:ahLst/>
            <a:cxnLst/>
            <a:rect l="l" t="t" r="r" b="b"/>
            <a:pathLst>
              <a:path w="14575155" h="798829">
                <a:moveTo>
                  <a:pt x="14498413" y="798344"/>
                </a:moveTo>
                <a:lnTo>
                  <a:pt x="76505" y="798344"/>
                </a:lnTo>
                <a:lnTo>
                  <a:pt x="71180" y="797820"/>
                </a:lnTo>
                <a:lnTo>
                  <a:pt x="31920" y="781558"/>
                </a:lnTo>
                <a:lnTo>
                  <a:pt x="4175" y="742830"/>
                </a:lnTo>
                <a:lnTo>
                  <a:pt x="0" y="721839"/>
                </a:lnTo>
                <a:lnTo>
                  <a:pt x="0" y="71646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21839"/>
                </a:lnTo>
                <a:lnTo>
                  <a:pt x="14558132" y="766423"/>
                </a:lnTo>
                <a:lnTo>
                  <a:pt x="14519404" y="794169"/>
                </a:lnTo>
                <a:lnTo>
                  <a:pt x="14503737" y="797820"/>
                </a:lnTo>
                <a:lnTo>
                  <a:pt x="14498413" y="79834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0433" y="1231327"/>
            <a:ext cx="12281535" cy="19088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00">
              <a:latin typeface="Courier New"/>
              <a:cs typeface="Courier New"/>
            </a:endParaRPr>
          </a:p>
          <a:p>
            <a:pPr marL="12700" marR="5080" indent="8851265">
              <a:lnSpc>
                <a:spcPct val="140400"/>
              </a:lnSpc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21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knn_unscaled</a:t>
            </a:r>
            <a:r>
              <a:rPr sz="2200" spc="1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1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KNeighborsClassifier(n_neighbors=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6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).fit(X_train,</a:t>
            </a:r>
            <a:r>
              <a:rPr sz="2200" spc="1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(knn_unscaled.score(X_test,</a:t>
            </a:r>
            <a:r>
              <a:rPr sz="2200" spc="2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y_test))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433" y="3818129"/>
            <a:ext cx="70675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0.53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BE8096D-5C16-A61F-DEAD-C83ACC0534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CV</a:t>
            </a:r>
            <a:r>
              <a:rPr spc="-160" dirty="0"/>
              <a:t> </a:t>
            </a:r>
            <a:r>
              <a:rPr spc="-150" dirty="0"/>
              <a:t>and</a:t>
            </a:r>
            <a:r>
              <a:rPr spc="-160" dirty="0"/>
              <a:t> </a:t>
            </a:r>
            <a:r>
              <a:rPr spc="-170" dirty="0"/>
              <a:t>scaling</a:t>
            </a:r>
            <a:r>
              <a:rPr spc="-160" dirty="0"/>
              <a:t> </a:t>
            </a:r>
            <a:r>
              <a:rPr spc="-265" dirty="0"/>
              <a:t>in</a:t>
            </a:r>
            <a:r>
              <a:rPr spc="-155" dirty="0"/>
              <a:t> </a:t>
            </a:r>
            <a:r>
              <a:rPr spc="50" dirty="0"/>
              <a:t>a</a:t>
            </a:r>
            <a:r>
              <a:rPr spc="-160" dirty="0"/>
              <a:t> </a:t>
            </a:r>
            <a:r>
              <a:rPr spc="-165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5036185"/>
            <a:chOff x="491289" y="1166812"/>
            <a:chExt cx="14575155" cy="503618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5036185"/>
            </a:xfrm>
            <a:custGeom>
              <a:avLst/>
              <a:gdLst/>
              <a:ahLst/>
              <a:cxnLst/>
              <a:rect l="l" t="t" r="r" b="b"/>
              <a:pathLst>
                <a:path w="14575155" h="5036185">
                  <a:moveTo>
                    <a:pt x="14498413" y="5035715"/>
                  </a:moveTo>
                  <a:lnTo>
                    <a:pt x="76505" y="5035715"/>
                  </a:lnTo>
                  <a:lnTo>
                    <a:pt x="71180" y="5035191"/>
                  </a:lnTo>
                  <a:lnTo>
                    <a:pt x="31920" y="5018928"/>
                  </a:lnTo>
                  <a:lnTo>
                    <a:pt x="4175" y="4980201"/>
                  </a:lnTo>
                  <a:lnTo>
                    <a:pt x="0" y="4959211"/>
                  </a:lnTo>
                  <a:lnTo>
                    <a:pt x="0" y="4953834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959211"/>
                  </a:lnTo>
                  <a:lnTo>
                    <a:pt x="14558132" y="5003795"/>
                  </a:lnTo>
                  <a:lnTo>
                    <a:pt x="14519404" y="5031540"/>
                  </a:lnTo>
                  <a:lnTo>
                    <a:pt x="14503737" y="5035191"/>
                  </a:lnTo>
                  <a:lnTo>
                    <a:pt x="14498413" y="503571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0166" y="1429321"/>
              <a:ext cx="5929630" cy="280035"/>
            </a:xfrm>
            <a:custGeom>
              <a:avLst/>
              <a:gdLst/>
              <a:ahLst/>
              <a:cxnLst/>
              <a:rect l="l" t="t" r="r" b="b"/>
              <a:pathLst>
                <a:path w="5929630" h="280035">
                  <a:moveTo>
                    <a:pt x="146507" y="9906"/>
                  </a:moveTo>
                  <a:lnTo>
                    <a:pt x="92405" y="9906"/>
                  </a:lnTo>
                  <a:lnTo>
                    <a:pt x="82270" y="10668"/>
                  </a:lnTo>
                  <a:lnTo>
                    <a:pt x="48577" y="36360"/>
                  </a:lnTo>
                  <a:lnTo>
                    <a:pt x="45377" y="54927"/>
                  </a:lnTo>
                  <a:lnTo>
                    <a:pt x="45377" y="64071"/>
                  </a:lnTo>
                  <a:lnTo>
                    <a:pt x="0" y="64071"/>
                  </a:lnTo>
                  <a:lnTo>
                    <a:pt x="0" y="99123"/>
                  </a:lnTo>
                  <a:lnTo>
                    <a:pt x="45377" y="99123"/>
                  </a:lnTo>
                  <a:lnTo>
                    <a:pt x="45377" y="228790"/>
                  </a:lnTo>
                  <a:lnTo>
                    <a:pt x="82702" y="228790"/>
                  </a:lnTo>
                  <a:lnTo>
                    <a:pt x="82702" y="99123"/>
                  </a:lnTo>
                  <a:lnTo>
                    <a:pt x="146507" y="99123"/>
                  </a:lnTo>
                  <a:lnTo>
                    <a:pt x="146507" y="64071"/>
                  </a:lnTo>
                  <a:lnTo>
                    <a:pt x="82702" y="64071"/>
                  </a:lnTo>
                  <a:lnTo>
                    <a:pt x="82702" y="51371"/>
                  </a:lnTo>
                  <a:lnTo>
                    <a:pt x="83489" y="48945"/>
                  </a:lnTo>
                  <a:lnTo>
                    <a:pt x="86677" y="45758"/>
                  </a:lnTo>
                  <a:lnTo>
                    <a:pt x="89128" y="44945"/>
                  </a:lnTo>
                  <a:lnTo>
                    <a:pt x="146507" y="44945"/>
                  </a:lnTo>
                  <a:lnTo>
                    <a:pt x="146507" y="9906"/>
                  </a:lnTo>
                  <a:close/>
                </a:path>
                <a:path w="5929630" h="280035">
                  <a:moveTo>
                    <a:pt x="316445" y="121348"/>
                  </a:moveTo>
                  <a:lnTo>
                    <a:pt x="315429" y="107696"/>
                  </a:lnTo>
                  <a:lnTo>
                    <a:pt x="312381" y="95478"/>
                  </a:lnTo>
                  <a:lnTo>
                    <a:pt x="310502" y="91503"/>
                  </a:lnTo>
                  <a:lnTo>
                    <a:pt x="307289" y="84696"/>
                  </a:lnTo>
                  <a:lnTo>
                    <a:pt x="269595" y="59194"/>
                  </a:lnTo>
                  <a:lnTo>
                    <a:pt x="256667" y="58115"/>
                  </a:lnTo>
                  <a:lnTo>
                    <a:pt x="239839" y="60401"/>
                  </a:lnTo>
                  <a:lnTo>
                    <a:pt x="227368" y="67259"/>
                  </a:lnTo>
                  <a:lnTo>
                    <a:pt x="219265" y="78689"/>
                  </a:lnTo>
                  <a:lnTo>
                    <a:pt x="215519" y="94678"/>
                  </a:lnTo>
                  <a:lnTo>
                    <a:pt x="215607" y="94195"/>
                  </a:lnTo>
                  <a:lnTo>
                    <a:pt x="221411" y="60947"/>
                  </a:lnTo>
                  <a:lnTo>
                    <a:pt x="184696" y="60947"/>
                  </a:lnTo>
                  <a:lnTo>
                    <a:pt x="184696" y="228790"/>
                  </a:lnTo>
                  <a:lnTo>
                    <a:pt x="221970" y="228790"/>
                  </a:lnTo>
                  <a:lnTo>
                    <a:pt x="222021" y="112991"/>
                  </a:lnTo>
                  <a:lnTo>
                    <a:pt x="224485" y="105232"/>
                  </a:lnTo>
                  <a:lnTo>
                    <a:pt x="234188" y="94678"/>
                  </a:lnTo>
                  <a:lnTo>
                    <a:pt x="234708" y="94195"/>
                  </a:lnTo>
                  <a:lnTo>
                    <a:pt x="241655" y="91503"/>
                  </a:lnTo>
                  <a:lnTo>
                    <a:pt x="259943" y="91503"/>
                  </a:lnTo>
                  <a:lnTo>
                    <a:pt x="266992" y="94195"/>
                  </a:lnTo>
                  <a:lnTo>
                    <a:pt x="276733" y="105003"/>
                  </a:lnTo>
                  <a:lnTo>
                    <a:pt x="276809" y="105232"/>
                  </a:lnTo>
                  <a:lnTo>
                    <a:pt x="279184" y="112991"/>
                  </a:lnTo>
                  <a:lnTo>
                    <a:pt x="279184" y="136588"/>
                  </a:lnTo>
                  <a:lnTo>
                    <a:pt x="316445" y="136588"/>
                  </a:lnTo>
                  <a:lnTo>
                    <a:pt x="316445" y="121348"/>
                  </a:lnTo>
                  <a:close/>
                </a:path>
                <a:path w="5929630" h="280035">
                  <a:moveTo>
                    <a:pt x="480441" y="123291"/>
                  </a:moveTo>
                  <a:lnTo>
                    <a:pt x="470344" y="85280"/>
                  </a:lnTo>
                  <a:lnTo>
                    <a:pt x="443166" y="63309"/>
                  </a:lnTo>
                  <a:lnTo>
                    <a:pt x="443166" y="113220"/>
                  </a:lnTo>
                  <a:lnTo>
                    <a:pt x="443166" y="176517"/>
                  </a:lnTo>
                  <a:lnTo>
                    <a:pt x="440728" y="184264"/>
                  </a:lnTo>
                  <a:lnTo>
                    <a:pt x="430974" y="194564"/>
                  </a:lnTo>
                  <a:lnTo>
                    <a:pt x="423849" y="197129"/>
                  </a:lnTo>
                  <a:lnTo>
                    <a:pt x="404952" y="197129"/>
                  </a:lnTo>
                  <a:lnTo>
                    <a:pt x="397802" y="194564"/>
                  </a:lnTo>
                  <a:lnTo>
                    <a:pt x="388099" y="184264"/>
                  </a:lnTo>
                  <a:lnTo>
                    <a:pt x="385673" y="176517"/>
                  </a:lnTo>
                  <a:lnTo>
                    <a:pt x="385673" y="113220"/>
                  </a:lnTo>
                  <a:lnTo>
                    <a:pt x="388099" y="105486"/>
                  </a:lnTo>
                  <a:lnTo>
                    <a:pt x="397802" y="95186"/>
                  </a:lnTo>
                  <a:lnTo>
                    <a:pt x="404952" y="92608"/>
                  </a:lnTo>
                  <a:lnTo>
                    <a:pt x="423849" y="92608"/>
                  </a:lnTo>
                  <a:lnTo>
                    <a:pt x="430974" y="95186"/>
                  </a:lnTo>
                  <a:lnTo>
                    <a:pt x="435825" y="100368"/>
                  </a:lnTo>
                  <a:lnTo>
                    <a:pt x="440728" y="105486"/>
                  </a:lnTo>
                  <a:lnTo>
                    <a:pt x="443166" y="63309"/>
                  </a:lnTo>
                  <a:lnTo>
                    <a:pt x="414426" y="58115"/>
                  </a:lnTo>
                  <a:lnTo>
                    <a:pt x="400062" y="59207"/>
                  </a:lnTo>
                  <a:lnTo>
                    <a:pt x="358406" y="85280"/>
                  </a:lnTo>
                  <a:lnTo>
                    <a:pt x="348361" y="123291"/>
                  </a:lnTo>
                  <a:lnTo>
                    <a:pt x="348348" y="166166"/>
                  </a:lnTo>
                  <a:lnTo>
                    <a:pt x="349465" y="180505"/>
                  </a:lnTo>
                  <a:lnTo>
                    <a:pt x="375958" y="221729"/>
                  </a:lnTo>
                  <a:lnTo>
                    <a:pt x="414426" y="231622"/>
                  </a:lnTo>
                  <a:lnTo>
                    <a:pt x="428752" y="230530"/>
                  </a:lnTo>
                  <a:lnTo>
                    <a:pt x="470344" y="204444"/>
                  </a:lnTo>
                  <a:lnTo>
                    <a:pt x="480441" y="166166"/>
                  </a:lnTo>
                  <a:lnTo>
                    <a:pt x="480441" y="123291"/>
                  </a:lnTo>
                  <a:close/>
                </a:path>
                <a:path w="5929630" h="280035">
                  <a:moveTo>
                    <a:pt x="656894" y="104317"/>
                  </a:moveTo>
                  <a:lnTo>
                    <a:pt x="656285" y="94602"/>
                  </a:lnTo>
                  <a:lnTo>
                    <a:pt x="655231" y="89484"/>
                  </a:lnTo>
                  <a:lnTo>
                    <a:pt x="654469" y="85813"/>
                  </a:lnTo>
                  <a:lnTo>
                    <a:pt x="653821" y="84150"/>
                  </a:lnTo>
                  <a:lnTo>
                    <a:pt x="653745" y="83947"/>
                  </a:lnTo>
                  <a:lnTo>
                    <a:pt x="620115" y="58115"/>
                  </a:lnTo>
                  <a:lnTo>
                    <a:pt x="611847" y="58115"/>
                  </a:lnTo>
                  <a:lnTo>
                    <a:pt x="605231" y="60401"/>
                  </a:lnTo>
                  <a:lnTo>
                    <a:pt x="604380" y="60947"/>
                  </a:lnTo>
                  <a:lnTo>
                    <a:pt x="593674" y="70116"/>
                  </a:lnTo>
                  <a:lnTo>
                    <a:pt x="593369" y="71043"/>
                  </a:lnTo>
                  <a:lnTo>
                    <a:pt x="592823" y="69494"/>
                  </a:lnTo>
                  <a:lnTo>
                    <a:pt x="591947" y="68770"/>
                  </a:lnTo>
                  <a:lnTo>
                    <a:pt x="591947" y="77978"/>
                  </a:lnTo>
                  <a:lnTo>
                    <a:pt x="591693" y="76263"/>
                  </a:lnTo>
                  <a:lnTo>
                    <a:pt x="591820" y="75895"/>
                  </a:lnTo>
                  <a:lnTo>
                    <a:pt x="591832" y="76263"/>
                  </a:lnTo>
                  <a:lnTo>
                    <a:pt x="591947" y="77978"/>
                  </a:lnTo>
                  <a:lnTo>
                    <a:pt x="591947" y="68770"/>
                  </a:lnTo>
                  <a:lnTo>
                    <a:pt x="587413" y="64973"/>
                  </a:lnTo>
                  <a:lnTo>
                    <a:pt x="582066" y="60401"/>
                  </a:lnTo>
                  <a:lnTo>
                    <a:pt x="575462" y="58115"/>
                  </a:lnTo>
                  <a:lnTo>
                    <a:pt x="559346" y="58115"/>
                  </a:lnTo>
                  <a:lnTo>
                    <a:pt x="552831" y="60401"/>
                  </a:lnTo>
                  <a:lnTo>
                    <a:pt x="552602" y="60401"/>
                  </a:lnTo>
                  <a:lnTo>
                    <a:pt x="545515" y="66560"/>
                  </a:lnTo>
                  <a:lnTo>
                    <a:pt x="546544" y="60947"/>
                  </a:lnTo>
                  <a:lnTo>
                    <a:pt x="539584" y="60947"/>
                  </a:lnTo>
                  <a:lnTo>
                    <a:pt x="539584" y="77927"/>
                  </a:lnTo>
                  <a:lnTo>
                    <a:pt x="539280" y="76263"/>
                  </a:lnTo>
                  <a:lnTo>
                    <a:pt x="539407" y="75895"/>
                  </a:lnTo>
                  <a:lnTo>
                    <a:pt x="539432" y="76263"/>
                  </a:lnTo>
                  <a:lnTo>
                    <a:pt x="539584" y="77927"/>
                  </a:lnTo>
                  <a:lnTo>
                    <a:pt x="539584" y="60947"/>
                  </a:lnTo>
                  <a:lnTo>
                    <a:pt x="512330" y="60947"/>
                  </a:lnTo>
                  <a:lnTo>
                    <a:pt x="512330" y="228790"/>
                  </a:lnTo>
                  <a:lnTo>
                    <a:pt x="547662" y="228790"/>
                  </a:lnTo>
                  <a:lnTo>
                    <a:pt x="547662" y="98628"/>
                  </a:lnTo>
                  <a:lnTo>
                    <a:pt x="548513" y="94983"/>
                  </a:lnTo>
                  <a:lnTo>
                    <a:pt x="551980" y="90601"/>
                  </a:lnTo>
                  <a:lnTo>
                    <a:pt x="554469" y="89484"/>
                  </a:lnTo>
                  <a:lnTo>
                    <a:pt x="561124" y="89484"/>
                  </a:lnTo>
                  <a:lnTo>
                    <a:pt x="563613" y="90601"/>
                  </a:lnTo>
                  <a:lnTo>
                    <a:pt x="567283" y="94983"/>
                  </a:lnTo>
                  <a:lnTo>
                    <a:pt x="568413" y="98628"/>
                  </a:lnTo>
                  <a:lnTo>
                    <a:pt x="568502" y="228790"/>
                  </a:lnTo>
                  <a:lnTo>
                    <a:pt x="600722" y="228790"/>
                  </a:lnTo>
                  <a:lnTo>
                    <a:pt x="600735" y="98628"/>
                  </a:lnTo>
                  <a:lnTo>
                    <a:pt x="601764" y="94983"/>
                  </a:lnTo>
                  <a:lnTo>
                    <a:pt x="605497" y="90601"/>
                  </a:lnTo>
                  <a:lnTo>
                    <a:pt x="608037" y="89484"/>
                  </a:lnTo>
                  <a:lnTo>
                    <a:pt x="614680" y="89484"/>
                  </a:lnTo>
                  <a:lnTo>
                    <a:pt x="617118" y="90601"/>
                  </a:lnTo>
                  <a:lnTo>
                    <a:pt x="620483" y="94983"/>
                  </a:lnTo>
                  <a:lnTo>
                    <a:pt x="621487" y="98628"/>
                  </a:lnTo>
                  <a:lnTo>
                    <a:pt x="621563" y="228790"/>
                  </a:lnTo>
                  <a:lnTo>
                    <a:pt x="656894" y="228790"/>
                  </a:lnTo>
                  <a:lnTo>
                    <a:pt x="656894" y="104317"/>
                  </a:lnTo>
                  <a:close/>
                </a:path>
                <a:path w="5929630" h="280035">
                  <a:moveTo>
                    <a:pt x="5039893" y="16344"/>
                  </a:moveTo>
                  <a:lnTo>
                    <a:pt x="5037607" y="10807"/>
                  </a:lnTo>
                  <a:lnTo>
                    <a:pt x="5028463" y="2171"/>
                  </a:lnTo>
                  <a:lnTo>
                    <a:pt x="5022647" y="0"/>
                  </a:lnTo>
                  <a:lnTo>
                    <a:pt x="5002835" y="0"/>
                  </a:lnTo>
                  <a:lnTo>
                    <a:pt x="4997018" y="2171"/>
                  </a:lnTo>
                  <a:lnTo>
                    <a:pt x="4987874" y="10807"/>
                  </a:lnTo>
                  <a:lnTo>
                    <a:pt x="4985588" y="16344"/>
                  </a:lnTo>
                  <a:lnTo>
                    <a:pt x="4985588" y="29959"/>
                  </a:lnTo>
                  <a:lnTo>
                    <a:pt x="4987823" y="35458"/>
                  </a:lnTo>
                  <a:lnTo>
                    <a:pt x="4992306" y="39611"/>
                  </a:lnTo>
                  <a:lnTo>
                    <a:pt x="4996827" y="43726"/>
                  </a:lnTo>
                  <a:lnTo>
                    <a:pt x="5002695" y="45783"/>
                  </a:lnTo>
                  <a:lnTo>
                    <a:pt x="5022558" y="45783"/>
                  </a:lnTo>
                  <a:lnTo>
                    <a:pt x="5028349" y="43726"/>
                  </a:lnTo>
                  <a:lnTo>
                    <a:pt x="5037607" y="35458"/>
                  </a:lnTo>
                  <a:lnTo>
                    <a:pt x="5039893" y="29959"/>
                  </a:lnTo>
                  <a:lnTo>
                    <a:pt x="5039893" y="16344"/>
                  </a:lnTo>
                  <a:close/>
                </a:path>
                <a:path w="5929630" h="280035">
                  <a:moveTo>
                    <a:pt x="5086718" y="193738"/>
                  </a:moveTo>
                  <a:lnTo>
                    <a:pt x="5034216" y="193738"/>
                  </a:lnTo>
                  <a:lnTo>
                    <a:pt x="5034216" y="60947"/>
                  </a:lnTo>
                  <a:lnTo>
                    <a:pt x="4948669" y="60947"/>
                  </a:lnTo>
                  <a:lnTo>
                    <a:pt x="4948669" y="95999"/>
                  </a:lnTo>
                  <a:lnTo>
                    <a:pt x="4996878" y="95999"/>
                  </a:lnTo>
                  <a:lnTo>
                    <a:pt x="4996878" y="193738"/>
                  </a:lnTo>
                  <a:lnTo>
                    <a:pt x="4941608" y="193738"/>
                  </a:lnTo>
                  <a:lnTo>
                    <a:pt x="4941608" y="228790"/>
                  </a:lnTo>
                  <a:lnTo>
                    <a:pt x="5086718" y="228790"/>
                  </a:lnTo>
                  <a:lnTo>
                    <a:pt x="5086718" y="193738"/>
                  </a:lnTo>
                  <a:close/>
                </a:path>
                <a:path w="5929630" h="280035">
                  <a:moveTo>
                    <a:pt x="5252364" y="104317"/>
                  </a:moveTo>
                  <a:lnTo>
                    <a:pt x="5251767" y="94602"/>
                  </a:lnTo>
                  <a:lnTo>
                    <a:pt x="5250700" y="89484"/>
                  </a:lnTo>
                  <a:lnTo>
                    <a:pt x="5249951" y="85813"/>
                  </a:lnTo>
                  <a:lnTo>
                    <a:pt x="5249303" y="84150"/>
                  </a:lnTo>
                  <a:lnTo>
                    <a:pt x="5249227" y="83947"/>
                  </a:lnTo>
                  <a:lnTo>
                    <a:pt x="5246916" y="77978"/>
                  </a:lnTo>
                  <a:lnTo>
                    <a:pt x="5215585" y="58115"/>
                  </a:lnTo>
                  <a:lnTo>
                    <a:pt x="5207317" y="58115"/>
                  </a:lnTo>
                  <a:lnTo>
                    <a:pt x="5200713" y="60401"/>
                  </a:lnTo>
                  <a:lnTo>
                    <a:pt x="5199862" y="60947"/>
                  </a:lnTo>
                  <a:lnTo>
                    <a:pt x="5189156" y="70116"/>
                  </a:lnTo>
                  <a:lnTo>
                    <a:pt x="5188851" y="71043"/>
                  </a:lnTo>
                  <a:lnTo>
                    <a:pt x="5188293" y="69494"/>
                  </a:lnTo>
                  <a:lnTo>
                    <a:pt x="5187429" y="68783"/>
                  </a:lnTo>
                  <a:lnTo>
                    <a:pt x="5187429" y="77978"/>
                  </a:lnTo>
                  <a:lnTo>
                    <a:pt x="5187175" y="76263"/>
                  </a:lnTo>
                  <a:lnTo>
                    <a:pt x="5187289" y="75895"/>
                  </a:lnTo>
                  <a:lnTo>
                    <a:pt x="5187315" y="76263"/>
                  </a:lnTo>
                  <a:lnTo>
                    <a:pt x="5187429" y="77978"/>
                  </a:lnTo>
                  <a:lnTo>
                    <a:pt x="5187429" y="68783"/>
                  </a:lnTo>
                  <a:lnTo>
                    <a:pt x="5182895" y="64973"/>
                  </a:lnTo>
                  <a:lnTo>
                    <a:pt x="5177536" y="60401"/>
                  </a:lnTo>
                  <a:lnTo>
                    <a:pt x="5170932" y="58115"/>
                  </a:lnTo>
                  <a:lnTo>
                    <a:pt x="5154815" y="58115"/>
                  </a:lnTo>
                  <a:lnTo>
                    <a:pt x="5148313" y="60401"/>
                  </a:lnTo>
                  <a:lnTo>
                    <a:pt x="5148072" y="60401"/>
                  </a:lnTo>
                  <a:lnTo>
                    <a:pt x="5140998" y="66560"/>
                  </a:lnTo>
                  <a:lnTo>
                    <a:pt x="5142027" y="60947"/>
                  </a:lnTo>
                  <a:lnTo>
                    <a:pt x="5136134" y="60947"/>
                  </a:lnTo>
                  <a:lnTo>
                    <a:pt x="5136134" y="83604"/>
                  </a:lnTo>
                  <a:lnTo>
                    <a:pt x="5134749" y="76263"/>
                  </a:lnTo>
                  <a:lnTo>
                    <a:pt x="5134876" y="75895"/>
                  </a:lnTo>
                  <a:lnTo>
                    <a:pt x="5134915" y="76263"/>
                  </a:lnTo>
                  <a:lnTo>
                    <a:pt x="5135080" y="77978"/>
                  </a:lnTo>
                  <a:lnTo>
                    <a:pt x="5136134" y="83604"/>
                  </a:lnTo>
                  <a:lnTo>
                    <a:pt x="5136134" y="60947"/>
                  </a:lnTo>
                  <a:lnTo>
                    <a:pt x="5107813" y="60947"/>
                  </a:lnTo>
                  <a:lnTo>
                    <a:pt x="5107813" y="228790"/>
                  </a:lnTo>
                  <a:lnTo>
                    <a:pt x="5143131" y="228790"/>
                  </a:lnTo>
                  <a:lnTo>
                    <a:pt x="5143131" y="98628"/>
                  </a:lnTo>
                  <a:lnTo>
                    <a:pt x="5143995" y="94983"/>
                  </a:lnTo>
                  <a:lnTo>
                    <a:pt x="5147449" y="90601"/>
                  </a:lnTo>
                  <a:lnTo>
                    <a:pt x="5149951" y="89484"/>
                  </a:lnTo>
                  <a:lnTo>
                    <a:pt x="5156593" y="89484"/>
                  </a:lnTo>
                  <a:lnTo>
                    <a:pt x="5159095" y="90601"/>
                  </a:lnTo>
                  <a:lnTo>
                    <a:pt x="5162753" y="94983"/>
                  </a:lnTo>
                  <a:lnTo>
                    <a:pt x="5163883" y="98628"/>
                  </a:lnTo>
                  <a:lnTo>
                    <a:pt x="5163985" y="228790"/>
                  </a:lnTo>
                  <a:lnTo>
                    <a:pt x="5196192" y="228790"/>
                  </a:lnTo>
                  <a:lnTo>
                    <a:pt x="5196217" y="98628"/>
                  </a:lnTo>
                  <a:lnTo>
                    <a:pt x="5197233" y="94983"/>
                  </a:lnTo>
                  <a:lnTo>
                    <a:pt x="5200980" y="90601"/>
                  </a:lnTo>
                  <a:lnTo>
                    <a:pt x="5203507" y="89484"/>
                  </a:lnTo>
                  <a:lnTo>
                    <a:pt x="5210162" y="89484"/>
                  </a:lnTo>
                  <a:lnTo>
                    <a:pt x="5212600" y="90601"/>
                  </a:lnTo>
                  <a:lnTo>
                    <a:pt x="5215953" y="94983"/>
                  </a:lnTo>
                  <a:lnTo>
                    <a:pt x="5216969" y="98628"/>
                  </a:lnTo>
                  <a:lnTo>
                    <a:pt x="5217045" y="228790"/>
                  </a:lnTo>
                  <a:lnTo>
                    <a:pt x="5252364" y="228790"/>
                  </a:lnTo>
                  <a:lnTo>
                    <a:pt x="5252364" y="104317"/>
                  </a:lnTo>
                  <a:close/>
                </a:path>
                <a:path w="5929630" h="280035">
                  <a:moveTo>
                    <a:pt x="5416359" y="121907"/>
                  </a:moveTo>
                  <a:lnTo>
                    <a:pt x="5401119" y="75565"/>
                  </a:lnTo>
                  <a:lnTo>
                    <a:pt x="5379097" y="61277"/>
                  </a:lnTo>
                  <a:lnTo>
                    <a:pt x="5379097" y="112991"/>
                  </a:lnTo>
                  <a:lnTo>
                    <a:pt x="5379097" y="176745"/>
                  </a:lnTo>
                  <a:lnTo>
                    <a:pt x="5376710" y="184645"/>
                  </a:lnTo>
                  <a:lnTo>
                    <a:pt x="5367286" y="194983"/>
                  </a:lnTo>
                  <a:lnTo>
                    <a:pt x="5360276" y="197688"/>
                  </a:lnTo>
                  <a:lnTo>
                    <a:pt x="5342318" y="197688"/>
                  </a:lnTo>
                  <a:lnTo>
                    <a:pt x="5335333" y="194983"/>
                  </a:lnTo>
                  <a:lnTo>
                    <a:pt x="5334432" y="194017"/>
                  </a:lnTo>
                  <a:lnTo>
                    <a:pt x="5330266" y="189585"/>
                  </a:lnTo>
                  <a:lnTo>
                    <a:pt x="5325224" y="184137"/>
                  </a:lnTo>
                  <a:lnTo>
                    <a:pt x="5322849" y="176745"/>
                  </a:lnTo>
                  <a:lnTo>
                    <a:pt x="5322849" y="112991"/>
                  </a:lnTo>
                  <a:lnTo>
                    <a:pt x="5342318" y="92049"/>
                  </a:lnTo>
                  <a:lnTo>
                    <a:pt x="5360276" y="92049"/>
                  </a:lnTo>
                  <a:lnTo>
                    <a:pt x="5367198" y="94665"/>
                  </a:lnTo>
                  <a:lnTo>
                    <a:pt x="5376710" y="105092"/>
                  </a:lnTo>
                  <a:lnTo>
                    <a:pt x="5379097" y="112991"/>
                  </a:lnTo>
                  <a:lnTo>
                    <a:pt x="5379097" y="61277"/>
                  </a:lnTo>
                  <a:lnTo>
                    <a:pt x="5372138" y="59207"/>
                  </a:lnTo>
                  <a:lnTo>
                    <a:pt x="5359705" y="58115"/>
                  </a:lnTo>
                  <a:lnTo>
                    <a:pt x="5350319" y="58737"/>
                  </a:lnTo>
                  <a:lnTo>
                    <a:pt x="5320500" y="75018"/>
                  </a:lnTo>
                  <a:lnTo>
                    <a:pt x="5322709" y="60947"/>
                  </a:lnTo>
                  <a:lnTo>
                    <a:pt x="5316271" y="60947"/>
                  </a:lnTo>
                  <a:lnTo>
                    <a:pt x="5316271" y="194017"/>
                  </a:lnTo>
                  <a:lnTo>
                    <a:pt x="5316232" y="194983"/>
                  </a:lnTo>
                  <a:lnTo>
                    <a:pt x="5316118" y="197688"/>
                  </a:lnTo>
                  <a:lnTo>
                    <a:pt x="5315915" y="202298"/>
                  </a:lnTo>
                  <a:lnTo>
                    <a:pt x="5316271" y="194017"/>
                  </a:lnTo>
                  <a:lnTo>
                    <a:pt x="5316271" y="60947"/>
                  </a:lnTo>
                  <a:lnTo>
                    <a:pt x="5285448" y="60947"/>
                  </a:lnTo>
                  <a:lnTo>
                    <a:pt x="5285448" y="279831"/>
                  </a:lnTo>
                  <a:lnTo>
                    <a:pt x="5322709" y="279831"/>
                  </a:lnTo>
                  <a:lnTo>
                    <a:pt x="5322506" y="227266"/>
                  </a:lnTo>
                  <a:lnTo>
                    <a:pt x="5320512" y="214807"/>
                  </a:lnTo>
                  <a:lnTo>
                    <a:pt x="5321173" y="215988"/>
                  </a:lnTo>
                  <a:lnTo>
                    <a:pt x="5359705" y="231622"/>
                  </a:lnTo>
                  <a:lnTo>
                    <a:pt x="5372138" y="230530"/>
                  </a:lnTo>
                  <a:lnTo>
                    <a:pt x="5407787" y="204711"/>
                  </a:lnTo>
                  <a:lnTo>
                    <a:pt x="5410847" y="197688"/>
                  </a:lnTo>
                  <a:lnTo>
                    <a:pt x="5412549" y="193789"/>
                  </a:lnTo>
                  <a:lnTo>
                    <a:pt x="5415407" y="181406"/>
                  </a:lnTo>
                  <a:lnTo>
                    <a:pt x="5416359" y="167551"/>
                  </a:lnTo>
                  <a:lnTo>
                    <a:pt x="5416359" y="121907"/>
                  </a:lnTo>
                  <a:close/>
                </a:path>
                <a:path w="5929630" h="280035">
                  <a:moveTo>
                    <a:pt x="5586577" y="123291"/>
                  </a:moveTo>
                  <a:lnTo>
                    <a:pt x="5576494" y="85280"/>
                  </a:lnTo>
                  <a:lnTo>
                    <a:pt x="5549316" y="63309"/>
                  </a:lnTo>
                  <a:lnTo>
                    <a:pt x="5549316" y="113220"/>
                  </a:lnTo>
                  <a:lnTo>
                    <a:pt x="5549316" y="176517"/>
                  </a:lnTo>
                  <a:lnTo>
                    <a:pt x="5546864" y="184264"/>
                  </a:lnTo>
                  <a:lnTo>
                    <a:pt x="5537124" y="194564"/>
                  </a:lnTo>
                  <a:lnTo>
                    <a:pt x="5529986" y="197129"/>
                  </a:lnTo>
                  <a:lnTo>
                    <a:pt x="5511101" y="197129"/>
                  </a:lnTo>
                  <a:lnTo>
                    <a:pt x="5503951" y="194564"/>
                  </a:lnTo>
                  <a:lnTo>
                    <a:pt x="5494248" y="184264"/>
                  </a:lnTo>
                  <a:lnTo>
                    <a:pt x="5491823" y="176517"/>
                  </a:lnTo>
                  <a:lnTo>
                    <a:pt x="5491823" y="113220"/>
                  </a:lnTo>
                  <a:lnTo>
                    <a:pt x="5494248" y="105486"/>
                  </a:lnTo>
                  <a:lnTo>
                    <a:pt x="5503951" y="95186"/>
                  </a:lnTo>
                  <a:lnTo>
                    <a:pt x="5511101" y="92608"/>
                  </a:lnTo>
                  <a:lnTo>
                    <a:pt x="5529986" y="92608"/>
                  </a:lnTo>
                  <a:lnTo>
                    <a:pt x="5537124" y="95186"/>
                  </a:lnTo>
                  <a:lnTo>
                    <a:pt x="5541975" y="100368"/>
                  </a:lnTo>
                  <a:lnTo>
                    <a:pt x="5546864" y="105486"/>
                  </a:lnTo>
                  <a:lnTo>
                    <a:pt x="5549316" y="63309"/>
                  </a:lnTo>
                  <a:lnTo>
                    <a:pt x="5520575" y="58115"/>
                  </a:lnTo>
                  <a:lnTo>
                    <a:pt x="5506212" y="59207"/>
                  </a:lnTo>
                  <a:lnTo>
                    <a:pt x="5464556" y="85280"/>
                  </a:lnTo>
                  <a:lnTo>
                    <a:pt x="5454510" y="123291"/>
                  </a:lnTo>
                  <a:lnTo>
                    <a:pt x="5454485" y="166166"/>
                  </a:lnTo>
                  <a:lnTo>
                    <a:pt x="5455602" y="180505"/>
                  </a:lnTo>
                  <a:lnTo>
                    <a:pt x="5482107" y="221729"/>
                  </a:lnTo>
                  <a:lnTo>
                    <a:pt x="5520575" y="231622"/>
                  </a:lnTo>
                  <a:lnTo>
                    <a:pt x="5534901" y="230530"/>
                  </a:lnTo>
                  <a:lnTo>
                    <a:pt x="5576494" y="204444"/>
                  </a:lnTo>
                  <a:lnTo>
                    <a:pt x="5586577" y="166166"/>
                  </a:lnTo>
                  <a:lnTo>
                    <a:pt x="5586577" y="123291"/>
                  </a:lnTo>
                  <a:close/>
                </a:path>
                <a:path w="5929630" h="280035">
                  <a:moveTo>
                    <a:pt x="5763044" y="121348"/>
                  </a:moveTo>
                  <a:lnTo>
                    <a:pt x="5762028" y="107696"/>
                  </a:lnTo>
                  <a:lnTo>
                    <a:pt x="5758967" y="95478"/>
                  </a:lnTo>
                  <a:lnTo>
                    <a:pt x="5757088" y="91503"/>
                  </a:lnTo>
                  <a:lnTo>
                    <a:pt x="5753887" y="84696"/>
                  </a:lnTo>
                  <a:lnTo>
                    <a:pt x="5716194" y="59194"/>
                  </a:lnTo>
                  <a:lnTo>
                    <a:pt x="5703265" y="58115"/>
                  </a:lnTo>
                  <a:lnTo>
                    <a:pt x="5686425" y="60401"/>
                  </a:lnTo>
                  <a:lnTo>
                    <a:pt x="5673966" y="67259"/>
                  </a:lnTo>
                  <a:lnTo>
                    <a:pt x="5665851" y="78689"/>
                  </a:lnTo>
                  <a:lnTo>
                    <a:pt x="5662117" y="94678"/>
                  </a:lnTo>
                  <a:lnTo>
                    <a:pt x="5662206" y="94195"/>
                  </a:lnTo>
                  <a:lnTo>
                    <a:pt x="5668010" y="60947"/>
                  </a:lnTo>
                  <a:lnTo>
                    <a:pt x="5631294" y="60947"/>
                  </a:lnTo>
                  <a:lnTo>
                    <a:pt x="5631294" y="228790"/>
                  </a:lnTo>
                  <a:lnTo>
                    <a:pt x="5668556" y="228790"/>
                  </a:lnTo>
                  <a:lnTo>
                    <a:pt x="5668619" y="112991"/>
                  </a:lnTo>
                  <a:lnTo>
                    <a:pt x="5671070" y="105232"/>
                  </a:lnTo>
                  <a:lnTo>
                    <a:pt x="5680786" y="94678"/>
                  </a:lnTo>
                  <a:lnTo>
                    <a:pt x="5681307" y="94195"/>
                  </a:lnTo>
                  <a:lnTo>
                    <a:pt x="5688254" y="91503"/>
                  </a:lnTo>
                  <a:lnTo>
                    <a:pt x="5706542" y="91503"/>
                  </a:lnTo>
                  <a:lnTo>
                    <a:pt x="5713577" y="94195"/>
                  </a:lnTo>
                  <a:lnTo>
                    <a:pt x="5723331" y="105003"/>
                  </a:lnTo>
                  <a:lnTo>
                    <a:pt x="5723394" y="105232"/>
                  </a:lnTo>
                  <a:lnTo>
                    <a:pt x="5725769" y="112991"/>
                  </a:lnTo>
                  <a:lnTo>
                    <a:pt x="5725769" y="136588"/>
                  </a:lnTo>
                  <a:lnTo>
                    <a:pt x="5763044" y="136588"/>
                  </a:lnTo>
                  <a:lnTo>
                    <a:pt x="5763044" y="121348"/>
                  </a:lnTo>
                  <a:close/>
                </a:path>
                <a:path w="5929630" h="280035">
                  <a:moveTo>
                    <a:pt x="5929312" y="60947"/>
                  </a:moveTo>
                  <a:lnTo>
                    <a:pt x="5866904" y="60947"/>
                  </a:lnTo>
                  <a:lnTo>
                    <a:pt x="5866904" y="18415"/>
                  </a:lnTo>
                  <a:lnTo>
                    <a:pt x="5829566" y="18415"/>
                  </a:lnTo>
                  <a:lnTo>
                    <a:pt x="5829566" y="60947"/>
                  </a:lnTo>
                  <a:lnTo>
                    <a:pt x="5785586" y="60947"/>
                  </a:lnTo>
                  <a:lnTo>
                    <a:pt x="5785586" y="95999"/>
                  </a:lnTo>
                  <a:lnTo>
                    <a:pt x="5829566" y="95999"/>
                  </a:lnTo>
                  <a:lnTo>
                    <a:pt x="5829566" y="181749"/>
                  </a:lnTo>
                  <a:lnTo>
                    <a:pt x="5830379" y="192201"/>
                  </a:lnTo>
                  <a:lnTo>
                    <a:pt x="5857913" y="225666"/>
                  </a:lnTo>
                  <a:lnTo>
                    <a:pt x="5878055" y="228790"/>
                  </a:lnTo>
                  <a:lnTo>
                    <a:pt x="5926467" y="228790"/>
                  </a:lnTo>
                  <a:lnTo>
                    <a:pt x="5926467" y="193738"/>
                  </a:lnTo>
                  <a:lnTo>
                    <a:pt x="5873902" y="193738"/>
                  </a:lnTo>
                  <a:lnTo>
                    <a:pt x="5870994" y="192862"/>
                  </a:lnTo>
                  <a:lnTo>
                    <a:pt x="5867717" y="189344"/>
                  </a:lnTo>
                  <a:lnTo>
                    <a:pt x="5866904" y="186232"/>
                  </a:lnTo>
                  <a:lnTo>
                    <a:pt x="5866904" y="95999"/>
                  </a:lnTo>
                  <a:lnTo>
                    <a:pt x="5929312" y="95999"/>
                  </a:lnTo>
                  <a:lnTo>
                    <a:pt x="5929312" y="60947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0433" y="1231327"/>
            <a:ext cx="12281535" cy="4733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090670" indent="850265">
              <a:lnSpc>
                <a:spcPct val="140400"/>
              </a:lnSpc>
              <a:spcBef>
                <a:spcPts val="90"/>
              </a:spcBef>
              <a:tabLst>
                <a:tab pos="6139815" algn="l"/>
              </a:tabLst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GridSearchCV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steps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[(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'scaler'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StandardScaler()),</a:t>
            </a:r>
            <a:endParaRPr sz="2200">
              <a:latin typeface="Courier New"/>
              <a:cs typeface="Courier New"/>
            </a:endParaRPr>
          </a:p>
          <a:p>
            <a:pPr marL="12700" marR="5281930" indent="1531620">
              <a:lnSpc>
                <a:spcPct val="140400"/>
              </a:lnSpc>
              <a:spcBef>
                <a:spcPts val="5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200" dirty="0">
                <a:solidFill>
                  <a:srgbClr val="BE2F72"/>
                </a:solidFill>
                <a:latin typeface="Courier New"/>
                <a:cs typeface="Courier New"/>
              </a:rPr>
              <a:t>'knn'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spc="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KNeighborsClassifier())]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pipeline</a:t>
            </a:r>
            <a:r>
              <a:rPr sz="22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Pipeline(steps)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3416300" algn="l"/>
              </a:tabLst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parameters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{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"knn</a:t>
            </a:r>
            <a:r>
              <a:rPr sz="2200" u="heavy" dirty="0">
                <a:solidFill>
                  <a:srgbClr val="BE2F72"/>
                </a:solidFill>
                <a:uFill>
                  <a:solidFill>
                    <a:srgbClr val="BD2E71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00" u="none" dirty="0">
                <a:solidFill>
                  <a:srgbClr val="BE2F72"/>
                </a:solidFill>
                <a:latin typeface="Courier New"/>
                <a:cs typeface="Courier New"/>
              </a:rPr>
              <a:t>n_neighbors"</a:t>
            </a:r>
            <a:r>
              <a:rPr sz="2200" u="none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200" u="none" spc="1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u="none" dirty="0">
                <a:solidFill>
                  <a:srgbClr val="04182D"/>
                </a:solidFill>
                <a:latin typeface="Courier New"/>
                <a:cs typeface="Courier New"/>
              </a:rPr>
              <a:t>np.arange(</a:t>
            </a:r>
            <a:r>
              <a:rPr sz="2200" u="none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00" u="none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00" u="none" spc="1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u="none" spc="-20" dirty="0">
                <a:solidFill>
                  <a:srgbClr val="BE2F72"/>
                </a:solidFill>
                <a:latin typeface="Courier New"/>
                <a:cs typeface="Courier New"/>
              </a:rPr>
              <a:t>50</a:t>
            </a:r>
            <a:r>
              <a:rPr sz="2200" u="none" spc="-20" dirty="0">
                <a:solidFill>
                  <a:srgbClr val="04182D"/>
                </a:solidFill>
                <a:latin typeface="Courier New"/>
                <a:cs typeface="Courier New"/>
              </a:rPr>
              <a:t>)}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X_test,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y_test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train_test_split(X,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y,</a:t>
            </a:r>
            <a:r>
              <a:rPr sz="2200" spc="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0.2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00">
              <a:latin typeface="Courier New"/>
              <a:cs typeface="Courier New"/>
            </a:endParaRPr>
          </a:p>
          <a:p>
            <a:pPr marL="8863965">
              <a:lnSpc>
                <a:spcPct val="100000"/>
              </a:lnSpc>
              <a:spcBef>
                <a:spcPts val="1065"/>
              </a:spcBef>
            </a:pP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00" spc="-10" dirty="0">
                <a:solidFill>
                  <a:srgbClr val="BE2F72"/>
                </a:solidFill>
                <a:latin typeface="Courier New"/>
                <a:cs typeface="Courier New"/>
              </a:rPr>
              <a:t>21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00">
              <a:latin typeface="Courier New"/>
              <a:cs typeface="Courier New"/>
            </a:endParaRPr>
          </a:p>
          <a:p>
            <a:pPr marL="12700" marR="3749675">
              <a:lnSpc>
                <a:spcPct val="140400"/>
              </a:lnSpc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cv</a:t>
            </a:r>
            <a:r>
              <a:rPr sz="2200" spc="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GridSearchCV(pipeline,</a:t>
            </a:r>
            <a:r>
              <a:rPr sz="2200" spc="9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param_grid=parameters)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cv.fit(X_train,</a:t>
            </a:r>
            <a:r>
              <a:rPr sz="2200" spc="1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y_pred</a:t>
            </a:r>
            <a:r>
              <a:rPr sz="2200" spc="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00" spc="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4182D"/>
                </a:solidFill>
                <a:latin typeface="Courier New"/>
                <a:cs typeface="Courier New"/>
              </a:rPr>
              <a:t>cv.predict(X_test)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B07C336-3762-2F68-938A-1B39E93C3A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Checking</a:t>
            </a:r>
            <a:r>
              <a:rPr spc="-155" dirty="0"/>
              <a:t> </a:t>
            </a:r>
            <a:r>
              <a:rPr spc="-225" dirty="0"/>
              <a:t>model</a:t>
            </a:r>
            <a:r>
              <a:rPr spc="-150" dirty="0"/>
              <a:t> </a:t>
            </a:r>
            <a:r>
              <a:rPr spc="-180" dirty="0"/>
              <a:t>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788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49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295709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9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40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4360169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379263"/>
            <a:ext cx="363664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(cv.best_score_)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2443723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0.8199999999999999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352" y="3508183"/>
            <a:ext cx="38080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(cv.best_params_)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4572643"/>
            <a:ext cx="415226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16025" algn="l"/>
              </a:tabLst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{'knn</a:t>
            </a:r>
            <a:r>
              <a:rPr sz="2250" u="heavy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50" u="none" dirty="0">
                <a:solidFill>
                  <a:srgbClr val="FFFFFF"/>
                </a:solidFill>
                <a:latin typeface="Courier New"/>
                <a:cs typeface="Courier New"/>
              </a:rPr>
              <a:t>n_neighbors': </a:t>
            </a:r>
            <a:r>
              <a:rPr sz="2250" u="none" spc="-25" dirty="0">
                <a:solidFill>
                  <a:srgbClr val="FFFFFF"/>
                </a:solidFill>
                <a:latin typeface="Courier New"/>
                <a:cs typeface="Courier New"/>
              </a:rPr>
              <a:t>12}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8F45D07D-5319-97BA-849A-5431DBCAD0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43840" marR="174625" algn="ctr">
              <a:lnSpc>
                <a:spcPts val="6770"/>
              </a:lnSpc>
              <a:spcBef>
                <a:spcPts val="1130"/>
              </a:spcBef>
            </a:pPr>
            <a:r>
              <a:rPr spc="-345" dirty="0"/>
              <a:t>Evaluating</a:t>
            </a:r>
            <a:r>
              <a:rPr spc="-330" dirty="0"/>
              <a:t> </a:t>
            </a:r>
            <a:r>
              <a:rPr spc="-420" dirty="0"/>
              <a:t>multiple </a:t>
            </a:r>
            <a:r>
              <a:rPr spc="-390" dirty="0"/>
              <a:t>models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10"/>
            <a:ext cx="516445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B6C4BDA-ADE2-FE77-627D-7C9D6EE45F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35" dirty="0"/>
              <a:t>Different</a:t>
            </a:r>
            <a:r>
              <a:rPr spc="-114" dirty="0"/>
              <a:t> </a:t>
            </a:r>
            <a:r>
              <a:rPr spc="-235" dirty="0"/>
              <a:t>models</a:t>
            </a:r>
            <a:r>
              <a:rPr spc="-110" dirty="0"/>
              <a:t> </a:t>
            </a:r>
            <a:r>
              <a:rPr spc="-215" dirty="0"/>
              <a:t>for</a:t>
            </a:r>
            <a:r>
              <a:rPr spc="-110" dirty="0"/>
              <a:t> </a:t>
            </a:r>
            <a:r>
              <a:rPr spc="-240" dirty="0"/>
              <a:t>different</a:t>
            </a:r>
            <a:r>
              <a:rPr spc="-110" dirty="0"/>
              <a:t> </a:t>
            </a:r>
            <a:r>
              <a:rPr spc="-185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37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650892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305944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32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4452286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5107339"/>
            <a:ext cx="122822" cy="1228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1759" y="5772626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9991" y="6253681"/>
            <a:ext cx="122822" cy="1228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9991" y="6908733"/>
            <a:ext cx="122822" cy="12282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78589" y="1174558"/>
            <a:ext cx="13188950" cy="5986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70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b="1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Tahoma"/>
                <a:cs typeface="Tahoma"/>
              </a:rPr>
              <a:t>guiding</a:t>
            </a:r>
            <a:r>
              <a:rPr sz="2550" b="1" spc="-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principles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</a:pP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Size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dataset</a:t>
            </a:r>
            <a:endParaRPr sz="2550">
              <a:latin typeface="Tahoma"/>
              <a:cs typeface="Tahoma"/>
            </a:endParaRPr>
          </a:p>
          <a:p>
            <a:pPr marL="749300">
              <a:lnSpc>
                <a:spcPct val="100000"/>
              </a:lnSpc>
              <a:spcBef>
                <a:spcPts val="810"/>
              </a:spcBef>
            </a:pP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Fewer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features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simpler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model,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faster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time</a:t>
            </a:r>
            <a:endParaRPr sz="2550">
              <a:latin typeface="Tahoma"/>
              <a:cs typeface="Tahoma"/>
            </a:endParaRPr>
          </a:p>
          <a:p>
            <a:pPr marL="381000" marR="3265804" indent="368300">
              <a:lnSpc>
                <a:spcPts val="5160"/>
              </a:lnSpc>
              <a:spcBef>
                <a:spcPts val="520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require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large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amounts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perform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well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Interpretability</a:t>
            </a:r>
            <a:endParaRPr sz="2550">
              <a:latin typeface="Tahoma"/>
              <a:cs typeface="Tahoma"/>
            </a:endParaRPr>
          </a:p>
          <a:p>
            <a:pPr marL="749300">
              <a:lnSpc>
                <a:spcPct val="100000"/>
              </a:lnSpc>
              <a:spcBef>
                <a:spcPts val="285"/>
              </a:spcBef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Some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easier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explain,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which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important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stakeholders</a:t>
            </a:r>
            <a:endParaRPr sz="2550">
              <a:latin typeface="Tahoma"/>
              <a:cs typeface="Tahoma"/>
            </a:endParaRPr>
          </a:p>
          <a:p>
            <a:pPr marL="381000" marR="5080" indent="368300">
              <a:lnSpc>
                <a:spcPts val="5160"/>
              </a:lnSpc>
              <a:spcBef>
                <a:spcPts val="520"/>
              </a:spcBef>
            </a:pP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Linear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has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interpretability,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as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understand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coefficients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Flexibility</a:t>
            </a:r>
            <a:endParaRPr sz="2550">
              <a:latin typeface="Tahoma"/>
              <a:cs typeface="Tahoma"/>
            </a:endParaRPr>
          </a:p>
          <a:p>
            <a:pPr marL="749300">
              <a:lnSpc>
                <a:spcPct val="100000"/>
              </a:lnSpc>
              <a:spcBef>
                <a:spcPts val="285"/>
              </a:spcBef>
            </a:pPr>
            <a:r>
              <a:rPr sz="2550" spc="254" dirty="0">
                <a:solidFill>
                  <a:srgbClr val="04182D"/>
                </a:solidFill>
                <a:latin typeface="Tahoma"/>
                <a:cs typeface="Tahoma"/>
              </a:rPr>
              <a:t>May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improve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accuracy,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making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fewer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assumptions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about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endParaRPr sz="2550">
              <a:latin typeface="Tahoma"/>
              <a:cs typeface="Tahoma"/>
            </a:endParaRPr>
          </a:p>
          <a:p>
            <a:pPr marL="749300">
              <a:lnSpc>
                <a:spcPct val="100000"/>
              </a:lnSpc>
              <a:spcBef>
                <a:spcPts val="2095"/>
              </a:spcBef>
            </a:pP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KNN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more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flexible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model,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doesn't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assume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any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linear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relationships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9DAF605-EEEB-CE47-7D5A-5322562424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527431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0" dirty="0"/>
              <a:t>It's</a:t>
            </a:r>
            <a:r>
              <a:rPr spc="-165" dirty="0"/>
              <a:t> </a:t>
            </a:r>
            <a:r>
              <a:rPr spc="-140" dirty="0"/>
              <a:t>all</a:t>
            </a:r>
            <a:r>
              <a:rPr spc="-160" dirty="0"/>
              <a:t> </a:t>
            </a:r>
            <a:r>
              <a:rPr spc="-265" dirty="0"/>
              <a:t>in</a:t>
            </a:r>
            <a:r>
              <a:rPr spc="-160" dirty="0"/>
              <a:t> </a:t>
            </a:r>
            <a:r>
              <a:rPr spc="-229" dirty="0"/>
              <a:t>the</a:t>
            </a:r>
            <a:r>
              <a:rPr spc="-160" dirty="0"/>
              <a:t> </a:t>
            </a:r>
            <a:r>
              <a:rPr spc="-165" dirty="0"/>
              <a:t>metrics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076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28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1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633470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4288523"/>
            <a:ext cx="122822" cy="1228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9991" y="4943575"/>
            <a:ext cx="122822" cy="1228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9991" y="5598628"/>
            <a:ext cx="122822" cy="12282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7056" y="1076300"/>
            <a:ext cx="9601835" cy="542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4725670" indent="-368935">
              <a:lnSpc>
                <a:spcPct val="126400"/>
              </a:lnSpc>
              <a:spcBef>
                <a:spcPts val="95"/>
              </a:spcBef>
            </a:pP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performance: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RMSE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R-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squared</a:t>
            </a:r>
            <a:endParaRPr sz="2550">
              <a:latin typeface="Tahoma"/>
              <a:cs typeface="Tahoma"/>
            </a:endParaRPr>
          </a:p>
          <a:p>
            <a:pPr marL="381000" marR="4295775" indent="-368935">
              <a:lnSpc>
                <a:spcPct val="126400"/>
              </a:lnSpc>
              <a:spcBef>
                <a:spcPts val="1290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Classification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performance: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Accuracy</a:t>
            </a:r>
            <a:endParaRPr sz="2550">
              <a:latin typeface="Tahoma"/>
              <a:cs typeface="Tahoma"/>
            </a:endParaRPr>
          </a:p>
          <a:p>
            <a:pPr marL="381000" marR="5371465">
              <a:lnSpc>
                <a:spcPts val="5160"/>
              </a:lnSpc>
              <a:spcBef>
                <a:spcPts val="520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Confusion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matrix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Precision,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recall,</a:t>
            </a:r>
            <a:r>
              <a:rPr sz="2550" spc="-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14" dirty="0">
                <a:solidFill>
                  <a:srgbClr val="04182D"/>
                </a:solidFill>
                <a:latin typeface="Tahoma"/>
                <a:cs typeface="Tahoma"/>
              </a:rPr>
              <a:t>F1-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score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ROC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90" dirty="0">
                <a:solidFill>
                  <a:srgbClr val="04182D"/>
                </a:solidFill>
                <a:latin typeface="Tahoma"/>
                <a:cs typeface="Tahoma"/>
              </a:rPr>
              <a:t>AUC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Train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several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evaluate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performance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out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box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1759" y="6263916"/>
            <a:ext cx="102352" cy="102351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6C0C597A-3A1A-2C96-89A4-9DAB004CDA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A</a:t>
            </a:r>
            <a:r>
              <a:rPr spc="-165" dirty="0"/>
              <a:t> </a:t>
            </a:r>
            <a:r>
              <a:rPr spc="-250" dirty="0"/>
              <a:t>note</a:t>
            </a:r>
            <a:r>
              <a:rPr spc="-160" dirty="0"/>
              <a:t> </a:t>
            </a:r>
            <a:r>
              <a:rPr spc="-254" dirty="0"/>
              <a:t>on</a:t>
            </a:r>
            <a:r>
              <a:rPr spc="-160" dirty="0"/>
              <a:t> </a:t>
            </a:r>
            <a:r>
              <a:rPr spc="-125" dirty="0"/>
              <a:t>scaling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076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28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181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3797234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076300"/>
            <a:ext cx="6028690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1751330" indent="-368935">
              <a:lnSpc>
                <a:spcPct val="126400"/>
              </a:lnSpc>
              <a:spcBef>
                <a:spcPts val="95"/>
              </a:spcBef>
            </a:pP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affected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scaling: </a:t>
            </a:r>
            <a:r>
              <a:rPr sz="2550" spc="200" dirty="0">
                <a:solidFill>
                  <a:srgbClr val="04182D"/>
                </a:solidFill>
                <a:latin typeface="Tahoma"/>
                <a:cs typeface="Tahoma"/>
              </a:rPr>
              <a:t>KNN</a:t>
            </a:r>
            <a:endParaRPr sz="2550">
              <a:latin typeface="Tahoma"/>
              <a:cs typeface="Tahoma"/>
            </a:endParaRPr>
          </a:p>
          <a:p>
            <a:pPr marL="381000" marR="5080">
              <a:lnSpc>
                <a:spcPts val="5160"/>
              </a:lnSpc>
              <a:spcBef>
                <a:spcPts val="520"/>
              </a:spcBef>
            </a:pP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Linear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(plus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Ridge,</a:t>
            </a:r>
            <a:r>
              <a:rPr sz="2550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Tahoma"/>
                <a:cs typeface="Tahoma"/>
              </a:rPr>
              <a:t>Lasso)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-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157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Artificial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Neural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Network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281337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7056" y="5104874"/>
            <a:ext cx="7401559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Best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scale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our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before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evaluating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models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D8E80B1A-2878-F340-59FA-CBAEADA4A9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en-US" altLang="ko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Evaluating</a:t>
            </a:r>
            <a:r>
              <a:rPr spc="-85" dirty="0"/>
              <a:t> </a:t>
            </a:r>
            <a:r>
              <a:rPr spc="-185" dirty="0"/>
              <a:t>classification</a:t>
            </a:r>
            <a:r>
              <a:rPr spc="-85" dirty="0"/>
              <a:t> </a:t>
            </a:r>
            <a:r>
              <a:rPr spc="-145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8" cy="6222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01980" y="1231899"/>
            <a:ext cx="449643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3535">
              <a:lnSpc>
                <a:spcPct val="143300"/>
              </a:lnSpc>
              <a:spcBef>
                <a:spcPts val="95"/>
              </a:spcBef>
              <a:tabLst>
                <a:tab pos="396684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matplotlib.pyplot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plt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sklearn.preprocessing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1980" y="2214478"/>
            <a:ext cx="3980815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 sklearn.neighbors sklearn.linear_model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0442" y="1723188"/>
            <a:ext cx="7934959" cy="199072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</a:t>
            </a:r>
            <a:endParaRPr sz="2250">
              <a:latin typeface="Courier New"/>
              <a:cs typeface="Courier New"/>
            </a:endParaRPr>
          </a:p>
          <a:p>
            <a:pPr marL="12700" marR="5080" indent="103124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cross_val_score,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KFold,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train_test_split KNeighborsClassifier</a:t>
            </a:r>
            <a:endParaRPr sz="2250">
              <a:latin typeface="Courier New"/>
              <a:cs typeface="Courier New"/>
            </a:endParaRPr>
          </a:p>
          <a:p>
            <a:pPr marL="528320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LogisticRegression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3688346"/>
            <a:ext cx="12750165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265"/>
              </a:spcBef>
              <a:tabLst>
                <a:tab pos="4310380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sklearn.tree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DecisionTreeClassifier</a:t>
            </a:r>
            <a:endParaRPr sz="2250">
              <a:latin typeface="Courier New"/>
              <a:cs typeface="Courier New"/>
            </a:endParaRPr>
          </a:p>
          <a:p>
            <a:pPr marL="12700" marR="619569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music.drop(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axis=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).values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music[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"genre"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].values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X_test, y_train, y_test = train_test_split(X, y,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scaler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StandardScaler()</a:t>
            </a:r>
            <a:endParaRPr sz="2250">
              <a:latin typeface="Courier New"/>
              <a:cs typeface="Courier New"/>
            </a:endParaRPr>
          </a:p>
          <a:p>
            <a:pPr marL="12700" marR="481901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X_train_scaled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scaler.fit_transform(X_train)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X_test_scaled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scaler.transform(X_test)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2DB6C43-A8EB-D3AD-9927-137E6E8C11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35</a:t>
            </a:fld>
            <a:endParaRPr lang="en-US" altLang="ko-K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Evaluating</a:t>
            </a:r>
            <a:r>
              <a:rPr spc="-85" dirty="0"/>
              <a:t> </a:t>
            </a:r>
            <a:r>
              <a:rPr spc="-185" dirty="0"/>
              <a:t>classification</a:t>
            </a:r>
            <a:r>
              <a:rPr spc="-85" dirty="0"/>
              <a:t> </a:t>
            </a:r>
            <a:r>
              <a:rPr spc="-14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4544695"/>
            <a:chOff x="491289" y="1166812"/>
            <a:chExt cx="14575155" cy="454469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4544695"/>
            </a:xfrm>
            <a:custGeom>
              <a:avLst/>
              <a:gdLst/>
              <a:ahLst/>
              <a:cxnLst/>
              <a:rect l="l" t="t" r="r" b="b"/>
              <a:pathLst>
                <a:path w="14575155" h="4544695">
                  <a:moveTo>
                    <a:pt x="14498413" y="4544426"/>
                  </a:moveTo>
                  <a:lnTo>
                    <a:pt x="76505" y="4544426"/>
                  </a:lnTo>
                  <a:lnTo>
                    <a:pt x="71180" y="4543901"/>
                  </a:lnTo>
                  <a:lnTo>
                    <a:pt x="31920" y="4527639"/>
                  </a:lnTo>
                  <a:lnTo>
                    <a:pt x="4175" y="4488912"/>
                  </a:lnTo>
                  <a:lnTo>
                    <a:pt x="0" y="4467922"/>
                  </a:lnTo>
                  <a:lnTo>
                    <a:pt x="0" y="4462545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467922"/>
                  </a:lnTo>
                  <a:lnTo>
                    <a:pt x="14558132" y="4512505"/>
                  </a:lnTo>
                  <a:lnTo>
                    <a:pt x="14519404" y="4540250"/>
                  </a:lnTo>
                  <a:lnTo>
                    <a:pt x="14503737" y="4543901"/>
                  </a:lnTo>
                  <a:lnTo>
                    <a:pt x="14498413" y="4544426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4857" y="2848711"/>
              <a:ext cx="1950720" cy="224790"/>
            </a:xfrm>
            <a:custGeom>
              <a:avLst/>
              <a:gdLst/>
              <a:ahLst/>
              <a:cxnLst/>
              <a:rect l="l" t="t" r="r" b="b"/>
              <a:pathLst>
                <a:path w="1950720" h="224789">
                  <a:moveTo>
                    <a:pt x="142062" y="9601"/>
                  </a:moveTo>
                  <a:lnTo>
                    <a:pt x="89598" y="9601"/>
                  </a:lnTo>
                  <a:lnTo>
                    <a:pt x="79768" y="10337"/>
                  </a:lnTo>
                  <a:lnTo>
                    <a:pt x="47091" y="35255"/>
                  </a:lnTo>
                  <a:lnTo>
                    <a:pt x="43992" y="53263"/>
                  </a:lnTo>
                  <a:lnTo>
                    <a:pt x="43992" y="62128"/>
                  </a:lnTo>
                  <a:lnTo>
                    <a:pt x="0" y="62128"/>
                  </a:lnTo>
                  <a:lnTo>
                    <a:pt x="0" y="96113"/>
                  </a:lnTo>
                  <a:lnTo>
                    <a:pt x="43992" y="96113"/>
                  </a:lnTo>
                  <a:lnTo>
                    <a:pt x="43992" y="221856"/>
                  </a:lnTo>
                  <a:lnTo>
                    <a:pt x="80200" y="221856"/>
                  </a:lnTo>
                  <a:lnTo>
                    <a:pt x="80200" y="96113"/>
                  </a:lnTo>
                  <a:lnTo>
                    <a:pt x="142062" y="96113"/>
                  </a:lnTo>
                  <a:lnTo>
                    <a:pt x="142062" y="62128"/>
                  </a:lnTo>
                  <a:lnTo>
                    <a:pt x="80200" y="62128"/>
                  </a:lnTo>
                  <a:lnTo>
                    <a:pt x="80200" y="49809"/>
                  </a:lnTo>
                  <a:lnTo>
                    <a:pt x="80949" y="47459"/>
                  </a:lnTo>
                  <a:lnTo>
                    <a:pt x="84048" y="44373"/>
                  </a:lnTo>
                  <a:lnTo>
                    <a:pt x="86423" y="43586"/>
                  </a:lnTo>
                  <a:lnTo>
                    <a:pt x="142062" y="43586"/>
                  </a:lnTo>
                  <a:lnTo>
                    <a:pt x="142062" y="9601"/>
                  </a:lnTo>
                  <a:close/>
                </a:path>
                <a:path w="1950720" h="224789">
                  <a:moveTo>
                    <a:pt x="300786" y="119557"/>
                  </a:moveTo>
                  <a:lnTo>
                    <a:pt x="299694" y="105765"/>
                  </a:lnTo>
                  <a:lnTo>
                    <a:pt x="296430" y="93472"/>
                  </a:lnTo>
                  <a:lnTo>
                    <a:pt x="294576" y="89801"/>
                  </a:lnTo>
                  <a:lnTo>
                    <a:pt x="290995" y="82689"/>
                  </a:lnTo>
                  <a:lnTo>
                    <a:pt x="283387" y="73406"/>
                  </a:lnTo>
                  <a:lnTo>
                    <a:pt x="273977" y="65951"/>
                  </a:lnTo>
                  <a:lnTo>
                    <a:pt x="264642" y="61391"/>
                  </a:lnTo>
                  <a:lnTo>
                    <a:pt x="264642" y="109791"/>
                  </a:lnTo>
                  <a:lnTo>
                    <a:pt x="264642" y="171157"/>
                  </a:lnTo>
                  <a:lnTo>
                    <a:pt x="262280" y="178689"/>
                  </a:lnTo>
                  <a:lnTo>
                    <a:pt x="252831" y="188671"/>
                  </a:lnTo>
                  <a:lnTo>
                    <a:pt x="245910" y="191160"/>
                  </a:lnTo>
                  <a:lnTo>
                    <a:pt x="227596" y="191160"/>
                  </a:lnTo>
                  <a:lnTo>
                    <a:pt x="220649" y="188671"/>
                  </a:lnTo>
                  <a:lnTo>
                    <a:pt x="211251" y="178689"/>
                  </a:lnTo>
                  <a:lnTo>
                    <a:pt x="208902" y="171157"/>
                  </a:lnTo>
                  <a:lnTo>
                    <a:pt x="208902" y="109791"/>
                  </a:lnTo>
                  <a:lnTo>
                    <a:pt x="211251" y="102298"/>
                  </a:lnTo>
                  <a:lnTo>
                    <a:pt x="220649" y="92303"/>
                  </a:lnTo>
                  <a:lnTo>
                    <a:pt x="227596" y="89801"/>
                  </a:lnTo>
                  <a:lnTo>
                    <a:pt x="245910" y="89801"/>
                  </a:lnTo>
                  <a:lnTo>
                    <a:pt x="252831" y="92303"/>
                  </a:lnTo>
                  <a:lnTo>
                    <a:pt x="257530" y="97320"/>
                  </a:lnTo>
                  <a:lnTo>
                    <a:pt x="262280" y="102298"/>
                  </a:lnTo>
                  <a:lnTo>
                    <a:pt x="264642" y="61391"/>
                  </a:lnTo>
                  <a:lnTo>
                    <a:pt x="236778" y="56349"/>
                  </a:lnTo>
                  <a:lnTo>
                    <a:pt x="222846" y="57416"/>
                  </a:lnTo>
                  <a:lnTo>
                    <a:pt x="182460" y="82689"/>
                  </a:lnTo>
                  <a:lnTo>
                    <a:pt x="172720" y="119557"/>
                  </a:lnTo>
                  <a:lnTo>
                    <a:pt x="172694" y="161137"/>
                  </a:lnTo>
                  <a:lnTo>
                    <a:pt x="173774" y="175044"/>
                  </a:lnTo>
                  <a:lnTo>
                    <a:pt x="199466" y="215011"/>
                  </a:lnTo>
                  <a:lnTo>
                    <a:pt x="236778" y="224612"/>
                  </a:lnTo>
                  <a:lnTo>
                    <a:pt x="250672" y="223545"/>
                  </a:lnTo>
                  <a:lnTo>
                    <a:pt x="290995" y="198247"/>
                  </a:lnTo>
                  <a:lnTo>
                    <a:pt x="300786" y="161137"/>
                  </a:lnTo>
                  <a:lnTo>
                    <a:pt x="300786" y="119557"/>
                  </a:lnTo>
                  <a:close/>
                </a:path>
                <a:path w="1950720" h="224789">
                  <a:moveTo>
                    <a:pt x="471868" y="117678"/>
                  </a:moveTo>
                  <a:lnTo>
                    <a:pt x="470890" y="104432"/>
                  </a:lnTo>
                  <a:lnTo>
                    <a:pt x="467931" y="92583"/>
                  </a:lnTo>
                  <a:lnTo>
                    <a:pt x="466102" y="88722"/>
                  </a:lnTo>
                  <a:lnTo>
                    <a:pt x="462991" y="82130"/>
                  </a:lnTo>
                  <a:lnTo>
                    <a:pt x="426440" y="57391"/>
                  </a:lnTo>
                  <a:lnTo>
                    <a:pt x="413905" y="56349"/>
                  </a:lnTo>
                  <a:lnTo>
                    <a:pt x="397586" y="58572"/>
                  </a:lnTo>
                  <a:lnTo>
                    <a:pt x="385495" y="65214"/>
                  </a:lnTo>
                  <a:lnTo>
                    <a:pt x="377634" y="76301"/>
                  </a:lnTo>
                  <a:lnTo>
                    <a:pt x="374002" y="91821"/>
                  </a:lnTo>
                  <a:lnTo>
                    <a:pt x="374091" y="91351"/>
                  </a:lnTo>
                  <a:lnTo>
                    <a:pt x="379717" y="59105"/>
                  </a:lnTo>
                  <a:lnTo>
                    <a:pt x="344119" y="59105"/>
                  </a:lnTo>
                  <a:lnTo>
                    <a:pt x="344119" y="221856"/>
                  </a:lnTo>
                  <a:lnTo>
                    <a:pt x="380250" y="221856"/>
                  </a:lnTo>
                  <a:lnTo>
                    <a:pt x="380314" y="109575"/>
                  </a:lnTo>
                  <a:lnTo>
                    <a:pt x="382701" y="102044"/>
                  </a:lnTo>
                  <a:lnTo>
                    <a:pt x="387705" y="96583"/>
                  </a:lnTo>
                  <a:lnTo>
                    <a:pt x="392112" y="91821"/>
                  </a:lnTo>
                  <a:lnTo>
                    <a:pt x="392620" y="91351"/>
                  </a:lnTo>
                  <a:lnTo>
                    <a:pt x="399351" y="88722"/>
                  </a:lnTo>
                  <a:lnTo>
                    <a:pt x="417080" y="88722"/>
                  </a:lnTo>
                  <a:lnTo>
                    <a:pt x="423913" y="91351"/>
                  </a:lnTo>
                  <a:lnTo>
                    <a:pt x="428739" y="96723"/>
                  </a:lnTo>
                  <a:lnTo>
                    <a:pt x="433362" y="101828"/>
                  </a:lnTo>
                  <a:lnTo>
                    <a:pt x="433425" y="102044"/>
                  </a:lnTo>
                  <a:lnTo>
                    <a:pt x="435737" y="109575"/>
                  </a:lnTo>
                  <a:lnTo>
                    <a:pt x="435737" y="132448"/>
                  </a:lnTo>
                  <a:lnTo>
                    <a:pt x="471868" y="132448"/>
                  </a:lnTo>
                  <a:lnTo>
                    <a:pt x="471868" y="117678"/>
                  </a:lnTo>
                  <a:close/>
                </a:path>
                <a:path w="1950720" h="224789">
                  <a:moveTo>
                    <a:pt x="1751241" y="15849"/>
                  </a:moveTo>
                  <a:lnTo>
                    <a:pt x="1749018" y="10477"/>
                  </a:lnTo>
                  <a:lnTo>
                    <a:pt x="1740154" y="2095"/>
                  </a:lnTo>
                  <a:lnTo>
                    <a:pt x="1734515" y="0"/>
                  </a:lnTo>
                  <a:lnTo>
                    <a:pt x="1715300" y="0"/>
                  </a:lnTo>
                  <a:lnTo>
                    <a:pt x="1709661" y="2095"/>
                  </a:lnTo>
                  <a:lnTo>
                    <a:pt x="1700796" y="10477"/>
                  </a:lnTo>
                  <a:lnTo>
                    <a:pt x="1698574" y="15849"/>
                  </a:lnTo>
                  <a:lnTo>
                    <a:pt x="1698574" y="29057"/>
                  </a:lnTo>
                  <a:lnTo>
                    <a:pt x="1700745" y="34391"/>
                  </a:lnTo>
                  <a:lnTo>
                    <a:pt x="1705102" y="38417"/>
                  </a:lnTo>
                  <a:lnTo>
                    <a:pt x="1709483" y="42405"/>
                  </a:lnTo>
                  <a:lnTo>
                    <a:pt x="1715173" y="44399"/>
                  </a:lnTo>
                  <a:lnTo>
                    <a:pt x="1734426" y="44399"/>
                  </a:lnTo>
                  <a:lnTo>
                    <a:pt x="1740039" y="42405"/>
                  </a:lnTo>
                  <a:lnTo>
                    <a:pt x="1749018" y="34391"/>
                  </a:lnTo>
                  <a:lnTo>
                    <a:pt x="1751241" y="29057"/>
                  </a:lnTo>
                  <a:lnTo>
                    <a:pt x="1751241" y="15849"/>
                  </a:lnTo>
                  <a:close/>
                </a:path>
                <a:path w="1950720" h="224789">
                  <a:moveTo>
                    <a:pt x="1796643" y="187871"/>
                  </a:moveTo>
                  <a:lnTo>
                    <a:pt x="1745729" y="187871"/>
                  </a:lnTo>
                  <a:lnTo>
                    <a:pt x="1745729" y="59105"/>
                  </a:lnTo>
                  <a:lnTo>
                    <a:pt x="1662785" y="59105"/>
                  </a:lnTo>
                  <a:lnTo>
                    <a:pt x="1662785" y="93091"/>
                  </a:lnTo>
                  <a:lnTo>
                    <a:pt x="1709534" y="93091"/>
                  </a:lnTo>
                  <a:lnTo>
                    <a:pt x="1709534" y="187871"/>
                  </a:lnTo>
                  <a:lnTo>
                    <a:pt x="1655927" y="187871"/>
                  </a:lnTo>
                  <a:lnTo>
                    <a:pt x="1655927" y="221856"/>
                  </a:lnTo>
                  <a:lnTo>
                    <a:pt x="1796643" y="221856"/>
                  </a:lnTo>
                  <a:lnTo>
                    <a:pt x="1796643" y="187871"/>
                  </a:lnTo>
                  <a:close/>
                </a:path>
                <a:path w="1950720" h="224789">
                  <a:moveTo>
                    <a:pt x="1950669" y="114312"/>
                  </a:moveTo>
                  <a:lnTo>
                    <a:pt x="1949729" y="101866"/>
                  </a:lnTo>
                  <a:lnTo>
                    <a:pt x="1946897" y="90703"/>
                  </a:lnTo>
                  <a:lnTo>
                    <a:pt x="1945944" y="88722"/>
                  </a:lnTo>
                  <a:lnTo>
                    <a:pt x="1942172" y="80835"/>
                  </a:lnTo>
                  <a:lnTo>
                    <a:pt x="1907184" y="57340"/>
                  </a:lnTo>
                  <a:lnTo>
                    <a:pt x="1895195" y="56349"/>
                  </a:lnTo>
                  <a:lnTo>
                    <a:pt x="1885988" y="56946"/>
                  </a:lnTo>
                  <a:lnTo>
                    <a:pt x="1877682" y="58750"/>
                  </a:lnTo>
                  <a:lnTo>
                    <a:pt x="1870240" y="61747"/>
                  </a:lnTo>
                  <a:lnTo>
                    <a:pt x="1863686" y="65951"/>
                  </a:lnTo>
                  <a:lnTo>
                    <a:pt x="1858543" y="71208"/>
                  </a:lnTo>
                  <a:lnTo>
                    <a:pt x="1860397" y="59105"/>
                  </a:lnTo>
                  <a:lnTo>
                    <a:pt x="1824266" y="59105"/>
                  </a:lnTo>
                  <a:lnTo>
                    <a:pt x="1824266" y="221856"/>
                  </a:lnTo>
                  <a:lnTo>
                    <a:pt x="1860397" y="221856"/>
                  </a:lnTo>
                  <a:lnTo>
                    <a:pt x="1860397" y="109753"/>
                  </a:lnTo>
                  <a:lnTo>
                    <a:pt x="1860956" y="107975"/>
                  </a:lnTo>
                  <a:lnTo>
                    <a:pt x="1862975" y="101866"/>
                  </a:lnTo>
                  <a:lnTo>
                    <a:pt x="1870760" y="93294"/>
                  </a:lnTo>
                  <a:lnTo>
                    <a:pt x="1872665" y="91186"/>
                  </a:lnTo>
                  <a:lnTo>
                    <a:pt x="1872996" y="91186"/>
                  </a:lnTo>
                  <a:lnTo>
                    <a:pt x="1879269" y="88722"/>
                  </a:lnTo>
                  <a:lnTo>
                    <a:pt x="1896287" y="88722"/>
                  </a:lnTo>
                  <a:lnTo>
                    <a:pt x="1902764" y="91186"/>
                  </a:lnTo>
                  <a:lnTo>
                    <a:pt x="1907413" y="96113"/>
                  </a:lnTo>
                  <a:lnTo>
                    <a:pt x="1912124" y="100990"/>
                  </a:lnTo>
                  <a:lnTo>
                    <a:pt x="1914474" y="107975"/>
                  </a:lnTo>
                  <a:lnTo>
                    <a:pt x="1914474" y="221856"/>
                  </a:lnTo>
                  <a:lnTo>
                    <a:pt x="1950669" y="221856"/>
                  </a:lnTo>
                  <a:lnTo>
                    <a:pt x="1950669" y="114312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5635" y="1229607"/>
            <a:ext cx="14054455" cy="4263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7965" marR="5080" indent="-1485900">
              <a:lnSpc>
                <a:spcPct val="143700"/>
              </a:lnSpc>
              <a:spcBef>
                <a:spcPts val="95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models</a:t>
            </a:r>
            <a:r>
              <a:rPr sz="2150" spc="-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{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"Logistic</a:t>
            </a:r>
            <a:r>
              <a:rPr sz="2150" spc="-3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Regression"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150" spc="-4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LogisticRegression(),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"KNN"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KNeighborsClassifier(), 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"Decision</a:t>
            </a:r>
            <a:r>
              <a:rPr sz="215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Tree"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DecisionTreeClassifier()}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results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25" dirty="0">
                <a:solidFill>
                  <a:srgbClr val="04182D"/>
                </a:solidFill>
                <a:latin typeface="Courier New"/>
                <a:cs typeface="Courier New"/>
              </a:rPr>
              <a:t>[]</a:t>
            </a:r>
            <a:endParaRPr sz="215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1130"/>
              </a:spcBef>
              <a:tabLst>
                <a:tab pos="2157730" algn="l"/>
              </a:tabLst>
            </a:pP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model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models.values():</a:t>
            </a:r>
            <a:endParaRPr sz="2150">
              <a:latin typeface="Courier New"/>
              <a:cs typeface="Courier New"/>
            </a:endParaRPr>
          </a:p>
          <a:p>
            <a:pPr marL="837565">
              <a:lnSpc>
                <a:spcPct val="100000"/>
              </a:lnSpc>
              <a:spcBef>
                <a:spcPts val="1125"/>
              </a:spcBef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kf</a:t>
            </a:r>
            <a:r>
              <a:rPr sz="21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KFold(n_splits=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6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15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150" spc="-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shuffle=</a:t>
            </a:r>
            <a:r>
              <a:rPr sz="2150" spc="-1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150">
              <a:latin typeface="Courier New"/>
              <a:cs typeface="Courier New"/>
            </a:endParaRPr>
          </a:p>
          <a:p>
            <a:pPr marL="837565" marR="2150110">
              <a:lnSpc>
                <a:spcPct val="143700"/>
              </a:lnSpc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cv_results</a:t>
            </a:r>
            <a:r>
              <a:rPr sz="2150" spc="-6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1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cross_val_score(model,</a:t>
            </a:r>
            <a:r>
              <a:rPr sz="21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X_train_scaled,</a:t>
            </a:r>
            <a:r>
              <a:rPr sz="21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y_train,</a:t>
            </a:r>
            <a:r>
              <a:rPr sz="215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cv=kf) results.append(cv_results)</a:t>
            </a:r>
            <a:endParaRPr sz="2150">
              <a:latin typeface="Courier New"/>
              <a:cs typeface="Courier New"/>
            </a:endParaRPr>
          </a:p>
          <a:p>
            <a:pPr marL="12700" marR="7101840">
              <a:lnSpc>
                <a:spcPct val="143700"/>
              </a:lnSpc>
            </a:pPr>
            <a:r>
              <a:rPr sz="2150" dirty="0">
                <a:solidFill>
                  <a:srgbClr val="04182D"/>
                </a:solidFill>
                <a:latin typeface="Courier New"/>
                <a:cs typeface="Courier New"/>
              </a:rPr>
              <a:t>plt.boxplot(results,</a:t>
            </a:r>
            <a:r>
              <a:rPr sz="2150" spc="-1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Courier New"/>
                <a:cs typeface="Courier New"/>
              </a:rPr>
              <a:t>labels=models.keys()) plt.show()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24660A5-A77E-A7E3-1B13-16F919E65A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36</a:t>
            </a:fld>
            <a:endParaRPr lang="en-US" alt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5" dirty="0"/>
              <a:t>Visualizing</a:t>
            </a:r>
            <a:r>
              <a:rPr spc="-85" dirty="0"/>
              <a:t> </a:t>
            </a:r>
            <a:r>
              <a:rPr spc="-27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6673" y="1166812"/>
            <a:ext cx="8884150" cy="646864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703BAE-0000-F815-21A9-1D852B415E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37</a:t>
            </a:fld>
            <a:endParaRPr lang="en-US" altLang="ko-K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65" dirty="0"/>
              <a:t>T</a:t>
            </a:r>
            <a:r>
              <a:rPr spc="-229" dirty="0"/>
              <a:t>e</a:t>
            </a:r>
            <a:r>
              <a:rPr spc="-305" dirty="0"/>
              <a:t>s</a:t>
            </a:r>
            <a:r>
              <a:rPr spc="-140" dirty="0"/>
              <a:t>t</a:t>
            </a:r>
            <a:r>
              <a:rPr spc="-150" dirty="0"/>
              <a:t> </a:t>
            </a:r>
            <a:r>
              <a:rPr spc="-235" dirty="0"/>
              <a:t>set</a:t>
            </a:r>
            <a:r>
              <a:rPr spc="-150" dirty="0"/>
              <a:t> </a:t>
            </a:r>
            <a:r>
              <a:rPr spc="-160" dirty="0"/>
              <a:t>performance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2292985"/>
            <a:chOff x="491289" y="1166812"/>
            <a:chExt cx="14575155" cy="229298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2292985"/>
            </a:xfrm>
            <a:custGeom>
              <a:avLst/>
              <a:gdLst/>
              <a:ahLst/>
              <a:cxnLst/>
              <a:rect l="l" t="t" r="r" b="b"/>
              <a:pathLst>
                <a:path w="14575155" h="2292985">
                  <a:moveTo>
                    <a:pt x="14498413" y="2292683"/>
                  </a:moveTo>
                  <a:lnTo>
                    <a:pt x="76505" y="2292683"/>
                  </a:lnTo>
                  <a:lnTo>
                    <a:pt x="71180" y="2292159"/>
                  </a:lnTo>
                  <a:lnTo>
                    <a:pt x="31920" y="2275896"/>
                  </a:lnTo>
                  <a:lnTo>
                    <a:pt x="4175" y="2237169"/>
                  </a:lnTo>
                  <a:lnTo>
                    <a:pt x="0" y="2216178"/>
                  </a:lnTo>
                  <a:lnTo>
                    <a:pt x="0" y="2210802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2216178"/>
                  </a:lnTo>
                  <a:lnTo>
                    <a:pt x="14558132" y="2260763"/>
                  </a:lnTo>
                  <a:lnTo>
                    <a:pt x="14519404" y="2288508"/>
                  </a:lnTo>
                  <a:lnTo>
                    <a:pt x="14503737" y="2292159"/>
                  </a:lnTo>
                  <a:lnTo>
                    <a:pt x="14498413" y="229268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3063875" cy="234315"/>
            </a:xfrm>
            <a:custGeom>
              <a:avLst/>
              <a:gdLst/>
              <a:ahLst/>
              <a:cxnLst/>
              <a:rect l="l" t="t" r="r" b="b"/>
              <a:pathLst>
                <a:path w="3063875" h="234314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3063875" h="234314">
                  <a:moveTo>
                    <a:pt x="313347" y="124536"/>
                  </a:moveTo>
                  <a:lnTo>
                    <a:pt x="312216" y="110172"/>
                  </a:lnTo>
                  <a:lnTo>
                    <a:pt x="308825" y="97370"/>
                  </a:lnTo>
                  <a:lnTo>
                    <a:pt x="306882" y="93535"/>
                  </a:lnTo>
                  <a:lnTo>
                    <a:pt x="303161" y="86131"/>
                  </a:lnTo>
                  <a:lnTo>
                    <a:pt x="295224" y="76466"/>
                  </a:lnTo>
                  <a:lnTo>
                    <a:pt x="285419" y="68694"/>
                  </a:lnTo>
                  <a:lnTo>
                    <a:pt x="275704" y="63957"/>
                  </a:lnTo>
                  <a:lnTo>
                    <a:pt x="275704" y="114363"/>
                  </a:lnTo>
                  <a:lnTo>
                    <a:pt x="275704" y="178295"/>
                  </a:lnTo>
                  <a:lnTo>
                    <a:pt x="273240" y="186131"/>
                  </a:lnTo>
                  <a:lnTo>
                    <a:pt x="263398" y="196532"/>
                  </a:lnTo>
                  <a:lnTo>
                    <a:pt x="256184" y="199123"/>
                  </a:lnTo>
                  <a:lnTo>
                    <a:pt x="237109" y="199123"/>
                  </a:lnTo>
                  <a:lnTo>
                    <a:pt x="229882" y="196532"/>
                  </a:lnTo>
                  <a:lnTo>
                    <a:pt x="220078" y="186131"/>
                  </a:lnTo>
                  <a:lnTo>
                    <a:pt x="217639" y="178295"/>
                  </a:lnTo>
                  <a:lnTo>
                    <a:pt x="217639" y="114363"/>
                  </a:lnTo>
                  <a:lnTo>
                    <a:pt x="220078" y="106553"/>
                  </a:lnTo>
                  <a:lnTo>
                    <a:pt x="229882" y="96151"/>
                  </a:lnTo>
                  <a:lnTo>
                    <a:pt x="237109" y="93535"/>
                  </a:lnTo>
                  <a:lnTo>
                    <a:pt x="256184" y="93535"/>
                  </a:lnTo>
                  <a:lnTo>
                    <a:pt x="263398" y="96151"/>
                  </a:lnTo>
                  <a:lnTo>
                    <a:pt x="268287" y="101371"/>
                  </a:lnTo>
                  <a:lnTo>
                    <a:pt x="273240" y="106553"/>
                  </a:lnTo>
                  <a:lnTo>
                    <a:pt x="275704" y="63957"/>
                  </a:lnTo>
                  <a:lnTo>
                    <a:pt x="246672" y="58699"/>
                  </a:lnTo>
                  <a:lnTo>
                    <a:pt x="232156" y="59804"/>
                  </a:lnTo>
                  <a:lnTo>
                    <a:pt x="190093" y="86131"/>
                  </a:lnTo>
                  <a:lnTo>
                    <a:pt x="179946" y="124536"/>
                  </a:lnTo>
                  <a:lnTo>
                    <a:pt x="179920" y="167843"/>
                  </a:lnTo>
                  <a:lnTo>
                    <a:pt x="181051" y="182333"/>
                  </a:lnTo>
                  <a:lnTo>
                    <a:pt x="207810" y="223964"/>
                  </a:lnTo>
                  <a:lnTo>
                    <a:pt x="246672" y="233959"/>
                  </a:lnTo>
                  <a:lnTo>
                    <a:pt x="261150" y="232854"/>
                  </a:lnTo>
                  <a:lnTo>
                    <a:pt x="303161" y="206502"/>
                  </a:lnTo>
                  <a:lnTo>
                    <a:pt x="306857" y="199123"/>
                  </a:lnTo>
                  <a:lnTo>
                    <a:pt x="308825" y="195224"/>
                  </a:lnTo>
                  <a:lnTo>
                    <a:pt x="312216" y="182333"/>
                  </a:lnTo>
                  <a:lnTo>
                    <a:pt x="313347" y="167843"/>
                  </a:lnTo>
                  <a:lnTo>
                    <a:pt x="313347" y="124536"/>
                  </a:lnTo>
                  <a:close/>
                </a:path>
                <a:path w="3063875" h="234314">
                  <a:moveTo>
                    <a:pt x="491604" y="122580"/>
                  </a:moveTo>
                  <a:lnTo>
                    <a:pt x="490575" y="108788"/>
                  </a:lnTo>
                  <a:lnTo>
                    <a:pt x="487489" y="96443"/>
                  </a:lnTo>
                  <a:lnTo>
                    <a:pt x="485584" y="92417"/>
                  </a:lnTo>
                  <a:lnTo>
                    <a:pt x="482346" y="85559"/>
                  </a:lnTo>
                  <a:lnTo>
                    <a:pt x="444271" y="59791"/>
                  </a:lnTo>
                  <a:lnTo>
                    <a:pt x="431215" y="58699"/>
                  </a:lnTo>
                  <a:lnTo>
                    <a:pt x="414210" y="61010"/>
                  </a:lnTo>
                  <a:lnTo>
                    <a:pt x="401624" y="67932"/>
                  </a:lnTo>
                  <a:lnTo>
                    <a:pt x="393433" y="79476"/>
                  </a:lnTo>
                  <a:lnTo>
                    <a:pt x="389661" y="95643"/>
                  </a:lnTo>
                  <a:lnTo>
                    <a:pt x="389737" y="95148"/>
                  </a:lnTo>
                  <a:lnTo>
                    <a:pt x="395605" y="61569"/>
                  </a:lnTo>
                  <a:lnTo>
                    <a:pt x="358521" y="61569"/>
                  </a:lnTo>
                  <a:lnTo>
                    <a:pt x="358521" y="231101"/>
                  </a:lnTo>
                  <a:lnTo>
                    <a:pt x="396163" y="231101"/>
                  </a:lnTo>
                  <a:lnTo>
                    <a:pt x="396227" y="114134"/>
                  </a:lnTo>
                  <a:lnTo>
                    <a:pt x="398703" y="106299"/>
                  </a:lnTo>
                  <a:lnTo>
                    <a:pt x="408508" y="95643"/>
                  </a:lnTo>
                  <a:lnTo>
                    <a:pt x="409041" y="95148"/>
                  </a:lnTo>
                  <a:lnTo>
                    <a:pt x="416052" y="92417"/>
                  </a:lnTo>
                  <a:lnTo>
                    <a:pt x="434530" y="92417"/>
                  </a:lnTo>
                  <a:lnTo>
                    <a:pt x="441642" y="95148"/>
                  </a:lnTo>
                  <a:lnTo>
                    <a:pt x="446671" y="100749"/>
                  </a:lnTo>
                  <a:lnTo>
                    <a:pt x="451485" y="106070"/>
                  </a:lnTo>
                  <a:lnTo>
                    <a:pt x="451561" y="106299"/>
                  </a:lnTo>
                  <a:lnTo>
                    <a:pt x="453961" y="114134"/>
                  </a:lnTo>
                  <a:lnTo>
                    <a:pt x="453961" y="137972"/>
                  </a:lnTo>
                  <a:lnTo>
                    <a:pt x="491604" y="137972"/>
                  </a:lnTo>
                  <a:lnTo>
                    <a:pt x="491604" y="122580"/>
                  </a:lnTo>
                  <a:close/>
                </a:path>
                <a:path w="3063875" h="234314">
                  <a:moveTo>
                    <a:pt x="2855722" y="16510"/>
                  </a:moveTo>
                  <a:lnTo>
                    <a:pt x="2853423" y="10909"/>
                  </a:lnTo>
                  <a:lnTo>
                    <a:pt x="2844177" y="2184"/>
                  </a:lnTo>
                  <a:lnTo>
                    <a:pt x="2838310" y="0"/>
                  </a:lnTo>
                  <a:lnTo>
                    <a:pt x="2818295" y="0"/>
                  </a:lnTo>
                  <a:lnTo>
                    <a:pt x="2812415" y="2184"/>
                  </a:lnTo>
                  <a:lnTo>
                    <a:pt x="2803182" y="10909"/>
                  </a:lnTo>
                  <a:lnTo>
                    <a:pt x="2800870" y="16510"/>
                  </a:lnTo>
                  <a:lnTo>
                    <a:pt x="2800870" y="30264"/>
                  </a:lnTo>
                  <a:lnTo>
                    <a:pt x="2803131" y="35814"/>
                  </a:lnTo>
                  <a:lnTo>
                    <a:pt x="2807652" y="40017"/>
                  </a:lnTo>
                  <a:lnTo>
                    <a:pt x="2812224" y="44170"/>
                  </a:lnTo>
                  <a:lnTo>
                    <a:pt x="2818155" y="46240"/>
                  </a:lnTo>
                  <a:lnTo>
                    <a:pt x="2838208" y="46240"/>
                  </a:lnTo>
                  <a:lnTo>
                    <a:pt x="2844063" y="44170"/>
                  </a:lnTo>
                  <a:lnTo>
                    <a:pt x="2853410" y="35814"/>
                  </a:lnTo>
                  <a:lnTo>
                    <a:pt x="2855722" y="30264"/>
                  </a:lnTo>
                  <a:lnTo>
                    <a:pt x="2855722" y="16510"/>
                  </a:lnTo>
                  <a:close/>
                </a:path>
                <a:path w="3063875" h="234314">
                  <a:moveTo>
                    <a:pt x="2903029" y="195694"/>
                  </a:moveTo>
                  <a:lnTo>
                    <a:pt x="2849994" y="195694"/>
                  </a:lnTo>
                  <a:lnTo>
                    <a:pt x="2849994" y="61569"/>
                  </a:lnTo>
                  <a:lnTo>
                    <a:pt x="2763583" y="61569"/>
                  </a:lnTo>
                  <a:lnTo>
                    <a:pt x="2763583" y="96964"/>
                  </a:lnTo>
                  <a:lnTo>
                    <a:pt x="2812275" y="96964"/>
                  </a:lnTo>
                  <a:lnTo>
                    <a:pt x="2812275" y="195694"/>
                  </a:lnTo>
                  <a:lnTo>
                    <a:pt x="2756446" y="195694"/>
                  </a:lnTo>
                  <a:lnTo>
                    <a:pt x="2756446" y="231101"/>
                  </a:lnTo>
                  <a:lnTo>
                    <a:pt x="2903029" y="231101"/>
                  </a:lnTo>
                  <a:lnTo>
                    <a:pt x="2903029" y="195694"/>
                  </a:lnTo>
                  <a:close/>
                </a:path>
                <a:path w="3063875" h="234314">
                  <a:moveTo>
                    <a:pt x="3063494" y="119075"/>
                  </a:moveTo>
                  <a:lnTo>
                    <a:pt x="3047758" y="75272"/>
                  </a:lnTo>
                  <a:lnTo>
                    <a:pt x="3005709" y="58699"/>
                  </a:lnTo>
                  <a:lnTo>
                    <a:pt x="2996120" y="59321"/>
                  </a:lnTo>
                  <a:lnTo>
                    <a:pt x="2987459" y="61201"/>
                  </a:lnTo>
                  <a:lnTo>
                    <a:pt x="2979724" y="64325"/>
                  </a:lnTo>
                  <a:lnTo>
                    <a:pt x="2972892" y="68707"/>
                  </a:lnTo>
                  <a:lnTo>
                    <a:pt x="2967532" y="74168"/>
                  </a:lnTo>
                  <a:lnTo>
                    <a:pt x="2969463" y="61569"/>
                  </a:lnTo>
                  <a:lnTo>
                    <a:pt x="2931820" y="61569"/>
                  </a:lnTo>
                  <a:lnTo>
                    <a:pt x="2931820" y="231101"/>
                  </a:lnTo>
                  <a:lnTo>
                    <a:pt x="2969463" y="231101"/>
                  </a:lnTo>
                  <a:lnTo>
                    <a:pt x="2969463" y="114325"/>
                  </a:lnTo>
                  <a:lnTo>
                    <a:pt x="2970047" y="112483"/>
                  </a:lnTo>
                  <a:lnTo>
                    <a:pt x="2972155" y="106108"/>
                  </a:lnTo>
                  <a:lnTo>
                    <a:pt x="2980258" y="97180"/>
                  </a:lnTo>
                  <a:lnTo>
                    <a:pt x="2982061" y="95199"/>
                  </a:lnTo>
                  <a:lnTo>
                    <a:pt x="2989122" y="92417"/>
                  </a:lnTo>
                  <a:lnTo>
                    <a:pt x="3006852" y="92417"/>
                  </a:lnTo>
                  <a:lnTo>
                    <a:pt x="3013595" y="94983"/>
                  </a:lnTo>
                  <a:lnTo>
                    <a:pt x="3018447" y="100114"/>
                  </a:lnTo>
                  <a:lnTo>
                    <a:pt x="3023336" y="105206"/>
                  </a:lnTo>
                  <a:lnTo>
                    <a:pt x="3025787" y="112483"/>
                  </a:lnTo>
                  <a:lnTo>
                    <a:pt x="3025787" y="231101"/>
                  </a:lnTo>
                  <a:lnTo>
                    <a:pt x="3063494" y="231101"/>
                  </a:lnTo>
                  <a:lnTo>
                    <a:pt x="3063494" y="11907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3705140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4"/>
                </a:moveTo>
                <a:lnTo>
                  <a:pt x="76505" y="1801394"/>
                </a:lnTo>
                <a:lnTo>
                  <a:pt x="71180" y="1800870"/>
                </a:lnTo>
                <a:lnTo>
                  <a:pt x="31920" y="1784607"/>
                </a:lnTo>
                <a:lnTo>
                  <a:pt x="4175" y="1745880"/>
                </a:lnTo>
                <a:lnTo>
                  <a:pt x="0" y="1724889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9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6191" y="1231899"/>
            <a:ext cx="9998075" cy="199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130675" indent="343535">
              <a:lnSpc>
                <a:spcPct val="143300"/>
              </a:lnSpc>
              <a:spcBef>
                <a:spcPts val="95"/>
              </a:spcBef>
              <a:tabLst>
                <a:tab pos="2934970" algn="l"/>
              </a:tabLst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name,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model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models.items():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model.fit(X_train_scaled,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test_score = model.score(X_test_scaled,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y_test)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"{}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Test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Set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Accuracy: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{}"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.</a:t>
            </a: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format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(name,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test_score))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3770228"/>
            <a:ext cx="7591425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Logistic Regression Test Set Accuracy: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0.844 </a:t>
            </a: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KNN Test Set Accuracy: </a:t>
            </a:r>
            <a:r>
              <a:rPr sz="2250" spc="-20" dirty="0">
                <a:solidFill>
                  <a:srgbClr val="FFFFFF"/>
                </a:solidFill>
                <a:latin typeface="Courier New"/>
                <a:cs typeface="Courier New"/>
              </a:rPr>
              <a:t>0.82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Decision Tree Test Set Accuracy: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0.832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E456AF2-95C2-C74F-7FD4-502A7FAB1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38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BB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2597</Words>
  <Application>Microsoft Office PowerPoint</Application>
  <PresentationFormat>사용자 지정</PresentationFormat>
  <Paragraphs>387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Courier New</vt:lpstr>
      <vt:lpstr>Tahoma</vt:lpstr>
      <vt:lpstr>Times New Roman</vt:lpstr>
      <vt:lpstr>Office Theme</vt:lpstr>
      <vt:lpstr>PowerPoint 프레젠테이션</vt:lpstr>
      <vt:lpstr>scikit-learn requirements</vt:lpstr>
      <vt:lpstr>Dealing with categorical features</vt:lpstr>
      <vt:lpstr>Dummy variables</vt:lpstr>
      <vt:lpstr>Dummy variables</vt:lpstr>
      <vt:lpstr>Dummy variables</vt:lpstr>
      <vt:lpstr>Dealing with categorical features in Python</vt:lpstr>
      <vt:lpstr>Music dataset</vt:lpstr>
      <vt:lpstr>EDA w/ categorical feature</vt:lpstr>
      <vt:lpstr>Encoding dummy variables</vt:lpstr>
      <vt:lpstr>Encoding dummy variables</vt:lpstr>
      <vt:lpstr>Linear regression with dummy variables</vt:lpstr>
      <vt:lpstr>PowerPoint 프레젠테이션</vt:lpstr>
      <vt:lpstr>Missing data</vt:lpstr>
      <vt:lpstr>Music dataset</vt:lpstr>
      <vt:lpstr>Dropping missing data</vt:lpstr>
      <vt:lpstr>Imputing values</vt:lpstr>
      <vt:lpstr>Imputation with scikit-learn</vt:lpstr>
      <vt:lpstr>Imputation with scikit-learn</vt:lpstr>
      <vt:lpstr>Imputing within a pipeline</vt:lpstr>
      <vt:lpstr>Imputing within a pipeline</vt:lpstr>
      <vt:lpstr>PowerPoint 프레젠테이션</vt:lpstr>
      <vt:lpstr>Why scale our data?</vt:lpstr>
      <vt:lpstr>Why scale our data?</vt:lpstr>
      <vt:lpstr>How to scale our data</vt:lpstr>
      <vt:lpstr>Scaling in scikit-learn</vt:lpstr>
      <vt:lpstr>Scaling in a pipeline</vt:lpstr>
      <vt:lpstr>Comparing performance using unscaled data</vt:lpstr>
      <vt:lpstr>CV and scaling in a pipeline</vt:lpstr>
      <vt:lpstr>Checking model parameters</vt:lpstr>
      <vt:lpstr>PowerPoint 프레젠테이션</vt:lpstr>
      <vt:lpstr>Different models for different problems</vt:lpstr>
      <vt:lpstr>It's all in the metrics</vt:lpstr>
      <vt:lpstr>A note on scaling</vt:lpstr>
      <vt:lpstr>Evaluating classification models</vt:lpstr>
      <vt:lpstr>Evaluating classification models</vt:lpstr>
      <vt:lpstr>Visualizing results</vt:lpstr>
      <vt:lpstr>Test set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Woojin Paik</cp:lastModifiedBy>
  <cp:revision>2</cp:revision>
  <dcterms:created xsi:type="dcterms:W3CDTF">2024-12-30T14:04:06Z</dcterms:created>
  <dcterms:modified xsi:type="dcterms:W3CDTF">2024-12-30T14:24:38Z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2024-12-30T00:00:00Z</vt:filetime>
  </property>
  <property fmtid="{D5CDD505-2E9C-101B-9397-08002B2CF9AE}" pid="5" name="Producer">
    <vt:lpwstr>Skia/PDF m89</vt:lpwstr>
  </property>
</Properties>
</file>