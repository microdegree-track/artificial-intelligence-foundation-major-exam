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37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55E8A-25A5-4C98-9AD5-20E738A6C42A}" type="datetimeFigureOut">
              <a:rPr lang="ko-KR" altLang="en-US" smtClean="0"/>
              <a:t>2025-01-01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41EC7-F9EC-4483-8D7E-964593117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630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79"/>
            <a:ext cx="10020935" cy="7137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MACHINE</a:t>
            </a:r>
            <a:r>
              <a:rPr spc="-155" dirty="0"/>
              <a:t> </a:t>
            </a:r>
            <a:r>
              <a:rPr spc="-90" dirty="0"/>
              <a:t>LEARNING</a:t>
            </a:r>
            <a:r>
              <a:rPr spc="-50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5" dirty="0"/>
              <a:t>TREE-</a:t>
            </a:r>
            <a:r>
              <a:rPr spc="-20" dirty="0"/>
              <a:t>BASED</a:t>
            </a:r>
            <a:r>
              <a:rPr spc="-55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EE092-4602-4FAA-AAFB-389F2AF6887C}" type="datetime1">
              <a:rPr lang="en-US" altLang="ko-KR" smtClean="0"/>
              <a:t>1/1/2025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MACHINE</a:t>
            </a:r>
            <a:r>
              <a:rPr spc="-155" dirty="0"/>
              <a:t> </a:t>
            </a:r>
            <a:r>
              <a:rPr spc="-90" dirty="0"/>
              <a:t>LEARNING</a:t>
            </a:r>
            <a:r>
              <a:rPr spc="-50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5" dirty="0"/>
              <a:t>TREE-</a:t>
            </a:r>
            <a:r>
              <a:rPr spc="-20" dirty="0"/>
              <a:t>BASED</a:t>
            </a:r>
            <a:r>
              <a:rPr spc="-55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818EB-A1C5-4126-85FD-5A02305F3204}" type="datetime1">
              <a:rPr lang="en-US" altLang="ko-KR" smtClean="0"/>
              <a:t>1/1/2025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MACHINE</a:t>
            </a:r>
            <a:r>
              <a:rPr spc="-155" dirty="0"/>
              <a:t> </a:t>
            </a:r>
            <a:r>
              <a:rPr spc="-90" dirty="0"/>
              <a:t>LEARNING</a:t>
            </a:r>
            <a:r>
              <a:rPr spc="-50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5" dirty="0"/>
              <a:t>TREE-</a:t>
            </a:r>
            <a:r>
              <a:rPr spc="-20" dirty="0"/>
              <a:t>BASED</a:t>
            </a:r>
            <a:r>
              <a:rPr spc="-55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EE440-F033-4CB9-9622-8D94C2CEABC6}" type="datetime1">
              <a:rPr lang="en-US" altLang="ko-KR" smtClean="0"/>
              <a:t>1/1/2025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MACHINE</a:t>
            </a:r>
            <a:r>
              <a:rPr spc="-155" dirty="0"/>
              <a:t> </a:t>
            </a:r>
            <a:r>
              <a:rPr spc="-90" dirty="0"/>
              <a:t>LEARNING</a:t>
            </a:r>
            <a:r>
              <a:rPr spc="-50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5" dirty="0"/>
              <a:t>TREE-</a:t>
            </a:r>
            <a:r>
              <a:rPr spc="-20" dirty="0"/>
              <a:t>BASED</a:t>
            </a:r>
            <a:r>
              <a:rPr spc="-55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5B7AE-C7AF-4D3E-AF54-279E02B9E564}" type="datetime1">
              <a:rPr lang="en-US" altLang="ko-KR" smtClean="0"/>
              <a:t>1/1/2025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MACHINE</a:t>
            </a:r>
            <a:r>
              <a:rPr spc="-155" dirty="0"/>
              <a:t> </a:t>
            </a:r>
            <a:r>
              <a:rPr spc="-90" dirty="0"/>
              <a:t>LEARNING</a:t>
            </a:r>
            <a:r>
              <a:rPr spc="-50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5" dirty="0"/>
              <a:t>TREE-</a:t>
            </a:r>
            <a:r>
              <a:rPr spc="-20" dirty="0"/>
              <a:t>BASED</a:t>
            </a:r>
            <a:r>
              <a:rPr spc="-55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0A395-A6E1-4710-977C-10C58DAB7293}" type="datetime1">
              <a:rPr lang="en-US" altLang="ko-KR" smtClean="0"/>
              <a:t>1/1/2025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69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61"/>
            <a:ext cx="1348930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312" y="2157161"/>
            <a:ext cx="10481945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25897" y="8207389"/>
            <a:ext cx="8516619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MACHINE</a:t>
            </a:r>
            <a:r>
              <a:rPr spc="-155" dirty="0"/>
              <a:t> </a:t>
            </a:r>
            <a:r>
              <a:rPr spc="-90" dirty="0"/>
              <a:t>LEARNING</a:t>
            </a:r>
            <a:r>
              <a:rPr spc="-50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5" dirty="0"/>
              <a:t>TREE-</a:t>
            </a:r>
            <a:r>
              <a:rPr spc="-20" dirty="0"/>
              <a:t>BASED</a:t>
            </a:r>
            <a:r>
              <a:rPr spc="-55" dirty="0"/>
              <a:t> </a:t>
            </a:r>
            <a:r>
              <a:rPr dirty="0"/>
              <a:t>MODELS</a:t>
            </a:r>
            <a:r>
              <a:rPr spc="-5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69326-94D7-4AC8-BC02-BF54ED37AFAF}" type="datetime1">
              <a:rPr lang="en-US" altLang="ko-KR" smtClean="0"/>
              <a:t>1/1/2025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2177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2860"/>
              </a:spcBef>
            </a:pPr>
            <a:r>
              <a:rPr spc="-350" dirty="0"/>
              <a:t>Generalization</a:t>
            </a:r>
            <a:r>
              <a:rPr spc="-280" dirty="0"/>
              <a:t> </a:t>
            </a:r>
            <a:r>
              <a:rPr spc="-365" dirty="0"/>
              <a:t>Error</a:t>
            </a:r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779270" algn="l"/>
                <a:tab pos="3679825" algn="l"/>
                <a:tab pos="4699635" algn="l"/>
                <a:tab pos="6979920" algn="l"/>
                <a:tab pos="8555990" algn="l"/>
                <a:tab pos="9057640" algn="l"/>
              </a:tabLst>
            </a:pPr>
            <a:r>
              <a:rPr sz="2250" spc="60" dirty="0"/>
              <a:t>M</a:t>
            </a:r>
            <a:r>
              <a:rPr sz="2250" spc="-335" dirty="0"/>
              <a:t> </a:t>
            </a:r>
            <a:r>
              <a:rPr sz="2250" spc="270" dirty="0"/>
              <a:t>AC</a:t>
            </a:r>
            <a:r>
              <a:rPr sz="2250" spc="-335" dirty="0"/>
              <a:t> 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185" dirty="0"/>
              <a:t>-</a:t>
            </a:r>
            <a:r>
              <a:rPr sz="2250" spc="-330" dirty="0"/>
              <a:t> </a:t>
            </a:r>
            <a:r>
              <a:rPr sz="2250" spc="-100" dirty="0"/>
              <a:t>B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5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60" dirty="0"/>
              <a:t>M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25" dirty="0"/>
              <a:t>D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00" dirty="0"/>
              <a:t>L</a:t>
            </a:r>
            <a:r>
              <a:rPr sz="2250" spc="-330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-470" dirty="0"/>
              <a:t>I</a:t>
            </a:r>
            <a:r>
              <a:rPr sz="2250" spc="-340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" dirty="0"/>
              <a:t>Y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0" dirty="0"/>
              <a:t> 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0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189865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Elie</a:t>
            </a:r>
            <a:r>
              <a:rPr sz="255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FFFFFF"/>
                </a:solidFill>
                <a:latin typeface="Tahoma"/>
                <a:cs typeface="Tahoma"/>
              </a:rPr>
              <a:t>Kawerk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3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25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Tahoma"/>
                <a:cs typeface="Tahoma"/>
              </a:rPr>
              <a:t>Scientist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58A011F-22DE-0C0F-B55D-4D53292C9D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Supervised</a:t>
            </a:r>
            <a:r>
              <a:rPr spc="-130" dirty="0"/>
              <a:t> </a:t>
            </a:r>
            <a:r>
              <a:rPr spc="-240" dirty="0"/>
              <a:t>Learning</a:t>
            </a:r>
            <a:r>
              <a:rPr spc="-125" dirty="0"/>
              <a:t> </a:t>
            </a:r>
            <a:r>
              <a:rPr spc="-350" dirty="0"/>
              <a:t>-</a:t>
            </a:r>
            <a:r>
              <a:rPr spc="-130" dirty="0"/>
              <a:t> </a:t>
            </a:r>
            <a:r>
              <a:rPr spc="-260" dirty="0"/>
              <a:t>Under</a:t>
            </a:r>
            <a:r>
              <a:rPr spc="-125" dirty="0"/>
              <a:t> </a:t>
            </a:r>
            <a:r>
              <a:rPr spc="-229" dirty="0"/>
              <a:t>the</a:t>
            </a:r>
            <a:r>
              <a:rPr spc="-125" dirty="0"/>
              <a:t> </a:t>
            </a:r>
            <a:r>
              <a:rPr spc="-20" dirty="0"/>
              <a:t>Hood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05801"/>
            <a:ext cx="711200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Supervised</a:t>
            </a:r>
            <a:r>
              <a:rPr sz="2550" spc="-7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Learning: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dirty="0">
                <a:solidFill>
                  <a:srgbClr val="04182D"/>
                </a:solidFill>
                <a:latin typeface="Lucida Sans"/>
                <a:cs typeface="Lucida Sans"/>
              </a:rPr>
              <a:t>y</a:t>
            </a:r>
            <a:r>
              <a:rPr sz="3100" i="1" spc="-20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3100" spc="540" dirty="0">
                <a:solidFill>
                  <a:srgbClr val="04182D"/>
                </a:solidFill>
                <a:latin typeface="Book Antiqua"/>
                <a:cs typeface="Book Antiqua"/>
              </a:rPr>
              <a:t>=</a:t>
            </a:r>
            <a:r>
              <a:rPr sz="3100" spc="70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i="1" spc="33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3100" i="1" spc="-650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3100" spc="70" dirty="0">
                <a:solidFill>
                  <a:srgbClr val="04182D"/>
                </a:solidFill>
                <a:latin typeface="Book Antiqua"/>
                <a:cs typeface="Book Antiqua"/>
              </a:rPr>
              <a:t>(</a:t>
            </a:r>
            <a:r>
              <a:rPr sz="3100" i="1" spc="70" dirty="0">
                <a:solidFill>
                  <a:srgbClr val="04182D"/>
                </a:solidFill>
                <a:latin typeface="Lucida Sans"/>
                <a:cs typeface="Lucida Sans"/>
              </a:rPr>
              <a:t>x</a:t>
            </a:r>
            <a:r>
              <a:rPr sz="3100" spc="70" dirty="0">
                <a:solidFill>
                  <a:srgbClr val="04182D"/>
                </a:solidFill>
                <a:latin typeface="Book Antiqua"/>
                <a:cs typeface="Book Antiqua"/>
              </a:rPr>
              <a:t>)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33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3100" i="1" spc="85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unknown.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3250" y="2521950"/>
            <a:ext cx="6791245" cy="440593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87E482-C5F5-72E6-9187-7CDD641EDF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771144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Goals</a:t>
            </a:r>
            <a:r>
              <a:rPr spc="-195" dirty="0"/>
              <a:t> </a:t>
            </a:r>
            <a:r>
              <a:rPr spc="-90" dirty="0"/>
              <a:t>of</a:t>
            </a:r>
            <a:r>
              <a:rPr spc="-180" dirty="0"/>
              <a:t> </a:t>
            </a:r>
            <a:r>
              <a:rPr spc="-254" dirty="0"/>
              <a:t>Supervised</a:t>
            </a:r>
            <a:r>
              <a:rPr spc="-165" dirty="0"/>
              <a:t> </a:t>
            </a:r>
            <a:r>
              <a:rPr spc="-18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946786"/>
            <a:ext cx="10869930" cy="272796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695"/>
              </a:spcBef>
            </a:pP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Find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3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22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best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approximates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33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3100" i="1" spc="-640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-27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3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150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710" dirty="0">
                <a:solidFill>
                  <a:srgbClr val="04182D"/>
                </a:solidFill>
                <a:latin typeface="Book Antiqua"/>
                <a:cs typeface="Book Antiqua"/>
              </a:rPr>
              <a:t>≈</a:t>
            </a:r>
            <a:r>
              <a:rPr sz="3100" spc="9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i="1" spc="28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endParaRPr sz="3100">
              <a:latin typeface="Lucida Sans"/>
              <a:cs typeface="Lucida Sans"/>
            </a:endParaRPr>
          </a:p>
          <a:p>
            <a:pPr marL="25400" marR="1189990" indent="46355">
              <a:lnSpc>
                <a:spcPts val="5160"/>
              </a:lnSpc>
              <a:spcBef>
                <a:spcPts val="570"/>
              </a:spcBef>
            </a:pP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52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Logistic</a:t>
            </a:r>
            <a:r>
              <a:rPr sz="2550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Regression,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Decision</a:t>
            </a:r>
            <a:r>
              <a:rPr sz="2550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Tree,</a:t>
            </a:r>
            <a:r>
              <a:rPr sz="2550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Neural</a:t>
            </a:r>
            <a:r>
              <a:rPr sz="2550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Network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...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Discard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noise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much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possible.</a:t>
            </a:r>
            <a:endParaRPr sz="25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345"/>
              </a:spcBef>
            </a:pP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End</a:t>
            </a:r>
            <a:r>
              <a:rPr sz="2550" b="1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goal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30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44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should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achieve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low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predictive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unseen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datasets.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06750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72256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418554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281BCDCA-E170-4F2E-3006-590403321B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35400"/>
            <a:ext cx="8025765" cy="857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0" dirty="0"/>
              <a:t>Difficulties</a:t>
            </a:r>
            <a:r>
              <a:rPr spc="-110" dirty="0"/>
              <a:t> </a:t>
            </a:r>
            <a:r>
              <a:rPr spc="-265" dirty="0"/>
              <a:t>in</a:t>
            </a:r>
            <a:r>
              <a:rPr spc="-110" dirty="0"/>
              <a:t> </a:t>
            </a:r>
            <a:r>
              <a:rPr spc="-229" dirty="0"/>
              <a:t>Approximating</a:t>
            </a:r>
            <a:r>
              <a:rPr spc="-110" dirty="0"/>
              <a:t> </a:t>
            </a:r>
            <a:r>
              <a:rPr sz="5450" b="0" i="1" spc="530" dirty="0">
                <a:latin typeface="Lucida Sans"/>
                <a:cs typeface="Lucida Sans"/>
              </a:rPr>
              <a:t>f</a:t>
            </a:r>
            <a:endParaRPr sz="5450">
              <a:latin typeface="Lucida Sans"/>
              <a:cs typeface="Lucida San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576220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131022"/>
            <a:ext cx="8636635" cy="137668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695"/>
              </a:spcBef>
            </a:pP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Overfitting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2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605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104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3100" spc="65" dirty="0">
                <a:solidFill>
                  <a:srgbClr val="04182D"/>
                </a:solidFill>
                <a:latin typeface="Book Antiqua"/>
                <a:cs typeface="Book Antiqua"/>
              </a:rPr>
              <a:t>(</a:t>
            </a:r>
            <a:r>
              <a:rPr sz="3100" i="1" spc="65" dirty="0">
                <a:solidFill>
                  <a:srgbClr val="04182D"/>
                </a:solidFill>
                <a:latin typeface="Lucida Sans"/>
                <a:cs typeface="Lucida Sans"/>
              </a:rPr>
              <a:t>x</a:t>
            </a:r>
            <a:r>
              <a:rPr sz="3100" spc="70" dirty="0">
                <a:solidFill>
                  <a:srgbClr val="04182D"/>
                </a:solidFill>
                <a:latin typeface="Book Antiqua"/>
                <a:cs typeface="Book Antiqua"/>
              </a:rPr>
              <a:t>)</a:t>
            </a:r>
            <a:r>
              <a:rPr sz="3100" spc="-7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fits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-10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noise.</a:t>
            </a:r>
            <a:endParaRPr sz="25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600"/>
              </a:spcBef>
            </a:pPr>
            <a:r>
              <a:rPr sz="2550" b="1" spc="-75" dirty="0">
                <a:solidFill>
                  <a:srgbClr val="04182D"/>
                </a:solidFill>
                <a:latin typeface="Tahoma"/>
                <a:cs typeface="Tahoma"/>
              </a:rPr>
              <a:t>Underfitting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2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44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7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flexible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enough</a:t>
            </a:r>
            <a:r>
              <a:rPr sz="2550" spc="-7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approximate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33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3100" i="1" spc="-645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251743"/>
            <a:ext cx="102352" cy="10235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CD91A6-0D12-EB8A-293B-71AE4BAE0C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Overfitting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1497" y="1564342"/>
            <a:ext cx="6161547" cy="533934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8D4CA-93F7-D8F4-3535-F7B8E1C331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9" dirty="0"/>
              <a:t>Underfitting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1497" y="1564345"/>
            <a:ext cx="6161547" cy="533934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8B1F4F-CE58-E8B3-3E68-1E3FBF6FE2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33146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Generalization</a:t>
            </a:r>
            <a:r>
              <a:rPr spc="-65" dirty="0"/>
              <a:t> </a:t>
            </a:r>
            <a:r>
              <a:rPr spc="-145" dirty="0"/>
              <a:t>Error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6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146743"/>
            <a:ext cx="10433685" cy="16681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Generalization</a:t>
            </a:r>
            <a:r>
              <a:rPr sz="2550" b="1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45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b="1" spc="3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825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225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2550" spc="-15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Does</a:t>
            </a:r>
            <a:r>
              <a:rPr sz="2550" spc="29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37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generalize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well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unseen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data?</a:t>
            </a:r>
            <a:endParaRPr sz="25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985"/>
              </a:spcBef>
            </a:pP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It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decomposed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follows: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Generalization</a:t>
            </a:r>
            <a:r>
              <a:rPr sz="2550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endParaRPr sz="2550">
              <a:latin typeface="Tahoma"/>
              <a:cs typeface="Tahoma"/>
            </a:endParaRPr>
          </a:p>
          <a:p>
            <a:pPr marL="71755">
              <a:lnSpc>
                <a:spcPct val="100000"/>
              </a:lnSpc>
              <a:spcBef>
                <a:spcPts val="420"/>
              </a:spcBef>
            </a:pP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135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4182D"/>
                </a:solidFill>
                <a:latin typeface="Book Antiqua"/>
                <a:cs typeface="Book Antiqua"/>
              </a:rPr>
              <a:t>=</a:t>
            </a:r>
            <a:r>
              <a:rPr sz="3100" spc="-50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i="1" spc="-90" dirty="0">
                <a:solidFill>
                  <a:srgbClr val="04182D"/>
                </a:solidFill>
                <a:latin typeface="Lucida Sans"/>
                <a:cs typeface="Lucida Sans"/>
              </a:rPr>
              <a:t>bias</a:t>
            </a:r>
            <a:r>
              <a:rPr sz="3225" spc="-135" baseline="29715" dirty="0">
                <a:solidFill>
                  <a:srgbClr val="04182D"/>
                </a:solidFill>
                <a:latin typeface="Book Antiqua"/>
                <a:cs typeface="Book Antiqua"/>
              </a:rPr>
              <a:t>2</a:t>
            </a:r>
            <a:r>
              <a:rPr sz="3225" spc="390" baseline="2971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4182D"/>
                </a:solidFill>
                <a:latin typeface="Book Antiqua"/>
                <a:cs typeface="Book Antiqua"/>
              </a:rPr>
              <a:t>+</a:t>
            </a:r>
            <a:r>
              <a:rPr sz="3100" spc="-120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i="1" spc="-114" dirty="0">
                <a:solidFill>
                  <a:srgbClr val="04182D"/>
                </a:solidFill>
                <a:latin typeface="Lucida Sans"/>
                <a:cs typeface="Lucida Sans"/>
              </a:rPr>
              <a:t>variance</a:t>
            </a:r>
            <a:r>
              <a:rPr sz="3100" i="1" spc="-290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3100" spc="540" dirty="0">
                <a:solidFill>
                  <a:srgbClr val="04182D"/>
                </a:solidFill>
                <a:latin typeface="Book Antiqua"/>
                <a:cs typeface="Book Antiqua"/>
              </a:rPr>
              <a:t>+</a:t>
            </a:r>
            <a:r>
              <a:rPr sz="3100" spc="-1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-50" dirty="0">
                <a:solidFill>
                  <a:srgbClr val="04182D"/>
                </a:solidFill>
                <a:latin typeface="Book Antiqua"/>
                <a:cs typeface="Book Antiqua"/>
              </a:rPr>
              <a:t>irreducible</a:t>
            </a:r>
            <a:r>
              <a:rPr sz="3100" spc="-3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-10" dirty="0">
                <a:solidFill>
                  <a:srgbClr val="04182D"/>
                </a:solidFill>
                <a:latin typeface="Book Antiqua"/>
                <a:cs typeface="Book Antiqua"/>
              </a:rPr>
              <a:t>error</a:t>
            </a:r>
            <a:endParaRPr sz="3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47039"/>
            <a:ext cx="102352" cy="10235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020B02-9469-58CB-5119-EBC43DE591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57370-2EE7-A729-DDB6-618B2379C5AA}"/>
              </a:ext>
            </a:extLst>
          </p:cNvPr>
          <p:cNvSpPr txBox="1"/>
          <p:nvPr/>
        </p:nvSpPr>
        <p:spPr>
          <a:xfrm>
            <a:off x="834356" y="2978703"/>
            <a:ext cx="1370647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approximating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o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ccurs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underlying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non-linear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underfitting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poorly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means t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enough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ko-K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sensitivity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underlying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o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ccurs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overly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closely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poorly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unseen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means t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Irreducible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measurement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variability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regardless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model's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unmeasured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inconsistencies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randomness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589" y="273885"/>
            <a:ext cx="112966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0" b="1" spc="-185" dirty="0">
                <a:solidFill>
                  <a:srgbClr val="04182D"/>
                </a:solidFill>
                <a:latin typeface="Tahoma"/>
                <a:cs typeface="Tahoma"/>
              </a:rPr>
              <a:t>Bias</a:t>
            </a:r>
            <a:endParaRPr sz="45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6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146743"/>
            <a:ext cx="946848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50" b="1" spc="-105" dirty="0">
                <a:solidFill>
                  <a:srgbClr val="04182D"/>
                </a:solidFill>
                <a:latin typeface="Tahoma"/>
                <a:cs typeface="Tahoma"/>
              </a:rPr>
              <a:t>Bias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term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tells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you,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average,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how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much</a:t>
            </a:r>
            <a:r>
              <a:rPr sz="2550" spc="3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172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710" dirty="0">
                <a:solidFill>
                  <a:srgbClr val="04182D"/>
                </a:solidFill>
                <a:latin typeface="Book Antiqua"/>
                <a:cs typeface="Book Antiqua"/>
              </a:rPr>
              <a:t>≠</a:t>
            </a:r>
            <a:r>
              <a:rPr sz="3100" spc="110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i="1" spc="33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3100" i="1" spc="-635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4489" y="2547526"/>
            <a:ext cx="6811932" cy="4413619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830A30-671C-7509-A0AE-60F583FE77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Variance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0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146736"/>
            <a:ext cx="1147699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Variance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tells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you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how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much</a:t>
            </a:r>
            <a:r>
              <a:rPr sz="2550" spc="3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30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inconsistent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over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different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sets.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8308" y="2559337"/>
            <a:ext cx="6907426" cy="4489787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0AACEA-79AE-C912-141C-73A1A3DB22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Model</a:t>
            </a:r>
            <a:r>
              <a:rPr spc="-130" dirty="0"/>
              <a:t> </a:t>
            </a:r>
            <a:r>
              <a:rPr spc="-165" dirty="0"/>
              <a:t>Complexity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0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146736"/>
            <a:ext cx="9422765" cy="11423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b="1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70" dirty="0">
                <a:solidFill>
                  <a:srgbClr val="04182D"/>
                </a:solidFill>
                <a:latin typeface="Tahoma"/>
                <a:cs typeface="Tahoma"/>
              </a:rPr>
              <a:t>Complexity</a:t>
            </a:r>
            <a:r>
              <a:rPr sz="2550" spc="-7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sets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flexibility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2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81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20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2550" spc="-13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endParaRPr sz="25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985"/>
              </a:spcBef>
            </a:pP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Example: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Maximum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tree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depth,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Minimum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samples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leaf,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47033"/>
            <a:ext cx="102352" cy="10235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50BD12-4CB5-D28C-564C-11BD5BDCE9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20" dirty="0"/>
              <a:t>Bias-</a:t>
            </a:r>
            <a:r>
              <a:rPr spc="-180" dirty="0"/>
              <a:t>Variance</a:t>
            </a:r>
            <a:r>
              <a:rPr spc="-100" dirty="0"/>
              <a:t> </a:t>
            </a:r>
            <a:r>
              <a:rPr spc="-160" dirty="0"/>
              <a:t>Tradeoff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3198" y="1805488"/>
            <a:ext cx="5960534" cy="528580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04D40-9D09-3EB5-4C45-EFD5A08848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959A2-D40F-FF03-4841-FD63B783C75D}"/>
              </a:ext>
            </a:extLst>
          </p:cNvPr>
          <p:cNvSpPr txBox="1"/>
          <p:nvPr/>
        </p:nvSpPr>
        <p:spPr>
          <a:xfrm>
            <a:off x="478589" y="2095500"/>
            <a:ext cx="40235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The </a:t>
            </a:r>
            <a:r>
              <a:rPr lang="en-US" altLang="ko-KR" b="1" dirty="0"/>
              <a:t>Bias-Variance Tradeoff</a:t>
            </a:r>
            <a:r>
              <a:rPr lang="en-US" altLang="ko-KR" dirty="0"/>
              <a:t> is a fundamental concept in supervised learning that describes the tradeoff between </a:t>
            </a:r>
            <a:r>
              <a:rPr lang="en-US" altLang="ko-KR" b="1" dirty="0"/>
              <a:t>bias</a:t>
            </a:r>
            <a:r>
              <a:rPr lang="en-US" altLang="ko-KR" dirty="0"/>
              <a:t> and </a:t>
            </a:r>
            <a:r>
              <a:rPr lang="en-US" altLang="ko-KR" b="1" dirty="0"/>
              <a:t>variance</a:t>
            </a:r>
            <a:r>
              <a:rPr lang="en-US" altLang="ko-KR" dirty="0"/>
              <a:t>, which are two sources of error in a predictive model.</a:t>
            </a:r>
          </a:p>
          <a:p>
            <a:endParaRPr lang="en-US" altLang="ko-KR" dirty="0"/>
          </a:p>
          <a:p>
            <a:r>
              <a:rPr lang="en-US" altLang="ko-KR" dirty="0"/>
              <a:t>The tradeoff occurs because reducing one often increases the other, and finding the right balance between bias and variance is critical for building a model that generalizes well to unseen data.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571A3-7FE7-E035-B529-B567B09A4FD9}"/>
              </a:ext>
            </a:extLst>
          </p:cNvPr>
          <p:cNvSpPr txBox="1"/>
          <p:nvPr/>
        </p:nvSpPr>
        <p:spPr>
          <a:xfrm>
            <a:off x="10907536" y="1504146"/>
            <a:ext cx="416595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underfitting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intricate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possible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20" dirty="0"/>
              <a:t>Bias-</a:t>
            </a:r>
            <a:r>
              <a:rPr spc="-180" dirty="0"/>
              <a:t>Variance</a:t>
            </a:r>
            <a:r>
              <a:rPr spc="-120" dirty="0"/>
              <a:t> </a:t>
            </a:r>
            <a:r>
              <a:rPr spc="-245" dirty="0"/>
              <a:t>Tradeoff:</a:t>
            </a:r>
            <a:r>
              <a:rPr spc="-114" dirty="0"/>
              <a:t> </a:t>
            </a:r>
            <a:r>
              <a:rPr spc="120" dirty="0"/>
              <a:t>A</a:t>
            </a:r>
            <a:r>
              <a:rPr spc="-114" dirty="0"/>
              <a:t> </a:t>
            </a:r>
            <a:r>
              <a:rPr spc="-235" dirty="0"/>
              <a:t>Visual</a:t>
            </a:r>
            <a:r>
              <a:rPr spc="-114" dirty="0"/>
              <a:t> </a:t>
            </a:r>
            <a:r>
              <a:rPr spc="-155" dirty="0"/>
              <a:t>Explanation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430" y="1296700"/>
            <a:ext cx="4950113" cy="548776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0DED3D-9739-EADC-3FAD-B77F219879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470660" marR="1401445" algn="ctr">
              <a:lnSpc>
                <a:spcPts val="6770"/>
              </a:lnSpc>
              <a:spcBef>
                <a:spcPts val="1130"/>
              </a:spcBef>
            </a:pPr>
            <a:r>
              <a:rPr spc="-345" dirty="0"/>
              <a:t>Diagnosing</a:t>
            </a:r>
            <a:r>
              <a:rPr spc="-315" dirty="0"/>
              <a:t> </a:t>
            </a:r>
            <a:r>
              <a:rPr spc="-340" dirty="0"/>
              <a:t>Bias</a:t>
            </a:r>
            <a:r>
              <a:rPr spc="-320" dirty="0"/>
              <a:t> </a:t>
            </a:r>
            <a:r>
              <a:rPr spc="-155" dirty="0"/>
              <a:t>and </a:t>
            </a:r>
            <a:r>
              <a:rPr spc="-660" dirty="0"/>
              <a:t>V</a:t>
            </a:r>
            <a:r>
              <a:rPr spc="-254" dirty="0"/>
              <a:t>a</a:t>
            </a:r>
            <a:r>
              <a:rPr spc="-275" dirty="0"/>
              <a:t>r</a:t>
            </a:r>
            <a:r>
              <a:rPr spc="-340" dirty="0"/>
              <a:t>i</a:t>
            </a:r>
            <a:r>
              <a:rPr spc="-254" dirty="0"/>
              <a:t>a</a:t>
            </a:r>
            <a:r>
              <a:rPr spc="-275" dirty="0"/>
              <a:t>n</a:t>
            </a:r>
            <a:r>
              <a:rPr spc="-245" dirty="0"/>
              <a:t>c</a:t>
            </a:r>
            <a:r>
              <a:rPr spc="-90" dirty="0"/>
              <a:t>e</a:t>
            </a:r>
            <a:r>
              <a:rPr spc="-275" dirty="0"/>
              <a:t> </a:t>
            </a:r>
            <a:r>
              <a:rPr spc="-430" dirty="0"/>
              <a:t>Problems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779270" algn="l"/>
                <a:tab pos="3679825" algn="l"/>
                <a:tab pos="4699635" algn="l"/>
                <a:tab pos="6979920" algn="l"/>
                <a:tab pos="8555990" algn="l"/>
                <a:tab pos="9057640" algn="l"/>
              </a:tabLst>
            </a:pPr>
            <a:r>
              <a:rPr sz="2250" spc="60" dirty="0"/>
              <a:t>M</a:t>
            </a:r>
            <a:r>
              <a:rPr sz="2250" spc="-335" dirty="0"/>
              <a:t> </a:t>
            </a:r>
            <a:r>
              <a:rPr sz="2250" spc="270" dirty="0"/>
              <a:t>AC</a:t>
            </a:r>
            <a:r>
              <a:rPr sz="2250" spc="-335" dirty="0"/>
              <a:t> 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185" dirty="0"/>
              <a:t>-</a:t>
            </a:r>
            <a:r>
              <a:rPr sz="2250" spc="-330" dirty="0"/>
              <a:t> </a:t>
            </a:r>
            <a:r>
              <a:rPr sz="2250" spc="-100" dirty="0"/>
              <a:t>B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5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60" dirty="0"/>
              <a:t>M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25" dirty="0"/>
              <a:t>D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00" dirty="0"/>
              <a:t>L</a:t>
            </a:r>
            <a:r>
              <a:rPr sz="2250" spc="-330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-470" dirty="0"/>
              <a:t>I</a:t>
            </a:r>
            <a:r>
              <a:rPr sz="2250" spc="-340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" dirty="0"/>
              <a:t>Y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0" dirty="0"/>
              <a:t> 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0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189865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Elie</a:t>
            </a:r>
            <a:r>
              <a:rPr sz="255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FFFFFF"/>
                </a:solidFill>
                <a:latin typeface="Tahoma"/>
                <a:cs typeface="Tahoma"/>
              </a:rPr>
              <a:t>Kawerk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3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25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Tahoma"/>
                <a:cs typeface="Tahoma"/>
              </a:rPr>
              <a:t>Scientist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14876D3-7EE8-3F39-5372-EE14A32B31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93154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5" dirty="0"/>
              <a:t>Estimating</a:t>
            </a:r>
            <a:r>
              <a:rPr spc="-95" dirty="0"/>
              <a:t> </a:t>
            </a:r>
            <a:r>
              <a:rPr spc="-229" dirty="0"/>
              <a:t>the</a:t>
            </a:r>
            <a:r>
              <a:rPr spc="-95" dirty="0"/>
              <a:t> </a:t>
            </a:r>
            <a:r>
              <a:rPr spc="-215" dirty="0"/>
              <a:t>Generalization</a:t>
            </a:r>
            <a:r>
              <a:rPr spc="-95" dirty="0"/>
              <a:t> </a:t>
            </a:r>
            <a:r>
              <a:rPr spc="-100" dirty="0"/>
              <a:t>Error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3797257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1174582"/>
            <a:ext cx="8776970" cy="287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How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do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estimate</a:t>
            </a:r>
            <a:r>
              <a:rPr sz="2550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generalization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model?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Cannot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done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directly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because: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60"/>
              </a:spcBef>
            </a:pPr>
            <a:r>
              <a:rPr sz="3100" i="1" spc="33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3100" i="1" spc="105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unknown,</a:t>
            </a:r>
            <a:endParaRPr sz="2550">
              <a:latin typeface="Tahoma"/>
              <a:cs typeface="Tahoma"/>
            </a:endParaRPr>
          </a:p>
          <a:p>
            <a:pPr marL="381000" marR="3037840">
              <a:lnSpc>
                <a:spcPts val="5160"/>
              </a:lnSpc>
              <a:spcBef>
                <a:spcPts val="210"/>
              </a:spcBef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usually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you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only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have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one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dataset, noise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unpredictable.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3D3D0E1-DF53-51C7-C7CB-7C38D6B837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93154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5" dirty="0"/>
              <a:t>Estimating</a:t>
            </a:r>
            <a:r>
              <a:rPr spc="-95" dirty="0"/>
              <a:t> </a:t>
            </a:r>
            <a:r>
              <a:rPr spc="-229" dirty="0"/>
              <a:t>the</a:t>
            </a:r>
            <a:r>
              <a:rPr spc="-95" dirty="0"/>
              <a:t> </a:t>
            </a:r>
            <a:r>
              <a:rPr spc="-215" dirty="0"/>
              <a:t>Generalization</a:t>
            </a:r>
            <a:r>
              <a:rPr spc="-95" dirty="0"/>
              <a:t> </a:t>
            </a:r>
            <a:r>
              <a:rPr spc="-100" dirty="0"/>
              <a:t>Error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65854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54137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4237371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5889" y="1174582"/>
            <a:ext cx="7670165" cy="3318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Solution:</a:t>
            </a:r>
            <a:endParaRPr sz="2550">
              <a:latin typeface="Tahoma"/>
              <a:cs typeface="Tahoma"/>
            </a:endParaRPr>
          </a:p>
          <a:p>
            <a:pPr marL="393700" marR="1405890">
              <a:lnSpc>
                <a:spcPct val="161100"/>
              </a:lnSpc>
              <a:spcBef>
                <a:spcPts val="1520"/>
              </a:spcBef>
            </a:pP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split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test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sets,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fit</a:t>
            </a:r>
            <a:r>
              <a:rPr sz="2550" spc="3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22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set,</a:t>
            </a:r>
            <a:endParaRPr sz="2550">
              <a:latin typeface="Tahoma"/>
              <a:cs typeface="Tahoma"/>
            </a:endParaRPr>
          </a:p>
          <a:p>
            <a:pPr marL="393700" marR="43180">
              <a:lnSpc>
                <a:spcPts val="5480"/>
              </a:lnSpc>
              <a:spcBef>
                <a:spcPts val="114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evaluate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3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90" dirty="0">
                <a:solidFill>
                  <a:srgbClr val="04182D"/>
                </a:solidFill>
                <a:latin typeface="Tahoma"/>
                <a:cs typeface="Tahoma"/>
              </a:rPr>
              <a:t>unseen</a:t>
            </a:r>
            <a:r>
              <a:rPr sz="2550" b="1" spc="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test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set.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generalization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39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217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710" dirty="0">
                <a:solidFill>
                  <a:srgbClr val="04182D"/>
                </a:solidFill>
                <a:latin typeface="Book Antiqua"/>
                <a:cs typeface="Book Antiqua"/>
              </a:rPr>
              <a:t>≈</a:t>
            </a:r>
            <a:r>
              <a:rPr sz="3100" spc="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test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 error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40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81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20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2550" spc="-13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4D64DCB-BD2C-19B1-D88B-820732DA84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120586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Better</a:t>
            </a:r>
            <a:r>
              <a:rPr spc="-114" dirty="0"/>
              <a:t> </a:t>
            </a:r>
            <a:r>
              <a:rPr spc="-160" dirty="0"/>
              <a:t>Model</a:t>
            </a:r>
            <a:r>
              <a:rPr spc="-114" dirty="0"/>
              <a:t> </a:t>
            </a:r>
            <a:r>
              <a:rPr spc="-229" dirty="0"/>
              <a:t>Evaluation</a:t>
            </a:r>
            <a:r>
              <a:rPr spc="-114" dirty="0"/>
              <a:t> </a:t>
            </a:r>
            <a:r>
              <a:rPr spc="-330" dirty="0"/>
              <a:t>with</a:t>
            </a:r>
            <a:r>
              <a:rPr spc="-114" dirty="0"/>
              <a:t> </a:t>
            </a:r>
            <a:r>
              <a:rPr spc="-245" dirty="0"/>
              <a:t>Cross-</a:t>
            </a:r>
            <a:r>
              <a:rPr spc="-165" dirty="0"/>
              <a:t>Validation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74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067497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722550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203604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858657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4356" y="946775"/>
            <a:ext cx="13103860" cy="316420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 marR="17780">
              <a:lnSpc>
                <a:spcPct val="140800"/>
              </a:lnSpc>
              <a:spcBef>
                <a:spcPts val="17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Test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should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touched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until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confident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about</a:t>
            </a:r>
            <a:r>
              <a:rPr sz="2550" spc="3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15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60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2550" spc="-125" dirty="0">
                <a:solidFill>
                  <a:srgbClr val="04182D"/>
                </a:solidFill>
                <a:latin typeface="Tahoma"/>
                <a:cs typeface="Tahoma"/>
              </a:rPr>
              <a:t>'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s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performance.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Evaluating</a:t>
            </a:r>
            <a:r>
              <a:rPr sz="2550" spc="3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22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set: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biased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estimate,</a:t>
            </a:r>
            <a:r>
              <a:rPr sz="2550" spc="3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22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has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already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seen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points.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Solution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dirty="0">
                <a:solidFill>
                  <a:srgbClr val="04182D"/>
                </a:solidFill>
                <a:latin typeface="Book Antiqua"/>
                <a:cs typeface="Book Antiqua"/>
              </a:rPr>
              <a:t>→</a:t>
            </a:r>
            <a:r>
              <a:rPr sz="3100" spc="-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Cross-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Validation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(CV):</a:t>
            </a:r>
            <a:endParaRPr sz="25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70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K-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Fold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5" dirty="0">
                <a:solidFill>
                  <a:srgbClr val="04182D"/>
                </a:solidFill>
                <a:latin typeface="Tahoma"/>
                <a:cs typeface="Tahoma"/>
              </a:rPr>
              <a:t>CV,</a:t>
            </a:r>
            <a:endParaRPr sz="255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2095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Hold-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Out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CV.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E4A7EEB-9A1E-8313-0ED4-11DCF1BD6C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K-</a:t>
            </a:r>
            <a:r>
              <a:rPr spc="-195" dirty="0"/>
              <a:t>Fold</a:t>
            </a:r>
            <a:r>
              <a:rPr spc="-160" dirty="0"/>
              <a:t> </a:t>
            </a:r>
            <a:r>
              <a:rPr spc="95" dirty="0"/>
              <a:t>CV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4905" y="1748866"/>
            <a:ext cx="8751092" cy="538411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D98DB9-F275-BE6D-8AB4-FBF461DCC3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K-</a:t>
            </a:r>
            <a:r>
              <a:rPr spc="-195" dirty="0"/>
              <a:t>Fold</a:t>
            </a:r>
            <a:r>
              <a:rPr spc="-160" dirty="0"/>
              <a:t> </a:t>
            </a:r>
            <a:r>
              <a:rPr spc="95" dirty="0"/>
              <a:t>CV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00"/>
            <a:ext cx="14574919" cy="3029618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731810-B66E-97D7-DFA9-0B2662F4A1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758698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Diagnose</a:t>
            </a:r>
            <a:r>
              <a:rPr spc="-114" dirty="0"/>
              <a:t> </a:t>
            </a:r>
            <a:r>
              <a:rPr spc="-180" dirty="0"/>
              <a:t>Variance</a:t>
            </a:r>
            <a:r>
              <a:rPr spc="-110" dirty="0"/>
              <a:t> </a:t>
            </a:r>
            <a:r>
              <a:rPr spc="-270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6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067509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2548563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203616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858669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4356" y="946788"/>
            <a:ext cx="10950575" cy="3164205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69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If</a:t>
            </a:r>
            <a:r>
              <a:rPr sz="2550" spc="3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22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suffers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from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b="1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variance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65" dirty="0">
                <a:solidFill>
                  <a:srgbClr val="04182D"/>
                </a:solidFill>
                <a:latin typeface="Tahoma"/>
                <a:cs typeface="Tahoma"/>
              </a:rPr>
              <a:t>CV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3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22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-630" dirty="0">
                <a:solidFill>
                  <a:srgbClr val="04182D"/>
                </a:solidFill>
                <a:latin typeface="Tahoma"/>
                <a:cs typeface="Tahoma"/>
              </a:rPr>
              <a:t>&gt;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3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81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20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2550" spc="-13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endParaRPr sz="2550">
              <a:latin typeface="Tahoma"/>
              <a:cs typeface="Tahoma"/>
            </a:endParaRPr>
          </a:p>
          <a:p>
            <a:pPr marL="393700" marR="2075814" indent="-321945">
              <a:lnSpc>
                <a:spcPct val="118800"/>
              </a:lnSpc>
              <a:spcBef>
                <a:spcPts val="900"/>
              </a:spcBef>
            </a:pP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30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said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overfit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set.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remedy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overfitting: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decrease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complexity,</a:t>
            </a:r>
            <a:endParaRPr sz="2550">
              <a:latin typeface="Tahoma"/>
              <a:cs typeface="Tahoma"/>
            </a:endParaRPr>
          </a:p>
          <a:p>
            <a:pPr marL="393700" marR="1145540">
              <a:lnSpc>
                <a:spcPts val="5160"/>
              </a:lnSpc>
              <a:spcBef>
                <a:spcPts val="320"/>
              </a:spcBef>
            </a:pP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ex: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decrease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max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depth,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increase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min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samples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per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leaf,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...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gather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more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data,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..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61F269C-94EC-52D9-DFA3-ED3740280E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35317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Diagnose</a:t>
            </a:r>
            <a:r>
              <a:rPr spc="-130" dirty="0"/>
              <a:t> </a:t>
            </a:r>
            <a:r>
              <a:rPr spc="-215" dirty="0"/>
              <a:t>Bias</a:t>
            </a:r>
            <a:r>
              <a:rPr spc="-125" dirty="0"/>
              <a:t> </a:t>
            </a:r>
            <a:r>
              <a:rPr spc="-270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91986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067509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2548563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203616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858669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4356" y="946788"/>
            <a:ext cx="13142594" cy="3164205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695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if</a:t>
            </a:r>
            <a:r>
              <a:rPr sz="2550" spc="3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22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suffers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from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bias: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65" dirty="0">
                <a:solidFill>
                  <a:srgbClr val="04182D"/>
                </a:solidFill>
                <a:latin typeface="Tahoma"/>
                <a:cs typeface="Tahoma"/>
              </a:rPr>
              <a:t>CV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3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209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710" dirty="0">
                <a:solidFill>
                  <a:srgbClr val="04182D"/>
                </a:solidFill>
                <a:latin typeface="Book Antiqua"/>
                <a:cs typeface="Book Antiqua"/>
              </a:rPr>
              <a:t>≈</a:t>
            </a:r>
            <a:r>
              <a:rPr sz="3100" spc="20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error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3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7025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209" baseline="1702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3100" spc="540" dirty="0">
                <a:solidFill>
                  <a:srgbClr val="04182D"/>
                </a:solidFill>
                <a:latin typeface="Book Antiqua"/>
                <a:cs typeface="Book Antiqua"/>
              </a:rPr>
              <a:t>&gt;&gt;</a:t>
            </a:r>
            <a:r>
              <a:rPr sz="3100" spc="15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desired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error.</a:t>
            </a:r>
            <a:endParaRPr sz="2550">
              <a:latin typeface="Tahoma"/>
              <a:cs typeface="Tahoma"/>
            </a:endParaRPr>
          </a:p>
          <a:p>
            <a:pPr marL="393700" marR="3836670" indent="-321945">
              <a:lnSpc>
                <a:spcPct val="118800"/>
              </a:lnSpc>
              <a:spcBef>
                <a:spcPts val="900"/>
              </a:spcBef>
            </a:pPr>
            <a:r>
              <a:rPr sz="3100" i="1" spc="-770" dirty="0">
                <a:solidFill>
                  <a:srgbClr val="04182D"/>
                </a:solidFill>
                <a:latin typeface="Lucida Sans"/>
                <a:cs typeface="Lucida Sans"/>
              </a:rPr>
              <a:t>f</a:t>
            </a:r>
            <a:r>
              <a:rPr sz="4650" spc="-142" baseline="14336" dirty="0">
                <a:solidFill>
                  <a:srgbClr val="04182D"/>
                </a:solidFill>
                <a:latin typeface="Book Antiqua"/>
                <a:cs typeface="Book Antiqua"/>
              </a:rPr>
              <a:t>^</a:t>
            </a:r>
            <a:r>
              <a:rPr sz="4650" spc="-37" baseline="14336" dirty="0">
                <a:solidFill>
                  <a:srgbClr val="04182D"/>
                </a:solidFill>
                <a:latin typeface="Book Antiqua"/>
                <a:cs typeface="Book Antiqu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said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underfit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set.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remedy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underfitting: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increase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complexity</a:t>
            </a:r>
            <a:endParaRPr sz="2550">
              <a:latin typeface="Tahoma"/>
              <a:cs typeface="Tahoma"/>
            </a:endParaRPr>
          </a:p>
          <a:p>
            <a:pPr marL="393700" marR="3338195">
              <a:lnSpc>
                <a:spcPts val="5160"/>
              </a:lnSpc>
              <a:spcBef>
                <a:spcPts val="320"/>
              </a:spcBef>
            </a:pP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ex: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increase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max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depth,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decrease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min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samples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per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leaf,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...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gather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more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relevant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E7E1E62-B03C-E0CD-4E4A-7DEBCD93EB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K-</a:t>
            </a:r>
            <a:r>
              <a:rPr spc="-195" dirty="0"/>
              <a:t>Fold</a:t>
            </a:r>
            <a:r>
              <a:rPr spc="-150" dirty="0"/>
              <a:t> </a:t>
            </a:r>
            <a:r>
              <a:rPr spc="120" dirty="0"/>
              <a:t>CV</a:t>
            </a:r>
            <a:r>
              <a:rPr spc="-145" dirty="0"/>
              <a:t> </a:t>
            </a:r>
            <a:r>
              <a:rPr spc="-265" dirty="0"/>
              <a:t>in</a:t>
            </a:r>
            <a:r>
              <a:rPr spc="-150" dirty="0"/>
              <a:t> </a:t>
            </a:r>
            <a:r>
              <a:rPr spc="-229" dirty="0"/>
              <a:t>sklearn</a:t>
            </a:r>
            <a:r>
              <a:rPr spc="-145" dirty="0"/>
              <a:t> </a:t>
            </a:r>
            <a:r>
              <a:rPr spc="-254" dirty="0"/>
              <a:t>on</a:t>
            </a:r>
            <a:r>
              <a:rPr spc="-150" dirty="0"/>
              <a:t> </a:t>
            </a:r>
            <a:r>
              <a:rPr spc="-229" dirty="0"/>
              <a:t>the</a:t>
            </a:r>
            <a:r>
              <a:rPr spc="-145" dirty="0"/>
              <a:t> </a:t>
            </a:r>
            <a:r>
              <a:rPr spc="-185" dirty="0"/>
              <a:t>Auto</a:t>
            </a:r>
            <a:r>
              <a:rPr spc="-150" dirty="0"/>
              <a:t> </a:t>
            </a:r>
            <a:r>
              <a:rPr spc="-9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8" cy="61001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96318" y="1199966"/>
            <a:ext cx="6621145" cy="1192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  <a:tabLst>
                <a:tab pos="2760345" algn="l"/>
                <a:tab pos="3172460" algn="l"/>
                <a:tab pos="4271645" algn="l"/>
                <a:tab pos="6195060" algn="l"/>
              </a:tabLst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sklearn.tree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DecisionTreeRegressor sklearn.model_selection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lang="en-US" sz="1800" dirty="0">
                <a:solidFill>
                  <a:srgbClr val="04182D"/>
                </a:solidFill>
                <a:latin typeface="Courier New"/>
                <a:cs typeface="Courier New"/>
              </a:rPr>
              <a:t>        </a:t>
            </a:r>
            <a:r>
              <a:rPr sz="1800" spc="-10" dirty="0" err="1">
                <a:solidFill>
                  <a:srgbClr val="04182D"/>
                </a:solidFill>
                <a:latin typeface="Courier New"/>
                <a:cs typeface="Courier New"/>
              </a:rPr>
              <a:t>train_test_split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 sklearn.metrics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	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mean_squared_error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MSE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5759" y="2480593"/>
            <a:ext cx="208724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cross_val_score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408" y="2366778"/>
            <a:ext cx="4147820" cy="1192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86435">
              <a:lnSpc>
                <a:spcPct val="141800"/>
              </a:lnSpc>
              <a:spcBef>
                <a:spcPts val="95"/>
              </a:spcBef>
              <a:tabLst>
                <a:tab pos="974090" algn="l"/>
              </a:tabLst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sklearn.model_selection 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seed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for</a:t>
            </a:r>
            <a:r>
              <a:rPr sz="1800" spc="-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reproducibility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SEED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BE2F72"/>
                </a:solidFill>
                <a:latin typeface="Courier New"/>
                <a:cs typeface="Courier New"/>
              </a:rPr>
              <a:t>123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408" y="3533590"/>
            <a:ext cx="9644380" cy="31369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Split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data</a:t>
            </a:r>
            <a:r>
              <a:rPr sz="1800" spc="-1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into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70%</a:t>
            </a:r>
            <a:r>
              <a:rPr sz="1800" spc="-1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train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and</a:t>
            </a:r>
            <a:r>
              <a:rPr sz="1800" spc="-1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30%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test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train_test_split(X,y,</a:t>
            </a:r>
            <a:endParaRPr sz="1800">
              <a:latin typeface="Courier New"/>
              <a:cs typeface="Courier New"/>
            </a:endParaRPr>
          </a:p>
          <a:p>
            <a:pPr marL="7157720" marR="5080">
              <a:lnSpc>
                <a:spcPct val="141800"/>
              </a:lnSpc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0.3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, random_state=SEED)</a:t>
            </a:r>
            <a:endParaRPr sz="1800">
              <a:latin typeface="Courier New"/>
              <a:cs typeface="Courier New"/>
            </a:endParaRPr>
          </a:p>
          <a:p>
            <a:pPr marL="12700" marR="1516380">
              <a:lnSpc>
                <a:spcPct val="141800"/>
              </a:lnSpc>
            </a:pP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Instantiate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decision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tree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regressor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and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assign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it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to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 'dt'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dt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DecisionTreeRegressor(max_depth=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4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  <a:p>
            <a:pPr marL="3722370" marR="2890520">
              <a:lnSpc>
                <a:spcPct val="141800"/>
              </a:lnSpc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min_samples_leaf=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0.14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, random_state=SEED)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A36B68A1-0554-F21D-6350-880B8B758B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K-</a:t>
            </a:r>
            <a:r>
              <a:rPr spc="-195" dirty="0"/>
              <a:t>Fold</a:t>
            </a:r>
            <a:r>
              <a:rPr spc="-150" dirty="0"/>
              <a:t> </a:t>
            </a:r>
            <a:r>
              <a:rPr spc="120" dirty="0"/>
              <a:t>CV</a:t>
            </a:r>
            <a:r>
              <a:rPr spc="-145" dirty="0"/>
              <a:t> </a:t>
            </a:r>
            <a:r>
              <a:rPr spc="-265" dirty="0"/>
              <a:t>in</a:t>
            </a:r>
            <a:r>
              <a:rPr spc="-150" dirty="0"/>
              <a:t> </a:t>
            </a:r>
            <a:r>
              <a:rPr spc="-229" dirty="0"/>
              <a:t>sklearn</a:t>
            </a:r>
            <a:r>
              <a:rPr spc="-145" dirty="0"/>
              <a:t> </a:t>
            </a:r>
            <a:r>
              <a:rPr spc="-254" dirty="0"/>
              <a:t>on</a:t>
            </a:r>
            <a:r>
              <a:rPr spc="-150" dirty="0"/>
              <a:t> </a:t>
            </a:r>
            <a:r>
              <a:rPr spc="-229" dirty="0"/>
              <a:t>the</a:t>
            </a:r>
            <a:r>
              <a:rPr spc="-145" dirty="0"/>
              <a:t> </a:t>
            </a:r>
            <a:r>
              <a:rPr spc="-185" dirty="0"/>
              <a:t>Auto</a:t>
            </a:r>
            <a:r>
              <a:rPr spc="-150" dirty="0"/>
              <a:t> </a:t>
            </a:r>
            <a:r>
              <a:rPr spc="-90" dirty="0"/>
              <a:t>Dataset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5732145"/>
          </a:xfrm>
          <a:custGeom>
            <a:avLst/>
            <a:gdLst/>
            <a:ahLst/>
            <a:cxnLst/>
            <a:rect l="l" t="t" r="r" b="b"/>
            <a:pathLst>
              <a:path w="14575155" h="5732145">
                <a:moveTo>
                  <a:pt x="14498413" y="5731709"/>
                </a:moveTo>
                <a:lnTo>
                  <a:pt x="76505" y="5731709"/>
                </a:lnTo>
                <a:lnTo>
                  <a:pt x="71180" y="5731185"/>
                </a:lnTo>
                <a:lnTo>
                  <a:pt x="31920" y="5714922"/>
                </a:lnTo>
                <a:lnTo>
                  <a:pt x="4175" y="5676195"/>
                </a:lnTo>
                <a:lnTo>
                  <a:pt x="0" y="5655204"/>
                </a:lnTo>
                <a:lnTo>
                  <a:pt x="0" y="564982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655204"/>
                </a:lnTo>
                <a:lnTo>
                  <a:pt x="14558132" y="5699788"/>
                </a:lnTo>
                <a:lnTo>
                  <a:pt x="14519404" y="5727533"/>
                </a:lnTo>
                <a:lnTo>
                  <a:pt x="14503737" y="5731185"/>
                </a:lnTo>
                <a:lnTo>
                  <a:pt x="14498413" y="5731709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2352" y="1231899"/>
            <a:ext cx="11546205" cy="542988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# Evaluate the list of MSE ontained by 10-fold </a:t>
            </a:r>
            <a:r>
              <a:rPr sz="2250" spc="-25" dirty="0">
                <a:solidFill>
                  <a:srgbClr val="008600"/>
                </a:solidFill>
                <a:latin typeface="Courier New"/>
                <a:cs typeface="Courier New"/>
              </a:rPr>
              <a:t>CV</a:t>
            </a:r>
            <a:endParaRPr sz="2250" dirty="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# Set n_jobs to -1 in order to exploit all CPU cores in </a:t>
            </a: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computation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MSE_CV = - cross_val_score(dt, X_train, y_train, cv= </a:t>
            </a:r>
            <a:r>
              <a:rPr sz="2250" spc="-25" dirty="0">
                <a:solidFill>
                  <a:srgbClr val="BE2F72"/>
                </a:solidFill>
                <a:latin typeface="Courier New"/>
                <a:cs typeface="Courier New"/>
              </a:rPr>
              <a:t>10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50" dirty="0">
              <a:latin typeface="Courier New"/>
              <a:cs typeface="Courier New"/>
            </a:endParaRPr>
          </a:p>
          <a:p>
            <a:pPr marL="4655185" marR="1209040">
              <a:lnSpc>
                <a:spcPct val="143300"/>
              </a:lnSpc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scoring=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'neg_mean_squared_error'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,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n_jobs</a:t>
            </a:r>
            <a:r>
              <a:rPr sz="22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-</a:t>
            </a:r>
            <a:r>
              <a:rPr sz="2250" spc="-2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 dirty="0">
              <a:latin typeface="Courier New"/>
              <a:cs typeface="Courier New"/>
            </a:endParaRPr>
          </a:p>
          <a:p>
            <a:pPr marL="12700" marR="6367145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# Fit 'dt' to the training </a:t>
            </a:r>
            <a:r>
              <a:rPr sz="2250" spc="-25" dirty="0">
                <a:solidFill>
                  <a:srgbClr val="008600"/>
                </a:solidFill>
                <a:latin typeface="Courier New"/>
                <a:cs typeface="Courier New"/>
              </a:rPr>
              <a:t>set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dt.fit(X_train,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</a:t>
            </a:r>
            <a:endParaRPr sz="2250" dirty="0">
              <a:latin typeface="Courier New"/>
              <a:cs typeface="Courier New"/>
            </a:endParaRPr>
          </a:p>
          <a:p>
            <a:pPr marL="12700" marR="5163185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# Predict the labels of training </a:t>
            </a:r>
            <a:r>
              <a:rPr sz="2250" spc="-25" dirty="0">
                <a:solidFill>
                  <a:srgbClr val="008600"/>
                </a:solidFill>
                <a:latin typeface="Courier New"/>
                <a:cs typeface="Courier New"/>
              </a:rPr>
              <a:t>set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y_predict_train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dt.predict(X_train) </a:t>
            </a: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# Predict the labels of test </a:t>
            </a:r>
            <a:r>
              <a:rPr sz="2250" spc="-25" dirty="0">
                <a:solidFill>
                  <a:srgbClr val="008600"/>
                </a:solidFill>
                <a:latin typeface="Courier New"/>
                <a:cs typeface="Courier New"/>
              </a:rPr>
              <a:t>set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y_predict_test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dt.predict(X_test)</a:t>
            </a:r>
            <a:endParaRPr sz="2250" dirty="0">
              <a:latin typeface="Courier New"/>
              <a:cs typeface="Courier New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CFB0136-F904-3EB9-375B-410F077B57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C271F86-D33B-E990-10C8-832C63305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6B946-CE24-2528-574B-02294F319941}"/>
              </a:ext>
            </a:extLst>
          </p:cNvPr>
          <p:cNvSpPr txBox="1"/>
          <p:nvPr/>
        </p:nvSpPr>
        <p:spPr>
          <a:xfrm>
            <a:off x="478589" y="6762387"/>
            <a:ext cx="148293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cross_val_score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expects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higher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corresponds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better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performance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Squared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(MSE)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MSE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compatible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MSE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-MSE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higher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indicate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better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performance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1289" y="327550"/>
            <a:ext cx="14575155" cy="1146810"/>
          </a:xfrm>
          <a:custGeom>
            <a:avLst/>
            <a:gdLst/>
            <a:ahLst/>
            <a:cxnLst/>
            <a:rect l="l" t="t" r="r" b="b"/>
            <a:pathLst>
              <a:path w="14575155" h="1146810">
                <a:moveTo>
                  <a:pt x="14498413" y="1146341"/>
                </a:moveTo>
                <a:lnTo>
                  <a:pt x="76505" y="1146341"/>
                </a:lnTo>
                <a:lnTo>
                  <a:pt x="71180" y="1145817"/>
                </a:lnTo>
                <a:lnTo>
                  <a:pt x="31920" y="1129555"/>
                </a:lnTo>
                <a:lnTo>
                  <a:pt x="4175" y="1090827"/>
                </a:lnTo>
                <a:lnTo>
                  <a:pt x="0" y="1069836"/>
                </a:lnTo>
                <a:lnTo>
                  <a:pt x="0" y="106446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069836"/>
                </a:lnTo>
                <a:lnTo>
                  <a:pt x="14558132" y="1114421"/>
                </a:lnTo>
                <a:lnTo>
                  <a:pt x="14519404" y="1142166"/>
                </a:lnTo>
                <a:lnTo>
                  <a:pt x="14503737" y="1145817"/>
                </a:lnTo>
                <a:lnTo>
                  <a:pt x="14498413" y="11463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1289" y="1719536"/>
            <a:ext cx="14575155" cy="737235"/>
          </a:xfrm>
          <a:custGeom>
            <a:avLst/>
            <a:gdLst/>
            <a:ahLst/>
            <a:cxnLst/>
            <a:rect l="l" t="t" r="r" b="b"/>
            <a:pathLst>
              <a:path w="14575155" h="737235">
                <a:moveTo>
                  <a:pt x="14498413" y="736933"/>
                </a:moveTo>
                <a:lnTo>
                  <a:pt x="76505" y="736933"/>
                </a:lnTo>
                <a:lnTo>
                  <a:pt x="71180" y="736409"/>
                </a:lnTo>
                <a:lnTo>
                  <a:pt x="31920" y="720147"/>
                </a:lnTo>
                <a:lnTo>
                  <a:pt x="4175" y="681419"/>
                </a:lnTo>
                <a:lnTo>
                  <a:pt x="0" y="660428"/>
                </a:lnTo>
                <a:lnTo>
                  <a:pt x="0" y="65505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660428"/>
                </a:lnTo>
                <a:lnTo>
                  <a:pt x="14558132" y="705013"/>
                </a:lnTo>
                <a:lnTo>
                  <a:pt x="14519404" y="732758"/>
                </a:lnTo>
                <a:lnTo>
                  <a:pt x="14503737" y="736409"/>
                </a:lnTo>
                <a:lnTo>
                  <a:pt x="14498413" y="73693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02115"/>
            <a:ext cx="14575155" cy="1146810"/>
          </a:xfrm>
          <a:custGeom>
            <a:avLst/>
            <a:gdLst/>
            <a:ahLst/>
            <a:cxnLst/>
            <a:rect l="l" t="t" r="r" b="b"/>
            <a:pathLst>
              <a:path w="14575155" h="1146810">
                <a:moveTo>
                  <a:pt x="14498413" y="1146341"/>
                </a:moveTo>
                <a:lnTo>
                  <a:pt x="76505" y="1146341"/>
                </a:lnTo>
                <a:lnTo>
                  <a:pt x="71180" y="1145817"/>
                </a:lnTo>
                <a:lnTo>
                  <a:pt x="31920" y="1129555"/>
                </a:lnTo>
                <a:lnTo>
                  <a:pt x="4175" y="1090827"/>
                </a:lnTo>
                <a:lnTo>
                  <a:pt x="0" y="1069836"/>
                </a:lnTo>
                <a:lnTo>
                  <a:pt x="0" y="106446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069836"/>
                </a:lnTo>
                <a:lnTo>
                  <a:pt x="14558132" y="1114421"/>
                </a:lnTo>
                <a:lnTo>
                  <a:pt x="14519404" y="1142166"/>
                </a:lnTo>
                <a:lnTo>
                  <a:pt x="14503737" y="1145817"/>
                </a:lnTo>
                <a:lnTo>
                  <a:pt x="14498413" y="11463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4094102"/>
            <a:ext cx="14575155" cy="737235"/>
          </a:xfrm>
          <a:custGeom>
            <a:avLst/>
            <a:gdLst/>
            <a:ahLst/>
            <a:cxnLst/>
            <a:rect l="l" t="t" r="r" b="b"/>
            <a:pathLst>
              <a:path w="14575155" h="737235">
                <a:moveTo>
                  <a:pt x="14498413" y="736934"/>
                </a:moveTo>
                <a:lnTo>
                  <a:pt x="76505" y="736934"/>
                </a:lnTo>
                <a:lnTo>
                  <a:pt x="71180" y="736409"/>
                </a:lnTo>
                <a:lnTo>
                  <a:pt x="31920" y="720147"/>
                </a:lnTo>
                <a:lnTo>
                  <a:pt x="4175" y="681419"/>
                </a:lnTo>
                <a:lnTo>
                  <a:pt x="0" y="660428"/>
                </a:lnTo>
                <a:lnTo>
                  <a:pt x="0" y="65505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660428"/>
                </a:lnTo>
                <a:lnTo>
                  <a:pt x="14558132" y="705013"/>
                </a:lnTo>
                <a:lnTo>
                  <a:pt x="14519404" y="732758"/>
                </a:lnTo>
                <a:lnTo>
                  <a:pt x="14503737" y="736409"/>
                </a:lnTo>
                <a:lnTo>
                  <a:pt x="14498413" y="73693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5076681"/>
            <a:ext cx="14575155" cy="1146810"/>
          </a:xfrm>
          <a:custGeom>
            <a:avLst/>
            <a:gdLst/>
            <a:ahLst/>
            <a:cxnLst/>
            <a:rect l="l" t="t" r="r" b="b"/>
            <a:pathLst>
              <a:path w="14575155" h="1146810">
                <a:moveTo>
                  <a:pt x="14498413" y="1146341"/>
                </a:moveTo>
                <a:lnTo>
                  <a:pt x="76505" y="1146341"/>
                </a:lnTo>
                <a:lnTo>
                  <a:pt x="71180" y="1145816"/>
                </a:lnTo>
                <a:lnTo>
                  <a:pt x="31920" y="1129554"/>
                </a:lnTo>
                <a:lnTo>
                  <a:pt x="4175" y="1090827"/>
                </a:lnTo>
                <a:lnTo>
                  <a:pt x="0" y="1069836"/>
                </a:lnTo>
                <a:lnTo>
                  <a:pt x="0" y="106446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069836"/>
                </a:lnTo>
                <a:lnTo>
                  <a:pt x="14558132" y="1114420"/>
                </a:lnTo>
                <a:lnTo>
                  <a:pt x="14519404" y="1142165"/>
                </a:lnTo>
                <a:lnTo>
                  <a:pt x="14503737" y="1145816"/>
                </a:lnTo>
                <a:lnTo>
                  <a:pt x="14498413" y="11463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289" y="6468667"/>
            <a:ext cx="14575155" cy="716915"/>
          </a:xfrm>
          <a:custGeom>
            <a:avLst/>
            <a:gdLst/>
            <a:ahLst/>
            <a:cxnLst/>
            <a:rect l="l" t="t" r="r" b="b"/>
            <a:pathLst>
              <a:path w="14575155" h="716915">
                <a:moveTo>
                  <a:pt x="14498413" y="716463"/>
                </a:moveTo>
                <a:lnTo>
                  <a:pt x="76505" y="716463"/>
                </a:lnTo>
                <a:lnTo>
                  <a:pt x="71180" y="715939"/>
                </a:lnTo>
                <a:lnTo>
                  <a:pt x="31920" y="699675"/>
                </a:lnTo>
                <a:lnTo>
                  <a:pt x="4175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4"/>
                </a:lnTo>
                <a:lnTo>
                  <a:pt x="14574918" y="639958"/>
                </a:lnTo>
                <a:lnTo>
                  <a:pt x="14558132" y="684543"/>
                </a:lnTo>
                <a:lnTo>
                  <a:pt x="14519404" y="712287"/>
                </a:lnTo>
                <a:lnTo>
                  <a:pt x="14503737" y="715939"/>
                </a:lnTo>
                <a:lnTo>
                  <a:pt x="14498413" y="71646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5720" y="386906"/>
            <a:ext cx="9924415" cy="659701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3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CV</a:t>
            </a:r>
            <a:r>
              <a:rPr sz="2000" spc="3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8600"/>
                </a:solidFill>
                <a:latin typeface="Courier New"/>
                <a:cs typeface="Courier New"/>
              </a:rPr>
              <a:t>MSE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'CV</a:t>
            </a:r>
            <a:r>
              <a:rPr sz="2000" spc="6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MSE:</a:t>
            </a:r>
            <a:r>
              <a:rPr sz="2000" spc="6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BE2F72"/>
                </a:solidFill>
                <a:latin typeface="Courier New"/>
                <a:cs typeface="Courier New"/>
              </a:rPr>
              <a:t>{:.2f}'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.</a:t>
            </a:r>
            <a:r>
              <a:rPr sz="2000" spc="-10" dirty="0">
                <a:solidFill>
                  <a:srgbClr val="008600"/>
                </a:solidFill>
                <a:latin typeface="Courier New"/>
                <a:cs typeface="Courier New"/>
              </a:rPr>
              <a:t>format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(MSE_CV.mean()))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CV</a:t>
            </a:r>
            <a:r>
              <a:rPr sz="2000" spc="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MSE:</a:t>
            </a:r>
            <a:r>
              <a:rPr sz="2000" spc="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20.51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Training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8600"/>
                </a:solidFill>
                <a:latin typeface="Courier New"/>
                <a:cs typeface="Courier New"/>
              </a:rPr>
              <a:t>MSE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'Train</a:t>
            </a:r>
            <a:r>
              <a:rPr sz="2000" spc="1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MSE:</a:t>
            </a:r>
            <a:r>
              <a:rPr sz="2000" spc="1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{:.2f}'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.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format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(MSE(y_train,</a:t>
            </a:r>
            <a:r>
              <a:rPr sz="2000" spc="1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y_predict_train)))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Train</a:t>
            </a:r>
            <a:r>
              <a:rPr sz="200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MSE:</a:t>
            </a:r>
            <a:r>
              <a:rPr sz="200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15.30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3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Test</a:t>
            </a:r>
            <a:r>
              <a:rPr sz="2000" spc="4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r>
              <a:rPr sz="2000" spc="4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8600"/>
                </a:solidFill>
                <a:latin typeface="Courier New"/>
                <a:cs typeface="Courier New"/>
              </a:rPr>
              <a:t>MSE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'Test</a:t>
            </a:r>
            <a:r>
              <a:rPr sz="2000" spc="114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MSE:</a:t>
            </a:r>
            <a:r>
              <a:rPr sz="2000" spc="114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{:.2f}'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.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format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(MSE(y_test,</a:t>
            </a:r>
            <a:r>
              <a:rPr sz="2000" spc="114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y_predict_test)))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Test</a:t>
            </a:r>
            <a:r>
              <a:rPr sz="2000" spc="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MSE:</a:t>
            </a:r>
            <a:r>
              <a:rPr sz="200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20.92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761E92-5FEF-5C53-B11D-FEC2F7CD2E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2177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2860"/>
              </a:spcBef>
            </a:pPr>
            <a:r>
              <a:rPr spc="-375" dirty="0"/>
              <a:t>Ensemble</a:t>
            </a:r>
            <a:r>
              <a:rPr spc="-305" dirty="0"/>
              <a:t> </a:t>
            </a:r>
            <a:r>
              <a:rPr spc="-390" dirty="0"/>
              <a:t>Learning</a:t>
            </a:r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779270" algn="l"/>
                <a:tab pos="3679825" algn="l"/>
                <a:tab pos="4699635" algn="l"/>
                <a:tab pos="6979920" algn="l"/>
                <a:tab pos="8555990" algn="l"/>
                <a:tab pos="9057640" algn="l"/>
              </a:tabLst>
            </a:pPr>
            <a:r>
              <a:rPr sz="2250" spc="60" dirty="0"/>
              <a:t>M</a:t>
            </a:r>
            <a:r>
              <a:rPr sz="2250" spc="-335" dirty="0"/>
              <a:t> </a:t>
            </a:r>
            <a:r>
              <a:rPr sz="2250" spc="270" dirty="0"/>
              <a:t>AC</a:t>
            </a:r>
            <a:r>
              <a:rPr sz="2250" spc="-335" dirty="0"/>
              <a:t> 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185" dirty="0"/>
              <a:t>-</a:t>
            </a:r>
            <a:r>
              <a:rPr sz="2250" spc="-330" dirty="0"/>
              <a:t> </a:t>
            </a:r>
            <a:r>
              <a:rPr sz="2250" spc="-100" dirty="0"/>
              <a:t>B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5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60" dirty="0"/>
              <a:t>M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-25" dirty="0"/>
              <a:t>D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00" dirty="0"/>
              <a:t>L</a:t>
            </a:r>
            <a:r>
              <a:rPr sz="2250" spc="-330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-470" dirty="0"/>
              <a:t>I</a:t>
            </a:r>
            <a:r>
              <a:rPr sz="2250" spc="-340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" dirty="0"/>
              <a:t>Y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0" dirty="0"/>
              <a:t> 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0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189865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Elie</a:t>
            </a:r>
            <a:r>
              <a:rPr sz="255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FFFFFF"/>
                </a:solidFill>
                <a:latin typeface="Tahoma"/>
                <a:cs typeface="Tahoma"/>
              </a:rPr>
              <a:t>Kawerk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3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25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Tahoma"/>
                <a:cs typeface="Tahoma"/>
              </a:rPr>
              <a:t>Scientist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348C478-A56F-7309-CA6A-81AE23D0AD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73214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Advantages</a:t>
            </a:r>
            <a:r>
              <a:rPr spc="-165" dirty="0"/>
              <a:t> </a:t>
            </a:r>
            <a:r>
              <a:rPr spc="-90" dirty="0"/>
              <a:t>of</a:t>
            </a:r>
            <a:r>
              <a:rPr spc="-170" dirty="0"/>
              <a:t> </a:t>
            </a:r>
            <a:r>
              <a:rPr spc="-120" dirty="0"/>
              <a:t>CARTs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9686290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Simple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understand.</a:t>
            </a:r>
            <a:endParaRPr sz="2550">
              <a:latin typeface="Tahoma"/>
              <a:cs typeface="Tahoma"/>
            </a:endParaRPr>
          </a:p>
          <a:p>
            <a:pPr marL="12700" marR="6760209">
              <a:lnSpc>
                <a:spcPts val="5160"/>
              </a:lnSpc>
              <a:spcBef>
                <a:spcPts val="520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Simple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interpret.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Easy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use.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Flexibility: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ability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describe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non-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linear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dependencies.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Preprocessing: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no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need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standardize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normalize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features,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EA479FF-B598-2609-8140-D453F1A54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46671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Limitations</a:t>
            </a:r>
            <a:r>
              <a:rPr spc="-165" dirty="0"/>
              <a:t> </a:t>
            </a:r>
            <a:r>
              <a:rPr spc="-90" dirty="0"/>
              <a:t>of</a:t>
            </a:r>
            <a:r>
              <a:rPr spc="-225" dirty="0"/>
              <a:t> </a:t>
            </a:r>
            <a:r>
              <a:rPr spc="-130" dirty="0"/>
              <a:t>CARTs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1122694" cy="23427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Classification: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only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produce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95" dirty="0">
                <a:solidFill>
                  <a:srgbClr val="04182D"/>
                </a:solidFill>
                <a:latin typeface="Tahoma"/>
                <a:cs typeface="Tahoma"/>
              </a:rPr>
              <a:t>orthogonal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decision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boundaries.</a:t>
            </a:r>
            <a:endParaRPr sz="25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Sensitive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small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variations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set.</a:t>
            </a:r>
            <a:endParaRPr sz="2550" dirty="0">
              <a:latin typeface="Tahoma"/>
              <a:cs typeface="Tahoma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variance: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unconstrained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CARTs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95" dirty="0">
                <a:solidFill>
                  <a:srgbClr val="04182D"/>
                </a:solidFill>
                <a:latin typeface="Tahoma"/>
                <a:cs typeface="Tahoma"/>
              </a:rPr>
              <a:t>may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overfit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set.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Solution: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ensemble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learning.</a:t>
            </a:r>
            <a:endParaRPr sz="255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572DAEA-B4B3-3BE6-C370-CE9C73B74D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C713F-44DF-367D-68EB-47ABC5A26F90}"/>
              </a:ext>
            </a:extLst>
          </p:cNvPr>
          <p:cNvSpPr txBox="1"/>
          <p:nvPr/>
        </p:nvSpPr>
        <p:spPr>
          <a:xfrm>
            <a:off x="822947" y="4465714"/>
            <a:ext cx="139116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What Does "Orthogonal Decision Boundaries" Mean?</a:t>
            </a:r>
          </a:p>
          <a:p>
            <a:pPr>
              <a:buFont typeface="+mj-lt"/>
              <a:buAutoNum type="arabicPeriod"/>
            </a:pPr>
            <a:r>
              <a:rPr lang="en-US" altLang="ko-KR" b="1" dirty="0"/>
              <a:t>Orthogonal</a:t>
            </a:r>
            <a:r>
              <a:rPr lang="en-US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dirty="0"/>
              <a:t>In the context of CART, "orthogonal" means that splits (decision boundaries) are aligned with the axes of the feature space.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dirty="0"/>
              <a:t>Each split divides the data by comparing a feature to a threshold, creating hyperplanes that are perpendicular to the feature axis.</a:t>
            </a:r>
          </a:p>
          <a:p>
            <a:pPr>
              <a:buFont typeface="+mj-lt"/>
              <a:buAutoNum type="arabicPeriod"/>
            </a:pPr>
            <a:r>
              <a:rPr lang="en-US" altLang="ko-KR" b="1" dirty="0"/>
              <a:t>Single-Feature-Based Splits</a:t>
            </a:r>
            <a:r>
              <a:rPr lang="en-US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dirty="0"/>
              <a:t>CART considers one feature at a time for splitting.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dirty="0"/>
              <a:t>The resulting decision regions are rectangular (in 2D) or hyper-rectangular (in higher dimensions).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35" dirty="0"/>
              <a:t>Ensemble</a:t>
            </a:r>
            <a:r>
              <a:rPr spc="-100" dirty="0"/>
              <a:t> </a:t>
            </a:r>
            <a:r>
              <a:rPr spc="-19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867140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Train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different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same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dataset.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Let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each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make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its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predictions.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ts val="5160"/>
              </a:lnSpc>
              <a:spcBef>
                <a:spcPts val="520"/>
              </a:spcBef>
            </a:pP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Meta-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model: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aggregates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predictions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individual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models.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Final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prediction: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more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robust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less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prone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errors.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Best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results: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skillful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different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ways.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463EEF2-F3AE-1F62-2440-8C4013F1CD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BF90CF-0245-027C-2FB3-EB5A3632E9B3}"/>
              </a:ext>
            </a:extLst>
          </p:cNvPr>
          <p:cNvSpPr txBox="1"/>
          <p:nvPr/>
        </p:nvSpPr>
        <p:spPr>
          <a:xfrm>
            <a:off x="706494" y="6210300"/>
            <a:ext cx="141445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Ensemble learning</a:t>
            </a:r>
            <a:r>
              <a:rPr lang="en-US" altLang="ko-KR" dirty="0"/>
              <a:t> is a machine learning technique where multiple models (often referred to as "weak learners" or "base models") are combined to create a more powerful and robust model, called an </a:t>
            </a:r>
            <a:r>
              <a:rPr lang="en-US" altLang="ko-KR" b="1" dirty="0"/>
              <a:t>ensemble</a:t>
            </a:r>
            <a:r>
              <a:rPr lang="en-US" altLang="ko-KR" dirty="0"/>
              <a:t>. The goal is to improve performance by leveraging the strengths of individual models while minimizing their weaknesses.</a:t>
            </a:r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35" dirty="0"/>
              <a:t>Ensemble</a:t>
            </a:r>
            <a:r>
              <a:rPr spc="-140" dirty="0"/>
              <a:t> </a:t>
            </a:r>
            <a:r>
              <a:rPr spc="-265" dirty="0"/>
              <a:t>Learning:</a:t>
            </a:r>
            <a:r>
              <a:rPr spc="-135" dirty="0"/>
              <a:t> </a:t>
            </a:r>
            <a:r>
              <a:rPr spc="120" dirty="0"/>
              <a:t>A</a:t>
            </a:r>
            <a:r>
              <a:rPr spc="-135" dirty="0"/>
              <a:t> </a:t>
            </a:r>
            <a:r>
              <a:rPr spc="-235" dirty="0"/>
              <a:t>Visual</a:t>
            </a:r>
            <a:r>
              <a:rPr spc="-135" dirty="0"/>
              <a:t> </a:t>
            </a:r>
            <a:r>
              <a:rPr spc="-160" dirty="0"/>
              <a:t>Explanation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2773" y="1525044"/>
            <a:ext cx="8557072" cy="550141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6D8CFB-807C-70DF-767C-FBD9B6BCD0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35" dirty="0"/>
              <a:t>Ensemble</a:t>
            </a:r>
            <a:r>
              <a:rPr spc="-125" dirty="0"/>
              <a:t> </a:t>
            </a:r>
            <a:r>
              <a:rPr spc="-240" dirty="0"/>
              <a:t>Learning</a:t>
            </a:r>
            <a:r>
              <a:rPr spc="-120" dirty="0"/>
              <a:t> </a:t>
            </a:r>
            <a:r>
              <a:rPr spc="-265" dirty="0"/>
              <a:t>in</a:t>
            </a:r>
            <a:r>
              <a:rPr spc="-125" dirty="0"/>
              <a:t> </a:t>
            </a:r>
            <a:r>
              <a:rPr spc="-195" dirty="0"/>
              <a:t>Practice:</a:t>
            </a:r>
            <a:r>
              <a:rPr spc="-120" dirty="0"/>
              <a:t> </a:t>
            </a:r>
            <a:r>
              <a:rPr spc="-275" dirty="0"/>
              <a:t>Voting</a:t>
            </a:r>
            <a:r>
              <a:rPr spc="-125" dirty="0"/>
              <a:t> </a:t>
            </a:r>
            <a:r>
              <a:rPr spc="-90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014880"/>
            <a:ext cx="9551035" cy="1888489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85"/>
              </a:spcBef>
            </a:pP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Binary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classification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task.</a:t>
            </a:r>
            <a:endParaRPr sz="2550">
              <a:latin typeface="Tahoma"/>
              <a:cs typeface="Tahoma"/>
            </a:endParaRPr>
          </a:p>
          <a:p>
            <a:pPr marL="25400" marR="17780">
              <a:lnSpc>
                <a:spcPts val="5160"/>
              </a:lnSpc>
              <a:spcBef>
                <a:spcPts val="320"/>
              </a:spcBef>
              <a:tabLst>
                <a:tab pos="7120255" algn="l"/>
              </a:tabLst>
            </a:pPr>
            <a:r>
              <a:rPr sz="3100" i="1" spc="180" dirty="0">
                <a:solidFill>
                  <a:srgbClr val="04182D"/>
                </a:solidFill>
                <a:latin typeface="Lucida Sans"/>
                <a:cs typeface="Lucida Sans"/>
              </a:rPr>
              <a:t>N</a:t>
            </a:r>
            <a:r>
              <a:rPr sz="3100" i="1" spc="114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classifiers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make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predictions: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75" dirty="0">
                <a:solidFill>
                  <a:srgbClr val="04182D"/>
                </a:solidFill>
                <a:latin typeface="Lucida Sans"/>
                <a:cs typeface="Lucida Sans"/>
              </a:rPr>
              <a:t>P</a:t>
            </a:r>
            <a:r>
              <a:rPr sz="3225" spc="112" baseline="-12919" dirty="0">
                <a:solidFill>
                  <a:srgbClr val="04182D"/>
                </a:solidFill>
                <a:latin typeface="Book Antiqua"/>
                <a:cs typeface="Book Antiqua"/>
              </a:rPr>
              <a:t>1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75" dirty="0">
                <a:solidFill>
                  <a:srgbClr val="04182D"/>
                </a:solidFill>
                <a:latin typeface="Lucida Sans"/>
                <a:cs typeface="Lucida Sans"/>
              </a:rPr>
              <a:t>P</a:t>
            </a:r>
            <a:r>
              <a:rPr sz="3225" spc="112" baseline="-12919" dirty="0">
                <a:solidFill>
                  <a:srgbClr val="04182D"/>
                </a:solidFill>
                <a:latin typeface="Book Antiqua"/>
                <a:cs typeface="Book Antiqua"/>
              </a:rPr>
              <a:t>2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50" dirty="0">
                <a:solidFill>
                  <a:srgbClr val="04182D"/>
                </a:solidFill>
                <a:latin typeface="Tahoma"/>
                <a:cs typeface="Tahoma"/>
              </a:rPr>
              <a:t>...,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155" dirty="0">
                <a:solidFill>
                  <a:srgbClr val="04182D"/>
                </a:solidFill>
                <a:latin typeface="Lucida Sans"/>
                <a:cs typeface="Lucida Sans"/>
              </a:rPr>
              <a:t>P</a:t>
            </a:r>
            <a:r>
              <a:rPr sz="3225" i="1" spc="232" baseline="-12919" dirty="0">
                <a:solidFill>
                  <a:srgbClr val="04182D"/>
                </a:solidFill>
                <a:latin typeface="Lucida Sans"/>
                <a:cs typeface="Lucida Sans"/>
              </a:rPr>
              <a:t>N</a:t>
            </a:r>
            <a:r>
              <a:rPr sz="3225" i="1" baseline="-12919" dirty="0">
                <a:solidFill>
                  <a:srgbClr val="04182D"/>
                </a:solidFill>
                <a:latin typeface="Lucida Sans"/>
                <a:cs typeface="Lucida Sans"/>
              </a:rPr>
              <a:t>	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100" i="1" spc="165" dirty="0">
                <a:solidFill>
                  <a:srgbClr val="04182D"/>
                </a:solidFill>
                <a:latin typeface="Lucida Sans"/>
                <a:cs typeface="Lucida Sans"/>
              </a:rPr>
              <a:t>P</a:t>
            </a:r>
            <a:r>
              <a:rPr sz="3225" i="1" spc="247" baseline="-12919" dirty="0">
                <a:solidFill>
                  <a:srgbClr val="04182D"/>
                </a:solidFill>
                <a:latin typeface="Lucida Sans"/>
                <a:cs typeface="Lucida Sans"/>
              </a:rPr>
              <a:t>i</a:t>
            </a:r>
            <a:r>
              <a:rPr sz="3225" i="1" spc="345" baseline="-12919" dirty="0">
                <a:solidFill>
                  <a:srgbClr val="04182D"/>
                </a:solidFill>
                <a:latin typeface="Lucida Sans"/>
                <a:cs typeface="Lucida Sans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330" dirty="0">
                <a:solidFill>
                  <a:srgbClr val="04182D"/>
                </a:solidFill>
                <a:latin typeface="Tahoma"/>
                <a:cs typeface="Tahoma"/>
              </a:rPr>
              <a:t>0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30" dirty="0">
                <a:solidFill>
                  <a:srgbClr val="04182D"/>
                </a:solidFill>
                <a:latin typeface="Tahoma"/>
                <a:cs typeface="Tahoma"/>
              </a:rPr>
              <a:t>1.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Meta-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prediction: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hard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voting.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C6A1C5B-5876-EEF9-0E22-4F9524CF47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Hard</a:t>
            </a:r>
            <a:r>
              <a:rPr spc="-145" dirty="0"/>
              <a:t> </a:t>
            </a:r>
            <a:r>
              <a:rPr spc="-285" dirty="0"/>
              <a:t>Voting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796" y="1312305"/>
            <a:ext cx="8021835" cy="5820661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64E6D-2149-177C-279D-E8E433F939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75" dirty="0"/>
              <a:t>Voting</a:t>
            </a:r>
            <a:r>
              <a:rPr spc="-165" dirty="0"/>
              <a:t> Classifier </a:t>
            </a:r>
            <a:r>
              <a:rPr spc="-265" dirty="0"/>
              <a:t>in</a:t>
            </a:r>
            <a:r>
              <a:rPr spc="-160" dirty="0"/>
              <a:t> </a:t>
            </a:r>
            <a:r>
              <a:rPr spc="-229" dirty="0"/>
              <a:t>sklearn</a:t>
            </a:r>
            <a:r>
              <a:rPr spc="-165" dirty="0"/>
              <a:t> </a:t>
            </a:r>
            <a:r>
              <a:rPr spc="-310" dirty="0"/>
              <a:t>(Breast-</a:t>
            </a:r>
            <a:r>
              <a:rPr spc="-35" dirty="0"/>
              <a:t>Cancer</a:t>
            </a:r>
            <a:r>
              <a:rPr spc="-160" dirty="0"/>
              <a:t> </a:t>
            </a:r>
            <a:r>
              <a:rPr spc="-140" dirty="0"/>
              <a:t>dataset)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788"/>
            <a:ext cx="14574918" cy="5445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5720" y="1226143"/>
            <a:ext cx="8378190" cy="2604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5495" marR="159385" indent="-773430">
              <a:lnSpc>
                <a:spcPct val="141000"/>
              </a:lnSpc>
              <a:spcBef>
                <a:spcPts val="95"/>
              </a:spcBef>
              <a:tabLst>
                <a:tab pos="4342765" algn="l"/>
                <a:tab pos="5580380" algn="l"/>
              </a:tabLst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Import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functions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to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compute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accuracy</a:t>
            </a:r>
            <a:r>
              <a:rPr sz="2000" spc="6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and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split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8600"/>
                </a:solidFill>
                <a:latin typeface="Courier New"/>
                <a:cs typeface="Courier New"/>
              </a:rPr>
              <a:t>data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sklearn.metrics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accuracy_score sklearn.model_selection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lang="en-US" sz="2000" dirty="0">
                <a:solidFill>
                  <a:srgbClr val="04182D"/>
                </a:solidFill>
                <a:latin typeface="Courier New"/>
                <a:cs typeface="Courier New"/>
              </a:rPr>
              <a:t>         </a:t>
            </a:r>
            <a:r>
              <a:rPr sz="2000" spc="-10" dirty="0" err="1">
                <a:solidFill>
                  <a:srgbClr val="04182D"/>
                </a:solidFill>
                <a:latin typeface="Courier New"/>
                <a:cs typeface="Courier New"/>
              </a:rPr>
              <a:t>train_test_split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000" dirty="0">
              <a:latin typeface="Courier New"/>
              <a:cs typeface="Courier New"/>
            </a:endParaRPr>
          </a:p>
          <a:p>
            <a:pPr marL="785495" marR="5080" indent="-773430">
              <a:lnSpc>
                <a:spcPct val="141000"/>
              </a:lnSpc>
              <a:spcBef>
                <a:spcPts val="5"/>
              </a:spcBef>
              <a:tabLst>
                <a:tab pos="5116195" algn="l"/>
              </a:tabLst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8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Import</a:t>
            </a:r>
            <a:r>
              <a:rPr sz="2000" spc="8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models,</a:t>
            </a:r>
            <a:r>
              <a:rPr sz="2000" spc="8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including</a:t>
            </a:r>
            <a:r>
              <a:rPr sz="2000" spc="8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VotingClassifier</a:t>
            </a:r>
            <a:r>
              <a:rPr sz="2000" spc="8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meta-</a:t>
            </a:r>
            <a:r>
              <a:rPr sz="2000" spc="-10" dirty="0">
                <a:solidFill>
                  <a:srgbClr val="008600"/>
                </a:solidFill>
                <a:latin typeface="Courier New"/>
                <a:cs typeface="Courier New"/>
              </a:rPr>
              <a:t>model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sklearn.linear_model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LogisticRegression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7831" y="4355657"/>
            <a:ext cx="48958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5" dirty="0">
                <a:solidFill>
                  <a:srgbClr val="04182D"/>
                </a:solidFill>
                <a:latin typeface="Courier New"/>
                <a:cs typeface="Courier New"/>
              </a:rPr>
              <a:t>KNN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8989" y="3805413"/>
            <a:ext cx="2655570" cy="1315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95"/>
              </a:spcBef>
            </a:pP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sklearn.tree sklearn.neighbors sklearn.ensemble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2257" y="3805413"/>
            <a:ext cx="3892550" cy="1315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5495" marR="5080" indent="-773430">
              <a:lnSpc>
                <a:spcPct val="141000"/>
              </a:lnSpc>
              <a:spcBef>
                <a:spcPts val="95"/>
              </a:spcBef>
            </a:pP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DecisionTreeClassifier KNeighborsClassifier</a:t>
            </a:r>
            <a:endParaRPr sz="2000">
              <a:latin typeface="Courier New"/>
              <a:cs typeface="Courier New"/>
            </a:endParaRPr>
          </a:p>
          <a:p>
            <a:pPr marL="631190">
              <a:lnSpc>
                <a:spcPct val="100000"/>
              </a:lnSpc>
              <a:spcBef>
                <a:spcPts val="985"/>
              </a:spcBef>
            </a:pP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VotingClassifier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720" y="5524926"/>
            <a:ext cx="4665980" cy="885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9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3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r>
              <a:rPr sz="2000" spc="4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seed</a:t>
            </a:r>
            <a:r>
              <a:rPr sz="2000" spc="4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for</a:t>
            </a:r>
            <a:r>
              <a:rPr sz="2000" spc="4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Courier New"/>
                <a:cs typeface="Courier New"/>
              </a:rPr>
              <a:t>reproducibility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SEED</a:t>
            </a:r>
            <a:r>
              <a:rPr sz="2000" spc="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6C59829-2D21-1CD8-D374-3F2D385A3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75" dirty="0"/>
              <a:t>Voting</a:t>
            </a:r>
            <a:r>
              <a:rPr spc="-165" dirty="0"/>
              <a:t> Classifier </a:t>
            </a:r>
            <a:r>
              <a:rPr spc="-265" dirty="0"/>
              <a:t>in</a:t>
            </a:r>
            <a:r>
              <a:rPr spc="-160" dirty="0"/>
              <a:t> </a:t>
            </a:r>
            <a:r>
              <a:rPr spc="-229" dirty="0"/>
              <a:t>sklearn</a:t>
            </a:r>
            <a:r>
              <a:rPr spc="-165" dirty="0"/>
              <a:t> </a:t>
            </a:r>
            <a:r>
              <a:rPr spc="-310" dirty="0"/>
              <a:t>(Breast-</a:t>
            </a:r>
            <a:r>
              <a:rPr spc="-35" dirty="0"/>
              <a:t>Cancer</a:t>
            </a:r>
            <a:r>
              <a:rPr spc="-160" dirty="0"/>
              <a:t> </a:t>
            </a:r>
            <a:r>
              <a:rPr spc="-140" dirty="0"/>
              <a:t>dataset)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788"/>
            <a:ext cx="14575155" cy="4933950"/>
          </a:xfrm>
          <a:custGeom>
            <a:avLst/>
            <a:gdLst/>
            <a:ahLst/>
            <a:cxnLst/>
            <a:rect l="l" t="t" r="r" b="b"/>
            <a:pathLst>
              <a:path w="14575155" h="4933950">
                <a:moveTo>
                  <a:pt x="14498413" y="4933363"/>
                </a:moveTo>
                <a:lnTo>
                  <a:pt x="76505" y="4933363"/>
                </a:lnTo>
                <a:lnTo>
                  <a:pt x="71180" y="4932839"/>
                </a:lnTo>
                <a:lnTo>
                  <a:pt x="31920" y="4916578"/>
                </a:lnTo>
                <a:lnTo>
                  <a:pt x="4175" y="4877850"/>
                </a:lnTo>
                <a:lnTo>
                  <a:pt x="0" y="4856859"/>
                </a:lnTo>
                <a:lnTo>
                  <a:pt x="0" y="485148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856859"/>
                </a:lnTo>
                <a:lnTo>
                  <a:pt x="14558132" y="4901443"/>
                </a:lnTo>
                <a:lnTo>
                  <a:pt x="14519404" y="4929188"/>
                </a:lnTo>
                <a:lnTo>
                  <a:pt x="14503737" y="4932839"/>
                </a:lnTo>
                <a:lnTo>
                  <a:pt x="14498413" y="49333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408" y="1199942"/>
            <a:ext cx="12117705" cy="469265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Split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data</a:t>
            </a:r>
            <a:r>
              <a:rPr sz="1800" spc="-1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into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70%</a:t>
            </a:r>
            <a:r>
              <a:rPr sz="1800" spc="-1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train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and</a:t>
            </a:r>
            <a:r>
              <a:rPr sz="1800" spc="-1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30%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08600"/>
                </a:solidFill>
                <a:latin typeface="Courier New"/>
                <a:cs typeface="Courier New"/>
              </a:rPr>
              <a:t>test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180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train_test_split(X,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endParaRPr sz="1800">
              <a:latin typeface="Courier New"/>
              <a:cs typeface="Courier New"/>
            </a:endParaRPr>
          </a:p>
          <a:p>
            <a:pPr marL="7157720" marR="2340610">
              <a:lnSpc>
                <a:spcPct val="141800"/>
              </a:lnSpc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1800" spc="-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BE2F72"/>
                </a:solidFill>
                <a:latin typeface="Courier New"/>
                <a:cs typeface="Courier New"/>
              </a:rPr>
              <a:t>0.3</a:t>
            </a:r>
            <a:r>
              <a:rPr sz="1800" spc="-20" dirty="0">
                <a:solidFill>
                  <a:srgbClr val="04182D"/>
                </a:solidFill>
                <a:latin typeface="Courier New"/>
                <a:cs typeface="Courier New"/>
              </a:rPr>
              <a:t>,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1800" spc="-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SEED)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1800" spc="-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Instantiate</a:t>
            </a:r>
            <a:r>
              <a:rPr sz="1800" spc="-3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individual</a:t>
            </a:r>
            <a:r>
              <a:rPr sz="1800" spc="-3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classifiers</a:t>
            </a:r>
            <a:endParaRPr sz="1800">
              <a:latin typeface="Courier New"/>
              <a:cs typeface="Courier New"/>
            </a:endParaRPr>
          </a:p>
          <a:p>
            <a:pPr marL="12700" marR="6325235">
              <a:lnSpc>
                <a:spcPct val="141800"/>
              </a:lnSpc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lr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LogisticRegression(random_state=SEED)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knn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KNN()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dt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DecisionTreeClassifier(random_state=SEED)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</a:pP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1800" spc="-3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Define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a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list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called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classifier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that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contains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tuples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(classifier_name,</a:t>
            </a:r>
            <a:r>
              <a:rPr sz="1800" spc="-2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classifier)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classifiers</a:t>
            </a:r>
            <a:r>
              <a:rPr sz="180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[(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'Logistic</a:t>
            </a:r>
            <a:r>
              <a:rPr sz="1800" spc="-4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Regression'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8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4182D"/>
                </a:solidFill>
                <a:latin typeface="Courier New"/>
                <a:cs typeface="Courier New"/>
              </a:rPr>
              <a:t>lr),</a:t>
            </a:r>
            <a:endParaRPr sz="1800">
              <a:latin typeface="Courier New"/>
              <a:cs typeface="Courier New"/>
            </a:endParaRPr>
          </a:p>
          <a:p>
            <a:pPr marL="2073275" marR="5913755">
              <a:lnSpc>
                <a:spcPct val="141800"/>
              </a:lnSpc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'K</a:t>
            </a:r>
            <a:r>
              <a:rPr sz="1800" spc="-3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Nearest</a:t>
            </a:r>
            <a:r>
              <a:rPr sz="1800" spc="-3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Neighbours'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800" spc="-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knn),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'Classification</a:t>
            </a:r>
            <a:r>
              <a:rPr sz="1800" spc="-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Tree'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800" spc="-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4182D"/>
                </a:solidFill>
                <a:latin typeface="Courier New"/>
                <a:cs typeface="Courier New"/>
              </a:rPr>
              <a:t>dt)]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A210350-6A98-1C78-5F02-EEE98914B6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289" y="327502"/>
            <a:ext cx="14575155" cy="4585970"/>
            <a:chOff x="491289" y="327502"/>
            <a:chExt cx="14575155" cy="4585970"/>
          </a:xfrm>
        </p:grpSpPr>
        <p:sp>
          <p:nvSpPr>
            <p:cNvPr id="3" name="object 3"/>
            <p:cNvSpPr/>
            <p:nvPr/>
          </p:nvSpPr>
          <p:spPr>
            <a:xfrm>
              <a:off x="491289" y="327502"/>
              <a:ext cx="14575155" cy="4585970"/>
            </a:xfrm>
            <a:custGeom>
              <a:avLst/>
              <a:gdLst/>
              <a:ahLst/>
              <a:cxnLst/>
              <a:rect l="l" t="t" r="r" b="b"/>
              <a:pathLst>
                <a:path w="14575155" h="4585970">
                  <a:moveTo>
                    <a:pt x="14498413" y="4585367"/>
                  </a:moveTo>
                  <a:lnTo>
                    <a:pt x="76505" y="4585367"/>
                  </a:lnTo>
                  <a:lnTo>
                    <a:pt x="71180" y="4584842"/>
                  </a:lnTo>
                  <a:lnTo>
                    <a:pt x="31920" y="4568580"/>
                  </a:lnTo>
                  <a:lnTo>
                    <a:pt x="4175" y="4529853"/>
                  </a:lnTo>
                  <a:lnTo>
                    <a:pt x="0" y="4508862"/>
                  </a:lnTo>
                  <a:lnTo>
                    <a:pt x="0" y="4503486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508862"/>
                  </a:lnTo>
                  <a:lnTo>
                    <a:pt x="14558132" y="4553446"/>
                  </a:lnTo>
                  <a:lnTo>
                    <a:pt x="14519404" y="4581192"/>
                  </a:lnTo>
                  <a:lnTo>
                    <a:pt x="14503737" y="4584842"/>
                  </a:lnTo>
                  <a:lnTo>
                    <a:pt x="14498413" y="4585367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3910" y="999743"/>
              <a:ext cx="3065145" cy="210820"/>
            </a:xfrm>
            <a:custGeom>
              <a:avLst/>
              <a:gdLst/>
              <a:ahLst/>
              <a:cxnLst/>
              <a:rect l="l" t="t" r="r" b="b"/>
              <a:pathLst>
                <a:path w="3065145" h="210819">
                  <a:moveTo>
                    <a:pt x="133172" y="9004"/>
                  </a:moveTo>
                  <a:lnTo>
                    <a:pt x="83997" y="9004"/>
                  </a:lnTo>
                  <a:lnTo>
                    <a:pt x="74777" y="9702"/>
                  </a:lnTo>
                  <a:lnTo>
                    <a:pt x="44157" y="33058"/>
                  </a:lnTo>
                  <a:lnTo>
                    <a:pt x="41236" y="49936"/>
                  </a:lnTo>
                  <a:lnTo>
                    <a:pt x="41236" y="58242"/>
                  </a:lnTo>
                  <a:lnTo>
                    <a:pt x="0" y="58242"/>
                  </a:lnTo>
                  <a:lnTo>
                    <a:pt x="0" y="90106"/>
                  </a:lnTo>
                  <a:lnTo>
                    <a:pt x="41236" y="90106"/>
                  </a:lnTo>
                  <a:lnTo>
                    <a:pt x="41236" y="207987"/>
                  </a:lnTo>
                  <a:lnTo>
                    <a:pt x="75184" y="207987"/>
                  </a:lnTo>
                  <a:lnTo>
                    <a:pt x="75184" y="90106"/>
                  </a:lnTo>
                  <a:lnTo>
                    <a:pt x="133172" y="90106"/>
                  </a:lnTo>
                  <a:lnTo>
                    <a:pt x="133172" y="58242"/>
                  </a:lnTo>
                  <a:lnTo>
                    <a:pt x="75184" y="58242"/>
                  </a:lnTo>
                  <a:lnTo>
                    <a:pt x="75184" y="46697"/>
                  </a:lnTo>
                  <a:lnTo>
                    <a:pt x="75895" y="44500"/>
                  </a:lnTo>
                  <a:lnTo>
                    <a:pt x="78790" y="41605"/>
                  </a:lnTo>
                  <a:lnTo>
                    <a:pt x="81013" y="40868"/>
                  </a:lnTo>
                  <a:lnTo>
                    <a:pt x="133172" y="40868"/>
                  </a:lnTo>
                  <a:lnTo>
                    <a:pt x="133172" y="9004"/>
                  </a:lnTo>
                  <a:close/>
                </a:path>
                <a:path w="3065145" h="210819">
                  <a:moveTo>
                    <a:pt x="281940" y="112090"/>
                  </a:moveTo>
                  <a:lnTo>
                    <a:pt x="265633" y="68821"/>
                  </a:lnTo>
                  <a:lnTo>
                    <a:pt x="248056" y="57556"/>
                  </a:lnTo>
                  <a:lnTo>
                    <a:pt x="248056" y="102933"/>
                  </a:lnTo>
                  <a:lnTo>
                    <a:pt x="248056" y="160464"/>
                  </a:lnTo>
                  <a:lnTo>
                    <a:pt x="245833" y="167525"/>
                  </a:lnTo>
                  <a:lnTo>
                    <a:pt x="236982" y="176885"/>
                  </a:lnTo>
                  <a:lnTo>
                    <a:pt x="230492" y="179209"/>
                  </a:lnTo>
                  <a:lnTo>
                    <a:pt x="213321" y="179209"/>
                  </a:lnTo>
                  <a:lnTo>
                    <a:pt x="206819" y="176885"/>
                  </a:lnTo>
                  <a:lnTo>
                    <a:pt x="197993" y="167525"/>
                  </a:lnTo>
                  <a:lnTo>
                    <a:pt x="195795" y="160464"/>
                  </a:lnTo>
                  <a:lnTo>
                    <a:pt x="195795" y="102933"/>
                  </a:lnTo>
                  <a:lnTo>
                    <a:pt x="197993" y="95910"/>
                  </a:lnTo>
                  <a:lnTo>
                    <a:pt x="206819" y="86537"/>
                  </a:lnTo>
                  <a:lnTo>
                    <a:pt x="213321" y="84188"/>
                  </a:lnTo>
                  <a:lnTo>
                    <a:pt x="230492" y="84188"/>
                  </a:lnTo>
                  <a:lnTo>
                    <a:pt x="236982" y="86537"/>
                  </a:lnTo>
                  <a:lnTo>
                    <a:pt x="241388" y="91249"/>
                  </a:lnTo>
                  <a:lnTo>
                    <a:pt x="245833" y="95910"/>
                  </a:lnTo>
                  <a:lnTo>
                    <a:pt x="248056" y="57556"/>
                  </a:lnTo>
                  <a:lnTo>
                    <a:pt x="221932" y="52832"/>
                  </a:lnTo>
                  <a:lnTo>
                    <a:pt x="208864" y="53835"/>
                  </a:lnTo>
                  <a:lnTo>
                    <a:pt x="171005" y="77533"/>
                  </a:lnTo>
                  <a:lnTo>
                    <a:pt x="161848" y="151066"/>
                  </a:lnTo>
                  <a:lnTo>
                    <a:pt x="162864" y="164109"/>
                  </a:lnTo>
                  <a:lnTo>
                    <a:pt x="186956" y="201574"/>
                  </a:lnTo>
                  <a:lnTo>
                    <a:pt x="221932" y="210578"/>
                  </a:lnTo>
                  <a:lnTo>
                    <a:pt x="234950" y="209575"/>
                  </a:lnTo>
                  <a:lnTo>
                    <a:pt x="272757" y="185864"/>
                  </a:lnTo>
                  <a:lnTo>
                    <a:pt x="276098" y="179209"/>
                  </a:lnTo>
                  <a:lnTo>
                    <a:pt x="277863" y="175704"/>
                  </a:lnTo>
                  <a:lnTo>
                    <a:pt x="280924" y="164109"/>
                  </a:lnTo>
                  <a:lnTo>
                    <a:pt x="281940" y="151066"/>
                  </a:lnTo>
                  <a:lnTo>
                    <a:pt x="281940" y="112090"/>
                  </a:lnTo>
                  <a:close/>
                </a:path>
                <a:path w="3065145" h="210819">
                  <a:moveTo>
                    <a:pt x="442277" y="110324"/>
                  </a:moveTo>
                  <a:lnTo>
                    <a:pt x="427482" y="68516"/>
                  </a:lnTo>
                  <a:lnTo>
                    <a:pt x="387934" y="52832"/>
                  </a:lnTo>
                  <a:lnTo>
                    <a:pt x="372643" y="54914"/>
                  </a:lnTo>
                  <a:lnTo>
                    <a:pt x="361302" y="61150"/>
                  </a:lnTo>
                  <a:lnTo>
                    <a:pt x="353936" y="71539"/>
                  </a:lnTo>
                  <a:lnTo>
                    <a:pt x="350532" y="86080"/>
                  </a:lnTo>
                  <a:lnTo>
                    <a:pt x="350608" y="85636"/>
                  </a:lnTo>
                  <a:lnTo>
                    <a:pt x="355892" y="55410"/>
                  </a:lnTo>
                  <a:lnTo>
                    <a:pt x="322516" y="55410"/>
                  </a:lnTo>
                  <a:lnTo>
                    <a:pt x="322516" y="207987"/>
                  </a:lnTo>
                  <a:lnTo>
                    <a:pt x="356387" y="207987"/>
                  </a:lnTo>
                  <a:lnTo>
                    <a:pt x="356450" y="102730"/>
                  </a:lnTo>
                  <a:lnTo>
                    <a:pt x="358686" y="95669"/>
                  </a:lnTo>
                  <a:lnTo>
                    <a:pt x="367499" y="86080"/>
                  </a:lnTo>
                  <a:lnTo>
                    <a:pt x="367982" y="85636"/>
                  </a:lnTo>
                  <a:lnTo>
                    <a:pt x="374294" y="83185"/>
                  </a:lnTo>
                  <a:lnTo>
                    <a:pt x="390918" y="83185"/>
                  </a:lnTo>
                  <a:lnTo>
                    <a:pt x="397319" y="85636"/>
                  </a:lnTo>
                  <a:lnTo>
                    <a:pt x="401726" y="90551"/>
                  </a:lnTo>
                  <a:lnTo>
                    <a:pt x="406184" y="95465"/>
                  </a:lnTo>
                  <a:lnTo>
                    <a:pt x="406247" y="95669"/>
                  </a:lnTo>
                  <a:lnTo>
                    <a:pt x="408406" y="102730"/>
                  </a:lnTo>
                  <a:lnTo>
                    <a:pt x="408406" y="124180"/>
                  </a:lnTo>
                  <a:lnTo>
                    <a:pt x="442277" y="124180"/>
                  </a:lnTo>
                  <a:lnTo>
                    <a:pt x="442277" y="110324"/>
                  </a:lnTo>
                  <a:close/>
                </a:path>
                <a:path w="3065145" h="210819">
                  <a:moveTo>
                    <a:pt x="2878163" y="14859"/>
                  </a:moveTo>
                  <a:lnTo>
                    <a:pt x="2876092" y="9829"/>
                  </a:lnTo>
                  <a:lnTo>
                    <a:pt x="2867774" y="1968"/>
                  </a:lnTo>
                  <a:lnTo>
                    <a:pt x="2862491" y="0"/>
                  </a:lnTo>
                  <a:lnTo>
                    <a:pt x="2844482" y="0"/>
                  </a:lnTo>
                  <a:lnTo>
                    <a:pt x="2839186" y="1968"/>
                  </a:lnTo>
                  <a:lnTo>
                    <a:pt x="2830880" y="9829"/>
                  </a:lnTo>
                  <a:lnTo>
                    <a:pt x="2828798" y="14859"/>
                  </a:lnTo>
                  <a:lnTo>
                    <a:pt x="2828798" y="27241"/>
                  </a:lnTo>
                  <a:lnTo>
                    <a:pt x="2830830" y="32245"/>
                  </a:lnTo>
                  <a:lnTo>
                    <a:pt x="2834906" y="36017"/>
                  </a:lnTo>
                  <a:lnTo>
                    <a:pt x="2839021" y="39751"/>
                  </a:lnTo>
                  <a:lnTo>
                    <a:pt x="2844355" y="41617"/>
                  </a:lnTo>
                  <a:lnTo>
                    <a:pt x="2862402" y="41617"/>
                  </a:lnTo>
                  <a:lnTo>
                    <a:pt x="2867672" y="39751"/>
                  </a:lnTo>
                  <a:lnTo>
                    <a:pt x="2876080" y="32245"/>
                  </a:lnTo>
                  <a:lnTo>
                    <a:pt x="2878163" y="27241"/>
                  </a:lnTo>
                  <a:lnTo>
                    <a:pt x="2878163" y="14859"/>
                  </a:lnTo>
                  <a:close/>
                </a:path>
                <a:path w="3065145" h="210819">
                  <a:moveTo>
                    <a:pt x="2920733" y="176123"/>
                  </a:moveTo>
                  <a:lnTo>
                    <a:pt x="2873006" y="176123"/>
                  </a:lnTo>
                  <a:lnTo>
                    <a:pt x="2873006" y="55410"/>
                  </a:lnTo>
                  <a:lnTo>
                    <a:pt x="2795232" y="55410"/>
                  </a:lnTo>
                  <a:lnTo>
                    <a:pt x="2795232" y="87274"/>
                  </a:lnTo>
                  <a:lnTo>
                    <a:pt x="2839059" y="87274"/>
                  </a:lnTo>
                  <a:lnTo>
                    <a:pt x="2839059" y="176123"/>
                  </a:lnTo>
                  <a:lnTo>
                    <a:pt x="2788805" y="176123"/>
                  </a:lnTo>
                  <a:lnTo>
                    <a:pt x="2788805" y="207987"/>
                  </a:lnTo>
                  <a:lnTo>
                    <a:pt x="2920733" y="207987"/>
                  </a:lnTo>
                  <a:lnTo>
                    <a:pt x="2920733" y="176123"/>
                  </a:lnTo>
                  <a:close/>
                </a:path>
                <a:path w="3065145" h="210819">
                  <a:moveTo>
                    <a:pt x="3065081" y="107175"/>
                  </a:moveTo>
                  <a:lnTo>
                    <a:pt x="3064205" y="95504"/>
                  </a:lnTo>
                  <a:lnTo>
                    <a:pt x="3061551" y="85039"/>
                  </a:lnTo>
                  <a:lnTo>
                    <a:pt x="3060649" y="83185"/>
                  </a:lnTo>
                  <a:lnTo>
                    <a:pt x="3057118" y="75793"/>
                  </a:lnTo>
                  <a:lnTo>
                    <a:pt x="3024314" y="53759"/>
                  </a:lnTo>
                  <a:lnTo>
                    <a:pt x="3013075" y="52832"/>
                  </a:lnTo>
                  <a:lnTo>
                    <a:pt x="3004451" y="53390"/>
                  </a:lnTo>
                  <a:lnTo>
                    <a:pt x="2978632" y="67017"/>
                  </a:lnTo>
                  <a:lnTo>
                    <a:pt x="2978670" y="66814"/>
                  </a:lnTo>
                  <a:lnTo>
                    <a:pt x="2980448" y="55410"/>
                  </a:lnTo>
                  <a:lnTo>
                    <a:pt x="2946577" y="55410"/>
                  </a:lnTo>
                  <a:lnTo>
                    <a:pt x="2946577" y="207987"/>
                  </a:lnTo>
                  <a:lnTo>
                    <a:pt x="2980448" y="207987"/>
                  </a:lnTo>
                  <a:lnTo>
                    <a:pt x="2980448" y="102895"/>
                  </a:lnTo>
                  <a:lnTo>
                    <a:pt x="2980969" y="101231"/>
                  </a:lnTo>
                  <a:lnTo>
                    <a:pt x="2982874" y="95504"/>
                  </a:lnTo>
                  <a:lnTo>
                    <a:pt x="2990164" y="87464"/>
                  </a:lnTo>
                  <a:lnTo>
                    <a:pt x="2991955" y="85496"/>
                  </a:lnTo>
                  <a:lnTo>
                    <a:pt x="2992272" y="85496"/>
                  </a:lnTo>
                  <a:lnTo>
                    <a:pt x="2998152" y="83185"/>
                  </a:lnTo>
                  <a:lnTo>
                    <a:pt x="3014103" y="83185"/>
                  </a:lnTo>
                  <a:lnTo>
                    <a:pt x="3020161" y="85496"/>
                  </a:lnTo>
                  <a:lnTo>
                    <a:pt x="3024530" y="90106"/>
                  </a:lnTo>
                  <a:lnTo>
                    <a:pt x="3028937" y="94691"/>
                  </a:lnTo>
                  <a:lnTo>
                    <a:pt x="3031147" y="101231"/>
                  </a:lnTo>
                  <a:lnTo>
                    <a:pt x="3031147" y="207987"/>
                  </a:lnTo>
                  <a:lnTo>
                    <a:pt x="3065081" y="207987"/>
                  </a:lnTo>
                  <a:lnTo>
                    <a:pt x="3065081" y="10717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91289" y="5158514"/>
            <a:ext cx="14575155" cy="1597025"/>
          </a:xfrm>
          <a:custGeom>
            <a:avLst/>
            <a:gdLst/>
            <a:ahLst/>
            <a:cxnLst/>
            <a:rect l="l" t="t" r="r" b="b"/>
            <a:pathLst>
              <a:path w="14575155" h="1597025">
                <a:moveTo>
                  <a:pt x="14498413" y="1596689"/>
                </a:moveTo>
                <a:lnTo>
                  <a:pt x="76505" y="1596689"/>
                </a:lnTo>
                <a:lnTo>
                  <a:pt x="71180" y="1596165"/>
                </a:lnTo>
                <a:lnTo>
                  <a:pt x="31920" y="1579903"/>
                </a:lnTo>
                <a:lnTo>
                  <a:pt x="4175" y="1541176"/>
                </a:lnTo>
                <a:lnTo>
                  <a:pt x="0" y="1520185"/>
                </a:lnTo>
                <a:lnTo>
                  <a:pt x="0" y="1514809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520185"/>
                </a:lnTo>
                <a:lnTo>
                  <a:pt x="14558132" y="1564769"/>
                </a:lnTo>
                <a:lnTo>
                  <a:pt x="14519404" y="1592514"/>
                </a:lnTo>
                <a:lnTo>
                  <a:pt x="14503737" y="1596165"/>
                </a:lnTo>
                <a:lnTo>
                  <a:pt x="14498413" y="1596689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5720" y="386857"/>
            <a:ext cx="11625580" cy="432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0555" marR="1086485" indent="-618490">
              <a:lnSpc>
                <a:spcPct val="141000"/>
              </a:lnSpc>
              <a:spcBef>
                <a:spcPts val="95"/>
              </a:spcBef>
              <a:tabLst>
                <a:tab pos="3260090" algn="l"/>
              </a:tabLst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Iterate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over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defined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list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of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tuples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containing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Courier New"/>
                <a:cs typeface="Courier New"/>
              </a:rPr>
              <a:t>classifiers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clf_name,</a:t>
            </a:r>
            <a:r>
              <a:rPr sz="2000" spc="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4182D"/>
                </a:solidFill>
                <a:latin typeface="Courier New"/>
                <a:cs typeface="Courier New"/>
              </a:rPr>
              <a:t>clf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classifiers:</a:t>
            </a:r>
            <a:endParaRPr sz="2000">
              <a:latin typeface="Courier New"/>
              <a:cs typeface="Courier New"/>
            </a:endParaRPr>
          </a:p>
          <a:p>
            <a:pPr marL="631190" marR="6654800" indent="-635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#fit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clf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to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training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8600"/>
                </a:solidFill>
                <a:latin typeface="Courier New"/>
                <a:cs typeface="Courier New"/>
              </a:rPr>
              <a:t>set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clf.fit(X_train,</a:t>
            </a:r>
            <a:r>
              <a:rPr sz="2000" spc="1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y_train)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Courier New"/>
              <a:cs typeface="Courier New"/>
            </a:endParaRPr>
          </a:p>
          <a:p>
            <a:pPr marL="631190" marR="5417185" indent="-635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Predict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labels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of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test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8600"/>
                </a:solidFill>
                <a:latin typeface="Courier New"/>
                <a:cs typeface="Courier New"/>
              </a:rPr>
              <a:t>set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y_pred</a:t>
            </a:r>
            <a:r>
              <a:rPr sz="2000" spc="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clf.predict(X_test)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000">
              <a:latin typeface="Courier New"/>
              <a:cs typeface="Courier New"/>
            </a:endParaRPr>
          </a:p>
          <a:p>
            <a:pPr marL="63119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Evaluate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accuracy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of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clf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on</a:t>
            </a:r>
            <a:r>
              <a:rPr sz="2000" spc="5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test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endParaRPr sz="2000">
              <a:latin typeface="Courier New"/>
              <a:cs typeface="Courier New"/>
            </a:endParaRPr>
          </a:p>
          <a:p>
            <a:pPr marL="63119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'{:s}</a:t>
            </a:r>
            <a:r>
              <a:rPr sz="2000" spc="1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:</a:t>
            </a:r>
            <a:r>
              <a:rPr sz="2000" spc="1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{:.3f}'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.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format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(clf_name,</a:t>
            </a:r>
            <a:r>
              <a:rPr sz="2000" spc="1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accuracy_score(y_test,</a:t>
            </a:r>
            <a:r>
              <a:rPr sz="2000" spc="1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y_pred)))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720" y="5238341"/>
            <a:ext cx="4202430" cy="1315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Logistic</a:t>
            </a:r>
            <a:r>
              <a:rPr sz="2000" spc="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Regression:</a:t>
            </a:r>
            <a:r>
              <a:rPr sz="2000" spc="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0.947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K</a:t>
            </a:r>
            <a:r>
              <a:rPr sz="2000" spc="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Nearest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Neighbours: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0.930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Classification</a:t>
            </a:r>
            <a:r>
              <a:rPr sz="2000" spc="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Tree:</a:t>
            </a:r>
            <a:r>
              <a:rPr sz="2000" spc="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0.930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D901325-74F9-B299-5139-1CE1FBE237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75" dirty="0"/>
              <a:t>Voting</a:t>
            </a:r>
            <a:r>
              <a:rPr spc="-165" dirty="0"/>
              <a:t> Classifier </a:t>
            </a:r>
            <a:r>
              <a:rPr spc="-265" dirty="0"/>
              <a:t>in</a:t>
            </a:r>
            <a:r>
              <a:rPr spc="-160" dirty="0"/>
              <a:t> </a:t>
            </a:r>
            <a:r>
              <a:rPr spc="-229" dirty="0"/>
              <a:t>sklearn</a:t>
            </a:r>
            <a:r>
              <a:rPr spc="-165" dirty="0"/>
              <a:t> </a:t>
            </a:r>
            <a:r>
              <a:rPr spc="-310" dirty="0"/>
              <a:t>(Breast-</a:t>
            </a:r>
            <a:r>
              <a:rPr spc="-35" dirty="0"/>
              <a:t>Cancer</a:t>
            </a:r>
            <a:r>
              <a:rPr spc="-160" dirty="0"/>
              <a:t> </a:t>
            </a:r>
            <a:r>
              <a:rPr spc="-140" dirty="0"/>
              <a:t>dataset)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788"/>
            <a:ext cx="14575155" cy="4156075"/>
          </a:xfrm>
          <a:custGeom>
            <a:avLst/>
            <a:gdLst/>
            <a:ahLst/>
            <a:cxnLst/>
            <a:rect l="l" t="t" r="r" b="b"/>
            <a:pathLst>
              <a:path w="14575155" h="4156075">
                <a:moveTo>
                  <a:pt x="14498413" y="4155489"/>
                </a:moveTo>
                <a:lnTo>
                  <a:pt x="76505" y="4155489"/>
                </a:lnTo>
                <a:lnTo>
                  <a:pt x="71180" y="4154964"/>
                </a:lnTo>
                <a:lnTo>
                  <a:pt x="31920" y="4138702"/>
                </a:lnTo>
                <a:lnTo>
                  <a:pt x="4175" y="4099975"/>
                </a:lnTo>
                <a:lnTo>
                  <a:pt x="0" y="4078984"/>
                </a:lnTo>
                <a:lnTo>
                  <a:pt x="0" y="407360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078984"/>
                </a:lnTo>
                <a:lnTo>
                  <a:pt x="14558132" y="4123568"/>
                </a:lnTo>
                <a:lnTo>
                  <a:pt x="14519404" y="4151313"/>
                </a:lnTo>
                <a:lnTo>
                  <a:pt x="14503737" y="4154964"/>
                </a:lnTo>
                <a:lnTo>
                  <a:pt x="14498413" y="4155489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567922"/>
            <a:ext cx="14575155" cy="737235"/>
          </a:xfrm>
          <a:custGeom>
            <a:avLst/>
            <a:gdLst/>
            <a:ahLst/>
            <a:cxnLst/>
            <a:rect l="l" t="t" r="r" b="b"/>
            <a:pathLst>
              <a:path w="14575155" h="737235">
                <a:moveTo>
                  <a:pt x="14498413" y="736934"/>
                </a:moveTo>
                <a:lnTo>
                  <a:pt x="76505" y="736934"/>
                </a:lnTo>
                <a:lnTo>
                  <a:pt x="71180" y="736409"/>
                </a:lnTo>
                <a:lnTo>
                  <a:pt x="31920" y="720146"/>
                </a:lnTo>
                <a:lnTo>
                  <a:pt x="4175" y="681419"/>
                </a:lnTo>
                <a:lnTo>
                  <a:pt x="0" y="660428"/>
                </a:lnTo>
                <a:lnTo>
                  <a:pt x="0" y="655052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660428"/>
                </a:lnTo>
                <a:lnTo>
                  <a:pt x="14558132" y="705012"/>
                </a:lnTo>
                <a:lnTo>
                  <a:pt x="14519404" y="732757"/>
                </a:lnTo>
                <a:lnTo>
                  <a:pt x="14503737" y="736409"/>
                </a:lnTo>
                <a:lnTo>
                  <a:pt x="14498413" y="73693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720" y="1226143"/>
            <a:ext cx="11161395" cy="487743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7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Instantiate</a:t>
            </a:r>
            <a:r>
              <a:rPr sz="2000" spc="7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a</a:t>
            </a:r>
            <a:r>
              <a:rPr sz="2000" spc="7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VotingClassifier</a:t>
            </a:r>
            <a:r>
              <a:rPr sz="2000" spc="7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8600"/>
                </a:solidFill>
                <a:latin typeface="Courier New"/>
                <a:cs typeface="Courier New"/>
              </a:rPr>
              <a:t>'vc'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vc</a:t>
            </a:r>
            <a:r>
              <a:rPr sz="2000" spc="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VotingClassifier(estimators=classifiers)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2478405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40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Fit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'vc'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to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traing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and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predict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test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set</a:t>
            </a:r>
            <a:r>
              <a:rPr sz="2000" spc="4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Courier New"/>
                <a:cs typeface="Courier New"/>
              </a:rPr>
              <a:t>labels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vc.fit(X_train,</a:t>
            </a:r>
            <a:r>
              <a:rPr sz="2000" spc="114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y_train)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y_pred</a:t>
            </a:r>
            <a:r>
              <a:rPr sz="2000" spc="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vc.predict(X_test)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#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Evaluate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the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test-set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accuracy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of</a:t>
            </a:r>
            <a:r>
              <a:rPr sz="2000" spc="55" dirty="0">
                <a:solidFill>
                  <a:srgbClr val="00860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8600"/>
                </a:solidFill>
                <a:latin typeface="Courier New"/>
                <a:cs typeface="Courier New"/>
              </a:rPr>
              <a:t>'vc'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'Voting</a:t>
            </a:r>
            <a:r>
              <a:rPr sz="2000" spc="1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Classifier:</a:t>
            </a:r>
            <a:r>
              <a:rPr sz="2000" spc="16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{.3f}'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.</a:t>
            </a: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format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(accuracy_score(y_test,</a:t>
            </a:r>
            <a:r>
              <a:rPr sz="2000" spc="1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y_pred)))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Voting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Classifier:</a:t>
            </a:r>
            <a:r>
              <a:rPr sz="2000" spc="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0.953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B4EA85-098D-2AE2-90CC-3BE97527D0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34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2204</Words>
  <Application>Microsoft Office PowerPoint</Application>
  <PresentationFormat>사용자 지정</PresentationFormat>
  <Paragraphs>217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Arial Unicode MS</vt:lpstr>
      <vt:lpstr>맑은 고딕</vt:lpstr>
      <vt:lpstr>Arial</vt:lpstr>
      <vt:lpstr>Book Antiqua</vt:lpstr>
      <vt:lpstr>Courier New</vt:lpstr>
      <vt:lpstr>Lucida Sans</vt:lpstr>
      <vt:lpstr>Tahoma</vt:lpstr>
      <vt:lpstr>Office Theme</vt:lpstr>
      <vt:lpstr>PowerPoint 프레젠테이션</vt:lpstr>
      <vt:lpstr>Supervised Learning - Under the Hood</vt:lpstr>
      <vt:lpstr>Goals of Supervised Learning</vt:lpstr>
      <vt:lpstr>Difficulties in Approximating f</vt:lpstr>
      <vt:lpstr>Overfitting</vt:lpstr>
      <vt:lpstr>Underfitting</vt:lpstr>
      <vt:lpstr>Generalization Error</vt:lpstr>
      <vt:lpstr>PowerPoint 프레젠테이션</vt:lpstr>
      <vt:lpstr>Variance</vt:lpstr>
      <vt:lpstr>Model Complexity</vt:lpstr>
      <vt:lpstr>Bias-Variance Tradeoff</vt:lpstr>
      <vt:lpstr>Bias-Variance Tradeoff: A Visual Explanation</vt:lpstr>
      <vt:lpstr>PowerPoint 프레젠테이션</vt:lpstr>
      <vt:lpstr>Estimating the Generalization Error</vt:lpstr>
      <vt:lpstr>Estimating the Generalization Error</vt:lpstr>
      <vt:lpstr>Better Model Evaluation with Cross-Validation</vt:lpstr>
      <vt:lpstr>K-Fold CV</vt:lpstr>
      <vt:lpstr>K-Fold CV</vt:lpstr>
      <vt:lpstr>Diagnose Variance Problems</vt:lpstr>
      <vt:lpstr>Diagnose Bias Problems</vt:lpstr>
      <vt:lpstr>K-Fold CV in sklearn on the Auto Dataset</vt:lpstr>
      <vt:lpstr>K-Fold CV in sklearn on the Auto Dataset</vt:lpstr>
      <vt:lpstr>PowerPoint 프레젠테이션</vt:lpstr>
      <vt:lpstr>PowerPoint 프레젠테이션</vt:lpstr>
      <vt:lpstr>Advantages of CARTs</vt:lpstr>
      <vt:lpstr>Limitations of CARTs</vt:lpstr>
      <vt:lpstr>Ensemble Learning</vt:lpstr>
      <vt:lpstr>Ensemble Learning: A Visual Explanation</vt:lpstr>
      <vt:lpstr>Ensemble Learning in Practice: Voting Classifier</vt:lpstr>
      <vt:lpstr>Hard Voting</vt:lpstr>
      <vt:lpstr>Voting Classifier in sklearn (Breast-Cancer dataset)</vt:lpstr>
      <vt:lpstr>Voting Classifier in sklearn (Breast-Cancer dataset)</vt:lpstr>
      <vt:lpstr>PowerPoint 프레젠테이션</vt:lpstr>
      <vt:lpstr>Voting Classifier in sklearn (Breast-Cancer dataset)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Woojin Paik</cp:lastModifiedBy>
  <cp:revision>17</cp:revision>
  <dcterms:created xsi:type="dcterms:W3CDTF">2025-01-01T10:03:30Z</dcterms:created>
  <dcterms:modified xsi:type="dcterms:W3CDTF">2025-01-01T12:48:18Z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2024-08-27T00:00:00Z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2025-01-01T00:00:00Z</vt:filetime>
  </property>
  <property fmtid="{D5CDD505-2E9C-101B-9397-08002B2CF9AE}" pid="5" name="Producer">
    <vt:lpwstr>Skia/PDF m89</vt:lpwstr>
  </property>
</Properties>
</file>