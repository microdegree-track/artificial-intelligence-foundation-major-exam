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81" r:id="rId25"/>
    <p:sldId id="282" r:id="rId26"/>
    <p:sldId id="284" r:id="rId27"/>
    <p:sldId id="285" r:id="rId28"/>
    <p:sldId id="286" r:id="rId29"/>
    <p:sldId id="287" r:id="rId30"/>
    <p:sldId id="289" r:id="rId31"/>
    <p:sldId id="290" r:id="rId32"/>
    <p:sldId id="291" r:id="rId33"/>
    <p:sldId id="292" r:id="rId34"/>
    <p:sldId id="293" r:id="rId35"/>
    <p:sldId id="294" r:id="rId36"/>
    <p:sldId id="295" r:id="rId37"/>
  </p:sldIdLst>
  <p:sldSz cx="15557500" cy="8763000"/>
  <p:notesSz cx="15557500" cy="8763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63"/>
    <p:restoredTop sz="94694"/>
  </p:normalViewPr>
  <p:slideViewPr>
    <p:cSldViewPr>
      <p:cViewPr varScale="1">
        <p:scale>
          <a:sx n="73" d="100"/>
          <a:sy n="73" d="100"/>
        </p:scale>
        <p:origin x="232" y="7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742113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8812213" y="0"/>
            <a:ext cx="6742112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43C396-A5A1-914C-B8B2-BEC54467C620}" type="datetimeFigureOut">
              <a:rPr kumimoji="1" lang="ko-KR" altLang="en-US" smtClean="0"/>
              <a:t>2025. 1. 12.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5153025" y="1095375"/>
            <a:ext cx="5251450" cy="2957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555750" y="4217988"/>
            <a:ext cx="12446000" cy="34496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323263"/>
            <a:ext cx="6742113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8812213" y="8323263"/>
            <a:ext cx="6742112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0B5AAC-347F-3C4E-A8D5-F4627C77DD8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8912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8589" y="273885"/>
            <a:ext cx="6922770" cy="713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33625" y="4907280"/>
            <a:ext cx="10890250" cy="2190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0" dirty="0"/>
              <a:t>UNSUPERVISED</a:t>
            </a:r>
            <a:r>
              <a:rPr spc="-25" dirty="0"/>
              <a:t> </a:t>
            </a:r>
            <a:r>
              <a:rPr spc="-35" dirty="0"/>
              <a:t>LEARNING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10" dirty="0"/>
              <a:t>PYTHON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94E80-77CC-8543-8D50-BAB70407ACDD}" type="datetime1">
              <a:rPr lang="ko-KR" altLang="en-US" smtClean="0"/>
              <a:t>2025. 1. 12.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0" dirty="0"/>
              <a:t>UNSUPERVISED</a:t>
            </a:r>
            <a:r>
              <a:rPr spc="-25" dirty="0"/>
              <a:t> </a:t>
            </a:r>
            <a:r>
              <a:rPr spc="-35" dirty="0"/>
              <a:t>LEARNING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10" dirty="0"/>
              <a:t>PYTHON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F74D3F-078A-B543-8773-08D7655F00F7}" type="datetime1">
              <a:rPr lang="ko-KR" altLang="en-US" smtClean="0"/>
              <a:t>2025. 1. 12.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77875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012112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0" dirty="0"/>
              <a:t>UNSUPERVISED</a:t>
            </a:r>
            <a:r>
              <a:rPr spc="-25" dirty="0"/>
              <a:t> </a:t>
            </a:r>
            <a:r>
              <a:rPr spc="-35" dirty="0"/>
              <a:t>LEARNING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10" dirty="0"/>
              <a:t>PYTHON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AD31B-8FF3-BD4D-A3CD-C2045C9A00AD}" type="datetime1">
              <a:rPr lang="ko-KR" altLang="en-US" smtClean="0"/>
              <a:t>2025. 1. 12.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0" dirty="0"/>
              <a:t>UNSUPERVISED</a:t>
            </a:r>
            <a:r>
              <a:rPr spc="-25" dirty="0"/>
              <a:t> </a:t>
            </a:r>
            <a:r>
              <a:rPr spc="-35" dirty="0"/>
              <a:t>LEARNING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10" dirty="0"/>
              <a:t>PYTHON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04F6F-832A-0146-811C-CD482C8634FB}" type="datetime1">
              <a:rPr lang="ko-KR" altLang="en-US" smtClean="0"/>
              <a:t>2025. 1. 12.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0" dirty="0"/>
              <a:t>UNSUPERVISED</a:t>
            </a:r>
            <a:r>
              <a:rPr spc="-25" dirty="0"/>
              <a:t> </a:t>
            </a:r>
            <a:r>
              <a:rPr spc="-35" dirty="0"/>
              <a:t>LEARNING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10" dirty="0"/>
              <a:t>PYTHON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94ED2-04B3-FA40-8188-EBF55C763E69}" type="datetime1">
              <a:rPr lang="ko-KR" altLang="en-US" smtClean="0"/>
              <a:t>2025. 1. 12.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8024393"/>
            <a:ext cx="15557500" cy="20955"/>
          </a:xfrm>
          <a:custGeom>
            <a:avLst/>
            <a:gdLst/>
            <a:ahLst/>
            <a:cxnLst/>
            <a:rect l="l" t="t" r="r" b="b"/>
            <a:pathLst>
              <a:path w="15557500" h="20954">
                <a:moveTo>
                  <a:pt x="15557498" y="20470"/>
                </a:moveTo>
                <a:lnTo>
                  <a:pt x="0" y="20470"/>
                </a:lnTo>
                <a:lnTo>
                  <a:pt x="0" y="0"/>
                </a:lnTo>
                <a:lnTo>
                  <a:pt x="15557498" y="0"/>
                </a:lnTo>
                <a:lnTo>
                  <a:pt x="15557498" y="20470"/>
                </a:lnTo>
                <a:close/>
              </a:path>
            </a:pathLst>
          </a:custGeom>
          <a:solidFill>
            <a:srgbClr val="E4E1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8589" y="273885"/>
            <a:ext cx="10702290" cy="713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5202" y="2465044"/>
            <a:ext cx="8565515" cy="2318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896568" y="8207389"/>
            <a:ext cx="5346065" cy="371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0" dirty="0"/>
              <a:t>UNSUPERVISED</a:t>
            </a:r>
            <a:r>
              <a:rPr spc="-25" dirty="0"/>
              <a:t> </a:t>
            </a:r>
            <a:r>
              <a:rPr spc="-35" dirty="0"/>
              <a:t>LEARNING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10" dirty="0"/>
              <a:t>PYTHON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77875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04C1B-7220-1A43-83DF-DF0B0699DFA3}" type="datetime1">
              <a:rPr lang="ko-KR" altLang="en-US" smtClean="0"/>
              <a:t>2025. 1. 12.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01400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g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g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g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45122" y="2157161"/>
            <a:ext cx="7687945" cy="233489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 marR="5080" algn="ctr">
              <a:lnSpc>
                <a:spcPts val="6770"/>
              </a:lnSpc>
              <a:spcBef>
                <a:spcPts val="1130"/>
              </a:spcBef>
            </a:pPr>
            <a:r>
              <a:rPr sz="6450" spc="-204" dirty="0"/>
              <a:t>Non-</a:t>
            </a:r>
            <a:r>
              <a:rPr sz="6450" spc="-80" dirty="0"/>
              <a:t>negative</a:t>
            </a:r>
            <a:r>
              <a:rPr sz="6450" spc="-340" dirty="0"/>
              <a:t> </a:t>
            </a:r>
            <a:r>
              <a:rPr sz="6450" spc="-10" dirty="0"/>
              <a:t>matrix </a:t>
            </a:r>
            <a:r>
              <a:rPr sz="6450" spc="-125" dirty="0"/>
              <a:t>factorization</a:t>
            </a:r>
            <a:r>
              <a:rPr sz="6450" spc="-325" dirty="0"/>
              <a:t> </a:t>
            </a:r>
            <a:r>
              <a:rPr sz="6450" spc="-10" dirty="0"/>
              <a:t>(NMF)</a:t>
            </a:r>
            <a:endParaRPr sz="6450" dirty="0"/>
          </a:p>
          <a:p>
            <a:pPr marR="53975" algn="ctr">
              <a:lnSpc>
                <a:spcPct val="100000"/>
              </a:lnSpc>
              <a:spcBef>
                <a:spcPts val="910"/>
              </a:spcBef>
              <a:tabLst>
                <a:tab pos="2747645" algn="l"/>
                <a:tab pos="4648200" algn="l"/>
                <a:tab pos="5149850" algn="l"/>
              </a:tabLst>
            </a:pPr>
            <a:r>
              <a:rPr sz="2250" spc="-90" dirty="0"/>
              <a:t>U</a:t>
            </a:r>
            <a:r>
              <a:rPr sz="2250" spc="-305" dirty="0"/>
              <a:t> </a:t>
            </a:r>
            <a:r>
              <a:rPr sz="2250" spc="65" dirty="0"/>
              <a:t>N</a:t>
            </a:r>
            <a:r>
              <a:rPr sz="2250" spc="-300" dirty="0"/>
              <a:t> </a:t>
            </a:r>
            <a:r>
              <a:rPr sz="2250" spc="-210" dirty="0"/>
              <a:t>S</a:t>
            </a:r>
            <a:r>
              <a:rPr sz="2250" spc="-305" dirty="0"/>
              <a:t> </a:t>
            </a:r>
            <a:r>
              <a:rPr sz="2250" spc="-90" dirty="0"/>
              <a:t>U</a:t>
            </a:r>
            <a:r>
              <a:rPr sz="2250" spc="-300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105" dirty="0"/>
              <a:t>E</a:t>
            </a:r>
            <a:r>
              <a:rPr sz="2250" spc="-300" dirty="0"/>
              <a:t> </a:t>
            </a:r>
            <a:r>
              <a:rPr sz="2250" spc="-235" dirty="0"/>
              <a:t>R</a:t>
            </a:r>
            <a:r>
              <a:rPr sz="2250" spc="-305" dirty="0"/>
              <a:t> </a:t>
            </a:r>
            <a:r>
              <a:rPr sz="2250" spc="-30" dirty="0"/>
              <a:t>V</a:t>
            </a:r>
            <a:r>
              <a:rPr sz="2250" spc="-300" dirty="0"/>
              <a:t> </a:t>
            </a:r>
            <a:r>
              <a:rPr sz="2250" spc="-10" dirty="0"/>
              <a:t>I</a:t>
            </a:r>
            <a:r>
              <a:rPr sz="2250" spc="-305" dirty="0"/>
              <a:t> </a:t>
            </a:r>
            <a:r>
              <a:rPr sz="2250" spc="-210" dirty="0"/>
              <a:t>S</a:t>
            </a:r>
            <a:r>
              <a:rPr sz="2250" spc="-300" dirty="0"/>
              <a:t> </a:t>
            </a:r>
            <a:r>
              <a:rPr sz="2250" spc="-105" dirty="0"/>
              <a:t>E</a:t>
            </a:r>
            <a:r>
              <a:rPr sz="2250" spc="-305" dirty="0"/>
              <a:t> </a:t>
            </a:r>
            <a:r>
              <a:rPr sz="2250" spc="15" dirty="0"/>
              <a:t>D</a:t>
            </a:r>
            <a:r>
              <a:rPr sz="2250" dirty="0"/>
              <a:t>	</a:t>
            </a:r>
            <a:r>
              <a:rPr sz="2250" spc="-185" dirty="0"/>
              <a:t>L</a:t>
            </a:r>
            <a:r>
              <a:rPr sz="2250" spc="-305" dirty="0"/>
              <a:t> </a:t>
            </a:r>
            <a:r>
              <a:rPr sz="2250" spc="-105" dirty="0"/>
              <a:t>E</a:t>
            </a:r>
            <a:r>
              <a:rPr sz="2250" spc="-300" dirty="0"/>
              <a:t> </a:t>
            </a:r>
            <a:r>
              <a:rPr sz="2250" spc="-25" dirty="0"/>
              <a:t>A</a:t>
            </a:r>
            <a:r>
              <a:rPr sz="2250" spc="-300" dirty="0"/>
              <a:t> </a:t>
            </a:r>
            <a:r>
              <a:rPr sz="2250" spc="-235" dirty="0"/>
              <a:t>R</a:t>
            </a:r>
            <a:r>
              <a:rPr sz="2250" spc="-300" dirty="0"/>
              <a:t> </a:t>
            </a:r>
            <a:r>
              <a:rPr sz="2250" spc="65" dirty="0"/>
              <a:t>N</a:t>
            </a:r>
            <a:r>
              <a:rPr sz="2250" spc="-305" dirty="0"/>
              <a:t> </a:t>
            </a:r>
            <a:r>
              <a:rPr sz="2250" spc="-10" dirty="0"/>
              <a:t>I</a:t>
            </a:r>
            <a:r>
              <a:rPr sz="2250" spc="-300" dirty="0"/>
              <a:t> </a:t>
            </a:r>
            <a:r>
              <a:rPr sz="2250" spc="65" dirty="0"/>
              <a:t>N</a:t>
            </a:r>
            <a:r>
              <a:rPr sz="2250" spc="-300" dirty="0"/>
              <a:t> </a:t>
            </a:r>
            <a:r>
              <a:rPr sz="2250" spc="-50" dirty="0"/>
              <a:t>G</a:t>
            </a:r>
            <a:r>
              <a:rPr sz="2250" dirty="0"/>
              <a:t>	</a:t>
            </a:r>
            <a:r>
              <a:rPr sz="2250" spc="-10" dirty="0"/>
              <a:t>I</a:t>
            </a:r>
            <a:r>
              <a:rPr sz="2250" spc="-305" dirty="0"/>
              <a:t> </a:t>
            </a:r>
            <a:r>
              <a:rPr sz="2250" spc="15" dirty="0"/>
              <a:t>N</a:t>
            </a:r>
            <a:r>
              <a:rPr sz="2250" dirty="0"/>
              <a:t>	</a:t>
            </a:r>
            <a:r>
              <a:rPr sz="2250" spc="-120" dirty="0"/>
              <a:t>P</a:t>
            </a:r>
            <a:r>
              <a:rPr sz="2250" spc="-295" dirty="0"/>
              <a:t> </a:t>
            </a:r>
            <a:r>
              <a:rPr sz="2250" dirty="0"/>
              <a:t>Y</a:t>
            </a:r>
            <a:r>
              <a:rPr sz="2250" spc="-295" dirty="0"/>
              <a:t> </a:t>
            </a:r>
            <a:r>
              <a:rPr sz="2250" spc="-90" dirty="0"/>
              <a:t>T</a:t>
            </a:r>
            <a:r>
              <a:rPr sz="2250" spc="-295" dirty="0"/>
              <a:t> </a:t>
            </a:r>
            <a:r>
              <a:rPr sz="2250" dirty="0"/>
              <a:t>H</a:t>
            </a:r>
            <a:r>
              <a:rPr sz="2250" spc="-290" dirty="0"/>
              <a:t> </a:t>
            </a:r>
            <a:r>
              <a:rPr sz="2250" spc="70" dirty="0"/>
              <a:t>O</a:t>
            </a:r>
            <a:r>
              <a:rPr sz="2250" spc="-295" dirty="0"/>
              <a:t> </a:t>
            </a:r>
            <a:r>
              <a:rPr sz="2250" spc="15" dirty="0"/>
              <a:t>N</a:t>
            </a:r>
            <a:endParaRPr sz="2250" dirty="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4394200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Arial"/>
                <a:cs typeface="Arial"/>
              </a:rPr>
              <a:t>Benjamin</a:t>
            </a:r>
            <a:r>
              <a:rPr sz="255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Wilson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spc="70" dirty="0">
                <a:solidFill>
                  <a:srgbClr val="FFFFFF"/>
                </a:solidFill>
                <a:latin typeface="Arial"/>
                <a:cs typeface="Arial"/>
              </a:rPr>
              <a:t>Director</a:t>
            </a:r>
            <a:r>
              <a:rPr sz="225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12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5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Research</a:t>
            </a:r>
            <a:r>
              <a:rPr sz="225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165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225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50" dirty="0">
                <a:solidFill>
                  <a:srgbClr val="FFFFFF"/>
                </a:solidFill>
                <a:latin typeface="Arial"/>
                <a:cs typeface="Arial"/>
              </a:rPr>
              <a:t>lateral.io</a:t>
            </a:r>
            <a:endParaRPr sz="2250">
              <a:latin typeface="Arial"/>
              <a:cs typeface="Arial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36BA4A0-DB69-BFF1-DAAA-DE4BE3DE232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</a:t>
            </a:fld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0" dirty="0"/>
              <a:t>Non-</a:t>
            </a:r>
            <a:r>
              <a:rPr spc="-10" dirty="0"/>
              <a:t>negative</a:t>
            </a:r>
            <a:r>
              <a:rPr spc="-195" dirty="0"/>
              <a:t> </a:t>
            </a:r>
            <a:r>
              <a:rPr dirty="0"/>
              <a:t>matrix</a:t>
            </a:r>
            <a:r>
              <a:rPr spc="-190" dirty="0"/>
              <a:t> </a:t>
            </a:r>
            <a:r>
              <a:rPr spc="-20" dirty="0"/>
              <a:t>factorization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8881745" cy="3039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NMF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=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"non-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negative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matrix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factorization"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Dimension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reduction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technique</a:t>
            </a:r>
            <a:endParaRPr sz="2550">
              <a:latin typeface="Arial"/>
              <a:cs typeface="Arial"/>
            </a:endParaRPr>
          </a:p>
          <a:p>
            <a:pPr marL="12700" marR="2298700">
              <a:lnSpc>
                <a:spcPts val="5160"/>
              </a:lnSpc>
              <a:spcBef>
                <a:spcPts val="520"/>
              </a:spcBef>
            </a:pP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NMF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models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are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interpretable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(unlike </a:t>
            </a:r>
            <a:r>
              <a:rPr sz="2550" spc="-20" dirty="0">
                <a:solidFill>
                  <a:srgbClr val="04182D"/>
                </a:solidFill>
                <a:latin typeface="Arial"/>
                <a:cs typeface="Arial"/>
              </a:rPr>
              <a:t>PCA)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Easy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interpret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means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easy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explain!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However,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all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sample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features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must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be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non-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negative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45" dirty="0">
                <a:solidFill>
                  <a:srgbClr val="04182D"/>
                </a:solidFill>
                <a:latin typeface="Arial"/>
                <a:cs typeface="Arial"/>
              </a:rPr>
              <a:t>(&gt;=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0)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7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203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971255"/>
            <a:ext cx="102352" cy="1023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D1BF52D-DDF6-11BB-546E-D651B59E4BA4}"/>
              </a:ext>
            </a:extLst>
          </p:cNvPr>
          <p:cNvSpPr txBox="1"/>
          <p:nvPr/>
        </p:nvSpPr>
        <p:spPr>
          <a:xfrm>
            <a:off x="835820" y="4476876"/>
            <a:ext cx="1410572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/>
              <a:t>Non-Negative Matrix Factorization (NMF)</a:t>
            </a:r>
            <a:r>
              <a:rPr lang="en" altLang="ko-KR" dirty="0"/>
              <a:t> is a dimensionality reduction and matrix decomposition technique that factors a non-negative matrix V into two lower-dimensional non-negative matrices, W and 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dirty="0"/>
              <a:t>It is widely used in data analysis and machine learning tasks where the data is inherently non-negative, such as text mining, image processing, and bioinformatics.</a:t>
            </a:r>
          </a:p>
          <a:p>
            <a:endParaRPr lang="en" altLang="ko-KR" dirty="0"/>
          </a:p>
          <a:p>
            <a:r>
              <a:rPr lang="en" altLang="ko-KR" dirty="0"/>
              <a:t>NMF is a powerful and interpretable dimensionality reduction technique that is well-suited for applications involving non-negative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dirty="0"/>
              <a:t>It excels in uncovering latent structures and patterns, making it a popular choice for tasks like topic modeling, image analysis, and recommendation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dirty="0"/>
              <a:t>Its simplicity and ability to handle sparse data further enhance its utility in real-world scenarios.</a:t>
            </a: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AAA0E093-8546-9030-4407-5505E0519FC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4"/>
            <a:ext cx="102352" cy="10235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8589" y="-98676"/>
            <a:ext cx="9075420" cy="2183130"/>
          </a:xfrm>
          <a:prstGeom prst="rect">
            <a:avLst/>
          </a:prstGeom>
        </p:spPr>
        <p:txBody>
          <a:bodyPr vert="horz" wrap="square" lIns="0" tIns="386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45"/>
              </a:spcBef>
            </a:pPr>
            <a:r>
              <a:rPr spc="-45" dirty="0"/>
              <a:t>Interpretable</a:t>
            </a:r>
            <a:r>
              <a:rPr spc="-200" dirty="0"/>
              <a:t> </a:t>
            </a:r>
            <a:r>
              <a:rPr spc="-10" dirty="0"/>
              <a:t>parts</a:t>
            </a:r>
          </a:p>
          <a:p>
            <a:pPr marL="381000" marR="5080">
              <a:lnSpc>
                <a:spcPct val="126400"/>
              </a:lnSpc>
              <a:spcBef>
                <a:spcPts val="900"/>
              </a:spcBef>
            </a:pPr>
            <a:r>
              <a:rPr sz="2550" b="0" spc="65" dirty="0">
                <a:latin typeface="Arial"/>
                <a:cs typeface="Arial"/>
              </a:rPr>
              <a:t>NMF</a:t>
            </a:r>
            <a:r>
              <a:rPr sz="2550" b="0" spc="85" dirty="0">
                <a:latin typeface="Arial"/>
                <a:cs typeface="Arial"/>
              </a:rPr>
              <a:t> </a:t>
            </a:r>
            <a:r>
              <a:rPr sz="2550" b="0" dirty="0">
                <a:latin typeface="Arial"/>
                <a:cs typeface="Arial"/>
              </a:rPr>
              <a:t>expresses</a:t>
            </a:r>
            <a:r>
              <a:rPr sz="2550" b="0" spc="100" dirty="0">
                <a:latin typeface="Arial"/>
                <a:cs typeface="Arial"/>
              </a:rPr>
              <a:t> </a:t>
            </a:r>
            <a:r>
              <a:rPr sz="2550" b="0" spc="95" dirty="0">
                <a:latin typeface="Arial"/>
                <a:cs typeface="Arial"/>
              </a:rPr>
              <a:t>documents</a:t>
            </a:r>
            <a:r>
              <a:rPr sz="2550" b="0" spc="90" dirty="0">
                <a:latin typeface="Arial"/>
                <a:cs typeface="Arial"/>
              </a:rPr>
              <a:t> </a:t>
            </a:r>
            <a:r>
              <a:rPr sz="2550" b="0" dirty="0">
                <a:latin typeface="Arial"/>
                <a:cs typeface="Arial"/>
              </a:rPr>
              <a:t>as</a:t>
            </a:r>
            <a:r>
              <a:rPr sz="2550" b="0" spc="100" dirty="0">
                <a:latin typeface="Arial"/>
                <a:cs typeface="Arial"/>
              </a:rPr>
              <a:t> combinations</a:t>
            </a:r>
            <a:r>
              <a:rPr sz="2550" b="0" spc="95" dirty="0">
                <a:latin typeface="Arial"/>
                <a:cs typeface="Arial"/>
              </a:rPr>
              <a:t> </a:t>
            </a:r>
            <a:r>
              <a:rPr sz="2550" b="0" spc="150" dirty="0">
                <a:latin typeface="Arial"/>
                <a:cs typeface="Arial"/>
              </a:rPr>
              <a:t>of</a:t>
            </a:r>
            <a:r>
              <a:rPr sz="2550" b="0" spc="95" dirty="0">
                <a:latin typeface="Arial"/>
                <a:cs typeface="Arial"/>
              </a:rPr>
              <a:t> topics</a:t>
            </a:r>
            <a:r>
              <a:rPr sz="2550" b="0" spc="100" dirty="0">
                <a:latin typeface="Arial"/>
                <a:cs typeface="Arial"/>
              </a:rPr>
              <a:t> </a:t>
            </a:r>
            <a:r>
              <a:rPr sz="2550" b="0" spc="25" dirty="0">
                <a:latin typeface="Arial"/>
                <a:cs typeface="Arial"/>
              </a:rPr>
              <a:t>(or </a:t>
            </a:r>
            <a:r>
              <a:rPr sz="2550" b="0" spc="45" dirty="0">
                <a:latin typeface="Arial"/>
                <a:cs typeface="Arial"/>
              </a:rPr>
              <a:t>"themes")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289" y="3131968"/>
            <a:ext cx="13078661" cy="3916532"/>
          </a:xfrm>
          <a:prstGeom prst="rect">
            <a:avLst/>
          </a:prstGeom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489E71F-2077-EB87-C865-3A3EFB02518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</a:t>
            </a:fld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45" dirty="0"/>
              <a:t>Interpretable</a:t>
            </a:r>
            <a:r>
              <a:rPr spc="-200" dirty="0"/>
              <a:t> </a:t>
            </a:r>
            <a:r>
              <a:rPr spc="-10" dirty="0"/>
              <a:t>parts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796861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NMF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expresses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images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as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combinations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patterns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289" y="2640679"/>
            <a:ext cx="13383461" cy="3010069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3141752-21BE-61BA-1EE6-35EB54C2349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4</a:t>
            </a:fld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15" dirty="0"/>
              <a:t>Using</a:t>
            </a:r>
            <a:r>
              <a:rPr spc="-100" dirty="0"/>
              <a:t> </a:t>
            </a:r>
            <a:r>
              <a:rPr spc="-120" dirty="0"/>
              <a:t>scikit-</a:t>
            </a:r>
            <a:r>
              <a:rPr dirty="0"/>
              <a:t>learn</a:t>
            </a:r>
            <a:r>
              <a:rPr spc="-220" dirty="0"/>
              <a:t> </a:t>
            </a:r>
            <a:r>
              <a:rPr spc="70" dirty="0"/>
              <a:t>NMF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2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128920" y="1207750"/>
            <a:ext cx="941705" cy="429895"/>
          </a:xfrm>
          <a:custGeom>
            <a:avLst/>
            <a:gdLst/>
            <a:ahLst/>
            <a:cxnLst/>
            <a:rect l="l" t="t" r="r" b="b"/>
            <a:pathLst>
              <a:path w="941705" h="429894">
                <a:moveTo>
                  <a:pt x="865133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865133" y="0"/>
                </a:lnTo>
                <a:lnTo>
                  <a:pt x="909717" y="16786"/>
                </a:lnTo>
                <a:lnTo>
                  <a:pt x="937462" y="55513"/>
                </a:lnTo>
                <a:lnTo>
                  <a:pt x="941637" y="76505"/>
                </a:lnTo>
                <a:lnTo>
                  <a:pt x="941637" y="353373"/>
                </a:lnTo>
                <a:lnTo>
                  <a:pt x="924851" y="397957"/>
                </a:lnTo>
                <a:lnTo>
                  <a:pt x="886123" y="425702"/>
                </a:lnTo>
                <a:lnTo>
                  <a:pt x="870457" y="429353"/>
                </a:lnTo>
                <a:lnTo>
                  <a:pt x="865133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20907" y="1207750"/>
            <a:ext cx="1985645" cy="429895"/>
          </a:xfrm>
          <a:custGeom>
            <a:avLst/>
            <a:gdLst/>
            <a:ahLst/>
            <a:cxnLst/>
            <a:rect l="l" t="t" r="r" b="b"/>
            <a:pathLst>
              <a:path w="1985645" h="429894">
                <a:moveTo>
                  <a:pt x="1909123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909123" y="0"/>
                </a:lnTo>
                <a:lnTo>
                  <a:pt x="1953707" y="16786"/>
                </a:lnTo>
                <a:lnTo>
                  <a:pt x="1981451" y="55513"/>
                </a:lnTo>
                <a:lnTo>
                  <a:pt x="1985628" y="76505"/>
                </a:lnTo>
                <a:lnTo>
                  <a:pt x="1985628" y="353373"/>
                </a:lnTo>
                <a:lnTo>
                  <a:pt x="1968841" y="397957"/>
                </a:lnTo>
                <a:lnTo>
                  <a:pt x="1930113" y="425702"/>
                </a:lnTo>
                <a:lnTo>
                  <a:pt x="1914447" y="429353"/>
                </a:lnTo>
                <a:lnTo>
                  <a:pt x="1909123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5"/>
            <a:ext cx="102352" cy="10235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900697" y="2354092"/>
            <a:ext cx="3357245" cy="429895"/>
          </a:xfrm>
          <a:custGeom>
            <a:avLst/>
            <a:gdLst/>
            <a:ahLst/>
            <a:cxnLst/>
            <a:rect l="l" t="t" r="r" b="b"/>
            <a:pathLst>
              <a:path w="3357245" h="429894">
                <a:moveTo>
                  <a:pt x="3280638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3280638" y="0"/>
                </a:lnTo>
                <a:lnTo>
                  <a:pt x="3325223" y="16786"/>
                </a:lnTo>
                <a:lnTo>
                  <a:pt x="3352968" y="55513"/>
                </a:lnTo>
                <a:lnTo>
                  <a:pt x="3357144" y="76505"/>
                </a:lnTo>
                <a:lnTo>
                  <a:pt x="3357144" y="353373"/>
                </a:lnTo>
                <a:lnTo>
                  <a:pt x="3340357" y="397957"/>
                </a:lnTo>
                <a:lnTo>
                  <a:pt x="3301629" y="425702"/>
                </a:lnTo>
                <a:lnTo>
                  <a:pt x="3285963" y="429353"/>
                </a:lnTo>
                <a:lnTo>
                  <a:pt x="3280638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152437"/>
            <a:ext cx="102352" cy="10235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6366291" y="3009144"/>
            <a:ext cx="1801495" cy="429895"/>
          </a:xfrm>
          <a:custGeom>
            <a:avLst/>
            <a:gdLst/>
            <a:ahLst/>
            <a:cxnLst/>
            <a:rect l="l" t="t" r="r" b="b"/>
            <a:pathLst>
              <a:path w="1801495" h="429895">
                <a:moveTo>
                  <a:pt x="1724889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2"/>
                </a:lnTo>
                <a:lnTo>
                  <a:pt x="0" y="347996"/>
                </a:lnTo>
                <a:lnTo>
                  <a:pt x="0" y="76505"/>
                </a:lnTo>
                <a:lnTo>
                  <a:pt x="16787" y="31920"/>
                </a:lnTo>
                <a:lnTo>
                  <a:pt x="55514" y="4175"/>
                </a:lnTo>
                <a:lnTo>
                  <a:pt x="76505" y="0"/>
                </a:lnTo>
                <a:lnTo>
                  <a:pt x="1724889" y="0"/>
                </a:lnTo>
                <a:lnTo>
                  <a:pt x="1769473" y="16786"/>
                </a:lnTo>
                <a:lnTo>
                  <a:pt x="1797218" y="55513"/>
                </a:lnTo>
                <a:lnTo>
                  <a:pt x="1801395" y="76505"/>
                </a:lnTo>
                <a:lnTo>
                  <a:pt x="1801395" y="353372"/>
                </a:lnTo>
                <a:lnTo>
                  <a:pt x="1784607" y="397957"/>
                </a:lnTo>
                <a:lnTo>
                  <a:pt x="1745879" y="425702"/>
                </a:lnTo>
                <a:lnTo>
                  <a:pt x="1730213" y="429353"/>
                </a:lnTo>
                <a:lnTo>
                  <a:pt x="1724889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47056" y="1174579"/>
            <a:ext cx="7297420" cy="22199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21435" algn="l"/>
                <a:tab pos="2724150" algn="l"/>
              </a:tabLst>
            </a:pP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Follows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fit()</a:t>
            </a:r>
            <a:r>
              <a:rPr sz="2250" spc="36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spc="395" dirty="0">
                <a:solidFill>
                  <a:srgbClr val="04182D"/>
                </a:solidFill>
                <a:latin typeface="Arial"/>
                <a:cs typeface="Arial"/>
              </a:rPr>
              <a:t>/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transform()</a:t>
            </a:r>
            <a:r>
              <a:rPr sz="2250" spc="35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pattern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Must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specify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number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components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20" dirty="0">
                <a:solidFill>
                  <a:srgbClr val="04182D"/>
                </a:solidFill>
                <a:latin typeface="Arial"/>
                <a:cs typeface="Arial"/>
              </a:rPr>
              <a:t>e.g.</a:t>
            </a:r>
            <a:endParaRPr sz="2550">
              <a:latin typeface="Arial"/>
              <a:cs typeface="Arial"/>
            </a:endParaRPr>
          </a:p>
          <a:p>
            <a:pPr marL="93980">
              <a:lnSpc>
                <a:spcPct val="100000"/>
              </a:lnSpc>
              <a:spcBef>
                <a:spcPts val="1110"/>
              </a:spcBef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NMF(n_components=2)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2155"/>
              </a:spcBef>
              <a:tabLst>
                <a:tab pos="5564505" algn="l"/>
              </a:tabLst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Works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with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NumPy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arrays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with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csr_matrix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9EF66C0D-FF43-3280-69A9-A942A3C74B3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5</a:t>
            </a:fld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0B31F4-CDE1-23DA-A310-FCB0FC2126A0}"/>
              </a:ext>
            </a:extLst>
          </p:cNvPr>
          <p:cNvSpPr txBox="1"/>
          <p:nvPr/>
        </p:nvSpPr>
        <p:spPr>
          <a:xfrm>
            <a:off x="847055" y="3927721"/>
            <a:ext cx="139325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 err="1"/>
              <a:t>csr_matrix</a:t>
            </a:r>
            <a:r>
              <a:rPr lang="en" altLang="ko-KR" dirty="0"/>
              <a:t> (Compressed Sparse Row matrix) is a data structure used in numerical and scientific computing to store sparse matrices efficiently. </a:t>
            </a:r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80" dirty="0"/>
              <a:t>Example</a:t>
            </a:r>
            <a:r>
              <a:rPr spc="-200" dirty="0"/>
              <a:t> </a:t>
            </a:r>
            <a:r>
              <a:rPr spc="-85" dirty="0"/>
              <a:t>word-</a:t>
            </a:r>
            <a:r>
              <a:rPr spc="-30" dirty="0"/>
              <a:t>frequency</a:t>
            </a:r>
            <a:r>
              <a:rPr spc="-200" dirty="0"/>
              <a:t> </a:t>
            </a:r>
            <a:r>
              <a:rPr spc="50" dirty="0"/>
              <a:t>array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991" y="2487152"/>
            <a:ext cx="122822" cy="12282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9991" y="3142205"/>
            <a:ext cx="122822" cy="12282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47056" y="1174582"/>
            <a:ext cx="9132570" cy="22199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Word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frequency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array,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4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words,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Arial"/>
                <a:cs typeface="Arial"/>
              </a:rPr>
              <a:t>many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documents</a:t>
            </a:r>
            <a:endParaRPr sz="2550">
              <a:latin typeface="Arial"/>
              <a:cs typeface="Arial"/>
            </a:endParaRPr>
          </a:p>
          <a:p>
            <a:pPr marL="381000" marR="5080" indent="-368935">
              <a:lnSpc>
                <a:spcPct val="126400"/>
              </a:lnSpc>
              <a:spcBef>
                <a:spcPts val="1290"/>
              </a:spcBef>
            </a:pP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Measure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presence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words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in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each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document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using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"tf-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idf"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"tf"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=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frequency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word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in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document</a:t>
            </a:r>
            <a:endParaRPr sz="2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2100"/>
              </a:spcBef>
            </a:pP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"idf"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reduces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influence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frequent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words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11750" y="3691971"/>
            <a:ext cx="5915943" cy="3643729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F113278-B674-0C8A-0A99-E4DB6039B07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6</a:t>
            </a:fld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1F7EBE3-EEFF-C1C6-39D8-BA9E35FD6D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0099" y="3700763"/>
            <a:ext cx="8045912" cy="24333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80" dirty="0"/>
              <a:t>Example</a:t>
            </a:r>
            <a:r>
              <a:rPr spc="-170" dirty="0"/>
              <a:t> </a:t>
            </a:r>
            <a:r>
              <a:rPr spc="-75" dirty="0"/>
              <a:t>usage</a:t>
            </a:r>
            <a:r>
              <a:rPr spc="-170" dirty="0"/>
              <a:t> </a:t>
            </a:r>
            <a:r>
              <a:rPr dirty="0"/>
              <a:t>of</a:t>
            </a:r>
            <a:r>
              <a:rPr spc="-170" dirty="0"/>
              <a:t> </a:t>
            </a:r>
            <a:r>
              <a:rPr spc="70" dirty="0"/>
              <a:t>NMF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1821864"/>
            <a:ext cx="9887585" cy="1801495"/>
            <a:chOff x="491289" y="1821864"/>
            <a:chExt cx="9887585" cy="1801495"/>
          </a:xfrm>
        </p:grpSpPr>
        <p:sp>
          <p:nvSpPr>
            <p:cNvPr id="4" name="object 4"/>
            <p:cNvSpPr/>
            <p:nvPr/>
          </p:nvSpPr>
          <p:spPr>
            <a:xfrm>
              <a:off x="491289" y="1821864"/>
              <a:ext cx="9887585" cy="1801495"/>
            </a:xfrm>
            <a:custGeom>
              <a:avLst/>
              <a:gdLst/>
              <a:ahLst/>
              <a:cxnLst/>
              <a:rect l="l" t="t" r="r" b="b"/>
              <a:pathLst>
                <a:path w="9887585" h="1801495">
                  <a:moveTo>
                    <a:pt x="9810694" y="1801394"/>
                  </a:moveTo>
                  <a:lnTo>
                    <a:pt x="76505" y="1801394"/>
                  </a:lnTo>
                  <a:lnTo>
                    <a:pt x="71180" y="1800870"/>
                  </a:lnTo>
                  <a:lnTo>
                    <a:pt x="31920" y="1784607"/>
                  </a:lnTo>
                  <a:lnTo>
                    <a:pt x="4175" y="1745880"/>
                  </a:lnTo>
                  <a:lnTo>
                    <a:pt x="0" y="1724888"/>
                  </a:lnTo>
                  <a:lnTo>
                    <a:pt x="0" y="1719512"/>
                  </a:lnTo>
                  <a:lnTo>
                    <a:pt x="0" y="76504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9810694" y="0"/>
                  </a:lnTo>
                  <a:lnTo>
                    <a:pt x="9855278" y="16786"/>
                  </a:lnTo>
                  <a:lnTo>
                    <a:pt x="9883023" y="55513"/>
                  </a:lnTo>
                  <a:lnTo>
                    <a:pt x="9887199" y="76504"/>
                  </a:lnTo>
                  <a:lnTo>
                    <a:pt x="9887199" y="1724888"/>
                  </a:lnTo>
                  <a:lnTo>
                    <a:pt x="9870412" y="1769473"/>
                  </a:lnTo>
                  <a:lnTo>
                    <a:pt x="9831684" y="1797218"/>
                  </a:lnTo>
                  <a:lnTo>
                    <a:pt x="9816018" y="1800870"/>
                  </a:lnTo>
                  <a:lnTo>
                    <a:pt x="9810694" y="1801394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2261" y="2102522"/>
              <a:ext cx="5645785" cy="283210"/>
            </a:xfrm>
            <a:custGeom>
              <a:avLst/>
              <a:gdLst/>
              <a:ahLst/>
              <a:cxnLst/>
              <a:rect l="l" t="t" r="r" b="b"/>
              <a:pathLst>
                <a:path w="5645785" h="283210">
                  <a:moveTo>
                    <a:pt x="147980" y="10007"/>
                  </a:moveTo>
                  <a:lnTo>
                    <a:pt x="93332" y="10007"/>
                  </a:lnTo>
                  <a:lnTo>
                    <a:pt x="83096" y="10782"/>
                  </a:lnTo>
                  <a:lnTo>
                    <a:pt x="49060" y="36741"/>
                  </a:lnTo>
                  <a:lnTo>
                    <a:pt x="45821" y="55486"/>
                  </a:lnTo>
                  <a:lnTo>
                    <a:pt x="45821" y="64731"/>
                  </a:lnTo>
                  <a:lnTo>
                    <a:pt x="0" y="64731"/>
                  </a:lnTo>
                  <a:lnTo>
                    <a:pt x="0" y="100126"/>
                  </a:lnTo>
                  <a:lnTo>
                    <a:pt x="45821" y="100126"/>
                  </a:lnTo>
                  <a:lnTo>
                    <a:pt x="45821" y="231101"/>
                  </a:lnTo>
                  <a:lnTo>
                    <a:pt x="83540" y="231101"/>
                  </a:lnTo>
                  <a:lnTo>
                    <a:pt x="83540" y="100126"/>
                  </a:lnTo>
                  <a:lnTo>
                    <a:pt x="147980" y="100126"/>
                  </a:lnTo>
                  <a:lnTo>
                    <a:pt x="147980" y="64731"/>
                  </a:lnTo>
                  <a:lnTo>
                    <a:pt x="83540" y="64731"/>
                  </a:lnTo>
                  <a:lnTo>
                    <a:pt x="83540" y="51892"/>
                  </a:lnTo>
                  <a:lnTo>
                    <a:pt x="84328" y="49453"/>
                  </a:lnTo>
                  <a:lnTo>
                    <a:pt x="87553" y="46228"/>
                  </a:lnTo>
                  <a:lnTo>
                    <a:pt x="90017" y="45415"/>
                  </a:lnTo>
                  <a:lnTo>
                    <a:pt x="147980" y="45415"/>
                  </a:lnTo>
                  <a:lnTo>
                    <a:pt x="147980" y="10007"/>
                  </a:lnTo>
                  <a:close/>
                </a:path>
                <a:path w="5645785" h="283210">
                  <a:moveTo>
                    <a:pt x="319646" y="122593"/>
                  </a:moveTo>
                  <a:lnTo>
                    <a:pt x="310400" y="85572"/>
                  </a:lnTo>
                  <a:lnTo>
                    <a:pt x="272326" y="59791"/>
                  </a:lnTo>
                  <a:lnTo>
                    <a:pt x="259270" y="58712"/>
                  </a:lnTo>
                  <a:lnTo>
                    <a:pt x="242265" y="61023"/>
                  </a:lnTo>
                  <a:lnTo>
                    <a:pt x="229666" y="67945"/>
                  </a:lnTo>
                  <a:lnTo>
                    <a:pt x="221488" y="79489"/>
                  </a:lnTo>
                  <a:lnTo>
                    <a:pt x="217703" y="95656"/>
                  </a:lnTo>
                  <a:lnTo>
                    <a:pt x="217792" y="95161"/>
                  </a:lnTo>
                  <a:lnTo>
                    <a:pt x="223647" y="61582"/>
                  </a:lnTo>
                  <a:lnTo>
                    <a:pt x="186575" y="61582"/>
                  </a:lnTo>
                  <a:lnTo>
                    <a:pt x="186575" y="231101"/>
                  </a:lnTo>
                  <a:lnTo>
                    <a:pt x="224218" y="231101"/>
                  </a:lnTo>
                  <a:lnTo>
                    <a:pt x="224269" y="114147"/>
                  </a:lnTo>
                  <a:lnTo>
                    <a:pt x="226758" y="106311"/>
                  </a:lnTo>
                  <a:lnTo>
                    <a:pt x="236562" y="95656"/>
                  </a:lnTo>
                  <a:lnTo>
                    <a:pt x="237083" y="95161"/>
                  </a:lnTo>
                  <a:lnTo>
                    <a:pt x="244106" y="92430"/>
                  </a:lnTo>
                  <a:lnTo>
                    <a:pt x="262572" y="92430"/>
                  </a:lnTo>
                  <a:lnTo>
                    <a:pt x="269697" y="95161"/>
                  </a:lnTo>
                  <a:lnTo>
                    <a:pt x="279527" y="106070"/>
                  </a:lnTo>
                  <a:lnTo>
                    <a:pt x="279603" y="106311"/>
                  </a:lnTo>
                  <a:lnTo>
                    <a:pt x="282003" y="114147"/>
                  </a:lnTo>
                  <a:lnTo>
                    <a:pt x="282003" y="137985"/>
                  </a:lnTo>
                  <a:lnTo>
                    <a:pt x="319646" y="137985"/>
                  </a:lnTo>
                  <a:lnTo>
                    <a:pt x="319646" y="122593"/>
                  </a:lnTo>
                  <a:close/>
                </a:path>
                <a:path w="5645785" h="283210">
                  <a:moveTo>
                    <a:pt x="485305" y="124548"/>
                  </a:moveTo>
                  <a:lnTo>
                    <a:pt x="475107" y="86144"/>
                  </a:lnTo>
                  <a:lnTo>
                    <a:pt x="447662" y="63969"/>
                  </a:lnTo>
                  <a:lnTo>
                    <a:pt x="447662" y="114376"/>
                  </a:lnTo>
                  <a:lnTo>
                    <a:pt x="447662" y="178308"/>
                  </a:lnTo>
                  <a:lnTo>
                    <a:pt x="445185" y="186143"/>
                  </a:lnTo>
                  <a:lnTo>
                    <a:pt x="435343" y="196545"/>
                  </a:lnTo>
                  <a:lnTo>
                    <a:pt x="428142" y="199136"/>
                  </a:lnTo>
                  <a:lnTo>
                    <a:pt x="409054" y="199136"/>
                  </a:lnTo>
                  <a:lnTo>
                    <a:pt x="401828" y="196545"/>
                  </a:lnTo>
                  <a:lnTo>
                    <a:pt x="392036" y="186143"/>
                  </a:lnTo>
                  <a:lnTo>
                    <a:pt x="389585" y="178308"/>
                  </a:lnTo>
                  <a:lnTo>
                    <a:pt x="389585" y="114376"/>
                  </a:lnTo>
                  <a:lnTo>
                    <a:pt x="392036" y="106565"/>
                  </a:lnTo>
                  <a:lnTo>
                    <a:pt x="401828" y="96164"/>
                  </a:lnTo>
                  <a:lnTo>
                    <a:pt x="409054" y="93548"/>
                  </a:lnTo>
                  <a:lnTo>
                    <a:pt x="428142" y="93548"/>
                  </a:lnTo>
                  <a:lnTo>
                    <a:pt x="435343" y="96164"/>
                  </a:lnTo>
                  <a:lnTo>
                    <a:pt x="440245" y="101384"/>
                  </a:lnTo>
                  <a:lnTo>
                    <a:pt x="445185" y="106565"/>
                  </a:lnTo>
                  <a:lnTo>
                    <a:pt x="447662" y="63969"/>
                  </a:lnTo>
                  <a:lnTo>
                    <a:pt x="418617" y="58712"/>
                  </a:lnTo>
                  <a:lnTo>
                    <a:pt x="404114" y="59817"/>
                  </a:lnTo>
                  <a:lnTo>
                    <a:pt x="362038" y="86144"/>
                  </a:lnTo>
                  <a:lnTo>
                    <a:pt x="351891" y="124548"/>
                  </a:lnTo>
                  <a:lnTo>
                    <a:pt x="351878" y="167855"/>
                  </a:lnTo>
                  <a:lnTo>
                    <a:pt x="352996" y="182346"/>
                  </a:lnTo>
                  <a:lnTo>
                    <a:pt x="379768" y="223977"/>
                  </a:lnTo>
                  <a:lnTo>
                    <a:pt x="418617" y="233972"/>
                  </a:lnTo>
                  <a:lnTo>
                    <a:pt x="433095" y="232867"/>
                  </a:lnTo>
                  <a:lnTo>
                    <a:pt x="475107" y="206514"/>
                  </a:lnTo>
                  <a:lnTo>
                    <a:pt x="485305" y="167855"/>
                  </a:lnTo>
                  <a:lnTo>
                    <a:pt x="485305" y="124548"/>
                  </a:lnTo>
                  <a:close/>
                </a:path>
                <a:path w="5645785" h="283210">
                  <a:moveTo>
                    <a:pt x="663549" y="105371"/>
                  </a:moveTo>
                  <a:lnTo>
                    <a:pt x="662940" y="95567"/>
                  </a:lnTo>
                  <a:lnTo>
                    <a:pt x="661873" y="90398"/>
                  </a:lnTo>
                  <a:lnTo>
                    <a:pt x="661098" y="86690"/>
                  </a:lnTo>
                  <a:lnTo>
                    <a:pt x="660450" y="85013"/>
                  </a:lnTo>
                  <a:lnTo>
                    <a:pt x="660374" y="84810"/>
                  </a:lnTo>
                  <a:lnTo>
                    <a:pt x="626402" y="58712"/>
                  </a:lnTo>
                  <a:lnTo>
                    <a:pt x="618045" y="58712"/>
                  </a:lnTo>
                  <a:lnTo>
                    <a:pt x="611365" y="61023"/>
                  </a:lnTo>
                  <a:lnTo>
                    <a:pt x="610514" y="61582"/>
                  </a:lnTo>
                  <a:lnTo>
                    <a:pt x="599694" y="70840"/>
                  </a:lnTo>
                  <a:lnTo>
                    <a:pt x="599389" y="71780"/>
                  </a:lnTo>
                  <a:lnTo>
                    <a:pt x="598830" y="70205"/>
                  </a:lnTo>
                  <a:lnTo>
                    <a:pt x="597941" y="69469"/>
                  </a:lnTo>
                  <a:lnTo>
                    <a:pt x="597941" y="78765"/>
                  </a:lnTo>
                  <a:lnTo>
                    <a:pt x="597687" y="77038"/>
                  </a:lnTo>
                  <a:lnTo>
                    <a:pt x="597814" y="76669"/>
                  </a:lnTo>
                  <a:lnTo>
                    <a:pt x="597839" y="77038"/>
                  </a:lnTo>
                  <a:lnTo>
                    <a:pt x="597941" y="78765"/>
                  </a:lnTo>
                  <a:lnTo>
                    <a:pt x="597941" y="69469"/>
                  </a:lnTo>
                  <a:lnTo>
                    <a:pt x="593369" y="65633"/>
                  </a:lnTo>
                  <a:lnTo>
                    <a:pt x="587959" y="61023"/>
                  </a:lnTo>
                  <a:lnTo>
                    <a:pt x="581291" y="58712"/>
                  </a:lnTo>
                  <a:lnTo>
                    <a:pt x="565010" y="58712"/>
                  </a:lnTo>
                  <a:lnTo>
                    <a:pt x="558431" y="61023"/>
                  </a:lnTo>
                  <a:lnTo>
                    <a:pt x="558203" y="61023"/>
                  </a:lnTo>
                  <a:lnTo>
                    <a:pt x="551053" y="67246"/>
                  </a:lnTo>
                  <a:lnTo>
                    <a:pt x="552094" y="61582"/>
                  </a:lnTo>
                  <a:lnTo>
                    <a:pt x="546138" y="61582"/>
                  </a:lnTo>
                  <a:lnTo>
                    <a:pt x="546138" y="84455"/>
                  </a:lnTo>
                  <a:lnTo>
                    <a:pt x="544741" y="77038"/>
                  </a:lnTo>
                  <a:lnTo>
                    <a:pt x="544868" y="76669"/>
                  </a:lnTo>
                  <a:lnTo>
                    <a:pt x="544906" y="77038"/>
                  </a:lnTo>
                  <a:lnTo>
                    <a:pt x="545071" y="78765"/>
                  </a:lnTo>
                  <a:lnTo>
                    <a:pt x="546138" y="84455"/>
                  </a:lnTo>
                  <a:lnTo>
                    <a:pt x="546138" y="61582"/>
                  </a:lnTo>
                  <a:lnTo>
                    <a:pt x="517525" y="61582"/>
                  </a:lnTo>
                  <a:lnTo>
                    <a:pt x="517525" y="231101"/>
                  </a:lnTo>
                  <a:lnTo>
                    <a:pt x="553212" y="231101"/>
                  </a:lnTo>
                  <a:lnTo>
                    <a:pt x="553212" y="99644"/>
                  </a:lnTo>
                  <a:lnTo>
                    <a:pt x="554075" y="95948"/>
                  </a:lnTo>
                  <a:lnTo>
                    <a:pt x="557568" y="91528"/>
                  </a:lnTo>
                  <a:lnTo>
                    <a:pt x="560095" y="90398"/>
                  </a:lnTo>
                  <a:lnTo>
                    <a:pt x="566813" y="90398"/>
                  </a:lnTo>
                  <a:lnTo>
                    <a:pt x="569328" y="91528"/>
                  </a:lnTo>
                  <a:lnTo>
                    <a:pt x="573024" y="95948"/>
                  </a:lnTo>
                  <a:lnTo>
                    <a:pt x="574179" y="99644"/>
                  </a:lnTo>
                  <a:lnTo>
                    <a:pt x="574268" y="231101"/>
                  </a:lnTo>
                  <a:lnTo>
                    <a:pt x="606806" y="231101"/>
                  </a:lnTo>
                  <a:lnTo>
                    <a:pt x="606831" y="99644"/>
                  </a:lnTo>
                  <a:lnTo>
                    <a:pt x="607860" y="95948"/>
                  </a:lnTo>
                  <a:lnTo>
                    <a:pt x="611644" y="91528"/>
                  </a:lnTo>
                  <a:lnTo>
                    <a:pt x="614197" y="90398"/>
                  </a:lnTo>
                  <a:lnTo>
                    <a:pt x="620915" y="90398"/>
                  </a:lnTo>
                  <a:lnTo>
                    <a:pt x="623379" y="91528"/>
                  </a:lnTo>
                  <a:lnTo>
                    <a:pt x="626770" y="95948"/>
                  </a:lnTo>
                  <a:lnTo>
                    <a:pt x="627786" y="99644"/>
                  </a:lnTo>
                  <a:lnTo>
                    <a:pt x="627862" y="231101"/>
                  </a:lnTo>
                  <a:lnTo>
                    <a:pt x="663549" y="231101"/>
                  </a:lnTo>
                  <a:lnTo>
                    <a:pt x="663549" y="105371"/>
                  </a:lnTo>
                  <a:close/>
                </a:path>
                <a:path w="5645785" h="283210">
                  <a:moveTo>
                    <a:pt x="4747323" y="16522"/>
                  </a:moveTo>
                  <a:lnTo>
                    <a:pt x="4745012" y="10922"/>
                  </a:lnTo>
                  <a:lnTo>
                    <a:pt x="4735779" y="2197"/>
                  </a:lnTo>
                  <a:lnTo>
                    <a:pt x="4729899" y="0"/>
                  </a:lnTo>
                  <a:lnTo>
                    <a:pt x="4709884" y="0"/>
                  </a:lnTo>
                  <a:lnTo>
                    <a:pt x="4704004" y="2197"/>
                  </a:lnTo>
                  <a:lnTo>
                    <a:pt x="4694771" y="10922"/>
                  </a:lnTo>
                  <a:lnTo>
                    <a:pt x="4692459" y="16522"/>
                  </a:lnTo>
                  <a:lnTo>
                    <a:pt x="4692459" y="30276"/>
                  </a:lnTo>
                  <a:lnTo>
                    <a:pt x="4694720" y="35826"/>
                  </a:lnTo>
                  <a:lnTo>
                    <a:pt x="4699254" y="40030"/>
                  </a:lnTo>
                  <a:lnTo>
                    <a:pt x="4703826" y="44183"/>
                  </a:lnTo>
                  <a:lnTo>
                    <a:pt x="4709744" y="46253"/>
                  </a:lnTo>
                  <a:lnTo>
                    <a:pt x="4729797" y="46253"/>
                  </a:lnTo>
                  <a:lnTo>
                    <a:pt x="4735652" y="44183"/>
                  </a:lnTo>
                  <a:lnTo>
                    <a:pt x="4745012" y="35826"/>
                  </a:lnTo>
                  <a:lnTo>
                    <a:pt x="4747323" y="30276"/>
                  </a:lnTo>
                  <a:lnTo>
                    <a:pt x="4747323" y="16522"/>
                  </a:lnTo>
                  <a:close/>
                </a:path>
                <a:path w="5645785" h="283210">
                  <a:moveTo>
                    <a:pt x="4794618" y="195707"/>
                  </a:moveTo>
                  <a:lnTo>
                    <a:pt x="4741583" y="195707"/>
                  </a:lnTo>
                  <a:lnTo>
                    <a:pt x="4741583" y="61582"/>
                  </a:lnTo>
                  <a:lnTo>
                    <a:pt x="4655172" y="61582"/>
                  </a:lnTo>
                  <a:lnTo>
                    <a:pt x="4655172" y="96977"/>
                  </a:lnTo>
                  <a:lnTo>
                    <a:pt x="4703864" y="96977"/>
                  </a:lnTo>
                  <a:lnTo>
                    <a:pt x="4703864" y="195707"/>
                  </a:lnTo>
                  <a:lnTo>
                    <a:pt x="4648035" y="195707"/>
                  </a:lnTo>
                  <a:lnTo>
                    <a:pt x="4648035" y="231101"/>
                  </a:lnTo>
                  <a:lnTo>
                    <a:pt x="4794618" y="231101"/>
                  </a:lnTo>
                  <a:lnTo>
                    <a:pt x="4794618" y="195707"/>
                  </a:lnTo>
                  <a:close/>
                </a:path>
                <a:path w="5645785" h="283210">
                  <a:moveTo>
                    <a:pt x="4961953" y="105371"/>
                  </a:moveTo>
                  <a:lnTo>
                    <a:pt x="4961331" y="95567"/>
                  </a:lnTo>
                  <a:lnTo>
                    <a:pt x="4960264" y="90398"/>
                  </a:lnTo>
                  <a:lnTo>
                    <a:pt x="4959502" y="86690"/>
                  </a:lnTo>
                  <a:lnTo>
                    <a:pt x="4958854" y="85013"/>
                  </a:lnTo>
                  <a:lnTo>
                    <a:pt x="4958766" y="84810"/>
                  </a:lnTo>
                  <a:lnTo>
                    <a:pt x="4956441" y="78765"/>
                  </a:lnTo>
                  <a:lnTo>
                    <a:pt x="4924793" y="58712"/>
                  </a:lnTo>
                  <a:lnTo>
                    <a:pt x="4916449" y="58712"/>
                  </a:lnTo>
                  <a:lnTo>
                    <a:pt x="4909769" y="61023"/>
                  </a:lnTo>
                  <a:lnTo>
                    <a:pt x="4908905" y="61582"/>
                  </a:lnTo>
                  <a:lnTo>
                    <a:pt x="4898098" y="70840"/>
                  </a:lnTo>
                  <a:lnTo>
                    <a:pt x="4897793" y="71780"/>
                  </a:lnTo>
                  <a:lnTo>
                    <a:pt x="4897234" y="70205"/>
                  </a:lnTo>
                  <a:lnTo>
                    <a:pt x="4896345" y="69469"/>
                  </a:lnTo>
                  <a:lnTo>
                    <a:pt x="4896345" y="78765"/>
                  </a:lnTo>
                  <a:lnTo>
                    <a:pt x="4896091" y="77038"/>
                  </a:lnTo>
                  <a:lnTo>
                    <a:pt x="4896218" y="76669"/>
                  </a:lnTo>
                  <a:lnTo>
                    <a:pt x="4896231" y="77038"/>
                  </a:lnTo>
                  <a:lnTo>
                    <a:pt x="4896345" y="78765"/>
                  </a:lnTo>
                  <a:lnTo>
                    <a:pt x="4896345" y="69469"/>
                  </a:lnTo>
                  <a:lnTo>
                    <a:pt x="4891773" y="65633"/>
                  </a:lnTo>
                  <a:lnTo>
                    <a:pt x="4886363" y="61023"/>
                  </a:lnTo>
                  <a:lnTo>
                    <a:pt x="4879695" y="58712"/>
                  </a:lnTo>
                  <a:lnTo>
                    <a:pt x="4863414" y="58712"/>
                  </a:lnTo>
                  <a:lnTo>
                    <a:pt x="4856835" y="61023"/>
                  </a:lnTo>
                  <a:lnTo>
                    <a:pt x="4856594" y="61023"/>
                  </a:lnTo>
                  <a:lnTo>
                    <a:pt x="4849444" y="67246"/>
                  </a:lnTo>
                  <a:lnTo>
                    <a:pt x="4850485" y="61582"/>
                  </a:lnTo>
                  <a:lnTo>
                    <a:pt x="4844542" y="61582"/>
                  </a:lnTo>
                  <a:lnTo>
                    <a:pt x="4844542" y="84455"/>
                  </a:lnTo>
                  <a:lnTo>
                    <a:pt x="4843145" y="77038"/>
                  </a:lnTo>
                  <a:lnTo>
                    <a:pt x="4843272" y="76669"/>
                  </a:lnTo>
                  <a:lnTo>
                    <a:pt x="4843310" y="77038"/>
                  </a:lnTo>
                  <a:lnTo>
                    <a:pt x="4843475" y="78765"/>
                  </a:lnTo>
                  <a:lnTo>
                    <a:pt x="4844542" y="84455"/>
                  </a:lnTo>
                  <a:lnTo>
                    <a:pt x="4844542" y="61582"/>
                  </a:lnTo>
                  <a:lnTo>
                    <a:pt x="4815929" y="61582"/>
                  </a:lnTo>
                  <a:lnTo>
                    <a:pt x="4815929" y="231101"/>
                  </a:lnTo>
                  <a:lnTo>
                    <a:pt x="4851616" y="231101"/>
                  </a:lnTo>
                  <a:lnTo>
                    <a:pt x="4851616" y="99644"/>
                  </a:lnTo>
                  <a:lnTo>
                    <a:pt x="4852479" y="95948"/>
                  </a:lnTo>
                  <a:lnTo>
                    <a:pt x="4855972" y="91528"/>
                  </a:lnTo>
                  <a:lnTo>
                    <a:pt x="4858486" y="90398"/>
                  </a:lnTo>
                  <a:lnTo>
                    <a:pt x="4865205" y="90398"/>
                  </a:lnTo>
                  <a:lnTo>
                    <a:pt x="4867732" y="91528"/>
                  </a:lnTo>
                  <a:lnTo>
                    <a:pt x="4871428" y="95948"/>
                  </a:lnTo>
                  <a:lnTo>
                    <a:pt x="4872571" y="99644"/>
                  </a:lnTo>
                  <a:lnTo>
                    <a:pt x="4872672" y="231101"/>
                  </a:lnTo>
                  <a:lnTo>
                    <a:pt x="4905210" y="231101"/>
                  </a:lnTo>
                  <a:lnTo>
                    <a:pt x="4905235" y="99644"/>
                  </a:lnTo>
                  <a:lnTo>
                    <a:pt x="4906264" y="95948"/>
                  </a:lnTo>
                  <a:lnTo>
                    <a:pt x="4910036" y="91528"/>
                  </a:lnTo>
                  <a:lnTo>
                    <a:pt x="4912601" y="90398"/>
                  </a:lnTo>
                  <a:lnTo>
                    <a:pt x="4919319" y="90398"/>
                  </a:lnTo>
                  <a:lnTo>
                    <a:pt x="4921783" y="91528"/>
                  </a:lnTo>
                  <a:lnTo>
                    <a:pt x="4925174" y="95948"/>
                  </a:lnTo>
                  <a:lnTo>
                    <a:pt x="4926190" y="99644"/>
                  </a:lnTo>
                  <a:lnTo>
                    <a:pt x="4926266" y="231101"/>
                  </a:lnTo>
                  <a:lnTo>
                    <a:pt x="4961953" y="231101"/>
                  </a:lnTo>
                  <a:lnTo>
                    <a:pt x="4961953" y="105371"/>
                  </a:lnTo>
                  <a:close/>
                </a:path>
                <a:path w="5645785" h="283210">
                  <a:moveTo>
                    <a:pt x="5127599" y="123151"/>
                  </a:moveTo>
                  <a:lnTo>
                    <a:pt x="5118938" y="85877"/>
                  </a:lnTo>
                  <a:lnTo>
                    <a:pt x="5089957" y="61899"/>
                  </a:lnTo>
                  <a:lnTo>
                    <a:pt x="5089957" y="114147"/>
                  </a:lnTo>
                  <a:lnTo>
                    <a:pt x="5089957" y="178536"/>
                  </a:lnTo>
                  <a:lnTo>
                    <a:pt x="5087556" y="186512"/>
                  </a:lnTo>
                  <a:lnTo>
                    <a:pt x="5078031" y="196964"/>
                  </a:lnTo>
                  <a:lnTo>
                    <a:pt x="5070957" y="199694"/>
                  </a:lnTo>
                  <a:lnTo>
                    <a:pt x="5052809" y="199694"/>
                  </a:lnTo>
                  <a:lnTo>
                    <a:pt x="5045761" y="196964"/>
                  </a:lnTo>
                  <a:lnTo>
                    <a:pt x="5044846" y="195986"/>
                  </a:lnTo>
                  <a:lnTo>
                    <a:pt x="5040630" y="191503"/>
                  </a:lnTo>
                  <a:lnTo>
                    <a:pt x="5035550" y="186004"/>
                  </a:lnTo>
                  <a:lnTo>
                    <a:pt x="5033137" y="178536"/>
                  </a:lnTo>
                  <a:lnTo>
                    <a:pt x="5033137" y="114147"/>
                  </a:lnTo>
                  <a:lnTo>
                    <a:pt x="5052809" y="92989"/>
                  </a:lnTo>
                  <a:lnTo>
                    <a:pt x="5070957" y="92989"/>
                  </a:lnTo>
                  <a:lnTo>
                    <a:pt x="5077942" y="95631"/>
                  </a:lnTo>
                  <a:lnTo>
                    <a:pt x="5087556" y="106172"/>
                  </a:lnTo>
                  <a:lnTo>
                    <a:pt x="5089957" y="114147"/>
                  </a:lnTo>
                  <a:lnTo>
                    <a:pt x="5089957" y="61899"/>
                  </a:lnTo>
                  <a:lnTo>
                    <a:pt x="5082933" y="59804"/>
                  </a:lnTo>
                  <a:lnTo>
                    <a:pt x="5070373" y="58712"/>
                  </a:lnTo>
                  <a:lnTo>
                    <a:pt x="5060899" y="59347"/>
                  </a:lnTo>
                  <a:lnTo>
                    <a:pt x="5030775" y="75793"/>
                  </a:lnTo>
                  <a:lnTo>
                    <a:pt x="5033010" y="61582"/>
                  </a:lnTo>
                  <a:lnTo>
                    <a:pt x="5026507" y="61582"/>
                  </a:lnTo>
                  <a:lnTo>
                    <a:pt x="5026507" y="195986"/>
                  </a:lnTo>
                  <a:lnTo>
                    <a:pt x="5026469" y="196964"/>
                  </a:lnTo>
                  <a:lnTo>
                    <a:pt x="5026368" y="198945"/>
                  </a:lnTo>
                  <a:lnTo>
                    <a:pt x="5026507" y="195986"/>
                  </a:lnTo>
                  <a:lnTo>
                    <a:pt x="5026507" y="61582"/>
                  </a:lnTo>
                  <a:lnTo>
                    <a:pt x="4995367" y="61582"/>
                  </a:lnTo>
                  <a:lnTo>
                    <a:pt x="4995367" y="282676"/>
                  </a:lnTo>
                  <a:lnTo>
                    <a:pt x="5033010" y="282676"/>
                  </a:lnTo>
                  <a:lnTo>
                    <a:pt x="5032807" y="229565"/>
                  </a:lnTo>
                  <a:lnTo>
                    <a:pt x="5030787" y="216979"/>
                  </a:lnTo>
                  <a:lnTo>
                    <a:pt x="5031460" y="218173"/>
                  </a:lnTo>
                  <a:lnTo>
                    <a:pt x="5070373" y="233972"/>
                  </a:lnTo>
                  <a:lnTo>
                    <a:pt x="5082933" y="232879"/>
                  </a:lnTo>
                  <a:lnTo>
                    <a:pt x="5118938" y="206794"/>
                  </a:lnTo>
                  <a:lnTo>
                    <a:pt x="5127599" y="169252"/>
                  </a:lnTo>
                  <a:lnTo>
                    <a:pt x="5127599" y="123151"/>
                  </a:lnTo>
                  <a:close/>
                </a:path>
                <a:path w="5645785" h="283210">
                  <a:moveTo>
                    <a:pt x="5299557" y="124548"/>
                  </a:moveTo>
                  <a:lnTo>
                    <a:pt x="5289359" y="86144"/>
                  </a:lnTo>
                  <a:lnTo>
                    <a:pt x="5261915" y="63969"/>
                  </a:lnTo>
                  <a:lnTo>
                    <a:pt x="5261915" y="114376"/>
                  </a:lnTo>
                  <a:lnTo>
                    <a:pt x="5261915" y="178308"/>
                  </a:lnTo>
                  <a:lnTo>
                    <a:pt x="5259438" y="186143"/>
                  </a:lnTo>
                  <a:lnTo>
                    <a:pt x="5249596" y="196545"/>
                  </a:lnTo>
                  <a:lnTo>
                    <a:pt x="5242395" y="199136"/>
                  </a:lnTo>
                  <a:lnTo>
                    <a:pt x="5223307" y="199136"/>
                  </a:lnTo>
                  <a:lnTo>
                    <a:pt x="5216080" y="196545"/>
                  </a:lnTo>
                  <a:lnTo>
                    <a:pt x="5206289" y="186143"/>
                  </a:lnTo>
                  <a:lnTo>
                    <a:pt x="5203837" y="178308"/>
                  </a:lnTo>
                  <a:lnTo>
                    <a:pt x="5203837" y="114376"/>
                  </a:lnTo>
                  <a:lnTo>
                    <a:pt x="5206289" y="106565"/>
                  </a:lnTo>
                  <a:lnTo>
                    <a:pt x="5216080" y="96164"/>
                  </a:lnTo>
                  <a:lnTo>
                    <a:pt x="5223307" y="93548"/>
                  </a:lnTo>
                  <a:lnTo>
                    <a:pt x="5242395" y="93548"/>
                  </a:lnTo>
                  <a:lnTo>
                    <a:pt x="5249596" y="96164"/>
                  </a:lnTo>
                  <a:lnTo>
                    <a:pt x="5254498" y="101384"/>
                  </a:lnTo>
                  <a:lnTo>
                    <a:pt x="5259438" y="106565"/>
                  </a:lnTo>
                  <a:lnTo>
                    <a:pt x="5261915" y="63969"/>
                  </a:lnTo>
                  <a:lnTo>
                    <a:pt x="5232870" y="58712"/>
                  </a:lnTo>
                  <a:lnTo>
                    <a:pt x="5218366" y="59817"/>
                  </a:lnTo>
                  <a:lnTo>
                    <a:pt x="5176291" y="86144"/>
                  </a:lnTo>
                  <a:lnTo>
                    <a:pt x="5166144" y="124548"/>
                  </a:lnTo>
                  <a:lnTo>
                    <a:pt x="5166131" y="167855"/>
                  </a:lnTo>
                  <a:lnTo>
                    <a:pt x="5167249" y="182346"/>
                  </a:lnTo>
                  <a:lnTo>
                    <a:pt x="5194020" y="223977"/>
                  </a:lnTo>
                  <a:lnTo>
                    <a:pt x="5232870" y="233972"/>
                  </a:lnTo>
                  <a:lnTo>
                    <a:pt x="5247348" y="232867"/>
                  </a:lnTo>
                  <a:lnTo>
                    <a:pt x="5289359" y="206514"/>
                  </a:lnTo>
                  <a:lnTo>
                    <a:pt x="5299557" y="167855"/>
                  </a:lnTo>
                  <a:lnTo>
                    <a:pt x="5299557" y="124548"/>
                  </a:lnTo>
                  <a:close/>
                </a:path>
                <a:path w="5645785" h="283210">
                  <a:moveTo>
                    <a:pt x="5477802" y="122593"/>
                  </a:moveTo>
                  <a:lnTo>
                    <a:pt x="5468556" y="85572"/>
                  </a:lnTo>
                  <a:lnTo>
                    <a:pt x="5430482" y="59791"/>
                  </a:lnTo>
                  <a:lnTo>
                    <a:pt x="5417413" y="58712"/>
                  </a:lnTo>
                  <a:lnTo>
                    <a:pt x="5400421" y="61023"/>
                  </a:lnTo>
                  <a:lnTo>
                    <a:pt x="5387822" y="67945"/>
                  </a:lnTo>
                  <a:lnTo>
                    <a:pt x="5379631" y="79489"/>
                  </a:lnTo>
                  <a:lnTo>
                    <a:pt x="5375859" y="95656"/>
                  </a:lnTo>
                  <a:lnTo>
                    <a:pt x="5375948" y="95161"/>
                  </a:lnTo>
                  <a:lnTo>
                    <a:pt x="5381803" y="61582"/>
                  </a:lnTo>
                  <a:lnTo>
                    <a:pt x="5344719" y="61582"/>
                  </a:lnTo>
                  <a:lnTo>
                    <a:pt x="5344719" y="231101"/>
                  </a:lnTo>
                  <a:lnTo>
                    <a:pt x="5382361" y="231101"/>
                  </a:lnTo>
                  <a:lnTo>
                    <a:pt x="5382425" y="114147"/>
                  </a:lnTo>
                  <a:lnTo>
                    <a:pt x="5384901" y="106311"/>
                  </a:lnTo>
                  <a:lnTo>
                    <a:pt x="5394718" y="95656"/>
                  </a:lnTo>
                  <a:lnTo>
                    <a:pt x="5395239" y="95161"/>
                  </a:lnTo>
                  <a:lnTo>
                    <a:pt x="5402262" y="92430"/>
                  </a:lnTo>
                  <a:lnTo>
                    <a:pt x="5420728" y="92430"/>
                  </a:lnTo>
                  <a:lnTo>
                    <a:pt x="5427840" y="95161"/>
                  </a:lnTo>
                  <a:lnTo>
                    <a:pt x="5437683" y="106070"/>
                  </a:lnTo>
                  <a:lnTo>
                    <a:pt x="5437759" y="106311"/>
                  </a:lnTo>
                  <a:lnTo>
                    <a:pt x="5440159" y="114147"/>
                  </a:lnTo>
                  <a:lnTo>
                    <a:pt x="5440159" y="137985"/>
                  </a:lnTo>
                  <a:lnTo>
                    <a:pt x="5477802" y="137985"/>
                  </a:lnTo>
                  <a:lnTo>
                    <a:pt x="5477802" y="122593"/>
                  </a:lnTo>
                  <a:close/>
                </a:path>
                <a:path w="5645785" h="283210">
                  <a:moveTo>
                    <a:pt x="5645759" y="61582"/>
                  </a:moveTo>
                  <a:lnTo>
                    <a:pt x="5582717" y="61582"/>
                  </a:lnTo>
                  <a:lnTo>
                    <a:pt x="5582717" y="18618"/>
                  </a:lnTo>
                  <a:lnTo>
                    <a:pt x="5545010" y="18618"/>
                  </a:lnTo>
                  <a:lnTo>
                    <a:pt x="5545010" y="61582"/>
                  </a:lnTo>
                  <a:lnTo>
                    <a:pt x="5500586" y="61582"/>
                  </a:lnTo>
                  <a:lnTo>
                    <a:pt x="5500586" y="96977"/>
                  </a:lnTo>
                  <a:lnTo>
                    <a:pt x="5545010" y="96977"/>
                  </a:lnTo>
                  <a:lnTo>
                    <a:pt x="5545010" y="183603"/>
                  </a:lnTo>
                  <a:lnTo>
                    <a:pt x="5545823" y="194157"/>
                  </a:lnTo>
                  <a:lnTo>
                    <a:pt x="5573649" y="227965"/>
                  </a:lnTo>
                  <a:lnTo>
                    <a:pt x="5593981" y="231101"/>
                  </a:lnTo>
                  <a:lnTo>
                    <a:pt x="5642889" y="231101"/>
                  </a:lnTo>
                  <a:lnTo>
                    <a:pt x="5642889" y="195707"/>
                  </a:lnTo>
                  <a:lnTo>
                    <a:pt x="5589790" y="195707"/>
                  </a:lnTo>
                  <a:lnTo>
                    <a:pt x="5586844" y="194818"/>
                  </a:lnTo>
                  <a:lnTo>
                    <a:pt x="5583542" y="191274"/>
                  </a:lnTo>
                  <a:lnTo>
                    <a:pt x="5582717" y="188125"/>
                  </a:lnTo>
                  <a:lnTo>
                    <a:pt x="5582717" y="96977"/>
                  </a:lnTo>
                  <a:lnTo>
                    <a:pt x="5645759" y="96977"/>
                  </a:lnTo>
                  <a:lnTo>
                    <a:pt x="5645759" y="61582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491289" y="3868904"/>
            <a:ext cx="9887585" cy="819150"/>
          </a:xfrm>
          <a:custGeom>
            <a:avLst/>
            <a:gdLst/>
            <a:ahLst/>
            <a:cxnLst/>
            <a:rect l="l" t="t" r="r" b="b"/>
            <a:pathLst>
              <a:path w="9887585" h="819150">
                <a:moveTo>
                  <a:pt x="9810694" y="818815"/>
                </a:moveTo>
                <a:lnTo>
                  <a:pt x="76505" y="818815"/>
                </a:lnTo>
                <a:lnTo>
                  <a:pt x="71180" y="818290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742310"/>
                </a:lnTo>
                <a:lnTo>
                  <a:pt x="9870412" y="786894"/>
                </a:lnTo>
                <a:lnTo>
                  <a:pt x="9831684" y="814639"/>
                </a:lnTo>
                <a:lnTo>
                  <a:pt x="9816018" y="818290"/>
                </a:lnTo>
                <a:lnTo>
                  <a:pt x="9810694" y="818815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1289" y="4933364"/>
            <a:ext cx="9887585" cy="819150"/>
          </a:xfrm>
          <a:custGeom>
            <a:avLst/>
            <a:gdLst/>
            <a:ahLst/>
            <a:cxnLst/>
            <a:rect l="l" t="t" r="r" b="b"/>
            <a:pathLst>
              <a:path w="9887585" h="819150">
                <a:moveTo>
                  <a:pt x="9810694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742310"/>
                </a:lnTo>
                <a:lnTo>
                  <a:pt x="9870412" y="786895"/>
                </a:lnTo>
                <a:lnTo>
                  <a:pt x="9831684" y="814640"/>
                </a:lnTo>
                <a:lnTo>
                  <a:pt x="9816018" y="818291"/>
                </a:lnTo>
                <a:lnTo>
                  <a:pt x="9810694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900697" y="1207753"/>
            <a:ext cx="1289685" cy="429895"/>
          </a:xfrm>
          <a:custGeom>
            <a:avLst/>
            <a:gdLst/>
            <a:ahLst/>
            <a:cxnLst/>
            <a:rect l="l" t="t" r="r" b="b"/>
            <a:pathLst>
              <a:path w="1289685" h="429894">
                <a:moveTo>
                  <a:pt x="1213129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213129" y="0"/>
                </a:lnTo>
                <a:lnTo>
                  <a:pt x="1257714" y="16786"/>
                </a:lnTo>
                <a:lnTo>
                  <a:pt x="1285459" y="55513"/>
                </a:lnTo>
                <a:lnTo>
                  <a:pt x="1289634" y="76505"/>
                </a:lnTo>
                <a:lnTo>
                  <a:pt x="1289634" y="353373"/>
                </a:lnTo>
                <a:lnTo>
                  <a:pt x="1272848" y="397957"/>
                </a:lnTo>
                <a:lnTo>
                  <a:pt x="1234120" y="425702"/>
                </a:lnTo>
                <a:lnTo>
                  <a:pt x="1218454" y="429353"/>
                </a:lnTo>
                <a:lnTo>
                  <a:pt x="1213129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28938" y="1174582"/>
            <a:ext cx="573341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samples</a:t>
            </a:r>
            <a:r>
              <a:rPr sz="2250" spc="39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is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word-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frequency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array</a:t>
            </a:r>
            <a:endParaRPr sz="25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88120" y="2034339"/>
            <a:ext cx="54165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25" dirty="0">
                <a:solidFill>
                  <a:srgbClr val="04182D"/>
                </a:solidFill>
                <a:latin typeface="Monaco"/>
                <a:cs typeface="Monaco"/>
              </a:rPr>
              <a:t>NMF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2352" y="1886952"/>
            <a:ext cx="4667885" cy="1499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59155">
              <a:lnSpc>
                <a:spcPct val="143300"/>
              </a:lnSpc>
              <a:spcBef>
                <a:spcPts val="95"/>
              </a:spcBef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sklearn.decomposition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model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=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NMF(n_components=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2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) model.fit(samples)</a:t>
            </a:r>
            <a:endParaRPr sz="2250" dirty="0">
              <a:latin typeface="Monaco"/>
              <a:cs typeface="Monac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2352" y="4081378"/>
            <a:ext cx="329247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NMF(n_components=2)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2352" y="5145838"/>
            <a:ext cx="6731634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nmf_features =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model.transform(samples)</a:t>
            </a:r>
            <a:endParaRPr sz="2250" dirty="0">
              <a:latin typeface="Monaco"/>
              <a:cs typeface="Monaco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48CB5BC1-EDA0-76CA-6AE4-B48D0769C1C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7</a:t>
            </a:fld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A6C4F0-9C28-DC61-02F9-B6254DF49699}"/>
              </a:ext>
            </a:extLst>
          </p:cNvPr>
          <p:cNvSpPr txBox="1"/>
          <p:nvPr/>
        </p:nvSpPr>
        <p:spPr>
          <a:xfrm>
            <a:off x="7199849" y="2385732"/>
            <a:ext cx="77811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 err="1"/>
              <a:t>n_components</a:t>
            </a:r>
            <a:r>
              <a:rPr lang="en" altLang="ko-KR" b="1" dirty="0"/>
              <a:t>=2</a:t>
            </a:r>
            <a:r>
              <a:rPr lang="en" altLang="ko-KR" dirty="0"/>
              <a:t>: Specifies that the matrix will be reduced to </a:t>
            </a:r>
            <a:r>
              <a:rPr lang="en" altLang="ko-KR" b="1" dirty="0"/>
              <a:t>2 components</a:t>
            </a:r>
            <a:r>
              <a:rPr lang="en" altLang="ko-KR" dirty="0"/>
              <a:t> (or topics in text processing).</a:t>
            </a:r>
          </a:p>
          <a:p>
            <a:r>
              <a:rPr lang="en" altLang="ko-KR" b="1" dirty="0" err="1"/>
              <a:t>model.fit</a:t>
            </a:r>
            <a:r>
              <a:rPr lang="en" altLang="ko-KR" b="1" dirty="0"/>
              <a:t>(samples)</a:t>
            </a:r>
            <a:r>
              <a:rPr lang="en" altLang="ko-KR" dirty="0"/>
              <a:t>: Decomposes the samples matrix into two matrices WWW (basis) and HHH (components).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C2C952-36C2-25AA-262C-70EE1CE9EAA7}"/>
              </a:ext>
            </a:extLst>
          </p:cNvPr>
          <p:cNvSpPr txBox="1"/>
          <p:nvPr/>
        </p:nvSpPr>
        <p:spPr>
          <a:xfrm>
            <a:off x="7310804" y="4984168"/>
            <a:ext cx="778119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 err="1"/>
              <a:t>nmf_features</a:t>
            </a:r>
            <a:r>
              <a:rPr lang="en" altLang="ko-KR" dirty="0" err="1"/>
              <a:t>:A</a:t>
            </a:r>
            <a:r>
              <a:rPr lang="en" altLang="ko-KR" dirty="0"/>
              <a:t> matrix where each row corresponds to a sample, and each column represents its weight for one of the components.</a:t>
            </a:r>
          </a:p>
          <a:p>
            <a:br>
              <a:rPr lang="en" altLang="ko-KR" b="1" dirty="0"/>
            </a:br>
            <a:r>
              <a:rPr lang="en" altLang="ko-KR" b="1" dirty="0" err="1"/>
              <a:t>model.transform</a:t>
            </a:r>
            <a:r>
              <a:rPr lang="en" altLang="ko-KR" b="1" dirty="0"/>
              <a:t>(samples)</a:t>
            </a:r>
            <a:r>
              <a:rPr lang="en" altLang="ko-KR" dirty="0"/>
              <a:t>:Computes the </a:t>
            </a:r>
            <a:r>
              <a:rPr lang="en" altLang="ko-KR" b="1" dirty="0"/>
              <a:t>feature matrix</a:t>
            </a:r>
            <a:r>
              <a:rPr lang="en" altLang="ko-KR" dirty="0"/>
              <a:t> W, which represents the input data in terms of the new components.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95" dirty="0"/>
              <a:t>NMF</a:t>
            </a:r>
            <a:r>
              <a:rPr spc="-90" dirty="0"/>
              <a:t> </a:t>
            </a:r>
            <a:r>
              <a:rPr spc="-114" dirty="0"/>
              <a:t>components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3787022"/>
            <a:ext cx="9887585" cy="819150"/>
          </a:xfrm>
          <a:custGeom>
            <a:avLst/>
            <a:gdLst/>
            <a:ahLst/>
            <a:cxnLst/>
            <a:rect l="l" t="t" r="r" b="b"/>
            <a:pathLst>
              <a:path w="9887585" h="819150">
                <a:moveTo>
                  <a:pt x="9810694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742310"/>
                </a:lnTo>
                <a:lnTo>
                  <a:pt x="9870412" y="786894"/>
                </a:lnTo>
                <a:lnTo>
                  <a:pt x="9831684" y="814639"/>
                </a:lnTo>
                <a:lnTo>
                  <a:pt x="9816018" y="818291"/>
                </a:lnTo>
                <a:lnTo>
                  <a:pt x="9810694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4851482"/>
            <a:ext cx="9887585" cy="1310640"/>
          </a:xfrm>
          <a:custGeom>
            <a:avLst/>
            <a:gdLst/>
            <a:ahLst/>
            <a:cxnLst/>
            <a:rect l="l" t="t" r="r" b="b"/>
            <a:pathLst>
              <a:path w="9887585" h="1310639">
                <a:moveTo>
                  <a:pt x="9810694" y="1310104"/>
                </a:moveTo>
                <a:lnTo>
                  <a:pt x="76505" y="1310104"/>
                </a:lnTo>
                <a:lnTo>
                  <a:pt x="71180" y="1309580"/>
                </a:lnTo>
                <a:lnTo>
                  <a:pt x="31920" y="1293317"/>
                </a:lnTo>
                <a:lnTo>
                  <a:pt x="4175" y="1254590"/>
                </a:lnTo>
                <a:lnTo>
                  <a:pt x="0" y="1233600"/>
                </a:lnTo>
                <a:lnTo>
                  <a:pt x="0" y="1228223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1233600"/>
                </a:lnTo>
                <a:lnTo>
                  <a:pt x="9870412" y="1278183"/>
                </a:lnTo>
                <a:lnTo>
                  <a:pt x="9831684" y="1305928"/>
                </a:lnTo>
                <a:lnTo>
                  <a:pt x="9816018" y="1309580"/>
                </a:lnTo>
                <a:lnTo>
                  <a:pt x="9810694" y="1310104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42352" y="1174582"/>
            <a:ext cx="7937500" cy="3194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17170">
              <a:lnSpc>
                <a:spcPct val="100000"/>
              </a:lnSpc>
              <a:spcBef>
                <a:spcPts val="125"/>
              </a:spcBef>
            </a:pP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NMF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has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components</a:t>
            </a:r>
            <a:endParaRPr sz="2550" dirty="0">
              <a:latin typeface="Arial"/>
              <a:cs typeface="Arial"/>
            </a:endParaRPr>
          </a:p>
          <a:p>
            <a:pPr marL="217170" marR="5080">
              <a:lnSpc>
                <a:spcPts val="5160"/>
              </a:lnSpc>
              <a:spcBef>
                <a:spcPts val="520"/>
              </a:spcBef>
            </a:pP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...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just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like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PCA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has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principal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components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Dimension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components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=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dimension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samples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Entries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are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non-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negative</a:t>
            </a:r>
            <a:endParaRPr sz="25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25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250" spc="-1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(model.components_)</a:t>
            </a:r>
            <a:endParaRPr sz="2250" dirty="0">
              <a:latin typeface="Monaco"/>
              <a:cs typeface="Monaco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203"/>
            <a:ext cx="102352" cy="10235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42352" y="4916570"/>
            <a:ext cx="1229360" cy="100838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[[ </a:t>
            </a: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0.01</a:t>
            </a:r>
            <a:endParaRPr sz="2250">
              <a:latin typeface="Monaco"/>
              <a:cs typeface="Monaco"/>
            </a:endParaRPr>
          </a:p>
          <a:p>
            <a:pPr marL="18415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[ </a:t>
            </a: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0.99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89907" y="4916570"/>
            <a:ext cx="3121025" cy="100838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  <a:tabLst>
                <a:tab pos="1043940" algn="l"/>
                <a:tab pos="2075814" algn="l"/>
              </a:tabLst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0.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2.13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0.54]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1043940" algn="l"/>
                <a:tab pos="2075814" algn="l"/>
              </a:tabLst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1.47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0.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0.5 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]]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6E52179A-6B6C-B2CE-8DCC-DF93F0252B0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8</a:t>
            </a:fld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A009BC-BC05-97E7-5254-370425371F30}"/>
              </a:ext>
            </a:extLst>
          </p:cNvPr>
          <p:cNvSpPr txBox="1"/>
          <p:nvPr/>
        </p:nvSpPr>
        <p:spPr>
          <a:xfrm>
            <a:off x="6864350" y="3549445"/>
            <a:ext cx="77811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 err="1"/>
              <a:t>model.components</a:t>
            </a:r>
            <a:r>
              <a:rPr lang="en" altLang="ko-KR" b="1" dirty="0"/>
              <a:t>_</a:t>
            </a:r>
            <a:r>
              <a:rPr lang="en" altLang="ko-KR" dirty="0"/>
              <a:t>: Retrieves the matrix HHH, where each row represents one of the </a:t>
            </a:r>
            <a:r>
              <a:rPr lang="en" altLang="ko-KR" b="1" dirty="0"/>
              <a:t>2 components</a:t>
            </a:r>
            <a:r>
              <a:rPr lang="en" altLang="ko-KR" dirty="0"/>
              <a:t>, and each column corresponds to the importance of a feature (e.g., a word) for that component.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95" dirty="0"/>
              <a:t>NMF</a:t>
            </a:r>
            <a:r>
              <a:rPr spc="-100" dirty="0"/>
              <a:t> </a:t>
            </a:r>
            <a:r>
              <a:rPr spc="-35" dirty="0"/>
              <a:t>features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3131964"/>
            <a:ext cx="9887585" cy="819150"/>
          </a:xfrm>
          <a:custGeom>
            <a:avLst/>
            <a:gdLst/>
            <a:ahLst/>
            <a:cxnLst/>
            <a:rect l="l" t="t" r="r" b="b"/>
            <a:pathLst>
              <a:path w="9887585" h="819150">
                <a:moveTo>
                  <a:pt x="9810694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742310"/>
                </a:lnTo>
                <a:lnTo>
                  <a:pt x="9870412" y="786894"/>
                </a:lnTo>
                <a:lnTo>
                  <a:pt x="9831684" y="814639"/>
                </a:lnTo>
                <a:lnTo>
                  <a:pt x="9816018" y="818291"/>
                </a:lnTo>
                <a:lnTo>
                  <a:pt x="9810694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4196424"/>
            <a:ext cx="9887585" cy="2292985"/>
          </a:xfrm>
          <a:custGeom>
            <a:avLst/>
            <a:gdLst/>
            <a:ahLst/>
            <a:cxnLst/>
            <a:rect l="l" t="t" r="r" b="b"/>
            <a:pathLst>
              <a:path w="9887585" h="2292985">
                <a:moveTo>
                  <a:pt x="9810694" y="2292683"/>
                </a:moveTo>
                <a:lnTo>
                  <a:pt x="76505" y="2292683"/>
                </a:lnTo>
                <a:lnTo>
                  <a:pt x="71180" y="2292158"/>
                </a:lnTo>
                <a:lnTo>
                  <a:pt x="31920" y="2275896"/>
                </a:lnTo>
                <a:lnTo>
                  <a:pt x="4175" y="2237169"/>
                </a:lnTo>
                <a:lnTo>
                  <a:pt x="0" y="2216178"/>
                </a:lnTo>
                <a:lnTo>
                  <a:pt x="0" y="2210802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4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2216178"/>
                </a:lnTo>
                <a:lnTo>
                  <a:pt x="9870412" y="2260762"/>
                </a:lnTo>
                <a:lnTo>
                  <a:pt x="9831684" y="2288507"/>
                </a:lnTo>
                <a:lnTo>
                  <a:pt x="9816018" y="2292158"/>
                </a:lnTo>
                <a:lnTo>
                  <a:pt x="9810694" y="2292683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39"/>
            <a:ext cx="102352" cy="10235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42352" y="1174576"/>
            <a:ext cx="6900545" cy="2539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17170">
              <a:lnSpc>
                <a:spcPct val="100000"/>
              </a:lnSpc>
              <a:spcBef>
                <a:spcPts val="125"/>
              </a:spcBef>
            </a:pP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NMF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feature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values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are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non-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negative</a:t>
            </a:r>
            <a:endParaRPr sz="2550" dirty="0">
              <a:latin typeface="Arial"/>
              <a:cs typeface="Arial"/>
            </a:endParaRPr>
          </a:p>
          <a:p>
            <a:pPr marL="217170">
              <a:lnSpc>
                <a:spcPct val="100000"/>
              </a:lnSpc>
              <a:spcBef>
                <a:spcPts val="2100"/>
              </a:spcBef>
            </a:pP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Can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be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used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reconstruct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samples</a:t>
            </a:r>
            <a:endParaRPr sz="2550" dirty="0">
              <a:latin typeface="Arial"/>
              <a:cs typeface="Arial"/>
            </a:endParaRPr>
          </a:p>
          <a:p>
            <a:pPr marL="217170">
              <a:lnSpc>
                <a:spcPct val="100000"/>
              </a:lnSpc>
              <a:spcBef>
                <a:spcPts val="2100"/>
              </a:spcBef>
            </a:pP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...</a:t>
            </a:r>
            <a:r>
              <a:rPr sz="2550" spc="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combine</a:t>
            </a:r>
            <a:r>
              <a:rPr sz="2550" spc="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feature</a:t>
            </a:r>
            <a:r>
              <a:rPr sz="2550" spc="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values</a:t>
            </a:r>
            <a:r>
              <a:rPr sz="2550" spc="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with</a:t>
            </a:r>
            <a:r>
              <a:rPr sz="2550" spc="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components</a:t>
            </a:r>
            <a:endParaRPr sz="25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25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50" spc="-1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(nmf_features)</a:t>
            </a:r>
            <a:endParaRPr sz="2250" dirty="0">
              <a:latin typeface="Monaco"/>
              <a:cs typeface="Monaco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2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45"/>
            <a:ext cx="102352" cy="102351"/>
          </a:xfrm>
          <a:prstGeom prst="rect">
            <a:avLst/>
          </a:prstGeom>
        </p:spPr>
      </p:pic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23302" y="4430196"/>
          <a:ext cx="2470150" cy="8458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1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5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3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909">
                <a:tc>
                  <a:txBody>
                    <a:bodyPr/>
                    <a:lstStyle/>
                    <a:p>
                      <a:pPr marR="78105" algn="r">
                        <a:lnSpc>
                          <a:spcPts val="2640"/>
                        </a:lnSpc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[[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640"/>
                        </a:lnSpc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2640"/>
                        </a:lnSpc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0.2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ts val="2640"/>
                        </a:lnSpc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]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[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0.19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]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814303" y="5244090"/>
            <a:ext cx="1057275" cy="100838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84150">
              <a:lnSpc>
                <a:spcPct val="100000"/>
              </a:lnSpc>
              <a:spcBef>
                <a:spcPts val="1265"/>
              </a:spcBef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...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[ </a:t>
            </a: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0.15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89907" y="5882766"/>
            <a:ext cx="105727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0.12]]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2F312489-48A1-1078-072B-4D8AEFD9C36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9</a:t>
            </a:fld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79"/>
            <a:ext cx="720280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60" dirty="0"/>
              <a:t>Reconstruction</a:t>
            </a:r>
            <a:r>
              <a:rPr spc="-95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spc="250" dirty="0"/>
              <a:t>a</a:t>
            </a:r>
            <a:r>
              <a:rPr spc="-95" dirty="0"/>
              <a:t> </a:t>
            </a:r>
            <a:r>
              <a:rPr spc="-35" dirty="0"/>
              <a:t>sample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06"/>
            <a:ext cx="9887585" cy="675640"/>
          </a:xfrm>
          <a:custGeom>
            <a:avLst/>
            <a:gdLst/>
            <a:ahLst/>
            <a:cxnLst/>
            <a:rect l="l" t="t" r="r" b="b"/>
            <a:pathLst>
              <a:path w="9887585" h="675639">
                <a:moveTo>
                  <a:pt x="9810694" y="675522"/>
                </a:moveTo>
                <a:lnTo>
                  <a:pt x="76505" y="675522"/>
                </a:lnTo>
                <a:lnTo>
                  <a:pt x="71180" y="674998"/>
                </a:lnTo>
                <a:lnTo>
                  <a:pt x="31920" y="658736"/>
                </a:lnTo>
                <a:lnTo>
                  <a:pt x="4175" y="620008"/>
                </a:lnTo>
                <a:lnTo>
                  <a:pt x="0" y="599017"/>
                </a:lnTo>
                <a:lnTo>
                  <a:pt x="0" y="593641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599017"/>
                </a:lnTo>
                <a:lnTo>
                  <a:pt x="9870412" y="643602"/>
                </a:lnTo>
                <a:lnTo>
                  <a:pt x="9831684" y="671347"/>
                </a:lnTo>
                <a:lnTo>
                  <a:pt x="9816018" y="674998"/>
                </a:lnTo>
                <a:lnTo>
                  <a:pt x="9810694" y="675522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087974"/>
            <a:ext cx="9887585" cy="675640"/>
          </a:xfrm>
          <a:custGeom>
            <a:avLst/>
            <a:gdLst/>
            <a:ahLst/>
            <a:cxnLst/>
            <a:rect l="l" t="t" r="r" b="b"/>
            <a:pathLst>
              <a:path w="9887585" h="675639">
                <a:moveTo>
                  <a:pt x="9810694" y="675522"/>
                </a:moveTo>
                <a:lnTo>
                  <a:pt x="76505" y="675522"/>
                </a:lnTo>
                <a:lnTo>
                  <a:pt x="71180" y="674998"/>
                </a:lnTo>
                <a:lnTo>
                  <a:pt x="31920" y="658735"/>
                </a:lnTo>
                <a:lnTo>
                  <a:pt x="4175" y="620008"/>
                </a:lnTo>
                <a:lnTo>
                  <a:pt x="0" y="599017"/>
                </a:lnTo>
                <a:lnTo>
                  <a:pt x="0" y="593641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599017"/>
                </a:lnTo>
                <a:lnTo>
                  <a:pt x="9870412" y="643602"/>
                </a:lnTo>
                <a:lnTo>
                  <a:pt x="9831684" y="671347"/>
                </a:lnTo>
                <a:lnTo>
                  <a:pt x="9816018" y="674998"/>
                </a:lnTo>
                <a:lnTo>
                  <a:pt x="9810694" y="675522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1289" y="3009141"/>
            <a:ext cx="9887585" cy="655320"/>
          </a:xfrm>
          <a:custGeom>
            <a:avLst/>
            <a:gdLst/>
            <a:ahLst/>
            <a:cxnLst/>
            <a:rect l="l" t="t" r="r" b="b"/>
            <a:pathLst>
              <a:path w="9887585" h="655320">
                <a:moveTo>
                  <a:pt x="9810694" y="655052"/>
                </a:moveTo>
                <a:lnTo>
                  <a:pt x="76505" y="655052"/>
                </a:lnTo>
                <a:lnTo>
                  <a:pt x="71180" y="654527"/>
                </a:lnTo>
                <a:lnTo>
                  <a:pt x="31920" y="638265"/>
                </a:lnTo>
                <a:lnTo>
                  <a:pt x="4175" y="599538"/>
                </a:lnTo>
                <a:lnTo>
                  <a:pt x="0" y="578547"/>
                </a:lnTo>
                <a:lnTo>
                  <a:pt x="0" y="573170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578547"/>
                </a:lnTo>
                <a:lnTo>
                  <a:pt x="9870412" y="623131"/>
                </a:lnTo>
                <a:lnTo>
                  <a:pt x="9831684" y="650876"/>
                </a:lnTo>
                <a:lnTo>
                  <a:pt x="9816018" y="654527"/>
                </a:lnTo>
                <a:lnTo>
                  <a:pt x="9810694" y="655052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1289" y="3909839"/>
            <a:ext cx="9887585" cy="675640"/>
          </a:xfrm>
          <a:custGeom>
            <a:avLst/>
            <a:gdLst/>
            <a:ahLst/>
            <a:cxnLst/>
            <a:rect l="l" t="t" r="r" b="b"/>
            <a:pathLst>
              <a:path w="9887585" h="675639">
                <a:moveTo>
                  <a:pt x="9810694" y="675522"/>
                </a:moveTo>
                <a:lnTo>
                  <a:pt x="76505" y="675522"/>
                </a:lnTo>
                <a:lnTo>
                  <a:pt x="71180" y="674997"/>
                </a:lnTo>
                <a:lnTo>
                  <a:pt x="31920" y="658735"/>
                </a:lnTo>
                <a:lnTo>
                  <a:pt x="4175" y="620007"/>
                </a:lnTo>
                <a:lnTo>
                  <a:pt x="0" y="599017"/>
                </a:lnTo>
                <a:lnTo>
                  <a:pt x="0" y="593640"/>
                </a:lnTo>
                <a:lnTo>
                  <a:pt x="0" y="76504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5"/>
                </a:lnTo>
                <a:lnTo>
                  <a:pt x="9883023" y="55513"/>
                </a:lnTo>
                <a:lnTo>
                  <a:pt x="9887199" y="76504"/>
                </a:lnTo>
                <a:lnTo>
                  <a:pt x="9887199" y="599017"/>
                </a:lnTo>
                <a:lnTo>
                  <a:pt x="9870412" y="643601"/>
                </a:lnTo>
                <a:lnTo>
                  <a:pt x="9831684" y="671346"/>
                </a:lnTo>
                <a:lnTo>
                  <a:pt x="9816018" y="674997"/>
                </a:lnTo>
                <a:lnTo>
                  <a:pt x="9810694" y="675522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09408" y="1334245"/>
            <a:ext cx="263652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1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1800" spc="-10" dirty="0">
                <a:solidFill>
                  <a:srgbClr val="04182D"/>
                </a:solidFill>
                <a:latin typeface="Monaco"/>
                <a:cs typeface="Monaco"/>
              </a:rPr>
              <a:t>(samples[i,:])</a:t>
            </a:r>
            <a:endParaRPr sz="1800" dirty="0">
              <a:latin typeface="Monaco"/>
              <a:cs typeface="Monac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9408" y="2255413"/>
            <a:ext cx="346138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11885" algn="l"/>
                <a:tab pos="1936114" algn="l"/>
                <a:tab pos="2760345" algn="l"/>
              </a:tabLst>
            </a:pPr>
            <a:r>
              <a:rPr sz="1800" dirty="0">
                <a:solidFill>
                  <a:srgbClr val="FFFFFF"/>
                </a:solidFill>
                <a:latin typeface="Monaco"/>
                <a:cs typeface="Monaco"/>
              </a:rPr>
              <a:t>[ </a:t>
            </a:r>
            <a:r>
              <a:rPr sz="1800" spc="-20" dirty="0">
                <a:solidFill>
                  <a:srgbClr val="FFFFFF"/>
                </a:solidFill>
                <a:latin typeface="Monaco"/>
                <a:cs typeface="Monaco"/>
              </a:rPr>
              <a:t>0.12</a:t>
            </a:r>
            <a:r>
              <a:rPr sz="180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1800" spc="-20" dirty="0">
                <a:solidFill>
                  <a:srgbClr val="FFFFFF"/>
                </a:solidFill>
                <a:latin typeface="Monaco"/>
                <a:cs typeface="Monaco"/>
              </a:rPr>
              <a:t>0.18</a:t>
            </a:r>
            <a:r>
              <a:rPr sz="180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1800" spc="-20" dirty="0">
                <a:solidFill>
                  <a:srgbClr val="FFFFFF"/>
                </a:solidFill>
                <a:latin typeface="Monaco"/>
                <a:cs typeface="Monaco"/>
              </a:rPr>
              <a:t>0.32</a:t>
            </a:r>
            <a:r>
              <a:rPr sz="180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1800" spc="-10" dirty="0">
                <a:solidFill>
                  <a:srgbClr val="FFFFFF"/>
                </a:solidFill>
                <a:latin typeface="Monaco"/>
                <a:cs typeface="Monaco"/>
              </a:rPr>
              <a:t>0.14]</a:t>
            </a:r>
            <a:endParaRPr sz="1800">
              <a:latin typeface="Monaco"/>
              <a:cs typeface="Monac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408" y="3176581"/>
            <a:ext cx="3323590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1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1800" spc="-10" dirty="0">
                <a:solidFill>
                  <a:srgbClr val="04182D"/>
                </a:solidFill>
                <a:latin typeface="Monaco"/>
                <a:cs typeface="Monaco"/>
              </a:rPr>
              <a:t>(nmf_features[i,:])</a:t>
            </a:r>
            <a:endParaRPr sz="1800" dirty="0">
              <a:latin typeface="Monaco"/>
              <a:cs typeface="Monac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9408" y="4097748"/>
            <a:ext cx="85026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dirty="0">
                <a:solidFill>
                  <a:srgbClr val="FFFFFF"/>
                </a:solidFill>
                <a:latin typeface="Monaco"/>
                <a:cs typeface="Monaco"/>
              </a:rPr>
              <a:t>[ </a:t>
            </a:r>
            <a:r>
              <a:rPr sz="1800" spc="-20" dirty="0">
                <a:solidFill>
                  <a:srgbClr val="FFFFFF"/>
                </a:solidFill>
                <a:latin typeface="Monaco"/>
                <a:cs typeface="Monaco"/>
              </a:rPr>
              <a:t>0.15</a:t>
            </a:r>
            <a:endParaRPr sz="1800">
              <a:latin typeface="Monaco"/>
              <a:cs typeface="Monac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08674" y="4097748"/>
            <a:ext cx="71310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10" dirty="0">
                <a:solidFill>
                  <a:srgbClr val="FFFFFF"/>
                </a:solidFill>
                <a:latin typeface="Monaco"/>
                <a:cs typeface="Monaco"/>
              </a:rPr>
              <a:t>0.12]</a:t>
            </a:r>
            <a:endParaRPr sz="1800">
              <a:latin typeface="Monaco"/>
              <a:cs typeface="Monaco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2578" y="4831006"/>
            <a:ext cx="8904620" cy="2354095"/>
          </a:xfrm>
          <a:prstGeom prst="rect">
            <a:avLst/>
          </a:prstGeom>
        </p:spPr>
      </p:pic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6AC56647-E8C5-919B-D155-286B944A67B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10</a:t>
            </a:fld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A8533C-8508-8E61-EF23-86837A4BE908}"/>
              </a:ext>
            </a:extLst>
          </p:cNvPr>
          <p:cNvSpPr txBox="1"/>
          <p:nvPr/>
        </p:nvSpPr>
        <p:spPr>
          <a:xfrm>
            <a:off x="4425950" y="1214631"/>
            <a:ext cx="7781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Outputs the original word-frequency data for the </a:t>
            </a:r>
            <a:r>
              <a:rPr lang="en" altLang="ko-KR" dirty="0" err="1"/>
              <a:t>ith</a:t>
            </a:r>
            <a:r>
              <a:rPr lang="en" altLang="ko-KR" dirty="0"/>
              <a:t> sample for comparison.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95AE8D-278A-7D49-90B4-AE94B659EF19}"/>
              </a:ext>
            </a:extLst>
          </p:cNvPr>
          <p:cNvSpPr txBox="1"/>
          <p:nvPr/>
        </p:nvSpPr>
        <p:spPr>
          <a:xfrm>
            <a:off x="4425950" y="2980337"/>
            <a:ext cx="77811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Displays the </a:t>
            </a:r>
            <a:r>
              <a:rPr lang="en" altLang="ko-KR" b="1" dirty="0"/>
              <a:t>weights</a:t>
            </a:r>
            <a:r>
              <a:rPr lang="en" altLang="ko-KR" dirty="0"/>
              <a:t> of the </a:t>
            </a:r>
            <a:r>
              <a:rPr lang="en" altLang="ko-KR" dirty="0" err="1"/>
              <a:t>ith</a:t>
            </a:r>
            <a:r>
              <a:rPr lang="en" altLang="ko-KR" dirty="0"/>
              <a:t> sample for the 2 </a:t>
            </a:r>
            <a:r>
              <a:rPr lang="en" altLang="ko-KR" dirty="0" err="1"/>
              <a:t>components.Each</a:t>
            </a:r>
            <a:r>
              <a:rPr lang="en" altLang="ko-KR" dirty="0"/>
              <a:t> value in this array indicates how much the sample contributes to each component.</a:t>
            </a:r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8589" y="-98674"/>
            <a:ext cx="8329295" cy="3002280"/>
          </a:xfrm>
          <a:prstGeom prst="rect">
            <a:avLst/>
          </a:prstGeom>
        </p:spPr>
        <p:txBody>
          <a:bodyPr vert="horz" wrap="square" lIns="0" tIns="386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45"/>
              </a:spcBef>
            </a:pPr>
            <a:r>
              <a:rPr spc="-80" dirty="0"/>
              <a:t>Sample</a:t>
            </a:r>
            <a:r>
              <a:rPr spc="-215" dirty="0"/>
              <a:t> </a:t>
            </a:r>
            <a:r>
              <a:rPr spc="-45" dirty="0"/>
              <a:t>reconstruction</a:t>
            </a:r>
          </a:p>
          <a:p>
            <a:pPr marL="381000" marR="5080">
              <a:lnSpc>
                <a:spcPts val="5160"/>
              </a:lnSpc>
            </a:pPr>
            <a:r>
              <a:rPr sz="2550" b="0" spc="125" dirty="0">
                <a:latin typeface="Arial"/>
                <a:cs typeface="Arial"/>
              </a:rPr>
              <a:t>Multiply</a:t>
            </a:r>
            <a:r>
              <a:rPr sz="2550" b="0" spc="85" dirty="0">
                <a:latin typeface="Arial"/>
                <a:cs typeface="Arial"/>
              </a:rPr>
              <a:t> </a:t>
            </a:r>
            <a:r>
              <a:rPr sz="2550" b="0" spc="95" dirty="0">
                <a:latin typeface="Arial"/>
                <a:cs typeface="Arial"/>
              </a:rPr>
              <a:t>components</a:t>
            </a:r>
            <a:r>
              <a:rPr sz="2550" b="0" spc="85" dirty="0">
                <a:latin typeface="Arial"/>
                <a:cs typeface="Arial"/>
              </a:rPr>
              <a:t> </a:t>
            </a:r>
            <a:r>
              <a:rPr sz="2550" b="0" spc="180" dirty="0">
                <a:latin typeface="Arial"/>
                <a:cs typeface="Arial"/>
              </a:rPr>
              <a:t>by</a:t>
            </a:r>
            <a:r>
              <a:rPr sz="2550" b="0" spc="85" dirty="0">
                <a:latin typeface="Arial"/>
                <a:cs typeface="Arial"/>
              </a:rPr>
              <a:t> </a:t>
            </a:r>
            <a:r>
              <a:rPr sz="2550" b="0" spc="110" dirty="0">
                <a:latin typeface="Arial"/>
                <a:cs typeface="Arial"/>
              </a:rPr>
              <a:t>feature</a:t>
            </a:r>
            <a:r>
              <a:rPr sz="2550" b="0" spc="90" dirty="0">
                <a:latin typeface="Arial"/>
                <a:cs typeface="Arial"/>
              </a:rPr>
              <a:t> </a:t>
            </a:r>
            <a:r>
              <a:rPr sz="2550" b="0" dirty="0">
                <a:latin typeface="Arial"/>
                <a:cs typeface="Arial"/>
              </a:rPr>
              <a:t>values,</a:t>
            </a:r>
            <a:r>
              <a:rPr sz="2550" b="0" spc="85" dirty="0">
                <a:latin typeface="Arial"/>
                <a:cs typeface="Arial"/>
              </a:rPr>
              <a:t> </a:t>
            </a:r>
            <a:r>
              <a:rPr sz="2550" b="0" spc="130" dirty="0">
                <a:latin typeface="Arial"/>
                <a:cs typeface="Arial"/>
              </a:rPr>
              <a:t>and</a:t>
            </a:r>
            <a:r>
              <a:rPr sz="2550" b="0" spc="85" dirty="0">
                <a:latin typeface="Arial"/>
                <a:cs typeface="Arial"/>
              </a:rPr>
              <a:t> </a:t>
            </a:r>
            <a:r>
              <a:rPr sz="2550" b="0" spc="145" dirty="0">
                <a:latin typeface="Arial"/>
                <a:cs typeface="Arial"/>
              </a:rPr>
              <a:t>add</a:t>
            </a:r>
            <a:r>
              <a:rPr sz="2550" b="0" spc="85" dirty="0">
                <a:latin typeface="Arial"/>
                <a:cs typeface="Arial"/>
              </a:rPr>
              <a:t> </a:t>
            </a:r>
            <a:r>
              <a:rPr sz="2550" b="0" spc="95" dirty="0">
                <a:latin typeface="Arial"/>
                <a:cs typeface="Arial"/>
              </a:rPr>
              <a:t>up </a:t>
            </a:r>
            <a:r>
              <a:rPr sz="2550" b="0" spc="114" dirty="0">
                <a:latin typeface="Arial"/>
                <a:cs typeface="Arial"/>
              </a:rPr>
              <a:t>Can</a:t>
            </a:r>
            <a:r>
              <a:rPr sz="2550" b="0" spc="110" dirty="0">
                <a:latin typeface="Arial"/>
                <a:cs typeface="Arial"/>
              </a:rPr>
              <a:t> </a:t>
            </a:r>
            <a:r>
              <a:rPr sz="2550" b="0" spc="65" dirty="0">
                <a:latin typeface="Arial"/>
                <a:cs typeface="Arial"/>
              </a:rPr>
              <a:t>also</a:t>
            </a:r>
            <a:r>
              <a:rPr sz="2550" b="0" spc="114" dirty="0">
                <a:latin typeface="Arial"/>
                <a:cs typeface="Arial"/>
              </a:rPr>
              <a:t> </a:t>
            </a:r>
            <a:r>
              <a:rPr sz="2550" b="0" spc="120" dirty="0">
                <a:latin typeface="Arial"/>
                <a:cs typeface="Arial"/>
              </a:rPr>
              <a:t>be</a:t>
            </a:r>
            <a:r>
              <a:rPr sz="2550" b="0" spc="110" dirty="0">
                <a:latin typeface="Arial"/>
                <a:cs typeface="Arial"/>
              </a:rPr>
              <a:t> </a:t>
            </a:r>
            <a:r>
              <a:rPr sz="2550" b="0" dirty="0">
                <a:latin typeface="Arial"/>
                <a:cs typeface="Arial"/>
              </a:rPr>
              <a:t>expressed</a:t>
            </a:r>
            <a:r>
              <a:rPr sz="2550" b="0" spc="114" dirty="0">
                <a:latin typeface="Arial"/>
                <a:cs typeface="Arial"/>
              </a:rPr>
              <a:t> </a:t>
            </a:r>
            <a:r>
              <a:rPr sz="2550" b="0" dirty="0">
                <a:latin typeface="Arial"/>
                <a:cs typeface="Arial"/>
              </a:rPr>
              <a:t>as</a:t>
            </a:r>
            <a:r>
              <a:rPr sz="2550" b="0" spc="110" dirty="0">
                <a:latin typeface="Arial"/>
                <a:cs typeface="Arial"/>
              </a:rPr>
              <a:t> </a:t>
            </a:r>
            <a:r>
              <a:rPr sz="2550" b="0" spc="155" dirty="0">
                <a:latin typeface="Arial"/>
                <a:cs typeface="Arial"/>
              </a:rPr>
              <a:t>a</a:t>
            </a:r>
            <a:r>
              <a:rPr sz="2550" b="0" spc="114" dirty="0">
                <a:latin typeface="Arial"/>
                <a:cs typeface="Arial"/>
              </a:rPr>
              <a:t> </a:t>
            </a:r>
            <a:r>
              <a:rPr sz="2550" b="0" spc="120" dirty="0">
                <a:latin typeface="Arial"/>
                <a:cs typeface="Arial"/>
              </a:rPr>
              <a:t>product</a:t>
            </a:r>
            <a:r>
              <a:rPr sz="2550" b="0" spc="110" dirty="0">
                <a:latin typeface="Arial"/>
                <a:cs typeface="Arial"/>
              </a:rPr>
              <a:t> </a:t>
            </a:r>
            <a:r>
              <a:rPr sz="2550" b="0" spc="150" dirty="0">
                <a:latin typeface="Arial"/>
                <a:cs typeface="Arial"/>
              </a:rPr>
              <a:t>of</a:t>
            </a:r>
            <a:r>
              <a:rPr sz="2550" b="0" spc="114" dirty="0">
                <a:latin typeface="Arial"/>
                <a:cs typeface="Arial"/>
              </a:rPr>
              <a:t> </a:t>
            </a:r>
            <a:r>
              <a:rPr sz="2550" b="0" spc="100" dirty="0">
                <a:latin typeface="Arial"/>
                <a:cs typeface="Arial"/>
              </a:rPr>
              <a:t>matrices </a:t>
            </a:r>
            <a:r>
              <a:rPr sz="2550" b="0" dirty="0">
                <a:latin typeface="Arial"/>
                <a:cs typeface="Arial"/>
              </a:rPr>
              <a:t>This</a:t>
            </a:r>
            <a:r>
              <a:rPr sz="2550" b="0" spc="50" dirty="0">
                <a:latin typeface="Arial"/>
                <a:cs typeface="Arial"/>
              </a:rPr>
              <a:t> </a:t>
            </a:r>
            <a:r>
              <a:rPr sz="2550" b="0" dirty="0">
                <a:latin typeface="Arial"/>
                <a:cs typeface="Arial"/>
              </a:rPr>
              <a:t>is</a:t>
            </a:r>
            <a:r>
              <a:rPr sz="2550" b="0" spc="45" dirty="0">
                <a:latin typeface="Arial"/>
                <a:cs typeface="Arial"/>
              </a:rPr>
              <a:t> </a:t>
            </a:r>
            <a:r>
              <a:rPr sz="2550" b="0" spc="120" dirty="0">
                <a:latin typeface="Arial"/>
                <a:cs typeface="Arial"/>
              </a:rPr>
              <a:t>the</a:t>
            </a:r>
            <a:r>
              <a:rPr sz="2550" b="0" spc="50" dirty="0">
                <a:latin typeface="Arial"/>
                <a:cs typeface="Arial"/>
              </a:rPr>
              <a:t> </a:t>
            </a:r>
            <a:r>
              <a:rPr sz="2550" b="0" spc="120" dirty="0">
                <a:latin typeface="Arial"/>
                <a:cs typeface="Arial"/>
              </a:rPr>
              <a:t>"</a:t>
            </a:r>
            <a:r>
              <a:rPr sz="2550" spc="120" dirty="0"/>
              <a:t>M</a:t>
            </a:r>
            <a:r>
              <a:rPr sz="2550" b="0" spc="120" dirty="0">
                <a:latin typeface="Arial"/>
                <a:cs typeface="Arial"/>
              </a:rPr>
              <a:t>atrix</a:t>
            </a:r>
            <a:r>
              <a:rPr sz="2550" b="0" spc="50" dirty="0">
                <a:latin typeface="Arial"/>
                <a:cs typeface="Arial"/>
              </a:rPr>
              <a:t> </a:t>
            </a:r>
            <a:r>
              <a:rPr sz="2550" spc="70" dirty="0"/>
              <a:t>F</a:t>
            </a:r>
            <a:r>
              <a:rPr sz="2550" b="0" spc="70" dirty="0">
                <a:latin typeface="Arial"/>
                <a:cs typeface="Arial"/>
              </a:rPr>
              <a:t>actorization"</a:t>
            </a:r>
            <a:r>
              <a:rPr sz="2550" b="0" spc="50" dirty="0">
                <a:latin typeface="Arial"/>
                <a:cs typeface="Arial"/>
              </a:rPr>
              <a:t> </a:t>
            </a:r>
            <a:r>
              <a:rPr sz="2550" b="0" spc="70" dirty="0">
                <a:latin typeface="Arial"/>
                <a:cs typeface="Arial"/>
              </a:rPr>
              <a:t>in</a:t>
            </a:r>
            <a:r>
              <a:rPr sz="2550" b="0" spc="50" dirty="0">
                <a:latin typeface="Arial"/>
                <a:cs typeface="Arial"/>
              </a:rPr>
              <a:t> </a:t>
            </a:r>
            <a:r>
              <a:rPr sz="2550" b="0" spc="-10" dirty="0">
                <a:latin typeface="Arial"/>
                <a:cs typeface="Arial"/>
              </a:rPr>
              <a:t>"NMF"</a:t>
            </a:r>
            <a:endParaRPr sz="2550" dirty="0">
              <a:latin typeface="Arial"/>
              <a:cs typeface="Arial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62B3F6A-C251-F365-542B-CB5214638DC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11</a:t>
            </a:fld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08865F-D90C-3D7D-6B84-5A6B2839B60A}"/>
              </a:ext>
            </a:extLst>
          </p:cNvPr>
          <p:cNvSpPr txBox="1"/>
          <p:nvPr/>
        </p:nvSpPr>
        <p:spPr>
          <a:xfrm>
            <a:off x="614111" y="3162300"/>
            <a:ext cx="1414993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Matrix Factorization in </a:t>
            </a:r>
            <a:r>
              <a:rPr lang="en" altLang="ko-KR" b="1" dirty="0"/>
              <a:t>Non-Negative Matrix Factorization (NMF)</a:t>
            </a:r>
            <a:r>
              <a:rPr lang="en" altLang="ko-KR" dirty="0"/>
              <a:t> refers to the process of decomposing a given non-negative matrix V into two lower-dimensional non-negative matrices W (basis matrix) and H (coefficient matrix) such that:</a:t>
            </a:r>
            <a:br>
              <a:rPr lang="en" altLang="ko-KR" dirty="0"/>
            </a:br>
            <a:r>
              <a:rPr lang="en" altLang="ko-KR" dirty="0"/>
              <a:t>V≈W⋅H</a:t>
            </a:r>
          </a:p>
          <a:p>
            <a:r>
              <a:rPr lang="en" altLang="ko-KR" dirty="0"/>
              <a:t>This decomposition is achieved while ensuring that all elements in W and H are non-negative, preserving the non-negative nature of V.</a:t>
            </a:r>
          </a:p>
          <a:p>
            <a:endParaRPr lang="en" altLang="ko-KR" dirty="0"/>
          </a:p>
          <a:p>
            <a:r>
              <a:rPr lang="en" altLang="ko-KR" b="1" dirty="0"/>
              <a:t>Key Components in Matrix Factorization</a:t>
            </a:r>
          </a:p>
          <a:p>
            <a:pPr>
              <a:buFont typeface="+mj-lt"/>
              <a:buAutoNum type="arabicPeriod"/>
            </a:pPr>
            <a:r>
              <a:rPr lang="en" altLang="ko-KR" b="1" dirty="0"/>
              <a:t>Input Matrix (V)</a:t>
            </a:r>
            <a:r>
              <a:rPr lang="en" altLang="ko-KR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" altLang="ko-KR" dirty="0"/>
              <a:t>A non-negative matrix of size </a:t>
            </a:r>
            <a:r>
              <a:rPr lang="en" altLang="ko-KR" dirty="0" err="1"/>
              <a:t>m×n</a:t>
            </a:r>
            <a:endParaRPr lang="en" altLang="ko-KR" dirty="0"/>
          </a:p>
          <a:p>
            <a:pPr marL="742950" lvl="1" indent="-285750">
              <a:buFont typeface="+mj-lt"/>
              <a:buAutoNum type="arabicPeriod"/>
            </a:pPr>
            <a:r>
              <a:rPr lang="en" altLang="ko-KR" dirty="0"/>
              <a:t>Rows often represent features (e.g., words in text data).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" altLang="ko-KR" dirty="0"/>
              <a:t>Columns often represent samples (e.g., documents or items).</a:t>
            </a:r>
          </a:p>
          <a:p>
            <a:pPr>
              <a:buFont typeface="+mj-lt"/>
              <a:buAutoNum type="arabicPeriod"/>
            </a:pPr>
            <a:r>
              <a:rPr lang="en" altLang="ko-KR" b="1" dirty="0"/>
              <a:t>Basis Matrix (W)</a:t>
            </a:r>
            <a:r>
              <a:rPr lang="en" altLang="ko-KR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" altLang="ko-KR" dirty="0"/>
              <a:t>A non-negative matrix of size </a:t>
            </a:r>
            <a:r>
              <a:rPr lang="en" altLang="ko-KR" dirty="0" err="1"/>
              <a:t>m×k</a:t>
            </a:r>
            <a:r>
              <a:rPr lang="en" altLang="ko-KR" dirty="0"/>
              <a:t>, where k is the number of components or latent factors.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" altLang="ko-KR" dirty="0"/>
              <a:t>Each column in W represents a latent feature, such as a topic in text or a feature in image data.</a:t>
            </a:r>
          </a:p>
          <a:p>
            <a:pPr>
              <a:buFont typeface="+mj-lt"/>
              <a:buAutoNum type="arabicPeriod"/>
            </a:pPr>
            <a:r>
              <a:rPr lang="en" altLang="ko-KR" b="1" dirty="0"/>
              <a:t>Coefficient Matrix (H)</a:t>
            </a:r>
            <a:r>
              <a:rPr lang="en" altLang="ko-KR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" altLang="ko-KR" dirty="0"/>
              <a:t>A non-negative matrix of size </a:t>
            </a:r>
            <a:r>
              <a:rPr lang="en" altLang="ko-KR" dirty="0" err="1"/>
              <a:t>k×n</a:t>
            </a:r>
            <a:r>
              <a:rPr lang="en" altLang="ko-KR" dirty="0"/>
              <a:t>, where each column represents how much the corresponding latent feature contributes to the sample.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95" dirty="0"/>
              <a:t>NMF</a:t>
            </a:r>
            <a:r>
              <a:rPr spc="-160" dirty="0"/>
              <a:t> </a:t>
            </a:r>
            <a:r>
              <a:rPr spc="-45" dirty="0"/>
              <a:t>fits</a:t>
            </a:r>
            <a:r>
              <a:rPr spc="-160" dirty="0"/>
              <a:t> </a:t>
            </a:r>
            <a:r>
              <a:rPr dirty="0"/>
              <a:t>to</a:t>
            </a:r>
            <a:r>
              <a:rPr spc="-160" dirty="0"/>
              <a:t> </a:t>
            </a:r>
            <a:r>
              <a:rPr spc="-155" dirty="0"/>
              <a:t>non-</a:t>
            </a:r>
            <a:r>
              <a:rPr spc="-10" dirty="0"/>
              <a:t>negative</a:t>
            </a:r>
            <a:r>
              <a:rPr spc="-160" dirty="0"/>
              <a:t> </a:t>
            </a:r>
            <a:r>
              <a:rPr spc="95" dirty="0"/>
              <a:t>data</a:t>
            </a:r>
            <a:r>
              <a:rPr spc="-160" dirty="0"/>
              <a:t> </a:t>
            </a:r>
            <a:r>
              <a:rPr spc="-20" dirty="0"/>
              <a:t>only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6106795" cy="3039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Word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frequencies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in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each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document</a:t>
            </a:r>
            <a:endParaRPr sz="2550">
              <a:latin typeface="Arial"/>
              <a:cs typeface="Arial"/>
            </a:endParaRPr>
          </a:p>
          <a:p>
            <a:pPr marL="12700" marR="2007235">
              <a:lnSpc>
                <a:spcPts val="5160"/>
              </a:lnSpc>
              <a:spcBef>
                <a:spcPts val="520"/>
              </a:spcBef>
            </a:pP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Images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encoded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as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arrays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Audio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spectrograms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Purchase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histories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on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e-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commerce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sites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...</a:t>
            </a:r>
            <a:r>
              <a:rPr sz="2550" spc="-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-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Arial"/>
                <a:cs typeface="Arial"/>
              </a:rPr>
              <a:t>many</a:t>
            </a:r>
            <a:r>
              <a:rPr sz="2550" spc="-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more!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203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971256"/>
            <a:ext cx="102352" cy="102351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EDF8F16-19DE-6A5D-B452-1E4D77A09BF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12</a:t>
            </a:fld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14229" y="2157161"/>
            <a:ext cx="6949440" cy="4966744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 marR="5080" algn="ctr">
              <a:lnSpc>
                <a:spcPts val="6770"/>
              </a:lnSpc>
              <a:spcBef>
                <a:spcPts val="1130"/>
              </a:spcBef>
            </a:pPr>
            <a:r>
              <a:rPr lang="en" altLang="ko-KR" sz="6450" spc="-204" dirty="0"/>
              <a:t>Non-</a:t>
            </a:r>
            <a:r>
              <a:rPr lang="en" altLang="ko-KR" sz="6450" spc="-80" dirty="0"/>
              <a:t>negative</a:t>
            </a:r>
            <a:r>
              <a:rPr lang="en" altLang="ko-KR" sz="6450" spc="-340" dirty="0"/>
              <a:t> </a:t>
            </a:r>
            <a:r>
              <a:rPr lang="en" altLang="ko-KR" sz="6450" spc="-10" dirty="0"/>
              <a:t>matrix </a:t>
            </a:r>
            <a:r>
              <a:rPr lang="en" altLang="ko-KR" sz="6450" spc="-125" dirty="0"/>
              <a:t>factorization</a:t>
            </a:r>
            <a:r>
              <a:rPr lang="en" altLang="ko-KR" sz="6450" spc="-325" dirty="0"/>
              <a:t> (</a:t>
            </a:r>
            <a:r>
              <a:rPr sz="6450" spc="90" dirty="0"/>
              <a:t>NMF</a:t>
            </a:r>
            <a:r>
              <a:rPr lang="en-US" sz="6450" spc="90" dirty="0"/>
              <a:t>)</a:t>
            </a:r>
            <a:r>
              <a:rPr sz="6450" spc="-229" dirty="0"/>
              <a:t> </a:t>
            </a:r>
            <a:r>
              <a:rPr sz="6450" spc="-30" dirty="0"/>
              <a:t>learns </a:t>
            </a:r>
            <a:r>
              <a:rPr sz="6450" spc="-135" dirty="0"/>
              <a:t>interpretable</a:t>
            </a:r>
            <a:r>
              <a:rPr sz="6450" spc="-200" dirty="0"/>
              <a:t> </a:t>
            </a:r>
            <a:r>
              <a:rPr sz="6450" spc="-45" dirty="0"/>
              <a:t>parts</a:t>
            </a:r>
            <a:endParaRPr sz="6450" dirty="0"/>
          </a:p>
          <a:p>
            <a:pPr marR="53975" algn="ctr">
              <a:lnSpc>
                <a:spcPct val="100000"/>
              </a:lnSpc>
              <a:spcBef>
                <a:spcPts val="910"/>
              </a:spcBef>
              <a:tabLst>
                <a:tab pos="2747645" algn="l"/>
                <a:tab pos="4648200" algn="l"/>
                <a:tab pos="5149850" algn="l"/>
              </a:tabLst>
            </a:pPr>
            <a:r>
              <a:rPr sz="2250" spc="-90" dirty="0"/>
              <a:t>U</a:t>
            </a:r>
            <a:r>
              <a:rPr sz="2250" spc="-305" dirty="0"/>
              <a:t> </a:t>
            </a:r>
            <a:r>
              <a:rPr sz="2250" spc="65" dirty="0"/>
              <a:t>N</a:t>
            </a:r>
            <a:r>
              <a:rPr sz="2250" spc="-300" dirty="0"/>
              <a:t> </a:t>
            </a:r>
            <a:r>
              <a:rPr sz="2250" spc="-210" dirty="0"/>
              <a:t>S</a:t>
            </a:r>
            <a:r>
              <a:rPr sz="2250" spc="-305" dirty="0"/>
              <a:t> </a:t>
            </a:r>
            <a:r>
              <a:rPr sz="2250" spc="-90" dirty="0"/>
              <a:t>U</a:t>
            </a:r>
            <a:r>
              <a:rPr sz="2250" spc="-300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105" dirty="0"/>
              <a:t>E</a:t>
            </a:r>
            <a:r>
              <a:rPr sz="2250" spc="-300" dirty="0"/>
              <a:t> </a:t>
            </a:r>
            <a:r>
              <a:rPr sz="2250" spc="-235" dirty="0"/>
              <a:t>R</a:t>
            </a:r>
            <a:r>
              <a:rPr sz="2250" spc="-305" dirty="0"/>
              <a:t> </a:t>
            </a:r>
            <a:r>
              <a:rPr sz="2250" spc="-30" dirty="0"/>
              <a:t>V</a:t>
            </a:r>
            <a:r>
              <a:rPr sz="2250" spc="-300" dirty="0"/>
              <a:t> </a:t>
            </a:r>
            <a:r>
              <a:rPr sz="2250" spc="-10" dirty="0"/>
              <a:t>I</a:t>
            </a:r>
            <a:r>
              <a:rPr sz="2250" spc="-305" dirty="0"/>
              <a:t> </a:t>
            </a:r>
            <a:r>
              <a:rPr sz="2250" spc="-210" dirty="0"/>
              <a:t>S</a:t>
            </a:r>
            <a:r>
              <a:rPr sz="2250" spc="-300" dirty="0"/>
              <a:t> </a:t>
            </a:r>
            <a:r>
              <a:rPr sz="2250" spc="-105" dirty="0"/>
              <a:t>E</a:t>
            </a:r>
            <a:r>
              <a:rPr sz="2250" spc="-305" dirty="0"/>
              <a:t> </a:t>
            </a:r>
            <a:r>
              <a:rPr sz="2250" spc="15" dirty="0"/>
              <a:t>D</a:t>
            </a:r>
            <a:r>
              <a:rPr sz="2250" dirty="0"/>
              <a:t>	</a:t>
            </a:r>
            <a:r>
              <a:rPr sz="2250" spc="-185" dirty="0"/>
              <a:t>L</a:t>
            </a:r>
            <a:r>
              <a:rPr sz="2250" spc="-305" dirty="0"/>
              <a:t> </a:t>
            </a:r>
            <a:r>
              <a:rPr sz="2250" spc="-105" dirty="0"/>
              <a:t>E</a:t>
            </a:r>
            <a:r>
              <a:rPr sz="2250" spc="-300" dirty="0"/>
              <a:t> </a:t>
            </a:r>
            <a:r>
              <a:rPr sz="2250" spc="-25" dirty="0"/>
              <a:t>A</a:t>
            </a:r>
            <a:r>
              <a:rPr sz="2250" spc="-300" dirty="0"/>
              <a:t> </a:t>
            </a:r>
            <a:r>
              <a:rPr sz="2250" spc="-235" dirty="0"/>
              <a:t>R</a:t>
            </a:r>
            <a:r>
              <a:rPr sz="2250" spc="-300" dirty="0"/>
              <a:t> </a:t>
            </a:r>
            <a:r>
              <a:rPr sz="2250" spc="65" dirty="0"/>
              <a:t>N</a:t>
            </a:r>
            <a:r>
              <a:rPr sz="2250" spc="-305" dirty="0"/>
              <a:t> </a:t>
            </a:r>
            <a:r>
              <a:rPr sz="2250" spc="-10" dirty="0"/>
              <a:t>I</a:t>
            </a:r>
            <a:r>
              <a:rPr sz="2250" spc="-300" dirty="0"/>
              <a:t> </a:t>
            </a:r>
            <a:r>
              <a:rPr sz="2250" spc="65" dirty="0"/>
              <a:t>N</a:t>
            </a:r>
            <a:r>
              <a:rPr sz="2250" spc="-300" dirty="0"/>
              <a:t> </a:t>
            </a:r>
            <a:r>
              <a:rPr sz="2250" spc="-50" dirty="0"/>
              <a:t>G</a:t>
            </a:r>
            <a:r>
              <a:rPr sz="2250" dirty="0"/>
              <a:t>	</a:t>
            </a:r>
            <a:r>
              <a:rPr sz="2250" spc="-10" dirty="0"/>
              <a:t>I</a:t>
            </a:r>
            <a:r>
              <a:rPr sz="2250" spc="-305" dirty="0"/>
              <a:t> </a:t>
            </a:r>
            <a:r>
              <a:rPr sz="2250" spc="15" dirty="0"/>
              <a:t>N</a:t>
            </a:r>
            <a:r>
              <a:rPr sz="2250" dirty="0"/>
              <a:t>	</a:t>
            </a:r>
            <a:r>
              <a:rPr sz="2250" spc="-120" dirty="0"/>
              <a:t>P</a:t>
            </a:r>
            <a:r>
              <a:rPr sz="2250" spc="-295" dirty="0"/>
              <a:t> </a:t>
            </a:r>
            <a:r>
              <a:rPr sz="2250" dirty="0"/>
              <a:t>Y</a:t>
            </a:r>
            <a:r>
              <a:rPr sz="2250" spc="-295" dirty="0"/>
              <a:t> </a:t>
            </a:r>
            <a:r>
              <a:rPr sz="2250" spc="-90" dirty="0"/>
              <a:t>T</a:t>
            </a:r>
            <a:r>
              <a:rPr sz="2250" spc="-295" dirty="0"/>
              <a:t> </a:t>
            </a:r>
            <a:r>
              <a:rPr sz="2250" dirty="0"/>
              <a:t>H</a:t>
            </a:r>
            <a:r>
              <a:rPr sz="2250" spc="-290" dirty="0"/>
              <a:t> </a:t>
            </a:r>
            <a:r>
              <a:rPr sz="2250" spc="70" dirty="0"/>
              <a:t>O</a:t>
            </a:r>
            <a:r>
              <a:rPr sz="2250" spc="-295" dirty="0"/>
              <a:t> </a:t>
            </a:r>
            <a:r>
              <a:rPr sz="2250" spc="15" dirty="0"/>
              <a:t>N</a:t>
            </a:r>
            <a:endParaRPr sz="2250" dirty="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4394200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Arial"/>
                <a:cs typeface="Arial"/>
              </a:rPr>
              <a:t>Benjamin</a:t>
            </a:r>
            <a:r>
              <a:rPr sz="255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Wilson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spc="70" dirty="0">
                <a:solidFill>
                  <a:srgbClr val="FFFFFF"/>
                </a:solidFill>
                <a:latin typeface="Arial"/>
                <a:cs typeface="Arial"/>
              </a:rPr>
              <a:t>Director</a:t>
            </a:r>
            <a:r>
              <a:rPr sz="225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12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5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Research</a:t>
            </a:r>
            <a:r>
              <a:rPr sz="225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165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225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50" dirty="0">
                <a:solidFill>
                  <a:srgbClr val="FFFFFF"/>
                </a:solidFill>
                <a:latin typeface="Arial"/>
                <a:cs typeface="Arial"/>
              </a:rPr>
              <a:t>lateral.io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D4A3C10E-F13D-5003-2A8C-38540796FAF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13</a:t>
            </a:fld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25" dirty="0"/>
              <a:t>Example:</a:t>
            </a:r>
            <a:r>
              <a:rPr spc="-155" dirty="0"/>
              <a:t> </a:t>
            </a:r>
            <a:r>
              <a:rPr spc="95" dirty="0"/>
              <a:t>NMF</a:t>
            </a:r>
            <a:r>
              <a:rPr spc="-155" dirty="0"/>
              <a:t> </a:t>
            </a:r>
            <a:r>
              <a:rPr spc="-100" dirty="0"/>
              <a:t>learns</a:t>
            </a:r>
            <a:r>
              <a:rPr spc="-150" dirty="0"/>
              <a:t> </a:t>
            </a:r>
            <a:r>
              <a:rPr spc="-50" dirty="0"/>
              <a:t>interpretable</a:t>
            </a:r>
            <a:r>
              <a:rPr spc="-155" dirty="0"/>
              <a:t> </a:t>
            </a:r>
            <a:r>
              <a:rPr spc="-10" dirty="0"/>
              <a:t>parts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5704840" cy="17291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Word-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frequency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array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articles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(tf-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idf)</a:t>
            </a:r>
            <a:endParaRPr sz="2550">
              <a:latin typeface="Arial"/>
              <a:cs typeface="Arial"/>
            </a:endParaRPr>
          </a:p>
          <a:p>
            <a:pPr marL="12700" marR="850265">
              <a:lnSpc>
                <a:spcPts val="5160"/>
              </a:lnSpc>
              <a:spcBef>
                <a:spcPts val="320"/>
              </a:spcBef>
            </a:pPr>
            <a:r>
              <a:rPr sz="2550" spc="160" dirty="0">
                <a:solidFill>
                  <a:srgbClr val="04182D"/>
                </a:solidFill>
                <a:latin typeface="Arial"/>
                <a:cs typeface="Arial"/>
              </a:rPr>
              <a:t>20,000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scientific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articles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(rows) </a:t>
            </a:r>
            <a:r>
              <a:rPr sz="2550" spc="190" dirty="0">
                <a:solidFill>
                  <a:srgbClr val="04182D"/>
                </a:solidFill>
                <a:latin typeface="Arial"/>
                <a:cs typeface="Arial"/>
              </a:rPr>
              <a:t>800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words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(columns)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65157" y="3131969"/>
            <a:ext cx="6939462" cy="4094078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80774670-F15C-7BF1-768C-9EAF486CC57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14</a:t>
            </a:fld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85" dirty="0"/>
              <a:t>Applying</a:t>
            </a:r>
            <a:r>
              <a:rPr spc="-125" dirty="0"/>
              <a:t> </a:t>
            </a:r>
            <a:r>
              <a:rPr spc="95" dirty="0"/>
              <a:t>NMF</a:t>
            </a:r>
            <a:r>
              <a:rPr spc="-120" dirty="0"/>
              <a:t> </a:t>
            </a:r>
            <a:r>
              <a:rPr dirty="0"/>
              <a:t>to</a:t>
            </a:r>
            <a:r>
              <a:rPr spc="-125" dirty="0"/>
              <a:t> </a:t>
            </a:r>
            <a:r>
              <a:rPr dirty="0"/>
              <a:t>the</a:t>
            </a:r>
            <a:r>
              <a:rPr spc="-120" dirty="0"/>
              <a:t> </a:t>
            </a:r>
            <a:r>
              <a:rPr spc="-25" dirty="0"/>
              <a:t>articles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9887585" cy="655320"/>
          </a:xfrm>
          <a:custGeom>
            <a:avLst/>
            <a:gdLst/>
            <a:ahLst/>
            <a:cxnLst/>
            <a:rect l="l" t="t" r="r" b="b"/>
            <a:pathLst>
              <a:path w="9887585" h="655319">
                <a:moveTo>
                  <a:pt x="9810694" y="655052"/>
                </a:moveTo>
                <a:lnTo>
                  <a:pt x="76505" y="655052"/>
                </a:lnTo>
                <a:lnTo>
                  <a:pt x="71180" y="654528"/>
                </a:lnTo>
                <a:lnTo>
                  <a:pt x="31920" y="638265"/>
                </a:lnTo>
                <a:lnTo>
                  <a:pt x="4175" y="599538"/>
                </a:lnTo>
                <a:lnTo>
                  <a:pt x="0" y="578547"/>
                </a:lnTo>
                <a:lnTo>
                  <a:pt x="0" y="573170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578547"/>
                </a:lnTo>
                <a:lnTo>
                  <a:pt x="9870412" y="623131"/>
                </a:lnTo>
                <a:lnTo>
                  <a:pt x="9831684" y="650876"/>
                </a:lnTo>
                <a:lnTo>
                  <a:pt x="9816018" y="654528"/>
                </a:lnTo>
                <a:lnTo>
                  <a:pt x="9810694" y="655052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067509"/>
            <a:ext cx="9887585" cy="635000"/>
          </a:xfrm>
          <a:custGeom>
            <a:avLst/>
            <a:gdLst/>
            <a:ahLst/>
            <a:cxnLst/>
            <a:rect l="l" t="t" r="r" b="b"/>
            <a:pathLst>
              <a:path w="9887585" h="635000">
                <a:moveTo>
                  <a:pt x="9810694" y="634581"/>
                </a:moveTo>
                <a:lnTo>
                  <a:pt x="76505" y="634581"/>
                </a:lnTo>
                <a:lnTo>
                  <a:pt x="71180" y="634057"/>
                </a:lnTo>
                <a:lnTo>
                  <a:pt x="31920" y="617795"/>
                </a:lnTo>
                <a:lnTo>
                  <a:pt x="4175" y="579067"/>
                </a:lnTo>
                <a:lnTo>
                  <a:pt x="0" y="558076"/>
                </a:lnTo>
                <a:lnTo>
                  <a:pt x="0" y="552700"/>
                </a:lnTo>
                <a:lnTo>
                  <a:pt x="0" y="76504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4"/>
                </a:lnTo>
                <a:lnTo>
                  <a:pt x="9887199" y="558076"/>
                </a:lnTo>
                <a:lnTo>
                  <a:pt x="9870412" y="602661"/>
                </a:lnTo>
                <a:lnTo>
                  <a:pt x="9831684" y="630406"/>
                </a:lnTo>
                <a:lnTo>
                  <a:pt x="9816018" y="634057"/>
                </a:lnTo>
                <a:lnTo>
                  <a:pt x="9810694" y="634581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491289" y="2947736"/>
            <a:ext cx="9887585" cy="1371600"/>
            <a:chOff x="491289" y="2947736"/>
            <a:chExt cx="9887585" cy="1371600"/>
          </a:xfrm>
        </p:grpSpPr>
        <p:sp>
          <p:nvSpPr>
            <p:cNvPr id="6" name="object 6"/>
            <p:cNvSpPr/>
            <p:nvPr/>
          </p:nvSpPr>
          <p:spPr>
            <a:xfrm>
              <a:off x="491289" y="2947736"/>
              <a:ext cx="9887585" cy="1371600"/>
            </a:xfrm>
            <a:custGeom>
              <a:avLst/>
              <a:gdLst/>
              <a:ahLst/>
              <a:cxnLst/>
              <a:rect l="l" t="t" r="r" b="b"/>
              <a:pathLst>
                <a:path w="9887585" h="1371600">
                  <a:moveTo>
                    <a:pt x="9810694" y="1371515"/>
                  </a:moveTo>
                  <a:lnTo>
                    <a:pt x="76505" y="1371515"/>
                  </a:lnTo>
                  <a:lnTo>
                    <a:pt x="71180" y="1370991"/>
                  </a:lnTo>
                  <a:lnTo>
                    <a:pt x="31920" y="1354729"/>
                  </a:lnTo>
                  <a:lnTo>
                    <a:pt x="4175" y="1316001"/>
                  </a:lnTo>
                  <a:lnTo>
                    <a:pt x="0" y="1295011"/>
                  </a:lnTo>
                  <a:lnTo>
                    <a:pt x="0" y="1289634"/>
                  </a:lnTo>
                  <a:lnTo>
                    <a:pt x="0" y="76505"/>
                  </a:lnTo>
                  <a:lnTo>
                    <a:pt x="16786" y="31919"/>
                  </a:lnTo>
                  <a:lnTo>
                    <a:pt x="55513" y="4174"/>
                  </a:lnTo>
                  <a:lnTo>
                    <a:pt x="76505" y="0"/>
                  </a:lnTo>
                  <a:lnTo>
                    <a:pt x="9810694" y="0"/>
                  </a:lnTo>
                  <a:lnTo>
                    <a:pt x="9855278" y="16786"/>
                  </a:lnTo>
                  <a:lnTo>
                    <a:pt x="9883023" y="55513"/>
                  </a:lnTo>
                  <a:lnTo>
                    <a:pt x="9887199" y="76505"/>
                  </a:lnTo>
                  <a:lnTo>
                    <a:pt x="9887199" y="1295011"/>
                  </a:lnTo>
                  <a:lnTo>
                    <a:pt x="9870412" y="1339595"/>
                  </a:lnTo>
                  <a:lnTo>
                    <a:pt x="9831684" y="1367340"/>
                  </a:lnTo>
                  <a:lnTo>
                    <a:pt x="9816018" y="1370991"/>
                  </a:lnTo>
                  <a:lnTo>
                    <a:pt x="9810694" y="1371515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4098" y="3174580"/>
              <a:ext cx="4455160" cy="223520"/>
            </a:xfrm>
            <a:custGeom>
              <a:avLst/>
              <a:gdLst/>
              <a:ahLst/>
              <a:cxnLst/>
              <a:rect l="l" t="t" r="r" b="b"/>
              <a:pathLst>
                <a:path w="4455160" h="223520">
                  <a:moveTo>
                    <a:pt x="116903" y="7899"/>
                  </a:moveTo>
                  <a:lnTo>
                    <a:pt x="73736" y="7899"/>
                  </a:lnTo>
                  <a:lnTo>
                    <a:pt x="65646" y="8509"/>
                  </a:lnTo>
                  <a:lnTo>
                    <a:pt x="36880" y="35877"/>
                  </a:lnTo>
                  <a:lnTo>
                    <a:pt x="36207" y="43827"/>
                  </a:lnTo>
                  <a:lnTo>
                    <a:pt x="36207" y="51130"/>
                  </a:lnTo>
                  <a:lnTo>
                    <a:pt x="0" y="51130"/>
                  </a:lnTo>
                  <a:lnTo>
                    <a:pt x="0" y="79095"/>
                  </a:lnTo>
                  <a:lnTo>
                    <a:pt x="36207" y="79095"/>
                  </a:lnTo>
                  <a:lnTo>
                    <a:pt x="36207" y="182575"/>
                  </a:lnTo>
                  <a:lnTo>
                    <a:pt x="66001" y="182575"/>
                  </a:lnTo>
                  <a:lnTo>
                    <a:pt x="66001" y="79095"/>
                  </a:lnTo>
                  <a:lnTo>
                    <a:pt x="116903" y="79095"/>
                  </a:lnTo>
                  <a:lnTo>
                    <a:pt x="116903" y="51130"/>
                  </a:lnTo>
                  <a:lnTo>
                    <a:pt x="66001" y="51130"/>
                  </a:lnTo>
                  <a:lnTo>
                    <a:pt x="66001" y="40995"/>
                  </a:lnTo>
                  <a:lnTo>
                    <a:pt x="66624" y="39065"/>
                  </a:lnTo>
                  <a:lnTo>
                    <a:pt x="69164" y="36512"/>
                  </a:lnTo>
                  <a:lnTo>
                    <a:pt x="71120" y="35877"/>
                  </a:lnTo>
                  <a:lnTo>
                    <a:pt x="116903" y="35877"/>
                  </a:lnTo>
                  <a:lnTo>
                    <a:pt x="116903" y="7899"/>
                  </a:lnTo>
                  <a:close/>
                </a:path>
                <a:path w="4455160" h="223520">
                  <a:moveTo>
                    <a:pt x="252361" y="96837"/>
                  </a:moveTo>
                  <a:lnTo>
                    <a:pt x="239382" y="60134"/>
                  </a:lnTo>
                  <a:lnTo>
                    <a:pt x="204660" y="46380"/>
                  </a:lnTo>
                  <a:lnTo>
                    <a:pt x="191236" y="48196"/>
                  </a:lnTo>
                  <a:lnTo>
                    <a:pt x="181279" y="53670"/>
                  </a:lnTo>
                  <a:lnTo>
                    <a:pt x="174815" y="62788"/>
                  </a:lnTo>
                  <a:lnTo>
                    <a:pt x="171831" y="75565"/>
                  </a:lnTo>
                  <a:lnTo>
                    <a:pt x="171894" y="75171"/>
                  </a:lnTo>
                  <a:lnTo>
                    <a:pt x="176530" y="48641"/>
                  </a:lnTo>
                  <a:lnTo>
                    <a:pt x="147231" y="48641"/>
                  </a:lnTo>
                  <a:lnTo>
                    <a:pt x="147231" y="182575"/>
                  </a:lnTo>
                  <a:lnTo>
                    <a:pt x="176974" y="182575"/>
                  </a:lnTo>
                  <a:lnTo>
                    <a:pt x="177012" y="90170"/>
                  </a:lnTo>
                  <a:lnTo>
                    <a:pt x="178358" y="85940"/>
                  </a:lnTo>
                  <a:lnTo>
                    <a:pt x="179146" y="83794"/>
                  </a:lnTo>
                  <a:lnTo>
                    <a:pt x="186728" y="75565"/>
                  </a:lnTo>
                  <a:lnTo>
                    <a:pt x="187147" y="75171"/>
                  </a:lnTo>
                  <a:lnTo>
                    <a:pt x="192684" y="73012"/>
                  </a:lnTo>
                  <a:lnTo>
                    <a:pt x="207276" y="73012"/>
                  </a:lnTo>
                  <a:lnTo>
                    <a:pt x="212902" y="75171"/>
                  </a:lnTo>
                  <a:lnTo>
                    <a:pt x="220675" y="83794"/>
                  </a:lnTo>
                  <a:lnTo>
                    <a:pt x="222631" y="90170"/>
                  </a:lnTo>
                  <a:lnTo>
                    <a:pt x="222631" y="109004"/>
                  </a:lnTo>
                  <a:lnTo>
                    <a:pt x="252361" y="109004"/>
                  </a:lnTo>
                  <a:lnTo>
                    <a:pt x="252361" y="96837"/>
                  </a:lnTo>
                  <a:close/>
                </a:path>
                <a:path w="4455160" h="223520">
                  <a:moveTo>
                    <a:pt x="383070" y="98386"/>
                  </a:moveTo>
                  <a:lnTo>
                    <a:pt x="382181" y="87033"/>
                  </a:lnTo>
                  <a:lnTo>
                    <a:pt x="379488" y="76923"/>
                  </a:lnTo>
                  <a:lnTo>
                    <a:pt x="377964" y="73901"/>
                  </a:lnTo>
                  <a:lnTo>
                    <a:pt x="375018" y="68046"/>
                  </a:lnTo>
                  <a:lnTo>
                    <a:pt x="368757" y="60413"/>
                  </a:lnTo>
                  <a:lnTo>
                    <a:pt x="361010" y="54267"/>
                  </a:lnTo>
                  <a:lnTo>
                    <a:pt x="353339" y="50533"/>
                  </a:lnTo>
                  <a:lnTo>
                    <a:pt x="353339" y="90347"/>
                  </a:lnTo>
                  <a:lnTo>
                    <a:pt x="353339" y="140855"/>
                  </a:lnTo>
                  <a:lnTo>
                    <a:pt x="351383" y="147040"/>
                  </a:lnTo>
                  <a:lnTo>
                    <a:pt x="343611" y="155270"/>
                  </a:lnTo>
                  <a:lnTo>
                    <a:pt x="337908" y="157314"/>
                  </a:lnTo>
                  <a:lnTo>
                    <a:pt x="322846" y="157314"/>
                  </a:lnTo>
                  <a:lnTo>
                    <a:pt x="317131" y="155270"/>
                  </a:lnTo>
                  <a:lnTo>
                    <a:pt x="309384" y="147040"/>
                  </a:lnTo>
                  <a:lnTo>
                    <a:pt x="307454" y="140855"/>
                  </a:lnTo>
                  <a:lnTo>
                    <a:pt x="307454" y="90347"/>
                  </a:lnTo>
                  <a:lnTo>
                    <a:pt x="309384" y="84175"/>
                  </a:lnTo>
                  <a:lnTo>
                    <a:pt x="317131" y="75958"/>
                  </a:lnTo>
                  <a:lnTo>
                    <a:pt x="322846" y="73901"/>
                  </a:lnTo>
                  <a:lnTo>
                    <a:pt x="337908" y="73901"/>
                  </a:lnTo>
                  <a:lnTo>
                    <a:pt x="343611" y="75958"/>
                  </a:lnTo>
                  <a:lnTo>
                    <a:pt x="347472" y="80086"/>
                  </a:lnTo>
                  <a:lnTo>
                    <a:pt x="351383" y="84175"/>
                  </a:lnTo>
                  <a:lnTo>
                    <a:pt x="341833" y="47256"/>
                  </a:lnTo>
                  <a:lnTo>
                    <a:pt x="330390" y="46380"/>
                  </a:lnTo>
                  <a:lnTo>
                    <a:pt x="318935" y="47256"/>
                  </a:lnTo>
                  <a:lnTo>
                    <a:pt x="285699" y="68046"/>
                  </a:lnTo>
                  <a:lnTo>
                    <a:pt x="277660" y="132600"/>
                  </a:lnTo>
                  <a:lnTo>
                    <a:pt x="278549" y="144043"/>
                  </a:lnTo>
                  <a:lnTo>
                    <a:pt x="299694" y="176936"/>
                  </a:lnTo>
                  <a:lnTo>
                    <a:pt x="330390" y="184835"/>
                  </a:lnTo>
                  <a:lnTo>
                    <a:pt x="341833" y="183959"/>
                  </a:lnTo>
                  <a:lnTo>
                    <a:pt x="375018" y="163144"/>
                  </a:lnTo>
                  <a:lnTo>
                    <a:pt x="383070" y="132600"/>
                  </a:lnTo>
                  <a:lnTo>
                    <a:pt x="383070" y="98386"/>
                  </a:lnTo>
                  <a:close/>
                </a:path>
                <a:path w="4455160" h="223520">
                  <a:moveTo>
                    <a:pt x="523722" y="83235"/>
                  </a:moveTo>
                  <a:lnTo>
                    <a:pt x="521106" y="66713"/>
                  </a:lnTo>
                  <a:lnTo>
                    <a:pt x="519379" y="62230"/>
                  </a:lnTo>
                  <a:lnTo>
                    <a:pt x="515975" y="56692"/>
                  </a:lnTo>
                  <a:lnTo>
                    <a:pt x="510870" y="49822"/>
                  </a:lnTo>
                  <a:lnTo>
                    <a:pt x="503656" y="46380"/>
                  </a:lnTo>
                  <a:lnTo>
                    <a:pt x="487781" y="46380"/>
                  </a:lnTo>
                  <a:lnTo>
                    <a:pt x="482498" y="48196"/>
                  </a:lnTo>
                  <a:lnTo>
                    <a:pt x="481825" y="48641"/>
                  </a:lnTo>
                  <a:lnTo>
                    <a:pt x="474421" y="54978"/>
                  </a:lnTo>
                  <a:lnTo>
                    <a:pt x="474421" y="60566"/>
                  </a:lnTo>
                  <a:lnTo>
                    <a:pt x="474395" y="60858"/>
                  </a:lnTo>
                  <a:lnTo>
                    <a:pt x="473798" y="66713"/>
                  </a:lnTo>
                  <a:lnTo>
                    <a:pt x="474421" y="60566"/>
                  </a:lnTo>
                  <a:lnTo>
                    <a:pt x="474421" y="54978"/>
                  </a:lnTo>
                  <a:lnTo>
                    <a:pt x="473278" y="55956"/>
                  </a:lnTo>
                  <a:lnTo>
                    <a:pt x="473036" y="56692"/>
                  </a:lnTo>
                  <a:lnTo>
                    <a:pt x="472592" y="55460"/>
                  </a:lnTo>
                  <a:lnTo>
                    <a:pt x="468287" y="51841"/>
                  </a:lnTo>
                  <a:lnTo>
                    <a:pt x="464007" y="48196"/>
                  </a:lnTo>
                  <a:lnTo>
                    <a:pt x="458736" y="46380"/>
                  </a:lnTo>
                  <a:lnTo>
                    <a:pt x="445884" y="46380"/>
                  </a:lnTo>
                  <a:lnTo>
                    <a:pt x="440690" y="48196"/>
                  </a:lnTo>
                  <a:lnTo>
                    <a:pt x="439991" y="48641"/>
                  </a:lnTo>
                  <a:lnTo>
                    <a:pt x="434848" y="53111"/>
                  </a:lnTo>
                  <a:lnTo>
                    <a:pt x="435673" y="48641"/>
                  </a:lnTo>
                  <a:lnTo>
                    <a:pt x="430110" y="48641"/>
                  </a:lnTo>
                  <a:lnTo>
                    <a:pt x="430110" y="62191"/>
                  </a:lnTo>
                  <a:lnTo>
                    <a:pt x="429869" y="60858"/>
                  </a:lnTo>
                  <a:lnTo>
                    <a:pt x="429971" y="60566"/>
                  </a:lnTo>
                  <a:lnTo>
                    <a:pt x="429996" y="60858"/>
                  </a:lnTo>
                  <a:lnTo>
                    <a:pt x="430110" y="62191"/>
                  </a:lnTo>
                  <a:lnTo>
                    <a:pt x="430110" y="48641"/>
                  </a:lnTo>
                  <a:lnTo>
                    <a:pt x="408368" y="48641"/>
                  </a:lnTo>
                  <a:lnTo>
                    <a:pt x="408368" y="182575"/>
                  </a:lnTo>
                  <a:lnTo>
                    <a:pt x="436562" y="182575"/>
                  </a:lnTo>
                  <a:lnTo>
                    <a:pt x="436562" y="78714"/>
                  </a:lnTo>
                  <a:lnTo>
                    <a:pt x="437235" y="75793"/>
                  </a:lnTo>
                  <a:lnTo>
                    <a:pt x="440004" y="72301"/>
                  </a:lnTo>
                  <a:lnTo>
                    <a:pt x="441998" y="71412"/>
                  </a:lnTo>
                  <a:lnTo>
                    <a:pt x="447306" y="71412"/>
                  </a:lnTo>
                  <a:lnTo>
                    <a:pt x="449300" y="72301"/>
                  </a:lnTo>
                  <a:lnTo>
                    <a:pt x="452221" y="75793"/>
                  </a:lnTo>
                  <a:lnTo>
                    <a:pt x="453123" y="78714"/>
                  </a:lnTo>
                  <a:lnTo>
                    <a:pt x="453199" y="182575"/>
                  </a:lnTo>
                  <a:lnTo>
                    <a:pt x="478904" y="182575"/>
                  </a:lnTo>
                  <a:lnTo>
                    <a:pt x="478917" y="78714"/>
                  </a:lnTo>
                  <a:lnTo>
                    <a:pt x="479729" y="75793"/>
                  </a:lnTo>
                  <a:lnTo>
                    <a:pt x="482714" y="72301"/>
                  </a:lnTo>
                  <a:lnTo>
                    <a:pt x="484733" y="71412"/>
                  </a:lnTo>
                  <a:lnTo>
                    <a:pt x="490042" y="71412"/>
                  </a:lnTo>
                  <a:lnTo>
                    <a:pt x="491998" y="72301"/>
                  </a:lnTo>
                  <a:lnTo>
                    <a:pt x="494665" y="75793"/>
                  </a:lnTo>
                  <a:lnTo>
                    <a:pt x="495477" y="78714"/>
                  </a:lnTo>
                  <a:lnTo>
                    <a:pt x="495541" y="182575"/>
                  </a:lnTo>
                  <a:lnTo>
                    <a:pt x="523722" y="182575"/>
                  </a:lnTo>
                  <a:lnTo>
                    <a:pt x="523722" y="83235"/>
                  </a:lnTo>
                  <a:close/>
                </a:path>
                <a:path w="4455160" h="223520">
                  <a:moveTo>
                    <a:pt x="3745890" y="13042"/>
                  </a:moveTo>
                  <a:lnTo>
                    <a:pt x="3744061" y="8623"/>
                  </a:lnTo>
                  <a:lnTo>
                    <a:pt x="3736771" y="1727"/>
                  </a:lnTo>
                  <a:lnTo>
                    <a:pt x="3732123" y="0"/>
                  </a:lnTo>
                  <a:lnTo>
                    <a:pt x="3716312" y="0"/>
                  </a:lnTo>
                  <a:lnTo>
                    <a:pt x="3711676" y="1727"/>
                  </a:lnTo>
                  <a:lnTo>
                    <a:pt x="3704374" y="8623"/>
                  </a:lnTo>
                  <a:lnTo>
                    <a:pt x="3702558" y="13042"/>
                  </a:lnTo>
                  <a:lnTo>
                    <a:pt x="3702558" y="23914"/>
                  </a:lnTo>
                  <a:lnTo>
                    <a:pt x="3704336" y="28295"/>
                  </a:lnTo>
                  <a:lnTo>
                    <a:pt x="3707917" y="31610"/>
                  </a:lnTo>
                  <a:lnTo>
                    <a:pt x="3711524" y="34899"/>
                  </a:lnTo>
                  <a:lnTo>
                    <a:pt x="3716210" y="36537"/>
                  </a:lnTo>
                  <a:lnTo>
                    <a:pt x="3732047" y="36537"/>
                  </a:lnTo>
                  <a:lnTo>
                    <a:pt x="3736670" y="34899"/>
                  </a:lnTo>
                  <a:lnTo>
                    <a:pt x="3744061" y="28295"/>
                  </a:lnTo>
                  <a:lnTo>
                    <a:pt x="3745890" y="23914"/>
                  </a:lnTo>
                  <a:lnTo>
                    <a:pt x="3745890" y="13042"/>
                  </a:lnTo>
                  <a:close/>
                </a:path>
                <a:path w="4455160" h="223520">
                  <a:moveTo>
                    <a:pt x="3783253" y="154597"/>
                  </a:moveTo>
                  <a:lnTo>
                    <a:pt x="3741356" y="154597"/>
                  </a:lnTo>
                  <a:lnTo>
                    <a:pt x="3741356" y="48641"/>
                  </a:lnTo>
                  <a:lnTo>
                    <a:pt x="3673094" y="48641"/>
                  </a:lnTo>
                  <a:lnTo>
                    <a:pt x="3673094" y="76606"/>
                  </a:lnTo>
                  <a:lnTo>
                    <a:pt x="3711562" y="76606"/>
                  </a:lnTo>
                  <a:lnTo>
                    <a:pt x="3711562" y="154597"/>
                  </a:lnTo>
                  <a:lnTo>
                    <a:pt x="3667455" y="154597"/>
                  </a:lnTo>
                  <a:lnTo>
                    <a:pt x="3667455" y="182575"/>
                  </a:lnTo>
                  <a:lnTo>
                    <a:pt x="3783253" y="182575"/>
                  </a:lnTo>
                  <a:lnTo>
                    <a:pt x="3783253" y="154597"/>
                  </a:lnTo>
                  <a:close/>
                </a:path>
                <a:path w="4455160" h="223520">
                  <a:moveTo>
                    <a:pt x="3915283" y="83235"/>
                  </a:moveTo>
                  <a:lnTo>
                    <a:pt x="3912666" y="66713"/>
                  </a:lnTo>
                  <a:lnTo>
                    <a:pt x="3910939" y="62230"/>
                  </a:lnTo>
                  <a:lnTo>
                    <a:pt x="3907536" y="56692"/>
                  </a:lnTo>
                  <a:lnTo>
                    <a:pt x="3902430" y="49822"/>
                  </a:lnTo>
                  <a:lnTo>
                    <a:pt x="3895217" y="46380"/>
                  </a:lnTo>
                  <a:lnTo>
                    <a:pt x="3879342" y="46380"/>
                  </a:lnTo>
                  <a:lnTo>
                    <a:pt x="3874058" y="48196"/>
                  </a:lnTo>
                  <a:lnTo>
                    <a:pt x="3873385" y="48641"/>
                  </a:lnTo>
                  <a:lnTo>
                    <a:pt x="3865981" y="54978"/>
                  </a:lnTo>
                  <a:lnTo>
                    <a:pt x="3865981" y="60566"/>
                  </a:lnTo>
                  <a:lnTo>
                    <a:pt x="3865956" y="60858"/>
                  </a:lnTo>
                  <a:lnTo>
                    <a:pt x="3865359" y="66713"/>
                  </a:lnTo>
                  <a:lnTo>
                    <a:pt x="3865981" y="60566"/>
                  </a:lnTo>
                  <a:lnTo>
                    <a:pt x="3865981" y="54978"/>
                  </a:lnTo>
                  <a:lnTo>
                    <a:pt x="3864838" y="55956"/>
                  </a:lnTo>
                  <a:lnTo>
                    <a:pt x="3864597" y="56692"/>
                  </a:lnTo>
                  <a:lnTo>
                    <a:pt x="3864152" y="55460"/>
                  </a:lnTo>
                  <a:lnTo>
                    <a:pt x="3859847" y="51841"/>
                  </a:lnTo>
                  <a:lnTo>
                    <a:pt x="3855567" y="48196"/>
                  </a:lnTo>
                  <a:lnTo>
                    <a:pt x="3850297" y="46380"/>
                  </a:lnTo>
                  <a:lnTo>
                    <a:pt x="3837444" y="46380"/>
                  </a:lnTo>
                  <a:lnTo>
                    <a:pt x="3832250" y="48196"/>
                  </a:lnTo>
                  <a:lnTo>
                    <a:pt x="3831552" y="48641"/>
                  </a:lnTo>
                  <a:lnTo>
                    <a:pt x="3826408" y="53111"/>
                  </a:lnTo>
                  <a:lnTo>
                    <a:pt x="3827234" y="48641"/>
                  </a:lnTo>
                  <a:lnTo>
                    <a:pt x="3821671" y="48641"/>
                  </a:lnTo>
                  <a:lnTo>
                    <a:pt x="3821671" y="62191"/>
                  </a:lnTo>
                  <a:lnTo>
                    <a:pt x="3821430" y="60858"/>
                  </a:lnTo>
                  <a:lnTo>
                    <a:pt x="3821531" y="60566"/>
                  </a:lnTo>
                  <a:lnTo>
                    <a:pt x="3821557" y="60858"/>
                  </a:lnTo>
                  <a:lnTo>
                    <a:pt x="3821671" y="62191"/>
                  </a:lnTo>
                  <a:lnTo>
                    <a:pt x="3821671" y="48641"/>
                  </a:lnTo>
                  <a:lnTo>
                    <a:pt x="3799929" y="48641"/>
                  </a:lnTo>
                  <a:lnTo>
                    <a:pt x="3799929" y="182575"/>
                  </a:lnTo>
                  <a:lnTo>
                    <a:pt x="3828123" y="182575"/>
                  </a:lnTo>
                  <a:lnTo>
                    <a:pt x="3828123" y="78714"/>
                  </a:lnTo>
                  <a:lnTo>
                    <a:pt x="3828796" y="75793"/>
                  </a:lnTo>
                  <a:lnTo>
                    <a:pt x="3831564" y="72301"/>
                  </a:lnTo>
                  <a:lnTo>
                    <a:pt x="3833558" y="71412"/>
                  </a:lnTo>
                  <a:lnTo>
                    <a:pt x="3838854" y="71412"/>
                  </a:lnTo>
                  <a:lnTo>
                    <a:pt x="3840861" y="72301"/>
                  </a:lnTo>
                  <a:lnTo>
                    <a:pt x="3843782" y="75793"/>
                  </a:lnTo>
                  <a:lnTo>
                    <a:pt x="3844683" y="78714"/>
                  </a:lnTo>
                  <a:lnTo>
                    <a:pt x="3844760" y="182575"/>
                  </a:lnTo>
                  <a:lnTo>
                    <a:pt x="3870464" y="182575"/>
                  </a:lnTo>
                  <a:lnTo>
                    <a:pt x="3870477" y="78714"/>
                  </a:lnTo>
                  <a:lnTo>
                    <a:pt x="3871290" y="75793"/>
                  </a:lnTo>
                  <a:lnTo>
                    <a:pt x="3874274" y="72301"/>
                  </a:lnTo>
                  <a:lnTo>
                    <a:pt x="3876294" y="71412"/>
                  </a:lnTo>
                  <a:lnTo>
                    <a:pt x="3881602" y="71412"/>
                  </a:lnTo>
                  <a:lnTo>
                    <a:pt x="3883558" y="72301"/>
                  </a:lnTo>
                  <a:lnTo>
                    <a:pt x="3886225" y="75793"/>
                  </a:lnTo>
                  <a:lnTo>
                    <a:pt x="3887038" y="78714"/>
                  </a:lnTo>
                  <a:lnTo>
                    <a:pt x="3887101" y="182575"/>
                  </a:lnTo>
                  <a:lnTo>
                    <a:pt x="3915283" y="182575"/>
                  </a:lnTo>
                  <a:lnTo>
                    <a:pt x="3915283" y="83235"/>
                  </a:lnTo>
                  <a:close/>
                </a:path>
                <a:path w="4455160" h="223520">
                  <a:moveTo>
                    <a:pt x="4045991" y="97282"/>
                  </a:moveTo>
                  <a:lnTo>
                    <a:pt x="4045229" y="86321"/>
                  </a:lnTo>
                  <a:lnTo>
                    <a:pt x="4042956" y="76517"/>
                  </a:lnTo>
                  <a:lnTo>
                    <a:pt x="4041610" y="73456"/>
                  </a:lnTo>
                  <a:lnTo>
                    <a:pt x="4039146" y="67843"/>
                  </a:lnTo>
                  <a:lnTo>
                    <a:pt x="4033837" y="60299"/>
                  </a:lnTo>
                  <a:lnTo>
                    <a:pt x="4027220" y="54203"/>
                  </a:lnTo>
                  <a:lnTo>
                    <a:pt x="4019512" y="49860"/>
                  </a:lnTo>
                  <a:lnTo>
                    <a:pt x="4016260" y="48907"/>
                  </a:lnTo>
                  <a:lnTo>
                    <a:pt x="4016260" y="90170"/>
                  </a:lnTo>
                  <a:lnTo>
                    <a:pt x="4016260" y="141046"/>
                  </a:lnTo>
                  <a:lnTo>
                    <a:pt x="4014355" y="147345"/>
                  </a:lnTo>
                  <a:lnTo>
                    <a:pt x="4006837" y="155600"/>
                  </a:lnTo>
                  <a:lnTo>
                    <a:pt x="4001236" y="157746"/>
                  </a:lnTo>
                  <a:lnTo>
                    <a:pt x="3986898" y="157746"/>
                  </a:lnTo>
                  <a:lnTo>
                    <a:pt x="3981335" y="155600"/>
                  </a:lnTo>
                  <a:lnTo>
                    <a:pt x="3980446" y="154647"/>
                  </a:lnTo>
                  <a:lnTo>
                    <a:pt x="3977284" y="151282"/>
                  </a:lnTo>
                  <a:lnTo>
                    <a:pt x="3973271" y="146939"/>
                  </a:lnTo>
                  <a:lnTo>
                    <a:pt x="3971366" y="141046"/>
                  </a:lnTo>
                  <a:lnTo>
                    <a:pt x="3971366" y="90170"/>
                  </a:lnTo>
                  <a:lnTo>
                    <a:pt x="3986898" y="73456"/>
                  </a:lnTo>
                  <a:lnTo>
                    <a:pt x="4001236" y="73456"/>
                  </a:lnTo>
                  <a:lnTo>
                    <a:pt x="4006761" y="75539"/>
                  </a:lnTo>
                  <a:lnTo>
                    <a:pt x="4014355" y="83870"/>
                  </a:lnTo>
                  <a:lnTo>
                    <a:pt x="4016260" y="90170"/>
                  </a:lnTo>
                  <a:lnTo>
                    <a:pt x="4016260" y="48907"/>
                  </a:lnTo>
                  <a:lnTo>
                    <a:pt x="4010698" y="47244"/>
                  </a:lnTo>
                  <a:lnTo>
                    <a:pt x="4000779" y="46380"/>
                  </a:lnTo>
                  <a:lnTo>
                    <a:pt x="3993299" y="46875"/>
                  </a:lnTo>
                  <a:lnTo>
                    <a:pt x="3986428" y="48374"/>
                  </a:lnTo>
                  <a:lnTo>
                    <a:pt x="3980192" y="50888"/>
                  </a:lnTo>
                  <a:lnTo>
                    <a:pt x="3974871" y="54203"/>
                  </a:lnTo>
                  <a:lnTo>
                    <a:pt x="3969791" y="57975"/>
                  </a:lnTo>
                  <a:lnTo>
                    <a:pt x="3971264" y="48641"/>
                  </a:lnTo>
                  <a:lnTo>
                    <a:pt x="3966514" y="48641"/>
                  </a:lnTo>
                  <a:lnTo>
                    <a:pt x="3966514" y="76517"/>
                  </a:lnTo>
                  <a:lnTo>
                    <a:pt x="3964825" y="67157"/>
                  </a:lnTo>
                  <a:lnTo>
                    <a:pt x="3964952" y="67843"/>
                  </a:lnTo>
                  <a:lnTo>
                    <a:pt x="3966514" y="76517"/>
                  </a:lnTo>
                  <a:lnTo>
                    <a:pt x="3966514" y="48641"/>
                  </a:lnTo>
                  <a:lnTo>
                    <a:pt x="3941521" y="48641"/>
                  </a:lnTo>
                  <a:lnTo>
                    <a:pt x="3941521" y="223304"/>
                  </a:lnTo>
                  <a:lnTo>
                    <a:pt x="3971264" y="223304"/>
                  </a:lnTo>
                  <a:lnTo>
                    <a:pt x="3971099" y="181356"/>
                  </a:lnTo>
                  <a:lnTo>
                    <a:pt x="3969778" y="173113"/>
                  </a:lnTo>
                  <a:lnTo>
                    <a:pt x="3974528" y="176771"/>
                  </a:lnTo>
                  <a:lnTo>
                    <a:pt x="3980142" y="180301"/>
                  </a:lnTo>
                  <a:lnTo>
                    <a:pt x="3986390" y="182816"/>
                  </a:lnTo>
                  <a:lnTo>
                    <a:pt x="3993273" y="184327"/>
                  </a:lnTo>
                  <a:lnTo>
                    <a:pt x="4000779" y="184835"/>
                  </a:lnTo>
                  <a:lnTo>
                    <a:pt x="4010698" y="183959"/>
                  </a:lnTo>
                  <a:lnTo>
                    <a:pt x="4041597" y="157746"/>
                  </a:lnTo>
                  <a:lnTo>
                    <a:pt x="4042956" y="154647"/>
                  </a:lnTo>
                  <a:lnTo>
                    <a:pt x="4045229" y="144754"/>
                  </a:lnTo>
                  <a:lnTo>
                    <a:pt x="4045991" y="133705"/>
                  </a:lnTo>
                  <a:lnTo>
                    <a:pt x="4045991" y="97282"/>
                  </a:lnTo>
                  <a:close/>
                </a:path>
                <a:path w="4455160" h="223520">
                  <a:moveTo>
                    <a:pt x="4181678" y="98386"/>
                  </a:moveTo>
                  <a:lnTo>
                    <a:pt x="4167352" y="60413"/>
                  </a:lnTo>
                  <a:lnTo>
                    <a:pt x="4151934" y="50520"/>
                  </a:lnTo>
                  <a:lnTo>
                    <a:pt x="4151934" y="90347"/>
                  </a:lnTo>
                  <a:lnTo>
                    <a:pt x="4151934" y="140855"/>
                  </a:lnTo>
                  <a:lnTo>
                    <a:pt x="4149979" y="147040"/>
                  </a:lnTo>
                  <a:lnTo>
                    <a:pt x="4142206" y="155270"/>
                  </a:lnTo>
                  <a:lnTo>
                    <a:pt x="4136517" y="157314"/>
                  </a:lnTo>
                  <a:lnTo>
                    <a:pt x="4121442" y="157314"/>
                  </a:lnTo>
                  <a:lnTo>
                    <a:pt x="4115727" y="155270"/>
                  </a:lnTo>
                  <a:lnTo>
                    <a:pt x="4107992" y="147040"/>
                  </a:lnTo>
                  <a:lnTo>
                    <a:pt x="4106062" y="140855"/>
                  </a:lnTo>
                  <a:lnTo>
                    <a:pt x="4106062" y="90347"/>
                  </a:lnTo>
                  <a:lnTo>
                    <a:pt x="4107992" y="84175"/>
                  </a:lnTo>
                  <a:lnTo>
                    <a:pt x="4115727" y="75958"/>
                  </a:lnTo>
                  <a:lnTo>
                    <a:pt x="4121442" y="73901"/>
                  </a:lnTo>
                  <a:lnTo>
                    <a:pt x="4136517" y="73901"/>
                  </a:lnTo>
                  <a:lnTo>
                    <a:pt x="4142206" y="75958"/>
                  </a:lnTo>
                  <a:lnTo>
                    <a:pt x="4146080" y="80086"/>
                  </a:lnTo>
                  <a:lnTo>
                    <a:pt x="4149979" y="84175"/>
                  </a:lnTo>
                  <a:lnTo>
                    <a:pt x="4140428" y="47256"/>
                  </a:lnTo>
                  <a:lnTo>
                    <a:pt x="4128998" y="46380"/>
                  </a:lnTo>
                  <a:lnTo>
                    <a:pt x="4117530" y="47256"/>
                  </a:lnTo>
                  <a:lnTo>
                    <a:pt x="4084294" y="68046"/>
                  </a:lnTo>
                  <a:lnTo>
                    <a:pt x="4076268" y="132600"/>
                  </a:lnTo>
                  <a:lnTo>
                    <a:pt x="4077157" y="144043"/>
                  </a:lnTo>
                  <a:lnTo>
                    <a:pt x="4098302" y="176936"/>
                  </a:lnTo>
                  <a:lnTo>
                    <a:pt x="4128998" y="184835"/>
                  </a:lnTo>
                  <a:lnTo>
                    <a:pt x="4140428" y="183959"/>
                  </a:lnTo>
                  <a:lnTo>
                    <a:pt x="4173613" y="163144"/>
                  </a:lnTo>
                  <a:lnTo>
                    <a:pt x="4181678" y="132600"/>
                  </a:lnTo>
                  <a:lnTo>
                    <a:pt x="4181678" y="98386"/>
                  </a:lnTo>
                  <a:close/>
                </a:path>
                <a:path w="4455160" h="223520">
                  <a:moveTo>
                    <a:pt x="4322330" y="96837"/>
                  </a:moveTo>
                  <a:lnTo>
                    <a:pt x="4309338" y="60134"/>
                  </a:lnTo>
                  <a:lnTo>
                    <a:pt x="4274629" y="46380"/>
                  </a:lnTo>
                  <a:lnTo>
                    <a:pt x="4261193" y="48196"/>
                  </a:lnTo>
                  <a:lnTo>
                    <a:pt x="4251249" y="53670"/>
                  </a:lnTo>
                  <a:lnTo>
                    <a:pt x="4244772" y="62788"/>
                  </a:lnTo>
                  <a:lnTo>
                    <a:pt x="4241787" y="75565"/>
                  </a:lnTo>
                  <a:lnTo>
                    <a:pt x="4241863" y="75171"/>
                  </a:lnTo>
                  <a:lnTo>
                    <a:pt x="4246486" y="48641"/>
                  </a:lnTo>
                  <a:lnTo>
                    <a:pt x="4217200" y="48641"/>
                  </a:lnTo>
                  <a:lnTo>
                    <a:pt x="4217200" y="182575"/>
                  </a:lnTo>
                  <a:lnTo>
                    <a:pt x="4246931" y="182575"/>
                  </a:lnTo>
                  <a:lnTo>
                    <a:pt x="4246981" y="90170"/>
                  </a:lnTo>
                  <a:lnTo>
                    <a:pt x="4248315" y="85940"/>
                  </a:lnTo>
                  <a:lnTo>
                    <a:pt x="4249115" y="83794"/>
                  </a:lnTo>
                  <a:lnTo>
                    <a:pt x="4256684" y="75565"/>
                  </a:lnTo>
                  <a:lnTo>
                    <a:pt x="4257103" y="75171"/>
                  </a:lnTo>
                  <a:lnTo>
                    <a:pt x="4262653" y="73012"/>
                  </a:lnTo>
                  <a:lnTo>
                    <a:pt x="4277245" y="73012"/>
                  </a:lnTo>
                  <a:lnTo>
                    <a:pt x="4282859" y="75171"/>
                  </a:lnTo>
                  <a:lnTo>
                    <a:pt x="4290631" y="83794"/>
                  </a:lnTo>
                  <a:lnTo>
                    <a:pt x="4292587" y="90170"/>
                  </a:lnTo>
                  <a:lnTo>
                    <a:pt x="4292587" y="109004"/>
                  </a:lnTo>
                  <a:lnTo>
                    <a:pt x="4322330" y="109004"/>
                  </a:lnTo>
                  <a:lnTo>
                    <a:pt x="4322330" y="96837"/>
                  </a:lnTo>
                  <a:close/>
                </a:path>
                <a:path w="4455160" h="223520">
                  <a:moveTo>
                    <a:pt x="4454855" y="48641"/>
                  </a:moveTo>
                  <a:lnTo>
                    <a:pt x="4405058" y="48641"/>
                  </a:lnTo>
                  <a:lnTo>
                    <a:pt x="4405058" y="14706"/>
                  </a:lnTo>
                  <a:lnTo>
                    <a:pt x="4375264" y="14706"/>
                  </a:lnTo>
                  <a:lnTo>
                    <a:pt x="4375264" y="48641"/>
                  </a:lnTo>
                  <a:lnTo>
                    <a:pt x="4340161" y="48641"/>
                  </a:lnTo>
                  <a:lnTo>
                    <a:pt x="4340161" y="76606"/>
                  </a:lnTo>
                  <a:lnTo>
                    <a:pt x="4375264" y="76606"/>
                  </a:lnTo>
                  <a:lnTo>
                    <a:pt x="4375264" y="145034"/>
                  </a:lnTo>
                  <a:lnTo>
                    <a:pt x="4375912" y="153377"/>
                  </a:lnTo>
                  <a:lnTo>
                    <a:pt x="4405439" y="181952"/>
                  </a:lnTo>
                  <a:lnTo>
                    <a:pt x="4413948" y="182575"/>
                  </a:lnTo>
                  <a:lnTo>
                    <a:pt x="4452594" y="182575"/>
                  </a:lnTo>
                  <a:lnTo>
                    <a:pt x="4452594" y="154597"/>
                  </a:lnTo>
                  <a:lnTo>
                    <a:pt x="4410634" y="154597"/>
                  </a:lnTo>
                  <a:lnTo>
                    <a:pt x="4408322" y="153898"/>
                  </a:lnTo>
                  <a:lnTo>
                    <a:pt x="4405706" y="151104"/>
                  </a:lnTo>
                  <a:lnTo>
                    <a:pt x="4405058" y="148615"/>
                  </a:lnTo>
                  <a:lnTo>
                    <a:pt x="4405058" y="76606"/>
                  </a:lnTo>
                  <a:lnTo>
                    <a:pt x="4454855" y="76606"/>
                  </a:lnTo>
                  <a:lnTo>
                    <a:pt x="4454855" y="48641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491289" y="4564897"/>
            <a:ext cx="9887585" cy="655320"/>
          </a:xfrm>
          <a:custGeom>
            <a:avLst/>
            <a:gdLst/>
            <a:ahLst/>
            <a:cxnLst/>
            <a:rect l="l" t="t" r="r" b="b"/>
            <a:pathLst>
              <a:path w="9887585" h="655320">
                <a:moveTo>
                  <a:pt x="9810694" y="655052"/>
                </a:moveTo>
                <a:lnTo>
                  <a:pt x="76505" y="655052"/>
                </a:lnTo>
                <a:lnTo>
                  <a:pt x="71180" y="654527"/>
                </a:lnTo>
                <a:lnTo>
                  <a:pt x="31920" y="638265"/>
                </a:lnTo>
                <a:lnTo>
                  <a:pt x="4175" y="599538"/>
                </a:lnTo>
                <a:lnTo>
                  <a:pt x="0" y="578547"/>
                </a:lnTo>
                <a:lnTo>
                  <a:pt x="0" y="573170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578547"/>
                </a:lnTo>
                <a:lnTo>
                  <a:pt x="9870412" y="623131"/>
                </a:lnTo>
                <a:lnTo>
                  <a:pt x="9831684" y="650876"/>
                </a:lnTo>
                <a:lnTo>
                  <a:pt x="9816018" y="654527"/>
                </a:lnTo>
                <a:lnTo>
                  <a:pt x="9810694" y="655052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1289" y="5465594"/>
            <a:ext cx="9887585" cy="635000"/>
          </a:xfrm>
          <a:custGeom>
            <a:avLst/>
            <a:gdLst/>
            <a:ahLst/>
            <a:cxnLst/>
            <a:rect l="l" t="t" r="r" b="b"/>
            <a:pathLst>
              <a:path w="9887585" h="635000">
                <a:moveTo>
                  <a:pt x="9810694" y="634581"/>
                </a:moveTo>
                <a:lnTo>
                  <a:pt x="76505" y="634581"/>
                </a:lnTo>
                <a:lnTo>
                  <a:pt x="71180" y="634056"/>
                </a:lnTo>
                <a:lnTo>
                  <a:pt x="31920" y="617795"/>
                </a:lnTo>
                <a:lnTo>
                  <a:pt x="4175" y="579068"/>
                </a:lnTo>
                <a:lnTo>
                  <a:pt x="0" y="558076"/>
                </a:lnTo>
                <a:lnTo>
                  <a:pt x="0" y="552700"/>
                </a:lnTo>
                <a:lnTo>
                  <a:pt x="0" y="76504"/>
                </a:lnTo>
                <a:lnTo>
                  <a:pt x="16786" y="31920"/>
                </a:lnTo>
                <a:lnTo>
                  <a:pt x="55513" y="4174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5"/>
                </a:lnTo>
                <a:lnTo>
                  <a:pt x="9883023" y="55513"/>
                </a:lnTo>
                <a:lnTo>
                  <a:pt x="9887199" y="76504"/>
                </a:lnTo>
                <a:lnTo>
                  <a:pt x="9887199" y="558076"/>
                </a:lnTo>
                <a:lnTo>
                  <a:pt x="9870412" y="602661"/>
                </a:lnTo>
                <a:lnTo>
                  <a:pt x="9831684" y="630405"/>
                </a:lnTo>
                <a:lnTo>
                  <a:pt x="9816018" y="634056"/>
                </a:lnTo>
                <a:lnTo>
                  <a:pt x="9810694" y="634581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1289" y="6345821"/>
            <a:ext cx="9887585" cy="655320"/>
          </a:xfrm>
          <a:custGeom>
            <a:avLst/>
            <a:gdLst/>
            <a:ahLst/>
            <a:cxnLst/>
            <a:rect l="l" t="t" r="r" b="b"/>
            <a:pathLst>
              <a:path w="9887585" h="655320">
                <a:moveTo>
                  <a:pt x="9810694" y="655052"/>
                </a:moveTo>
                <a:lnTo>
                  <a:pt x="76505" y="655052"/>
                </a:lnTo>
                <a:lnTo>
                  <a:pt x="71180" y="654527"/>
                </a:lnTo>
                <a:lnTo>
                  <a:pt x="31920" y="638264"/>
                </a:lnTo>
                <a:lnTo>
                  <a:pt x="4175" y="599537"/>
                </a:lnTo>
                <a:lnTo>
                  <a:pt x="0" y="578547"/>
                </a:lnTo>
                <a:lnTo>
                  <a:pt x="0" y="573170"/>
                </a:lnTo>
                <a:lnTo>
                  <a:pt x="0" y="76504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5"/>
                </a:lnTo>
                <a:lnTo>
                  <a:pt x="9883023" y="55513"/>
                </a:lnTo>
                <a:lnTo>
                  <a:pt x="9887199" y="76504"/>
                </a:lnTo>
                <a:lnTo>
                  <a:pt x="9887199" y="578547"/>
                </a:lnTo>
                <a:lnTo>
                  <a:pt x="9870412" y="623131"/>
                </a:lnTo>
                <a:lnTo>
                  <a:pt x="9831684" y="650876"/>
                </a:lnTo>
                <a:lnTo>
                  <a:pt x="9816018" y="654527"/>
                </a:lnTo>
                <a:lnTo>
                  <a:pt x="9810694" y="655052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07808" y="1337117"/>
            <a:ext cx="287528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-1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1750" spc="-10" dirty="0">
                <a:solidFill>
                  <a:srgbClr val="04182D"/>
                </a:solidFill>
                <a:latin typeface="Monaco"/>
                <a:cs typeface="Monaco"/>
              </a:rPr>
              <a:t>(articles.shape)</a:t>
            </a:r>
            <a:endParaRPr sz="1750">
              <a:latin typeface="Monaco"/>
              <a:cs typeface="Monac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7808" y="2237814"/>
            <a:ext cx="1654175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dirty="0">
                <a:solidFill>
                  <a:srgbClr val="FFFFFF"/>
                </a:solidFill>
                <a:latin typeface="Monaco"/>
                <a:cs typeface="Monaco"/>
              </a:rPr>
              <a:t>(20000,</a:t>
            </a:r>
            <a:r>
              <a:rPr sz="1750" spc="5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750" spc="-20" dirty="0">
                <a:solidFill>
                  <a:srgbClr val="FFFFFF"/>
                </a:solidFill>
                <a:latin typeface="Monaco"/>
                <a:cs typeface="Monaco"/>
              </a:rPr>
              <a:t>800)</a:t>
            </a:r>
            <a:endParaRPr sz="1750">
              <a:latin typeface="Monaco"/>
              <a:cs typeface="Monac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20427" y="3118041"/>
            <a:ext cx="43307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-25" dirty="0">
                <a:solidFill>
                  <a:srgbClr val="04182D"/>
                </a:solidFill>
                <a:latin typeface="Monaco"/>
                <a:cs typeface="Monaco"/>
              </a:rPr>
              <a:t>NMF</a:t>
            </a:r>
            <a:endParaRPr sz="1750">
              <a:latin typeface="Monaco"/>
              <a:cs typeface="Monaco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7808" y="3021257"/>
            <a:ext cx="3553460" cy="1130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677545" algn="just">
              <a:lnSpc>
                <a:spcPct val="138200"/>
              </a:lnSpc>
              <a:spcBef>
                <a:spcPts val="90"/>
              </a:spcBef>
            </a:pPr>
            <a:r>
              <a:rPr sz="1750" spc="-10" dirty="0">
                <a:solidFill>
                  <a:srgbClr val="04182D"/>
                </a:solidFill>
                <a:latin typeface="Monaco"/>
                <a:cs typeface="Monaco"/>
              </a:rPr>
              <a:t>sklearn.decomposition </a:t>
            </a:r>
            <a:r>
              <a:rPr sz="1750" dirty="0">
                <a:solidFill>
                  <a:srgbClr val="04182D"/>
                </a:solidFill>
                <a:latin typeface="Monaco"/>
                <a:cs typeface="Monaco"/>
              </a:rPr>
              <a:t>nmf</a:t>
            </a:r>
            <a:r>
              <a:rPr sz="1750" spc="3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750" dirty="0">
                <a:solidFill>
                  <a:srgbClr val="04182D"/>
                </a:solidFill>
                <a:latin typeface="Monaco"/>
                <a:cs typeface="Monaco"/>
              </a:rPr>
              <a:t>=</a:t>
            </a:r>
            <a:r>
              <a:rPr sz="1750" spc="3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750" spc="-10" dirty="0">
                <a:solidFill>
                  <a:srgbClr val="04182D"/>
                </a:solidFill>
                <a:latin typeface="Monaco"/>
                <a:cs typeface="Monaco"/>
              </a:rPr>
              <a:t>NMF(n_components=</a:t>
            </a:r>
            <a:r>
              <a:rPr sz="1750" spc="-10" dirty="0">
                <a:solidFill>
                  <a:srgbClr val="BE2F72"/>
                </a:solidFill>
                <a:latin typeface="Monaco"/>
                <a:cs typeface="Monaco"/>
              </a:rPr>
              <a:t>10</a:t>
            </a:r>
            <a:r>
              <a:rPr sz="1750" spc="-10" dirty="0">
                <a:solidFill>
                  <a:srgbClr val="04182D"/>
                </a:solidFill>
                <a:latin typeface="Monaco"/>
                <a:cs typeface="Monaco"/>
              </a:rPr>
              <a:t>) nmf.fit(articles)</a:t>
            </a:r>
            <a:endParaRPr sz="1750">
              <a:latin typeface="Monaco"/>
              <a:cs typeface="Monac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7808" y="4735202"/>
            <a:ext cx="273939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-10" dirty="0">
                <a:solidFill>
                  <a:srgbClr val="FFFFFF"/>
                </a:solidFill>
                <a:latin typeface="Monaco"/>
                <a:cs typeface="Monaco"/>
              </a:rPr>
              <a:t>NMF(n_components=10)</a:t>
            </a:r>
            <a:endParaRPr sz="1750">
              <a:latin typeface="Monaco"/>
              <a:cs typeface="Monac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7808" y="5635900"/>
            <a:ext cx="382524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spc="-1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1750" spc="-10" dirty="0">
                <a:solidFill>
                  <a:srgbClr val="04182D"/>
                </a:solidFill>
                <a:latin typeface="Monaco"/>
                <a:cs typeface="Monaco"/>
              </a:rPr>
              <a:t>(nmf.components_.shape)</a:t>
            </a:r>
            <a:endParaRPr sz="1750">
              <a:latin typeface="Monaco"/>
              <a:cs typeface="Monac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7808" y="6516127"/>
            <a:ext cx="1247140" cy="297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50" dirty="0">
                <a:solidFill>
                  <a:srgbClr val="FFFFFF"/>
                </a:solidFill>
                <a:latin typeface="Monaco"/>
                <a:cs typeface="Monaco"/>
              </a:rPr>
              <a:t>(10,</a:t>
            </a:r>
            <a:r>
              <a:rPr sz="1750" spc="4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750" spc="-20" dirty="0">
                <a:solidFill>
                  <a:srgbClr val="FFFFFF"/>
                </a:solidFill>
                <a:latin typeface="Monaco"/>
                <a:cs typeface="Monaco"/>
              </a:rPr>
              <a:t>800)</a:t>
            </a:r>
            <a:endParaRPr sz="1750">
              <a:latin typeface="Monaco"/>
              <a:cs typeface="Monaco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57913" y="8248713"/>
            <a:ext cx="1739900" cy="368300"/>
          </a:xfrm>
          <a:custGeom>
            <a:avLst/>
            <a:gdLst/>
            <a:ahLst/>
            <a:cxnLst/>
            <a:rect l="l" t="t" r="r" b="b"/>
            <a:pathLst>
              <a:path w="1739900" h="368300">
                <a:moveTo>
                  <a:pt x="209676" y="110742"/>
                </a:moveTo>
                <a:lnTo>
                  <a:pt x="176576" y="110742"/>
                </a:lnTo>
                <a:lnTo>
                  <a:pt x="176576" y="0"/>
                </a:lnTo>
                <a:lnTo>
                  <a:pt x="209676" y="0"/>
                </a:lnTo>
                <a:lnTo>
                  <a:pt x="209676" y="110742"/>
                </a:lnTo>
                <a:close/>
              </a:path>
              <a:path w="1739900" h="368300">
                <a:moveTo>
                  <a:pt x="102631" y="290963"/>
                </a:moveTo>
                <a:lnTo>
                  <a:pt x="63835" y="282714"/>
                </a:lnTo>
                <a:lnTo>
                  <a:pt x="29931" y="259678"/>
                </a:lnTo>
                <a:lnTo>
                  <a:pt x="7482" y="225481"/>
                </a:lnTo>
                <a:lnTo>
                  <a:pt x="0" y="186728"/>
                </a:lnTo>
                <a:lnTo>
                  <a:pt x="7482" y="147975"/>
                </a:lnTo>
                <a:lnTo>
                  <a:pt x="29931" y="113778"/>
                </a:lnTo>
                <a:lnTo>
                  <a:pt x="63835" y="90741"/>
                </a:lnTo>
                <a:lnTo>
                  <a:pt x="102631" y="82493"/>
                </a:lnTo>
                <a:lnTo>
                  <a:pt x="141738" y="89128"/>
                </a:lnTo>
                <a:lnTo>
                  <a:pt x="176576" y="110742"/>
                </a:lnTo>
                <a:lnTo>
                  <a:pt x="209676" y="110742"/>
                </a:lnTo>
                <a:lnTo>
                  <a:pt x="209676" y="115505"/>
                </a:lnTo>
                <a:lnTo>
                  <a:pt x="104843" y="115505"/>
                </a:lnTo>
                <a:lnTo>
                  <a:pt x="76969" y="121103"/>
                </a:lnTo>
                <a:lnTo>
                  <a:pt x="54206" y="136369"/>
                </a:lnTo>
                <a:lnTo>
                  <a:pt x="38859" y="159011"/>
                </a:lnTo>
                <a:lnTo>
                  <a:pt x="33233" y="186728"/>
                </a:lnTo>
                <a:lnTo>
                  <a:pt x="38764" y="213998"/>
                </a:lnTo>
                <a:lnTo>
                  <a:pt x="38859" y="214465"/>
                </a:lnTo>
                <a:lnTo>
                  <a:pt x="54206" y="237107"/>
                </a:lnTo>
                <a:lnTo>
                  <a:pt x="76969" y="252373"/>
                </a:lnTo>
                <a:lnTo>
                  <a:pt x="104843" y="257971"/>
                </a:lnTo>
                <a:lnTo>
                  <a:pt x="209676" y="257971"/>
                </a:lnTo>
                <a:lnTo>
                  <a:pt x="209676" y="262714"/>
                </a:lnTo>
                <a:lnTo>
                  <a:pt x="176576" y="262714"/>
                </a:lnTo>
                <a:lnTo>
                  <a:pt x="141738" y="284327"/>
                </a:lnTo>
                <a:lnTo>
                  <a:pt x="102631" y="290963"/>
                </a:lnTo>
                <a:close/>
              </a:path>
              <a:path w="1739900" h="368300">
                <a:moveTo>
                  <a:pt x="209676" y="257971"/>
                </a:moveTo>
                <a:lnTo>
                  <a:pt x="104843" y="257971"/>
                </a:lnTo>
                <a:lnTo>
                  <a:pt x="118880" y="256589"/>
                </a:lnTo>
                <a:lnTo>
                  <a:pt x="132248" y="252548"/>
                </a:lnTo>
                <a:lnTo>
                  <a:pt x="164424" y="226258"/>
                </a:lnTo>
                <a:lnTo>
                  <a:pt x="176454" y="186728"/>
                </a:lnTo>
                <a:lnTo>
                  <a:pt x="170828" y="159011"/>
                </a:lnTo>
                <a:lnTo>
                  <a:pt x="155481" y="136369"/>
                </a:lnTo>
                <a:lnTo>
                  <a:pt x="132718" y="121103"/>
                </a:lnTo>
                <a:lnTo>
                  <a:pt x="104843" y="115505"/>
                </a:lnTo>
                <a:lnTo>
                  <a:pt x="209676" y="115505"/>
                </a:lnTo>
                <a:lnTo>
                  <a:pt x="209676" y="257971"/>
                </a:lnTo>
                <a:close/>
              </a:path>
              <a:path w="1739900" h="368300">
                <a:moveTo>
                  <a:pt x="209676" y="285671"/>
                </a:moveTo>
                <a:lnTo>
                  <a:pt x="176576" y="285671"/>
                </a:lnTo>
                <a:lnTo>
                  <a:pt x="176576" y="262714"/>
                </a:lnTo>
                <a:lnTo>
                  <a:pt x="209676" y="262714"/>
                </a:lnTo>
                <a:lnTo>
                  <a:pt x="209676" y="285671"/>
                </a:lnTo>
                <a:close/>
              </a:path>
              <a:path w="1739900" h="368300">
                <a:moveTo>
                  <a:pt x="1095907" y="290963"/>
                </a:moveTo>
                <a:lnTo>
                  <a:pt x="1057112" y="282714"/>
                </a:lnTo>
                <a:lnTo>
                  <a:pt x="1023208" y="259678"/>
                </a:lnTo>
                <a:lnTo>
                  <a:pt x="1000759" y="225481"/>
                </a:lnTo>
                <a:lnTo>
                  <a:pt x="993276" y="186728"/>
                </a:lnTo>
                <a:lnTo>
                  <a:pt x="1000759" y="147975"/>
                </a:lnTo>
                <a:lnTo>
                  <a:pt x="1023208" y="113778"/>
                </a:lnTo>
                <a:lnTo>
                  <a:pt x="1057112" y="90741"/>
                </a:lnTo>
                <a:lnTo>
                  <a:pt x="1095907" y="82493"/>
                </a:lnTo>
                <a:lnTo>
                  <a:pt x="1135014" y="89128"/>
                </a:lnTo>
                <a:lnTo>
                  <a:pt x="1169853" y="110742"/>
                </a:lnTo>
                <a:lnTo>
                  <a:pt x="1202932" y="110742"/>
                </a:lnTo>
                <a:lnTo>
                  <a:pt x="1202932" y="115505"/>
                </a:lnTo>
                <a:lnTo>
                  <a:pt x="1098140" y="115505"/>
                </a:lnTo>
                <a:lnTo>
                  <a:pt x="1070265" y="121103"/>
                </a:lnTo>
                <a:lnTo>
                  <a:pt x="1047502" y="136369"/>
                </a:lnTo>
                <a:lnTo>
                  <a:pt x="1032155" y="159011"/>
                </a:lnTo>
                <a:lnTo>
                  <a:pt x="1026530" y="186728"/>
                </a:lnTo>
                <a:lnTo>
                  <a:pt x="1032060" y="213998"/>
                </a:lnTo>
                <a:lnTo>
                  <a:pt x="1032155" y="214465"/>
                </a:lnTo>
                <a:lnTo>
                  <a:pt x="1047502" y="237107"/>
                </a:lnTo>
                <a:lnTo>
                  <a:pt x="1070265" y="252373"/>
                </a:lnTo>
                <a:lnTo>
                  <a:pt x="1098140" y="257971"/>
                </a:lnTo>
                <a:lnTo>
                  <a:pt x="1202953" y="257971"/>
                </a:lnTo>
                <a:lnTo>
                  <a:pt x="1202953" y="262714"/>
                </a:lnTo>
                <a:lnTo>
                  <a:pt x="1169853" y="262714"/>
                </a:lnTo>
                <a:lnTo>
                  <a:pt x="1135014" y="284327"/>
                </a:lnTo>
                <a:lnTo>
                  <a:pt x="1095907" y="290963"/>
                </a:lnTo>
                <a:close/>
              </a:path>
              <a:path w="1739900" h="368300">
                <a:moveTo>
                  <a:pt x="1202932" y="110742"/>
                </a:moveTo>
                <a:lnTo>
                  <a:pt x="1169853" y="110742"/>
                </a:lnTo>
                <a:lnTo>
                  <a:pt x="1169853" y="83581"/>
                </a:lnTo>
                <a:lnTo>
                  <a:pt x="1202932" y="83581"/>
                </a:lnTo>
                <a:lnTo>
                  <a:pt x="1202932" y="110742"/>
                </a:lnTo>
                <a:close/>
              </a:path>
              <a:path w="1739900" h="368300">
                <a:moveTo>
                  <a:pt x="1202953" y="257971"/>
                </a:moveTo>
                <a:lnTo>
                  <a:pt x="1098140" y="257971"/>
                </a:lnTo>
                <a:lnTo>
                  <a:pt x="1112176" y="256589"/>
                </a:lnTo>
                <a:lnTo>
                  <a:pt x="1125545" y="252548"/>
                </a:lnTo>
                <a:lnTo>
                  <a:pt x="1157720" y="226258"/>
                </a:lnTo>
                <a:lnTo>
                  <a:pt x="1169750" y="186728"/>
                </a:lnTo>
                <a:lnTo>
                  <a:pt x="1164125" y="159011"/>
                </a:lnTo>
                <a:lnTo>
                  <a:pt x="1148777" y="136369"/>
                </a:lnTo>
                <a:lnTo>
                  <a:pt x="1126015" y="121103"/>
                </a:lnTo>
                <a:lnTo>
                  <a:pt x="1098140" y="115505"/>
                </a:lnTo>
                <a:lnTo>
                  <a:pt x="1202932" y="115505"/>
                </a:lnTo>
                <a:lnTo>
                  <a:pt x="1202953" y="257971"/>
                </a:lnTo>
                <a:close/>
              </a:path>
              <a:path w="1739900" h="368300">
                <a:moveTo>
                  <a:pt x="1202953" y="285671"/>
                </a:moveTo>
                <a:lnTo>
                  <a:pt x="1169853" y="285671"/>
                </a:lnTo>
                <a:lnTo>
                  <a:pt x="1169853" y="262714"/>
                </a:lnTo>
                <a:lnTo>
                  <a:pt x="1202953" y="262714"/>
                </a:lnTo>
                <a:lnTo>
                  <a:pt x="1202953" y="285671"/>
                </a:lnTo>
                <a:close/>
              </a:path>
              <a:path w="1739900" h="368300">
                <a:moveTo>
                  <a:pt x="1259816" y="285671"/>
                </a:moveTo>
                <a:lnTo>
                  <a:pt x="1227441" y="285671"/>
                </a:lnTo>
                <a:lnTo>
                  <a:pt x="1227441" y="83454"/>
                </a:lnTo>
                <a:lnTo>
                  <a:pt x="1261205" y="83454"/>
                </a:lnTo>
                <a:lnTo>
                  <a:pt x="1260519" y="205634"/>
                </a:lnTo>
                <a:lnTo>
                  <a:pt x="1260420" y="223385"/>
                </a:lnTo>
                <a:lnTo>
                  <a:pt x="1297925" y="223385"/>
                </a:lnTo>
                <a:lnTo>
                  <a:pt x="1279985" y="252612"/>
                </a:lnTo>
                <a:lnTo>
                  <a:pt x="1259816" y="285671"/>
                </a:lnTo>
                <a:close/>
              </a:path>
              <a:path w="1739900" h="368300">
                <a:moveTo>
                  <a:pt x="1297925" y="223385"/>
                </a:moveTo>
                <a:lnTo>
                  <a:pt x="1260420" y="223385"/>
                </a:lnTo>
                <a:lnTo>
                  <a:pt x="1341815" y="90596"/>
                </a:lnTo>
                <a:lnTo>
                  <a:pt x="1344437" y="86406"/>
                </a:lnTo>
                <a:lnTo>
                  <a:pt x="1349724" y="83454"/>
                </a:lnTo>
                <a:lnTo>
                  <a:pt x="1361517" y="83454"/>
                </a:lnTo>
                <a:lnTo>
                  <a:pt x="1386275" y="134619"/>
                </a:lnTo>
                <a:lnTo>
                  <a:pt x="1352677" y="134619"/>
                </a:lnTo>
                <a:lnTo>
                  <a:pt x="1297925" y="223385"/>
                </a:lnTo>
                <a:close/>
              </a:path>
              <a:path w="1739900" h="368300">
                <a:moveTo>
                  <a:pt x="1423909" y="222504"/>
                </a:moveTo>
                <a:lnTo>
                  <a:pt x="1386420" y="222504"/>
                </a:lnTo>
                <a:lnTo>
                  <a:pt x="1469827" y="86406"/>
                </a:lnTo>
                <a:lnTo>
                  <a:pt x="1475114" y="83454"/>
                </a:lnTo>
                <a:lnTo>
                  <a:pt x="1487154" y="83454"/>
                </a:lnTo>
                <a:lnTo>
                  <a:pt x="1511676" y="135000"/>
                </a:lnTo>
                <a:lnTo>
                  <a:pt x="1477892" y="135000"/>
                </a:lnTo>
                <a:lnTo>
                  <a:pt x="1423909" y="222504"/>
                </a:lnTo>
                <a:close/>
              </a:path>
              <a:path w="1739900" h="368300">
                <a:moveTo>
                  <a:pt x="1381590" y="285671"/>
                </a:moveTo>
                <a:lnTo>
                  <a:pt x="1359983" y="285671"/>
                </a:lnTo>
                <a:lnTo>
                  <a:pt x="1352677" y="278404"/>
                </a:lnTo>
                <a:lnTo>
                  <a:pt x="1352677" y="134619"/>
                </a:lnTo>
                <a:lnTo>
                  <a:pt x="1386275" y="134619"/>
                </a:lnTo>
                <a:lnTo>
                  <a:pt x="1386395" y="209445"/>
                </a:lnTo>
                <a:lnTo>
                  <a:pt x="1386420" y="222504"/>
                </a:lnTo>
                <a:lnTo>
                  <a:pt x="1423909" y="222504"/>
                </a:lnTo>
                <a:lnTo>
                  <a:pt x="1386859" y="282733"/>
                </a:lnTo>
                <a:lnTo>
                  <a:pt x="1381590" y="285671"/>
                </a:lnTo>
                <a:close/>
              </a:path>
              <a:path w="1739900" h="368300">
                <a:moveTo>
                  <a:pt x="1511676" y="285671"/>
                </a:moveTo>
                <a:lnTo>
                  <a:pt x="1477892" y="285671"/>
                </a:lnTo>
                <a:lnTo>
                  <a:pt x="1477892" y="135000"/>
                </a:lnTo>
                <a:lnTo>
                  <a:pt x="1511676" y="135000"/>
                </a:lnTo>
                <a:lnTo>
                  <a:pt x="1511676" y="285671"/>
                </a:lnTo>
                <a:close/>
              </a:path>
              <a:path w="1739900" h="368300">
                <a:moveTo>
                  <a:pt x="904751" y="291025"/>
                </a:moveTo>
                <a:lnTo>
                  <a:pt x="842180" y="270014"/>
                </a:lnTo>
                <a:lnTo>
                  <a:pt x="805126" y="217457"/>
                </a:lnTo>
                <a:lnTo>
                  <a:pt x="800524" y="184503"/>
                </a:lnTo>
                <a:lnTo>
                  <a:pt x="806583" y="151783"/>
                </a:lnTo>
                <a:lnTo>
                  <a:pt x="822226" y="123259"/>
                </a:lnTo>
                <a:lnTo>
                  <a:pt x="845930" y="100903"/>
                </a:lnTo>
                <a:lnTo>
                  <a:pt x="876170" y="86685"/>
                </a:lnTo>
                <a:lnTo>
                  <a:pt x="909371" y="82657"/>
                </a:lnTo>
                <a:lnTo>
                  <a:pt x="941412" y="88981"/>
                </a:lnTo>
                <a:lnTo>
                  <a:pt x="969945" y="104800"/>
                </a:lnTo>
                <a:lnTo>
                  <a:pt x="980829" y="116537"/>
                </a:lnTo>
                <a:lnTo>
                  <a:pt x="906313" y="116537"/>
                </a:lnTo>
                <a:lnTo>
                  <a:pt x="884848" y="119223"/>
                </a:lnTo>
                <a:lnTo>
                  <a:pt x="865246" y="128329"/>
                </a:lnTo>
                <a:lnTo>
                  <a:pt x="849711" y="142609"/>
                </a:lnTo>
                <a:lnTo>
                  <a:pt x="839201" y="160868"/>
                </a:lnTo>
                <a:lnTo>
                  <a:pt x="834671" y="181910"/>
                </a:lnTo>
                <a:lnTo>
                  <a:pt x="836848" y="203320"/>
                </a:lnTo>
                <a:lnTo>
                  <a:pt x="845278" y="222618"/>
                </a:lnTo>
                <a:lnTo>
                  <a:pt x="859141" y="238509"/>
                </a:lnTo>
                <a:lnTo>
                  <a:pt x="877618" y="249703"/>
                </a:lnTo>
                <a:lnTo>
                  <a:pt x="898656" y="254719"/>
                </a:lnTo>
                <a:lnTo>
                  <a:pt x="983306" y="254719"/>
                </a:lnTo>
                <a:lnTo>
                  <a:pt x="966247" y="271560"/>
                </a:lnTo>
                <a:lnTo>
                  <a:pt x="937041" y="286112"/>
                </a:lnTo>
                <a:lnTo>
                  <a:pt x="904751" y="291025"/>
                </a:lnTo>
                <a:close/>
              </a:path>
              <a:path w="1739900" h="368300">
                <a:moveTo>
                  <a:pt x="960891" y="145667"/>
                </a:moveTo>
                <a:lnTo>
                  <a:pt x="945784" y="130264"/>
                </a:lnTo>
                <a:lnTo>
                  <a:pt x="927108" y="120385"/>
                </a:lnTo>
                <a:lnTo>
                  <a:pt x="906313" y="116537"/>
                </a:lnTo>
                <a:lnTo>
                  <a:pt x="980829" y="116537"/>
                </a:lnTo>
                <a:lnTo>
                  <a:pt x="992623" y="129255"/>
                </a:lnTo>
                <a:lnTo>
                  <a:pt x="960891" y="145667"/>
                </a:lnTo>
                <a:close/>
              </a:path>
              <a:path w="1739900" h="368300">
                <a:moveTo>
                  <a:pt x="983306" y="254719"/>
                </a:moveTo>
                <a:lnTo>
                  <a:pt x="898656" y="254719"/>
                </a:lnTo>
                <a:lnTo>
                  <a:pt x="919751" y="253167"/>
                </a:lnTo>
                <a:lnTo>
                  <a:pt x="939405" y="245390"/>
                </a:lnTo>
                <a:lnTo>
                  <a:pt x="956123" y="231731"/>
                </a:lnTo>
                <a:lnTo>
                  <a:pt x="989987" y="248123"/>
                </a:lnTo>
                <a:lnTo>
                  <a:pt x="983306" y="254719"/>
                </a:lnTo>
                <a:close/>
              </a:path>
              <a:path w="1739900" h="368300">
                <a:moveTo>
                  <a:pt x="1708136" y="110702"/>
                </a:moveTo>
                <a:lnTo>
                  <a:pt x="1566749" y="110702"/>
                </a:lnTo>
                <a:lnTo>
                  <a:pt x="1582358" y="98707"/>
                </a:lnTo>
                <a:lnTo>
                  <a:pt x="1599798" y="89911"/>
                </a:lnTo>
                <a:lnTo>
                  <a:pt x="1618581" y="84505"/>
                </a:lnTo>
                <a:lnTo>
                  <a:pt x="1638220" y="82661"/>
                </a:lnTo>
                <a:lnTo>
                  <a:pt x="1672025" y="88219"/>
                </a:lnTo>
                <a:lnTo>
                  <a:pt x="1701538" y="103828"/>
                </a:lnTo>
                <a:lnTo>
                  <a:pt x="1708136" y="110702"/>
                </a:lnTo>
                <a:close/>
              </a:path>
              <a:path w="1739900" h="368300">
                <a:moveTo>
                  <a:pt x="1566749" y="368192"/>
                </a:moveTo>
                <a:lnTo>
                  <a:pt x="1533649" y="368192"/>
                </a:lnTo>
                <a:lnTo>
                  <a:pt x="1533649" y="83581"/>
                </a:lnTo>
                <a:lnTo>
                  <a:pt x="1566749" y="83581"/>
                </a:lnTo>
                <a:lnTo>
                  <a:pt x="1566749" y="110702"/>
                </a:lnTo>
                <a:lnTo>
                  <a:pt x="1708136" y="110702"/>
                </a:lnTo>
                <a:lnTo>
                  <a:pt x="1712975" y="115742"/>
                </a:lnTo>
                <a:lnTo>
                  <a:pt x="1641095" y="115742"/>
                </a:lnTo>
                <a:lnTo>
                  <a:pt x="1613369" y="120098"/>
                </a:lnTo>
                <a:lnTo>
                  <a:pt x="1590186" y="134098"/>
                </a:lnTo>
                <a:lnTo>
                  <a:pt x="1573871" y="155647"/>
                </a:lnTo>
                <a:lnTo>
                  <a:pt x="1566749" y="182655"/>
                </a:lnTo>
                <a:lnTo>
                  <a:pt x="1566749" y="191181"/>
                </a:lnTo>
                <a:lnTo>
                  <a:pt x="1573542" y="217500"/>
                </a:lnTo>
                <a:lnTo>
                  <a:pt x="1589116" y="238747"/>
                </a:lnTo>
                <a:lnTo>
                  <a:pt x="1611365" y="252949"/>
                </a:lnTo>
                <a:lnTo>
                  <a:pt x="1638180" y="258131"/>
                </a:lnTo>
                <a:lnTo>
                  <a:pt x="1713519" y="258131"/>
                </a:lnTo>
                <a:lnTo>
                  <a:pt x="1707698" y="263115"/>
                </a:lnTo>
                <a:lnTo>
                  <a:pt x="1566749" y="263115"/>
                </a:lnTo>
                <a:lnTo>
                  <a:pt x="1566749" y="368192"/>
                </a:lnTo>
                <a:close/>
              </a:path>
              <a:path w="1739900" h="368300">
                <a:moveTo>
                  <a:pt x="1713519" y="258131"/>
                </a:moveTo>
                <a:lnTo>
                  <a:pt x="1638322" y="258131"/>
                </a:lnTo>
                <a:lnTo>
                  <a:pt x="1665750" y="252701"/>
                </a:lnTo>
                <a:lnTo>
                  <a:pt x="1688355" y="237795"/>
                </a:lnTo>
                <a:lnTo>
                  <a:pt x="1703795" y="215616"/>
                </a:lnTo>
                <a:lnTo>
                  <a:pt x="1709831" y="188348"/>
                </a:lnTo>
                <a:lnTo>
                  <a:pt x="1704900" y="160861"/>
                </a:lnTo>
                <a:lnTo>
                  <a:pt x="1690368" y="138084"/>
                </a:lnTo>
                <a:lnTo>
                  <a:pt x="1668383" y="122287"/>
                </a:lnTo>
                <a:lnTo>
                  <a:pt x="1641095" y="115742"/>
                </a:lnTo>
                <a:lnTo>
                  <a:pt x="1712975" y="115742"/>
                </a:lnTo>
                <a:lnTo>
                  <a:pt x="1724622" y="127875"/>
                </a:lnTo>
                <a:lnTo>
                  <a:pt x="1739135" y="158748"/>
                </a:lnTo>
                <a:lnTo>
                  <a:pt x="1739369" y="160861"/>
                </a:lnTo>
                <a:lnTo>
                  <a:pt x="1739474" y="208108"/>
                </a:lnTo>
                <a:lnTo>
                  <a:pt x="1735735" y="225106"/>
                </a:lnTo>
                <a:lnTo>
                  <a:pt x="1718688" y="253705"/>
                </a:lnTo>
                <a:lnTo>
                  <a:pt x="1713519" y="258131"/>
                </a:lnTo>
                <a:close/>
              </a:path>
              <a:path w="1739900" h="368300">
                <a:moveTo>
                  <a:pt x="1627567" y="290594"/>
                </a:moveTo>
                <a:lnTo>
                  <a:pt x="1595281" y="281985"/>
                </a:lnTo>
                <a:lnTo>
                  <a:pt x="1566749" y="263115"/>
                </a:lnTo>
                <a:lnTo>
                  <a:pt x="1707698" y="263115"/>
                </a:lnTo>
                <a:lnTo>
                  <a:pt x="1692720" y="275939"/>
                </a:lnTo>
                <a:lnTo>
                  <a:pt x="1660937" y="288669"/>
                </a:lnTo>
                <a:lnTo>
                  <a:pt x="1627567" y="290594"/>
                </a:lnTo>
                <a:close/>
              </a:path>
              <a:path w="1739900" h="368300">
                <a:moveTo>
                  <a:pt x="516267" y="83101"/>
                </a:moveTo>
                <a:lnTo>
                  <a:pt x="483127" y="83101"/>
                </a:lnTo>
                <a:lnTo>
                  <a:pt x="483127" y="27840"/>
                </a:lnTo>
                <a:lnTo>
                  <a:pt x="516267" y="27840"/>
                </a:lnTo>
                <a:lnTo>
                  <a:pt x="516267" y="83101"/>
                </a:lnTo>
                <a:close/>
              </a:path>
              <a:path w="1739900" h="368300">
                <a:moveTo>
                  <a:pt x="674483" y="290963"/>
                </a:moveTo>
                <a:lnTo>
                  <a:pt x="635688" y="282714"/>
                </a:lnTo>
                <a:lnTo>
                  <a:pt x="601783" y="259678"/>
                </a:lnTo>
                <a:lnTo>
                  <a:pt x="579335" y="225481"/>
                </a:lnTo>
                <a:lnTo>
                  <a:pt x="571854" y="186718"/>
                </a:lnTo>
                <a:lnTo>
                  <a:pt x="579335" y="147975"/>
                </a:lnTo>
                <a:lnTo>
                  <a:pt x="601783" y="113778"/>
                </a:lnTo>
                <a:lnTo>
                  <a:pt x="635688" y="90741"/>
                </a:lnTo>
                <a:lnTo>
                  <a:pt x="674483" y="82493"/>
                </a:lnTo>
                <a:lnTo>
                  <a:pt x="713590" y="89128"/>
                </a:lnTo>
                <a:lnTo>
                  <a:pt x="748429" y="110742"/>
                </a:lnTo>
                <a:lnTo>
                  <a:pt x="781529" y="110742"/>
                </a:lnTo>
                <a:lnTo>
                  <a:pt x="781529" y="115485"/>
                </a:lnTo>
                <a:lnTo>
                  <a:pt x="676716" y="115485"/>
                </a:lnTo>
                <a:lnTo>
                  <a:pt x="648841" y="121083"/>
                </a:lnTo>
                <a:lnTo>
                  <a:pt x="626078" y="136349"/>
                </a:lnTo>
                <a:lnTo>
                  <a:pt x="610731" y="158991"/>
                </a:lnTo>
                <a:lnTo>
                  <a:pt x="605103" y="186718"/>
                </a:lnTo>
                <a:lnTo>
                  <a:pt x="610636" y="213978"/>
                </a:lnTo>
                <a:lnTo>
                  <a:pt x="610731" y="214445"/>
                </a:lnTo>
                <a:lnTo>
                  <a:pt x="626078" y="237087"/>
                </a:lnTo>
                <a:lnTo>
                  <a:pt x="648841" y="252353"/>
                </a:lnTo>
                <a:lnTo>
                  <a:pt x="676716" y="257951"/>
                </a:lnTo>
                <a:lnTo>
                  <a:pt x="781529" y="257951"/>
                </a:lnTo>
                <a:lnTo>
                  <a:pt x="781529" y="262714"/>
                </a:lnTo>
                <a:lnTo>
                  <a:pt x="748429" y="262714"/>
                </a:lnTo>
                <a:lnTo>
                  <a:pt x="713590" y="284327"/>
                </a:lnTo>
                <a:lnTo>
                  <a:pt x="674483" y="290963"/>
                </a:lnTo>
                <a:close/>
              </a:path>
              <a:path w="1739900" h="368300">
                <a:moveTo>
                  <a:pt x="575022" y="115125"/>
                </a:moveTo>
                <a:lnTo>
                  <a:pt x="447432" y="115125"/>
                </a:lnTo>
                <a:lnTo>
                  <a:pt x="447432" y="83101"/>
                </a:lnTo>
                <a:lnTo>
                  <a:pt x="575022" y="83101"/>
                </a:lnTo>
                <a:lnTo>
                  <a:pt x="575022" y="115125"/>
                </a:lnTo>
                <a:close/>
              </a:path>
              <a:path w="1739900" h="368300">
                <a:moveTo>
                  <a:pt x="781529" y="110742"/>
                </a:moveTo>
                <a:lnTo>
                  <a:pt x="748429" y="110742"/>
                </a:lnTo>
                <a:lnTo>
                  <a:pt x="748429" y="83521"/>
                </a:lnTo>
                <a:lnTo>
                  <a:pt x="781529" y="83521"/>
                </a:lnTo>
                <a:lnTo>
                  <a:pt x="781529" y="110742"/>
                </a:lnTo>
                <a:close/>
              </a:path>
              <a:path w="1739900" h="368300">
                <a:moveTo>
                  <a:pt x="568241" y="285671"/>
                </a:moveTo>
                <a:lnTo>
                  <a:pt x="529728" y="285671"/>
                </a:lnTo>
                <a:lnTo>
                  <a:pt x="511643" y="282027"/>
                </a:lnTo>
                <a:lnTo>
                  <a:pt x="496873" y="272118"/>
                </a:lnTo>
                <a:lnTo>
                  <a:pt x="486911" y="257426"/>
                </a:lnTo>
                <a:lnTo>
                  <a:pt x="483248" y="239437"/>
                </a:lnTo>
                <a:lnTo>
                  <a:pt x="483127" y="115125"/>
                </a:lnTo>
                <a:lnTo>
                  <a:pt x="516287" y="115125"/>
                </a:lnTo>
                <a:lnTo>
                  <a:pt x="516287" y="246810"/>
                </a:lnTo>
                <a:lnTo>
                  <a:pt x="522296" y="252787"/>
                </a:lnTo>
                <a:lnTo>
                  <a:pt x="568241" y="252787"/>
                </a:lnTo>
                <a:lnTo>
                  <a:pt x="568241" y="285671"/>
                </a:lnTo>
                <a:close/>
              </a:path>
              <a:path w="1739900" h="368300">
                <a:moveTo>
                  <a:pt x="781529" y="257951"/>
                </a:moveTo>
                <a:lnTo>
                  <a:pt x="676716" y="257951"/>
                </a:lnTo>
                <a:lnTo>
                  <a:pt x="690752" y="256569"/>
                </a:lnTo>
                <a:lnTo>
                  <a:pt x="704121" y="252528"/>
                </a:lnTo>
                <a:lnTo>
                  <a:pt x="736296" y="226238"/>
                </a:lnTo>
                <a:lnTo>
                  <a:pt x="748328" y="186718"/>
                </a:lnTo>
                <a:lnTo>
                  <a:pt x="742700" y="158991"/>
                </a:lnTo>
                <a:lnTo>
                  <a:pt x="727353" y="136349"/>
                </a:lnTo>
                <a:lnTo>
                  <a:pt x="704591" y="121083"/>
                </a:lnTo>
                <a:lnTo>
                  <a:pt x="676716" y="115485"/>
                </a:lnTo>
                <a:lnTo>
                  <a:pt x="781529" y="115485"/>
                </a:lnTo>
                <a:lnTo>
                  <a:pt x="781529" y="257951"/>
                </a:lnTo>
                <a:close/>
              </a:path>
              <a:path w="1739900" h="368300">
                <a:moveTo>
                  <a:pt x="781529" y="285671"/>
                </a:moveTo>
                <a:lnTo>
                  <a:pt x="748429" y="285671"/>
                </a:lnTo>
                <a:lnTo>
                  <a:pt x="748429" y="262714"/>
                </a:lnTo>
                <a:lnTo>
                  <a:pt x="781529" y="262714"/>
                </a:lnTo>
                <a:lnTo>
                  <a:pt x="781529" y="285671"/>
                </a:lnTo>
                <a:close/>
              </a:path>
              <a:path w="1739900" h="368300">
                <a:moveTo>
                  <a:pt x="325516" y="290963"/>
                </a:moveTo>
                <a:lnTo>
                  <a:pt x="286721" y="282714"/>
                </a:lnTo>
                <a:lnTo>
                  <a:pt x="252817" y="259678"/>
                </a:lnTo>
                <a:lnTo>
                  <a:pt x="230368" y="225481"/>
                </a:lnTo>
                <a:lnTo>
                  <a:pt x="222885" y="186728"/>
                </a:lnTo>
                <a:lnTo>
                  <a:pt x="230368" y="147975"/>
                </a:lnTo>
                <a:lnTo>
                  <a:pt x="252817" y="113778"/>
                </a:lnTo>
                <a:lnTo>
                  <a:pt x="286721" y="90741"/>
                </a:lnTo>
                <a:lnTo>
                  <a:pt x="325516" y="82493"/>
                </a:lnTo>
                <a:lnTo>
                  <a:pt x="364623" y="89128"/>
                </a:lnTo>
                <a:lnTo>
                  <a:pt x="399462" y="110742"/>
                </a:lnTo>
                <a:lnTo>
                  <a:pt x="432542" y="110742"/>
                </a:lnTo>
                <a:lnTo>
                  <a:pt x="432542" y="115505"/>
                </a:lnTo>
                <a:lnTo>
                  <a:pt x="327749" y="115505"/>
                </a:lnTo>
                <a:lnTo>
                  <a:pt x="299874" y="121103"/>
                </a:lnTo>
                <a:lnTo>
                  <a:pt x="277112" y="136369"/>
                </a:lnTo>
                <a:lnTo>
                  <a:pt x="261764" y="159011"/>
                </a:lnTo>
                <a:lnTo>
                  <a:pt x="256139" y="186728"/>
                </a:lnTo>
                <a:lnTo>
                  <a:pt x="261670" y="214001"/>
                </a:lnTo>
                <a:lnTo>
                  <a:pt x="261764" y="214465"/>
                </a:lnTo>
                <a:lnTo>
                  <a:pt x="277112" y="237107"/>
                </a:lnTo>
                <a:lnTo>
                  <a:pt x="299874" y="252373"/>
                </a:lnTo>
                <a:lnTo>
                  <a:pt x="327749" y="257971"/>
                </a:lnTo>
                <a:lnTo>
                  <a:pt x="432542" y="257971"/>
                </a:lnTo>
                <a:lnTo>
                  <a:pt x="432542" y="262714"/>
                </a:lnTo>
                <a:lnTo>
                  <a:pt x="399462" y="262714"/>
                </a:lnTo>
                <a:lnTo>
                  <a:pt x="364623" y="284327"/>
                </a:lnTo>
                <a:lnTo>
                  <a:pt x="325516" y="290963"/>
                </a:lnTo>
                <a:close/>
              </a:path>
              <a:path w="1739900" h="368300">
                <a:moveTo>
                  <a:pt x="432542" y="110742"/>
                </a:moveTo>
                <a:lnTo>
                  <a:pt x="399462" y="110742"/>
                </a:lnTo>
                <a:lnTo>
                  <a:pt x="399462" y="83521"/>
                </a:lnTo>
                <a:lnTo>
                  <a:pt x="432542" y="83521"/>
                </a:lnTo>
                <a:lnTo>
                  <a:pt x="432542" y="110742"/>
                </a:lnTo>
                <a:close/>
              </a:path>
              <a:path w="1739900" h="368300">
                <a:moveTo>
                  <a:pt x="432542" y="257971"/>
                </a:moveTo>
                <a:lnTo>
                  <a:pt x="327749" y="257971"/>
                </a:lnTo>
                <a:lnTo>
                  <a:pt x="341787" y="256593"/>
                </a:lnTo>
                <a:lnTo>
                  <a:pt x="355157" y="252554"/>
                </a:lnTo>
                <a:lnTo>
                  <a:pt x="387336" y="226263"/>
                </a:lnTo>
                <a:lnTo>
                  <a:pt x="399359" y="186728"/>
                </a:lnTo>
                <a:lnTo>
                  <a:pt x="393734" y="159011"/>
                </a:lnTo>
                <a:lnTo>
                  <a:pt x="378387" y="136369"/>
                </a:lnTo>
                <a:lnTo>
                  <a:pt x="355624" y="121103"/>
                </a:lnTo>
                <a:lnTo>
                  <a:pt x="327749" y="115505"/>
                </a:lnTo>
                <a:lnTo>
                  <a:pt x="432542" y="115505"/>
                </a:lnTo>
                <a:lnTo>
                  <a:pt x="432542" y="257971"/>
                </a:lnTo>
                <a:close/>
              </a:path>
              <a:path w="1739900" h="368300">
                <a:moveTo>
                  <a:pt x="432542" y="285671"/>
                </a:moveTo>
                <a:lnTo>
                  <a:pt x="399462" y="285671"/>
                </a:lnTo>
                <a:lnTo>
                  <a:pt x="399462" y="262714"/>
                </a:lnTo>
                <a:lnTo>
                  <a:pt x="432542" y="262714"/>
                </a:lnTo>
                <a:lnTo>
                  <a:pt x="432542" y="285671"/>
                </a:lnTo>
                <a:close/>
              </a:path>
            </a:pathLst>
          </a:custGeom>
          <a:solidFill>
            <a:srgbClr val="04182D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7497" y="8167746"/>
            <a:ext cx="332105" cy="430530"/>
          </a:xfrm>
          <a:custGeom>
            <a:avLst/>
            <a:gdLst/>
            <a:ahLst/>
            <a:cxnLst/>
            <a:rect l="l" t="t" r="r" b="b"/>
            <a:pathLst>
              <a:path w="332105" h="430529">
                <a:moveTo>
                  <a:pt x="24621" y="316746"/>
                </a:moveTo>
                <a:lnTo>
                  <a:pt x="18208" y="315587"/>
                </a:lnTo>
                <a:lnTo>
                  <a:pt x="12201" y="312824"/>
                </a:lnTo>
                <a:lnTo>
                  <a:pt x="4601" y="308078"/>
                </a:lnTo>
                <a:lnTo>
                  <a:pt x="0" y="299768"/>
                </a:lnTo>
                <a:lnTo>
                  <a:pt x="13" y="16932"/>
                </a:lnTo>
                <a:lnTo>
                  <a:pt x="4618" y="8639"/>
                </a:lnTo>
                <a:lnTo>
                  <a:pt x="12211" y="3906"/>
                </a:lnTo>
                <a:lnTo>
                  <a:pt x="18214" y="1152"/>
                </a:lnTo>
                <a:lnTo>
                  <a:pt x="24618" y="0"/>
                </a:lnTo>
                <a:lnTo>
                  <a:pt x="31110" y="466"/>
                </a:lnTo>
                <a:lnTo>
                  <a:pt x="37373" y="2569"/>
                </a:lnTo>
                <a:lnTo>
                  <a:pt x="38098" y="2929"/>
                </a:lnTo>
                <a:lnTo>
                  <a:pt x="108327" y="42979"/>
                </a:lnTo>
                <a:lnTo>
                  <a:pt x="35965" y="42979"/>
                </a:lnTo>
                <a:lnTo>
                  <a:pt x="35965" y="273770"/>
                </a:lnTo>
                <a:lnTo>
                  <a:pt x="108660" y="273770"/>
                </a:lnTo>
                <a:lnTo>
                  <a:pt x="38420" y="313659"/>
                </a:lnTo>
                <a:lnTo>
                  <a:pt x="37393" y="314180"/>
                </a:lnTo>
                <a:lnTo>
                  <a:pt x="31121" y="316282"/>
                </a:lnTo>
                <a:lnTo>
                  <a:pt x="24621" y="316746"/>
                </a:lnTo>
                <a:close/>
              </a:path>
              <a:path w="332105" h="430529">
                <a:moveTo>
                  <a:pt x="108660" y="273770"/>
                </a:moveTo>
                <a:lnTo>
                  <a:pt x="35965" y="273770"/>
                </a:lnTo>
                <a:lnTo>
                  <a:pt x="147156" y="210683"/>
                </a:lnTo>
                <a:lnTo>
                  <a:pt x="147156" y="106446"/>
                </a:lnTo>
                <a:lnTo>
                  <a:pt x="35965" y="42979"/>
                </a:lnTo>
                <a:lnTo>
                  <a:pt x="108327" y="42979"/>
                </a:lnTo>
                <a:lnTo>
                  <a:pt x="179673" y="83697"/>
                </a:lnTo>
                <a:lnTo>
                  <a:pt x="183113" y="89611"/>
                </a:lnTo>
                <a:lnTo>
                  <a:pt x="183133" y="190288"/>
                </a:lnTo>
                <a:lnTo>
                  <a:pt x="255732" y="190288"/>
                </a:lnTo>
                <a:lnTo>
                  <a:pt x="183133" y="231498"/>
                </a:lnTo>
                <a:lnTo>
                  <a:pt x="183133" y="251953"/>
                </a:lnTo>
                <a:lnTo>
                  <a:pt x="147076" y="251953"/>
                </a:lnTo>
                <a:lnTo>
                  <a:pt x="108660" y="273770"/>
                </a:lnTo>
                <a:close/>
              </a:path>
              <a:path w="332105" h="430529">
                <a:moveTo>
                  <a:pt x="255732" y="190288"/>
                </a:moveTo>
                <a:lnTo>
                  <a:pt x="183133" y="190288"/>
                </a:lnTo>
                <a:lnTo>
                  <a:pt x="295814" y="126340"/>
                </a:lnTo>
                <a:lnTo>
                  <a:pt x="332032" y="146976"/>
                </a:lnTo>
                <a:lnTo>
                  <a:pt x="255732" y="190288"/>
                </a:lnTo>
                <a:close/>
              </a:path>
              <a:path w="332105" h="430529">
                <a:moveTo>
                  <a:pt x="295592" y="430266"/>
                </a:moveTo>
                <a:lnTo>
                  <a:pt x="150555" y="348363"/>
                </a:lnTo>
                <a:lnTo>
                  <a:pt x="147097" y="342438"/>
                </a:lnTo>
                <a:lnTo>
                  <a:pt x="147076" y="251953"/>
                </a:lnTo>
                <a:lnTo>
                  <a:pt x="183133" y="251953"/>
                </a:lnTo>
                <a:lnTo>
                  <a:pt x="183133" y="325448"/>
                </a:lnTo>
                <a:lnTo>
                  <a:pt x="331811" y="409610"/>
                </a:lnTo>
                <a:lnTo>
                  <a:pt x="295592" y="430266"/>
                </a:lnTo>
                <a:close/>
              </a:path>
            </a:pathLst>
          </a:custGeom>
          <a:solidFill>
            <a:srgbClr val="04182D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1F500FBF-8DE9-ACC7-CEAF-2A1469EF4F4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15</a:t>
            </a:fld>
            <a:endParaRPr lang="ko-K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95" dirty="0"/>
              <a:t>NMF</a:t>
            </a:r>
            <a:r>
              <a:rPr spc="-75" dirty="0"/>
              <a:t> </a:t>
            </a:r>
            <a:r>
              <a:rPr spc="-130" dirty="0"/>
              <a:t>components</a:t>
            </a:r>
            <a:r>
              <a:rPr spc="-70" dirty="0"/>
              <a:t> </a:t>
            </a:r>
            <a:r>
              <a:rPr dirty="0"/>
              <a:t>are</a:t>
            </a:r>
            <a:r>
              <a:rPr spc="-70" dirty="0"/>
              <a:t> </a:t>
            </a:r>
            <a:r>
              <a:rPr spc="-85" dirty="0"/>
              <a:t>topics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444" y="2026201"/>
            <a:ext cx="3733749" cy="3896237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395190-0CD4-4CA6-901A-C18EA927926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16</a:t>
            </a:fld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95" dirty="0"/>
              <a:t>NMF</a:t>
            </a:r>
            <a:r>
              <a:rPr spc="-75" dirty="0"/>
              <a:t> </a:t>
            </a:r>
            <a:r>
              <a:rPr spc="-130" dirty="0"/>
              <a:t>components</a:t>
            </a:r>
            <a:r>
              <a:rPr spc="-70" dirty="0"/>
              <a:t> </a:t>
            </a:r>
            <a:r>
              <a:rPr dirty="0"/>
              <a:t>are</a:t>
            </a:r>
            <a:r>
              <a:rPr spc="-70" dirty="0"/>
              <a:t> </a:t>
            </a:r>
            <a:r>
              <a:rPr spc="-85" dirty="0"/>
              <a:t>topics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655" y="2026201"/>
            <a:ext cx="9864043" cy="3896237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A6AC8B-AC28-3025-FBF5-7C8AE831B8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17</a:t>
            </a:fld>
            <a:endParaRPr lang="ko-KR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95" dirty="0"/>
              <a:t>NMF</a:t>
            </a:r>
            <a:r>
              <a:rPr spc="-75" dirty="0"/>
              <a:t> </a:t>
            </a:r>
            <a:r>
              <a:rPr spc="-130" dirty="0"/>
              <a:t>components</a:t>
            </a:r>
            <a:r>
              <a:rPr spc="-70" dirty="0"/>
              <a:t> </a:t>
            </a:r>
            <a:r>
              <a:rPr dirty="0"/>
              <a:t>are</a:t>
            </a:r>
            <a:r>
              <a:rPr spc="-70" dirty="0"/>
              <a:t> </a:t>
            </a:r>
            <a:r>
              <a:rPr spc="-85" dirty="0"/>
              <a:t>topics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655" y="2026201"/>
            <a:ext cx="9864043" cy="3896237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88D441-96BF-4BCF-D2B4-022E9234852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18</a:t>
            </a:fld>
            <a:endParaRPr lang="ko-KR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95" dirty="0"/>
              <a:t>NMF</a:t>
            </a:r>
            <a:r>
              <a:rPr spc="-75" dirty="0"/>
              <a:t> </a:t>
            </a:r>
            <a:r>
              <a:rPr spc="-130" dirty="0"/>
              <a:t>components</a:t>
            </a:r>
            <a:r>
              <a:rPr spc="-70" dirty="0"/>
              <a:t> </a:t>
            </a:r>
            <a:r>
              <a:rPr dirty="0"/>
              <a:t>are</a:t>
            </a:r>
            <a:r>
              <a:rPr spc="-70" dirty="0"/>
              <a:t> </a:t>
            </a:r>
            <a:r>
              <a:rPr spc="-85" dirty="0"/>
              <a:t>topics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8655" y="2026213"/>
            <a:ext cx="9864043" cy="3896237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5429E5-66AA-6D50-B8B3-2F6902A4598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19</a:t>
            </a:fld>
            <a:endParaRPr lang="ko-KR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95" dirty="0"/>
              <a:t>NMF</a:t>
            </a:r>
            <a:r>
              <a:rPr spc="-90" dirty="0"/>
              <a:t> </a:t>
            </a:r>
            <a:r>
              <a:rPr spc="-114" dirty="0"/>
              <a:t>components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9991" y="1832100"/>
            <a:ext cx="122822" cy="1228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991" y="2487152"/>
            <a:ext cx="122822" cy="12282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47056" y="1076324"/>
            <a:ext cx="7729855" cy="231838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For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documents:</a:t>
            </a:r>
            <a:endParaRPr sz="25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810"/>
              </a:spcBef>
            </a:pP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NMF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components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represent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topics</a:t>
            </a:r>
            <a:endParaRPr sz="2550">
              <a:latin typeface="Arial"/>
              <a:cs typeface="Arial"/>
            </a:endParaRPr>
          </a:p>
          <a:p>
            <a:pPr marL="12700" marR="5080" indent="368300">
              <a:lnSpc>
                <a:spcPts val="5160"/>
              </a:lnSpc>
              <a:spcBef>
                <a:spcPts val="320"/>
              </a:spcBef>
            </a:pP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NMF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features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combine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topics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into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documents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For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images,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NMF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components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are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parts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images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152440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289" y="4442074"/>
            <a:ext cx="9887199" cy="1678572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E57F7D2-2533-E8EE-5D51-82F6444A4ED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20</a:t>
            </a:fld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479425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35" dirty="0"/>
              <a:t>Grayscale</a:t>
            </a:r>
            <a:r>
              <a:rPr spc="-225" dirty="0"/>
              <a:t> </a:t>
            </a:r>
            <a:r>
              <a:rPr spc="-25" dirty="0"/>
              <a:t>images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7844155" cy="2383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"Grayscale"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image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=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no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colors,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only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shades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gray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Measure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pixel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brightness</a:t>
            </a:r>
            <a:endParaRPr sz="2550">
              <a:latin typeface="Arial"/>
              <a:cs typeface="Arial"/>
            </a:endParaRPr>
          </a:p>
          <a:p>
            <a:pPr marL="12700" marR="210185">
              <a:lnSpc>
                <a:spcPts val="5160"/>
              </a:lnSpc>
              <a:spcBef>
                <a:spcPts val="32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Represent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with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value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between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310" dirty="0">
                <a:solidFill>
                  <a:srgbClr val="04182D"/>
                </a:solidFill>
                <a:latin typeface="Arial"/>
                <a:cs typeface="Arial"/>
              </a:rPr>
              <a:t>0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484" dirty="0">
                <a:solidFill>
                  <a:srgbClr val="04182D"/>
                </a:solidFill>
                <a:latin typeface="Arial"/>
                <a:cs typeface="Arial"/>
              </a:rPr>
              <a:t>1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Arial"/>
                <a:cs typeface="Arial"/>
              </a:rPr>
              <a:t>(0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is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black)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Convert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2D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array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203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289" y="3787022"/>
            <a:ext cx="9887199" cy="2087980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EACBC781-C277-F862-7917-7E433CEDC0C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21</a:t>
            </a:fld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35" dirty="0"/>
              <a:t>Grayscale</a:t>
            </a:r>
            <a:r>
              <a:rPr spc="-185" dirty="0"/>
              <a:t> </a:t>
            </a:r>
            <a:r>
              <a:rPr dirty="0"/>
              <a:t>image</a:t>
            </a:r>
            <a:r>
              <a:rPr spc="-170" dirty="0"/>
              <a:t> </a:t>
            </a:r>
            <a:r>
              <a:rPr spc="-10" dirty="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879919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An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8×8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grayscale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image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moon,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written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as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an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array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289" y="2640680"/>
            <a:ext cx="9887199" cy="2824913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B476D4-CED0-02BB-3D45-2BE2CB598D0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22</a:t>
            </a:fld>
            <a:endParaRPr lang="ko-KR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35" dirty="0"/>
              <a:t>Grayscale</a:t>
            </a:r>
            <a:r>
              <a:rPr spc="-215" dirty="0"/>
              <a:t> </a:t>
            </a:r>
            <a:r>
              <a:rPr spc="-65" dirty="0"/>
              <a:t>images</a:t>
            </a:r>
            <a:r>
              <a:rPr spc="-200" dirty="0"/>
              <a:t> </a:t>
            </a:r>
            <a:r>
              <a:rPr spc="-20" dirty="0"/>
              <a:t>as</a:t>
            </a:r>
            <a:r>
              <a:rPr spc="-204" dirty="0"/>
              <a:t> </a:t>
            </a:r>
            <a:r>
              <a:rPr spc="80" dirty="0"/>
              <a:t>flat</a:t>
            </a:r>
            <a:r>
              <a:rPr spc="-200" dirty="0"/>
              <a:t> </a:t>
            </a:r>
            <a:r>
              <a:rPr spc="-10" dirty="0"/>
              <a:t>arrays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4895850" cy="17291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Enumerate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entries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Row-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by-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row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From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left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right,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top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bottom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6857" y="3224383"/>
            <a:ext cx="9668252" cy="2633800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4854E2CA-466F-89A1-460D-114A585A7F4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23</a:t>
            </a:fld>
            <a:endParaRPr lang="ko-KR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846328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30" dirty="0"/>
              <a:t>Encoding</a:t>
            </a:r>
            <a:r>
              <a:rPr spc="-140" dirty="0"/>
              <a:t> </a:t>
            </a:r>
            <a:r>
              <a:rPr spc="250" dirty="0"/>
              <a:t>a</a:t>
            </a:r>
            <a:r>
              <a:rPr spc="-135" dirty="0"/>
              <a:t> </a:t>
            </a:r>
            <a:r>
              <a:rPr spc="-90" dirty="0"/>
              <a:t>collection</a:t>
            </a:r>
            <a:r>
              <a:rPr spc="-140" dirty="0"/>
              <a:t> </a:t>
            </a:r>
            <a:r>
              <a:rPr dirty="0"/>
              <a:t>of</a:t>
            </a:r>
            <a:r>
              <a:rPr spc="-135" dirty="0"/>
              <a:t> </a:t>
            </a:r>
            <a:r>
              <a:rPr spc="-10" dirty="0"/>
              <a:t>images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5805170" cy="3039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Collection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images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same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20" dirty="0">
                <a:solidFill>
                  <a:srgbClr val="04182D"/>
                </a:solidFill>
                <a:latin typeface="Arial"/>
                <a:cs typeface="Arial"/>
              </a:rPr>
              <a:t>size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Encode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as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2D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array</a:t>
            </a:r>
            <a:endParaRPr sz="2550">
              <a:latin typeface="Arial"/>
              <a:cs typeface="Arial"/>
            </a:endParaRPr>
          </a:p>
          <a:p>
            <a:pPr marL="12700" marR="310515">
              <a:lnSpc>
                <a:spcPts val="5160"/>
              </a:lnSpc>
              <a:spcBef>
                <a:spcPts val="52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Each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row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corresponds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an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image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Each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column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corresponds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pixel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...</a:t>
            </a:r>
            <a:r>
              <a:rPr sz="2550" spc="-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can</a:t>
            </a:r>
            <a:r>
              <a:rPr sz="2550" spc="-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Arial"/>
                <a:cs typeface="Arial"/>
              </a:rPr>
              <a:t>apply</a:t>
            </a:r>
            <a:r>
              <a:rPr sz="2550" spc="-20" dirty="0">
                <a:solidFill>
                  <a:srgbClr val="04182D"/>
                </a:solidFill>
                <a:latin typeface="Arial"/>
                <a:cs typeface="Arial"/>
              </a:rPr>
              <a:t> NMF!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203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971256"/>
            <a:ext cx="102352" cy="10235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20210" y="4442074"/>
            <a:ext cx="5629357" cy="2845384"/>
          </a:xfrm>
          <a:prstGeom prst="rect">
            <a:avLst/>
          </a:prstGeom>
        </p:spPr>
      </p:pic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8D37B42D-21E3-13AB-6766-7241A7C83CC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24</a:t>
            </a:fld>
            <a:endParaRPr lang="ko-KR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514159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50" dirty="0"/>
              <a:t>Visualizing</a:t>
            </a:r>
            <a:r>
              <a:rPr spc="-105" dirty="0"/>
              <a:t> </a:t>
            </a:r>
            <a:r>
              <a:rPr spc="-100" dirty="0"/>
              <a:t>samples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9887585" cy="675640"/>
          </a:xfrm>
          <a:custGeom>
            <a:avLst/>
            <a:gdLst/>
            <a:ahLst/>
            <a:cxnLst/>
            <a:rect l="l" t="t" r="r" b="b"/>
            <a:pathLst>
              <a:path w="9887585" h="675639">
                <a:moveTo>
                  <a:pt x="9810694" y="675522"/>
                </a:moveTo>
                <a:lnTo>
                  <a:pt x="76505" y="675522"/>
                </a:lnTo>
                <a:lnTo>
                  <a:pt x="71180" y="674998"/>
                </a:lnTo>
                <a:lnTo>
                  <a:pt x="31920" y="658736"/>
                </a:lnTo>
                <a:lnTo>
                  <a:pt x="4175" y="620008"/>
                </a:lnTo>
                <a:lnTo>
                  <a:pt x="0" y="599017"/>
                </a:lnTo>
                <a:lnTo>
                  <a:pt x="0" y="593641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599017"/>
                </a:lnTo>
                <a:lnTo>
                  <a:pt x="9870412" y="643602"/>
                </a:lnTo>
                <a:lnTo>
                  <a:pt x="9831684" y="671347"/>
                </a:lnTo>
                <a:lnTo>
                  <a:pt x="9816018" y="674998"/>
                </a:lnTo>
                <a:lnTo>
                  <a:pt x="9810694" y="675522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087980"/>
            <a:ext cx="9887585" cy="696595"/>
          </a:xfrm>
          <a:custGeom>
            <a:avLst/>
            <a:gdLst/>
            <a:ahLst/>
            <a:cxnLst/>
            <a:rect l="l" t="t" r="r" b="b"/>
            <a:pathLst>
              <a:path w="9887585" h="696594">
                <a:moveTo>
                  <a:pt x="9810694" y="695993"/>
                </a:moveTo>
                <a:lnTo>
                  <a:pt x="76505" y="695993"/>
                </a:lnTo>
                <a:lnTo>
                  <a:pt x="71180" y="695468"/>
                </a:lnTo>
                <a:lnTo>
                  <a:pt x="31920" y="679206"/>
                </a:lnTo>
                <a:lnTo>
                  <a:pt x="4175" y="640478"/>
                </a:lnTo>
                <a:lnTo>
                  <a:pt x="0" y="619488"/>
                </a:lnTo>
                <a:lnTo>
                  <a:pt x="0" y="614111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619488"/>
                </a:lnTo>
                <a:lnTo>
                  <a:pt x="9870412" y="664072"/>
                </a:lnTo>
                <a:lnTo>
                  <a:pt x="9831684" y="691817"/>
                </a:lnTo>
                <a:lnTo>
                  <a:pt x="9816018" y="695468"/>
                </a:lnTo>
                <a:lnTo>
                  <a:pt x="9810694" y="695993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1289" y="3029617"/>
            <a:ext cx="9887585" cy="1044575"/>
          </a:xfrm>
          <a:custGeom>
            <a:avLst/>
            <a:gdLst/>
            <a:ahLst/>
            <a:cxnLst/>
            <a:rect l="l" t="t" r="r" b="b"/>
            <a:pathLst>
              <a:path w="9887585" h="1044575">
                <a:moveTo>
                  <a:pt x="9810694" y="1043990"/>
                </a:moveTo>
                <a:lnTo>
                  <a:pt x="76505" y="1043990"/>
                </a:lnTo>
                <a:lnTo>
                  <a:pt x="71180" y="1043465"/>
                </a:lnTo>
                <a:lnTo>
                  <a:pt x="31920" y="1027202"/>
                </a:lnTo>
                <a:lnTo>
                  <a:pt x="4175" y="988475"/>
                </a:lnTo>
                <a:lnTo>
                  <a:pt x="0" y="967484"/>
                </a:lnTo>
                <a:lnTo>
                  <a:pt x="0" y="962108"/>
                </a:lnTo>
                <a:lnTo>
                  <a:pt x="0" y="76504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4"/>
                </a:lnTo>
                <a:lnTo>
                  <a:pt x="9887199" y="967484"/>
                </a:lnTo>
                <a:lnTo>
                  <a:pt x="9870412" y="1012069"/>
                </a:lnTo>
                <a:lnTo>
                  <a:pt x="9831684" y="1039814"/>
                </a:lnTo>
                <a:lnTo>
                  <a:pt x="9816018" y="1043465"/>
                </a:lnTo>
                <a:lnTo>
                  <a:pt x="9810694" y="1043990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1289" y="4319252"/>
            <a:ext cx="9887585" cy="1044575"/>
          </a:xfrm>
          <a:custGeom>
            <a:avLst/>
            <a:gdLst/>
            <a:ahLst/>
            <a:cxnLst/>
            <a:rect l="l" t="t" r="r" b="b"/>
            <a:pathLst>
              <a:path w="9887585" h="1044575">
                <a:moveTo>
                  <a:pt x="9810694" y="1043989"/>
                </a:moveTo>
                <a:lnTo>
                  <a:pt x="76505" y="1043989"/>
                </a:lnTo>
                <a:lnTo>
                  <a:pt x="71180" y="1043465"/>
                </a:lnTo>
                <a:lnTo>
                  <a:pt x="31920" y="1027202"/>
                </a:lnTo>
                <a:lnTo>
                  <a:pt x="4175" y="988475"/>
                </a:lnTo>
                <a:lnTo>
                  <a:pt x="0" y="967484"/>
                </a:lnTo>
                <a:lnTo>
                  <a:pt x="0" y="962108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5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967484"/>
                </a:lnTo>
                <a:lnTo>
                  <a:pt x="9870412" y="1012069"/>
                </a:lnTo>
                <a:lnTo>
                  <a:pt x="9831684" y="1039813"/>
                </a:lnTo>
                <a:lnTo>
                  <a:pt x="9816018" y="1043465"/>
                </a:lnTo>
                <a:lnTo>
                  <a:pt x="9810694" y="1043989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491289" y="5608887"/>
            <a:ext cx="9887585" cy="1433195"/>
            <a:chOff x="491289" y="5608887"/>
            <a:chExt cx="9887585" cy="1433195"/>
          </a:xfrm>
        </p:grpSpPr>
        <p:sp>
          <p:nvSpPr>
            <p:cNvPr id="8" name="object 8"/>
            <p:cNvSpPr/>
            <p:nvPr/>
          </p:nvSpPr>
          <p:spPr>
            <a:xfrm>
              <a:off x="491289" y="5608887"/>
              <a:ext cx="9887585" cy="1433195"/>
            </a:xfrm>
            <a:custGeom>
              <a:avLst/>
              <a:gdLst/>
              <a:ahLst/>
              <a:cxnLst/>
              <a:rect l="l" t="t" r="r" b="b"/>
              <a:pathLst>
                <a:path w="9887585" h="1433195">
                  <a:moveTo>
                    <a:pt x="9810694" y="1432927"/>
                  </a:moveTo>
                  <a:lnTo>
                    <a:pt x="76505" y="1432927"/>
                  </a:lnTo>
                  <a:lnTo>
                    <a:pt x="71180" y="1432402"/>
                  </a:lnTo>
                  <a:lnTo>
                    <a:pt x="31920" y="1416140"/>
                  </a:lnTo>
                  <a:lnTo>
                    <a:pt x="4175" y="1377412"/>
                  </a:lnTo>
                  <a:lnTo>
                    <a:pt x="0" y="1356422"/>
                  </a:lnTo>
                  <a:lnTo>
                    <a:pt x="0" y="1351045"/>
                  </a:lnTo>
                  <a:lnTo>
                    <a:pt x="0" y="76504"/>
                  </a:lnTo>
                  <a:lnTo>
                    <a:pt x="16786" y="31919"/>
                  </a:lnTo>
                  <a:lnTo>
                    <a:pt x="55513" y="4174"/>
                  </a:lnTo>
                  <a:lnTo>
                    <a:pt x="76505" y="0"/>
                  </a:lnTo>
                  <a:lnTo>
                    <a:pt x="9810694" y="0"/>
                  </a:lnTo>
                  <a:lnTo>
                    <a:pt x="9855278" y="16785"/>
                  </a:lnTo>
                  <a:lnTo>
                    <a:pt x="9883023" y="55513"/>
                  </a:lnTo>
                  <a:lnTo>
                    <a:pt x="9887199" y="76504"/>
                  </a:lnTo>
                  <a:lnTo>
                    <a:pt x="9887199" y="1356422"/>
                  </a:lnTo>
                  <a:lnTo>
                    <a:pt x="9870412" y="1401006"/>
                  </a:lnTo>
                  <a:lnTo>
                    <a:pt x="9831684" y="1428751"/>
                  </a:lnTo>
                  <a:lnTo>
                    <a:pt x="9816018" y="1432402"/>
                  </a:lnTo>
                  <a:lnTo>
                    <a:pt x="9810694" y="1432927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1184" y="5826493"/>
              <a:ext cx="4537710" cy="234950"/>
            </a:xfrm>
            <a:custGeom>
              <a:avLst/>
              <a:gdLst/>
              <a:ahLst/>
              <a:cxnLst/>
              <a:rect l="l" t="t" r="r" b="b"/>
              <a:pathLst>
                <a:path w="4537710" h="234950">
                  <a:moveTo>
                    <a:pt x="122821" y="8293"/>
                  </a:moveTo>
                  <a:lnTo>
                    <a:pt x="77470" y="8293"/>
                  </a:lnTo>
                  <a:lnTo>
                    <a:pt x="68973" y="8940"/>
                  </a:lnTo>
                  <a:lnTo>
                    <a:pt x="38747" y="37680"/>
                  </a:lnTo>
                  <a:lnTo>
                    <a:pt x="38036" y="46050"/>
                  </a:lnTo>
                  <a:lnTo>
                    <a:pt x="38036" y="53708"/>
                  </a:lnTo>
                  <a:lnTo>
                    <a:pt x="0" y="53708"/>
                  </a:lnTo>
                  <a:lnTo>
                    <a:pt x="0" y="83096"/>
                  </a:lnTo>
                  <a:lnTo>
                    <a:pt x="38036" y="83096"/>
                  </a:lnTo>
                  <a:lnTo>
                    <a:pt x="38036" y="191808"/>
                  </a:lnTo>
                  <a:lnTo>
                    <a:pt x="69342" y="191808"/>
                  </a:lnTo>
                  <a:lnTo>
                    <a:pt x="69342" y="83096"/>
                  </a:lnTo>
                  <a:lnTo>
                    <a:pt x="122821" y="83096"/>
                  </a:lnTo>
                  <a:lnTo>
                    <a:pt x="122821" y="53708"/>
                  </a:lnTo>
                  <a:lnTo>
                    <a:pt x="69342" y="53708"/>
                  </a:lnTo>
                  <a:lnTo>
                    <a:pt x="69342" y="43065"/>
                  </a:lnTo>
                  <a:lnTo>
                    <a:pt x="70002" y="41033"/>
                  </a:lnTo>
                  <a:lnTo>
                    <a:pt x="72669" y="38366"/>
                  </a:lnTo>
                  <a:lnTo>
                    <a:pt x="74726" y="37680"/>
                  </a:lnTo>
                  <a:lnTo>
                    <a:pt x="122821" y="37680"/>
                  </a:lnTo>
                  <a:lnTo>
                    <a:pt x="122821" y="8293"/>
                  </a:lnTo>
                  <a:close/>
                </a:path>
                <a:path w="4537710" h="234950">
                  <a:moveTo>
                    <a:pt x="265176" y="101739"/>
                  </a:moveTo>
                  <a:lnTo>
                    <a:pt x="251536" y="63182"/>
                  </a:lnTo>
                  <a:lnTo>
                    <a:pt x="215061" y="48717"/>
                  </a:lnTo>
                  <a:lnTo>
                    <a:pt x="200952" y="50634"/>
                  </a:lnTo>
                  <a:lnTo>
                    <a:pt x="190500" y="56388"/>
                  </a:lnTo>
                  <a:lnTo>
                    <a:pt x="183705" y="65963"/>
                  </a:lnTo>
                  <a:lnTo>
                    <a:pt x="180568" y="79375"/>
                  </a:lnTo>
                  <a:lnTo>
                    <a:pt x="180644" y="78968"/>
                  </a:lnTo>
                  <a:lnTo>
                    <a:pt x="185508" y="51092"/>
                  </a:lnTo>
                  <a:lnTo>
                    <a:pt x="154724" y="51092"/>
                  </a:lnTo>
                  <a:lnTo>
                    <a:pt x="154724" y="191808"/>
                  </a:lnTo>
                  <a:lnTo>
                    <a:pt x="185966" y="191808"/>
                  </a:lnTo>
                  <a:lnTo>
                    <a:pt x="186016" y="94729"/>
                  </a:lnTo>
                  <a:lnTo>
                    <a:pt x="187426" y="90284"/>
                  </a:lnTo>
                  <a:lnTo>
                    <a:pt x="188252" y="88036"/>
                  </a:lnTo>
                  <a:lnTo>
                    <a:pt x="196215" y="79375"/>
                  </a:lnTo>
                  <a:lnTo>
                    <a:pt x="196659" y="78968"/>
                  </a:lnTo>
                  <a:lnTo>
                    <a:pt x="202476" y="76708"/>
                  </a:lnTo>
                  <a:lnTo>
                    <a:pt x="217817" y="76708"/>
                  </a:lnTo>
                  <a:lnTo>
                    <a:pt x="223710" y="78968"/>
                  </a:lnTo>
                  <a:lnTo>
                    <a:pt x="231889" y="88036"/>
                  </a:lnTo>
                  <a:lnTo>
                    <a:pt x="233934" y="94729"/>
                  </a:lnTo>
                  <a:lnTo>
                    <a:pt x="233934" y="114515"/>
                  </a:lnTo>
                  <a:lnTo>
                    <a:pt x="265176" y="114515"/>
                  </a:lnTo>
                  <a:lnTo>
                    <a:pt x="265176" y="101739"/>
                  </a:lnTo>
                  <a:close/>
                </a:path>
                <a:path w="4537710" h="234950">
                  <a:moveTo>
                    <a:pt x="402539" y="103365"/>
                  </a:moveTo>
                  <a:lnTo>
                    <a:pt x="387502" y="63461"/>
                  </a:lnTo>
                  <a:lnTo>
                    <a:pt x="371297" y="53073"/>
                  </a:lnTo>
                  <a:lnTo>
                    <a:pt x="371297" y="94919"/>
                  </a:lnTo>
                  <a:lnTo>
                    <a:pt x="371297" y="147980"/>
                  </a:lnTo>
                  <a:lnTo>
                    <a:pt x="369252" y="154482"/>
                  </a:lnTo>
                  <a:lnTo>
                    <a:pt x="361073" y="163118"/>
                  </a:lnTo>
                  <a:lnTo>
                    <a:pt x="355092" y="165265"/>
                  </a:lnTo>
                  <a:lnTo>
                    <a:pt x="339267" y="165265"/>
                  </a:lnTo>
                  <a:lnTo>
                    <a:pt x="333260" y="163118"/>
                  </a:lnTo>
                  <a:lnTo>
                    <a:pt x="325132" y="154482"/>
                  </a:lnTo>
                  <a:lnTo>
                    <a:pt x="323100" y="147980"/>
                  </a:lnTo>
                  <a:lnTo>
                    <a:pt x="323100" y="94919"/>
                  </a:lnTo>
                  <a:lnTo>
                    <a:pt x="325132" y="88442"/>
                  </a:lnTo>
                  <a:lnTo>
                    <a:pt x="333260" y="79806"/>
                  </a:lnTo>
                  <a:lnTo>
                    <a:pt x="339267" y="77635"/>
                  </a:lnTo>
                  <a:lnTo>
                    <a:pt x="355092" y="77635"/>
                  </a:lnTo>
                  <a:lnTo>
                    <a:pt x="361073" y="79806"/>
                  </a:lnTo>
                  <a:lnTo>
                    <a:pt x="365137" y="84137"/>
                  </a:lnTo>
                  <a:lnTo>
                    <a:pt x="369252" y="88442"/>
                  </a:lnTo>
                  <a:lnTo>
                    <a:pt x="359206" y="49644"/>
                  </a:lnTo>
                  <a:lnTo>
                    <a:pt x="347192" y="48717"/>
                  </a:lnTo>
                  <a:lnTo>
                    <a:pt x="335153" y="49644"/>
                  </a:lnTo>
                  <a:lnTo>
                    <a:pt x="300240" y="71488"/>
                  </a:lnTo>
                  <a:lnTo>
                    <a:pt x="291795" y="139306"/>
                  </a:lnTo>
                  <a:lnTo>
                    <a:pt x="292735" y="151333"/>
                  </a:lnTo>
                  <a:lnTo>
                    <a:pt x="314947" y="185889"/>
                  </a:lnTo>
                  <a:lnTo>
                    <a:pt x="347192" y="194183"/>
                  </a:lnTo>
                  <a:lnTo>
                    <a:pt x="359206" y="193268"/>
                  </a:lnTo>
                  <a:lnTo>
                    <a:pt x="394081" y="171399"/>
                  </a:lnTo>
                  <a:lnTo>
                    <a:pt x="397154" y="165265"/>
                  </a:lnTo>
                  <a:lnTo>
                    <a:pt x="398780" y="162026"/>
                  </a:lnTo>
                  <a:lnTo>
                    <a:pt x="401599" y="151333"/>
                  </a:lnTo>
                  <a:lnTo>
                    <a:pt x="402539" y="139306"/>
                  </a:lnTo>
                  <a:lnTo>
                    <a:pt x="402539" y="103365"/>
                  </a:lnTo>
                  <a:close/>
                </a:path>
                <a:path w="4537710" h="234950">
                  <a:moveTo>
                    <a:pt x="550354" y="87452"/>
                  </a:moveTo>
                  <a:lnTo>
                    <a:pt x="549846" y="79311"/>
                  </a:lnTo>
                  <a:lnTo>
                    <a:pt x="548957" y="75018"/>
                  </a:lnTo>
                  <a:lnTo>
                    <a:pt x="548322" y="71945"/>
                  </a:lnTo>
                  <a:lnTo>
                    <a:pt x="547712" y="70383"/>
                  </a:lnTo>
                  <a:lnTo>
                    <a:pt x="547611" y="70091"/>
                  </a:lnTo>
                  <a:lnTo>
                    <a:pt x="545782" y="65366"/>
                  </a:lnTo>
                  <a:lnTo>
                    <a:pt x="542213" y="59563"/>
                  </a:lnTo>
                  <a:lnTo>
                    <a:pt x="536841" y="52336"/>
                  </a:lnTo>
                  <a:lnTo>
                    <a:pt x="529272" y="48717"/>
                  </a:lnTo>
                  <a:lnTo>
                    <a:pt x="512584" y="48717"/>
                  </a:lnTo>
                  <a:lnTo>
                    <a:pt x="507047" y="50634"/>
                  </a:lnTo>
                  <a:lnTo>
                    <a:pt x="506336" y="51092"/>
                  </a:lnTo>
                  <a:lnTo>
                    <a:pt x="498551" y="57772"/>
                  </a:lnTo>
                  <a:lnTo>
                    <a:pt x="498551" y="63627"/>
                  </a:lnTo>
                  <a:lnTo>
                    <a:pt x="498525" y="63931"/>
                  </a:lnTo>
                  <a:lnTo>
                    <a:pt x="497903" y="70091"/>
                  </a:lnTo>
                  <a:lnTo>
                    <a:pt x="498551" y="63627"/>
                  </a:lnTo>
                  <a:lnTo>
                    <a:pt x="498551" y="57772"/>
                  </a:lnTo>
                  <a:lnTo>
                    <a:pt x="497357" y="58788"/>
                  </a:lnTo>
                  <a:lnTo>
                    <a:pt x="497103" y="59563"/>
                  </a:lnTo>
                  <a:lnTo>
                    <a:pt x="496646" y="58254"/>
                  </a:lnTo>
                  <a:lnTo>
                    <a:pt x="495909" y="57645"/>
                  </a:lnTo>
                  <a:lnTo>
                    <a:pt x="495909" y="65366"/>
                  </a:lnTo>
                  <a:lnTo>
                    <a:pt x="495693" y="63931"/>
                  </a:lnTo>
                  <a:lnTo>
                    <a:pt x="495795" y="63627"/>
                  </a:lnTo>
                  <a:lnTo>
                    <a:pt x="495909" y="65366"/>
                  </a:lnTo>
                  <a:lnTo>
                    <a:pt x="495909" y="57645"/>
                  </a:lnTo>
                  <a:lnTo>
                    <a:pt x="492112" y="54470"/>
                  </a:lnTo>
                  <a:lnTo>
                    <a:pt x="487616" y="50634"/>
                  </a:lnTo>
                  <a:lnTo>
                    <a:pt x="482079" y="48717"/>
                  </a:lnTo>
                  <a:lnTo>
                    <a:pt x="468566" y="48717"/>
                  </a:lnTo>
                  <a:lnTo>
                    <a:pt x="463118" y="50634"/>
                  </a:lnTo>
                  <a:lnTo>
                    <a:pt x="462381" y="51092"/>
                  </a:lnTo>
                  <a:lnTo>
                    <a:pt x="456984" y="55803"/>
                  </a:lnTo>
                  <a:lnTo>
                    <a:pt x="457847" y="51092"/>
                  </a:lnTo>
                  <a:lnTo>
                    <a:pt x="452005" y="51092"/>
                  </a:lnTo>
                  <a:lnTo>
                    <a:pt x="452005" y="65341"/>
                  </a:lnTo>
                  <a:lnTo>
                    <a:pt x="451751" y="63931"/>
                  </a:lnTo>
                  <a:lnTo>
                    <a:pt x="451853" y="63627"/>
                  </a:lnTo>
                  <a:lnTo>
                    <a:pt x="451878" y="63931"/>
                  </a:lnTo>
                  <a:lnTo>
                    <a:pt x="452005" y="65341"/>
                  </a:lnTo>
                  <a:lnTo>
                    <a:pt x="452005" y="51092"/>
                  </a:lnTo>
                  <a:lnTo>
                    <a:pt x="429158" y="51092"/>
                  </a:lnTo>
                  <a:lnTo>
                    <a:pt x="429158" y="191808"/>
                  </a:lnTo>
                  <a:lnTo>
                    <a:pt x="458774" y="191808"/>
                  </a:lnTo>
                  <a:lnTo>
                    <a:pt x="458774" y="82689"/>
                  </a:lnTo>
                  <a:lnTo>
                    <a:pt x="459498" y="79629"/>
                  </a:lnTo>
                  <a:lnTo>
                    <a:pt x="462394" y="75958"/>
                  </a:lnTo>
                  <a:lnTo>
                    <a:pt x="464489" y="75018"/>
                  </a:lnTo>
                  <a:lnTo>
                    <a:pt x="470065" y="75018"/>
                  </a:lnTo>
                  <a:lnTo>
                    <a:pt x="472160" y="75958"/>
                  </a:lnTo>
                  <a:lnTo>
                    <a:pt x="475221" y="79629"/>
                  </a:lnTo>
                  <a:lnTo>
                    <a:pt x="476173" y="82689"/>
                  </a:lnTo>
                  <a:lnTo>
                    <a:pt x="476250" y="191808"/>
                  </a:lnTo>
                  <a:lnTo>
                    <a:pt x="503262" y="191808"/>
                  </a:lnTo>
                  <a:lnTo>
                    <a:pt x="503275" y="82689"/>
                  </a:lnTo>
                  <a:lnTo>
                    <a:pt x="504139" y="79629"/>
                  </a:lnTo>
                  <a:lnTo>
                    <a:pt x="507276" y="75958"/>
                  </a:lnTo>
                  <a:lnTo>
                    <a:pt x="509397" y="75018"/>
                  </a:lnTo>
                  <a:lnTo>
                    <a:pt x="514972" y="75018"/>
                  </a:lnTo>
                  <a:lnTo>
                    <a:pt x="517017" y="75958"/>
                  </a:lnTo>
                  <a:lnTo>
                    <a:pt x="519836" y="79629"/>
                  </a:lnTo>
                  <a:lnTo>
                    <a:pt x="520674" y="82689"/>
                  </a:lnTo>
                  <a:lnTo>
                    <a:pt x="520738" y="191808"/>
                  </a:lnTo>
                  <a:lnTo>
                    <a:pt x="550354" y="191808"/>
                  </a:lnTo>
                  <a:lnTo>
                    <a:pt x="550354" y="87452"/>
                  </a:lnTo>
                  <a:close/>
                </a:path>
                <a:path w="4537710" h="234950">
                  <a:moveTo>
                    <a:pt x="2368334" y="13703"/>
                  </a:moveTo>
                  <a:lnTo>
                    <a:pt x="2366416" y="9055"/>
                  </a:lnTo>
                  <a:lnTo>
                    <a:pt x="2358758" y="1816"/>
                  </a:lnTo>
                  <a:lnTo>
                    <a:pt x="2353881" y="0"/>
                  </a:lnTo>
                  <a:lnTo>
                    <a:pt x="2337270" y="0"/>
                  </a:lnTo>
                  <a:lnTo>
                    <a:pt x="2332393" y="1816"/>
                  </a:lnTo>
                  <a:lnTo>
                    <a:pt x="2324722" y="9055"/>
                  </a:lnTo>
                  <a:lnTo>
                    <a:pt x="2322804" y="13703"/>
                  </a:lnTo>
                  <a:lnTo>
                    <a:pt x="2322804" y="25120"/>
                  </a:lnTo>
                  <a:lnTo>
                    <a:pt x="2324684" y="29730"/>
                  </a:lnTo>
                  <a:lnTo>
                    <a:pt x="2328443" y="33210"/>
                  </a:lnTo>
                  <a:lnTo>
                    <a:pt x="2332240" y="36652"/>
                  </a:lnTo>
                  <a:lnTo>
                    <a:pt x="2337155" y="38379"/>
                  </a:lnTo>
                  <a:lnTo>
                    <a:pt x="2353805" y="38379"/>
                  </a:lnTo>
                  <a:lnTo>
                    <a:pt x="2358656" y="36652"/>
                  </a:lnTo>
                  <a:lnTo>
                    <a:pt x="2366416" y="29730"/>
                  </a:lnTo>
                  <a:lnTo>
                    <a:pt x="2368334" y="25120"/>
                  </a:lnTo>
                  <a:lnTo>
                    <a:pt x="2368334" y="13703"/>
                  </a:lnTo>
                  <a:close/>
                </a:path>
                <a:path w="4537710" h="234950">
                  <a:moveTo>
                    <a:pt x="2407589" y="162420"/>
                  </a:moveTo>
                  <a:lnTo>
                    <a:pt x="2363571" y="162420"/>
                  </a:lnTo>
                  <a:lnTo>
                    <a:pt x="2363571" y="51092"/>
                  </a:lnTo>
                  <a:lnTo>
                    <a:pt x="2291854" y="51092"/>
                  </a:lnTo>
                  <a:lnTo>
                    <a:pt x="2291854" y="80479"/>
                  </a:lnTo>
                  <a:lnTo>
                    <a:pt x="2332278" y="80479"/>
                  </a:lnTo>
                  <a:lnTo>
                    <a:pt x="2332278" y="162420"/>
                  </a:lnTo>
                  <a:lnTo>
                    <a:pt x="2285936" y="162420"/>
                  </a:lnTo>
                  <a:lnTo>
                    <a:pt x="2285936" y="191808"/>
                  </a:lnTo>
                  <a:lnTo>
                    <a:pt x="2407589" y="191808"/>
                  </a:lnTo>
                  <a:lnTo>
                    <a:pt x="2407589" y="162420"/>
                  </a:lnTo>
                  <a:close/>
                </a:path>
                <a:path w="4537710" h="234950">
                  <a:moveTo>
                    <a:pt x="2546350" y="87452"/>
                  </a:moveTo>
                  <a:lnTo>
                    <a:pt x="2545842" y="79311"/>
                  </a:lnTo>
                  <a:lnTo>
                    <a:pt x="2544953" y="75018"/>
                  </a:lnTo>
                  <a:lnTo>
                    <a:pt x="2544318" y="71945"/>
                  </a:lnTo>
                  <a:lnTo>
                    <a:pt x="2543708" y="70383"/>
                  </a:lnTo>
                  <a:lnTo>
                    <a:pt x="2543594" y="70091"/>
                  </a:lnTo>
                  <a:lnTo>
                    <a:pt x="2541778" y="65366"/>
                  </a:lnTo>
                  <a:lnTo>
                    <a:pt x="2538209" y="59563"/>
                  </a:lnTo>
                  <a:lnTo>
                    <a:pt x="2532837" y="52336"/>
                  </a:lnTo>
                  <a:lnTo>
                    <a:pt x="2525268" y="48717"/>
                  </a:lnTo>
                  <a:lnTo>
                    <a:pt x="2508580" y="48717"/>
                  </a:lnTo>
                  <a:lnTo>
                    <a:pt x="2503030" y="50634"/>
                  </a:lnTo>
                  <a:lnTo>
                    <a:pt x="2502331" y="51092"/>
                  </a:lnTo>
                  <a:lnTo>
                    <a:pt x="2494546" y="57772"/>
                  </a:lnTo>
                  <a:lnTo>
                    <a:pt x="2494546" y="63627"/>
                  </a:lnTo>
                  <a:lnTo>
                    <a:pt x="2494521" y="63931"/>
                  </a:lnTo>
                  <a:lnTo>
                    <a:pt x="2493899" y="70091"/>
                  </a:lnTo>
                  <a:lnTo>
                    <a:pt x="2494546" y="63627"/>
                  </a:lnTo>
                  <a:lnTo>
                    <a:pt x="2494546" y="57772"/>
                  </a:lnTo>
                  <a:lnTo>
                    <a:pt x="2493353" y="58788"/>
                  </a:lnTo>
                  <a:lnTo>
                    <a:pt x="2493099" y="59563"/>
                  </a:lnTo>
                  <a:lnTo>
                    <a:pt x="2492629" y="58254"/>
                  </a:lnTo>
                  <a:lnTo>
                    <a:pt x="2491905" y="57658"/>
                  </a:lnTo>
                  <a:lnTo>
                    <a:pt x="2491905" y="65366"/>
                  </a:lnTo>
                  <a:lnTo>
                    <a:pt x="2491689" y="63931"/>
                  </a:lnTo>
                  <a:lnTo>
                    <a:pt x="2491790" y="63627"/>
                  </a:lnTo>
                  <a:lnTo>
                    <a:pt x="2491905" y="65366"/>
                  </a:lnTo>
                  <a:lnTo>
                    <a:pt x="2491905" y="57658"/>
                  </a:lnTo>
                  <a:lnTo>
                    <a:pt x="2488107" y="54470"/>
                  </a:lnTo>
                  <a:lnTo>
                    <a:pt x="2483612" y="50634"/>
                  </a:lnTo>
                  <a:lnTo>
                    <a:pt x="2478074" y="48717"/>
                  </a:lnTo>
                  <a:lnTo>
                    <a:pt x="2464562" y="48717"/>
                  </a:lnTo>
                  <a:lnTo>
                    <a:pt x="2459101" y="50634"/>
                  </a:lnTo>
                  <a:lnTo>
                    <a:pt x="2458377" y="51092"/>
                  </a:lnTo>
                  <a:lnTo>
                    <a:pt x="2452979" y="55803"/>
                  </a:lnTo>
                  <a:lnTo>
                    <a:pt x="2453843" y="51092"/>
                  </a:lnTo>
                  <a:lnTo>
                    <a:pt x="2448001" y="51092"/>
                  </a:lnTo>
                  <a:lnTo>
                    <a:pt x="2448001" y="65341"/>
                  </a:lnTo>
                  <a:lnTo>
                    <a:pt x="2447747" y="63931"/>
                  </a:lnTo>
                  <a:lnTo>
                    <a:pt x="2447848" y="63627"/>
                  </a:lnTo>
                  <a:lnTo>
                    <a:pt x="2447874" y="63931"/>
                  </a:lnTo>
                  <a:lnTo>
                    <a:pt x="2448001" y="65341"/>
                  </a:lnTo>
                  <a:lnTo>
                    <a:pt x="2448001" y="51092"/>
                  </a:lnTo>
                  <a:lnTo>
                    <a:pt x="2425154" y="51092"/>
                  </a:lnTo>
                  <a:lnTo>
                    <a:pt x="2425154" y="191808"/>
                  </a:lnTo>
                  <a:lnTo>
                    <a:pt x="2454770" y="191808"/>
                  </a:lnTo>
                  <a:lnTo>
                    <a:pt x="2454770" y="82689"/>
                  </a:lnTo>
                  <a:lnTo>
                    <a:pt x="2455481" y="79629"/>
                  </a:lnTo>
                  <a:lnTo>
                    <a:pt x="2458389" y="75958"/>
                  </a:lnTo>
                  <a:lnTo>
                    <a:pt x="2460485" y="75018"/>
                  </a:lnTo>
                  <a:lnTo>
                    <a:pt x="2466060" y="75018"/>
                  </a:lnTo>
                  <a:lnTo>
                    <a:pt x="2468156" y="75958"/>
                  </a:lnTo>
                  <a:lnTo>
                    <a:pt x="2471216" y="79629"/>
                  </a:lnTo>
                  <a:lnTo>
                    <a:pt x="2472169" y="82689"/>
                  </a:lnTo>
                  <a:lnTo>
                    <a:pt x="2472245" y="191808"/>
                  </a:lnTo>
                  <a:lnTo>
                    <a:pt x="2499258" y="191808"/>
                  </a:lnTo>
                  <a:lnTo>
                    <a:pt x="2499271" y="82689"/>
                  </a:lnTo>
                  <a:lnTo>
                    <a:pt x="2500122" y="79629"/>
                  </a:lnTo>
                  <a:lnTo>
                    <a:pt x="2503259" y="75958"/>
                  </a:lnTo>
                  <a:lnTo>
                    <a:pt x="2505392" y="75018"/>
                  </a:lnTo>
                  <a:lnTo>
                    <a:pt x="2510967" y="75018"/>
                  </a:lnTo>
                  <a:lnTo>
                    <a:pt x="2513012" y="75958"/>
                  </a:lnTo>
                  <a:lnTo>
                    <a:pt x="2515819" y="79629"/>
                  </a:lnTo>
                  <a:lnTo>
                    <a:pt x="2516670" y="82689"/>
                  </a:lnTo>
                  <a:lnTo>
                    <a:pt x="2516733" y="191808"/>
                  </a:lnTo>
                  <a:lnTo>
                    <a:pt x="2546350" y="191808"/>
                  </a:lnTo>
                  <a:lnTo>
                    <a:pt x="2546350" y="87452"/>
                  </a:lnTo>
                  <a:close/>
                </a:path>
                <a:path w="4537710" h="234950">
                  <a:moveTo>
                    <a:pt x="2683713" y="102196"/>
                  </a:moveTo>
                  <a:lnTo>
                    <a:pt x="2670937" y="63347"/>
                  </a:lnTo>
                  <a:lnTo>
                    <a:pt x="2652471" y="51371"/>
                  </a:lnTo>
                  <a:lnTo>
                    <a:pt x="2652471" y="94729"/>
                  </a:lnTo>
                  <a:lnTo>
                    <a:pt x="2652471" y="148170"/>
                  </a:lnTo>
                  <a:lnTo>
                    <a:pt x="2650477" y="154800"/>
                  </a:lnTo>
                  <a:lnTo>
                    <a:pt x="2642565" y="163474"/>
                  </a:lnTo>
                  <a:lnTo>
                    <a:pt x="2636697" y="165735"/>
                  </a:lnTo>
                  <a:lnTo>
                    <a:pt x="2621635" y="165735"/>
                  </a:lnTo>
                  <a:lnTo>
                    <a:pt x="2615781" y="163474"/>
                  </a:lnTo>
                  <a:lnTo>
                    <a:pt x="2614841" y="162471"/>
                  </a:lnTo>
                  <a:lnTo>
                    <a:pt x="2611526" y="158940"/>
                  </a:lnTo>
                  <a:lnTo>
                    <a:pt x="2607310" y="154368"/>
                  </a:lnTo>
                  <a:lnTo>
                    <a:pt x="2605303" y="148170"/>
                  </a:lnTo>
                  <a:lnTo>
                    <a:pt x="2605316" y="94729"/>
                  </a:lnTo>
                  <a:lnTo>
                    <a:pt x="2621635" y="77177"/>
                  </a:lnTo>
                  <a:lnTo>
                    <a:pt x="2636697" y="77177"/>
                  </a:lnTo>
                  <a:lnTo>
                    <a:pt x="2642501" y="79362"/>
                  </a:lnTo>
                  <a:lnTo>
                    <a:pt x="2650477" y="88112"/>
                  </a:lnTo>
                  <a:lnTo>
                    <a:pt x="2652471" y="94729"/>
                  </a:lnTo>
                  <a:lnTo>
                    <a:pt x="2652471" y="51371"/>
                  </a:lnTo>
                  <a:lnTo>
                    <a:pt x="2646629" y="49631"/>
                  </a:lnTo>
                  <a:lnTo>
                    <a:pt x="2636202" y="48717"/>
                  </a:lnTo>
                  <a:lnTo>
                    <a:pt x="2628341" y="49237"/>
                  </a:lnTo>
                  <a:lnTo>
                    <a:pt x="2603347" y="62890"/>
                  </a:lnTo>
                  <a:lnTo>
                    <a:pt x="2605201" y="51092"/>
                  </a:lnTo>
                  <a:lnTo>
                    <a:pt x="2599804" y="51092"/>
                  </a:lnTo>
                  <a:lnTo>
                    <a:pt x="2599804" y="162471"/>
                  </a:lnTo>
                  <a:lnTo>
                    <a:pt x="2599766" y="163474"/>
                  </a:lnTo>
                  <a:lnTo>
                    <a:pt x="2599664" y="165595"/>
                  </a:lnTo>
                  <a:lnTo>
                    <a:pt x="2599804" y="162471"/>
                  </a:lnTo>
                  <a:lnTo>
                    <a:pt x="2599804" y="51092"/>
                  </a:lnTo>
                  <a:lnTo>
                    <a:pt x="2573959" y="51092"/>
                  </a:lnTo>
                  <a:lnTo>
                    <a:pt x="2573959" y="234607"/>
                  </a:lnTo>
                  <a:lnTo>
                    <a:pt x="2605201" y="234607"/>
                  </a:lnTo>
                  <a:lnTo>
                    <a:pt x="2605024" y="190525"/>
                  </a:lnTo>
                  <a:lnTo>
                    <a:pt x="2603347" y="180086"/>
                  </a:lnTo>
                  <a:lnTo>
                    <a:pt x="2603906" y="181076"/>
                  </a:lnTo>
                  <a:lnTo>
                    <a:pt x="2636202" y="194183"/>
                  </a:lnTo>
                  <a:lnTo>
                    <a:pt x="2646629" y="193268"/>
                  </a:lnTo>
                  <a:lnTo>
                    <a:pt x="2679090" y="165735"/>
                  </a:lnTo>
                  <a:lnTo>
                    <a:pt x="2680512" y="162471"/>
                  </a:lnTo>
                  <a:lnTo>
                    <a:pt x="2682913" y="152082"/>
                  </a:lnTo>
                  <a:lnTo>
                    <a:pt x="2683713" y="140474"/>
                  </a:lnTo>
                  <a:lnTo>
                    <a:pt x="2683713" y="102196"/>
                  </a:lnTo>
                  <a:close/>
                </a:path>
                <a:path w="4537710" h="234950">
                  <a:moveTo>
                    <a:pt x="2826296" y="103365"/>
                  </a:moveTo>
                  <a:lnTo>
                    <a:pt x="2811259" y="63461"/>
                  </a:lnTo>
                  <a:lnTo>
                    <a:pt x="2795054" y="53073"/>
                  </a:lnTo>
                  <a:lnTo>
                    <a:pt x="2795054" y="94919"/>
                  </a:lnTo>
                  <a:lnTo>
                    <a:pt x="2795054" y="147980"/>
                  </a:lnTo>
                  <a:lnTo>
                    <a:pt x="2793009" y="154482"/>
                  </a:lnTo>
                  <a:lnTo>
                    <a:pt x="2784830" y="163118"/>
                  </a:lnTo>
                  <a:lnTo>
                    <a:pt x="2778849" y="165265"/>
                  </a:lnTo>
                  <a:lnTo>
                    <a:pt x="2763024" y="165265"/>
                  </a:lnTo>
                  <a:lnTo>
                    <a:pt x="2757017" y="163118"/>
                  </a:lnTo>
                  <a:lnTo>
                    <a:pt x="2748889" y="154482"/>
                  </a:lnTo>
                  <a:lnTo>
                    <a:pt x="2746857" y="147980"/>
                  </a:lnTo>
                  <a:lnTo>
                    <a:pt x="2746857" y="94919"/>
                  </a:lnTo>
                  <a:lnTo>
                    <a:pt x="2748889" y="88442"/>
                  </a:lnTo>
                  <a:lnTo>
                    <a:pt x="2757017" y="79806"/>
                  </a:lnTo>
                  <a:lnTo>
                    <a:pt x="2763024" y="77635"/>
                  </a:lnTo>
                  <a:lnTo>
                    <a:pt x="2778849" y="77635"/>
                  </a:lnTo>
                  <a:lnTo>
                    <a:pt x="2784830" y="79806"/>
                  </a:lnTo>
                  <a:lnTo>
                    <a:pt x="2788907" y="84137"/>
                  </a:lnTo>
                  <a:lnTo>
                    <a:pt x="2793009" y="88442"/>
                  </a:lnTo>
                  <a:lnTo>
                    <a:pt x="2782976" y="49644"/>
                  </a:lnTo>
                  <a:lnTo>
                    <a:pt x="2770962" y="48717"/>
                  </a:lnTo>
                  <a:lnTo>
                    <a:pt x="2758910" y="49644"/>
                  </a:lnTo>
                  <a:lnTo>
                    <a:pt x="2723997" y="71488"/>
                  </a:lnTo>
                  <a:lnTo>
                    <a:pt x="2715552" y="139306"/>
                  </a:lnTo>
                  <a:lnTo>
                    <a:pt x="2716492" y="151333"/>
                  </a:lnTo>
                  <a:lnTo>
                    <a:pt x="2738704" y="185889"/>
                  </a:lnTo>
                  <a:lnTo>
                    <a:pt x="2770962" y="194183"/>
                  </a:lnTo>
                  <a:lnTo>
                    <a:pt x="2782976" y="193268"/>
                  </a:lnTo>
                  <a:lnTo>
                    <a:pt x="2817838" y="171399"/>
                  </a:lnTo>
                  <a:lnTo>
                    <a:pt x="2820911" y="165265"/>
                  </a:lnTo>
                  <a:lnTo>
                    <a:pt x="2822537" y="162026"/>
                  </a:lnTo>
                  <a:lnTo>
                    <a:pt x="2825356" y="151333"/>
                  </a:lnTo>
                  <a:lnTo>
                    <a:pt x="2826296" y="139306"/>
                  </a:lnTo>
                  <a:lnTo>
                    <a:pt x="2826296" y="103365"/>
                  </a:lnTo>
                  <a:close/>
                </a:path>
                <a:path w="4537710" h="234950">
                  <a:moveTo>
                    <a:pt x="2974111" y="101739"/>
                  </a:moveTo>
                  <a:lnTo>
                    <a:pt x="2960471" y="63182"/>
                  </a:lnTo>
                  <a:lnTo>
                    <a:pt x="2923997" y="48717"/>
                  </a:lnTo>
                  <a:lnTo>
                    <a:pt x="2909887" y="50634"/>
                  </a:lnTo>
                  <a:lnTo>
                    <a:pt x="2899435" y="56388"/>
                  </a:lnTo>
                  <a:lnTo>
                    <a:pt x="2892641" y="65963"/>
                  </a:lnTo>
                  <a:lnTo>
                    <a:pt x="2889504" y="79375"/>
                  </a:lnTo>
                  <a:lnTo>
                    <a:pt x="2889567" y="78968"/>
                  </a:lnTo>
                  <a:lnTo>
                    <a:pt x="2894444" y="51092"/>
                  </a:lnTo>
                  <a:lnTo>
                    <a:pt x="2863659" y="51092"/>
                  </a:lnTo>
                  <a:lnTo>
                    <a:pt x="2863659" y="191808"/>
                  </a:lnTo>
                  <a:lnTo>
                    <a:pt x="2894901" y="191808"/>
                  </a:lnTo>
                  <a:lnTo>
                    <a:pt x="2894952" y="94729"/>
                  </a:lnTo>
                  <a:lnTo>
                    <a:pt x="2896362" y="90284"/>
                  </a:lnTo>
                  <a:lnTo>
                    <a:pt x="2897187" y="88036"/>
                  </a:lnTo>
                  <a:lnTo>
                    <a:pt x="2905150" y="79375"/>
                  </a:lnTo>
                  <a:lnTo>
                    <a:pt x="2905595" y="78968"/>
                  </a:lnTo>
                  <a:lnTo>
                    <a:pt x="2911411" y="76708"/>
                  </a:lnTo>
                  <a:lnTo>
                    <a:pt x="2926753" y="76708"/>
                  </a:lnTo>
                  <a:lnTo>
                    <a:pt x="2932646" y="78968"/>
                  </a:lnTo>
                  <a:lnTo>
                    <a:pt x="2940824" y="88036"/>
                  </a:lnTo>
                  <a:lnTo>
                    <a:pt x="2942869" y="94729"/>
                  </a:lnTo>
                  <a:lnTo>
                    <a:pt x="2942869" y="114515"/>
                  </a:lnTo>
                  <a:lnTo>
                    <a:pt x="2974111" y="114515"/>
                  </a:lnTo>
                  <a:lnTo>
                    <a:pt x="2974111" y="101739"/>
                  </a:lnTo>
                  <a:close/>
                </a:path>
                <a:path w="4537710" h="234950">
                  <a:moveTo>
                    <a:pt x="3113392" y="51092"/>
                  </a:moveTo>
                  <a:lnTo>
                    <a:pt x="3061068" y="51092"/>
                  </a:lnTo>
                  <a:lnTo>
                    <a:pt x="3061068" y="15443"/>
                  </a:lnTo>
                  <a:lnTo>
                    <a:pt x="3029762" y="15443"/>
                  </a:lnTo>
                  <a:lnTo>
                    <a:pt x="3029762" y="51092"/>
                  </a:lnTo>
                  <a:lnTo>
                    <a:pt x="2992894" y="51092"/>
                  </a:lnTo>
                  <a:lnTo>
                    <a:pt x="2992894" y="80479"/>
                  </a:lnTo>
                  <a:lnTo>
                    <a:pt x="3029762" y="80479"/>
                  </a:lnTo>
                  <a:lnTo>
                    <a:pt x="3029762" y="152374"/>
                  </a:lnTo>
                  <a:lnTo>
                    <a:pt x="3030448" y="161137"/>
                  </a:lnTo>
                  <a:lnTo>
                    <a:pt x="3061474" y="191160"/>
                  </a:lnTo>
                  <a:lnTo>
                    <a:pt x="3070415" y="191808"/>
                  </a:lnTo>
                  <a:lnTo>
                    <a:pt x="3111017" y="191808"/>
                  </a:lnTo>
                  <a:lnTo>
                    <a:pt x="3111017" y="162420"/>
                  </a:lnTo>
                  <a:lnTo>
                    <a:pt x="3066935" y="162420"/>
                  </a:lnTo>
                  <a:lnTo>
                    <a:pt x="3064497" y="161683"/>
                  </a:lnTo>
                  <a:lnTo>
                    <a:pt x="3061741" y="158750"/>
                  </a:lnTo>
                  <a:lnTo>
                    <a:pt x="3061068" y="156133"/>
                  </a:lnTo>
                  <a:lnTo>
                    <a:pt x="3061068" y="80479"/>
                  </a:lnTo>
                  <a:lnTo>
                    <a:pt x="3113392" y="80479"/>
                  </a:lnTo>
                  <a:lnTo>
                    <a:pt x="3113392" y="51092"/>
                  </a:lnTo>
                  <a:close/>
                </a:path>
                <a:path w="4537710" h="234950">
                  <a:moveTo>
                    <a:pt x="4393933" y="131648"/>
                  </a:moveTo>
                  <a:lnTo>
                    <a:pt x="4392968" y="86309"/>
                  </a:lnTo>
                  <a:lnTo>
                    <a:pt x="4361751" y="52171"/>
                  </a:lnTo>
                  <a:lnTo>
                    <a:pt x="4350753" y="49644"/>
                  </a:lnTo>
                  <a:lnTo>
                    <a:pt x="4349610" y="49644"/>
                  </a:lnTo>
                  <a:lnTo>
                    <a:pt x="4339514" y="48945"/>
                  </a:lnTo>
                  <a:lnTo>
                    <a:pt x="4302353" y="60045"/>
                  </a:lnTo>
                  <a:lnTo>
                    <a:pt x="4284180" y="95465"/>
                  </a:lnTo>
                  <a:lnTo>
                    <a:pt x="4315536" y="95465"/>
                  </a:lnTo>
                  <a:lnTo>
                    <a:pt x="4316501" y="88607"/>
                  </a:lnTo>
                  <a:lnTo>
                    <a:pt x="4318978" y="83934"/>
                  </a:lnTo>
                  <a:lnTo>
                    <a:pt x="4326991" y="78892"/>
                  </a:lnTo>
                  <a:lnTo>
                    <a:pt x="4332440" y="77635"/>
                  </a:lnTo>
                  <a:lnTo>
                    <a:pt x="4346918" y="77635"/>
                  </a:lnTo>
                  <a:lnTo>
                    <a:pt x="4352696" y="79375"/>
                  </a:lnTo>
                  <a:lnTo>
                    <a:pt x="4356646" y="82867"/>
                  </a:lnTo>
                  <a:lnTo>
                    <a:pt x="4360634" y="86309"/>
                  </a:lnTo>
                  <a:lnTo>
                    <a:pt x="4362628" y="91249"/>
                  </a:lnTo>
                  <a:lnTo>
                    <a:pt x="4362628" y="105333"/>
                  </a:lnTo>
                  <a:lnTo>
                    <a:pt x="4362628" y="131648"/>
                  </a:lnTo>
                  <a:lnTo>
                    <a:pt x="4362628" y="151663"/>
                  </a:lnTo>
                  <a:lnTo>
                    <a:pt x="4359846" y="156959"/>
                  </a:lnTo>
                  <a:lnTo>
                    <a:pt x="4348734" y="165328"/>
                  </a:lnTo>
                  <a:lnTo>
                    <a:pt x="4341279" y="167411"/>
                  </a:lnTo>
                  <a:lnTo>
                    <a:pt x="4324705" y="167411"/>
                  </a:lnTo>
                  <a:lnTo>
                    <a:pt x="4319181" y="165785"/>
                  </a:lnTo>
                  <a:lnTo>
                    <a:pt x="4311434" y="159283"/>
                  </a:lnTo>
                  <a:lnTo>
                    <a:pt x="4309491" y="154800"/>
                  </a:lnTo>
                  <a:lnTo>
                    <a:pt x="4309491" y="143497"/>
                  </a:lnTo>
                  <a:lnTo>
                    <a:pt x="4311066" y="139192"/>
                  </a:lnTo>
                  <a:lnTo>
                    <a:pt x="4317339" y="133159"/>
                  </a:lnTo>
                  <a:lnTo>
                    <a:pt x="4321810" y="131648"/>
                  </a:lnTo>
                  <a:lnTo>
                    <a:pt x="4362628" y="131648"/>
                  </a:lnTo>
                  <a:lnTo>
                    <a:pt x="4362628" y="105333"/>
                  </a:lnTo>
                  <a:lnTo>
                    <a:pt x="4327144" y="105333"/>
                  </a:lnTo>
                  <a:lnTo>
                    <a:pt x="4316539" y="106095"/>
                  </a:lnTo>
                  <a:lnTo>
                    <a:pt x="4281563" y="131648"/>
                  </a:lnTo>
                  <a:lnTo>
                    <a:pt x="4278198" y="150456"/>
                  </a:lnTo>
                  <a:lnTo>
                    <a:pt x="4278300" y="151663"/>
                  </a:lnTo>
                  <a:lnTo>
                    <a:pt x="4298874" y="187553"/>
                  </a:lnTo>
                  <a:lnTo>
                    <a:pt x="4326915" y="194183"/>
                  </a:lnTo>
                  <a:lnTo>
                    <a:pt x="4339272" y="193446"/>
                  </a:lnTo>
                  <a:lnTo>
                    <a:pt x="4336910" y="193446"/>
                  </a:lnTo>
                  <a:lnTo>
                    <a:pt x="4344124" y="192049"/>
                  </a:lnTo>
                  <a:lnTo>
                    <a:pt x="4351693" y="189382"/>
                  </a:lnTo>
                  <a:lnTo>
                    <a:pt x="4358564" y="185648"/>
                  </a:lnTo>
                  <a:lnTo>
                    <a:pt x="4364063" y="180962"/>
                  </a:lnTo>
                  <a:lnTo>
                    <a:pt x="4365117" y="179260"/>
                  </a:lnTo>
                  <a:lnTo>
                    <a:pt x="4363161" y="191808"/>
                  </a:lnTo>
                  <a:lnTo>
                    <a:pt x="4393933" y="191808"/>
                  </a:lnTo>
                  <a:lnTo>
                    <a:pt x="4393933" y="162191"/>
                  </a:lnTo>
                  <a:lnTo>
                    <a:pt x="4393933" y="131648"/>
                  </a:lnTo>
                  <a:close/>
                </a:path>
                <a:path w="4537710" h="234950">
                  <a:moveTo>
                    <a:pt x="4537672" y="149821"/>
                  </a:moveTo>
                  <a:lnTo>
                    <a:pt x="4520514" y="115722"/>
                  </a:lnTo>
                  <a:lnTo>
                    <a:pt x="4475492" y="103708"/>
                  </a:lnTo>
                  <a:lnTo>
                    <a:pt x="4469447" y="102781"/>
                  </a:lnTo>
                  <a:lnTo>
                    <a:pt x="4465345" y="101409"/>
                  </a:lnTo>
                  <a:lnTo>
                    <a:pt x="4461002" y="97764"/>
                  </a:lnTo>
                  <a:lnTo>
                    <a:pt x="4459922" y="94983"/>
                  </a:lnTo>
                  <a:lnTo>
                    <a:pt x="4459922" y="82169"/>
                  </a:lnTo>
                  <a:lnTo>
                    <a:pt x="4466044" y="77635"/>
                  </a:lnTo>
                  <a:lnTo>
                    <a:pt x="4492561" y="77635"/>
                  </a:lnTo>
                  <a:lnTo>
                    <a:pt x="4496663" y="78600"/>
                  </a:lnTo>
                  <a:lnTo>
                    <a:pt x="4502632" y="82435"/>
                  </a:lnTo>
                  <a:lnTo>
                    <a:pt x="4504715" y="86156"/>
                  </a:lnTo>
                  <a:lnTo>
                    <a:pt x="4505922" y="91694"/>
                  </a:lnTo>
                  <a:lnTo>
                    <a:pt x="4537100" y="91694"/>
                  </a:lnTo>
                  <a:lnTo>
                    <a:pt x="4534738" y="81026"/>
                  </a:lnTo>
                  <a:lnTo>
                    <a:pt x="4533404" y="77635"/>
                  </a:lnTo>
                  <a:lnTo>
                    <a:pt x="4531195" y="71983"/>
                  </a:lnTo>
                  <a:lnTo>
                    <a:pt x="4497006" y="49339"/>
                  </a:lnTo>
                  <a:lnTo>
                    <a:pt x="4487329" y="48717"/>
                  </a:lnTo>
                  <a:lnTo>
                    <a:pt x="4478274" y="48717"/>
                  </a:lnTo>
                  <a:lnTo>
                    <a:pt x="4468177" y="49339"/>
                  </a:lnTo>
                  <a:lnTo>
                    <a:pt x="4467428" y="49339"/>
                  </a:lnTo>
                  <a:lnTo>
                    <a:pt x="4431881" y="73152"/>
                  </a:lnTo>
                  <a:lnTo>
                    <a:pt x="4428617" y="90995"/>
                  </a:lnTo>
                  <a:lnTo>
                    <a:pt x="4428680" y="91694"/>
                  </a:lnTo>
                  <a:lnTo>
                    <a:pt x="4429277" y="99733"/>
                  </a:lnTo>
                  <a:lnTo>
                    <a:pt x="4460976" y="131127"/>
                  </a:lnTo>
                  <a:lnTo>
                    <a:pt x="4500435" y="138010"/>
                  </a:lnTo>
                  <a:lnTo>
                    <a:pt x="4506442" y="142963"/>
                  </a:lnTo>
                  <a:lnTo>
                    <a:pt x="4506442" y="155282"/>
                  </a:lnTo>
                  <a:lnTo>
                    <a:pt x="4504855" y="158750"/>
                  </a:lnTo>
                  <a:lnTo>
                    <a:pt x="4498543" y="163969"/>
                  </a:lnTo>
                  <a:lnTo>
                    <a:pt x="4493450" y="165265"/>
                  </a:lnTo>
                  <a:lnTo>
                    <a:pt x="4470565" y="165265"/>
                  </a:lnTo>
                  <a:lnTo>
                    <a:pt x="4455973" y="149821"/>
                  </a:lnTo>
                  <a:lnTo>
                    <a:pt x="4424908" y="149821"/>
                  </a:lnTo>
                  <a:lnTo>
                    <a:pt x="4448492" y="188315"/>
                  </a:lnTo>
                  <a:lnTo>
                    <a:pt x="4465726" y="193459"/>
                  </a:lnTo>
                  <a:lnTo>
                    <a:pt x="4464888" y="193459"/>
                  </a:lnTo>
                  <a:lnTo>
                    <a:pt x="4476420" y="194183"/>
                  </a:lnTo>
                  <a:lnTo>
                    <a:pt x="4486402" y="194183"/>
                  </a:lnTo>
                  <a:lnTo>
                    <a:pt x="4524387" y="182511"/>
                  </a:lnTo>
                  <a:lnTo>
                    <a:pt x="4536948" y="158750"/>
                  </a:lnTo>
                  <a:lnTo>
                    <a:pt x="4537672" y="149821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14205" y="1346125"/>
            <a:ext cx="1878964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spc="-1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1850" spc="-10" dirty="0">
                <a:solidFill>
                  <a:srgbClr val="04182D"/>
                </a:solidFill>
                <a:latin typeface="Monaco"/>
                <a:cs typeface="Monaco"/>
              </a:rPr>
              <a:t>(sample)</a:t>
            </a:r>
            <a:endParaRPr sz="1850">
              <a:latin typeface="Monaco"/>
              <a:cs typeface="Monac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4205" y="2267292"/>
            <a:ext cx="444627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010285" algn="l"/>
                <a:tab pos="1723389" algn="l"/>
                <a:tab pos="2436495" algn="l"/>
                <a:tab pos="3148965" algn="l"/>
                <a:tab pos="3862070" algn="l"/>
              </a:tabLst>
            </a:pPr>
            <a:r>
              <a:rPr sz="1850" dirty="0">
                <a:solidFill>
                  <a:srgbClr val="FFFFFF"/>
                </a:solidFill>
                <a:latin typeface="Monaco"/>
                <a:cs typeface="Monaco"/>
              </a:rPr>
              <a:t>[</a:t>
            </a:r>
            <a:r>
              <a:rPr sz="1850" spc="2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850" spc="-25" dirty="0">
                <a:solidFill>
                  <a:srgbClr val="FFFFFF"/>
                </a:solidFill>
                <a:latin typeface="Monaco"/>
                <a:cs typeface="Monaco"/>
              </a:rPr>
              <a:t>0.</a:t>
            </a:r>
            <a:r>
              <a:rPr sz="18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1850" spc="-25" dirty="0">
                <a:solidFill>
                  <a:srgbClr val="FFFFFF"/>
                </a:solidFill>
                <a:latin typeface="Monaco"/>
                <a:cs typeface="Monaco"/>
              </a:rPr>
              <a:t>1.</a:t>
            </a:r>
            <a:r>
              <a:rPr sz="18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1850" spc="-25" dirty="0">
                <a:solidFill>
                  <a:srgbClr val="FFFFFF"/>
                </a:solidFill>
                <a:latin typeface="Monaco"/>
                <a:cs typeface="Monaco"/>
              </a:rPr>
              <a:t>0.5</a:t>
            </a:r>
            <a:r>
              <a:rPr sz="18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1850" spc="-25" dirty="0">
                <a:solidFill>
                  <a:srgbClr val="FFFFFF"/>
                </a:solidFill>
                <a:latin typeface="Monaco"/>
                <a:cs typeface="Monaco"/>
              </a:rPr>
              <a:t>1.</a:t>
            </a:r>
            <a:r>
              <a:rPr sz="18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1850" spc="-25" dirty="0">
                <a:solidFill>
                  <a:srgbClr val="FFFFFF"/>
                </a:solidFill>
                <a:latin typeface="Monaco"/>
                <a:cs typeface="Monaco"/>
              </a:rPr>
              <a:t>0.</a:t>
            </a:r>
            <a:r>
              <a:rPr sz="1850" dirty="0">
                <a:solidFill>
                  <a:srgbClr val="FFFFFF"/>
                </a:solidFill>
                <a:latin typeface="Monaco"/>
                <a:cs typeface="Monaco"/>
              </a:rPr>
              <a:t>	1.</a:t>
            </a:r>
            <a:r>
              <a:rPr sz="1850" spc="2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850" spc="-50" dirty="0">
                <a:solidFill>
                  <a:srgbClr val="FFFFFF"/>
                </a:solidFill>
                <a:latin typeface="Monaco"/>
                <a:cs typeface="Monaco"/>
              </a:rPr>
              <a:t>]</a:t>
            </a:r>
            <a:endParaRPr sz="1850">
              <a:latin typeface="Monaco"/>
              <a:cs typeface="Monac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4205" y="3064491"/>
            <a:ext cx="4445000" cy="803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8000"/>
              </a:lnSpc>
              <a:spcBef>
                <a:spcPts val="95"/>
              </a:spcBef>
            </a:pPr>
            <a:r>
              <a:rPr sz="1850" dirty="0">
                <a:solidFill>
                  <a:srgbClr val="04182D"/>
                </a:solidFill>
                <a:latin typeface="Monaco"/>
                <a:cs typeface="Monaco"/>
              </a:rPr>
              <a:t>bitmap</a:t>
            </a:r>
            <a:r>
              <a:rPr sz="1850" spc="6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850" dirty="0">
                <a:solidFill>
                  <a:srgbClr val="04182D"/>
                </a:solidFill>
                <a:latin typeface="Monaco"/>
                <a:cs typeface="Monaco"/>
              </a:rPr>
              <a:t>=</a:t>
            </a:r>
            <a:r>
              <a:rPr sz="1850" spc="6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850" dirty="0">
                <a:solidFill>
                  <a:srgbClr val="04182D"/>
                </a:solidFill>
                <a:latin typeface="Monaco"/>
                <a:cs typeface="Monaco"/>
              </a:rPr>
              <a:t>sample.reshape((</a:t>
            </a:r>
            <a:r>
              <a:rPr sz="1850" dirty="0">
                <a:solidFill>
                  <a:srgbClr val="BE2F72"/>
                </a:solidFill>
                <a:latin typeface="Monaco"/>
                <a:cs typeface="Monaco"/>
              </a:rPr>
              <a:t>2</a:t>
            </a:r>
            <a:r>
              <a:rPr sz="18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1850" spc="6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850" spc="-25" dirty="0">
                <a:solidFill>
                  <a:srgbClr val="BE2F72"/>
                </a:solidFill>
                <a:latin typeface="Monaco"/>
                <a:cs typeface="Monaco"/>
              </a:rPr>
              <a:t>3</a:t>
            </a:r>
            <a:r>
              <a:rPr sz="1850" spc="-25" dirty="0">
                <a:solidFill>
                  <a:srgbClr val="04182D"/>
                </a:solidFill>
                <a:latin typeface="Monaco"/>
                <a:cs typeface="Monaco"/>
              </a:rPr>
              <a:t>)) </a:t>
            </a:r>
            <a:r>
              <a:rPr sz="1850" spc="-1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1850" spc="-10" dirty="0">
                <a:solidFill>
                  <a:srgbClr val="04182D"/>
                </a:solidFill>
                <a:latin typeface="Monaco"/>
                <a:cs typeface="Monaco"/>
              </a:rPr>
              <a:t>(bitmap)</a:t>
            </a:r>
            <a:endParaRPr sz="1850">
              <a:latin typeface="Monaco"/>
              <a:cs typeface="Monaco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595155" y="4477460"/>
          <a:ext cx="2630805" cy="683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1630">
                <a:tc>
                  <a:txBody>
                    <a:bodyPr/>
                    <a:lstStyle/>
                    <a:p>
                      <a:pPr marR="205740" algn="r">
                        <a:lnSpc>
                          <a:spcPts val="2185"/>
                        </a:lnSpc>
                      </a:pPr>
                      <a:r>
                        <a:rPr sz="18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[[</a:t>
                      </a:r>
                      <a:r>
                        <a:rPr sz="1850" spc="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 </a:t>
                      </a:r>
                      <a:r>
                        <a:rPr sz="18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85"/>
                        </a:lnSpc>
                      </a:pPr>
                      <a:r>
                        <a:rPr sz="18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1.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3360">
                        <a:lnSpc>
                          <a:spcPts val="2185"/>
                        </a:lnSpc>
                      </a:pPr>
                      <a:r>
                        <a:rPr sz="18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0.5]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marR="205740" algn="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[</a:t>
                      </a:r>
                      <a:r>
                        <a:rPr sz="1850" spc="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 </a:t>
                      </a:r>
                      <a:r>
                        <a:rPr sz="18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1.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42545" marB="0"/>
                </a:tc>
                <a:tc>
                  <a:txBody>
                    <a:bodyPr/>
                    <a:lstStyle/>
                    <a:p>
                      <a:pPr marL="21336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1.</a:t>
                      </a:r>
                      <a:r>
                        <a:rPr sz="1850" spc="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 </a:t>
                      </a:r>
                      <a:r>
                        <a:rPr sz="18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]]</a:t>
                      </a:r>
                      <a:endParaRPr sz="1850">
                        <a:latin typeface="Monaco"/>
                        <a:cs typeface="Monaco"/>
                      </a:endParaRPr>
                    </a:p>
                  </a:txBody>
                  <a:tcPr marL="0" marR="0" marT="4254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614205" y="5664231"/>
            <a:ext cx="8009890" cy="119253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725170">
              <a:lnSpc>
                <a:spcPct val="100000"/>
              </a:lnSpc>
              <a:spcBef>
                <a:spcPts val="935"/>
              </a:spcBef>
              <a:tabLst>
                <a:tab pos="3291204" algn="l"/>
                <a:tab pos="4716780" algn="l"/>
              </a:tabLst>
            </a:pPr>
            <a:r>
              <a:rPr sz="1850" spc="-10" dirty="0">
                <a:solidFill>
                  <a:srgbClr val="04182D"/>
                </a:solidFill>
                <a:latin typeface="Monaco"/>
                <a:cs typeface="Monaco"/>
              </a:rPr>
              <a:t>matplotlib</a:t>
            </a:r>
            <a:r>
              <a:rPr sz="1850" dirty="0">
                <a:solidFill>
                  <a:srgbClr val="04182D"/>
                </a:solidFill>
                <a:latin typeface="Monaco"/>
                <a:cs typeface="Monaco"/>
              </a:rPr>
              <a:t>	</a:t>
            </a:r>
            <a:r>
              <a:rPr sz="1850" spc="-10" dirty="0">
                <a:solidFill>
                  <a:srgbClr val="04182D"/>
                </a:solidFill>
                <a:latin typeface="Monaco"/>
                <a:cs typeface="Monaco"/>
              </a:rPr>
              <a:t>pyplot</a:t>
            </a:r>
            <a:r>
              <a:rPr sz="1850" dirty="0">
                <a:solidFill>
                  <a:srgbClr val="04182D"/>
                </a:solidFill>
                <a:latin typeface="Monaco"/>
                <a:cs typeface="Monaco"/>
              </a:rPr>
              <a:t>	</a:t>
            </a:r>
            <a:r>
              <a:rPr sz="1850" spc="-25" dirty="0">
                <a:solidFill>
                  <a:srgbClr val="04182D"/>
                </a:solidFill>
                <a:latin typeface="Monaco"/>
                <a:cs typeface="Monaco"/>
              </a:rPr>
              <a:t>plt</a:t>
            </a:r>
            <a:endParaRPr sz="1850">
              <a:latin typeface="Monaco"/>
              <a:cs typeface="Monaco"/>
            </a:endParaRPr>
          </a:p>
          <a:p>
            <a:pPr marL="12700" marR="5080">
              <a:lnSpc>
                <a:spcPts val="3060"/>
              </a:lnSpc>
              <a:spcBef>
                <a:spcPts val="110"/>
              </a:spcBef>
            </a:pPr>
            <a:r>
              <a:rPr sz="1850" dirty="0">
                <a:solidFill>
                  <a:srgbClr val="04182D"/>
                </a:solidFill>
                <a:latin typeface="Monaco"/>
                <a:cs typeface="Monaco"/>
              </a:rPr>
              <a:t>plt.imshow(bitmap,</a:t>
            </a:r>
            <a:r>
              <a:rPr sz="1850" spc="10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850" dirty="0">
                <a:solidFill>
                  <a:srgbClr val="04182D"/>
                </a:solidFill>
                <a:latin typeface="Monaco"/>
                <a:cs typeface="Monaco"/>
              </a:rPr>
              <a:t>cmap=</a:t>
            </a:r>
            <a:r>
              <a:rPr sz="1850" dirty="0">
                <a:solidFill>
                  <a:srgbClr val="BE2F72"/>
                </a:solidFill>
                <a:latin typeface="Monaco"/>
                <a:cs typeface="Monaco"/>
              </a:rPr>
              <a:t>'gray'</a:t>
            </a:r>
            <a:r>
              <a:rPr sz="18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1850" spc="10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850" spc="-10" dirty="0">
                <a:solidFill>
                  <a:srgbClr val="04182D"/>
                </a:solidFill>
                <a:latin typeface="Monaco"/>
                <a:cs typeface="Monaco"/>
              </a:rPr>
              <a:t>interpolation=</a:t>
            </a:r>
            <a:r>
              <a:rPr sz="1850" spc="-10" dirty="0">
                <a:solidFill>
                  <a:srgbClr val="BE2F72"/>
                </a:solidFill>
                <a:latin typeface="Monaco"/>
                <a:cs typeface="Monaco"/>
              </a:rPr>
              <a:t>'nearest'</a:t>
            </a:r>
            <a:r>
              <a:rPr sz="1850" spc="-10" dirty="0">
                <a:solidFill>
                  <a:srgbClr val="04182D"/>
                </a:solidFill>
                <a:latin typeface="Monaco"/>
                <a:cs typeface="Monaco"/>
              </a:rPr>
              <a:t>) plt.show()</a:t>
            </a:r>
            <a:endParaRPr sz="1850">
              <a:latin typeface="Monaco"/>
              <a:cs typeface="Monaco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9B3295A9-DC1A-1ABF-EC02-8A87F4D1E92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25</a:t>
            </a:fld>
            <a:endParaRPr lang="ko-KR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3815" y="1727283"/>
            <a:ext cx="7230745" cy="4966744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 marR="5080" algn="ctr">
              <a:lnSpc>
                <a:spcPts val="6770"/>
              </a:lnSpc>
              <a:spcBef>
                <a:spcPts val="1130"/>
              </a:spcBef>
            </a:pPr>
            <a:r>
              <a:rPr sz="6450" spc="-320" dirty="0"/>
              <a:t>Building </a:t>
            </a:r>
            <a:r>
              <a:rPr sz="6450" spc="-60" dirty="0"/>
              <a:t>recommender </a:t>
            </a:r>
            <a:r>
              <a:rPr sz="6450" spc="-330" dirty="0"/>
              <a:t>systems</a:t>
            </a:r>
            <a:r>
              <a:rPr sz="6450" spc="-220" dirty="0"/>
              <a:t> </a:t>
            </a:r>
            <a:r>
              <a:rPr sz="6450" spc="-345" dirty="0"/>
              <a:t>using</a:t>
            </a:r>
            <a:r>
              <a:rPr sz="6450" spc="-225" dirty="0"/>
              <a:t> </a:t>
            </a:r>
            <a:r>
              <a:rPr lang="en" altLang="ko-KR" sz="6450" spc="-204" dirty="0"/>
              <a:t>Non-</a:t>
            </a:r>
            <a:r>
              <a:rPr lang="en" altLang="ko-KR" sz="6450" spc="-80" dirty="0"/>
              <a:t>negative</a:t>
            </a:r>
            <a:r>
              <a:rPr lang="en" altLang="ko-KR" sz="6450" spc="-340" dirty="0"/>
              <a:t> </a:t>
            </a:r>
            <a:r>
              <a:rPr lang="en" altLang="ko-KR" sz="6450" spc="-10" dirty="0"/>
              <a:t>matrix </a:t>
            </a:r>
            <a:r>
              <a:rPr lang="en" altLang="ko-KR" sz="6450" spc="-125" dirty="0"/>
              <a:t>factorization</a:t>
            </a:r>
            <a:r>
              <a:rPr lang="en" altLang="ko-KR" sz="6450" spc="-325" dirty="0"/>
              <a:t> (</a:t>
            </a:r>
            <a:r>
              <a:rPr sz="6450" spc="65" dirty="0"/>
              <a:t>NMF</a:t>
            </a:r>
            <a:r>
              <a:rPr lang="en-US" sz="6450" spc="65" dirty="0"/>
              <a:t>)</a:t>
            </a:r>
            <a:endParaRPr sz="6450" dirty="0"/>
          </a:p>
          <a:p>
            <a:pPr marR="53975" algn="ctr">
              <a:lnSpc>
                <a:spcPct val="100000"/>
              </a:lnSpc>
              <a:spcBef>
                <a:spcPts val="910"/>
              </a:spcBef>
              <a:tabLst>
                <a:tab pos="2747645" algn="l"/>
                <a:tab pos="4648200" algn="l"/>
                <a:tab pos="5149850" algn="l"/>
              </a:tabLst>
            </a:pPr>
            <a:r>
              <a:rPr sz="2250" spc="-90" dirty="0"/>
              <a:t>U</a:t>
            </a:r>
            <a:r>
              <a:rPr sz="2250" spc="-305" dirty="0"/>
              <a:t> </a:t>
            </a:r>
            <a:r>
              <a:rPr sz="2250" spc="65" dirty="0"/>
              <a:t>N</a:t>
            </a:r>
            <a:r>
              <a:rPr sz="2250" spc="-300" dirty="0"/>
              <a:t> </a:t>
            </a:r>
            <a:r>
              <a:rPr sz="2250" spc="-210" dirty="0"/>
              <a:t>S</a:t>
            </a:r>
            <a:r>
              <a:rPr sz="2250" spc="-305" dirty="0"/>
              <a:t> </a:t>
            </a:r>
            <a:r>
              <a:rPr sz="2250" spc="-90" dirty="0"/>
              <a:t>U</a:t>
            </a:r>
            <a:r>
              <a:rPr sz="2250" spc="-300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105" dirty="0"/>
              <a:t>E</a:t>
            </a:r>
            <a:r>
              <a:rPr sz="2250" spc="-300" dirty="0"/>
              <a:t> </a:t>
            </a:r>
            <a:r>
              <a:rPr sz="2250" spc="-235" dirty="0"/>
              <a:t>R</a:t>
            </a:r>
            <a:r>
              <a:rPr sz="2250" spc="-305" dirty="0"/>
              <a:t> </a:t>
            </a:r>
            <a:r>
              <a:rPr sz="2250" spc="-30" dirty="0"/>
              <a:t>V</a:t>
            </a:r>
            <a:r>
              <a:rPr sz="2250" spc="-300" dirty="0"/>
              <a:t> </a:t>
            </a:r>
            <a:r>
              <a:rPr sz="2250" spc="-10" dirty="0"/>
              <a:t>I</a:t>
            </a:r>
            <a:r>
              <a:rPr sz="2250" spc="-305" dirty="0"/>
              <a:t> </a:t>
            </a:r>
            <a:r>
              <a:rPr sz="2250" spc="-210" dirty="0"/>
              <a:t>S</a:t>
            </a:r>
            <a:r>
              <a:rPr sz="2250" spc="-300" dirty="0"/>
              <a:t> </a:t>
            </a:r>
            <a:r>
              <a:rPr sz="2250" spc="-105" dirty="0"/>
              <a:t>E</a:t>
            </a:r>
            <a:r>
              <a:rPr sz="2250" spc="-305" dirty="0"/>
              <a:t> </a:t>
            </a:r>
            <a:r>
              <a:rPr sz="2250" spc="15" dirty="0"/>
              <a:t>D</a:t>
            </a:r>
            <a:r>
              <a:rPr sz="2250" dirty="0"/>
              <a:t>	</a:t>
            </a:r>
            <a:r>
              <a:rPr sz="2250" spc="-185" dirty="0"/>
              <a:t>L</a:t>
            </a:r>
            <a:r>
              <a:rPr sz="2250" spc="-305" dirty="0"/>
              <a:t> </a:t>
            </a:r>
            <a:r>
              <a:rPr sz="2250" spc="-105" dirty="0"/>
              <a:t>E</a:t>
            </a:r>
            <a:r>
              <a:rPr sz="2250" spc="-300" dirty="0"/>
              <a:t> </a:t>
            </a:r>
            <a:r>
              <a:rPr sz="2250" spc="-25" dirty="0"/>
              <a:t>A</a:t>
            </a:r>
            <a:r>
              <a:rPr sz="2250" spc="-300" dirty="0"/>
              <a:t> </a:t>
            </a:r>
            <a:r>
              <a:rPr sz="2250" spc="-235" dirty="0"/>
              <a:t>R</a:t>
            </a:r>
            <a:r>
              <a:rPr sz="2250" spc="-300" dirty="0"/>
              <a:t> </a:t>
            </a:r>
            <a:r>
              <a:rPr sz="2250" spc="65" dirty="0"/>
              <a:t>N</a:t>
            </a:r>
            <a:r>
              <a:rPr sz="2250" spc="-305" dirty="0"/>
              <a:t> </a:t>
            </a:r>
            <a:r>
              <a:rPr sz="2250" spc="-10" dirty="0"/>
              <a:t>I</a:t>
            </a:r>
            <a:r>
              <a:rPr sz="2250" spc="-300" dirty="0"/>
              <a:t> </a:t>
            </a:r>
            <a:r>
              <a:rPr sz="2250" spc="65" dirty="0"/>
              <a:t>N</a:t>
            </a:r>
            <a:r>
              <a:rPr sz="2250" spc="-300" dirty="0"/>
              <a:t> </a:t>
            </a:r>
            <a:r>
              <a:rPr sz="2250" spc="-50" dirty="0"/>
              <a:t>G</a:t>
            </a:r>
            <a:r>
              <a:rPr sz="2250" dirty="0"/>
              <a:t>	</a:t>
            </a:r>
            <a:r>
              <a:rPr sz="2250" spc="-10" dirty="0"/>
              <a:t>I</a:t>
            </a:r>
            <a:r>
              <a:rPr sz="2250" spc="-305" dirty="0"/>
              <a:t> </a:t>
            </a:r>
            <a:r>
              <a:rPr sz="2250" spc="15" dirty="0"/>
              <a:t>N</a:t>
            </a:r>
            <a:r>
              <a:rPr sz="2250" dirty="0"/>
              <a:t>	</a:t>
            </a:r>
            <a:r>
              <a:rPr sz="2250" spc="-120" dirty="0"/>
              <a:t>P</a:t>
            </a:r>
            <a:r>
              <a:rPr sz="2250" spc="-295" dirty="0"/>
              <a:t> </a:t>
            </a:r>
            <a:r>
              <a:rPr sz="2250" dirty="0"/>
              <a:t>Y</a:t>
            </a:r>
            <a:r>
              <a:rPr sz="2250" spc="-295" dirty="0"/>
              <a:t> </a:t>
            </a:r>
            <a:r>
              <a:rPr sz="2250" spc="-90" dirty="0"/>
              <a:t>T</a:t>
            </a:r>
            <a:r>
              <a:rPr sz="2250" spc="-295" dirty="0"/>
              <a:t> </a:t>
            </a:r>
            <a:r>
              <a:rPr sz="2250" dirty="0"/>
              <a:t>H</a:t>
            </a:r>
            <a:r>
              <a:rPr sz="2250" spc="-290" dirty="0"/>
              <a:t> </a:t>
            </a:r>
            <a:r>
              <a:rPr sz="2250" spc="70" dirty="0"/>
              <a:t>O</a:t>
            </a:r>
            <a:r>
              <a:rPr sz="2250" spc="-295" dirty="0"/>
              <a:t> </a:t>
            </a:r>
            <a:r>
              <a:rPr sz="2250" spc="15" dirty="0"/>
              <a:t>N</a:t>
            </a:r>
            <a:endParaRPr sz="2250" dirty="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4394200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Arial"/>
                <a:cs typeface="Arial"/>
              </a:rPr>
              <a:t>Benjamin</a:t>
            </a:r>
            <a:r>
              <a:rPr sz="255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Wilson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spc="70" dirty="0">
                <a:solidFill>
                  <a:srgbClr val="FFFFFF"/>
                </a:solidFill>
                <a:latin typeface="Arial"/>
                <a:cs typeface="Arial"/>
              </a:rPr>
              <a:t>Director</a:t>
            </a:r>
            <a:r>
              <a:rPr sz="225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12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5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Research</a:t>
            </a:r>
            <a:r>
              <a:rPr sz="225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165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225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50" dirty="0">
                <a:solidFill>
                  <a:srgbClr val="FFFFFF"/>
                </a:solidFill>
                <a:latin typeface="Arial"/>
                <a:cs typeface="Arial"/>
              </a:rPr>
              <a:t>lateral.io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3B76D947-13FF-3255-EED9-84AD42183CA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26</a:t>
            </a:fld>
            <a:endParaRPr lang="ko-KR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20" dirty="0"/>
              <a:t>Finding</a:t>
            </a:r>
            <a:r>
              <a:rPr spc="-185" dirty="0"/>
              <a:t> </a:t>
            </a:r>
            <a:r>
              <a:rPr spc="-105" dirty="0"/>
              <a:t>similar</a:t>
            </a:r>
            <a:r>
              <a:rPr spc="-180" dirty="0"/>
              <a:t> </a:t>
            </a:r>
            <a:r>
              <a:rPr spc="-25" dirty="0"/>
              <a:t>articles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8757285" cy="22199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Engineer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95" dirty="0">
                <a:solidFill>
                  <a:srgbClr val="04182D"/>
                </a:solidFill>
                <a:latin typeface="Arial"/>
                <a:cs typeface="Arial"/>
              </a:rPr>
              <a:t>at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large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online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newspaper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ct val="126400"/>
              </a:lnSpc>
              <a:spcBef>
                <a:spcPts val="1290"/>
              </a:spcBef>
            </a:pP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Task: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recommend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articles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similar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article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being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read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by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customer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Similar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articles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should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have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similar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topics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152440"/>
            <a:ext cx="102352" cy="102351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20371CC8-8F45-1A27-482F-0370DC58EBC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27</a:t>
            </a:fld>
            <a:endParaRPr lang="ko-KR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Strategy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8670925" cy="2383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Apply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NMF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word-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frequency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array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NMF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feature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values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describe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topics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ts val="5160"/>
              </a:lnSpc>
              <a:spcBef>
                <a:spcPts val="320"/>
              </a:spcBef>
            </a:pP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...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so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similar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documents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have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similar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NMF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feature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values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Compare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NMF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feature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values?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203"/>
            <a:ext cx="102352" cy="102351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9C0D6F60-E940-F13D-EAA3-7C390C923FD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28</a:t>
            </a:fld>
            <a:endParaRPr lang="ko-KR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35" dirty="0"/>
              <a:t>Apply</a:t>
            </a:r>
            <a:r>
              <a:rPr spc="-155" dirty="0"/>
              <a:t> </a:t>
            </a:r>
            <a:r>
              <a:rPr spc="95" dirty="0"/>
              <a:t>NMF</a:t>
            </a:r>
            <a:r>
              <a:rPr spc="-155" dirty="0"/>
              <a:t> </a:t>
            </a:r>
            <a:r>
              <a:rPr dirty="0"/>
              <a:t>to</a:t>
            </a:r>
            <a:r>
              <a:rPr spc="-155" dirty="0"/>
              <a:t> </a:t>
            </a:r>
            <a:r>
              <a:rPr dirty="0"/>
              <a:t>the</a:t>
            </a:r>
            <a:r>
              <a:rPr spc="-150" dirty="0"/>
              <a:t> </a:t>
            </a:r>
            <a:r>
              <a:rPr spc="-85" dirty="0"/>
              <a:t>word-</a:t>
            </a:r>
            <a:r>
              <a:rPr spc="-30" dirty="0"/>
              <a:t>frequency</a:t>
            </a:r>
            <a:r>
              <a:rPr spc="-155" dirty="0"/>
              <a:t> </a:t>
            </a:r>
            <a:r>
              <a:rPr spc="50" dirty="0"/>
              <a:t>array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1821841"/>
            <a:ext cx="9887585" cy="1801495"/>
            <a:chOff x="491289" y="1821841"/>
            <a:chExt cx="9887585" cy="1801495"/>
          </a:xfrm>
        </p:grpSpPr>
        <p:sp>
          <p:nvSpPr>
            <p:cNvPr id="4" name="object 4"/>
            <p:cNvSpPr/>
            <p:nvPr/>
          </p:nvSpPr>
          <p:spPr>
            <a:xfrm>
              <a:off x="491289" y="1821841"/>
              <a:ext cx="9887585" cy="1801495"/>
            </a:xfrm>
            <a:custGeom>
              <a:avLst/>
              <a:gdLst/>
              <a:ahLst/>
              <a:cxnLst/>
              <a:rect l="l" t="t" r="r" b="b"/>
              <a:pathLst>
                <a:path w="9887585" h="1801495">
                  <a:moveTo>
                    <a:pt x="9810694" y="1801394"/>
                  </a:moveTo>
                  <a:lnTo>
                    <a:pt x="76505" y="1801394"/>
                  </a:lnTo>
                  <a:lnTo>
                    <a:pt x="71180" y="1800870"/>
                  </a:lnTo>
                  <a:lnTo>
                    <a:pt x="31920" y="1784607"/>
                  </a:lnTo>
                  <a:lnTo>
                    <a:pt x="4175" y="1745880"/>
                  </a:lnTo>
                  <a:lnTo>
                    <a:pt x="0" y="1724888"/>
                  </a:lnTo>
                  <a:lnTo>
                    <a:pt x="0" y="1719512"/>
                  </a:lnTo>
                  <a:lnTo>
                    <a:pt x="0" y="76504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9810694" y="0"/>
                  </a:lnTo>
                  <a:lnTo>
                    <a:pt x="9855278" y="16786"/>
                  </a:lnTo>
                  <a:lnTo>
                    <a:pt x="9883023" y="55513"/>
                  </a:lnTo>
                  <a:lnTo>
                    <a:pt x="9887199" y="76504"/>
                  </a:lnTo>
                  <a:lnTo>
                    <a:pt x="9887199" y="1724888"/>
                  </a:lnTo>
                  <a:lnTo>
                    <a:pt x="9870412" y="1769473"/>
                  </a:lnTo>
                  <a:lnTo>
                    <a:pt x="9831684" y="1797218"/>
                  </a:lnTo>
                  <a:lnTo>
                    <a:pt x="9816018" y="1800870"/>
                  </a:lnTo>
                  <a:lnTo>
                    <a:pt x="9810694" y="1801394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2261" y="2102510"/>
              <a:ext cx="5645785" cy="283210"/>
            </a:xfrm>
            <a:custGeom>
              <a:avLst/>
              <a:gdLst/>
              <a:ahLst/>
              <a:cxnLst/>
              <a:rect l="l" t="t" r="r" b="b"/>
              <a:pathLst>
                <a:path w="5645785" h="283210">
                  <a:moveTo>
                    <a:pt x="147980" y="9994"/>
                  </a:moveTo>
                  <a:lnTo>
                    <a:pt x="93332" y="9994"/>
                  </a:lnTo>
                  <a:lnTo>
                    <a:pt x="83096" y="10769"/>
                  </a:lnTo>
                  <a:lnTo>
                    <a:pt x="49060" y="36728"/>
                  </a:lnTo>
                  <a:lnTo>
                    <a:pt x="45821" y="55473"/>
                  </a:lnTo>
                  <a:lnTo>
                    <a:pt x="45821" y="64719"/>
                  </a:lnTo>
                  <a:lnTo>
                    <a:pt x="0" y="64719"/>
                  </a:lnTo>
                  <a:lnTo>
                    <a:pt x="0" y="100114"/>
                  </a:lnTo>
                  <a:lnTo>
                    <a:pt x="45821" y="100114"/>
                  </a:lnTo>
                  <a:lnTo>
                    <a:pt x="45821" y="231101"/>
                  </a:lnTo>
                  <a:lnTo>
                    <a:pt x="83540" y="231101"/>
                  </a:lnTo>
                  <a:lnTo>
                    <a:pt x="83540" y="100114"/>
                  </a:lnTo>
                  <a:lnTo>
                    <a:pt x="147980" y="100114"/>
                  </a:lnTo>
                  <a:lnTo>
                    <a:pt x="147980" y="64719"/>
                  </a:lnTo>
                  <a:lnTo>
                    <a:pt x="83540" y="64719"/>
                  </a:lnTo>
                  <a:lnTo>
                    <a:pt x="83540" y="51892"/>
                  </a:lnTo>
                  <a:lnTo>
                    <a:pt x="84328" y="49441"/>
                  </a:lnTo>
                  <a:lnTo>
                    <a:pt x="87553" y="46215"/>
                  </a:lnTo>
                  <a:lnTo>
                    <a:pt x="90017" y="45402"/>
                  </a:lnTo>
                  <a:lnTo>
                    <a:pt x="147980" y="45402"/>
                  </a:lnTo>
                  <a:lnTo>
                    <a:pt x="147980" y="9994"/>
                  </a:lnTo>
                  <a:close/>
                </a:path>
                <a:path w="5645785" h="283210">
                  <a:moveTo>
                    <a:pt x="319646" y="122580"/>
                  </a:moveTo>
                  <a:lnTo>
                    <a:pt x="310400" y="85559"/>
                  </a:lnTo>
                  <a:lnTo>
                    <a:pt x="272326" y="59791"/>
                  </a:lnTo>
                  <a:lnTo>
                    <a:pt x="259270" y="58699"/>
                  </a:lnTo>
                  <a:lnTo>
                    <a:pt x="242265" y="61010"/>
                  </a:lnTo>
                  <a:lnTo>
                    <a:pt x="229666" y="67932"/>
                  </a:lnTo>
                  <a:lnTo>
                    <a:pt x="221488" y="79476"/>
                  </a:lnTo>
                  <a:lnTo>
                    <a:pt x="217703" y="95643"/>
                  </a:lnTo>
                  <a:lnTo>
                    <a:pt x="217792" y="95148"/>
                  </a:lnTo>
                  <a:lnTo>
                    <a:pt x="223647" y="61569"/>
                  </a:lnTo>
                  <a:lnTo>
                    <a:pt x="186575" y="61569"/>
                  </a:lnTo>
                  <a:lnTo>
                    <a:pt x="186575" y="231101"/>
                  </a:lnTo>
                  <a:lnTo>
                    <a:pt x="224218" y="231101"/>
                  </a:lnTo>
                  <a:lnTo>
                    <a:pt x="224269" y="114134"/>
                  </a:lnTo>
                  <a:lnTo>
                    <a:pt x="226758" y="106299"/>
                  </a:lnTo>
                  <a:lnTo>
                    <a:pt x="236562" y="95643"/>
                  </a:lnTo>
                  <a:lnTo>
                    <a:pt x="237083" y="95148"/>
                  </a:lnTo>
                  <a:lnTo>
                    <a:pt x="244106" y="92417"/>
                  </a:lnTo>
                  <a:lnTo>
                    <a:pt x="262572" y="92417"/>
                  </a:lnTo>
                  <a:lnTo>
                    <a:pt x="269697" y="95148"/>
                  </a:lnTo>
                  <a:lnTo>
                    <a:pt x="279527" y="106070"/>
                  </a:lnTo>
                  <a:lnTo>
                    <a:pt x="279603" y="106299"/>
                  </a:lnTo>
                  <a:lnTo>
                    <a:pt x="282003" y="114134"/>
                  </a:lnTo>
                  <a:lnTo>
                    <a:pt x="282003" y="137972"/>
                  </a:lnTo>
                  <a:lnTo>
                    <a:pt x="319646" y="137972"/>
                  </a:lnTo>
                  <a:lnTo>
                    <a:pt x="319646" y="122580"/>
                  </a:lnTo>
                  <a:close/>
                </a:path>
                <a:path w="5645785" h="283210">
                  <a:moveTo>
                    <a:pt x="485305" y="124536"/>
                  </a:moveTo>
                  <a:lnTo>
                    <a:pt x="475107" y="86144"/>
                  </a:lnTo>
                  <a:lnTo>
                    <a:pt x="447662" y="63957"/>
                  </a:lnTo>
                  <a:lnTo>
                    <a:pt x="447662" y="114363"/>
                  </a:lnTo>
                  <a:lnTo>
                    <a:pt x="447662" y="178295"/>
                  </a:lnTo>
                  <a:lnTo>
                    <a:pt x="445185" y="186131"/>
                  </a:lnTo>
                  <a:lnTo>
                    <a:pt x="435343" y="196532"/>
                  </a:lnTo>
                  <a:lnTo>
                    <a:pt x="428142" y="199123"/>
                  </a:lnTo>
                  <a:lnTo>
                    <a:pt x="409054" y="199123"/>
                  </a:lnTo>
                  <a:lnTo>
                    <a:pt x="401828" y="196532"/>
                  </a:lnTo>
                  <a:lnTo>
                    <a:pt x="392036" y="186131"/>
                  </a:lnTo>
                  <a:lnTo>
                    <a:pt x="389585" y="178295"/>
                  </a:lnTo>
                  <a:lnTo>
                    <a:pt x="389585" y="114363"/>
                  </a:lnTo>
                  <a:lnTo>
                    <a:pt x="392036" y="106553"/>
                  </a:lnTo>
                  <a:lnTo>
                    <a:pt x="401828" y="96151"/>
                  </a:lnTo>
                  <a:lnTo>
                    <a:pt x="409054" y="93535"/>
                  </a:lnTo>
                  <a:lnTo>
                    <a:pt x="428142" y="93535"/>
                  </a:lnTo>
                  <a:lnTo>
                    <a:pt x="435343" y="96151"/>
                  </a:lnTo>
                  <a:lnTo>
                    <a:pt x="440245" y="101371"/>
                  </a:lnTo>
                  <a:lnTo>
                    <a:pt x="445185" y="106553"/>
                  </a:lnTo>
                  <a:lnTo>
                    <a:pt x="447662" y="63957"/>
                  </a:lnTo>
                  <a:lnTo>
                    <a:pt x="418617" y="58699"/>
                  </a:lnTo>
                  <a:lnTo>
                    <a:pt x="404114" y="59804"/>
                  </a:lnTo>
                  <a:lnTo>
                    <a:pt x="362038" y="86144"/>
                  </a:lnTo>
                  <a:lnTo>
                    <a:pt x="351891" y="124536"/>
                  </a:lnTo>
                  <a:lnTo>
                    <a:pt x="351878" y="167843"/>
                  </a:lnTo>
                  <a:lnTo>
                    <a:pt x="352996" y="182333"/>
                  </a:lnTo>
                  <a:lnTo>
                    <a:pt x="379768" y="223964"/>
                  </a:lnTo>
                  <a:lnTo>
                    <a:pt x="418617" y="233959"/>
                  </a:lnTo>
                  <a:lnTo>
                    <a:pt x="433095" y="232854"/>
                  </a:lnTo>
                  <a:lnTo>
                    <a:pt x="475107" y="206502"/>
                  </a:lnTo>
                  <a:lnTo>
                    <a:pt x="485305" y="167843"/>
                  </a:lnTo>
                  <a:lnTo>
                    <a:pt x="485305" y="124536"/>
                  </a:lnTo>
                  <a:close/>
                </a:path>
                <a:path w="5645785" h="283210">
                  <a:moveTo>
                    <a:pt x="663549" y="105371"/>
                  </a:moveTo>
                  <a:lnTo>
                    <a:pt x="662940" y="95554"/>
                  </a:lnTo>
                  <a:lnTo>
                    <a:pt x="661873" y="90398"/>
                  </a:lnTo>
                  <a:lnTo>
                    <a:pt x="661098" y="86690"/>
                  </a:lnTo>
                  <a:lnTo>
                    <a:pt x="660450" y="85001"/>
                  </a:lnTo>
                  <a:lnTo>
                    <a:pt x="660374" y="84797"/>
                  </a:lnTo>
                  <a:lnTo>
                    <a:pt x="626402" y="58699"/>
                  </a:lnTo>
                  <a:lnTo>
                    <a:pt x="618045" y="58699"/>
                  </a:lnTo>
                  <a:lnTo>
                    <a:pt x="611365" y="61010"/>
                  </a:lnTo>
                  <a:lnTo>
                    <a:pt x="610514" y="61569"/>
                  </a:lnTo>
                  <a:lnTo>
                    <a:pt x="599694" y="70827"/>
                  </a:lnTo>
                  <a:lnTo>
                    <a:pt x="599389" y="71767"/>
                  </a:lnTo>
                  <a:lnTo>
                    <a:pt x="598830" y="70192"/>
                  </a:lnTo>
                  <a:lnTo>
                    <a:pt x="597941" y="69456"/>
                  </a:lnTo>
                  <a:lnTo>
                    <a:pt x="597941" y="78765"/>
                  </a:lnTo>
                  <a:lnTo>
                    <a:pt x="597687" y="77025"/>
                  </a:lnTo>
                  <a:lnTo>
                    <a:pt x="597814" y="76657"/>
                  </a:lnTo>
                  <a:lnTo>
                    <a:pt x="597839" y="77025"/>
                  </a:lnTo>
                  <a:lnTo>
                    <a:pt x="597941" y="78765"/>
                  </a:lnTo>
                  <a:lnTo>
                    <a:pt x="597941" y="69456"/>
                  </a:lnTo>
                  <a:lnTo>
                    <a:pt x="593369" y="65620"/>
                  </a:lnTo>
                  <a:lnTo>
                    <a:pt x="587959" y="61010"/>
                  </a:lnTo>
                  <a:lnTo>
                    <a:pt x="581291" y="58699"/>
                  </a:lnTo>
                  <a:lnTo>
                    <a:pt x="565010" y="58699"/>
                  </a:lnTo>
                  <a:lnTo>
                    <a:pt x="558431" y="61010"/>
                  </a:lnTo>
                  <a:lnTo>
                    <a:pt x="558203" y="61010"/>
                  </a:lnTo>
                  <a:lnTo>
                    <a:pt x="551053" y="67233"/>
                  </a:lnTo>
                  <a:lnTo>
                    <a:pt x="552094" y="61569"/>
                  </a:lnTo>
                  <a:lnTo>
                    <a:pt x="546138" y="61569"/>
                  </a:lnTo>
                  <a:lnTo>
                    <a:pt x="546138" y="84442"/>
                  </a:lnTo>
                  <a:lnTo>
                    <a:pt x="544741" y="77025"/>
                  </a:lnTo>
                  <a:lnTo>
                    <a:pt x="544868" y="76657"/>
                  </a:lnTo>
                  <a:lnTo>
                    <a:pt x="544906" y="77025"/>
                  </a:lnTo>
                  <a:lnTo>
                    <a:pt x="545071" y="78765"/>
                  </a:lnTo>
                  <a:lnTo>
                    <a:pt x="546138" y="84442"/>
                  </a:lnTo>
                  <a:lnTo>
                    <a:pt x="546138" y="61569"/>
                  </a:lnTo>
                  <a:lnTo>
                    <a:pt x="517525" y="61569"/>
                  </a:lnTo>
                  <a:lnTo>
                    <a:pt x="517525" y="231101"/>
                  </a:lnTo>
                  <a:lnTo>
                    <a:pt x="553212" y="231101"/>
                  </a:lnTo>
                  <a:lnTo>
                    <a:pt x="553212" y="99631"/>
                  </a:lnTo>
                  <a:lnTo>
                    <a:pt x="554075" y="95948"/>
                  </a:lnTo>
                  <a:lnTo>
                    <a:pt x="557568" y="91516"/>
                  </a:lnTo>
                  <a:lnTo>
                    <a:pt x="560095" y="90398"/>
                  </a:lnTo>
                  <a:lnTo>
                    <a:pt x="566813" y="90398"/>
                  </a:lnTo>
                  <a:lnTo>
                    <a:pt x="569328" y="91516"/>
                  </a:lnTo>
                  <a:lnTo>
                    <a:pt x="573024" y="95948"/>
                  </a:lnTo>
                  <a:lnTo>
                    <a:pt x="574179" y="99631"/>
                  </a:lnTo>
                  <a:lnTo>
                    <a:pt x="574268" y="231101"/>
                  </a:lnTo>
                  <a:lnTo>
                    <a:pt x="606806" y="231101"/>
                  </a:lnTo>
                  <a:lnTo>
                    <a:pt x="606831" y="99631"/>
                  </a:lnTo>
                  <a:lnTo>
                    <a:pt x="607860" y="95948"/>
                  </a:lnTo>
                  <a:lnTo>
                    <a:pt x="611644" y="91516"/>
                  </a:lnTo>
                  <a:lnTo>
                    <a:pt x="614197" y="90398"/>
                  </a:lnTo>
                  <a:lnTo>
                    <a:pt x="620915" y="90398"/>
                  </a:lnTo>
                  <a:lnTo>
                    <a:pt x="623379" y="91516"/>
                  </a:lnTo>
                  <a:lnTo>
                    <a:pt x="626770" y="95948"/>
                  </a:lnTo>
                  <a:lnTo>
                    <a:pt x="627786" y="99631"/>
                  </a:lnTo>
                  <a:lnTo>
                    <a:pt x="627862" y="231101"/>
                  </a:lnTo>
                  <a:lnTo>
                    <a:pt x="663549" y="231101"/>
                  </a:lnTo>
                  <a:lnTo>
                    <a:pt x="663549" y="105371"/>
                  </a:lnTo>
                  <a:close/>
                </a:path>
                <a:path w="5645785" h="283210">
                  <a:moveTo>
                    <a:pt x="4747323" y="16510"/>
                  </a:moveTo>
                  <a:lnTo>
                    <a:pt x="4745012" y="10909"/>
                  </a:lnTo>
                  <a:lnTo>
                    <a:pt x="4735779" y="2184"/>
                  </a:lnTo>
                  <a:lnTo>
                    <a:pt x="4729899" y="0"/>
                  </a:lnTo>
                  <a:lnTo>
                    <a:pt x="4709884" y="0"/>
                  </a:lnTo>
                  <a:lnTo>
                    <a:pt x="4704004" y="2184"/>
                  </a:lnTo>
                  <a:lnTo>
                    <a:pt x="4694771" y="10909"/>
                  </a:lnTo>
                  <a:lnTo>
                    <a:pt x="4692459" y="16510"/>
                  </a:lnTo>
                  <a:lnTo>
                    <a:pt x="4692459" y="30264"/>
                  </a:lnTo>
                  <a:lnTo>
                    <a:pt x="4694720" y="35814"/>
                  </a:lnTo>
                  <a:lnTo>
                    <a:pt x="4699254" y="40017"/>
                  </a:lnTo>
                  <a:lnTo>
                    <a:pt x="4703826" y="44170"/>
                  </a:lnTo>
                  <a:lnTo>
                    <a:pt x="4709744" y="46240"/>
                  </a:lnTo>
                  <a:lnTo>
                    <a:pt x="4729797" y="46240"/>
                  </a:lnTo>
                  <a:lnTo>
                    <a:pt x="4735652" y="44170"/>
                  </a:lnTo>
                  <a:lnTo>
                    <a:pt x="4745012" y="35814"/>
                  </a:lnTo>
                  <a:lnTo>
                    <a:pt x="4747323" y="30264"/>
                  </a:lnTo>
                  <a:lnTo>
                    <a:pt x="4747323" y="16510"/>
                  </a:lnTo>
                  <a:close/>
                </a:path>
                <a:path w="5645785" h="283210">
                  <a:moveTo>
                    <a:pt x="4794618" y="195694"/>
                  </a:moveTo>
                  <a:lnTo>
                    <a:pt x="4741583" y="195694"/>
                  </a:lnTo>
                  <a:lnTo>
                    <a:pt x="4741583" y="61569"/>
                  </a:lnTo>
                  <a:lnTo>
                    <a:pt x="4655172" y="61569"/>
                  </a:lnTo>
                  <a:lnTo>
                    <a:pt x="4655172" y="96964"/>
                  </a:lnTo>
                  <a:lnTo>
                    <a:pt x="4703864" y="96964"/>
                  </a:lnTo>
                  <a:lnTo>
                    <a:pt x="4703864" y="195694"/>
                  </a:lnTo>
                  <a:lnTo>
                    <a:pt x="4648035" y="195694"/>
                  </a:lnTo>
                  <a:lnTo>
                    <a:pt x="4648035" y="231101"/>
                  </a:lnTo>
                  <a:lnTo>
                    <a:pt x="4794618" y="231101"/>
                  </a:lnTo>
                  <a:lnTo>
                    <a:pt x="4794618" y="195694"/>
                  </a:lnTo>
                  <a:close/>
                </a:path>
                <a:path w="5645785" h="283210">
                  <a:moveTo>
                    <a:pt x="4961953" y="105371"/>
                  </a:moveTo>
                  <a:lnTo>
                    <a:pt x="4961331" y="95554"/>
                  </a:lnTo>
                  <a:lnTo>
                    <a:pt x="4960264" y="90398"/>
                  </a:lnTo>
                  <a:lnTo>
                    <a:pt x="4959502" y="86690"/>
                  </a:lnTo>
                  <a:lnTo>
                    <a:pt x="4958854" y="85001"/>
                  </a:lnTo>
                  <a:lnTo>
                    <a:pt x="4958766" y="84797"/>
                  </a:lnTo>
                  <a:lnTo>
                    <a:pt x="4956441" y="78765"/>
                  </a:lnTo>
                  <a:lnTo>
                    <a:pt x="4924793" y="58699"/>
                  </a:lnTo>
                  <a:lnTo>
                    <a:pt x="4916449" y="58699"/>
                  </a:lnTo>
                  <a:lnTo>
                    <a:pt x="4909769" y="61010"/>
                  </a:lnTo>
                  <a:lnTo>
                    <a:pt x="4908905" y="61569"/>
                  </a:lnTo>
                  <a:lnTo>
                    <a:pt x="4898098" y="70827"/>
                  </a:lnTo>
                  <a:lnTo>
                    <a:pt x="4897793" y="71767"/>
                  </a:lnTo>
                  <a:lnTo>
                    <a:pt x="4897234" y="70192"/>
                  </a:lnTo>
                  <a:lnTo>
                    <a:pt x="4896345" y="69456"/>
                  </a:lnTo>
                  <a:lnTo>
                    <a:pt x="4896345" y="78765"/>
                  </a:lnTo>
                  <a:lnTo>
                    <a:pt x="4896091" y="77025"/>
                  </a:lnTo>
                  <a:lnTo>
                    <a:pt x="4896218" y="76657"/>
                  </a:lnTo>
                  <a:lnTo>
                    <a:pt x="4896231" y="77025"/>
                  </a:lnTo>
                  <a:lnTo>
                    <a:pt x="4896345" y="78765"/>
                  </a:lnTo>
                  <a:lnTo>
                    <a:pt x="4896345" y="69456"/>
                  </a:lnTo>
                  <a:lnTo>
                    <a:pt x="4891773" y="65620"/>
                  </a:lnTo>
                  <a:lnTo>
                    <a:pt x="4886363" y="61010"/>
                  </a:lnTo>
                  <a:lnTo>
                    <a:pt x="4879695" y="58699"/>
                  </a:lnTo>
                  <a:lnTo>
                    <a:pt x="4863414" y="58699"/>
                  </a:lnTo>
                  <a:lnTo>
                    <a:pt x="4856835" y="61010"/>
                  </a:lnTo>
                  <a:lnTo>
                    <a:pt x="4856594" y="61010"/>
                  </a:lnTo>
                  <a:lnTo>
                    <a:pt x="4849444" y="67233"/>
                  </a:lnTo>
                  <a:lnTo>
                    <a:pt x="4850485" y="61569"/>
                  </a:lnTo>
                  <a:lnTo>
                    <a:pt x="4844542" y="61569"/>
                  </a:lnTo>
                  <a:lnTo>
                    <a:pt x="4844542" y="84442"/>
                  </a:lnTo>
                  <a:lnTo>
                    <a:pt x="4843145" y="77025"/>
                  </a:lnTo>
                  <a:lnTo>
                    <a:pt x="4843272" y="76657"/>
                  </a:lnTo>
                  <a:lnTo>
                    <a:pt x="4843310" y="77025"/>
                  </a:lnTo>
                  <a:lnTo>
                    <a:pt x="4843475" y="78765"/>
                  </a:lnTo>
                  <a:lnTo>
                    <a:pt x="4844542" y="84442"/>
                  </a:lnTo>
                  <a:lnTo>
                    <a:pt x="4844542" y="61569"/>
                  </a:lnTo>
                  <a:lnTo>
                    <a:pt x="4815929" y="61569"/>
                  </a:lnTo>
                  <a:lnTo>
                    <a:pt x="4815929" y="231101"/>
                  </a:lnTo>
                  <a:lnTo>
                    <a:pt x="4851616" y="231101"/>
                  </a:lnTo>
                  <a:lnTo>
                    <a:pt x="4851616" y="99631"/>
                  </a:lnTo>
                  <a:lnTo>
                    <a:pt x="4852479" y="95948"/>
                  </a:lnTo>
                  <a:lnTo>
                    <a:pt x="4855972" y="91516"/>
                  </a:lnTo>
                  <a:lnTo>
                    <a:pt x="4858486" y="90398"/>
                  </a:lnTo>
                  <a:lnTo>
                    <a:pt x="4865205" y="90398"/>
                  </a:lnTo>
                  <a:lnTo>
                    <a:pt x="4867732" y="91516"/>
                  </a:lnTo>
                  <a:lnTo>
                    <a:pt x="4871428" y="95948"/>
                  </a:lnTo>
                  <a:lnTo>
                    <a:pt x="4872571" y="99631"/>
                  </a:lnTo>
                  <a:lnTo>
                    <a:pt x="4872672" y="231101"/>
                  </a:lnTo>
                  <a:lnTo>
                    <a:pt x="4905210" y="231101"/>
                  </a:lnTo>
                  <a:lnTo>
                    <a:pt x="4905235" y="99631"/>
                  </a:lnTo>
                  <a:lnTo>
                    <a:pt x="4906264" y="95948"/>
                  </a:lnTo>
                  <a:lnTo>
                    <a:pt x="4910036" y="91516"/>
                  </a:lnTo>
                  <a:lnTo>
                    <a:pt x="4912601" y="90398"/>
                  </a:lnTo>
                  <a:lnTo>
                    <a:pt x="4919319" y="90398"/>
                  </a:lnTo>
                  <a:lnTo>
                    <a:pt x="4921783" y="91516"/>
                  </a:lnTo>
                  <a:lnTo>
                    <a:pt x="4925174" y="95948"/>
                  </a:lnTo>
                  <a:lnTo>
                    <a:pt x="4926190" y="99631"/>
                  </a:lnTo>
                  <a:lnTo>
                    <a:pt x="4926266" y="231101"/>
                  </a:lnTo>
                  <a:lnTo>
                    <a:pt x="4961953" y="231101"/>
                  </a:lnTo>
                  <a:lnTo>
                    <a:pt x="4961953" y="105371"/>
                  </a:lnTo>
                  <a:close/>
                </a:path>
                <a:path w="5645785" h="283210">
                  <a:moveTo>
                    <a:pt x="5127599" y="123139"/>
                  </a:moveTo>
                  <a:lnTo>
                    <a:pt x="5118938" y="85864"/>
                  </a:lnTo>
                  <a:lnTo>
                    <a:pt x="5089957" y="61887"/>
                  </a:lnTo>
                  <a:lnTo>
                    <a:pt x="5089957" y="114134"/>
                  </a:lnTo>
                  <a:lnTo>
                    <a:pt x="5089957" y="178523"/>
                  </a:lnTo>
                  <a:lnTo>
                    <a:pt x="5087556" y="186499"/>
                  </a:lnTo>
                  <a:lnTo>
                    <a:pt x="5078031" y="196951"/>
                  </a:lnTo>
                  <a:lnTo>
                    <a:pt x="5070957" y="199682"/>
                  </a:lnTo>
                  <a:lnTo>
                    <a:pt x="5052809" y="199682"/>
                  </a:lnTo>
                  <a:lnTo>
                    <a:pt x="5045761" y="196951"/>
                  </a:lnTo>
                  <a:lnTo>
                    <a:pt x="5044846" y="195973"/>
                  </a:lnTo>
                  <a:lnTo>
                    <a:pt x="5040630" y="191490"/>
                  </a:lnTo>
                  <a:lnTo>
                    <a:pt x="5035550" y="185991"/>
                  </a:lnTo>
                  <a:lnTo>
                    <a:pt x="5033137" y="178523"/>
                  </a:lnTo>
                  <a:lnTo>
                    <a:pt x="5033137" y="114134"/>
                  </a:lnTo>
                  <a:lnTo>
                    <a:pt x="5052809" y="92976"/>
                  </a:lnTo>
                  <a:lnTo>
                    <a:pt x="5070957" y="92976"/>
                  </a:lnTo>
                  <a:lnTo>
                    <a:pt x="5077942" y="95618"/>
                  </a:lnTo>
                  <a:lnTo>
                    <a:pt x="5087556" y="106159"/>
                  </a:lnTo>
                  <a:lnTo>
                    <a:pt x="5089957" y="114134"/>
                  </a:lnTo>
                  <a:lnTo>
                    <a:pt x="5089957" y="61887"/>
                  </a:lnTo>
                  <a:lnTo>
                    <a:pt x="5082933" y="59804"/>
                  </a:lnTo>
                  <a:lnTo>
                    <a:pt x="5070373" y="58699"/>
                  </a:lnTo>
                  <a:lnTo>
                    <a:pt x="5060899" y="59334"/>
                  </a:lnTo>
                  <a:lnTo>
                    <a:pt x="5030775" y="75780"/>
                  </a:lnTo>
                  <a:lnTo>
                    <a:pt x="5033010" y="61569"/>
                  </a:lnTo>
                  <a:lnTo>
                    <a:pt x="5026507" y="61569"/>
                  </a:lnTo>
                  <a:lnTo>
                    <a:pt x="5026507" y="195973"/>
                  </a:lnTo>
                  <a:lnTo>
                    <a:pt x="5026469" y="196951"/>
                  </a:lnTo>
                  <a:lnTo>
                    <a:pt x="5026368" y="198932"/>
                  </a:lnTo>
                  <a:lnTo>
                    <a:pt x="5026507" y="195973"/>
                  </a:lnTo>
                  <a:lnTo>
                    <a:pt x="5026507" y="61569"/>
                  </a:lnTo>
                  <a:lnTo>
                    <a:pt x="4995367" y="61569"/>
                  </a:lnTo>
                  <a:lnTo>
                    <a:pt x="4995367" y="282663"/>
                  </a:lnTo>
                  <a:lnTo>
                    <a:pt x="5033010" y="282663"/>
                  </a:lnTo>
                  <a:lnTo>
                    <a:pt x="5032807" y="229552"/>
                  </a:lnTo>
                  <a:lnTo>
                    <a:pt x="5030787" y="216966"/>
                  </a:lnTo>
                  <a:lnTo>
                    <a:pt x="5031460" y="218160"/>
                  </a:lnTo>
                  <a:lnTo>
                    <a:pt x="5070373" y="233959"/>
                  </a:lnTo>
                  <a:lnTo>
                    <a:pt x="5082933" y="232867"/>
                  </a:lnTo>
                  <a:lnTo>
                    <a:pt x="5118938" y="206781"/>
                  </a:lnTo>
                  <a:lnTo>
                    <a:pt x="5127599" y="169240"/>
                  </a:lnTo>
                  <a:lnTo>
                    <a:pt x="5127599" y="123139"/>
                  </a:lnTo>
                  <a:close/>
                </a:path>
                <a:path w="5645785" h="283210">
                  <a:moveTo>
                    <a:pt x="5299557" y="124536"/>
                  </a:moveTo>
                  <a:lnTo>
                    <a:pt x="5289359" y="86144"/>
                  </a:lnTo>
                  <a:lnTo>
                    <a:pt x="5261915" y="63957"/>
                  </a:lnTo>
                  <a:lnTo>
                    <a:pt x="5261915" y="114363"/>
                  </a:lnTo>
                  <a:lnTo>
                    <a:pt x="5261915" y="178295"/>
                  </a:lnTo>
                  <a:lnTo>
                    <a:pt x="5259438" y="186131"/>
                  </a:lnTo>
                  <a:lnTo>
                    <a:pt x="5249596" y="196532"/>
                  </a:lnTo>
                  <a:lnTo>
                    <a:pt x="5242395" y="199123"/>
                  </a:lnTo>
                  <a:lnTo>
                    <a:pt x="5223307" y="199123"/>
                  </a:lnTo>
                  <a:lnTo>
                    <a:pt x="5216080" y="196532"/>
                  </a:lnTo>
                  <a:lnTo>
                    <a:pt x="5206289" y="186131"/>
                  </a:lnTo>
                  <a:lnTo>
                    <a:pt x="5203837" y="178295"/>
                  </a:lnTo>
                  <a:lnTo>
                    <a:pt x="5203837" y="114363"/>
                  </a:lnTo>
                  <a:lnTo>
                    <a:pt x="5206289" y="106553"/>
                  </a:lnTo>
                  <a:lnTo>
                    <a:pt x="5216080" y="96151"/>
                  </a:lnTo>
                  <a:lnTo>
                    <a:pt x="5223307" y="93535"/>
                  </a:lnTo>
                  <a:lnTo>
                    <a:pt x="5242395" y="93535"/>
                  </a:lnTo>
                  <a:lnTo>
                    <a:pt x="5249596" y="96151"/>
                  </a:lnTo>
                  <a:lnTo>
                    <a:pt x="5254498" y="101371"/>
                  </a:lnTo>
                  <a:lnTo>
                    <a:pt x="5259438" y="106553"/>
                  </a:lnTo>
                  <a:lnTo>
                    <a:pt x="5261915" y="63957"/>
                  </a:lnTo>
                  <a:lnTo>
                    <a:pt x="5232870" y="58699"/>
                  </a:lnTo>
                  <a:lnTo>
                    <a:pt x="5218366" y="59804"/>
                  </a:lnTo>
                  <a:lnTo>
                    <a:pt x="5176291" y="86144"/>
                  </a:lnTo>
                  <a:lnTo>
                    <a:pt x="5166144" y="124536"/>
                  </a:lnTo>
                  <a:lnTo>
                    <a:pt x="5166131" y="167843"/>
                  </a:lnTo>
                  <a:lnTo>
                    <a:pt x="5167249" y="182333"/>
                  </a:lnTo>
                  <a:lnTo>
                    <a:pt x="5194020" y="223964"/>
                  </a:lnTo>
                  <a:lnTo>
                    <a:pt x="5232870" y="233959"/>
                  </a:lnTo>
                  <a:lnTo>
                    <a:pt x="5247348" y="232854"/>
                  </a:lnTo>
                  <a:lnTo>
                    <a:pt x="5289359" y="206502"/>
                  </a:lnTo>
                  <a:lnTo>
                    <a:pt x="5299557" y="167843"/>
                  </a:lnTo>
                  <a:lnTo>
                    <a:pt x="5299557" y="124536"/>
                  </a:lnTo>
                  <a:close/>
                </a:path>
                <a:path w="5645785" h="283210">
                  <a:moveTo>
                    <a:pt x="5477802" y="122580"/>
                  </a:moveTo>
                  <a:lnTo>
                    <a:pt x="5468556" y="85559"/>
                  </a:lnTo>
                  <a:lnTo>
                    <a:pt x="5430482" y="59791"/>
                  </a:lnTo>
                  <a:lnTo>
                    <a:pt x="5417413" y="58699"/>
                  </a:lnTo>
                  <a:lnTo>
                    <a:pt x="5400421" y="61010"/>
                  </a:lnTo>
                  <a:lnTo>
                    <a:pt x="5387822" y="67932"/>
                  </a:lnTo>
                  <a:lnTo>
                    <a:pt x="5379631" y="79476"/>
                  </a:lnTo>
                  <a:lnTo>
                    <a:pt x="5375859" y="95643"/>
                  </a:lnTo>
                  <a:lnTo>
                    <a:pt x="5375948" y="95148"/>
                  </a:lnTo>
                  <a:lnTo>
                    <a:pt x="5381803" y="61569"/>
                  </a:lnTo>
                  <a:lnTo>
                    <a:pt x="5344719" y="61569"/>
                  </a:lnTo>
                  <a:lnTo>
                    <a:pt x="5344719" y="231101"/>
                  </a:lnTo>
                  <a:lnTo>
                    <a:pt x="5382361" y="231101"/>
                  </a:lnTo>
                  <a:lnTo>
                    <a:pt x="5382425" y="114134"/>
                  </a:lnTo>
                  <a:lnTo>
                    <a:pt x="5384901" y="106299"/>
                  </a:lnTo>
                  <a:lnTo>
                    <a:pt x="5394718" y="95643"/>
                  </a:lnTo>
                  <a:lnTo>
                    <a:pt x="5395239" y="95148"/>
                  </a:lnTo>
                  <a:lnTo>
                    <a:pt x="5402262" y="92417"/>
                  </a:lnTo>
                  <a:lnTo>
                    <a:pt x="5420728" y="92417"/>
                  </a:lnTo>
                  <a:lnTo>
                    <a:pt x="5427840" y="95148"/>
                  </a:lnTo>
                  <a:lnTo>
                    <a:pt x="5437683" y="106070"/>
                  </a:lnTo>
                  <a:lnTo>
                    <a:pt x="5437759" y="106299"/>
                  </a:lnTo>
                  <a:lnTo>
                    <a:pt x="5440159" y="114134"/>
                  </a:lnTo>
                  <a:lnTo>
                    <a:pt x="5440159" y="137972"/>
                  </a:lnTo>
                  <a:lnTo>
                    <a:pt x="5477802" y="137972"/>
                  </a:lnTo>
                  <a:lnTo>
                    <a:pt x="5477802" y="122580"/>
                  </a:lnTo>
                  <a:close/>
                </a:path>
                <a:path w="5645785" h="283210">
                  <a:moveTo>
                    <a:pt x="5645759" y="61569"/>
                  </a:moveTo>
                  <a:lnTo>
                    <a:pt x="5582717" y="61569"/>
                  </a:lnTo>
                  <a:lnTo>
                    <a:pt x="5582717" y="18605"/>
                  </a:lnTo>
                  <a:lnTo>
                    <a:pt x="5545010" y="18605"/>
                  </a:lnTo>
                  <a:lnTo>
                    <a:pt x="5545010" y="61569"/>
                  </a:lnTo>
                  <a:lnTo>
                    <a:pt x="5500586" y="61569"/>
                  </a:lnTo>
                  <a:lnTo>
                    <a:pt x="5500586" y="96964"/>
                  </a:lnTo>
                  <a:lnTo>
                    <a:pt x="5545010" y="96964"/>
                  </a:lnTo>
                  <a:lnTo>
                    <a:pt x="5545010" y="183591"/>
                  </a:lnTo>
                  <a:lnTo>
                    <a:pt x="5545823" y="194144"/>
                  </a:lnTo>
                  <a:lnTo>
                    <a:pt x="5573649" y="227952"/>
                  </a:lnTo>
                  <a:lnTo>
                    <a:pt x="5593981" y="231101"/>
                  </a:lnTo>
                  <a:lnTo>
                    <a:pt x="5642889" y="231101"/>
                  </a:lnTo>
                  <a:lnTo>
                    <a:pt x="5642889" y="195694"/>
                  </a:lnTo>
                  <a:lnTo>
                    <a:pt x="5589790" y="195694"/>
                  </a:lnTo>
                  <a:lnTo>
                    <a:pt x="5586844" y="194805"/>
                  </a:lnTo>
                  <a:lnTo>
                    <a:pt x="5583542" y="191262"/>
                  </a:lnTo>
                  <a:lnTo>
                    <a:pt x="5582717" y="188112"/>
                  </a:lnTo>
                  <a:lnTo>
                    <a:pt x="5582717" y="96964"/>
                  </a:lnTo>
                  <a:lnTo>
                    <a:pt x="5645759" y="96964"/>
                  </a:lnTo>
                  <a:lnTo>
                    <a:pt x="5645759" y="61569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22"/>
            <a:ext cx="102352" cy="10235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900697" y="1207729"/>
            <a:ext cx="1453515" cy="429895"/>
          </a:xfrm>
          <a:custGeom>
            <a:avLst/>
            <a:gdLst/>
            <a:ahLst/>
            <a:cxnLst/>
            <a:rect l="l" t="t" r="r" b="b"/>
            <a:pathLst>
              <a:path w="1453514" h="429894">
                <a:moveTo>
                  <a:pt x="1376892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376892" y="0"/>
                </a:lnTo>
                <a:lnTo>
                  <a:pt x="1421477" y="16786"/>
                </a:lnTo>
                <a:lnTo>
                  <a:pt x="1449222" y="55513"/>
                </a:lnTo>
                <a:lnTo>
                  <a:pt x="1453397" y="76505"/>
                </a:lnTo>
                <a:lnTo>
                  <a:pt x="1453397" y="353373"/>
                </a:lnTo>
                <a:lnTo>
                  <a:pt x="1436611" y="397957"/>
                </a:lnTo>
                <a:lnTo>
                  <a:pt x="1397883" y="425702"/>
                </a:lnTo>
                <a:lnTo>
                  <a:pt x="1382217" y="429353"/>
                </a:lnTo>
                <a:lnTo>
                  <a:pt x="1376892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42352" y="1174558"/>
            <a:ext cx="7247890" cy="22117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2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articles</a:t>
            </a:r>
            <a:r>
              <a:rPr sz="2250" spc="38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is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word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frequency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array</a:t>
            </a:r>
            <a:endParaRPr sz="2550">
              <a:latin typeface="Arial"/>
              <a:cs typeface="Arial"/>
            </a:endParaRPr>
          </a:p>
          <a:p>
            <a:pPr marL="12700" marR="864869" indent="859155">
              <a:lnSpc>
                <a:spcPct val="143300"/>
              </a:lnSpc>
              <a:spcBef>
                <a:spcPts val="2520"/>
              </a:spcBef>
              <a:tabLst>
                <a:tab pos="5857875" algn="l"/>
              </a:tabLst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sklearn.decomposition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04182D"/>
                </a:solidFill>
                <a:latin typeface="Monaco"/>
                <a:cs typeface="Monaco"/>
              </a:rPr>
              <a:t>NMF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nmf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=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NMF(n_components=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6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)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nmf_features =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nmf.fit_transform(articles)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716984A-90F3-F806-DCC1-174563792DF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29</a:t>
            </a:fld>
            <a:endParaRPr lang="ko-KR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65" dirty="0"/>
              <a:t>Versions</a:t>
            </a:r>
            <a:r>
              <a:rPr spc="-8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35" dirty="0"/>
              <a:t>articles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22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076300"/>
            <a:ext cx="8921750" cy="16630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6400"/>
              </a:lnSpc>
              <a:spcBef>
                <a:spcPts val="95"/>
              </a:spcBef>
            </a:pP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Different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versions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same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document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have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same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topic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proportions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95"/>
              </a:spcBef>
            </a:pP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...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exact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feature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values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75" dirty="0">
                <a:solidFill>
                  <a:srgbClr val="04182D"/>
                </a:solidFill>
                <a:latin typeface="Arial"/>
                <a:cs typeface="Arial"/>
              </a:rPr>
              <a:t>may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be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different!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497364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152416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3807469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2250" y="4912331"/>
            <a:ext cx="2483626" cy="1469558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AD68A2CD-1B02-C0CA-C447-094151FE759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30</a:t>
            </a:fld>
            <a:endParaRPr lang="ko-KR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65" dirty="0"/>
              <a:t>Versions</a:t>
            </a:r>
            <a:r>
              <a:rPr spc="-8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35" dirty="0"/>
              <a:t>articles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22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076300"/>
            <a:ext cx="8921750" cy="2318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6400"/>
              </a:lnSpc>
              <a:spcBef>
                <a:spcPts val="95"/>
              </a:spcBef>
            </a:pP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Different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versions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same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document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have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same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topic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proportions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95"/>
              </a:spcBef>
            </a:pP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...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exact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feature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values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75" dirty="0">
                <a:solidFill>
                  <a:srgbClr val="04182D"/>
                </a:solidFill>
                <a:latin typeface="Arial"/>
                <a:cs typeface="Arial"/>
              </a:rPr>
              <a:t>may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be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different!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E.g.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because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one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version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uses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Arial"/>
                <a:cs typeface="Arial"/>
              </a:rPr>
              <a:t>many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meaningless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words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497364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152416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3807469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2250" y="4912331"/>
            <a:ext cx="5221529" cy="1469558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9E2016A9-4397-A028-DE38-E15C4596CB0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31</a:t>
            </a:fld>
            <a:endParaRPr lang="ko-KR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65" dirty="0"/>
              <a:t>Versions</a:t>
            </a:r>
            <a:r>
              <a:rPr spc="-8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35" dirty="0"/>
              <a:t>articles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22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076300"/>
            <a:ext cx="8921750" cy="2973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6400"/>
              </a:lnSpc>
              <a:spcBef>
                <a:spcPts val="95"/>
              </a:spcBef>
            </a:pP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Different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versions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same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document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have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same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topic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proportions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95"/>
              </a:spcBef>
            </a:pP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...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exact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feature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values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75" dirty="0">
                <a:solidFill>
                  <a:srgbClr val="04182D"/>
                </a:solidFill>
                <a:latin typeface="Arial"/>
                <a:cs typeface="Arial"/>
              </a:rPr>
              <a:t>may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be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different!</a:t>
            </a:r>
            <a:endParaRPr sz="2550">
              <a:latin typeface="Arial"/>
              <a:cs typeface="Arial"/>
            </a:endParaRPr>
          </a:p>
          <a:p>
            <a:pPr marL="12700" marR="316230">
              <a:lnSpc>
                <a:spcPts val="5160"/>
              </a:lnSpc>
              <a:spcBef>
                <a:spcPts val="32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E.g.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because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one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version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uses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Arial"/>
                <a:cs typeface="Arial"/>
              </a:rPr>
              <a:t>many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meaningless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words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But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all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versions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lie on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same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line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through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origin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497364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152416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3807469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6769" y="4355321"/>
            <a:ext cx="9763018" cy="3211696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2880501A-F9D1-EF9A-630F-75E9AF85DDB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32</a:t>
            </a:fld>
            <a:endParaRPr lang="ko-KR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30" dirty="0"/>
              <a:t>Cosine</a:t>
            </a:r>
            <a:r>
              <a:rPr spc="-180" dirty="0"/>
              <a:t> </a:t>
            </a:r>
            <a:r>
              <a:rPr spc="-55" dirty="0"/>
              <a:t>similarity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22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58"/>
            <a:ext cx="6924675" cy="17291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Uses</a:t>
            </a:r>
            <a:r>
              <a:rPr sz="2550" spc="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angle</a:t>
            </a:r>
            <a:r>
              <a:rPr sz="2550" spc="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between</a:t>
            </a:r>
            <a:r>
              <a:rPr sz="2550" spc="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lines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Higher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values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means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more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similar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Maximum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value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280" dirty="0">
                <a:solidFill>
                  <a:srgbClr val="04182D"/>
                </a:solidFill>
                <a:latin typeface="Arial"/>
                <a:cs typeface="Arial"/>
              </a:rPr>
              <a:t>1,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when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angle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310" dirty="0">
                <a:solidFill>
                  <a:srgbClr val="04182D"/>
                </a:solidFill>
                <a:latin typeface="Arial"/>
                <a:cs typeface="Arial"/>
              </a:rPr>
              <a:t>0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degrees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74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27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76917" y="3131946"/>
            <a:ext cx="5915943" cy="3827963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0A4E30F1-4E81-140E-C1D2-F1DB6DCD23D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33</a:t>
            </a:fld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0644B3-023B-61F1-8F36-C7C4B58B5B71}"/>
              </a:ext>
            </a:extLst>
          </p:cNvPr>
          <p:cNvSpPr txBox="1"/>
          <p:nvPr/>
        </p:nvSpPr>
        <p:spPr>
          <a:xfrm>
            <a:off x="8540749" y="2778132"/>
            <a:ext cx="653072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/>
              <a:t>Cosine similarity</a:t>
            </a:r>
            <a:r>
              <a:rPr lang="en" altLang="ko-KR" dirty="0"/>
              <a:t> is a metric used to measure the similarity between two non-zero vectors based on the cosine of the angle between them. It is widely used in applications like </a:t>
            </a:r>
            <a:r>
              <a:rPr lang="en" altLang="ko-KR" b="1" dirty="0"/>
              <a:t>text analysis</a:t>
            </a:r>
            <a:r>
              <a:rPr lang="en" altLang="ko-KR" dirty="0"/>
              <a:t>, </a:t>
            </a:r>
            <a:r>
              <a:rPr lang="en" altLang="ko-KR" b="1" dirty="0"/>
              <a:t>information retrieval</a:t>
            </a:r>
            <a:r>
              <a:rPr lang="en" altLang="ko-KR" dirty="0"/>
              <a:t>, and </a:t>
            </a:r>
            <a:r>
              <a:rPr lang="en" altLang="ko-KR" b="1" dirty="0"/>
              <a:t>machine learning</a:t>
            </a:r>
            <a:r>
              <a:rPr lang="en" altLang="ko-KR" dirty="0"/>
              <a:t> to determine how similar two pieces of data are in terms of their direction in a high-dimensional space.</a:t>
            </a:r>
          </a:p>
          <a:p>
            <a:endParaRPr lang="en" altLang="ko-KR" dirty="0"/>
          </a:p>
          <a:p>
            <a:r>
              <a:rPr lang="en" altLang="ko-KR" dirty="0"/>
              <a:t>Cosine similarity is a versatile and widely-used metric to compare vectors based on their orientation in space. Its emphasis on direction rather than magnitude makes it particularly useful for text similarity, clustering, and high-dimensional data analysis.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Calculating</a:t>
            </a:r>
            <a:r>
              <a:rPr spc="-160" dirty="0"/>
              <a:t> </a:t>
            </a:r>
            <a:r>
              <a:rPr dirty="0"/>
              <a:t>the</a:t>
            </a:r>
            <a:r>
              <a:rPr spc="-150" dirty="0"/>
              <a:t> </a:t>
            </a:r>
            <a:r>
              <a:rPr spc="-155" dirty="0"/>
              <a:t>cosine</a:t>
            </a:r>
            <a:r>
              <a:rPr spc="-150" dirty="0"/>
              <a:t> </a:t>
            </a:r>
            <a:r>
              <a:rPr spc="-85" dirty="0"/>
              <a:t>similarities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1166812"/>
            <a:ext cx="9887585" cy="3275329"/>
            <a:chOff x="491289" y="1166812"/>
            <a:chExt cx="9887585" cy="3275329"/>
          </a:xfrm>
        </p:grpSpPr>
        <p:sp>
          <p:nvSpPr>
            <p:cNvPr id="4" name="object 4"/>
            <p:cNvSpPr/>
            <p:nvPr/>
          </p:nvSpPr>
          <p:spPr>
            <a:xfrm>
              <a:off x="491289" y="1166812"/>
              <a:ext cx="9887585" cy="3275329"/>
            </a:xfrm>
            <a:custGeom>
              <a:avLst/>
              <a:gdLst/>
              <a:ahLst/>
              <a:cxnLst/>
              <a:rect l="l" t="t" r="r" b="b"/>
              <a:pathLst>
                <a:path w="9887585" h="3275329">
                  <a:moveTo>
                    <a:pt x="9810694" y="3275262"/>
                  </a:moveTo>
                  <a:lnTo>
                    <a:pt x="76505" y="3275262"/>
                  </a:lnTo>
                  <a:lnTo>
                    <a:pt x="71180" y="3274738"/>
                  </a:lnTo>
                  <a:lnTo>
                    <a:pt x="31920" y="3258476"/>
                  </a:lnTo>
                  <a:lnTo>
                    <a:pt x="4175" y="3219748"/>
                  </a:lnTo>
                  <a:lnTo>
                    <a:pt x="0" y="3198757"/>
                  </a:lnTo>
                  <a:lnTo>
                    <a:pt x="0" y="3193381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9810694" y="0"/>
                  </a:lnTo>
                  <a:lnTo>
                    <a:pt x="9855278" y="16786"/>
                  </a:lnTo>
                  <a:lnTo>
                    <a:pt x="9883023" y="55513"/>
                  </a:lnTo>
                  <a:lnTo>
                    <a:pt x="9887199" y="76505"/>
                  </a:lnTo>
                  <a:lnTo>
                    <a:pt x="9887199" y="3198757"/>
                  </a:lnTo>
                  <a:lnTo>
                    <a:pt x="9870412" y="3243342"/>
                  </a:lnTo>
                  <a:lnTo>
                    <a:pt x="9831684" y="3271087"/>
                  </a:lnTo>
                  <a:lnTo>
                    <a:pt x="9816018" y="3274738"/>
                  </a:lnTo>
                  <a:lnTo>
                    <a:pt x="9810694" y="3275262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2261" y="1447482"/>
              <a:ext cx="5645785" cy="283210"/>
            </a:xfrm>
            <a:custGeom>
              <a:avLst/>
              <a:gdLst/>
              <a:ahLst/>
              <a:cxnLst/>
              <a:rect l="l" t="t" r="r" b="b"/>
              <a:pathLst>
                <a:path w="5645785" h="283210">
                  <a:moveTo>
                    <a:pt x="147980" y="9994"/>
                  </a:moveTo>
                  <a:lnTo>
                    <a:pt x="93332" y="9994"/>
                  </a:lnTo>
                  <a:lnTo>
                    <a:pt x="83096" y="10769"/>
                  </a:lnTo>
                  <a:lnTo>
                    <a:pt x="49060" y="36728"/>
                  </a:lnTo>
                  <a:lnTo>
                    <a:pt x="45821" y="55473"/>
                  </a:lnTo>
                  <a:lnTo>
                    <a:pt x="45821" y="64719"/>
                  </a:lnTo>
                  <a:lnTo>
                    <a:pt x="0" y="64719"/>
                  </a:lnTo>
                  <a:lnTo>
                    <a:pt x="0" y="100114"/>
                  </a:lnTo>
                  <a:lnTo>
                    <a:pt x="45821" y="100114"/>
                  </a:lnTo>
                  <a:lnTo>
                    <a:pt x="45821" y="231101"/>
                  </a:lnTo>
                  <a:lnTo>
                    <a:pt x="83540" y="231101"/>
                  </a:lnTo>
                  <a:lnTo>
                    <a:pt x="83540" y="100114"/>
                  </a:lnTo>
                  <a:lnTo>
                    <a:pt x="147980" y="100114"/>
                  </a:lnTo>
                  <a:lnTo>
                    <a:pt x="147980" y="64719"/>
                  </a:lnTo>
                  <a:lnTo>
                    <a:pt x="83540" y="64719"/>
                  </a:lnTo>
                  <a:lnTo>
                    <a:pt x="83540" y="51892"/>
                  </a:lnTo>
                  <a:lnTo>
                    <a:pt x="84328" y="49441"/>
                  </a:lnTo>
                  <a:lnTo>
                    <a:pt x="87553" y="46215"/>
                  </a:lnTo>
                  <a:lnTo>
                    <a:pt x="90017" y="45402"/>
                  </a:lnTo>
                  <a:lnTo>
                    <a:pt x="147980" y="45402"/>
                  </a:lnTo>
                  <a:lnTo>
                    <a:pt x="147980" y="9994"/>
                  </a:lnTo>
                  <a:close/>
                </a:path>
                <a:path w="5645785" h="283210">
                  <a:moveTo>
                    <a:pt x="319646" y="122580"/>
                  </a:moveTo>
                  <a:lnTo>
                    <a:pt x="310400" y="85559"/>
                  </a:lnTo>
                  <a:lnTo>
                    <a:pt x="272326" y="59791"/>
                  </a:lnTo>
                  <a:lnTo>
                    <a:pt x="259270" y="58699"/>
                  </a:lnTo>
                  <a:lnTo>
                    <a:pt x="242265" y="61010"/>
                  </a:lnTo>
                  <a:lnTo>
                    <a:pt x="229666" y="67932"/>
                  </a:lnTo>
                  <a:lnTo>
                    <a:pt x="221488" y="79476"/>
                  </a:lnTo>
                  <a:lnTo>
                    <a:pt x="217703" y="95643"/>
                  </a:lnTo>
                  <a:lnTo>
                    <a:pt x="217792" y="95148"/>
                  </a:lnTo>
                  <a:lnTo>
                    <a:pt x="223647" y="61569"/>
                  </a:lnTo>
                  <a:lnTo>
                    <a:pt x="186575" y="61569"/>
                  </a:lnTo>
                  <a:lnTo>
                    <a:pt x="186575" y="231101"/>
                  </a:lnTo>
                  <a:lnTo>
                    <a:pt x="224218" y="231101"/>
                  </a:lnTo>
                  <a:lnTo>
                    <a:pt x="224269" y="114134"/>
                  </a:lnTo>
                  <a:lnTo>
                    <a:pt x="226758" y="106299"/>
                  </a:lnTo>
                  <a:lnTo>
                    <a:pt x="236562" y="95643"/>
                  </a:lnTo>
                  <a:lnTo>
                    <a:pt x="237083" y="95148"/>
                  </a:lnTo>
                  <a:lnTo>
                    <a:pt x="244106" y="92417"/>
                  </a:lnTo>
                  <a:lnTo>
                    <a:pt x="262572" y="92417"/>
                  </a:lnTo>
                  <a:lnTo>
                    <a:pt x="269697" y="95148"/>
                  </a:lnTo>
                  <a:lnTo>
                    <a:pt x="279527" y="106070"/>
                  </a:lnTo>
                  <a:lnTo>
                    <a:pt x="279603" y="106299"/>
                  </a:lnTo>
                  <a:lnTo>
                    <a:pt x="282003" y="114134"/>
                  </a:lnTo>
                  <a:lnTo>
                    <a:pt x="282003" y="137972"/>
                  </a:lnTo>
                  <a:lnTo>
                    <a:pt x="319646" y="137972"/>
                  </a:lnTo>
                  <a:lnTo>
                    <a:pt x="319646" y="122580"/>
                  </a:lnTo>
                  <a:close/>
                </a:path>
                <a:path w="5645785" h="283210">
                  <a:moveTo>
                    <a:pt x="485305" y="124536"/>
                  </a:moveTo>
                  <a:lnTo>
                    <a:pt x="475107" y="86131"/>
                  </a:lnTo>
                  <a:lnTo>
                    <a:pt x="447662" y="63957"/>
                  </a:lnTo>
                  <a:lnTo>
                    <a:pt x="447662" y="114363"/>
                  </a:lnTo>
                  <a:lnTo>
                    <a:pt x="447662" y="178295"/>
                  </a:lnTo>
                  <a:lnTo>
                    <a:pt x="445185" y="186131"/>
                  </a:lnTo>
                  <a:lnTo>
                    <a:pt x="435343" y="196532"/>
                  </a:lnTo>
                  <a:lnTo>
                    <a:pt x="428142" y="199123"/>
                  </a:lnTo>
                  <a:lnTo>
                    <a:pt x="409054" y="199123"/>
                  </a:lnTo>
                  <a:lnTo>
                    <a:pt x="401828" y="196532"/>
                  </a:lnTo>
                  <a:lnTo>
                    <a:pt x="392036" y="186131"/>
                  </a:lnTo>
                  <a:lnTo>
                    <a:pt x="389585" y="178295"/>
                  </a:lnTo>
                  <a:lnTo>
                    <a:pt x="389585" y="114363"/>
                  </a:lnTo>
                  <a:lnTo>
                    <a:pt x="392036" y="106553"/>
                  </a:lnTo>
                  <a:lnTo>
                    <a:pt x="401828" y="96151"/>
                  </a:lnTo>
                  <a:lnTo>
                    <a:pt x="409054" y="93535"/>
                  </a:lnTo>
                  <a:lnTo>
                    <a:pt x="428142" y="93535"/>
                  </a:lnTo>
                  <a:lnTo>
                    <a:pt x="435343" y="96151"/>
                  </a:lnTo>
                  <a:lnTo>
                    <a:pt x="440245" y="101371"/>
                  </a:lnTo>
                  <a:lnTo>
                    <a:pt x="445185" y="106553"/>
                  </a:lnTo>
                  <a:lnTo>
                    <a:pt x="447662" y="63957"/>
                  </a:lnTo>
                  <a:lnTo>
                    <a:pt x="418617" y="58699"/>
                  </a:lnTo>
                  <a:lnTo>
                    <a:pt x="404114" y="59804"/>
                  </a:lnTo>
                  <a:lnTo>
                    <a:pt x="362038" y="86131"/>
                  </a:lnTo>
                  <a:lnTo>
                    <a:pt x="351891" y="124536"/>
                  </a:lnTo>
                  <a:lnTo>
                    <a:pt x="351878" y="167843"/>
                  </a:lnTo>
                  <a:lnTo>
                    <a:pt x="352996" y="182333"/>
                  </a:lnTo>
                  <a:lnTo>
                    <a:pt x="379768" y="223964"/>
                  </a:lnTo>
                  <a:lnTo>
                    <a:pt x="418617" y="233959"/>
                  </a:lnTo>
                  <a:lnTo>
                    <a:pt x="433095" y="232854"/>
                  </a:lnTo>
                  <a:lnTo>
                    <a:pt x="475107" y="206502"/>
                  </a:lnTo>
                  <a:lnTo>
                    <a:pt x="485305" y="167843"/>
                  </a:lnTo>
                  <a:lnTo>
                    <a:pt x="485305" y="124536"/>
                  </a:lnTo>
                  <a:close/>
                </a:path>
                <a:path w="5645785" h="283210">
                  <a:moveTo>
                    <a:pt x="663549" y="105359"/>
                  </a:moveTo>
                  <a:lnTo>
                    <a:pt x="662940" y="95554"/>
                  </a:lnTo>
                  <a:lnTo>
                    <a:pt x="661873" y="90385"/>
                  </a:lnTo>
                  <a:lnTo>
                    <a:pt x="661098" y="86677"/>
                  </a:lnTo>
                  <a:lnTo>
                    <a:pt x="660450" y="85001"/>
                  </a:lnTo>
                  <a:lnTo>
                    <a:pt x="660374" y="84797"/>
                  </a:lnTo>
                  <a:lnTo>
                    <a:pt x="626402" y="58699"/>
                  </a:lnTo>
                  <a:lnTo>
                    <a:pt x="618045" y="58699"/>
                  </a:lnTo>
                  <a:lnTo>
                    <a:pt x="611365" y="61010"/>
                  </a:lnTo>
                  <a:lnTo>
                    <a:pt x="610514" y="61569"/>
                  </a:lnTo>
                  <a:lnTo>
                    <a:pt x="599694" y="70827"/>
                  </a:lnTo>
                  <a:lnTo>
                    <a:pt x="599389" y="71767"/>
                  </a:lnTo>
                  <a:lnTo>
                    <a:pt x="598830" y="70192"/>
                  </a:lnTo>
                  <a:lnTo>
                    <a:pt x="597941" y="69456"/>
                  </a:lnTo>
                  <a:lnTo>
                    <a:pt x="597941" y="78765"/>
                  </a:lnTo>
                  <a:lnTo>
                    <a:pt x="597687" y="77025"/>
                  </a:lnTo>
                  <a:lnTo>
                    <a:pt x="597814" y="76657"/>
                  </a:lnTo>
                  <a:lnTo>
                    <a:pt x="597839" y="77025"/>
                  </a:lnTo>
                  <a:lnTo>
                    <a:pt x="597941" y="78765"/>
                  </a:lnTo>
                  <a:lnTo>
                    <a:pt x="597941" y="69456"/>
                  </a:lnTo>
                  <a:lnTo>
                    <a:pt x="593369" y="65620"/>
                  </a:lnTo>
                  <a:lnTo>
                    <a:pt x="587959" y="61010"/>
                  </a:lnTo>
                  <a:lnTo>
                    <a:pt x="581291" y="58699"/>
                  </a:lnTo>
                  <a:lnTo>
                    <a:pt x="565010" y="58699"/>
                  </a:lnTo>
                  <a:lnTo>
                    <a:pt x="558431" y="61010"/>
                  </a:lnTo>
                  <a:lnTo>
                    <a:pt x="558203" y="61010"/>
                  </a:lnTo>
                  <a:lnTo>
                    <a:pt x="551053" y="67233"/>
                  </a:lnTo>
                  <a:lnTo>
                    <a:pt x="552094" y="61569"/>
                  </a:lnTo>
                  <a:lnTo>
                    <a:pt x="546138" y="61569"/>
                  </a:lnTo>
                  <a:lnTo>
                    <a:pt x="546138" y="84442"/>
                  </a:lnTo>
                  <a:lnTo>
                    <a:pt x="544741" y="77025"/>
                  </a:lnTo>
                  <a:lnTo>
                    <a:pt x="544868" y="76657"/>
                  </a:lnTo>
                  <a:lnTo>
                    <a:pt x="544906" y="77025"/>
                  </a:lnTo>
                  <a:lnTo>
                    <a:pt x="545071" y="78765"/>
                  </a:lnTo>
                  <a:lnTo>
                    <a:pt x="546138" y="84442"/>
                  </a:lnTo>
                  <a:lnTo>
                    <a:pt x="546138" y="61569"/>
                  </a:lnTo>
                  <a:lnTo>
                    <a:pt x="517525" y="61569"/>
                  </a:lnTo>
                  <a:lnTo>
                    <a:pt x="517525" y="231101"/>
                  </a:lnTo>
                  <a:lnTo>
                    <a:pt x="553212" y="231101"/>
                  </a:lnTo>
                  <a:lnTo>
                    <a:pt x="553212" y="99631"/>
                  </a:lnTo>
                  <a:lnTo>
                    <a:pt x="554075" y="95948"/>
                  </a:lnTo>
                  <a:lnTo>
                    <a:pt x="557568" y="91516"/>
                  </a:lnTo>
                  <a:lnTo>
                    <a:pt x="560095" y="90385"/>
                  </a:lnTo>
                  <a:lnTo>
                    <a:pt x="566813" y="90385"/>
                  </a:lnTo>
                  <a:lnTo>
                    <a:pt x="569328" y="91516"/>
                  </a:lnTo>
                  <a:lnTo>
                    <a:pt x="573024" y="95948"/>
                  </a:lnTo>
                  <a:lnTo>
                    <a:pt x="574179" y="99631"/>
                  </a:lnTo>
                  <a:lnTo>
                    <a:pt x="574268" y="231101"/>
                  </a:lnTo>
                  <a:lnTo>
                    <a:pt x="606806" y="231101"/>
                  </a:lnTo>
                  <a:lnTo>
                    <a:pt x="606831" y="99631"/>
                  </a:lnTo>
                  <a:lnTo>
                    <a:pt x="607860" y="95948"/>
                  </a:lnTo>
                  <a:lnTo>
                    <a:pt x="611644" y="91516"/>
                  </a:lnTo>
                  <a:lnTo>
                    <a:pt x="614197" y="90385"/>
                  </a:lnTo>
                  <a:lnTo>
                    <a:pt x="620915" y="90385"/>
                  </a:lnTo>
                  <a:lnTo>
                    <a:pt x="623379" y="91516"/>
                  </a:lnTo>
                  <a:lnTo>
                    <a:pt x="626770" y="95948"/>
                  </a:lnTo>
                  <a:lnTo>
                    <a:pt x="627786" y="99631"/>
                  </a:lnTo>
                  <a:lnTo>
                    <a:pt x="627862" y="231101"/>
                  </a:lnTo>
                  <a:lnTo>
                    <a:pt x="663549" y="231101"/>
                  </a:lnTo>
                  <a:lnTo>
                    <a:pt x="663549" y="105359"/>
                  </a:lnTo>
                  <a:close/>
                </a:path>
                <a:path w="5645785" h="283210">
                  <a:moveTo>
                    <a:pt x="4747323" y="16510"/>
                  </a:moveTo>
                  <a:lnTo>
                    <a:pt x="4745012" y="10909"/>
                  </a:lnTo>
                  <a:lnTo>
                    <a:pt x="4735779" y="2184"/>
                  </a:lnTo>
                  <a:lnTo>
                    <a:pt x="4729899" y="0"/>
                  </a:lnTo>
                  <a:lnTo>
                    <a:pt x="4709884" y="0"/>
                  </a:lnTo>
                  <a:lnTo>
                    <a:pt x="4704004" y="2184"/>
                  </a:lnTo>
                  <a:lnTo>
                    <a:pt x="4694771" y="10909"/>
                  </a:lnTo>
                  <a:lnTo>
                    <a:pt x="4692459" y="16510"/>
                  </a:lnTo>
                  <a:lnTo>
                    <a:pt x="4692459" y="30264"/>
                  </a:lnTo>
                  <a:lnTo>
                    <a:pt x="4694720" y="35814"/>
                  </a:lnTo>
                  <a:lnTo>
                    <a:pt x="4699254" y="40017"/>
                  </a:lnTo>
                  <a:lnTo>
                    <a:pt x="4703826" y="44170"/>
                  </a:lnTo>
                  <a:lnTo>
                    <a:pt x="4709744" y="46240"/>
                  </a:lnTo>
                  <a:lnTo>
                    <a:pt x="4729797" y="46240"/>
                  </a:lnTo>
                  <a:lnTo>
                    <a:pt x="4735652" y="44170"/>
                  </a:lnTo>
                  <a:lnTo>
                    <a:pt x="4745012" y="35814"/>
                  </a:lnTo>
                  <a:lnTo>
                    <a:pt x="4747323" y="30264"/>
                  </a:lnTo>
                  <a:lnTo>
                    <a:pt x="4747323" y="16510"/>
                  </a:lnTo>
                  <a:close/>
                </a:path>
                <a:path w="5645785" h="283210">
                  <a:moveTo>
                    <a:pt x="4794618" y="195694"/>
                  </a:moveTo>
                  <a:lnTo>
                    <a:pt x="4741583" y="195694"/>
                  </a:lnTo>
                  <a:lnTo>
                    <a:pt x="4741583" y="61569"/>
                  </a:lnTo>
                  <a:lnTo>
                    <a:pt x="4655172" y="61569"/>
                  </a:lnTo>
                  <a:lnTo>
                    <a:pt x="4655172" y="96964"/>
                  </a:lnTo>
                  <a:lnTo>
                    <a:pt x="4703864" y="96964"/>
                  </a:lnTo>
                  <a:lnTo>
                    <a:pt x="4703864" y="195694"/>
                  </a:lnTo>
                  <a:lnTo>
                    <a:pt x="4648035" y="195694"/>
                  </a:lnTo>
                  <a:lnTo>
                    <a:pt x="4648035" y="231101"/>
                  </a:lnTo>
                  <a:lnTo>
                    <a:pt x="4794618" y="231101"/>
                  </a:lnTo>
                  <a:lnTo>
                    <a:pt x="4794618" y="195694"/>
                  </a:lnTo>
                  <a:close/>
                </a:path>
                <a:path w="5645785" h="283210">
                  <a:moveTo>
                    <a:pt x="4961953" y="105359"/>
                  </a:moveTo>
                  <a:lnTo>
                    <a:pt x="4961331" y="95554"/>
                  </a:lnTo>
                  <a:lnTo>
                    <a:pt x="4960264" y="90385"/>
                  </a:lnTo>
                  <a:lnTo>
                    <a:pt x="4959502" y="86677"/>
                  </a:lnTo>
                  <a:lnTo>
                    <a:pt x="4958854" y="85001"/>
                  </a:lnTo>
                  <a:lnTo>
                    <a:pt x="4958766" y="84797"/>
                  </a:lnTo>
                  <a:lnTo>
                    <a:pt x="4956441" y="78765"/>
                  </a:lnTo>
                  <a:lnTo>
                    <a:pt x="4924793" y="58699"/>
                  </a:lnTo>
                  <a:lnTo>
                    <a:pt x="4916449" y="58699"/>
                  </a:lnTo>
                  <a:lnTo>
                    <a:pt x="4909769" y="61010"/>
                  </a:lnTo>
                  <a:lnTo>
                    <a:pt x="4908905" y="61569"/>
                  </a:lnTo>
                  <a:lnTo>
                    <a:pt x="4898098" y="70827"/>
                  </a:lnTo>
                  <a:lnTo>
                    <a:pt x="4897793" y="71767"/>
                  </a:lnTo>
                  <a:lnTo>
                    <a:pt x="4897234" y="70192"/>
                  </a:lnTo>
                  <a:lnTo>
                    <a:pt x="4896345" y="69456"/>
                  </a:lnTo>
                  <a:lnTo>
                    <a:pt x="4896345" y="78765"/>
                  </a:lnTo>
                  <a:lnTo>
                    <a:pt x="4896091" y="77025"/>
                  </a:lnTo>
                  <a:lnTo>
                    <a:pt x="4896218" y="76657"/>
                  </a:lnTo>
                  <a:lnTo>
                    <a:pt x="4896231" y="77025"/>
                  </a:lnTo>
                  <a:lnTo>
                    <a:pt x="4896345" y="78765"/>
                  </a:lnTo>
                  <a:lnTo>
                    <a:pt x="4896345" y="69456"/>
                  </a:lnTo>
                  <a:lnTo>
                    <a:pt x="4891773" y="65620"/>
                  </a:lnTo>
                  <a:lnTo>
                    <a:pt x="4886363" y="61010"/>
                  </a:lnTo>
                  <a:lnTo>
                    <a:pt x="4879695" y="58699"/>
                  </a:lnTo>
                  <a:lnTo>
                    <a:pt x="4863414" y="58699"/>
                  </a:lnTo>
                  <a:lnTo>
                    <a:pt x="4856835" y="61010"/>
                  </a:lnTo>
                  <a:lnTo>
                    <a:pt x="4856594" y="61010"/>
                  </a:lnTo>
                  <a:lnTo>
                    <a:pt x="4849444" y="67233"/>
                  </a:lnTo>
                  <a:lnTo>
                    <a:pt x="4850485" y="61569"/>
                  </a:lnTo>
                  <a:lnTo>
                    <a:pt x="4844542" y="61569"/>
                  </a:lnTo>
                  <a:lnTo>
                    <a:pt x="4844542" y="84442"/>
                  </a:lnTo>
                  <a:lnTo>
                    <a:pt x="4843145" y="77025"/>
                  </a:lnTo>
                  <a:lnTo>
                    <a:pt x="4843272" y="76657"/>
                  </a:lnTo>
                  <a:lnTo>
                    <a:pt x="4843310" y="77025"/>
                  </a:lnTo>
                  <a:lnTo>
                    <a:pt x="4843475" y="78765"/>
                  </a:lnTo>
                  <a:lnTo>
                    <a:pt x="4844542" y="84442"/>
                  </a:lnTo>
                  <a:lnTo>
                    <a:pt x="4844542" y="61569"/>
                  </a:lnTo>
                  <a:lnTo>
                    <a:pt x="4815929" y="61569"/>
                  </a:lnTo>
                  <a:lnTo>
                    <a:pt x="4815929" y="231101"/>
                  </a:lnTo>
                  <a:lnTo>
                    <a:pt x="4851616" y="231101"/>
                  </a:lnTo>
                  <a:lnTo>
                    <a:pt x="4851616" y="99631"/>
                  </a:lnTo>
                  <a:lnTo>
                    <a:pt x="4852479" y="95948"/>
                  </a:lnTo>
                  <a:lnTo>
                    <a:pt x="4855972" y="91516"/>
                  </a:lnTo>
                  <a:lnTo>
                    <a:pt x="4858486" y="90385"/>
                  </a:lnTo>
                  <a:lnTo>
                    <a:pt x="4865205" y="90385"/>
                  </a:lnTo>
                  <a:lnTo>
                    <a:pt x="4867732" y="91516"/>
                  </a:lnTo>
                  <a:lnTo>
                    <a:pt x="4871428" y="95948"/>
                  </a:lnTo>
                  <a:lnTo>
                    <a:pt x="4872571" y="99631"/>
                  </a:lnTo>
                  <a:lnTo>
                    <a:pt x="4872672" y="231101"/>
                  </a:lnTo>
                  <a:lnTo>
                    <a:pt x="4905210" y="231101"/>
                  </a:lnTo>
                  <a:lnTo>
                    <a:pt x="4905235" y="99631"/>
                  </a:lnTo>
                  <a:lnTo>
                    <a:pt x="4906264" y="95948"/>
                  </a:lnTo>
                  <a:lnTo>
                    <a:pt x="4910036" y="91516"/>
                  </a:lnTo>
                  <a:lnTo>
                    <a:pt x="4912601" y="90385"/>
                  </a:lnTo>
                  <a:lnTo>
                    <a:pt x="4919319" y="90385"/>
                  </a:lnTo>
                  <a:lnTo>
                    <a:pt x="4921783" y="91516"/>
                  </a:lnTo>
                  <a:lnTo>
                    <a:pt x="4925174" y="95948"/>
                  </a:lnTo>
                  <a:lnTo>
                    <a:pt x="4926190" y="99631"/>
                  </a:lnTo>
                  <a:lnTo>
                    <a:pt x="4926266" y="231101"/>
                  </a:lnTo>
                  <a:lnTo>
                    <a:pt x="4961953" y="231101"/>
                  </a:lnTo>
                  <a:lnTo>
                    <a:pt x="4961953" y="105359"/>
                  </a:lnTo>
                  <a:close/>
                </a:path>
                <a:path w="5645785" h="283210">
                  <a:moveTo>
                    <a:pt x="5127599" y="123139"/>
                  </a:moveTo>
                  <a:lnTo>
                    <a:pt x="5118938" y="85864"/>
                  </a:lnTo>
                  <a:lnTo>
                    <a:pt x="5089957" y="61887"/>
                  </a:lnTo>
                  <a:lnTo>
                    <a:pt x="5089957" y="114134"/>
                  </a:lnTo>
                  <a:lnTo>
                    <a:pt x="5089957" y="178523"/>
                  </a:lnTo>
                  <a:lnTo>
                    <a:pt x="5087556" y="186499"/>
                  </a:lnTo>
                  <a:lnTo>
                    <a:pt x="5078031" y="196951"/>
                  </a:lnTo>
                  <a:lnTo>
                    <a:pt x="5070957" y="199682"/>
                  </a:lnTo>
                  <a:lnTo>
                    <a:pt x="5052809" y="199682"/>
                  </a:lnTo>
                  <a:lnTo>
                    <a:pt x="5045761" y="196951"/>
                  </a:lnTo>
                  <a:lnTo>
                    <a:pt x="5044846" y="195973"/>
                  </a:lnTo>
                  <a:lnTo>
                    <a:pt x="5040630" y="191490"/>
                  </a:lnTo>
                  <a:lnTo>
                    <a:pt x="5035550" y="185991"/>
                  </a:lnTo>
                  <a:lnTo>
                    <a:pt x="5033137" y="178523"/>
                  </a:lnTo>
                  <a:lnTo>
                    <a:pt x="5033137" y="114134"/>
                  </a:lnTo>
                  <a:lnTo>
                    <a:pt x="5052809" y="92976"/>
                  </a:lnTo>
                  <a:lnTo>
                    <a:pt x="5070957" y="92976"/>
                  </a:lnTo>
                  <a:lnTo>
                    <a:pt x="5077942" y="95618"/>
                  </a:lnTo>
                  <a:lnTo>
                    <a:pt x="5087556" y="106159"/>
                  </a:lnTo>
                  <a:lnTo>
                    <a:pt x="5089957" y="114134"/>
                  </a:lnTo>
                  <a:lnTo>
                    <a:pt x="5089957" y="61887"/>
                  </a:lnTo>
                  <a:lnTo>
                    <a:pt x="5082933" y="59804"/>
                  </a:lnTo>
                  <a:lnTo>
                    <a:pt x="5070373" y="58699"/>
                  </a:lnTo>
                  <a:lnTo>
                    <a:pt x="5060899" y="59334"/>
                  </a:lnTo>
                  <a:lnTo>
                    <a:pt x="5030775" y="75780"/>
                  </a:lnTo>
                  <a:lnTo>
                    <a:pt x="5033010" y="61569"/>
                  </a:lnTo>
                  <a:lnTo>
                    <a:pt x="5026507" y="61569"/>
                  </a:lnTo>
                  <a:lnTo>
                    <a:pt x="5026507" y="195973"/>
                  </a:lnTo>
                  <a:lnTo>
                    <a:pt x="5026469" y="196951"/>
                  </a:lnTo>
                  <a:lnTo>
                    <a:pt x="5026368" y="198932"/>
                  </a:lnTo>
                  <a:lnTo>
                    <a:pt x="5026507" y="195973"/>
                  </a:lnTo>
                  <a:lnTo>
                    <a:pt x="5026507" y="61569"/>
                  </a:lnTo>
                  <a:lnTo>
                    <a:pt x="4995367" y="61569"/>
                  </a:lnTo>
                  <a:lnTo>
                    <a:pt x="4995367" y="282663"/>
                  </a:lnTo>
                  <a:lnTo>
                    <a:pt x="5033010" y="282663"/>
                  </a:lnTo>
                  <a:lnTo>
                    <a:pt x="5032807" y="229552"/>
                  </a:lnTo>
                  <a:lnTo>
                    <a:pt x="5030787" y="216966"/>
                  </a:lnTo>
                  <a:lnTo>
                    <a:pt x="5031460" y="218160"/>
                  </a:lnTo>
                  <a:lnTo>
                    <a:pt x="5070373" y="233959"/>
                  </a:lnTo>
                  <a:lnTo>
                    <a:pt x="5082933" y="232867"/>
                  </a:lnTo>
                  <a:lnTo>
                    <a:pt x="5118938" y="206781"/>
                  </a:lnTo>
                  <a:lnTo>
                    <a:pt x="5127599" y="169240"/>
                  </a:lnTo>
                  <a:lnTo>
                    <a:pt x="5127599" y="123139"/>
                  </a:lnTo>
                  <a:close/>
                </a:path>
                <a:path w="5645785" h="283210">
                  <a:moveTo>
                    <a:pt x="5299557" y="124536"/>
                  </a:moveTo>
                  <a:lnTo>
                    <a:pt x="5289359" y="86131"/>
                  </a:lnTo>
                  <a:lnTo>
                    <a:pt x="5261915" y="63957"/>
                  </a:lnTo>
                  <a:lnTo>
                    <a:pt x="5261915" y="114363"/>
                  </a:lnTo>
                  <a:lnTo>
                    <a:pt x="5261915" y="178295"/>
                  </a:lnTo>
                  <a:lnTo>
                    <a:pt x="5259438" y="186131"/>
                  </a:lnTo>
                  <a:lnTo>
                    <a:pt x="5249596" y="196532"/>
                  </a:lnTo>
                  <a:lnTo>
                    <a:pt x="5242395" y="199123"/>
                  </a:lnTo>
                  <a:lnTo>
                    <a:pt x="5223307" y="199123"/>
                  </a:lnTo>
                  <a:lnTo>
                    <a:pt x="5216080" y="196532"/>
                  </a:lnTo>
                  <a:lnTo>
                    <a:pt x="5206289" y="186131"/>
                  </a:lnTo>
                  <a:lnTo>
                    <a:pt x="5203837" y="178295"/>
                  </a:lnTo>
                  <a:lnTo>
                    <a:pt x="5203837" y="114363"/>
                  </a:lnTo>
                  <a:lnTo>
                    <a:pt x="5206289" y="106553"/>
                  </a:lnTo>
                  <a:lnTo>
                    <a:pt x="5216080" y="96151"/>
                  </a:lnTo>
                  <a:lnTo>
                    <a:pt x="5223307" y="93535"/>
                  </a:lnTo>
                  <a:lnTo>
                    <a:pt x="5242395" y="93535"/>
                  </a:lnTo>
                  <a:lnTo>
                    <a:pt x="5249596" y="96151"/>
                  </a:lnTo>
                  <a:lnTo>
                    <a:pt x="5254498" y="101371"/>
                  </a:lnTo>
                  <a:lnTo>
                    <a:pt x="5259438" y="106553"/>
                  </a:lnTo>
                  <a:lnTo>
                    <a:pt x="5261915" y="63957"/>
                  </a:lnTo>
                  <a:lnTo>
                    <a:pt x="5232870" y="58699"/>
                  </a:lnTo>
                  <a:lnTo>
                    <a:pt x="5218366" y="59804"/>
                  </a:lnTo>
                  <a:lnTo>
                    <a:pt x="5176291" y="86131"/>
                  </a:lnTo>
                  <a:lnTo>
                    <a:pt x="5166144" y="124536"/>
                  </a:lnTo>
                  <a:lnTo>
                    <a:pt x="5166131" y="167843"/>
                  </a:lnTo>
                  <a:lnTo>
                    <a:pt x="5167249" y="182333"/>
                  </a:lnTo>
                  <a:lnTo>
                    <a:pt x="5194020" y="223964"/>
                  </a:lnTo>
                  <a:lnTo>
                    <a:pt x="5232870" y="233959"/>
                  </a:lnTo>
                  <a:lnTo>
                    <a:pt x="5247348" y="232854"/>
                  </a:lnTo>
                  <a:lnTo>
                    <a:pt x="5289359" y="206502"/>
                  </a:lnTo>
                  <a:lnTo>
                    <a:pt x="5299557" y="167843"/>
                  </a:lnTo>
                  <a:lnTo>
                    <a:pt x="5299557" y="124536"/>
                  </a:lnTo>
                  <a:close/>
                </a:path>
                <a:path w="5645785" h="283210">
                  <a:moveTo>
                    <a:pt x="5477802" y="122580"/>
                  </a:moveTo>
                  <a:lnTo>
                    <a:pt x="5468556" y="85559"/>
                  </a:lnTo>
                  <a:lnTo>
                    <a:pt x="5430482" y="59791"/>
                  </a:lnTo>
                  <a:lnTo>
                    <a:pt x="5417413" y="58699"/>
                  </a:lnTo>
                  <a:lnTo>
                    <a:pt x="5400421" y="61010"/>
                  </a:lnTo>
                  <a:lnTo>
                    <a:pt x="5387822" y="67932"/>
                  </a:lnTo>
                  <a:lnTo>
                    <a:pt x="5379631" y="79476"/>
                  </a:lnTo>
                  <a:lnTo>
                    <a:pt x="5375859" y="95643"/>
                  </a:lnTo>
                  <a:lnTo>
                    <a:pt x="5375948" y="95148"/>
                  </a:lnTo>
                  <a:lnTo>
                    <a:pt x="5381803" y="61569"/>
                  </a:lnTo>
                  <a:lnTo>
                    <a:pt x="5344719" y="61569"/>
                  </a:lnTo>
                  <a:lnTo>
                    <a:pt x="5344719" y="231101"/>
                  </a:lnTo>
                  <a:lnTo>
                    <a:pt x="5382361" y="231101"/>
                  </a:lnTo>
                  <a:lnTo>
                    <a:pt x="5382425" y="114134"/>
                  </a:lnTo>
                  <a:lnTo>
                    <a:pt x="5384901" y="106299"/>
                  </a:lnTo>
                  <a:lnTo>
                    <a:pt x="5394718" y="95643"/>
                  </a:lnTo>
                  <a:lnTo>
                    <a:pt x="5395239" y="95148"/>
                  </a:lnTo>
                  <a:lnTo>
                    <a:pt x="5402262" y="92417"/>
                  </a:lnTo>
                  <a:lnTo>
                    <a:pt x="5420728" y="92417"/>
                  </a:lnTo>
                  <a:lnTo>
                    <a:pt x="5427840" y="95148"/>
                  </a:lnTo>
                  <a:lnTo>
                    <a:pt x="5437683" y="106070"/>
                  </a:lnTo>
                  <a:lnTo>
                    <a:pt x="5437759" y="106299"/>
                  </a:lnTo>
                  <a:lnTo>
                    <a:pt x="5440159" y="114134"/>
                  </a:lnTo>
                  <a:lnTo>
                    <a:pt x="5440159" y="137972"/>
                  </a:lnTo>
                  <a:lnTo>
                    <a:pt x="5477802" y="137972"/>
                  </a:lnTo>
                  <a:lnTo>
                    <a:pt x="5477802" y="122580"/>
                  </a:lnTo>
                  <a:close/>
                </a:path>
                <a:path w="5645785" h="283210">
                  <a:moveTo>
                    <a:pt x="5645759" y="61569"/>
                  </a:moveTo>
                  <a:lnTo>
                    <a:pt x="5582717" y="61569"/>
                  </a:lnTo>
                  <a:lnTo>
                    <a:pt x="5582717" y="18605"/>
                  </a:lnTo>
                  <a:lnTo>
                    <a:pt x="5545010" y="18605"/>
                  </a:lnTo>
                  <a:lnTo>
                    <a:pt x="5545010" y="61569"/>
                  </a:lnTo>
                  <a:lnTo>
                    <a:pt x="5500586" y="61569"/>
                  </a:lnTo>
                  <a:lnTo>
                    <a:pt x="5500586" y="96964"/>
                  </a:lnTo>
                  <a:lnTo>
                    <a:pt x="5545010" y="96964"/>
                  </a:lnTo>
                  <a:lnTo>
                    <a:pt x="5545010" y="183591"/>
                  </a:lnTo>
                  <a:lnTo>
                    <a:pt x="5545823" y="194144"/>
                  </a:lnTo>
                  <a:lnTo>
                    <a:pt x="5573649" y="227952"/>
                  </a:lnTo>
                  <a:lnTo>
                    <a:pt x="5593981" y="231101"/>
                  </a:lnTo>
                  <a:lnTo>
                    <a:pt x="5642889" y="231101"/>
                  </a:lnTo>
                  <a:lnTo>
                    <a:pt x="5642889" y="195694"/>
                  </a:lnTo>
                  <a:lnTo>
                    <a:pt x="5589790" y="195694"/>
                  </a:lnTo>
                  <a:lnTo>
                    <a:pt x="5586844" y="194805"/>
                  </a:lnTo>
                  <a:lnTo>
                    <a:pt x="5583542" y="191262"/>
                  </a:lnTo>
                  <a:lnTo>
                    <a:pt x="5582717" y="188112"/>
                  </a:lnTo>
                  <a:lnTo>
                    <a:pt x="5582717" y="96964"/>
                  </a:lnTo>
                  <a:lnTo>
                    <a:pt x="5645759" y="96964"/>
                  </a:lnTo>
                  <a:lnTo>
                    <a:pt x="5645759" y="61569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491289" y="4457700"/>
            <a:ext cx="9887585" cy="819150"/>
          </a:xfrm>
          <a:custGeom>
            <a:avLst/>
            <a:gdLst/>
            <a:ahLst/>
            <a:cxnLst/>
            <a:rect l="l" t="t" r="r" b="b"/>
            <a:pathLst>
              <a:path w="9887585" h="819150">
                <a:moveTo>
                  <a:pt x="9810694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0"/>
                </a:lnTo>
                <a:lnTo>
                  <a:pt x="0" y="742310"/>
                </a:lnTo>
                <a:lnTo>
                  <a:pt x="0" y="736933"/>
                </a:lnTo>
                <a:lnTo>
                  <a:pt x="0" y="76504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5"/>
                </a:lnTo>
                <a:lnTo>
                  <a:pt x="9883023" y="55513"/>
                </a:lnTo>
                <a:lnTo>
                  <a:pt x="9887199" y="76504"/>
                </a:lnTo>
                <a:lnTo>
                  <a:pt x="9887199" y="742310"/>
                </a:lnTo>
                <a:lnTo>
                  <a:pt x="9870412" y="786894"/>
                </a:lnTo>
                <a:lnTo>
                  <a:pt x="9831684" y="814639"/>
                </a:lnTo>
                <a:lnTo>
                  <a:pt x="9816018" y="818290"/>
                </a:lnTo>
                <a:lnTo>
                  <a:pt x="9810694" y="818815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2352" y="1231899"/>
            <a:ext cx="8451215" cy="2973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36955" indent="859155">
              <a:lnSpc>
                <a:spcPct val="143300"/>
              </a:lnSpc>
              <a:spcBef>
                <a:spcPts val="95"/>
              </a:spcBef>
              <a:tabLst>
                <a:tab pos="5857875" algn="l"/>
              </a:tabLst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sklearn.preprocessing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normalize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norm_features =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normalize(nmf_features)</a:t>
            </a:r>
            <a:endParaRPr sz="2250" dirty="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008600"/>
                </a:solidFill>
                <a:latin typeface="Monaco"/>
                <a:cs typeface="Monaco"/>
              </a:rPr>
              <a:t># if has index </a:t>
            </a:r>
            <a:r>
              <a:rPr sz="2250" spc="-25" dirty="0">
                <a:solidFill>
                  <a:srgbClr val="008600"/>
                </a:solidFill>
                <a:latin typeface="Monaco"/>
                <a:cs typeface="Monaco"/>
              </a:rPr>
              <a:t>23</a:t>
            </a:r>
            <a:endParaRPr sz="2250" dirty="0">
              <a:latin typeface="Monaco"/>
              <a:cs typeface="Monaco"/>
            </a:endParaRPr>
          </a:p>
          <a:p>
            <a:pPr marL="12700" marR="5080">
              <a:lnSpc>
                <a:spcPct val="143300"/>
              </a:lnSpc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current_article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=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norm_features[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23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,:]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similarities =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norm_features.dot(current_article) </a:t>
            </a:r>
            <a:r>
              <a:rPr sz="2250" spc="-1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(similarities)</a:t>
            </a:r>
            <a:endParaRPr sz="2250" dirty="0">
              <a:latin typeface="Monaco"/>
              <a:cs typeface="Monac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2352" y="4686300"/>
            <a:ext cx="1917064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[ 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0.7150569</a:t>
            </a:r>
            <a:endParaRPr sz="2250" dirty="0">
              <a:latin typeface="Monaco"/>
              <a:cs typeface="Monac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49660" y="4686300"/>
            <a:ext cx="449643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0.26349967 ..., 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0.20323616</a:t>
            </a:r>
            <a:endParaRPr sz="2250" dirty="0">
              <a:latin typeface="Monaco"/>
              <a:cs typeface="Monac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64275" y="4686300"/>
            <a:ext cx="1917064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0.05047817]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DBDA3C4-27D1-76C4-122C-108E7DC1C4B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34</a:t>
            </a:fld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A8D6E9-4941-44B8-F9F0-31E7D4BC3D22}"/>
              </a:ext>
            </a:extLst>
          </p:cNvPr>
          <p:cNvSpPr txBox="1"/>
          <p:nvPr/>
        </p:nvSpPr>
        <p:spPr>
          <a:xfrm>
            <a:off x="10464899" y="0"/>
            <a:ext cx="501632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/>
              <a:t>normalize(</a:t>
            </a:r>
            <a:r>
              <a:rPr lang="en" altLang="ko-KR" b="1" dirty="0" err="1"/>
              <a:t>nmf_features</a:t>
            </a:r>
            <a:r>
              <a:rPr lang="en" altLang="ko-KR" b="1" dirty="0"/>
              <a:t>)</a:t>
            </a:r>
            <a:r>
              <a:rPr lang="en" altLang="ko-KR" dirty="0"/>
              <a:t>: The normalize function from </a:t>
            </a:r>
            <a:r>
              <a:rPr lang="en" altLang="ko-KR" dirty="0" err="1"/>
              <a:t>sklearn.preprocessing</a:t>
            </a:r>
            <a:r>
              <a:rPr lang="en" altLang="ko-KR" dirty="0"/>
              <a:t> scales the rows of the input matrix (</a:t>
            </a:r>
            <a:r>
              <a:rPr lang="en" altLang="ko-KR" dirty="0" err="1"/>
              <a:t>nmf_features</a:t>
            </a:r>
            <a:r>
              <a:rPr lang="en" altLang="ko-KR" dirty="0"/>
              <a:t>) so that each row has a unit norm (length of 1).</a:t>
            </a:r>
          </a:p>
          <a:p>
            <a:endParaRPr lang="en" altLang="ko-KR" b="1" dirty="0"/>
          </a:p>
          <a:p>
            <a:r>
              <a:rPr lang="en" altLang="ko-KR" b="1" dirty="0"/>
              <a:t>Purpose</a:t>
            </a:r>
            <a:r>
              <a:rPr lang="en" altLang="ko-K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dirty="0"/>
              <a:t>Ensures that the magnitudes of the feature vectors do not affect the cosine similarity calculation.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dirty="0"/>
              <a:t>When vectors are normalized, cosine similarity becomes equivalent to the dot product of the vectors.</a:t>
            </a:r>
          </a:p>
          <a:p>
            <a:r>
              <a:rPr lang="en" altLang="ko-KR" dirty="0"/>
              <a:t>After normalization: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dirty="0"/>
              <a:t>Each row of norm features is a unit vector.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" altLang="ko-KR" dirty="0"/>
          </a:p>
          <a:p>
            <a:pPr rtl="0"/>
            <a:r>
              <a:rPr lang="en" altLang="ko-KR" b="1" dirty="0" err="1"/>
              <a:t>current_article</a:t>
            </a:r>
            <a:r>
              <a:rPr lang="en" altLang="ko-KR" b="1" dirty="0"/>
              <a:t> = </a:t>
            </a:r>
            <a:r>
              <a:rPr lang="en" altLang="ko-KR" b="1" dirty="0" err="1"/>
              <a:t>norm_features</a:t>
            </a:r>
            <a:r>
              <a:rPr lang="en" altLang="ko-KR" b="1" dirty="0"/>
              <a:t>[23, :] </a:t>
            </a:r>
          </a:p>
          <a:p>
            <a:r>
              <a:rPr lang="en" altLang="ko-KR" dirty="0"/>
              <a:t>This extracts the </a:t>
            </a:r>
            <a:r>
              <a:rPr lang="en" altLang="ko-KR" b="1" dirty="0"/>
              <a:t>23rd row</a:t>
            </a:r>
            <a:r>
              <a:rPr lang="en" altLang="ko-KR" dirty="0"/>
              <a:t> of the normalized feature matrix </a:t>
            </a:r>
            <a:r>
              <a:rPr lang="en" altLang="ko-KR" dirty="0" err="1"/>
              <a:t>norm_features</a:t>
            </a:r>
            <a:r>
              <a:rPr lang="en" altLang="ko-KR" dirty="0"/>
              <a:t>, representing the features of the target article.</a:t>
            </a:r>
          </a:p>
          <a:p>
            <a:r>
              <a:rPr lang="en" altLang="ko-KR" b="1" dirty="0"/>
              <a:t>Shape</a:t>
            </a:r>
            <a:r>
              <a:rPr lang="en" altLang="ko-KR" dirty="0"/>
              <a:t>: </a:t>
            </a:r>
            <a:r>
              <a:rPr lang="en" altLang="ko-KR" dirty="0" err="1"/>
              <a:t>current_article</a:t>
            </a:r>
            <a:r>
              <a:rPr lang="en" altLang="ko-KR" dirty="0"/>
              <a:t> is a 1D vector corresponding to the 23rd article in the dataset.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C56FB2-F294-2B1E-59FB-CF01D6F6B0F6}"/>
              </a:ext>
            </a:extLst>
          </p:cNvPr>
          <p:cNvSpPr txBox="1"/>
          <p:nvPr/>
        </p:nvSpPr>
        <p:spPr>
          <a:xfrm>
            <a:off x="521085" y="5295900"/>
            <a:ext cx="97526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 err="1"/>
              <a:t>norm_features.dot</a:t>
            </a:r>
            <a:r>
              <a:rPr lang="en" altLang="ko-KR" b="1" dirty="0"/>
              <a:t>(</a:t>
            </a:r>
            <a:r>
              <a:rPr lang="en" altLang="ko-KR" b="1" dirty="0" err="1"/>
              <a:t>current_article</a:t>
            </a:r>
            <a:r>
              <a:rPr lang="en" altLang="ko-KR" b="1" dirty="0"/>
              <a:t>)</a:t>
            </a:r>
            <a:r>
              <a:rPr lang="en" altLang="ko-K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dirty="0"/>
              <a:t>Computes the cosine similarity between the </a:t>
            </a:r>
            <a:r>
              <a:rPr lang="en" altLang="ko-KR" dirty="0" err="1"/>
              <a:t>current_article</a:t>
            </a:r>
            <a:r>
              <a:rPr lang="en" altLang="ko-KR" dirty="0"/>
              <a:t> vector and all other vectors in </a:t>
            </a:r>
            <a:r>
              <a:rPr lang="en" altLang="ko-KR" dirty="0" err="1"/>
              <a:t>norm_features</a:t>
            </a:r>
            <a:r>
              <a:rPr lang="en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dirty="0"/>
              <a:t>Since the rows of </a:t>
            </a:r>
            <a:r>
              <a:rPr lang="en" altLang="ko-KR" dirty="0" err="1"/>
              <a:t>norm_features</a:t>
            </a:r>
            <a:r>
              <a:rPr lang="en" altLang="ko-KR" dirty="0"/>
              <a:t> are normalized, the </a:t>
            </a:r>
            <a:r>
              <a:rPr lang="en" altLang="ko-KR" b="1" dirty="0"/>
              <a:t>dot product</a:t>
            </a:r>
            <a:r>
              <a:rPr lang="en" altLang="ko-KR" dirty="0"/>
              <a:t> directly gives the cosine similarity.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ko-KR" b="1" dirty="0"/>
              <a:t>Output</a:t>
            </a:r>
            <a:r>
              <a:rPr lang="en" altLang="ko-K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dirty="0"/>
              <a:t>similarities is a 1D array, where each entry corresponds to the similarity score between the </a:t>
            </a:r>
            <a:r>
              <a:rPr lang="en" altLang="ko-KR" dirty="0" err="1"/>
              <a:t>current_article</a:t>
            </a:r>
            <a:r>
              <a:rPr lang="en" altLang="ko-KR" dirty="0"/>
              <a:t> and another article.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dirty="0"/>
              <a:t>Values range between −1-1−1 and 111: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" altLang="ko-KR" b="1" dirty="0"/>
              <a:t>1</a:t>
            </a:r>
            <a:r>
              <a:rPr lang="en" altLang="ko-KR" dirty="0"/>
              <a:t>: Perfectly similar (identical direction).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" altLang="ko-KR" b="1" dirty="0"/>
              <a:t>0</a:t>
            </a:r>
            <a:r>
              <a:rPr lang="en" altLang="ko-KR" dirty="0"/>
              <a:t>: Orthogonal (no similarity).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" altLang="ko-KR" b="1" dirty="0"/>
              <a:t>-1</a:t>
            </a:r>
            <a:r>
              <a:rPr lang="en" altLang="ko-KR" dirty="0"/>
              <a:t>: Completely opposite direction (rare in normalized positive data like NMF).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1289" y="2476917"/>
            <a:ext cx="9887585" cy="2784475"/>
            <a:chOff x="491289" y="2476917"/>
            <a:chExt cx="9887585" cy="2784475"/>
          </a:xfrm>
        </p:grpSpPr>
        <p:sp>
          <p:nvSpPr>
            <p:cNvPr id="3" name="object 3"/>
            <p:cNvSpPr/>
            <p:nvPr/>
          </p:nvSpPr>
          <p:spPr>
            <a:xfrm>
              <a:off x="491289" y="2476917"/>
              <a:ext cx="9887585" cy="2784475"/>
            </a:xfrm>
            <a:custGeom>
              <a:avLst/>
              <a:gdLst/>
              <a:ahLst/>
              <a:cxnLst/>
              <a:rect l="l" t="t" r="r" b="b"/>
              <a:pathLst>
                <a:path w="9887585" h="2784475">
                  <a:moveTo>
                    <a:pt x="9810694" y="2783973"/>
                  </a:moveTo>
                  <a:lnTo>
                    <a:pt x="76505" y="2783973"/>
                  </a:lnTo>
                  <a:lnTo>
                    <a:pt x="71180" y="2783448"/>
                  </a:lnTo>
                  <a:lnTo>
                    <a:pt x="31920" y="2767186"/>
                  </a:lnTo>
                  <a:lnTo>
                    <a:pt x="4175" y="2728458"/>
                  </a:lnTo>
                  <a:lnTo>
                    <a:pt x="0" y="2707468"/>
                  </a:lnTo>
                  <a:lnTo>
                    <a:pt x="0" y="2702091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9810694" y="0"/>
                  </a:lnTo>
                  <a:lnTo>
                    <a:pt x="9855278" y="16786"/>
                  </a:lnTo>
                  <a:lnTo>
                    <a:pt x="9883023" y="55513"/>
                  </a:lnTo>
                  <a:lnTo>
                    <a:pt x="9887199" y="76505"/>
                  </a:lnTo>
                  <a:lnTo>
                    <a:pt x="9887199" y="2707468"/>
                  </a:lnTo>
                  <a:lnTo>
                    <a:pt x="9870412" y="2752052"/>
                  </a:lnTo>
                  <a:lnTo>
                    <a:pt x="9831684" y="2779797"/>
                  </a:lnTo>
                  <a:lnTo>
                    <a:pt x="9816018" y="2783448"/>
                  </a:lnTo>
                  <a:lnTo>
                    <a:pt x="9810694" y="2783973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77989" y="2757576"/>
              <a:ext cx="2715895" cy="283210"/>
            </a:xfrm>
            <a:custGeom>
              <a:avLst/>
              <a:gdLst/>
              <a:ahLst/>
              <a:cxnLst/>
              <a:rect l="l" t="t" r="r" b="b"/>
              <a:pathLst>
                <a:path w="2715895" h="283210">
                  <a:moveTo>
                    <a:pt x="99288" y="16522"/>
                  </a:moveTo>
                  <a:lnTo>
                    <a:pt x="96977" y="10922"/>
                  </a:lnTo>
                  <a:lnTo>
                    <a:pt x="87744" y="2197"/>
                  </a:lnTo>
                  <a:lnTo>
                    <a:pt x="81864" y="0"/>
                  </a:lnTo>
                  <a:lnTo>
                    <a:pt x="61861" y="0"/>
                  </a:lnTo>
                  <a:lnTo>
                    <a:pt x="55981" y="2197"/>
                  </a:lnTo>
                  <a:lnTo>
                    <a:pt x="46748" y="10922"/>
                  </a:lnTo>
                  <a:lnTo>
                    <a:pt x="44437" y="16522"/>
                  </a:lnTo>
                  <a:lnTo>
                    <a:pt x="44437" y="30276"/>
                  </a:lnTo>
                  <a:lnTo>
                    <a:pt x="46697" y="35826"/>
                  </a:lnTo>
                  <a:lnTo>
                    <a:pt x="51219" y="40030"/>
                  </a:lnTo>
                  <a:lnTo>
                    <a:pt x="55791" y="44183"/>
                  </a:lnTo>
                  <a:lnTo>
                    <a:pt x="61722" y="46253"/>
                  </a:lnTo>
                  <a:lnTo>
                    <a:pt x="81775" y="46253"/>
                  </a:lnTo>
                  <a:lnTo>
                    <a:pt x="87630" y="44183"/>
                  </a:lnTo>
                  <a:lnTo>
                    <a:pt x="96977" y="35826"/>
                  </a:lnTo>
                  <a:lnTo>
                    <a:pt x="99288" y="30276"/>
                  </a:lnTo>
                  <a:lnTo>
                    <a:pt x="99288" y="16522"/>
                  </a:lnTo>
                  <a:close/>
                </a:path>
                <a:path w="2715895" h="283210">
                  <a:moveTo>
                    <a:pt x="146583" y="195707"/>
                  </a:moveTo>
                  <a:lnTo>
                    <a:pt x="93548" y="195707"/>
                  </a:lnTo>
                  <a:lnTo>
                    <a:pt x="93548" y="61582"/>
                  </a:lnTo>
                  <a:lnTo>
                    <a:pt x="7137" y="61582"/>
                  </a:lnTo>
                  <a:lnTo>
                    <a:pt x="7137" y="96977"/>
                  </a:lnTo>
                  <a:lnTo>
                    <a:pt x="55841" y="96977"/>
                  </a:lnTo>
                  <a:lnTo>
                    <a:pt x="55841" y="195707"/>
                  </a:lnTo>
                  <a:lnTo>
                    <a:pt x="0" y="195707"/>
                  </a:lnTo>
                  <a:lnTo>
                    <a:pt x="0" y="231101"/>
                  </a:lnTo>
                  <a:lnTo>
                    <a:pt x="146583" y="231101"/>
                  </a:lnTo>
                  <a:lnTo>
                    <a:pt x="146583" y="195707"/>
                  </a:lnTo>
                  <a:close/>
                </a:path>
                <a:path w="2715895" h="283210">
                  <a:moveTo>
                    <a:pt x="313918" y="105371"/>
                  </a:moveTo>
                  <a:lnTo>
                    <a:pt x="313309" y="95567"/>
                  </a:lnTo>
                  <a:lnTo>
                    <a:pt x="312242" y="90398"/>
                  </a:lnTo>
                  <a:lnTo>
                    <a:pt x="311467" y="86690"/>
                  </a:lnTo>
                  <a:lnTo>
                    <a:pt x="310819" y="85013"/>
                  </a:lnTo>
                  <a:lnTo>
                    <a:pt x="310743" y="84810"/>
                  </a:lnTo>
                  <a:lnTo>
                    <a:pt x="276771" y="58712"/>
                  </a:lnTo>
                  <a:lnTo>
                    <a:pt x="268414" y="58712"/>
                  </a:lnTo>
                  <a:lnTo>
                    <a:pt x="261734" y="61010"/>
                  </a:lnTo>
                  <a:lnTo>
                    <a:pt x="260883" y="61582"/>
                  </a:lnTo>
                  <a:lnTo>
                    <a:pt x="250063" y="70840"/>
                  </a:lnTo>
                  <a:lnTo>
                    <a:pt x="249758" y="71767"/>
                  </a:lnTo>
                  <a:lnTo>
                    <a:pt x="249199" y="70205"/>
                  </a:lnTo>
                  <a:lnTo>
                    <a:pt x="248323" y="69481"/>
                  </a:lnTo>
                  <a:lnTo>
                    <a:pt x="248323" y="78765"/>
                  </a:lnTo>
                  <a:lnTo>
                    <a:pt x="248069" y="77038"/>
                  </a:lnTo>
                  <a:lnTo>
                    <a:pt x="248183" y="76669"/>
                  </a:lnTo>
                  <a:lnTo>
                    <a:pt x="248208" y="77038"/>
                  </a:lnTo>
                  <a:lnTo>
                    <a:pt x="248323" y="78765"/>
                  </a:lnTo>
                  <a:lnTo>
                    <a:pt x="248323" y="69481"/>
                  </a:lnTo>
                  <a:lnTo>
                    <a:pt x="243738" y="65633"/>
                  </a:lnTo>
                  <a:lnTo>
                    <a:pt x="238328" y="61010"/>
                  </a:lnTo>
                  <a:lnTo>
                    <a:pt x="231660" y="58712"/>
                  </a:lnTo>
                  <a:lnTo>
                    <a:pt x="215379" y="58712"/>
                  </a:lnTo>
                  <a:lnTo>
                    <a:pt x="208813" y="61010"/>
                  </a:lnTo>
                  <a:lnTo>
                    <a:pt x="208572" y="61010"/>
                  </a:lnTo>
                  <a:lnTo>
                    <a:pt x="201422" y="67246"/>
                  </a:lnTo>
                  <a:lnTo>
                    <a:pt x="202463" y="61582"/>
                  </a:lnTo>
                  <a:lnTo>
                    <a:pt x="196519" y="61582"/>
                  </a:lnTo>
                  <a:lnTo>
                    <a:pt x="196519" y="84455"/>
                  </a:lnTo>
                  <a:lnTo>
                    <a:pt x="195110" y="77038"/>
                  </a:lnTo>
                  <a:lnTo>
                    <a:pt x="195237" y="76669"/>
                  </a:lnTo>
                  <a:lnTo>
                    <a:pt x="195275" y="77038"/>
                  </a:lnTo>
                  <a:lnTo>
                    <a:pt x="195440" y="78765"/>
                  </a:lnTo>
                  <a:lnTo>
                    <a:pt x="196519" y="84455"/>
                  </a:lnTo>
                  <a:lnTo>
                    <a:pt x="196519" y="61582"/>
                  </a:lnTo>
                  <a:lnTo>
                    <a:pt x="167894" y="61582"/>
                  </a:lnTo>
                  <a:lnTo>
                    <a:pt x="167894" y="231101"/>
                  </a:lnTo>
                  <a:lnTo>
                    <a:pt x="203581" y="231101"/>
                  </a:lnTo>
                  <a:lnTo>
                    <a:pt x="203581" y="99644"/>
                  </a:lnTo>
                  <a:lnTo>
                    <a:pt x="204444" y="95948"/>
                  </a:lnTo>
                  <a:lnTo>
                    <a:pt x="207937" y="91516"/>
                  </a:lnTo>
                  <a:lnTo>
                    <a:pt x="210464" y="90398"/>
                  </a:lnTo>
                  <a:lnTo>
                    <a:pt x="217182" y="90398"/>
                  </a:lnTo>
                  <a:lnTo>
                    <a:pt x="219697" y="91516"/>
                  </a:lnTo>
                  <a:lnTo>
                    <a:pt x="223405" y="95948"/>
                  </a:lnTo>
                  <a:lnTo>
                    <a:pt x="224548" y="99644"/>
                  </a:lnTo>
                  <a:lnTo>
                    <a:pt x="224637" y="231101"/>
                  </a:lnTo>
                  <a:lnTo>
                    <a:pt x="257175" y="231101"/>
                  </a:lnTo>
                  <a:lnTo>
                    <a:pt x="257200" y="99644"/>
                  </a:lnTo>
                  <a:lnTo>
                    <a:pt x="258229" y="95948"/>
                  </a:lnTo>
                  <a:lnTo>
                    <a:pt x="262013" y="91516"/>
                  </a:lnTo>
                  <a:lnTo>
                    <a:pt x="264566" y="90398"/>
                  </a:lnTo>
                  <a:lnTo>
                    <a:pt x="271284" y="90398"/>
                  </a:lnTo>
                  <a:lnTo>
                    <a:pt x="273748" y="91516"/>
                  </a:lnTo>
                  <a:lnTo>
                    <a:pt x="277139" y="95948"/>
                  </a:lnTo>
                  <a:lnTo>
                    <a:pt x="278155" y="99644"/>
                  </a:lnTo>
                  <a:lnTo>
                    <a:pt x="278231" y="231101"/>
                  </a:lnTo>
                  <a:lnTo>
                    <a:pt x="313918" y="231101"/>
                  </a:lnTo>
                  <a:lnTo>
                    <a:pt x="313918" y="105371"/>
                  </a:lnTo>
                  <a:close/>
                </a:path>
                <a:path w="2715895" h="283210">
                  <a:moveTo>
                    <a:pt x="479577" y="123151"/>
                  </a:moveTo>
                  <a:lnTo>
                    <a:pt x="478612" y="109283"/>
                  </a:lnTo>
                  <a:lnTo>
                    <a:pt x="475729" y="96862"/>
                  </a:lnTo>
                  <a:lnTo>
                    <a:pt x="474027" y="92989"/>
                  </a:lnTo>
                  <a:lnTo>
                    <a:pt x="470916" y="85877"/>
                  </a:lnTo>
                  <a:lnTo>
                    <a:pt x="464185" y="76339"/>
                  </a:lnTo>
                  <a:lnTo>
                    <a:pt x="455815" y="68630"/>
                  </a:lnTo>
                  <a:lnTo>
                    <a:pt x="446062" y="63119"/>
                  </a:lnTo>
                  <a:lnTo>
                    <a:pt x="441934" y="61899"/>
                  </a:lnTo>
                  <a:lnTo>
                    <a:pt x="441934" y="114147"/>
                  </a:lnTo>
                  <a:lnTo>
                    <a:pt x="441934" y="178536"/>
                  </a:lnTo>
                  <a:lnTo>
                    <a:pt x="439534" y="186512"/>
                  </a:lnTo>
                  <a:lnTo>
                    <a:pt x="430009" y="196964"/>
                  </a:lnTo>
                  <a:lnTo>
                    <a:pt x="422922" y="199694"/>
                  </a:lnTo>
                  <a:lnTo>
                    <a:pt x="404774" y="199694"/>
                  </a:lnTo>
                  <a:lnTo>
                    <a:pt x="385114" y="178536"/>
                  </a:lnTo>
                  <a:lnTo>
                    <a:pt x="385114" y="114147"/>
                  </a:lnTo>
                  <a:lnTo>
                    <a:pt x="387515" y="106705"/>
                  </a:lnTo>
                  <a:lnTo>
                    <a:pt x="396392" y="97193"/>
                  </a:lnTo>
                  <a:lnTo>
                    <a:pt x="396697" y="96862"/>
                  </a:lnTo>
                  <a:lnTo>
                    <a:pt x="398030" y="95631"/>
                  </a:lnTo>
                  <a:lnTo>
                    <a:pt x="404774" y="92989"/>
                  </a:lnTo>
                  <a:lnTo>
                    <a:pt x="422922" y="92989"/>
                  </a:lnTo>
                  <a:lnTo>
                    <a:pt x="429920" y="95631"/>
                  </a:lnTo>
                  <a:lnTo>
                    <a:pt x="439534" y="106172"/>
                  </a:lnTo>
                  <a:lnTo>
                    <a:pt x="441934" y="114147"/>
                  </a:lnTo>
                  <a:lnTo>
                    <a:pt x="441934" y="61899"/>
                  </a:lnTo>
                  <a:lnTo>
                    <a:pt x="434898" y="59804"/>
                  </a:lnTo>
                  <a:lnTo>
                    <a:pt x="422338" y="58712"/>
                  </a:lnTo>
                  <a:lnTo>
                    <a:pt x="412864" y="59347"/>
                  </a:lnTo>
                  <a:lnTo>
                    <a:pt x="382752" y="75793"/>
                  </a:lnTo>
                  <a:lnTo>
                    <a:pt x="384975" y="61582"/>
                  </a:lnTo>
                  <a:lnTo>
                    <a:pt x="378472" y="61582"/>
                  </a:lnTo>
                  <a:lnTo>
                    <a:pt x="378472" y="195986"/>
                  </a:lnTo>
                  <a:lnTo>
                    <a:pt x="378434" y="196964"/>
                  </a:lnTo>
                  <a:lnTo>
                    <a:pt x="378320" y="199694"/>
                  </a:lnTo>
                  <a:lnTo>
                    <a:pt x="378117" y="204355"/>
                  </a:lnTo>
                  <a:lnTo>
                    <a:pt x="378472" y="195986"/>
                  </a:lnTo>
                  <a:lnTo>
                    <a:pt x="378472" y="61582"/>
                  </a:lnTo>
                  <a:lnTo>
                    <a:pt x="347332" y="61582"/>
                  </a:lnTo>
                  <a:lnTo>
                    <a:pt x="347332" y="282676"/>
                  </a:lnTo>
                  <a:lnTo>
                    <a:pt x="384975" y="282676"/>
                  </a:lnTo>
                  <a:lnTo>
                    <a:pt x="384771" y="229565"/>
                  </a:lnTo>
                  <a:lnTo>
                    <a:pt x="382752" y="216979"/>
                  </a:lnTo>
                  <a:lnTo>
                    <a:pt x="383425" y="218173"/>
                  </a:lnTo>
                  <a:lnTo>
                    <a:pt x="422338" y="233972"/>
                  </a:lnTo>
                  <a:lnTo>
                    <a:pt x="434898" y="232879"/>
                  </a:lnTo>
                  <a:lnTo>
                    <a:pt x="470916" y="206794"/>
                  </a:lnTo>
                  <a:lnTo>
                    <a:pt x="479577" y="169252"/>
                  </a:lnTo>
                  <a:lnTo>
                    <a:pt x="479577" y="123151"/>
                  </a:lnTo>
                  <a:close/>
                </a:path>
                <a:path w="2715895" h="283210">
                  <a:moveTo>
                    <a:pt x="651522" y="124548"/>
                  </a:moveTo>
                  <a:lnTo>
                    <a:pt x="641324" y="86144"/>
                  </a:lnTo>
                  <a:lnTo>
                    <a:pt x="613879" y="63969"/>
                  </a:lnTo>
                  <a:lnTo>
                    <a:pt x="613879" y="114376"/>
                  </a:lnTo>
                  <a:lnTo>
                    <a:pt x="613879" y="178308"/>
                  </a:lnTo>
                  <a:lnTo>
                    <a:pt x="611403" y="186143"/>
                  </a:lnTo>
                  <a:lnTo>
                    <a:pt x="601573" y="196545"/>
                  </a:lnTo>
                  <a:lnTo>
                    <a:pt x="594360" y="199136"/>
                  </a:lnTo>
                  <a:lnTo>
                    <a:pt x="575284" y="199136"/>
                  </a:lnTo>
                  <a:lnTo>
                    <a:pt x="568058" y="196545"/>
                  </a:lnTo>
                  <a:lnTo>
                    <a:pt x="558253" y="186143"/>
                  </a:lnTo>
                  <a:lnTo>
                    <a:pt x="555802" y="178308"/>
                  </a:lnTo>
                  <a:lnTo>
                    <a:pt x="555802" y="114376"/>
                  </a:lnTo>
                  <a:lnTo>
                    <a:pt x="558253" y="106565"/>
                  </a:lnTo>
                  <a:lnTo>
                    <a:pt x="568058" y="96164"/>
                  </a:lnTo>
                  <a:lnTo>
                    <a:pt x="575284" y="93548"/>
                  </a:lnTo>
                  <a:lnTo>
                    <a:pt x="594360" y="93548"/>
                  </a:lnTo>
                  <a:lnTo>
                    <a:pt x="601573" y="96164"/>
                  </a:lnTo>
                  <a:lnTo>
                    <a:pt x="606463" y="101384"/>
                  </a:lnTo>
                  <a:lnTo>
                    <a:pt x="611403" y="106565"/>
                  </a:lnTo>
                  <a:lnTo>
                    <a:pt x="613879" y="63969"/>
                  </a:lnTo>
                  <a:lnTo>
                    <a:pt x="584847" y="58712"/>
                  </a:lnTo>
                  <a:lnTo>
                    <a:pt x="570331" y="59817"/>
                  </a:lnTo>
                  <a:lnTo>
                    <a:pt x="528269" y="86144"/>
                  </a:lnTo>
                  <a:lnTo>
                    <a:pt x="518121" y="124548"/>
                  </a:lnTo>
                  <a:lnTo>
                    <a:pt x="518096" y="167855"/>
                  </a:lnTo>
                  <a:lnTo>
                    <a:pt x="519226" y="182346"/>
                  </a:lnTo>
                  <a:lnTo>
                    <a:pt x="545985" y="223977"/>
                  </a:lnTo>
                  <a:lnTo>
                    <a:pt x="584847" y="233972"/>
                  </a:lnTo>
                  <a:lnTo>
                    <a:pt x="599325" y="232867"/>
                  </a:lnTo>
                  <a:lnTo>
                    <a:pt x="641324" y="206514"/>
                  </a:lnTo>
                  <a:lnTo>
                    <a:pt x="651522" y="167855"/>
                  </a:lnTo>
                  <a:lnTo>
                    <a:pt x="651522" y="124548"/>
                  </a:lnTo>
                  <a:close/>
                </a:path>
                <a:path w="2715895" h="283210">
                  <a:moveTo>
                    <a:pt x="829767" y="122593"/>
                  </a:moveTo>
                  <a:lnTo>
                    <a:pt x="828738" y="108800"/>
                  </a:lnTo>
                  <a:lnTo>
                    <a:pt x="825665" y="96456"/>
                  </a:lnTo>
                  <a:lnTo>
                    <a:pt x="823760" y="92430"/>
                  </a:lnTo>
                  <a:lnTo>
                    <a:pt x="820521" y="85572"/>
                  </a:lnTo>
                  <a:lnTo>
                    <a:pt x="782447" y="59791"/>
                  </a:lnTo>
                  <a:lnTo>
                    <a:pt x="769391" y="58712"/>
                  </a:lnTo>
                  <a:lnTo>
                    <a:pt x="752386" y="61010"/>
                  </a:lnTo>
                  <a:lnTo>
                    <a:pt x="739787" y="67945"/>
                  </a:lnTo>
                  <a:lnTo>
                    <a:pt x="731608" y="79489"/>
                  </a:lnTo>
                  <a:lnTo>
                    <a:pt x="727824" y="95656"/>
                  </a:lnTo>
                  <a:lnTo>
                    <a:pt x="727913" y="95161"/>
                  </a:lnTo>
                  <a:lnTo>
                    <a:pt x="733780" y="61582"/>
                  </a:lnTo>
                  <a:lnTo>
                    <a:pt x="696696" y="61582"/>
                  </a:lnTo>
                  <a:lnTo>
                    <a:pt x="696696" y="231101"/>
                  </a:lnTo>
                  <a:lnTo>
                    <a:pt x="734339" y="231101"/>
                  </a:lnTo>
                  <a:lnTo>
                    <a:pt x="734390" y="114147"/>
                  </a:lnTo>
                  <a:lnTo>
                    <a:pt x="736879" y="106311"/>
                  </a:lnTo>
                  <a:lnTo>
                    <a:pt x="746683" y="95656"/>
                  </a:lnTo>
                  <a:lnTo>
                    <a:pt x="747217" y="95161"/>
                  </a:lnTo>
                  <a:lnTo>
                    <a:pt x="754227" y="92430"/>
                  </a:lnTo>
                  <a:lnTo>
                    <a:pt x="772706" y="92430"/>
                  </a:lnTo>
                  <a:lnTo>
                    <a:pt x="779818" y="95161"/>
                  </a:lnTo>
                  <a:lnTo>
                    <a:pt x="789660" y="106070"/>
                  </a:lnTo>
                  <a:lnTo>
                    <a:pt x="789724" y="106311"/>
                  </a:lnTo>
                  <a:lnTo>
                    <a:pt x="792124" y="114147"/>
                  </a:lnTo>
                  <a:lnTo>
                    <a:pt x="792124" y="137985"/>
                  </a:lnTo>
                  <a:lnTo>
                    <a:pt x="829767" y="137985"/>
                  </a:lnTo>
                  <a:lnTo>
                    <a:pt x="829767" y="122593"/>
                  </a:lnTo>
                  <a:close/>
                </a:path>
                <a:path w="2715895" h="283210">
                  <a:moveTo>
                    <a:pt x="997737" y="61582"/>
                  </a:moveTo>
                  <a:lnTo>
                    <a:pt x="934694" y="61582"/>
                  </a:lnTo>
                  <a:lnTo>
                    <a:pt x="934694" y="18618"/>
                  </a:lnTo>
                  <a:lnTo>
                    <a:pt x="896975" y="18618"/>
                  </a:lnTo>
                  <a:lnTo>
                    <a:pt x="896975" y="61582"/>
                  </a:lnTo>
                  <a:lnTo>
                    <a:pt x="852551" y="61582"/>
                  </a:lnTo>
                  <a:lnTo>
                    <a:pt x="852551" y="96977"/>
                  </a:lnTo>
                  <a:lnTo>
                    <a:pt x="896975" y="96977"/>
                  </a:lnTo>
                  <a:lnTo>
                    <a:pt x="896975" y="183603"/>
                  </a:lnTo>
                  <a:lnTo>
                    <a:pt x="897801" y="194144"/>
                  </a:lnTo>
                  <a:lnTo>
                    <a:pt x="925614" y="227952"/>
                  </a:lnTo>
                  <a:lnTo>
                    <a:pt x="945959" y="231101"/>
                  </a:lnTo>
                  <a:lnTo>
                    <a:pt x="994867" y="231101"/>
                  </a:lnTo>
                  <a:lnTo>
                    <a:pt x="994867" y="195707"/>
                  </a:lnTo>
                  <a:lnTo>
                    <a:pt x="941755" y="195707"/>
                  </a:lnTo>
                  <a:lnTo>
                    <a:pt x="938822" y="194818"/>
                  </a:lnTo>
                  <a:lnTo>
                    <a:pt x="935507" y="191274"/>
                  </a:lnTo>
                  <a:lnTo>
                    <a:pt x="934694" y="188125"/>
                  </a:lnTo>
                  <a:lnTo>
                    <a:pt x="934694" y="96977"/>
                  </a:lnTo>
                  <a:lnTo>
                    <a:pt x="997737" y="96977"/>
                  </a:lnTo>
                  <a:lnTo>
                    <a:pt x="997737" y="61582"/>
                  </a:lnTo>
                  <a:close/>
                </a:path>
                <a:path w="2715895" h="283210">
                  <a:moveTo>
                    <a:pt x="2541981" y="158623"/>
                  </a:moveTo>
                  <a:lnTo>
                    <a:pt x="2541943" y="149428"/>
                  </a:lnTo>
                  <a:lnTo>
                    <a:pt x="2541828" y="115036"/>
                  </a:lnTo>
                  <a:lnTo>
                    <a:pt x="2541092" y="106781"/>
                  </a:lnTo>
                  <a:lnTo>
                    <a:pt x="2514371" y="67729"/>
                  </a:lnTo>
                  <a:lnTo>
                    <a:pt x="2489962" y="59817"/>
                  </a:lnTo>
                  <a:lnTo>
                    <a:pt x="2488577" y="59817"/>
                  </a:lnTo>
                  <a:lnTo>
                    <a:pt x="2476423" y="58991"/>
                  </a:lnTo>
                  <a:lnTo>
                    <a:pt x="2431643" y="72351"/>
                  </a:lnTo>
                  <a:lnTo>
                    <a:pt x="2409748" y="115036"/>
                  </a:lnTo>
                  <a:lnTo>
                    <a:pt x="2447531" y="115036"/>
                  </a:lnTo>
                  <a:lnTo>
                    <a:pt x="2448687" y="106781"/>
                  </a:lnTo>
                  <a:lnTo>
                    <a:pt x="2451684" y="101130"/>
                  </a:lnTo>
                  <a:lnTo>
                    <a:pt x="2461336" y="95072"/>
                  </a:lnTo>
                  <a:lnTo>
                    <a:pt x="2467889" y="93548"/>
                  </a:lnTo>
                  <a:lnTo>
                    <a:pt x="2485339" y="93548"/>
                  </a:lnTo>
                  <a:lnTo>
                    <a:pt x="2492311" y="95656"/>
                  </a:lnTo>
                  <a:lnTo>
                    <a:pt x="2497061" y="99847"/>
                  </a:lnTo>
                  <a:lnTo>
                    <a:pt x="2501874" y="104000"/>
                  </a:lnTo>
                  <a:lnTo>
                    <a:pt x="2504275" y="109943"/>
                  </a:lnTo>
                  <a:lnTo>
                    <a:pt x="2504275" y="126923"/>
                  </a:lnTo>
                  <a:lnTo>
                    <a:pt x="2504275" y="158623"/>
                  </a:lnTo>
                  <a:lnTo>
                    <a:pt x="2504275" y="182740"/>
                  </a:lnTo>
                  <a:lnTo>
                    <a:pt x="2500909" y="189128"/>
                  </a:lnTo>
                  <a:lnTo>
                    <a:pt x="2467254" y="201726"/>
                  </a:lnTo>
                  <a:lnTo>
                    <a:pt x="2458580" y="201726"/>
                  </a:lnTo>
                  <a:lnTo>
                    <a:pt x="2451912" y="199758"/>
                  </a:lnTo>
                  <a:lnTo>
                    <a:pt x="2442578" y="191922"/>
                  </a:lnTo>
                  <a:lnTo>
                    <a:pt x="2440254" y="186512"/>
                  </a:lnTo>
                  <a:lnTo>
                    <a:pt x="2440254" y="172897"/>
                  </a:lnTo>
                  <a:lnTo>
                    <a:pt x="2442133" y="167716"/>
                  </a:lnTo>
                  <a:lnTo>
                    <a:pt x="2449690" y="160439"/>
                  </a:lnTo>
                  <a:lnTo>
                    <a:pt x="2455087" y="158623"/>
                  </a:lnTo>
                  <a:lnTo>
                    <a:pt x="2504275" y="158623"/>
                  </a:lnTo>
                  <a:lnTo>
                    <a:pt x="2504275" y="126923"/>
                  </a:lnTo>
                  <a:lnTo>
                    <a:pt x="2461526" y="126923"/>
                  </a:lnTo>
                  <a:lnTo>
                    <a:pt x="2448737" y="127838"/>
                  </a:lnTo>
                  <a:lnTo>
                    <a:pt x="2411552" y="149428"/>
                  </a:lnTo>
                  <a:lnTo>
                    <a:pt x="2402535" y="181292"/>
                  </a:lnTo>
                  <a:lnTo>
                    <a:pt x="2403551" y="192773"/>
                  </a:lnTo>
                  <a:lnTo>
                    <a:pt x="2427452" y="225983"/>
                  </a:lnTo>
                  <a:lnTo>
                    <a:pt x="2461234" y="233972"/>
                  </a:lnTo>
                  <a:lnTo>
                    <a:pt x="2472017" y="233337"/>
                  </a:lnTo>
                  <a:lnTo>
                    <a:pt x="2507272" y="216001"/>
                  </a:lnTo>
                  <a:lnTo>
                    <a:pt x="2504897" y="231101"/>
                  </a:lnTo>
                  <a:lnTo>
                    <a:pt x="2541981" y="231101"/>
                  </a:lnTo>
                  <a:lnTo>
                    <a:pt x="2541981" y="195427"/>
                  </a:lnTo>
                  <a:lnTo>
                    <a:pt x="2541981" y="158623"/>
                  </a:lnTo>
                  <a:close/>
                </a:path>
                <a:path w="2715895" h="283210">
                  <a:moveTo>
                    <a:pt x="2715310" y="180517"/>
                  </a:moveTo>
                  <a:lnTo>
                    <a:pt x="2694648" y="139433"/>
                  </a:lnTo>
                  <a:lnTo>
                    <a:pt x="2640393" y="124968"/>
                  </a:lnTo>
                  <a:lnTo>
                    <a:pt x="2633116" y="123850"/>
                  </a:lnTo>
                  <a:lnTo>
                    <a:pt x="2628176" y="122186"/>
                  </a:lnTo>
                  <a:lnTo>
                    <a:pt x="2622956" y="117805"/>
                  </a:lnTo>
                  <a:lnTo>
                    <a:pt x="2621648" y="114452"/>
                  </a:lnTo>
                  <a:lnTo>
                    <a:pt x="2621699" y="109639"/>
                  </a:lnTo>
                  <a:lnTo>
                    <a:pt x="2623032" y="102755"/>
                  </a:lnTo>
                  <a:lnTo>
                    <a:pt x="2627185" y="97637"/>
                  </a:lnTo>
                  <a:lnTo>
                    <a:pt x="2634081" y="94576"/>
                  </a:lnTo>
                  <a:lnTo>
                    <a:pt x="2643759" y="93548"/>
                  </a:lnTo>
                  <a:lnTo>
                    <a:pt x="2660967" y="93548"/>
                  </a:lnTo>
                  <a:lnTo>
                    <a:pt x="2665311" y="94576"/>
                  </a:lnTo>
                  <a:lnTo>
                    <a:pt x="2665692" y="94576"/>
                  </a:lnTo>
                  <a:lnTo>
                    <a:pt x="2673096" y="99339"/>
                  </a:lnTo>
                  <a:lnTo>
                    <a:pt x="2675610" y="103809"/>
                  </a:lnTo>
                  <a:lnTo>
                    <a:pt x="2677058" y="110477"/>
                  </a:lnTo>
                  <a:lnTo>
                    <a:pt x="2714637" y="110477"/>
                  </a:lnTo>
                  <a:lnTo>
                    <a:pt x="2694698" y="70815"/>
                  </a:lnTo>
                  <a:lnTo>
                    <a:pt x="2654668" y="58712"/>
                  </a:lnTo>
                  <a:lnTo>
                    <a:pt x="2643759" y="58712"/>
                  </a:lnTo>
                  <a:lnTo>
                    <a:pt x="2631579" y="59461"/>
                  </a:lnTo>
                  <a:lnTo>
                    <a:pt x="2630690" y="59461"/>
                  </a:lnTo>
                  <a:lnTo>
                    <a:pt x="2592755" y="79425"/>
                  </a:lnTo>
                  <a:lnTo>
                    <a:pt x="2583929" y="109639"/>
                  </a:lnTo>
                  <a:lnTo>
                    <a:pt x="2583992" y="110477"/>
                  </a:lnTo>
                  <a:lnTo>
                    <a:pt x="2603855" y="149885"/>
                  </a:lnTo>
                  <a:lnTo>
                    <a:pt x="2656001" y="164007"/>
                  </a:lnTo>
                  <a:lnTo>
                    <a:pt x="2665488" y="166408"/>
                  </a:lnTo>
                  <a:lnTo>
                    <a:pt x="2672270" y="170205"/>
                  </a:lnTo>
                  <a:lnTo>
                    <a:pt x="2676334" y="175374"/>
                  </a:lnTo>
                  <a:lnTo>
                    <a:pt x="2677693" y="181914"/>
                  </a:lnTo>
                  <a:lnTo>
                    <a:pt x="2677693" y="187096"/>
                  </a:lnTo>
                  <a:lnTo>
                    <a:pt x="2675775" y="191274"/>
                  </a:lnTo>
                  <a:lnTo>
                    <a:pt x="2668181" y="197573"/>
                  </a:lnTo>
                  <a:lnTo>
                    <a:pt x="2662047" y="199136"/>
                  </a:lnTo>
                  <a:lnTo>
                    <a:pt x="2634475" y="199136"/>
                  </a:lnTo>
                  <a:lnTo>
                    <a:pt x="2616885" y="180517"/>
                  </a:lnTo>
                  <a:lnTo>
                    <a:pt x="2579459" y="180517"/>
                  </a:lnTo>
                  <a:lnTo>
                    <a:pt x="2599118" y="221386"/>
                  </a:lnTo>
                  <a:lnTo>
                    <a:pt x="2628646" y="233095"/>
                  </a:lnTo>
                  <a:lnTo>
                    <a:pt x="2627630" y="233095"/>
                  </a:lnTo>
                  <a:lnTo>
                    <a:pt x="2641511" y="233972"/>
                  </a:lnTo>
                  <a:lnTo>
                    <a:pt x="2653550" y="233972"/>
                  </a:lnTo>
                  <a:lnTo>
                    <a:pt x="2699308" y="219913"/>
                  </a:lnTo>
                  <a:lnTo>
                    <a:pt x="2715234" y="181914"/>
                  </a:lnTo>
                  <a:lnTo>
                    <a:pt x="2715310" y="180517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073607" y="1862805"/>
            <a:ext cx="1105535" cy="429895"/>
          </a:xfrm>
          <a:custGeom>
            <a:avLst/>
            <a:gdLst/>
            <a:ahLst/>
            <a:cxnLst/>
            <a:rect l="l" t="t" r="r" b="b"/>
            <a:pathLst>
              <a:path w="1105535" h="429894">
                <a:moveTo>
                  <a:pt x="1028895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19" y="413091"/>
                </a:lnTo>
                <a:lnTo>
                  <a:pt x="4174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028895" y="0"/>
                </a:lnTo>
                <a:lnTo>
                  <a:pt x="1073480" y="16786"/>
                </a:lnTo>
                <a:lnTo>
                  <a:pt x="1101225" y="55513"/>
                </a:lnTo>
                <a:lnTo>
                  <a:pt x="1105401" y="76505"/>
                </a:lnTo>
                <a:lnTo>
                  <a:pt x="1105401" y="353373"/>
                </a:lnTo>
                <a:lnTo>
                  <a:pt x="1088614" y="397957"/>
                </a:lnTo>
                <a:lnTo>
                  <a:pt x="1049886" y="425702"/>
                </a:lnTo>
                <a:lnTo>
                  <a:pt x="1034220" y="429353"/>
                </a:lnTo>
                <a:lnTo>
                  <a:pt x="1028895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78589" y="-98674"/>
            <a:ext cx="9297670" cy="2346960"/>
          </a:xfrm>
          <a:prstGeom prst="rect">
            <a:avLst/>
          </a:prstGeom>
        </p:spPr>
        <p:txBody>
          <a:bodyPr vert="horz" wrap="square" lIns="0" tIns="386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45"/>
              </a:spcBef>
            </a:pPr>
            <a:r>
              <a:rPr spc="-20" dirty="0"/>
              <a:t>DataFrames</a:t>
            </a:r>
            <a:r>
              <a:rPr spc="-190" dirty="0"/>
              <a:t> </a:t>
            </a:r>
            <a:r>
              <a:rPr dirty="0"/>
              <a:t>and</a:t>
            </a:r>
            <a:r>
              <a:rPr spc="-175" dirty="0"/>
              <a:t> </a:t>
            </a:r>
            <a:r>
              <a:rPr spc="-10" dirty="0"/>
              <a:t>labels</a:t>
            </a:r>
          </a:p>
          <a:p>
            <a:pPr marL="381000" marR="5080">
              <a:lnSpc>
                <a:spcPts val="5160"/>
              </a:lnSpc>
              <a:tabLst>
                <a:tab pos="3634104" algn="l"/>
              </a:tabLst>
            </a:pPr>
            <a:r>
              <a:rPr sz="2550" b="0" spc="55" dirty="0">
                <a:latin typeface="Arial"/>
                <a:cs typeface="Arial"/>
              </a:rPr>
              <a:t>Label</a:t>
            </a:r>
            <a:r>
              <a:rPr sz="2550" b="0" spc="50" dirty="0">
                <a:latin typeface="Arial"/>
                <a:cs typeface="Arial"/>
              </a:rPr>
              <a:t> </a:t>
            </a:r>
            <a:r>
              <a:rPr sz="2550" b="0" spc="75" dirty="0">
                <a:latin typeface="Arial"/>
                <a:cs typeface="Arial"/>
              </a:rPr>
              <a:t>similarities</a:t>
            </a:r>
            <a:r>
              <a:rPr sz="2550" b="0" spc="50" dirty="0">
                <a:latin typeface="Arial"/>
                <a:cs typeface="Arial"/>
              </a:rPr>
              <a:t> </a:t>
            </a:r>
            <a:r>
              <a:rPr sz="2550" b="0" spc="125" dirty="0">
                <a:latin typeface="Arial"/>
                <a:cs typeface="Arial"/>
              </a:rPr>
              <a:t>with</a:t>
            </a:r>
            <a:r>
              <a:rPr sz="2550" b="0" spc="55" dirty="0">
                <a:latin typeface="Arial"/>
                <a:cs typeface="Arial"/>
              </a:rPr>
              <a:t> </a:t>
            </a:r>
            <a:r>
              <a:rPr sz="2550" b="0" spc="120" dirty="0">
                <a:latin typeface="Arial"/>
                <a:cs typeface="Arial"/>
              </a:rPr>
              <a:t>the</a:t>
            </a:r>
            <a:r>
              <a:rPr sz="2550" b="0" spc="50" dirty="0">
                <a:latin typeface="Arial"/>
                <a:cs typeface="Arial"/>
              </a:rPr>
              <a:t> </a:t>
            </a:r>
            <a:r>
              <a:rPr sz="2550" b="0" spc="114" dirty="0">
                <a:latin typeface="Arial"/>
                <a:cs typeface="Arial"/>
              </a:rPr>
              <a:t>article</a:t>
            </a:r>
            <a:r>
              <a:rPr sz="2550" b="0" spc="50" dirty="0">
                <a:latin typeface="Arial"/>
                <a:cs typeface="Arial"/>
              </a:rPr>
              <a:t> </a:t>
            </a:r>
            <a:r>
              <a:rPr sz="2550" b="0" spc="70" dirty="0">
                <a:latin typeface="Arial"/>
                <a:cs typeface="Arial"/>
              </a:rPr>
              <a:t>titles,</a:t>
            </a:r>
            <a:r>
              <a:rPr sz="2550" b="0" spc="55" dirty="0">
                <a:latin typeface="Arial"/>
                <a:cs typeface="Arial"/>
              </a:rPr>
              <a:t> </a:t>
            </a:r>
            <a:r>
              <a:rPr sz="2550" b="0" spc="60" dirty="0">
                <a:latin typeface="Arial"/>
                <a:cs typeface="Arial"/>
              </a:rPr>
              <a:t>using</a:t>
            </a:r>
            <a:r>
              <a:rPr sz="2550" b="0" spc="50" dirty="0">
                <a:latin typeface="Arial"/>
                <a:cs typeface="Arial"/>
              </a:rPr>
              <a:t> </a:t>
            </a:r>
            <a:r>
              <a:rPr sz="2550" b="0" spc="155" dirty="0">
                <a:latin typeface="Arial"/>
                <a:cs typeface="Arial"/>
              </a:rPr>
              <a:t>a</a:t>
            </a:r>
            <a:r>
              <a:rPr sz="2550" b="0" spc="50" dirty="0">
                <a:latin typeface="Arial"/>
                <a:cs typeface="Arial"/>
              </a:rPr>
              <a:t> </a:t>
            </a:r>
            <a:r>
              <a:rPr sz="2550" b="0" spc="75" dirty="0">
                <a:latin typeface="Arial"/>
                <a:cs typeface="Arial"/>
              </a:rPr>
              <a:t>DataFrame </a:t>
            </a:r>
            <a:r>
              <a:rPr sz="2550" b="0" dirty="0">
                <a:latin typeface="Arial"/>
                <a:cs typeface="Arial"/>
              </a:rPr>
              <a:t>Titles</a:t>
            </a:r>
            <a:r>
              <a:rPr sz="2550" b="0" spc="105" dirty="0">
                <a:latin typeface="Arial"/>
                <a:cs typeface="Arial"/>
              </a:rPr>
              <a:t> </a:t>
            </a:r>
            <a:r>
              <a:rPr sz="2550" b="0" spc="80" dirty="0">
                <a:latin typeface="Arial"/>
                <a:cs typeface="Arial"/>
              </a:rPr>
              <a:t>given</a:t>
            </a:r>
            <a:r>
              <a:rPr sz="2550" b="0" spc="105" dirty="0">
                <a:latin typeface="Arial"/>
                <a:cs typeface="Arial"/>
              </a:rPr>
              <a:t> </a:t>
            </a:r>
            <a:r>
              <a:rPr sz="2550" b="0" dirty="0">
                <a:latin typeface="Arial"/>
                <a:cs typeface="Arial"/>
              </a:rPr>
              <a:t>as</a:t>
            </a:r>
            <a:r>
              <a:rPr sz="2550" b="0" spc="100" dirty="0">
                <a:latin typeface="Arial"/>
                <a:cs typeface="Arial"/>
              </a:rPr>
              <a:t> </a:t>
            </a:r>
            <a:r>
              <a:rPr sz="2550" b="0" spc="155" dirty="0">
                <a:latin typeface="Arial"/>
                <a:cs typeface="Arial"/>
              </a:rPr>
              <a:t>a</a:t>
            </a:r>
            <a:r>
              <a:rPr sz="2550" b="0" spc="105" dirty="0">
                <a:latin typeface="Arial"/>
                <a:cs typeface="Arial"/>
              </a:rPr>
              <a:t> </a:t>
            </a:r>
            <a:r>
              <a:rPr sz="2550" b="0" spc="-20" dirty="0">
                <a:latin typeface="Arial"/>
                <a:cs typeface="Arial"/>
              </a:rPr>
              <a:t>list:</a:t>
            </a:r>
            <a:r>
              <a:rPr sz="2550" b="0" dirty="0">
                <a:latin typeface="Arial"/>
                <a:cs typeface="Arial"/>
              </a:rPr>
              <a:t>	</a:t>
            </a:r>
            <a:r>
              <a:rPr sz="2250" b="0" spc="-10" dirty="0">
                <a:latin typeface="Monaco"/>
                <a:cs typeface="Monaco"/>
              </a:rPr>
              <a:t>titles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352" y="2542004"/>
            <a:ext cx="7935595" cy="2482215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16025">
              <a:lnSpc>
                <a:spcPct val="100000"/>
              </a:lnSpc>
              <a:spcBef>
                <a:spcPts val="1265"/>
              </a:spcBef>
              <a:tabLst>
                <a:tab pos="2934970" algn="l"/>
              </a:tabLst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pandas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04182D"/>
                </a:solidFill>
                <a:latin typeface="Monaco"/>
                <a:cs typeface="Monaco"/>
              </a:rPr>
              <a:t>pd</a:t>
            </a:r>
            <a:endParaRPr sz="2250" dirty="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norm_features =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normalize(nmf_features)</a:t>
            </a:r>
            <a:endParaRPr sz="2250" dirty="0">
              <a:latin typeface="Monaco"/>
              <a:cs typeface="Monaco"/>
            </a:endParaRPr>
          </a:p>
          <a:p>
            <a:pPr marL="12700" marR="5080">
              <a:lnSpc>
                <a:spcPct val="143300"/>
              </a:lnSpc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df = pd.DataFrame(norm_features,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index=titles)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current_article</a:t>
            </a:r>
            <a:r>
              <a:rPr sz="2250" spc="-1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=</a:t>
            </a:r>
            <a:r>
              <a:rPr sz="2250" spc="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df.loc[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'Dog</a:t>
            </a:r>
            <a:r>
              <a:rPr sz="2250" spc="-5" dirty="0">
                <a:solidFill>
                  <a:srgbClr val="BE2F72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bites 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man'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similarities =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df.dot(current_article)</a:t>
            </a:r>
            <a:endParaRPr sz="2250" dirty="0">
              <a:latin typeface="Monaco"/>
              <a:cs typeface="Monaco"/>
            </a:endParaRP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DB2C4A21-EF77-B174-C502-8589BE5C463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35</a:t>
            </a:fld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70999A-92FF-69DD-49DB-67F8A4436038}"/>
              </a:ext>
            </a:extLst>
          </p:cNvPr>
          <p:cNvSpPr txBox="1"/>
          <p:nvPr/>
        </p:nvSpPr>
        <p:spPr>
          <a:xfrm>
            <a:off x="8388349" y="1862805"/>
            <a:ext cx="7014603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/>
              <a:t>normalize(</a:t>
            </a:r>
            <a:r>
              <a:rPr lang="en" altLang="ko-KR" b="1" dirty="0" err="1"/>
              <a:t>nmf_features</a:t>
            </a:r>
            <a:r>
              <a:rPr lang="en" altLang="ko-KR" b="1" dirty="0"/>
              <a:t>)</a:t>
            </a:r>
            <a:r>
              <a:rPr lang="en" altLang="ko-K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dirty="0"/>
              <a:t>Scales each row (representing an article) of the NMF feature matrix </a:t>
            </a:r>
            <a:r>
              <a:rPr lang="en" altLang="ko-KR" dirty="0" err="1"/>
              <a:t>nmf_features</a:t>
            </a:r>
            <a:r>
              <a:rPr lang="en" altLang="ko-KR" dirty="0"/>
              <a:t> to unit norm (length 1).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dirty="0"/>
              <a:t>Normalization ensures that the magnitude of the vectors does not influence the cosine similarity calculation.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dirty="0"/>
              <a:t>After normalization:</a:t>
            </a:r>
          </a:p>
          <a:p>
            <a:pPr marL="1200150" lvl="2" indent="-285750">
              <a:buFont typeface="Wingdings" pitchFamily="2" charset="2"/>
              <a:buChar char="ü"/>
            </a:pPr>
            <a:r>
              <a:rPr lang="en" altLang="ko-KR" dirty="0"/>
              <a:t>The rows of </a:t>
            </a:r>
            <a:r>
              <a:rPr lang="en" altLang="ko-KR" dirty="0" err="1"/>
              <a:t>norm_features</a:t>
            </a:r>
            <a:r>
              <a:rPr lang="en" altLang="ko-KR" dirty="0"/>
              <a:t> are unit vectors.</a:t>
            </a:r>
          </a:p>
          <a:p>
            <a:pPr marL="1200150" lvl="2" indent="-285750">
              <a:buFont typeface="Wingdings" pitchFamily="2" charset="2"/>
              <a:buChar char="ü"/>
            </a:pPr>
            <a:r>
              <a:rPr lang="en" altLang="ko-KR" dirty="0"/>
              <a:t>Cosine similarity becomes equivalent to the dot product of the vectors.</a:t>
            </a:r>
          </a:p>
          <a:p>
            <a:pPr marL="1200150" lvl="2" indent="-285750">
              <a:buFont typeface="Wingdings" pitchFamily="2" charset="2"/>
              <a:buChar char="ü"/>
            </a:pPr>
            <a:endParaRPr lang="en" altLang="ko-KR" dirty="0"/>
          </a:p>
          <a:p>
            <a:r>
              <a:rPr lang="en" altLang="ko-KR" b="1" dirty="0" err="1"/>
              <a:t>pd.DataFrame</a:t>
            </a:r>
            <a:r>
              <a:rPr lang="en" altLang="ko-KR" b="1" dirty="0"/>
              <a:t>()</a:t>
            </a:r>
            <a:r>
              <a:rPr lang="en" altLang="ko-K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dirty="0"/>
              <a:t>Converts the normalized feature matrix into a pandas </a:t>
            </a:r>
            <a:r>
              <a:rPr lang="en" altLang="ko-KR" dirty="0" err="1"/>
              <a:t>DataFrame</a:t>
            </a:r>
            <a:r>
              <a:rPr lang="en" altLang="ko-KR" dirty="0"/>
              <a:t> for easier handling and visualization.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b="1" dirty="0"/>
              <a:t>index=titles</a:t>
            </a:r>
            <a:r>
              <a:rPr lang="en" altLang="ko-KR" dirty="0"/>
              <a:t>:</a:t>
            </a:r>
          </a:p>
          <a:p>
            <a:pPr marL="1200150" lvl="2" indent="-285750">
              <a:buFont typeface="Wingdings" pitchFamily="2" charset="2"/>
              <a:buChar char="ü"/>
            </a:pPr>
            <a:r>
              <a:rPr lang="en" altLang="ko-KR" dirty="0"/>
              <a:t>Assigns the titles of the articles as row indices.</a:t>
            </a:r>
          </a:p>
          <a:p>
            <a:pPr marL="1200150" lvl="2" indent="-285750">
              <a:buFont typeface="Wingdings" pitchFamily="2" charset="2"/>
              <a:buChar char="ü"/>
            </a:pPr>
            <a:r>
              <a:rPr lang="en" altLang="ko-KR" dirty="0"/>
              <a:t>Each row in </a:t>
            </a:r>
            <a:r>
              <a:rPr lang="en" altLang="ko-KR" dirty="0" err="1"/>
              <a:t>df</a:t>
            </a:r>
            <a:r>
              <a:rPr lang="en" altLang="ko-KR" dirty="0"/>
              <a:t> corresponds to an article, and each column corresponds to a normalized feature.</a:t>
            </a:r>
          </a:p>
          <a:p>
            <a:pPr marL="1200150" lvl="2" indent="-285750">
              <a:buFont typeface="Wingdings" pitchFamily="2" charset="2"/>
              <a:buChar char="ü"/>
            </a:pPr>
            <a:endParaRPr lang="en" altLang="ko-KR" dirty="0"/>
          </a:p>
          <a:p>
            <a:r>
              <a:rPr lang="en" altLang="ko-KR" b="1" dirty="0" err="1"/>
              <a:t>df.loc</a:t>
            </a:r>
            <a:r>
              <a:rPr lang="en" altLang="ko-KR" b="1" dirty="0"/>
              <a:t>['Dog bites man']</a:t>
            </a:r>
            <a:r>
              <a:rPr lang="en" altLang="ko-KR" dirty="0"/>
              <a:t>:Retrieves the row corresponding to the article titled "Dog bites man".</a:t>
            </a:r>
          </a:p>
          <a:p>
            <a:r>
              <a:rPr lang="en" altLang="ko-KR" b="1" dirty="0" err="1"/>
              <a:t>current_article</a:t>
            </a:r>
            <a:r>
              <a:rPr lang="en" altLang="ko-K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dirty="0"/>
              <a:t>A 1D pandas Series containing the normalized feature vector for the article.</a:t>
            </a:r>
          </a:p>
          <a:p>
            <a:pPr marL="1200150" lvl="2" indent="-285750">
              <a:buFont typeface="Wingdings" pitchFamily="2" charset="2"/>
              <a:buChar char="ü"/>
            </a:pPr>
            <a:endParaRPr lang="en" altLang="ko-KR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800454-E5A4-9148-F1A6-D0BE63D0397E}"/>
              </a:ext>
            </a:extLst>
          </p:cNvPr>
          <p:cNvSpPr txBox="1"/>
          <p:nvPr/>
        </p:nvSpPr>
        <p:spPr>
          <a:xfrm>
            <a:off x="292816" y="5349838"/>
            <a:ext cx="778119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 err="1"/>
              <a:t>df.dot</a:t>
            </a:r>
            <a:r>
              <a:rPr lang="en" altLang="ko-KR" b="1" dirty="0"/>
              <a:t>(</a:t>
            </a:r>
            <a:r>
              <a:rPr lang="en" altLang="ko-KR" b="1" dirty="0" err="1"/>
              <a:t>current_article</a:t>
            </a:r>
            <a:r>
              <a:rPr lang="en" altLang="ko-KR" b="1" dirty="0"/>
              <a:t>)</a:t>
            </a:r>
            <a:r>
              <a:rPr lang="en" altLang="ko-KR" dirty="0"/>
              <a:t>:Computes the dot product between the feature vectors of all articles (rows of </a:t>
            </a:r>
            <a:r>
              <a:rPr lang="en" altLang="ko-KR" dirty="0" err="1"/>
              <a:t>df</a:t>
            </a:r>
            <a:r>
              <a:rPr lang="en" altLang="ko-KR" dirty="0"/>
              <a:t>) and the feature vector of the current article.</a:t>
            </a:r>
          </a:p>
          <a:p>
            <a:r>
              <a:rPr lang="en" altLang="ko-KR" dirty="0"/>
              <a:t>Since all rows are normalized, the dot product directly computes the </a:t>
            </a:r>
            <a:r>
              <a:rPr lang="en" altLang="ko-KR" b="1" dirty="0"/>
              <a:t>cosine similarity</a:t>
            </a:r>
            <a:r>
              <a:rPr lang="en" altLang="ko-KR" dirty="0"/>
              <a:t>.</a:t>
            </a:r>
          </a:p>
          <a:p>
            <a:r>
              <a:rPr lang="en" altLang="ko-KR" b="1" dirty="0"/>
              <a:t>similarities</a:t>
            </a:r>
            <a:r>
              <a:rPr lang="en" altLang="ko-KR" dirty="0"/>
              <a:t>: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" altLang="ko-KR" dirty="0"/>
              <a:t>A pandas Series where:</a:t>
            </a:r>
          </a:p>
          <a:p>
            <a:pPr marL="1200150" lvl="2" indent="-285750">
              <a:buFont typeface="Wingdings" pitchFamily="2" charset="2"/>
              <a:buChar char="§"/>
            </a:pPr>
            <a:r>
              <a:rPr lang="en" altLang="ko-KR" b="1" dirty="0"/>
              <a:t>Index</a:t>
            </a:r>
            <a:r>
              <a:rPr lang="en" altLang="ko-KR" dirty="0"/>
              <a:t>: Article titles.</a:t>
            </a:r>
          </a:p>
          <a:p>
            <a:pPr marL="1200150" lvl="2" indent="-285750">
              <a:buFont typeface="Wingdings" pitchFamily="2" charset="2"/>
              <a:buChar char="§"/>
            </a:pPr>
            <a:r>
              <a:rPr lang="en" altLang="ko-KR" b="1" dirty="0"/>
              <a:t>Values</a:t>
            </a:r>
            <a:r>
              <a:rPr lang="en" altLang="ko-KR" dirty="0"/>
              <a:t>: Cosine similarity scores between the corresponding article and "Dog bites man".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613791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0" dirty="0"/>
              <a:t>DataFrames</a:t>
            </a:r>
            <a:r>
              <a:rPr spc="-180" dirty="0"/>
              <a:t> </a:t>
            </a:r>
            <a:r>
              <a:rPr dirty="0"/>
              <a:t>and</a:t>
            </a:r>
            <a:r>
              <a:rPr spc="-175" dirty="0"/>
              <a:t> </a:t>
            </a:r>
            <a:r>
              <a:rPr spc="-50" dirty="0"/>
              <a:t>labels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9887585" cy="819150"/>
          </a:xfrm>
          <a:custGeom>
            <a:avLst/>
            <a:gdLst/>
            <a:ahLst/>
            <a:cxnLst/>
            <a:rect l="l" t="t" r="r" b="b"/>
            <a:pathLst>
              <a:path w="9887585" h="819150">
                <a:moveTo>
                  <a:pt x="9810694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742310"/>
                </a:lnTo>
                <a:lnTo>
                  <a:pt x="9870412" y="786895"/>
                </a:lnTo>
                <a:lnTo>
                  <a:pt x="9831684" y="814639"/>
                </a:lnTo>
                <a:lnTo>
                  <a:pt x="9816018" y="818291"/>
                </a:lnTo>
                <a:lnTo>
                  <a:pt x="9810694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72"/>
            <a:ext cx="9887585" cy="3275329"/>
          </a:xfrm>
          <a:custGeom>
            <a:avLst/>
            <a:gdLst/>
            <a:ahLst/>
            <a:cxnLst/>
            <a:rect l="l" t="t" r="r" b="b"/>
            <a:pathLst>
              <a:path w="9887585" h="3275329">
                <a:moveTo>
                  <a:pt x="9810694" y="3275262"/>
                </a:moveTo>
                <a:lnTo>
                  <a:pt x="76505" y="3275262"/>
                </a:lnTo>
                <a:lnTo>
                  <a:pt x="71180" y="3274738"/>
                </a:lnTo>
                <a:lnTo>
                  <a:pt x="31920" y="3258476"/>
                </a:lnTo>
                <a:lnTo>
                  <a:pt x="4175" y="3219748"/>
                </a:lnTo>
                <a:lnTo>
                  <a:pt x="0" y="3198757"/>
                </a:lnTo>
                <a:lnTo>
                  <a:pt x="0" y="3193381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3198757"/>
                </a:lnTo>
                <a:lnTo>
                  <a:pt x="9870412" y="3243341"/>
                </a:lnTo>
                <a:lnTo>
                  <a:pt x="9831684" y="3271086"/>
                </a:lnTo>
                <a:lnTo>
                  <a:pt x="9816018" y="3274737"/>
                </a:lnTo>
                <a:lnTo>
                  <a:pt x="9810694" y="3275262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379286"/>
            <a:ext cx="518414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(similarities.nlargest())</a:t>
            </a:r>
            <a:endParaRPr sz="2250">
              <a:latin typeface="Monaco"/>
              <a:cs typeface="Monac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3302" y="2465044"/>
          <a:ext cx="8489314" cy="23183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16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3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909">
                <a:tc>
                  <a:txBody>
                    <a:bodyPr/>
                    <a:lstStyle/>
                    <a:p>
                      <a:pPr marL="31750">
                        <a:lnSpc>
                          <a:spcPts val="2640"/>
                        </a:lnSpc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Dog bites 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man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1.000000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Hound mauls 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cat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0.979946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Pets go 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wild!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0.979708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Dachshunds are 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dangerous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0.949641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Our streets are no 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longer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safe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0.900474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42352" y="4900193"/>
            <a:ext cx="243332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dtype: 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float64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48FDFA3B-A848-AD24-3C16-AA6A5F26E1C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36</a:t>
            </a:fld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</TotalTime>
  <Words>2307</Words>
  <Application>Microsoft Macintosh PowerPoint</Application>
  <PresentationFormat>사용자 지정</PresentationFormat>
  <Paragraphs>282</Paragraphs>
  <Slides>36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3" baseType="lpstr">
      <vt:lpstr>맑은 고딕</vt:lpstr>
      <vt:lpstr>Arial</vt:lpstr>
      <vt:lpstr>Calibri</vt:lpstr>
      <vt:lpstr>Monaco</vt:lpstr>
      <vt:lpstr>Times New Roman</vt:lpstr>
      <vt:lpstr>Wingdings</vt:lpstr>
      <vt:lpstr>Office Theme</vt:lpstr>
      <vt:lpstr>Non-negative matrix factorization (NMF) U N S U P E R V I S E D L E A R N I N G I N P Y T H O N</vt:lpstr>
      <vt:lpstr>Non-negative matrix factorization</vt:lpstr>
      <vt:lpstr>Interpretable parts NMF expresses documents as combinations of topics (or "themes")</vt:lpstr>
      <vt:lpstr>Interpretable parts</vt:lpstr>
      <vt:lpstr>Using scikit-learn NMF</vt:lpstr>
      <vt:lpstr>Example word-frequency array</vt:lpstr>
      <vt:lpstr>Example usage of NMF</vt:lpstr>
      <vt:lpstr>NMF components</vt:lpstr>
      <vt:lpstr>NMF features</vt:lpstr>
      <vt:lpstr>Reconstruction of a sample</vt:lpstr>
      <vt:lpstr>Sample reconstruction Multiply components by feature values, and add up Can also be expressed as a product of matrices This is the "Matrix Factorization" in "NMF"</vt:lpstr>
      <vt:lpstr>NMF fits to non-negative data only</vt:lpstr>
      <vt:lpstr>Non-negative matrix factorization (NMF) learns interpretable parts U N S U P E R V I S E D L E A R N I N G I N P Y T H O N</vt:lpstr>
      <vt:lpstr>Example: NMF learns interpretable parts</vt:lpstr>
      <vt:lpstr>Applying NMF to the articles</vt:lpstr>
      <vt:lpstr>NMF components are topics</vt:lpstr>
      <vt:lpstr>NMF components are topics</vt:lpstr>
      <vt:lpstr>NMF components are topics</vt:lpstr>
      <vt:lpstr>NMF components are topics</vt:lpstr>
      <vt:lpstr>NMF components</vt:lpstr>
      <vt:lpstr>Grayscale images</vt:lpstr>
      <vt:lpstr>Grayscale image example</vt:lpstr>
      <vt:lpstr>Grayscale images as flat arrays</vt:lpstr>
      <vt:lpstr>Encoding a collection of images</vt:lpstr>
      <vt:lpstr>Visualizing samples</vt:lpstr>
      <vt:lpstr>Building recommender systems using Non-negative matrix factorization (NMF) U N S U P E R V I S E D L E A R N I N G I N P Y T H O N</vt:lpstr>
      <vt:lpstr>Finding similar articles</vt:lpstr>
      <vt:lpstr>Strategy</vt:lpstr>
      <vt:lpstr>Apply NMF to the word-frequency array</vt:lpstr>
      <vt:lpstr>Versions of articles</vt:lpstr>
      <vt:lpstr>Versions of articles</vt:lpstr>
      <vt:lpstr>Versions of articles</vt:lpstr>
      <vt:lpstr>Cosine similarity</vt:lpstr>
      <vt:lpstr>Calculating the cosine similarities</vt:lpstr>
      <vt:lpstr>DataFrames and labels Label similarities with the article titles, using a DataFrame Titles given as a list: titles</vt:lpstr>
      <vt:lpstr>DataFrames and labels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백우진</cp:lastModifiedBy>
  <cp:revision>16</cp:revision>
  <dcterms:created xsi:type="dcterms:W3CDTF">2025-01-12T03:14:52Z</dcterms:created>
  <dcterms:modified xsi:type="dcterms:W3CDTF">2025-01-12T06:28:26Z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2024-07-16T00:00:00Z</vt:filetime>
  </property>
  <property fmtid="{D5CDD505-2E9C-101B-9397-08002B2CF9AE}" pid="3" name="Creator">
    <vt:lpwstr>Chromium</vt:lpwstr>
  </property>
  <property fmtid="{D5CDD505-2E9C-101B-9397-08002B2CF9AE}" pid="4" name="LastSaved">
    <vt:filetime>2025-01-12T00:00:00Z</vt:filetime>
  </property>
  <property fmtid="{D5CDD505-2E9C-101B-9397-08002B2CF9AE}" pid="5" name="Producer">
    <vt:lpwstr>Skia/PDF m89</vt:lpwstr>
  </property>
</Properties>
</file>