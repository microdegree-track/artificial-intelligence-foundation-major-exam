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4" r:id="rId18"/>
    <p:sldId id="275" r:id="rId19"/>
    <p:sldId id="276" r:id="rId20"/>
    <p:sldId id="277" r:id="rId21"/>
    <p:sldId id="278" r:id="rId22"/>
    <p:sldId id="279" r:id="rId23"/>
    <p:sldId id="281" r:id="rId24"/>
    <p:sldId id="282" r:id="rId25"/>
    <p:sldId id="283" r:id="rId26"/>
    <p:sldId id="284" r:id="rId27"/>
    <p:sldId id="285" r:id="rId28"/>
    <p:sldId id="286" r:id="rId29"/>
    <p:sldId id="287" r:id="rId30"/>
  </p:sldIdLst>
  <p:sldSz cx="15557500" cy="8763000"/>
  <p:notesSz cx="15557500" cy="8763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94"/>
  </p:normalViewPr>
  <p:slideViewPr>
    <p:cSldViewPr>
      <p:cViewPr varScale="1">
        <p:scale>
          <a:sx n="95" d="100"/>
          <a:sy n="95" d="100"/>
        </p:scale>
        <p:origin x="760" y="1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742113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8812213" y="0"/>
            <a:ext cx="6742112" cy="439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95CA0B-A709-DD4B-8478-F5A5A2C7D92B}" type="datetimeFigureOut">
              <a:rPr kumimoji="1" lang="ko-KR" altLang="en-US" smtClean="0"/>
              <a:t>2024. 12. 8.</a:t>
            </a:fld>
            <a:endParaRPr kumimoji="1"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5153025" y="1095375"/>
            <a:ext cx="5251450" cy="2957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1555750" y="4217988"/>
            <a:ext cx="12446000" cy="34496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ko-KR" altLang="en-US"/>
              <a:t>마스터 텍스트 스타일을 편집하려면 클릭</a:t>
            </a:r>
          </a:p>
          <a:p>
            <a:pPr lvl="1"/>
            <a:r>
              <a:rPr kumimoji="1" lang="ko-KR" altLang="en-US"/>
              <a:t>두 번째 수준</a:t>
            </a:r>
          </a:p>
          <a:p>
            <a:pPr lvl="2"/>
            <a:r>
              <a:rPr kumimoji="1" lang="ko-KR" altLang="en-US"/>
              <a:t>세 번째 수준</a:t>
            </a:r>
          </a:p>
          <a:p>
            <a:pPr lvl="3"/>
            <a:r>
              <a:rPr kumimoji="1" lang="ko-KR" altLang="en-US"/>
              <a:t>네 번째 수준</a:t>
            </a:r>
          </a:p>
          <a:p>
            <a:pPr lvl="4"/>
            <a:r>
              <a:rPr kumimoji="1"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323263"/>
            <a:ext cx="6742113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8812213" y="8323263"/>
            <a:ext cx="6742112" cy="439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451D29-235E-5A4D-A9D9-064B679D11D1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8579753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166812" y="2716530"/>
            <a:ext cx="13223875" cy="1840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333625" y="4907280"/>
            <a:ext cx="10890250" cy="2190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5" dirty="0"/>
              <a:t>DATA</a:t>
            </a:r>
            <a:r>
              <a:rPr spc="-50" dirty="0"/>
              <a:t> </a:t>
            </a:r>
            <a:r>
              <a:rPr spc="-10" dirty="0"/>
              <a:t>MANIPULATION</a:t>
            </a:r>
            <a:r>
              <a:rPr spc="-45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spc="-50" dirty="0"/>
              <a:t>PANDAS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8C113A-C78F-FC4E-8DF3-285163EF1F72}" type="datetime1">
              <a:rPr lang="ko-KR" altLang="en-US" smtClean="0"/>
              <a:t>2024. 12. 8.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5" dirty="0"/>
              <a:t>DATA</a:t>
            </a:r>
            <a:r>
              <a:rPr spc="-50" dirty="0"/>
              <a:t> </a:t>
            </a:r>
            <a:r>
              <a:rPr spc="-10" dirty="0"/>
              <a:t>MANIPULATION</a:t>
            </a:r>
            <a:r>
              <a:rPr spc="-45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spc="-50" dirty="0"/>
              <a:t>PANDAS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B143EA-1E0A-524B-AE91-F8D19BA61A89}" type="datetime1">
              <a:rPr lang="ko-KR" altLang="en-US" smtClean="0"/>
              <a:t>2024. 12. 8.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777875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8012112" y="2015490"/>
            <a:ext cx="6767512" cy="57835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5" dirty="0"/>
              <a:t>DATA</a:t>
            </a:r>
            <a:r>
              <a:rPr spc="-50" dirty="0"/>
              <a:t> </a:t>
            </a:r>
            <a:r>
              <a:rPr spc="-10" dirty="0"/>
              <a:t>MANIPULATION</a:t>
            </a:r>
            <a:r>
              <a:rPr spc="-45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spc="-50" dirty="0"/>
              <a:t>PANDAS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C99557-7531-F74E-AF62-0868F8F4FECA}" type="datetime1">
              <a:rPr lang="ko-KR" altLang="en-US" smtClean="0"/>
              <a:t>2024. 12. 8.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5" dirty="0"/>
              <a:t>DATA</a:t>
            </a:r>
            <a:r>
              <a:rPr spc="-50" dirty="0"/>
              <a:t> </a:t>
            </a:r>
            <a:r>
              <a:rPr spc="-10" dirty="0"/>
              <a:t>MANIPULATION</a:t>
            </a:r>
            <a:r>
              <a:rPr spc="-45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spc="-50" dirty="0"/>
              <a:t>PANDAS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330815-EFE6-FB41-BB5A-A2A6BC73E4AB}" type="datetime1">
              <a:rPr lang="ko-KR" altLang="en-US" smtClean="0"/>
              <a:t>2024. 12. 8.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5" dirty="0"/>
              <a:t>DATA</a:t>
            </a:r>
            <a:r>
              <a:rPr spc="-50" dirty="0"/>
              <a:t> </a:t>
            </a:r>
            <a:r>
              <a:rPr spc="-10" dirty="0"/>
              <a:t>MANIPULATION</a:t>
            </a:r>
            <a:r>
              <a:rPr spc="-45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spc="-50" dirty="0"/>
              <a:t>PANDAS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2A7229-138C-BB45-A6D6-FF6C60BE338B}" type="datetime1">
              <a:rPr lang="ko-KR" altLang="en-US" smtClean="0"/>
              <a:t>2024. 12. 8.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8024369"/>
            <a:ext cx="15557500" cy="20955"/>
          </a:xfrm>
          <a:custGeom>
            <a:avLst/>
            <a:gdLst/>
            <a:ahLst/>
            <a:cxnLst/>
            <a:rect l="l" t="t" r="r" b="b"/>
            <a:pathLst>
              <a:path w="15557500" h="20954">
                <a:moveTo>
                  <a:pt x="15557498" y="20470"/>
                </a:moveTo>
                <a:lnTo>
                  <a:pt x="0" y="20470"/>
                </a:lnTo>
                <a:lnTo>
                  <a:pt x="0" y="0"/>
                </a:lnTo>
                <a:lnTo>
                  <a:pt x="15557498" y="0"/>
                </a:lnTo>
                <a:lnTo>
                  <a:pt x="15557498" y="20470"/>
                </a:lnTo>
                <a:close/>
              </a:path>
            </a:pathLst>
          </a:custGeom>
          <a:solidFill>
            <a:srgbClr val="E4E1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78589" y="273861"/>
            <a:ext cx="9400540" cy="71378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50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85202" y="2956310"/>
            <a:ext cx="13896340" cy="37915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184114" y="8207389"/>
            <a:ext cx="5058409" cy="3714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50" b="1" i="0">
                <a:solidFill>
                  <a:srgbClr val="04182D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pc="-105" dirty="0"/>
              <a:t>DATA</a:t>
            </a:r>
            <a:r>
              <a:rPr spc="-50" dirty="0"/>
              <a:t> </a:t>
            </a:r>
            <a:r>
              <a:rPr spc="-10" dirty="0"/>
              <a:t>MANIPULATION</a:t>
            </a:r>
            <a:r>
              <a:rPr spc="-45" dirty="0"/>
              <a:t> </a:t>
            </a:r>
            <a:r>
              <a:rPr dirty="0"/>
              <a:t>WITH</a:t>
            </a:r>
            <a:r>
              <a:rPr spc="-45" dirty="0"/>
              <a:t> </a:t>
            </a:r>
            <a:r>
              <a:rPr spc="-50" dirty="0"/>
              <a:t>PANDAS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777875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F554E3-35E2-4543-9C64-D6696281EBFB}" type="datetime1">
              <a:rPr lang="ko-KR" altLang="en-US" smtClean="0"/>
              <a:t>2024. 12. 8.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201400" y="8149590"/>
            <a:ext cx="3578225" cy="4381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35226" y="2236119"/>
            <a:ext cx="7107555" cy="1825625"/>
          </a:xfrm>
          <a:prstGeom prst="rect">
            <a:avLst/>
          </a:prstGeom>
        </p:spPr>
        <p:txBody>
          <a:bodyPr vert="horz" wrap="square" lIns="0" tIns="36322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2860"/>
              </a:spcBef>
            </a:pPr>
            <a:r>
              <a:rPr sz="6450" spc="-155" dirty="0"/>
              <a:t>Summary</a:t>
            </a:r>
            <a:r>
              <a:rPr sz="6450" spc="-254" dirty="0"/>
              <a:t> </a:t>
            </a:r>
            <a:r>
              <a:rPr sz="6450" spc="-195" dirty="0"/>
              <a:t>statistics</a:t>
            </a:r>
            <a:endParaRPr sz="6450"/>
          </a:p>
          <a:p>
            <a:pPr marR="53340" algn="ctr">
              <a:lnSpc>
                <a:spcPct val="100000"/>
              </a:lnSpc>
              <a:spcBef>
                <a:spcPts val="969"/>
              </a:spcBef>
              <a:tabLst>
                <a:tab pos="1024890" algn="l"/>
                <a:tab pos="3806825" algn="l"/>
                <a:tab pos="4827270" algn="l"/>
              </a:tabLst>
            </a:pPr>
            <a:r>
              <a:rPr sz="2250" spc="100" dirty="0"/>
              <a:t>DATA</a:t>
            </a:r>
            <a:r>
              <a:rPr sz="2250" dirty="0"/>
              <a:t>	</a:t>
            </a:r>
            <a:r>
              <a:rPr sz="2250" spc="204" dirty="0"/>
              <a:t>M</a:t>
            </a:r>
            <a:r>
              <a:rPr sz="2250" spc="-300" dirty="0"/>
              <a:t> </a:t>
            </a:r>
            <a:r>
              <a:rPr sz="2250" spc="-25" dirty="0"/>
              <a:t>A</a:t>
            </a:r>
            <a:r>
              <a:rPr sz="2250" spc="-295" dirty="0"/>
              <a:t> </a:t>
            </a:r>
            <a:r>
              <a:rPr sz="2250" spc="65" dirty="0"/>
              <a:t>N</a:t>
            </a:r>
            <a:r>
              <a:rPr sz="2250" spc="-295" dirty="0"/>
              <a:t> </a:t>
            </a:r>
            <a:r>
              <a:rPr sz="2250" spc="-10" dirty="0"/>
              <a:t>I</a:t>
            </a:r>
            <a:r>
              <a:rPr sz="2250" spc="-295" dirty="0"/>
              <a:t> </a:t>
            </a:r>
            <a:r>
              <a:rPr sz="2250" spc="-120" dirty="0"/>
              <a:t>P</a:t>
            </a:r>
            <a:r>
              <a:rPr sz="2250" spc="-300" dirty="0"/>
              <a:t> </a:t>
            </a:r>
            <a:r>
              <a:rPr sz="2250" spc="-90" dirty="0"/>
              <a:t>U</a:t>
            </a:r>
            <a:r>
              <a:rPr sz="2250" spc="-295" dirty="0"/>
              <a:t> </a:t>
            </a:r>
            <a:r>
              <a:rPr sz="2250" spc="-185" dirty="0"/>
              <a:t>L</a:t>
            </a:r>
            <a:r>
              <a:rPr sz="2250" spc="-295" dirty="0"/>
              <a:t> </a:t>
            </a:r>
            <a:r>
              <a:rPr sz="2250" dirty="0"/>
              <a:t>AT</a:t>
            </a:r>
            <a:r>
              <a:rPr sz="2250" spc="-295" dirty="0"/>
              <a:t> </a:t>
            </a:r>
            <a:r>
              <a:rPr sz="2250" spc="-10" dirty="0"/>
              <a:t>I</a:t>
            </a:r>
            <a:r>
              <a:rPr sz="2250" spc="-300" dirty="0"/>
              <a:t> </a:t>
            </a:r>
            <a:r>
              <a:rPr sz="2250" spc="70" dirty="0"/>
              <a:t>O</a:t>
            </a:r>
            <a:r>
              <a:rPr sz="2250" spc="-295" dirty="0"/>
              <a:t> </a:t>
            </a:r>
            <a:r>
              <a:rPr sz="2250" spc="15" dirty="0"/>
              <a:t>N</a:t>
            </a:r>
            <a:r>
              <a:rPr sz="2250" dirty="0"/>
              <a:t>	W</a:t>
            </a:r>
            <a:r>
              <a:rPr sz="2250" spc="-295" dirty="0"/>
              <a:t> </a:t>
            </a:r>
            <a:r>
              <a:rPr sz="2250" spc="-10" dirty="0"/>
              <a:t>I</a:t>
            </a:r>
            <a:r>
              <a:rPr sz="2250" spc="-295" dirty="0"/>
              <a:t> </a:t>
            </a:r>
            <a:r>
              <a:rPr sz="2250" spc="-90" dirty="0"/>
              <a:t>T</a:t>
            </a:r>
            <a:r>
              <a:rPr sz="2250" spc="-295" dirty="0"/>
              <a:t> </a:t>
            </a:r>
            <a:r>
              <a:rPr sz="2250" spc="-50" dirty="0"/>
              <a:t>H</a:t>
            </a:r>
            <a:r>
              <a:rPr sz="2250" dirty="0"/>
              <a:t>	PA</a:t>
            </a:r>
            <a:r>
              <a:rPr sz="2250" spc="-295" dirty="0"/>
              <a:t> </a:t>
            </a:r>
            <a:r>
              <a:rPr sz="2250" spc="65" dirty="0"/>
              <a:t>N</a:t>
            </a:r>
            <a:r>
              <a:rPr sz="2250" spc="-295" dirty="0"/>
              <a:t> </a:t>
            </a:r>
            <a:r>
              <a:rPr sz="2250" spc="135" dirty="0"/>
              <a:t>DA</a:t>
            </a:r>
            <a:r>
              <a:rPr sz="2250" spc="-320" dirty="0"/>
              <a:t> </a:t>
            </a:r>
            <a:r>
              <a:rPr sz="2250" spc="-50" dirty="0"/>
              <a:t>S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5398770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spc="75" dirty="0">
                <a:solidFill>
                  <a:srgbClr val="FFFFFF"/>
                </a:solidFill>
                <a:latin typeface="Arial"/>
                <a:cs typeface="Arial"/>
              </a:rPr>
              <a:t>Maggie</a:t>
            </a:r>
            <a:r>
              <a:rPr sz="255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Matsui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Senior</a:t>
            </a:r>
            <a:r>
              <a:rPr sz="22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8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  <a:r>
              <a:rPr sz="225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50" dirty="0">
                <a:solidFill>
                  <a:srgbClr val="FFFFFF"/>
                </a:solidFill>
                <a:latin typeface="Arial"/>
                <a:cs typeface="Arial"/>
              </a:rPr>
              <a:t>Developer</a:t>
            </a:r>
            <a:r>
              <a:rPr sz="225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165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225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100" dirty="0">
                <a:solidFill>
                  <a:srgbClr val="FFFFFF"/>
                </a:solidFill>
                <a:latin typeface="Arial"/>
                <a:cs typeface="Arial"/>
              </a:rPr>
              <a:t>DataCamp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A8C7BBA4-EEEC-C7A6-CE45-39F753CC581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</a:t>
            </a:fld>
            <a:endParaRPr lang="en-US" altLang="ko-K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14" dirty="0"/>
              <a:t>Summarizing</a:t>
            </a:r>
            <a:r>
              <a:rPr spc="-175" dirty="0"/>
              <a:t> </a:t>
            </a:r>
            <a:r>
              <a:rPr spc="-60" dirty="0"/>
              <a:t>numerical</a:t>
            </a:r>
            <a:r>
              <a:rPr spc="-175" dirty="0"/>
              <a:t> </a:t>
            </a:r>
            <a:r>
              <a:rPr spc="75" dirty="0"/>
              <a:t>data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1"/>
            <a:ext cx="7124065" cy="819150"/>
          </a:xfrm>
          <a:custGeom>
            <a:avLst/>
            <a:gdLst/>
            <a:ahLst/>
            <a:cxnLst/>
            <a:rect l="l" t="t" r="r" b="b"/>
            <a:pathLst>
              <a:path w="7124065" h="819150">
                <a:moveTo>
                  <a:pt x="7047191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7047191" y="0"/>
                </a:lnTo>
                <a:lnTo>
                  <a:pt x="7091775" y="16786"/>
                </a:lnTo>
                <a:lnTo>
                  <a:pt x="7119520" y="55513"/>
                </a:lnTo>
                <a:lnTo>
                  <a:pt x="7123696" y="76505"/>
                </a:lnTo>
                <a:lnTo>
                  <a:pt x="7123696" y="742310"/>
                </a:lnTo>
                <a:lnTo>
                  <a:pt x="7106908" y="786895"/>
                </a:lnTo>
                <a:lnTo>
                  <a:pt x="7068182" y="814639"/>
                </a:lnTo>
                <a:lnTo>
                  <a:pt x="7052515" y="818291"/>
                </a:lnTo>
                <a:lnTo>
                  <a:pt x="7047191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72"/>
            <a:ext cx="7124065" cy="819150"/>
          </a:xfrm>
          <a:custGeom>
            <a:avLst/>
            <a:gdLst/>
            <a:ahLst/>
            <a:cxnLst/>
            <a:rect l="l" t="t" r="r" b="b"/>
            <a:pathLst>
              <a:path w="7124065" h="819150">
                <a:moveTo>
                  <a:pt x="7047191" y="818815"/>
                </a:moveTo>
                <a:lnTo>
                  <a:pt x="76505" y="818815"/>
                </a:lnTo>
                <a:lnTo>
                  <a:pt x="71180" y="818290"/>
                </a:lnTo>
                <a:lnTo>
                  <a:pt x="31920" y="802028"/>
                </a:lnTo>
                <a:lnTo>
                  <a:pt x="4175" y="763300"/>
                </a:lnTo>
                <a:lnTo>
                  <a:pt x="0" y="742310"/>
                </a:lnTo>
                <a:lnTo>
                  <a:pt x="0" y="736933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7047191" y="0"/>
                </a:lnTo>
                <a:lnTo>
                  <a:pt x="7091775" y="16786"/>
                </a:lnTo>
                <a:lnTo>
                  <a:pt x="7119520" y="55513"/>
                </a:lnTo>
                <a:lnTo>
                  <a:pt x="7123696" y="76505"/>
                </a:lnTo>
                <a:lnTo>
                  <a:pt x="7123696" y="742310"/>
                </a:lnTo>
                <a:lnTo>
                  <a:pt x="7106908" y="786894"/>
                </a:lnTo>
                <a:lnTo>
                  <a:pt x="7068182" y="814639"/>
                </a:lnTo>
                <a:lnTo>
                  <a:pt x="7052515" y="818290"/>
                </a:lnTo>
                <a:lnTo>
                  <a:pt x="7047191" y="818815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285"/>
            <a:ext cx="415226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dogs[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"height_cm"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].mean()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2352" y="2443746"/>
            <a:ext cx="312102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49.714285714285715</a:t>
            </a:r>
            <a:endParaRPr sz="2250">
              <a:latin typeface="Monaco"/>
              <a:cs typeface="Monaco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2982" y="1351045"/>
            <a:ext cx="102352" cy="102351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8351920" y="1207752"/>
            <a:ext cx="1637664" cy="429895"/>
          </a:xfrm>
          <a:custGeom>
            <a:avLst/>
            <a:gdLst/>
            <a:ahLst/>
            <a:cxnLst/>
            <a:rect l="l" t="t" r="r" b="b"/>
            <a:pathLst>
              <a:path w="1637665" h="429894">
                <a:moveTo>
                  <a:pt x="1561125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18" y="413091"/>
                </a:lnTo>
                <a:lnTo>
                  <a:pt x="4174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5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561125" y="0"/>
                </a:lnTo>
                <a:lnTo>
                  <a:pt x="1605710" y="16786"/>
                </a:lnTo>
                <a:lnTo>
                  <a:pt x="1633454" y="55513"/>
                </a:lnTo>
                <a:lnTo>
                  <a:pt x="1637630" y="76505"/>
                </a:lnTo>
                <a:lnTo>
                  <a:pt x="1637630" y="353373"/>
                </a:lnTo>
                <a:lnTo>
                  <a:pt x="1620844" y="397957"/>
                </a:lnTo>
                <a:lnTo>
                  <a:pt x="1582116" y="425702"/>
                </a:lnTo>
                <a:lnTo>
                  <a:pt x="1566450" y="429353"/>
                </a:lnTo>
                <a:lnTo>
                  <a:pt x="1561125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276136" y="1207752"/>
            <a:ext cx="1289685" cy="429895"/>
          </a:xfrm>
          <a:custGeom>
            <a:avLst/>
            <a:gdLst/>
            <a:ahLst/>
            <a:cxnLst/>
            <a:rect l="l" t="t" r="r" b="b"/>
            <a:pathLst>
              <a:path w="1289684" h="429894">
                <a:moveTo>
                  <a:pt x="1213129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4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5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213129" y="0"/>
                </a:lnTo>
                <a:lnTo>
                  <a:pt x="1257712" y="16786"/>
                </a:lnTo>
                <a:lnTo>
                  <a:pt x="1285457" y="55513"/>
                </a:lnTo>
                <a:lnTo>
                  <a:pt x="1289634" y="76505"/>
                </a:lnTo>
                <a:lnTo>
                  <a:pt x="1289634" y="353373"/>
                </a:lnTo>
                <a:lnTo>
                  <a:pt x="1272846" y="397957"/>
                </a:lnTo>
                <a:lnTo>
                  <a:pt x="1234120" y="425702"/>
                </a:lnTo>
                <a:lnTo>
                  <a:pt x="1218453" y="429353"/>
                </a:lnTo>
                <a:lnTo>
                  <a:pt x="1213129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0" name="object 1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982" y="2006097"/>
            <a:ext cx="102352" cy="102351"/>
          </a:xfrm>
          <a:prstGeom prst="rect">
            <a:avLst/>
          </a:prstGeom>
        </p:spPr>
      </p:pic>
      <p:sp>
        <p:nvSpPr>
          <p:cNvPr id="11" name="object 11"/>
          <p:cNvSpPr/>
          <p:nvPr/>
        </p:nvSpPr>
        <p:spPr>
          <a:xfrm>
            <a:off x="8351920" y="1862804"/>
            <a:ext cx="1105535" cy="429895"/>
          </a:xfrm>
          <a:custGeom>
            <a:avLst/>
            <a:gdLst/>
            <a:ahLst/>
            <a:cxnLst/>
            <a:rect l="l" t="t" r="r" b="b"/>
            <a:pathLst>
              <a:path w="1105534" h="429894">
                <a:moveTo>
                  <a:pt x="1028895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18" y="413091"/>
                </a:lnTo>
                <a:lnTo>
                  <a:pt x="4174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5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028895" y="0"/>
                </a:lnTo>
                <a:lnTo>
                  <a:pt x="1073479" y="16786"/>
                </a:lnTo>
                <a:lnTo>
                  <a:pt x="1101224" y="55513"/>
                </a:lnTo>
                <a:lnTo>
                  <a:pt x="1105401" y="76505"/>
                </a:lnTo>
                <a:lnTo>
                  <a:pt x="1105401" y="353373"/>
                </a:lnTo>
                <a:lnTo>
                  <a:pt x="1088614" y="397957"/>
                </a:lnTo>
                <a:lnTo>
                  <a:pt x="1049885" y="425702"/>
                </a:lnTo>
                <a:lnTo>
                  <a:pt x="1034220" y="429353"/>
                </a:lnTo>
                <a:lnTo>
                  <a:pt x="1028895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9764376" y="1862804"/>
            <a:ext cx="1105535" cy="429895"/>
          </a:xfrm>
          <a:custGeom>
            <a:avLst/>
            <a:gdLst/>
            <a:ahLst/>
            <a:cxnLst/>
            <a:rect l="l" t="t" r="r" b="b"/>
            <a:pathLst>
              <a:path w="1105534" h="429894">
                <a:moveTo>
                  <a:pt x="1028895" y="429878"/>
                </a:moveTo>
                <a:lnTo>
                  <a:pt x="76504" y="429878"/>
                </a:lnTo>
                <a:lnTo>
                  <a:pt x="71179" y="429353"/>
                </a:lnTo>
                <a:lnTo>
                  <a:pt x="31918" y="413091"/>
                </a:lnTo>
                <a:lnTo>
                  <a:pt x="4174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5" y="31920"/>
                </a:lnTo>
                <a:lnTo>
                  <a:pt x="55512" y="4175"/>
                </a:lnTo>
                <a:lnTo>
                  <a:pt x="76504" y="0"/>
                </a:lnTo>
                <a:lnTo>
                  <a:pt x="1028895" y="0"/>
                </a:lnTo>
                <a:lnTo>
                  <a:pt x="1073479" y="16786"/>
                </a:lnTo>
                <a:lnTo>
                  <a:pt x="1101224" y="55513"/>
                </a:lnTo>
                <a:lnTo>
                  <a:pt x="1105399" y="76505"/>
                </a:lnTo>
                <a:lnTo>
                  <a:pt x="1105399" y="353373"/>
                </a:lnTo>
                <a:lnTo>
                  <a:pt x="1088612" y="397957"/>
                </a:lnTo>
                <a:lnTo>
                  <a:pt x="1049885" y="425702"/>
                </a:lnTo>
                <a:lnTo>
                  <a:pt x="1034219" y="429353"/>
                </a:lnTo>
                <a:lnTo>
                  <a:pt x="1028895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2982" y="2661150"/>
            <a:ext cx="102352" cy="102351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8351920" y="2517857"/>
            <a:ext cx="1105535" cy="429895"/>
          </a:xfrm>
          <a:custGeom>
            <a:avLst/>
            <a:gdLst/>
            <a:ahLst/>
            <a:cxnLst/>
            <a:rect l="l" t="t" r="r" b="b"/>
            <a:pathLst>
              <a:path w="1105534" h="429894">
                <a:moveTo>
                  <a:pt x="1028895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18" y="413091"/>
                </a:lnTo>
                <a:lnTo>
                  <a:pt x="4174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5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028895" y="0"/>
                </a:lnTo>
                <a:lnTo>
                  <a:pt x="1073479" y="16786"/>
                </a:lnTo>
                <a:lnTo>
                  <a:pt x="1101224" y="55513"/>
                </a:lnTo>
                <a:lnTo>
                  <a:pt x="1105401" y="76505"/>
                </a:lnTo>
                <a:lnTo>
                  <a:pt x="1105401" y="353373"/>
                </a:lnTo>
                <a:lnTo>
                  <a:pt x="1088614" y="397957"/>
                </a:lnTo>
                <a:lnTo>
                  <a:pt x="1049885" y="425702"/>
                </a:lnTo>
                <a:lnTo>
                  <a:pt x="1034220" y="429353"/>
                </a:lnTo>
                <a:lnTo>
                  <a:pt x="1028895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9764376" y="2517857"/>
            <a:ext cx="1105535" cy="429895"/>
          </a:xfrm>
          <a:custGeom>
            <a:avLst/>
            <a:gdLst/>
            <a:ahLst/>
            <a:cxnLst/>
            <a:rect l="l" t="t" r="r" b="b"/>
            <a:pathLst>
              <a:path w="1105534" h="429894">
                <a:moveTo>
                  <a:pt x="1028895" y="429877"/>
                </a:moveTo>
                <a:lnTo>
                  <a:pt x="76504" y="429877"/>
                </a:lnTo>
                <a:lnTo>
                  <a:pt x="71179" y="429353"/>
                </a:lnTo>
                <a:lnTo>
                  <a:pt x="31918" y="413091"/>
                </a:lnTo>
                <a:lnTo>
                  <a:pt x="4174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5" y="31920"/>
                </a:lnTo>
                <a:lnTo>
                  <a:pt x="55512" y="4175"/>
                </a:lnTo>
                <a:lnTo>
                  <a:pt x="76504" y="0"/>
                </a:lnTo>
                <a:lnTo>
                  <a:pt x="1028895" y="0"/>
                </a:lnTo>
                <a:lnTo>
                  <a:pt x="1073479" y="16786"/>
                </a:lnTo>
                <a:lnTo>
                  <a:pt x="1101224" y="55513"/>
                </a:lnTo>
                <a:lnTo>
                  <a:pt x="1105399" y="76505"/>
                </a:lnTo>
                <a:lnTo>
                  <a:pt x="1105399" y="353373"/>
                </a:lnTo>
                <a:lnTo>
                  <a:pt x="1088612" y="397957"/>
                </a:lnTo>
                <a:lnTo>
                  <a:pt x="1049885" y="425702"/>
                </a:lnTo>
                <a:lnTo>
                  <a:pt x="1034219" y="429353"/>
                </a:lnTo>
                <a:lnTo>
                  <a:pt x="1028895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7962982" y="3316203"/>
            <a:ext cx="102352" cy="102351"/>
          </a:xfrm>
          <a:prstGeom prst="rect">
            <a:avLst/>
          </a:prstGeom>
        </p:spPr>
      </p:pic>
      <p:sp>
        <p:nvSpPr>
          <p:cNvPr id="17" name="object 17"/>
          <p:cNvSpPr/>
          <p:nvPr/>
        </p:nvSpPr>
        <p:spPr>
          <a:xfrm>
            <a:off x="8351920" y="3172910"/>
            <a:ext cx="1105535" cy="429895"/>
          </a:xfrm>
          <a:custGeom>
            <a:avLst/>
            <a:gdLst/>
            <a:ahLst/>
            <a:cxnLst/>
            <a:rect l="l" t="t" r="r" b="b"/>
            <a:pathLst>
              <a:path w="1105534" h="429895">
                <a:moveTo>
                  <a:pt x="1028895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18" y="413091"/>
                </a:lnTo>
                <a:lnTo>
                  <a:pt x="4174" y="374363"/>
                </a:lnTo>
                <a:lnTo>
                  <a:pt x="0" y="353372"/>
                </a:lnTo>
                <a:lnTo>
                  <a:pt x="0" y="347996"/>
                </a:lnTo>
                <a:lnTo>
                  <a:pt x="0" y="76505"/>
                </a:lnTo>
                <a:lnTo>
                  <a:pt x="16785" y="31920"/>
                </a:lnTo>
                <a:lnTo>
                  <a:pt x="55513" y="4174"/>
                </a:lnTo>
                <a:lnTo>
                  <a:pt x="76505" y="0"/>
                </a:lnTo>
                <a:lnTo>
                  <a:pt x="1028895" y="0"/>
                </a:lnTo>
                <a:lnTo>
                  <a:pt x="1073479" y="16786"/>
                </a:lnTo>
                <a:lnTo>
                  <a:pt x="1101224" y="55513"/>
                </a:lnTo>
                <a:lnTo>
                  <a:pt x="1105401" y="76505"/>
                </a:lnTo>
                <a:lnTo>
                  <a:pt x="1105401" y="353372"/>
                </a:lnTo>
                <a:lnTo>
                  <a:pt x="1088614" y="397957"/>
                </a:lnTo>
                <a:lnTo>
                  <a:pt x="1049885" y="425702"/>
                </a:lnTo>
                <a:lnTo>
                  <a:pt x="1034220" y="429353"/>
                </a:lnTo>
                <a:lnTo>
                  <a:pt x="1028895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8380160" y="1174582"/>
            <a:ext cx="3157855" cy="23755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1940560" algn="l"/>
              </a:tabLst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.median()</a:t>
            </a:r>
            <a:r>
              <a:rPr sz="2250" spc="-38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spc="-50" dirty="0">
                <a:solidFill>
                  <a:srgbClr val="04182D"/>
                </a:solidFill>
                <a:latin typeface="Arial"/>
                <a:cs typeface="Arial"/>
              </a:rPr>
              <a:t>,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.mode()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  <a:tabLst>
                <a:tab pos="1424940" algn="l"/>
              </a:tabLst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.min()</a:t>
            </a:r>
            <a:r>
              <a:rPr sz="2250" spc="-38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spc="-50" dirty="0">
                <a:solidFill>
                  <a:srgbClr val="04182D"/>
                </a:solidFill>
                <a:latin typeface="Arial"/>
                <a:cs typeface="Arial"/>
              </a:rPr>
              <a:t>,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.max()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2100"/>
              </a:spcBef>
              <a:tabLst>
                <a:tab pos="1424940" algn="l"/>
              </a:tabLst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.var()</a:t>
            </a:r>
            <a:r>
              <a:rPr sz="2250" spc="-38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550" spc="-50" dirty="0">
                <a:solidFill>
                  <a:srgbClr val="04182D"/>
                </a:solidFill>
                <a:latin typeface="Arial"/>
                <a:cs typeface="Arial"/>
              </a:rPr>
              <a:t>,</a:t>
            </a: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	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.std()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2395"/>
              </a:spcBef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.sum()</a:t>
            </a:r>
            <a:endParaRPr sz="2250">
              <a:latin typeface="Monaco"/>
              <a:cs typeface="Monaco"/>
            </a:endParaRPr>
          </a:p>
        </p:txBody>
      </p:sp>
      <p:pic>
        <p:nvPicPr>
          <p:cNvPr id="19" name="object 1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962982" y="3971255"/>
            <a:ext cx="102352" cy="102351"/>
          </a:xfrm>
          <a:prstGeom prst="rect">
            <a:avLst/>
          </a:prstGeom>
        </p:spPr>
      </p:pic>
      <p:sp>
        <p:nvSpPr>
          <p:cNvPr id="20" name="object 20"/>
          <p:cNvSpPr/>
          <p:nvPr/>
        </p:nvSpPr>
        <p:spPr>
          <a:xfrm>
            <a:off x="8351920" y="3827962"/>
            <a:ext cx="1965325" cy="429895"/>
          </a:xfrm>
          <a:custGeom>
            <a:avLst/>
            <a:gdLst/>
            <a:ahLst/>
            <a:cxnLst/>
            <a:rect l="l" t="t" r="r" b="b"/>
            <a:pathLst>
              <a:path w="1965325" h="429895">
                <a:moveTo>
                  <a:pt x="1888652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18" y="413090"/>
                </a:lnTo>
                <a:lnTo>
                  <a:pt x="4174" y="374363"/>
                </a:lnTo>
                <a:lnTo>
                  <a:pt x="0" y="353372"/>
                </a:lnTo>
                <a:lnTo>
                  <a:pt x="0" y="347996"/>
                </a:lnTo>
                <a:lnTo>
                  <a:pt x="0" y="76505"/>
                </a:lnTo>
                <a:lnTo>
                  <a:pt x="16785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1888652" y="0"/>
                </a:lnTo>
                <a:lnTo>
                  <a:pt x="1933235" y="16786"/>
                </a:lnTo>
                <a:lnTo>
                  <a:pt x="1960981" y="55513"/>
                </a:lnTo>
                <a:lnTo>
                  <a:pt x="1965157" y="76505"/>
                </a:lnTo>
                <a:lnTo>
                  <a:pt x="1965157" y="353372"/>
                </a:lnTo>
                <a:lnTo>
                  <a:pt x="1948369" y="397957"/>
                </a:lnTo>
                <a:lnTo>
                  <a:pt x="1909643" y="425702"/>
                </a:lnTo>
                <a:lnTo>
                  <a:pt x="1893976" y="429353"/>
                </a:lnTo>
                <a:lnTo>
                  <a:pt x="1888652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8380160" y="3835732"/>
            <a:ext cx="1917064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.quantile()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25" name="슬라이드 번호 개체 틀 24">
            <a:extLst>
              <a:ext uri="{FF2B5EF4-FFF2-40B4-BE49-F238E27FC236}">
                <a16:creationId xmlns:a16="http://schemas.microsoft.com/office/drawing/2014/main" id="{B84EB9D1-3F80-0455-0D7A-DE4FA00A2B6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</a:t>
            </a:fld>
            <a:endParaRPr lang="en-US" altLang="ko-K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14" dirty="0"/>
              <a:t>Summarizing</a:t>
            </a:r>
            <a:r>
              <a:rPr spc="-125" dirty="0"/>
              <a:t> </a:t>
            </a:r>
            <a:r>
              <a:rPr spc="-10" dirty="0"/>
              <a:t>dates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985626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0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39"/>
                </a:lnTo>
                <a:lnTo>
                  <a:pt x="14503737" y="818290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3050086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4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1289" y="4933363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40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491289" y="5997823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4"/>
                </a:lnTo>
                <a:lnTo>
                  <a:pt x="16786" y="31919"/>
                </a:lnTo>
                <a:lnTo>
                  <a:pt x="55513" y="4174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5"/>
                </a:lnTo>
                <a:lnTo>
                  <a:pt x="14570742" y="55513"/>
                </a:lnTo>
                <a:lnTo>
                  <a:pt x="14574918" y="76504"/>
                </a:lnTo>
                <a:lnTo>
                  <a:pt x="14574918" y="742310"/>
                </a:lnTo>
                <a:lnTo>
                  <a:pt x="14558132" y="786894"/>
                </a:lnTo>
                <a:lnTo>
                  <a:pt x="14519404" y="814638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478589" y="1174581"/>
            <a:ext cx="4831080" cy="13931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spc="80" dirty="0">
                <a:solidFill>
                  <a:srgbClr val="04182D"/>
                </a:solidFill>
                <a:latin typeface="Arial"/>
                <a:cs typeface="Arial"/>
              </a:rPr>
              <a:t>Oldest</a:t>
            </a:r>
            <a:r>
              <a:rPr sz="2550" spc="6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dog:</a:t>
            </a:r>
            <a:endParaRPr sz="2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45"/>
              </a:spcBef>
            </a:pPr>
            <a:endParaRPr sz="2550">
              <a:latin typeface="Arial"/>
              <a:cs typeface="Arial"/>
            </a:endParaRPr>
          </a:p>
          <a:p>
            <a:pPr marL="175895">
              <a:lnSpc>
                <a:spcPct val="100000"/>
              </a:lnSpc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dogs[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"date_of_birth"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].</a:t>
            </a:r>
            <a:r>
              <a:rPr sz="2250" spc="-10" dirty="0">
                <a:solidFill>
                  <a:srgbClr val="008600"/>
                </a:solidFill>
                <a:latin typeface="Monaco"/>
                <a:cs typeface="Monaco"/>
              </a:rPr>
              <a:t>min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()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2352" y="3262561"/>
            <a:ext cx="208915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'2011-12-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11'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478589" y="4122317"/>
            <a:ext cx="4831080" cy="139319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550" dirty="0">
                <a:solidFill>
                  <a:srgbClr val="04182D"/>
                </a:solidFill>
                <a:latin typeface="Arial"/>
                <a:cs typeface="Arial"/>
              </a:rPr>
              <a:t>Youngest</a:t>
            </a:r>
            <a:r>
              <a:rPr sz="2550" spc="315" dirty="0">
                <a:solidFill>
                  <a:srgbClr val="04182D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04182D"/>
                </a:solidFill>
                <a:latin typeface="Arial"/>
                <a:cs typeface="Arial"/>
              </a:rPr>
              <a:t>dog:</a:t>
            </a:r>
            <a:endParaRPr sz="2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45"/>
              </a:spcBef>
            </a:pPr>
            <a:endParaRPr sz="2550">
              <a:latin typeface="Arial"/>
              <a:cs typeface="Arial"/>
            </a:endParaRPr>
          </a:p>
          <a:p>
            <a:pPr marL="175895">
              <a:lnSpc>
                <a:spcPct val="100000"/>
              </a:lnSpc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dogs[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"date_of_birth"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].</a:t>
            </a:r>
            <a:r>
              <a:rPr sz="2250" spc="-10" dirty="0">
                <a:solidFill>
                  <a:srgbClr val="008600"/>
                </a:solidFill>
                <a:latin typeface="Monaco"/>
                <a:cs typeface="Monaco"/>
              </a:rPr>
              <a:t>max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()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42352" y="6210297"/>
            <a:ext cx="208915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'2018-02-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27'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6544DF21-2BD4-FA2A-68FC-9462221871E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3</a:t>
            </a:fld>
            <a:endParaRPr lang="en-US" altLang="ko-K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85" dirty="0"/>
              <a:t>The</a:t>
            </a:r>
            <a:r>
              <a:rPr spc="-235" dirty="0"/>
              <a:t> </a:t>
            </a:r>
            <a:r>
              <a:rPr dirty="0"/>
              <a:t>.agg()</a:t>
            </a:r>
            <a:r>
              <a:rPr spc="-225" dirty="0"/>
              <a:t> </a:t>
            </a:r>
            <a:r>
              <a:rPr spc="-10" dirty="0"/>
              <a:t>method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91289" y="1166812"/>
            <a:ext cx="14574918" cy="1310105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491289" y="2722562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4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1289" y="3787022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4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42352" y="1231899"/>
            <a:ext cx="5355590" cy="20726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3730" marR="5080" indent="-344805">
              <a:lnSpc>
                <a:spcPct val="143300"/>
              </a:lnSpc>
              <a:spcBef>
                <a:spcPts val="95"/>
              </a:spcBef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(column): column.quantile(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0.3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)</a:t>
            </a:r>
            <a:endParaRPr sz="2250">
              <a:latin typeface="Monaco"/>
              <a:cs typeface="Monaco"/>
            </a:endParaRPr>
          </a:p>
          <a:p>
            <a:pPr>
              <a:lnSpc>
                <a:spcPct val="100000"/>
              </a:lnSpc>
              <a:spcBef>
                <a:spcPts val="2680"/>
              </a:spcBef>
            </a:pP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dogs[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"weight_kg"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].agg(pct30)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42352" y="3999496"/>
            <a:ext cx="312102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22.599999999999998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C95426F3-F447-6C6A-C2A0-490BEDCE1BE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4</a:t>
            </a:fld>
            <a:endParaRPr lang="en-US" altLang="ko-K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40" dirty="0"/>
              <a:t>Summaries</a:t>
            </a:r>
            <a:r>
              <a:rPr spc="-175" dirty="0"/>
              <a:t> </a:t>
            </a:r>
            <a:r>
              <a:rPr spc="-110" dirty="0"/>
              <a:t>on</a:t>
            </a:r>
            <a:r>
              <a:rPr spc="-200" dirty="0"/>
              <a:t> </a:t>
            </a:r>
            <a:r>
              <a:rPr spc="-60" dirty="0"/>
              <a:t>multiple</a:t>
            </a:r>
            <a:r>
              <a:rPr spc="-190" dirty="0"/>
              <a:t> </a:t>
            </a:r>
            <a:r>
              <a:rPr spc="-114" dirty="0"/>
              <a:t>columns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09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70"/>
            <a:ext cx="14575155" cy="1801495"/>
          </a:xfrm>
          <a:custGeom>
            <a:avLst/>
            <a:gdLst/>
            <a:ahLst/>
            <a:cxnLst/>
            <a:rect l="l" t="t" r="r" b="b"/>
            <a:pathLst>
              <a:path w="14575155" h="1801495">
                <a:moveTo>
                  <a:pt x="14498413" y="1801393"/>
                </a:moveTo>
                <a:lnTo>
                  <a:pt x="76505" y="1801393"/>
                </a:lnTo>
                <a:lnTo>
                  <a:pt x="71180" y="1800869"/>
                </a:lnTo>
                <a:lnTo>
                  <a:pt x="31920" y="1784607"/>
                </a:lnTo>
                <a:lnTo>
                  <a:pt x="4175" y="1745879"/>
                </a:lnTo>
                <a:lnTo>
                  <a:pt x="0" y="1724888"/>
                </a:lnTo>
                <a:lnTo>
                  <a:pt x="0" y="1719512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1724888"/>
                </a:lnTo>
                <a:lnTo>
                  <a:pt x="14558132" y="1769473"/>
                </a:lnTo>
                <a:lnTo>
                  <a:pt x="14519404" y="1797218"/>
                </a:lnTo>
                <a:lnTo>
                  <a:pt x="14503737" y="1800869"/>
                </a:lnTo>
                <a:lnTo>
                  <a:pt x="14498413" y="1801393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283"/>
            <a:ext cx="741870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dogs[[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"weight_kg"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"height_cm"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]].agg(pct30)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2352" y="2296357"/>
            <a:ext cx="1573530" cy="1008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95"/>
              </a:spcBef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weight_kg height_cm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77709" y="2296357"/>
            <a:ext cx="713740" cy="100838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22.6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45.4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42352" y="3426322"/>
            <a:ext cx="243332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dtype: 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float64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2" name="슬라이드 번호 개체 틀 11">
            <a:extLst>
              <a:ext uri="{FF2B5EF4-FFF2-40B4-BE49-F238E27FC236}">
                <a16:creationId xmlns:a16="http://schemas.microsoft.com/office/drawing/2014/main" id="{9112ED72-A6C2-943A-9CC2-B15470C4C96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5</a:t>
            </a:fld>
            <a:endParaRPr lang="en-US" altLang="ko-K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Multiple</a:t>
            </a:r>
            <a:r>
              <a:rPr spc="-270" dirty="0"/>
              <a:t> </a:t>
            </a:r>
            <a:r>
              <a:rPr spc="-105" dirty="0"/>
              <a:t>summaries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166812"/>
            <a:ext cx="14575155" cy="1310640"/>
            <a:chOff x="491289" y="1166812"/>
            <a:chExt cx="14575155" cy="1310640"/>
          </a:xfrm>
        </p:grpSpPr>
        <p:sp>
          <p:nvSpPr>
            <p:cNvPr id="4" name="object 4"/>
            <p:cNvSpPr/>
            <p:nvPr/>
          </p:nvSpPr>
          <p:spPr>
            <a:xfrm>
              <a:off x="491289" y="1166812"/>
              <a:ext cx="14575155" cy="1310640"/>
            </a:xfrm>
            <a:custGeom>
              <a:avLst/>
              <a:gdLst/>
              <a:ahLst/>
              <a:cxnLst/>
              <a:rect l="l" t="t" r="r" b="b"/>
              <a:pathLst>
                <a:path w="14575155" h="1310639">
                  <a:moveTo>
                    <a:pt x="14498413" y="1310105"/>
                  </a:moveTo>
                  <a:lnTo>
                    <a:pt x="76505" y="1310105"/>
                  </a:lnTo>
                  <a:lnTo>
                    <a:pt x="71180" y="1309580"/>
                  </a:lnTo>
                  <a:lnTo>
                    <a:pt x="31920" y="1293318"/>
                  </a:lnTo>
                  <a:lnTo>
                    <a:pt x="4175" y="1254590"/>
                  </a:lnTo>
                  <a:lnTo>
                    <a:pt x="0" y="1233599"/>
                  </a:lnTo>
                  <a:lnTo>
                    <a:pt x="0" y="1228223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14498413" y="0"/>
                  </a:lnTo>
                  <a:lnTo>
                    <a:pt x="14542998" y="16786"/>
                  </a:lnTo>
                  <a:lnTo>
                    <a:pt x="14570742" y="55513"/>
                  </a:lnTo>
                  <a:lnTo>
                    <a:pt x="14574918" y="76505"/>
                  </a:lnTo>
                  <a:lnTo>
                    <a:pt x="14574918" y="1233599"/>
                  </a:lnTo>
                  <a:lnTo>
                    <a:pt x="14558132" y="1278184"/>
                  </a:lnTo>
                  <a:lnTo>
                    <a:pt x="14519404" y="1305929"/>
                  </a:lnTo>
                  <a:lnTo>
                    <a:pt x="14503737" y="1309580"/>
                  </a:lnTo>
                  <a:lnTo>
                    <a:pt x="14498413" y="1310105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80240" y="1457475"/>
              <a:ext cx="484505" cy="224154"/>
            </a:xfrm>
            <a:custGeom>
              <a:avLst/>
              <a:gdLst/>
              <a:ahLst/>
              <a:cxnLst/>
              <a:rect l="l" t="t" r="r" b="b"/>
              <a:pathLst>
                <a:path w="484505" h="224155">
                  <a:moveTo>
                    <a:pt x="132307" y="86619"/>
                  </a:moveTo>
                  <a:lnTo>
                    <a:pt x="101102" y="86619"/>
                  </a:lnTo>
                  <a:lnTo>
                    <a:pt x="101196" y="82981"/>
                  </a:lnTo>
                  <a:lnTo>
                    <a:pt x="101316" y="78358"/>
                  </a:lnTo>
                  <a:lnTo>
                    <a:pt x="99580" y="70999"/>
                  </a:lnTo>
                  <a:lnTo>
                    <a:pt x="96946" y="66328"/>
                  </a:lnTo>
                  <a:lnTo>
                    <a:pt x="94800" y="53105"/>
                  </a:lnTo>
                  <a:lnTo>
                    <a:pt x="94595" y="0"/>
                  </a:lnTo>
                  <a:lnTo>
                    <a:pt x="132307" y="0"/>
                  </a:lnTo>
                  <a:lnTo>
                    <a:pt x="132307" y="86619"/>
                  </a:lnTo>
                  <a:close/>
                </a:path>
                <a:path w="484505" h="224155">
                  <a:moveTo>
                    <a:pt x="57582" y="223964"/>
                  </a:moveTo>
                  <a:lnTo>
                    <a:pt x="15532" y="206333"/>
                  </a:lnTo>
                  <a:lnTo>
                    <a:pt x="0" y="159525"/>
                  </a:lnTo>
                  <a:lnTo>
                    <a:pt x="0" y="113416"/>
                  </a:lnTo>
                  <a:lnTo>
                    <a:pt x="8737" y="75883"/>
                  </a:lnTo>
                  <a:lnTo>
                    <a:pt x="45036" y="49799"/>
                  </a:lnTo>
                  <a:lnTo>
                    <a:pt x="57582" y="48697"/>
                  </a:lnTo>
                  <a:lnTo>
                    <a:pt x="66945" y="49339"/>
                  </a:lnTo>
                  <a:lnTo>
                    <a:pt x="99649" y="82981"/>
                  </a:lnTo>
                  <a:lnTo>
                    <a:pt x="56999" y="82981"/>
                  </a:lnTo>
                  <a:lnTo>
                    <a:pt x="49956" y="85663"/>
                  </a:lnTo>
                  <a:lnTo>
                    <a:pt x="40161" y="96391"/>
                  </a:lnTo>
                  <a:lnTo>
                    <a:pt x="37712" y="104321"/>
                  </a:lnTo>
                  <a:lnTo>
                    <a:pt x="37712" y="168154"/>
                  </a:lnTo>
                  <a:lnTo>
                    <a:pt x="40089" y="176037"/>
                  </a:lnTo>
                  <a:lnTo>
                    <a:pt x="40161" y="176270"/>
                  </a:lnTo>
                  <a:lnTo>
                    <a:pt x="49913" y="186952"/>
                  </a:lnTo>
                  <a:lnTo>
                    <a:pt x="56999" y="189680"/>
                  </a:lnTo>
                  <a:lnTo>
                    <a:pt x="99575" y="189680"/>
                  </a:lnTo>
                  <a:lnTo>
                    <a:pt x="96808" y="207138"/>
                  </a:lnTo>
                  <a:lnTo>
                    <a:pt x="67072" y="223335"/>
                  </a:lnTo>
                  <a:lnTo>
                    <a:pt x="57582" y="223964"/>
                  </a:lnTo>
                  <a:close/>
                </a:path>
                <a:path w="484505" h="224155">
                  <a:moveTo>
                    <a:pt x="101102" y="86619"/>
                  </a:moveTo>
                  <a:lnTo>
                    <a:pt x="100240" y="86619"/>
                  </a:lnTo>
                  <a:lnTo>
                    <a:pt x="96946" y="66328"/>
                  </a:lnTo>
                  <a:lnTo>
                    <a:pt x="99580" y="70999"/>
                  </a:lnTo>
                  <a:lnTo>
                    <a:pt x="101316" y="78358"/>
                  </a:lnTo>
                  <a:lnTo>
                    <a:pt x="101196" y="82981"/>
                  </a:lnTo>
                  <a:lnTo>
                    <a:pt x="101102" y="86619"/>
                  </a:lnTo>
                  <a:close/>
                </a:path>
                <a:path w="484505" h="224155">
                  <a:moveTo>
                    <a:pt x="99575" y="189680"/>
                  </a:moveTo>
                  <a:lnTo>
                    <a:pt x="75144" y="189680"/>
                  </a:lnTo>
                  <a:lnTo>
                    <a:pt x="82118" y="186952"/>
                  </a:lnTo>
                  <a:lnTo>
                    <a:pt x="92100" y="176037"/>
                  </a:lnTo>
                  <a:lnTo>
                    <a:pt x="94595" y="168154"/>
                  </a:lnTo>
                  <a:lnTo>
                    <a:pt x="94536" y="104321"/>
                  </a:lnTo>
                  <a:lnTo>
                    <a:pt x="92100" y="96624"/>
                  </a:lnTo>
                  <a:lnTo>
                    <a:pt x="82949" y="86619"/>
                  </a:lnTo>
                  <a:lnTo>
                    <a:pt x="81998" y="85663"/>
                  </a:lnTo>
                  <a:lnTo>
                    <a:pt x="75144" y="82981"/>
                  </a:lnTo>
                  <a:lnTo>
                    <a:pt x="99649" y="82981"/>
                  </a:lnTo>
                  <a:lnTo>
                    <a:pt x="100240" y="86619"/>
                  </a:lnTo>
                  <a:lnTo>
                    <a:pt x="132307" y="86619"/>
                  </a:lnTo>
                  <a:lnTo>
                    <a:pt x="132307" y="185343"/>
                  </a:lnTo>
                  <a:lnTo>
                    <a:pt x="100262" y="185343"/>
                  </a:lnTo>
                  <a:lnTo>
                    <a:pt x="99575" y="189680"/>
                  </a:lnTo>
                  <a:close/>
                </a:path>
                <a:path w="484505" h="224155">
                  <a:moveTo>
                    <a:pt x="96808" y="207138"/>
                  </a:moveTo>
                  <a:lnTo>
                    <a:pt x="100188" y="185815"/>
                  </a:lnTo>
                  <a:lnTo>
                    <a:pt x="100262" y="185343"/>
                  </a:lnTo>
                  <a:lnTo>
                    <a:pt x="100537" y="185343"/>
                  </a:lnTo>
                  <a:lnTo>
                    <a:pt x="101155" y="194067"/>
                  </a:lnTo>
                  <a:lnTo>
                    <a:pt x="99703" y="201697"/>
                  </a:lnTo>
                  <a:lnTo>
                    <a:pt x="96808" y="207138"/>
                  </a:lnTo>
                  <a:close/>
                </a:path>
                <a:path w="484505" h="224155">
                  <a:moveTo>
                    <a:pt x="132307" y="221096"/>
                  </a:moveTo>
                  <a:lnTo>
                    <a:pt x="94595" y="221096"/>
                  </a:lnTo>
                  <a:lnTo>
                    <a:pt x="96808" y="207138"/>
                  </a:lnTo>
                  <a:lnTo>
                    <a:pt x="99703" y="201697"/>
                  </a:lnTo>
                  <a:lnTo>
                    <a:pt x="101155" y="194067"/>
                  </a:lnTo>
                  <a:lnTo>
                    <a:pt x="100651" y="186952"/>
                  </a:lnTo>
                  <a:lnTo>
                    <a:pt x="100537" y="185343"/>
                  </a:lnTo>
                  <a:lnTo>
                    <a:pt x="132307" y="185343"/>
                  </a:lnTo>
                  <a:lnTo>
                    <a:pt x="132307" y="221096"/>
                  </a:lnTo>
                  <a:close/>
                </a:path>
                <a:path w="484505" h="224155">
                  <a:moveTo>
                    <a:pt x="238699" y="223964"/>
                  </a:moveTo>
                  <a:lnTo>
                    <a:pt x="200024" y="213810"/>
                  </a:lnTo>
                  <a:lnTo>
                    <a:pt x="173087" y="172079"/>
                  </a:lnTo>
                  <a:lnTo>
                    <a:pt x="171950" y="157845"/>
                  </a:lnTo>
                  <a:lnTo>
                    <a:pt x="171950" y="114816"/>
                  </a:lnTo>
                  <a:lnTo>
                    <a:pt x="182183" y="76587"/>
                  </a:lnTo>
                  <a:lnTo>
                    <a:pt x="224303" y="49829"/>
                  </a:lnTo>
                  <a:lnTo>
                    <a:pt x="238699" y="48697"/>
                  </a:lnTo>
                  <a:lnTo>
                    <a:pt x="253059" y="49829"/>
                  </a:lnTo>
                  <a:lnTo>
                    <a:pt x="295105" y="76587"/>
                  </a:lnTo>
                  <a:lnTo>
                    <a:pt x="297886" y="82071"/>
                  </a:lnTo>
                  <a:lnTo>
                    <a:pt x="228810" y="82071"/>
                  </a:lnTo>
                  <a:lnTo>
                    <a:pt x="221393" y="84776"/>
                  </a:lnTo>
                  <a:lnTo>
                    <a:pt x="209103" y="114816"/>
                  </a:lnTo>
                  <a:lnTo>
                    <a:pt x="209103" y="117194"/>
                  </a:lnTo>
                  <a:lnTo>
                    <a:pt x="305377" y="117194"/>
                  </a:lnTo>
                  <a:lnTo>
                    <a:pt x="305377" y="148610"/>
                  </a:lnTo>
                  <a:lnTo>
                    <a:pt x="209103" y="148610"/>
                  </a:lnTo>
                  <a:lnTo>
                    <a:pt x="209103" y="157845"/>
                  </a:lnTo>
                  <a:lnTo>
                    <a:pt x="228763" y="190310"/>
                  </a:lnTo>
                  <a:lnTo>
                    <a:pt x="299753" y="190310"/>
                  </a:lnTo>
                  <a:lnTo>
                    <a:pt x="298223" y="194123"/>
                  </a:lnTo>
                  <a:lnTo>
                    <a:pt x="263327" y="220746"/>
                  </a:lnTo>
                  <a:lnTo>
                    <a:pt x="251555" y="223160"/>
                  </a:lnTo>
                  <a:lnTo>
                    <a:pt x="238699" y="223964"/>
                  </a:lnTo>
                  <a:close/>
                </a:path>
                <a:path w="484505" h="224155">
                  <a:moveTo>
                    <a:pt x="305377" y="117194"/>
                  </a:moveTo>
                  <a:lnTo>
                    <a:pt x="268295" y="117194"/>
                  </a:lnTo>
                  <a:lnTo>
                    <a:pt x="268295" y="114816"/>
                  </a:lnTo>
                  <a:lnTo>
                    <a:pt x="267831" y="107058"/>
                  </a:lnTo>
                  <a:lnTo>
                    <a:pt x="266486" y="100586"/>
                  </a:lnTo>
                  <a:lnTo>
                    <a:pt x="266441" y="100367"/>
                  </a:lnTo>
                  <a:lnTo>
                    <a:pt x="264123" y="94744"/>
                  </a:lnTo>
                  <a:lnTo>
                    <a:pt x="260878" y="90187"/>
                  </a:lnTo>
                  <a:lnTo>
                    <a:pt x="255981" y="84776"/>
                  </a:lnTo>
                  <a:lnTo>
                    <a:pt x="248587" y="82071"/>
                  </a:lnTo>
                  <a:lnTo>
                    <a:pt x="297886" y="82071"/>
                  </a:lnTo>
                  <a:lnTo>
                    <a:pt x="300812" y="87843"/>
                  </a:lnTo>
                  <a:lnTo>
                    <a:pt x="304177" y="100367"/>
                  </a:lnTo>
                  <a:lnTo>
                    <a:pt x="304236" y="100586"/>
                  </a:lnTo>
                  <a:lnTo>
                    <a:pt x="305377" y="114816"/>
                  </a:lnTo>
                  <a:lnTo>
                    <a:pt x="305377" y="117194"/>
                  </a:lnTo>
                  <a:close/>
                </a:path>
                <a:path w="484505" h="224155">
                  <a:moveTo>
                    <a:pt x="299753" y="190310"/>
                  </a:moveTo>
                  <a:lnTo>
                    <a:pt x="238699" y="190310"/>
                  </a:lnTo>
                  <a:lnTo>
                    <a:pt x="249985" y="188985"/>
                  </a:lnTo>
                  <a:lnTo>
                    <a:pt x="259279" y="184725"/>
                  </a:lnTo>
                  <a:lnTo>
                    <a:pt x="258918" y="184725"/>
                  </a:lnTo>
                  <a:lnTo>
                    <a:pt x="264713" y="178385"/>
                  </a:lnTo>
                  <a:lnTo>
                    <a:pt x="268155" y="169110"/>
                  </a:lnTo>
                  <a:lnTo>
                    <a:pt x="305657" y="169110"/>
                  </a:lnTo>
                  <a:lnTo>
                    <a:pt x="302882" y="182404"/>
                  </a:lnTo>
                  <a:lnTo>
                    <a:pt x="302837" y="182623"/>
                  </a:lnTo>
                  <a:lnTo>
                    <a:pt x="299753" y="190310"/>
                  </a:lnTo>
                  <a:close/>
                </a:path>
                <a:path w="484505" h="224155">
                  <a:moveTo>
                    <a:pt x="419465" y="54714"/>
                  </a:moveTo>
                  <a:lnTo>
                    <a:pt x="381753" y="54714"/>
                  </a:lnTo>
                  <a:lnTo>
                    <a:pt x="381753" y="45478"/>
                  </a:lnTo>
                  <a:lnTo>
                    <a:pt x="401737" y="6926"/>
                  </a:lnTo>
                  <a:lnTo>
                    <a:pt x="429261" y="0"/>
                  </a:lnTo>
                  <a:lnTo>
                    <a:pt x="483905" y="0"/>
                  </a:lnTo>
                  <a:lnTo>
                    <a:pt x="483905" y="35403"/>
                  </a:lnTo>
                  <a:lnTo>
                    <a:pt x="425949" y="35403"/>
                  </a:lnTo>
                  <a:lnTo>
                    <a:pt x="423477" y="36219"/>
                  </a:lnTo>
                  <a:lnTo>
                    <a:pt x="420258" y="39438"/>
                  </a:lnTo>
                  <a:lnTo>
                    <a:pt x="419465" y="41887"/>
                  </a:lnTo>
                  <a:lnTo>
                    <a:pt x="419465" y="54714"/>
                  </a:lnTo>
                  <a:close/>
                </a:path>
                <a:path w="484505" h="224155">
                  <a:moveTo>
                    <a:pt x="483905" y="90117"/>
                  </a:moveTo>
                  <a:lnTo>
                    <a:pt x="335924" y="90117"/>
                  </a:lnTo>
                  <a:lnTo>
                    <a:pt x="335924" y="54714"/>
                  </a:lnTo>
                  <a:lnTo>
                    <a:pt x="483905" y="54714"/>
                  </a:lnTo>
                  <a:lnTo>
                    <a:pt x="483905" y="90117"/>
                  </a:lnTo>
                  <a:close/>
                </a:path>
                <a:path w="484505" h="224155">
                  <a:moveTo>
                    <a:pt x="419465" y="221096"/>
                  </a:moveTo>
                  <a:lnTo>
                    <a:pt x="381753" y="221096"/>
                  </a:lnTo>
                  <a:lnTo>
                    <a:pt x="381753" y="90117"/>
                  </a:lnTo>
                  <a:lnTo>
                    <a:pt x="419465" y="90117"/>
                  </a:lnTo>
                  <a:lnTo>
                    <a:pt x="419465" y="221096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368787" y="1454607"/>
              <a:ext cx="822960" cy="275590"/>
            </a:xfrm>
            <a:custGeom>
              <a:avLst/>
              <a:gdLst/>
              <a:ahLst/>
              <a:cxnLst/>
              <a:rect l="l" t="t" r="r" b="b"/>
              <a:pathLst>
                <a:path w="822960" h="275589">
                  <a:moveTo>
                    <a:pt x="49052" y="90047"/>
                  </a:moveTo>
                  <a:lnTo>
                    <a:pt x="32055" y="90047"/>
                  </a:lnTo>
                  <a:lnTo>
                    <a:pt x="35326" y="69197"/>
                  </a:lnTo>
                  <a:lnTo>
                    <a:pt x="35412" y="68647"/>
                  </a:lnTo>
                  <a:lnTo>
                    <a:pt x="75004" y="51565"/>
                  </a:lnTo>
                  <a:lnTo>
                    <a:pt x="87563" y="52667"/>
                  </a:lnTo>
                  <a:lnTo>
                    <a:pt x="123579" y="78734"/>
                  </a:lnTo>
                  <a:lnTo>
                    <a:pt x="126696" y="85849"/>
                  </a:lnTo>
                  <a:lnTo>
                    <a:pt x="57443" y="85849"/>
                  </a:lnTo>
                  <a:lnTo>
                    <a:pt x="50697" y="88485"/>
                  </a:lnTo>
                  <a:lnTo>
                    <a:pt x="49361" y="89715"/>
                  </a:lnTo>
                  <a:lnTo>
                    <a:pt x="49052" y="90047"/>
                  </a:lnTo>
                  <a:close/>
                </a:path>
                <a:path w="822960" h="275589">
                  <a:moveTo>
                    <a:pt x="37642" y="275530"/>
                  </a:moveTo>
                  <a:lnTo>
                    <a:pt x="0" y="275530"/>
                  </a:lnTo>
                  <a:lnTo>
                    <a:pt x="0" y="54434"/>
                  </a:lnTo>
                  <a:lnTo>
                    <a:pt x="37642" y="54434"/>
                  </a:lnTo>
                  <a:lnTo>
                    <a:pt x="35412" y="68647"/>
                  </a:lnTo>
                  <a:lnTo>
                    <a:pt x="32587" y="73832"/>
                  </a:lnTo>
                  <a:lnTo>
                    <a:pt x="31096" y="81428"/>
                  </a:lnTo>
                  <a:lnTo>
                    <a:pt x="31586" y="88485"/>
                  </a:lnTo>
                  <a:lnTo>
                    <a:pt x="31695" y="90047"/>
                  </a:lnTo>
                  <a:lnTo>
                    <a:pt x="49052" y="90047"/>
                  </a:lnTo>
                  <a:lnTo>
                    <a:pt x="40184" y="99563"/>
                  </a:lnTo>
                  <a:lnTo>
                    <a:pt x="37778" y="107003"/>
                  </a:lnTo>
                  <a:lnTo>
                    <a:pt x="37777" y="171396"/>
                  </a:lnTo>
                  <a:lnTo>
                    <a:pt x="40184" y="178859"/>
                  </a:lnTo>
                  <a:lnTo>
                    <a:pt x="45268" y="184363"/>
                  </a:lnTo>
                  <a:lnTo>
                    <a:pt x="49478" y="188841"/>
                  </a:lnTo>
                  <a:lnTo>
                    <a:pt x="31141" y="188841"/>
                  </a:lnTo>
                  <a:lnTo>
                    <a:pt x="30776" y="197215"/>
                  </a:lnTo>
                  <a:lnTo>
                    <a:pt x="32429" y="204566"/>
                  </a:lnTo>
                  <a:lnTo>
                    <a:pt x="35418" y="209841"/>
                  </a:lnTo>
                  <a:lnTo>
                    <a:pt x="37440" y="222425"/>
                  </a:lnTo>
                  <a:lnTo>
                    <a:pt x="37642" y="275530"/>
                  </a:lnTo>
                  <a:close/>
                </a:path>
                <a:path w="822960" h="275589">
                  <a:moveTo>
                    <a:pt x="32055" y="90047"/>
                  </a:moveTo>
                  <a:lnTo>
                    <a:pt x="31695" y="90047"/>
                  </a:lnTo>
                  <a:lnTo>
                    <a:pt x="31096" y="81428"/>
                  </a:lnTo>
                  <a:lnTo>
                    <a:pt x="32587" y="73832"/>
                  </a:lnTo>
                  <a:lnTo>
                    <a:pt x="35412" y="68647"/>
                  </a:lnTo>
                  <a:lnTo>
                    <a:pt x="32108" y="89715"/>
                  </a:lnTo>
                  <a:lnTo>
                    <a:pt x="32055" y="90047"/>
                  </a:lnTo>
                  <a:close/>
                </a:path>
                <a:path w="822960" h="275589">
                  <a:moveTo>
                    <a:pt x="126673" y="192549"/>
                  </a:moveTo>
                  <a:lnTo>
                    <a:pt x="75587" y="192549"/>
                  </a:lnTo>
                  <a:lnTo>
                    <a:pt x="82669" y="189820"/>
                  </a:lnTo>
                  <a:lnTo>
                    <a:pt x="92193" y="179372"/>
                  </a:lnTo>
                  <a:lnTo>
                    <a:pt x="94595" y="171396"/>
                  </a:lnTo>
                  <a:lnTo>
                    <a:pt x="94595" y="107003"/>
                  </a:lnTo>
                  <a:lnTo>
                    <a:pt x="92193" y="99026"/>
                  </a:lnTo>
                  <a:lnTo>
                    <a:pt x="82584" y="88485"/>
                  </a:lnTo>
                  <a:lnTo>
                    <a:pt x="75587" y="85849"/>
                  </a:lnTo>
                  <a:lnTo>
                    <a:pt x="126696" y="85849"/>
                  </a:lnTo>
                  <a:lnTo>
                    <a:pt x="128389" y="89715"/>
                  </a:lnTo>
                  <a:lnTo>
                    <a:pt x="131275" y="102138"/>
                  </a:lnTo>
                  <a:lnTo>
                    <a:pt x="132237" y="116005"/>
                  </a:lnTo>
                  <a:lnTo>
                    <a:pt x="132237" y="162113"/>
                  </a:lnTo>
                  <a:lnTo>
                    <a:pt x="131275" y="176102"/>
                  </a:lnTo>
                  <a:lnTo>
                    <a:pt x="128389" y="188613"/>
                  </a:lnTo>
                  <a:lnTo>
                    <a:pt x="126673" y="192549"/>
                  </a:lnTo>
                  <a:close/>
                </a:path>
                <a:path w="822960" h="275589">
                  <a:moveTo>
                    <a:pt x="35418" y="209841"/>
                  </a:moveTo>
                  <a:lnTo>
                    <a:pt x="32429" y="204566"/>
                  </a:lnTo>
                  <a:lnTo>
                    <a:pt x="30776" y="197215"/>
                  </a:lnTo>
                  <a:lnTo>
                    <a:pt x="30979" y="192549"/>
                  </a:lnTo>
                  <a:lnTo>
                    <a:pt x="31098" y="189820"/>
                  </a:lnTo>
                  <a:lnTo>
                    <a:pt x="31141" y="188841"/>
                  </a:lnTo>
                  <a:lnTo>
                    <a:pt x="32044" y="188841"/>
                  </a:lnTo>
                  <a:lnTo>
                    <a:pt x="35315" y="209201"/>
                  </a:lnTo>
                  <a:lnTo>
                    <a:pt x="35418" y="209841"/>
                  </a:lnTo>
                  <a:close/>
                </a:path>
                <a:path w="822960" h="275589">
                  <a:moveTo>
                    <a:pt x="75004" y="226833"/>
                  </a:moveTo>
                  <a:lnTo>
                    <a:pt x="36094" y="211034"/>
                  </a:lnTo>
                  <a:lnTo>
                    <a:pt x="32044" y="188841"/>
                  </a:lnTo>
                  <a:lnTo>
                    <a:pt x="49478" y="188841"/>
                  </a:lnTo>
                  <a:lnTo>
                    <a:pt x="50399" y="189820"/>
                  </a:lnTo>
                  <a:lnTo>
                    <a:pt x="57443" y="192549"/>
                  </a:lnTo>
                  <a:lnTo>
                    <a:pt x="126673" y="192549"/>
                  </a:lnTo>
                  <a:lnTo>
                    <a:pt x="123579" y="199646"/>
                  </a:lnTo>
                  <a:lnTo>
                    <a:pt x="116845" y="209201"/>
                  </a:lnTo>
                  <a:lnTo>
                    <a:pt x="108484" y="216915"/>
                  </a:lnTo>
                  <a:lnTo>
                    <a:pt x="98723" y="222425"/>
                  </a:lnTo>
                  <a:lnTo>
                    <a:pt x="87563" y="225731"/>
                  </a:lnTo>
                  <a:lnTo>
                    <a:pt x="75004" y="226833"/>
                  </a:lnTo>
                  <a:close/>
                </a:path>
                <a:path w="822960" h="275589">
                  <a:moveTo>
                    <a:pt x="238629" y="226833"/>
                  </a:moveTo>
                  <a:lnTo>
                    <a:pt x="199180" y="216836"/>
                  </a:lnTo>
                  <a:lnTo>
                    <a:pt x="171911" y="175202"/>
                  </a:lnTo>
                  <a:lnTo>
                    <a:pt x="170761" y="160714"/>
                  </a:lnTo>
                  <a:lnTo>
                    <a:pt x="170761" y="117684"/>
                  </a:lnTo>
                  <a:lnTo>
                    <a:pt x="181111" y="79023"/>
                  </a:lnTo>
                  <a:lnTo>
                    <a:pt x="224294" y="52580"/>
                  </a:lnTo>
                  <a:lnTo>
                    <a:pt x="225189" y="52580"/>
                  </a:lnTo>
                  <a:lnTo>
                    <a:pt x="238629" y="51565"/>
                  </a:lnTo>
                  <a:lnTo>
                    <a:pt x="276595" y="60696"/>
                  </a:lnTo>
                  <a:lnTo>
                    <a:pt x="299590" y="86409"/>
                  </a:lnTo>
                  <a:lnTo>
                    <a:pt x="229020" y="86409"/>
                  </a:lnTo>
                  <a:lnTo>
                    <a:pt x="221580" y="89068"/>
                  </a:lnTo>
                  <a:lnTo>
                    <a:pt x="211085" y="99703"/>
                  </a:lnTo>
                  <a:lnTo>
                    <a:pt x="208473" y="107376"/>
                  </a:lnTo>
                  <a:lnTo>
                    <a:pt x="208473" y="170976"/>
                  </a:lnTo>
                  <a:lnTo>
                    <a:pt x="211038" y="178766"/>
                  </a:lnTo>
                  <a:lnTo>
                    <a:pt x="216169" y="184083"/>
                  </a:lnTo>
                  <a:lnTo>
                    <a:pt x="221347" y="189354"/>
                  </a:lnTo>
                  <a:lnTo>
                    <a:pt x="228833" y="191989"/>
                  </a:lnTo>
                  <a:lnTo>
                    <a:pt x="299601" y="191989"/>
                  </a:lnTo>
                  <a:lnTo>
                    <a:pt x="294642" y="201448"/>
                  </a:lnTo>
                  <a:lnTo>
                    <a:pt x="286486" y="210671"/>
                  </a:lnTo>
                  <a:lnTo>
                    <a:pt x="276595" y="217742"/>
                  </a:lnTo>
                  <a:lnTo>
                    <a:pt x="265321" y="222792"/>
                  </a:lnTo>
                  <a:lnTo>
                    <a:pt x="253086" y="225722"/>
                  </a:lnTo>
                  <a:lnTo>
                    <a:pt x="254064" y="225722"/>
                  </a:lnTo>
                  <a:lnTo>
                    <a:pt x="238629" y="226833"/>
                  </a:lnTo>
                  <a:close/>
                </a:path>
                <a:path w="822960" h="275589">
                  <a:moveTo>
                    <a:pt x="306147" y="117894"/>
                  </a:moveTo>
                  <a:lnTo>
                    <a:pt x="268575" y="117894"/>
                  </a:lnTo>
                  <a:lnTo>
                    <a:pt x="267643" y="109577"/>
                  </a:lnTo>
                  <a:lnTo>
                    <a:pt x="265898" y="102676"/>
                  </a:lnTo>
                  <a:lnTo>
                    <a:pt x="263340" y="97193"/>
                  </a:lnTo>
                  <a:lnTo>
                    <a:pt x="259969" y="93126"/>
                  </a:lnTo>
                  <a:lnTo>
                    <a:pt x="254978" y="88648"/>
                  </a:lnTo>
                  <a:lnTo>
                    <a:pt x="247864" y="86409"/>
                  </a:lnTo>
                  <a:lnTo>
                    <a:pt x="299590" y="86409"/>
                  </a:lnTo>
                  <a:lnTo>
                    <a:pt x="300637" y="88403"/>
                  </a:lnTo>
                  <a:lnTo>
                    <a:pt x="304472" y="102038"/>
                  </a:lnTo>
                  <a:lnTo>
                    <a:pt x="306125" y="117684"/>
                  </a:lnTo>
                  <a:lnTo>
                    <a:pt x="306147" y="117894"/>
                  </a:lnTo>
                  <a:close/>
                </a:path>
                <a:path w="822960" h="275589">
                  <a:moveTo>
                    <a:pt x="299601" y="191989"/>
                  </a:moveTo>
                  <a:lnTo>
                    <a:pt x="247864" y="191989"/>
                  </a:lnTo>
                  <a:lnTo>
                    <a:pt x="254978" y="189750"/>
                  </a:lnTo>
                  <a:lnTo>
                    <a:pt x="259969" y="185273"/>
                  </a:lnTo>
                  <a:lnTo>
                    <a:pt x="268575" y="160504"/>
                  </a:lnTo>
                  <a:lnTo>
                    <a:pt x="306147" y="160504"/>
                  </a:lnTo>
                  <a:lnTo>
                    <a:pt x="304595" y="175202"/>
                  </a:lnTo>
                  <a:lnTo>
                    <a:pt x="304472" y="176365"/>
                  </a:lnTo>
                  <a:lnTo>
                    <a:pt x="300822" y="189354"/>
                  </a:lnTo>
                  <a:lnTo>
                    <a:pt x="300711" y="189750"/>
                  </a:lnTo>
                  <a:lnTo>
                    <a:pt x="300637" y="190013"/>
                  </a:lnTo>
                  <a:lnTo>
                    <a:pt x="299601" y="191989"/>
                  </a:lnTo>
                  <a:close/>
                </a:path>
                <a:path w="822960" h="275589">
                  <a:moveTo>
                    <a:pt x="415407" y="54434"/>
                  </a:moveTo>
                  <a:lnTo>
                    <a:pt x="377695" y="54434"/>
                  </a:lnTo>
                  <a:lnTo>
                    <a:pt x="377695" y="11474"/>
                  </a:lnTo>
                  <a:lnTo>
                    <a:pt x="415407" y="11474"/>
                  </a:lnTo>
                  <a:lnTo>
                    <a:pt x="415407" y="54434"/>
                  </a:lnTo>
                  <a:close/>
                </a:path>
                <a:path w="822960" h="275589">
                  <a:moveTo>
                    <a:pt x="478447" y="89837"/>
                  </a:moveTo>
                  <a:lnTo>
                    <a:pt x="333266" y="89837"/>
                  </a:lnTo>
                  <a:lnTo>
                    <a:pt x="333266" y="54434"/>
                  </a:lnTo>
                  <a:lnTo>
                    <a:pt x="478447" y="54434"/>
                  </a:lnTo>
                  <a:lnTo>
                    <a:pt x="478447" y="89837"/>
                  </a:lnTo>
                  <a:close/>
                </a:path>
                <a:path w="822960" h="275589">
                  <a:moveTo>
                    <a:pt x="475579" y="223964"/>
                  </a:moveTo>
                  <a:lnTo>
                    <a:pt x="426672" y="223964"/>
                  </a:lnTo>
                  <a:lnTo>
                    <a:pt x="415901" y="223177"/>
                  </a:lnTo>
                  <a:lnTo>
                    <a:pt x="380966" y="196345"/>
                  </a:lnTo>
                  <a:lnTo>
                    <a:pt x="377695" y="176457"/>
                  </a:lnTo>
                  <a:lnTo>
                    <a:pt x="377695" y="89837"/>
                  </a:lnTo>
                  <a:lnTo>
                    <a:pt x="415407" y="89837"/>
                  </a:lnTo>
                  <a:lnTo>
                    <a:pt x="415407" y="180981"/>
                  </a:lnTo>
                  <a:lnTo>
                    <a:pt x="416223" y="184130"/>
                  </a:lnTo>
                  <a:lnTo>
                    <a:pt x="419535" y="187675"/>
                  </a:lnTo>
                  <a:lnTo>
                    <a:pt x="422474" y="188561"/>
                  </a:lnTo>
                  <a:lnTo>
                    <a:pt x="475579" y="188561"/>
                  </a:lnTo>
                  <a:lnTo>
                    <a:pt x="475579" y="223964"/>
                  </a:lnTo>
                  <a:close/>
                </a:path>
                <a:path w="822960" h="275589">
                  <a:moveTo>
                    <a:pt x="644661" y="223964"/>
                  </a:moveTo>
                  <a:lnTo>
                    <a:pt x="606948" y="223964"/>
                  </a:lnTo>
                  <a:lnTo>
                    <a:pt x="606948" y="178136"/>
                  </a:lnTo>
                  <a:lnTo>
                    <a:pt x="512423" y="178136"/>
                  </a:lnTo>
                  <a:lnTo>
                    <a:pt x="512423" y="129929"/>
                  </a:lnTo>
                  <a:lnTo>
                    <a:pt x="597993" y="2868"/>
                  </a:lnTo>
                  <a:lnTo>
                    <a:pt x="640323" y="2868"/>
                  </a:lnTo>
                  <a:lnTo>
                    <a:pt x="550065" y="139024"/>
                  </a:lnTo>
                  <a:lnTo>
                    <a:pt x="550065" y="142733"/>
                  </a:lnTo>
                  <a:lnTo>
                    <a:pt x="644661" y="142733"/>
                  </a:lnTo>
                  <a:lnTo>
                    <a:pt x="644661" y="223964"/>
                  </a:lnTo>
                  <a:close/>
                </a:path>
                <a:path w="822960" h="275589">
                  <a:moveTo>
                    <a:pt x="644661" y="142733"/>
                  </a:moveTo>
                  <a:lnTo>
                    <a:pt x="606948" y="142733"/>
                  </a:lnTo>
                  <a:lnTo>
                    <a:pt x="606948" y="91726"/>
                  </a:lnTo>
                  <a:lnTo>
                    <a:pt x="644661" y="91726"/>
                  </a:lnTo>
                  <a:lnTo>
                    <a:pt x="644661" y="142733"/>
                  </a:lnTo>
                  <a:close/>
                </a:path>
                <a:path w="822960" h="275589">
                  <a:moveTo>
                    <a:pt x="753361" y="226833"/>
                  </a:moveTo>
                  <a:lnTo>
                    <a:pt x="713322" y="216443"/>
                  </a:lnTo>
                  <a:lnTo>
                    <a:pt x="689061" y="186847"/>
                  </a:lnTo>
                  <a:lnTo>
                    <a:pt x="684373" y="159245"/>
                  </a:lnTo>
                  <a:lnTo>
                    <a:pt x="684373" y="67588"/>
                  </a:lnTo>
                  <a:lnTo>
                    <a:pt x="685471" y="53944"/>
                  </a:lnTo>
                  <a:lnTo>
                    <a:pt x="685545" y="53026"/>
                  </a:lnTo>
                  <a:lnTo>
                    <a:pt x="703125" y="18471"/>
                  </a:lnTo>
                  <a:lnTo>
                    <a:pt x="738440" y="1154"/>
                  </a:lnTo>
                  <a:lnTo>
                    <a:pt x="753361" y="0"/>
                  </a:lnTo>
                  <a:lnTo>
                    <a:pt x="768251" y="1154"/>
                  </a:lnTo>
                  <a:lnTo>
                    <a:pt x="803527" y="18471"/>
                  </a:lnTo>
                  <a:lnTo>
                    <a:pt x="814553" y="33934"/>
                  </a:lnTo>
                  <a:lnTo>
                    <a:pt x="743612" y="33934"/>
                  </a:lnTo>
                  <a:lnTo>
                    <a:pt x="735799" y="37035"/>
                  </a:lnTo>
                  <a:lnTo>
                    <a:pt x="721176" y="67588"/>
                  </a:lnTo>
                  <a:lnTo>
                    <a:pt x="721176" y="159245"/>
                  </a:lnTo>
                  <a:lnTo>
                    <a:pt x="743612" y="192899"/>
                  </a:lnTo>
                  <a:lnTo>
                    <a:pt x="814495" y="192899"/>
                  </a:lnTo>
                  <a:lnTo>
                    <a:pt x="811683" y="198365"/>
                  </a:lnTo>
                  <a:lnTo>
                    <a:pt x="803387" y="208362"/>
                  </a:lnTo>
                  <a:lnTo>
                    <a:pt x="793150" y="216443"/>
                  </a:lnTo>
                  <a:lnTo>
                    <a:pt x="781400" y="222215"/>
                  </a:lnTo>
                  <a:lnTo>
                    <a:pt x="768137" y="225679"/>
                  </a:lnTo>
                  <a:lnTo>
                    <a:pt x="753361" y="226833"/>
                  </a:lnTo>
                  <a:close/>
                </a:path>
                <a:path w="822960" h="275589">
                  <a:moveTo>
                    <a:pt x="814495" y="192899"/>
                  </a:moveTo>
                  <a:lnTo>
                    <a:pt x="763110" y="192899"/>
                  </a:lnTo>
                  <a:lnTo>
                    <a:pt x="770899" y="189820"/>
                  </a:lnTo>
                  <a:lnTo>
                    <a:pt x="776730" y="183663"/>
                  </a:lnTo>
                  <a:lnTo>
                    <a:pt x="780587" y="178648"/>
                  </a:lnTo>
                  <a:lnTo>
                    <a:pt x="783342" y="172906"/>
                  </a:lnTo>
                  <a:lnTo>
                    <a:pt x="784995" y="166438"/>
                  </a:lnTo>
                  <a:lnTo>
                    <a:pt x="785546" y="159245"/>
                  </a:lnTo>
                  <a:lnTo>
                    <a:pt x="785546" y="67588"/>
                  </a:lnTo>
                  <a:lnTo>
                    <a:pt x="763110" y="33934"/>
                  </a:lnTo>
                  <a:lnTo>
                    <a:pt x="814553" y="33934"/>
                  </a:lnTo>
                  <a:lnTo>
                    <a:pt x="817643" y="39986"/>
                  </a:lnTo>
                  <a:lnTo>
                    <a:pt x="821172" y="53026"/>
                  </a:lnTo>
                  <a:lnTo>
                    <a:pt x="822349" y="67588"/>
                  </a:lnTo>
                  <a:lnTo>
                    <a:pt x="822349" y="159245"/>
                  </a:lnTo>
                  <a:lnTo>
                    <a:pt x="821237" y="172906"/>
                  </a:lnTo>
                  <a:lnTo>
                    <a:pt x="821163" y="173807"/>
                  </a:lnTo>
                  <a:lnTo>
                    <a:pt x="817608" y="186847"/>
                  </a:lnTo>
                  <a:lnTo>
                    <a:pt x="814495" y="192899"/>
                  </a:lnTo>
                  <a:close/>
                </a:path>
                <a:path w="822960" h="275589">
                  <a:moveTo>
                    <a:pt x="759518" y="136575"/>
                  </a:moveTo>
                  <a:lnTo>
                    <a:pt x="747437" y="136575"/>
                  </a:lnTo>
                  <a:lnTo>
                    <a:pt x="742563" y="134546"/>
                  </a:lnTo>
                  <a:lnTo>
                    <a:pt x="734943" y="126383"/>
                  </a:lnTo>
                  <a:lnTo>
                    <a:pt x="733070" y="121159"/>
                  </a:lnTo>
                  <a:lnTo>
                    <a:pt x="733070" y="104204"/>
                  </a:lnTo>
                  <a:lnTo>
                    <a:pt x="734960" y="99003"/>
                  </a:lnTo>
                  <a:lnTo>
                    <a:pt x="742563" y="90887"/>
                  </a:lnTo>
                  <a:lnTo>
                    <a:pt x="747437" y="88858"/>
                  </a:lnTo>
                  <a:lnTo>
                    <a:pt x="759518" y="88858"/>
                  </a:lnTo>
                  <a:lnTo>
                    <a:pt x="764383" y="90887"/>
                  </a:lnTo>
                  <a:lnTo>
                    <a:pt x="771746" y="99003"/>
                  </a:lnTo>
                  <a:lnTo>
                    <a:pt x="773635" y="104204"/>
                  </a:lnTo>
                  <a:lnTo>
                    <a:pt x="773651" y="121159"/>
                  </a:lnTo>
                  <a:lnTo>
                    <a:pt x="771809" y="126383"/>
                  </a:lnTo>
                  <a:lnTo>
                    <a:pt x="764439" y="134546"/>
                  </a:lnTo>
                  <a:lnTo>
                    <a:pt x="759518" y="136575"/>
                  </a:lnTo>
                  <a:close/>
                </a:path>
              </a:pathLst>
            </a:custGeom>
            <a:solidFill>
              <a:srgbClr val="BF11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1374564" y="1957371"/>
              <a:ext cx="986155" cy="215900"/>
            </a:xfrm>
            <a:custGeom>
              <a:avLst/>
              <a:gdLst/>
              <a:ahLst/>
              <a:cxnLst/>
              <a:rect l="l" t="t" r="r" b="b"/>
              <a:pathLst>
                <a:path w="986155" h="215900">
                  <a:moveTo>
                    <a:pt x="49991" y="77033"/>
                  </a:moveTo>
                  <a:lnTo>
                    <a:pt x="31135" y="77033"/>
                  </a:lnTo>
                  <a:lnTo>
                    <a:pt x="34913" y="60871"/>
                  </a:lnTo>
                  <a:lnTo>
                    <a:pt x="43099" y="49326"/>
                  </a:lnTo>
                  <a:lnTo>
                    <a:pt x="55693" y="42400"/>
                  </a:lnTo>
                  <a:lnTo>
                    <a:pt x="72695" y="40091"/>
                  </a:lnTo>
                  <a:lnTo>
                    <a:pt x="85753" y="41180"/>
                  </a:lnTo>
                  <a:lnTo>
                    <a:pt x="123828" y="66949"/>
                  </a:lnTo>
                  <a:lnTo>
                    <a:pt x="127068" y="73815"/>
                  </a:lnTo>
                  <a:lnTo>
                    <a:pt x="57536" y="73815"/>
                  </a:lnTo>
                  <a:lnTo>
                    <a:pt x="50519" y="76544"/>
                  </a:lnTo>
                  <a:lnTo>
                    <a:pt x="49991" y="77033"/>
                  </a:lnTo>
                  <a:close/>
                </a:path>
                <a:path w="986155" h="215900">
                  <a:moveTo>
                    <a:pt x="37642" y="212490"/>
                  </a:moveTo>
                  <a:lnTo>
                    <a:pt x="0" y="212490"/>
                  </a:lnTo>
                  <a:lnTo>
                    <a:pt x="0" y="42959"/>
                  </a:lnTo>
                  <a:lnTo>
                    <a:pt x="37082" y="42959"/>
                  </a:lnTo>
                  <a:lnTo>
                    <a:pt x="31220" y="76544"/>
                  </a:lnTo>
                  <a:lnTo>
                    <a:pt x="31135" y="77033"/>
                  </a:lnTo>
                  <a:lnTo>
                    <a:pt x="49991" y="77033"/>
                  </a:lnTo>
                  <a:lnTo>
                    <a:pt x="40184" y="87692"/>
                  </a:lnTo>
                  <a:lnTo>
                    <a:pt x="37701" y="95528"/>
                  </a:lnTo>
                  <a:lnTo>
                    <a:pt x="37642" y="212490"/>
                  </a:lnTo>
                  <a:close/>
                </a:path>
                <a:path w="986155" h="215900">
                  <a:moveTo>
                    <a:pt x="133077" y="119363"/>
                  </a:moveTo>
                  <a:lnTo>
                    <a:pt x="95435" y="119363"/>
                  </a:lnTo>
                  <a:lnTo>
                    <a:pt x="95435" y="95528"/>
                  </a:lnTo>
                  <a:lnTo>
                    <a:pt x="93034" y="87692"/>
                  </a:lnTo>
                  <a:lnTo>
                    <a:pt x="92963" y="87458"/>
                  </a:lnTo>
                  <a:lnTo>
                    <a:pt x="83120" y="76544"/>
                  </a:lnTo>
                  <a:lnTo>
                    <a:pt x="76007" y="73815"/>
                  </a:lnTo>
                  <a:lnTo>
                    <a:pt x="127068" y="73815"/>
                  </a:lnTo>
                  <a:lnTo>
                    <a:pt x="128966" y="77838"/>
                  </a:lnTo>
                  <a:lnTo>
                    <a:pt x="132049" y="90178"/>
                  </a:lnTo>
                  <a:lnTo>
                    <a:pt x="133077" y="103971"/>
                  </a:lnTo>
                  <a:lnTo>
                    <a:pt x="133077" y="119363"/>
                  </a:lnTo>
                  <a:close/>
                </a:path>
                <a:path w="986155" h="215900">
                  <a:moveTo>
                    <a:pt x="232052" y="215358"/>
                  </a:moveTo>
                  <a:lnTo>
                    <a:pt x="193377" y="205204"/>
                  </a:lnTo>
                  <a:lnTo>
                    <a:pt x="166440" y="163473"/>
                  </a:lnTo>
                  <a:lnTo>
                    <a:pt x="165303" y="149239"/>
                  </a:lnTo>
                  <a:lnTo>
                    <a:pt x="165303" y="106210"/>
                  </a:lnTo>
                  <a:lnTo>
                    <a:pt x="175536" y="67981"/>
                  </a:lnTo>
                  <a:lnTo>
                    <a:pt x="217656" y="41223"/>
                  </a:lnTo>
                  <a:lnTo>
                    <a:pt x="232052" y="40091"/>
                  </a:lnTo>
                  <a:lnTo>
                    <a:pt x="246413" y="41223"/>
                  </a:lnTo>
                  <a:lnTo>
                    <a:pt x="288458" y="67981"/>
                  </a:lnTo>
                  <a:lnTo>
                    <a:pt x="291239" y="73465"/>
                  </a:lnTo>
                  <a:lnTo>
                    <a:pt x="222163" y="73465"/>
                  </a:lnTo>
                  <a:lnTo>
                    <a:pt x="214747" y="76170"/>
                  </a:lnTo>
                  <a:lnTo>
                    <a:pt x="202456" y="106210"/>
                  </a:lnTo>
                  <a:lnTo>
                    <a:pt x="202456" y="108589"/>
                  </a:lnTo>
                  <a:lnTo>
                    <a:pt x="298731" y="108589"/>
                  </a:lnTo>
                  <a:lnTo>
                    <a:pt x="298731" y="140004"/>
                  </a:lnTo>
                  <a:lnTo>
                    <a:pt x="202456" y="140004"/>
                  </a:lnTo>
                  <a:lnTo>
                    <a:pt x="202456" y="149239"/>
                  </a:lnTo>
                  <a:lnTo>
                    <a:pt x="222117" y="181704"/>
                  </a:lnTo>
                  <a:lnTo>
                    <a:pt x="293106" y="181704"/>
                  </a:lnTo>
                  <a:lnTo>
                    <a:pt x="291576" y="185517"/>
                  </a:lnTo>
                  <a:lnTo>
                    <a:pt x="256680" y="212140"/>
                  </a:lnTo>
                  <a:lnTo>
                    <a:pt x="244908" y="214554"/>
                  </a:lnTo>
                  <a:lnTo>
                    <a:pt x="232052" y="215358"/>
                  </a:lnTo>
                  <a:close/>
                </a:path>
                <a:path w="986155" h="215900">
                  <a:moveTo>
                    <a:pt x="298731" y="108589"/>
                  </a:moveTo>
                  <a:lnTo>
                    <a:pt x="261648" y="108589"/>
                  </a:lnTo>
                  <a:lnTo>
                    <a:pt x="261648" y="106210"/>
                  </a:lnTo>
                  <a:lnTo>
                    <a:pt x="261184" y="98452"/>
                  </a:lnTo>
                  <a:lnTo>
                    <a:pt x="241940" y="73465"/>
                  </a:lnTo>
                  <a:lnTo>
                    <a:pt x="291239" y="73465"/>
                  </a:lnTo>
                  <a:lnTo>
                    <a:pt x="294165" y="79237"/>
                  </a:lnTo>
                  <a:lnTo>
                    <a:pt x="297530" y="91761"/>
                  </a:lnTo>
                  <a:lnTo>
                    <a:pt x="297589" y="91980"/>
                  </a:lnTo>
                  <a:lnTo>
                    <a:pt x="298731" y="106210"/>
                  </a:lnTo>
                  <a:lnTo>
                    <a:pt x="298731" y="108589"/>
                  </a:lnTo>
                  <a:close/>
                </a:path>
                <a:path w="986155" h="215900">
                  <a:moveTo>
                    <a:pt x="293106" y="181704"/>
                  </a:moveTo>
                  <a:lnTo>
                    <a:pt x="232052" y="181704"/>
                  </a:lnTo>
                  <a:lnTo>
                    <a:pt x="243338" y="180379"/>
                  </a:lnTo>
                  <a:lnTo>
                    <a:pt x="252633" y="176119"/>
                  </a:lnTo>
                  <a:lnTo>
                    <a:pt x="252271" y="176119"/>
                  </a:lnTo>
                  <a:lnTo>
                    <a:pt x="258066" y="169779"/>
                  </a:lnTo>
                  <a:lnTo>
                    <a:pt x="261508" y="160504"/>
                  </a:lnTo>
                  <a:lnTo>
                    <a:pt x="299010" y="160504"/>
                  </a:lnTo>
                  <a:lnTo>
                    <a:pt x="296235" y="173798"/>
                  </a:lnTo>
                  <a:lnTo>
                    <a:pt x="296190" y="174017"/>
                  </a:lnTo>
                  <a:lnTo>
                    <a:pt x="293106" y="181704"/>
                  </a:lnTo>
                  <a:close/>
                </a:path>
                <a:path w="986155" h="215900">
                  <a:moveTo>
                    <a:pt x="409950" y="42959"/>
                  </a:moveTo>
                  <a:lnTo>
                    <a:pt x="372237" y="42959"/>
                  </a:lnTo>
                  <a:lnTo>
                    <a:pt x="372237" y="0"/>
                  </a:lnTo>
                  <a:lnTo>
                    <a:pt x="409950" y="0"/>
                  </a:lnTo>
                  <a:lnTo>
                    <a:pt x="409950" y="42959"/>
                  </a:lnTo>
                  <a:close/>
                </a:path>
                <a:path w="986155" h="215900">
                  <a:moveTo>
                    <a:pt x="472990" y="78363"/>
                  </a:moveTo>
                  <a:lnTo>
                    <a:pt x="327808" y="78363"/>
                  </a:lnTo>
                  <a:lnTo>
                    <a:pt x="327808" y="42959"/>
                  </a:lnTo>
                  <a:lnTo>
                    <a:pt x="472990" y="42959"/>
                  </a:lnTo>
                  <a:lnTo>
                    <a:pt x="472990" y="78363"/>
                  </a:lnTo>
                  <a:close/>
                </a:path>
                <a:path w="986155" h="215900">
                  <a:moveTo>
                    <a:pt x="470121" y="212490"/>
                  </a:moveTo>
                  <a:lnTo>
                    <a:pt x="421214" y="212490"/>
                  </a:lnTo>
                  <a:lnTo>
                    <a:pt x="410444" y="211703"/>
                  </a:lnTo>
                  <a:lnTo>
                    <a:pt x="375508" y="184870"/>
                  </a:lnTo>
                  <a:lnTo>
                    <a:pt x="372237" y="164982"/>
                  </a:lnTo>
                  <a:lnTo>
                    <a:pt x="372237" y="78363"/>
                  </a:lnTo>
                  <a:lnTo>
                    <a:pt x="409950" y="78363"/>
                  </a:lnTo>
                  <a:lnTo>
                    <a:pt x="409950" y="169507"/>
                  </a:lnTo>
                  <a:lnTo>
                    <a:pt x="410766" y="172655"/>
                  </a:lnTo>
                  <a:lnTo>
                    <a:pt x="414078" y="176200"/>
                  </a:lnTo>
                  <a:lnTo>
                    <a:pt x="417016" y="177086"/>
                  </a:lnTo>
                  <a:lnTo>
                    <a:pt x="470121" y="177086"/>
                  </a:lnTo>
                  <a:lnTo>
                    <a:pt x="470121" y="212490"/>
                  </a:lnTo>
                  <a:close/>
                </a:path>
                <a:path w="986155" h="215900">
                  <a:moveTo>
                    <a:pt x="575673" y="215358"/>
                  </a:moveTo>
                  <a:lnTo>
                    <a:pt x="537668" y="205204"/>
                  </a:lnTo>
                  <a:lnTo>
                    <a:pt x="510962" y="163473"/>
                  </a:lnTo>
                  <a:lnTo>
                    <a:pt x="509834" y="149239"/>
                  </a:lnTo>
                  <a:lnTo>
                    <a:pt x="509834" y="42959"/>
                  </a:lnTo>
                  <a:lnTo>
                    <a:pt x="547476" y="42959"/>
                  </a:lnTo>
                  <a:lnTo>
                    <a:pt x="547476" y="159548"/>
                  </a:lnTo>
                  <a:lnTo>
                    <a:pt x="549925" y="167384"/>
                  </a:lnTo>
                  <a:lnTo>
                    <a:pt x="559721" y="178113"/>
                  </a:lnTo>
                  <a:lnTo>
                    <a:pt x="566671" y="180795"/>
                  </a:lnTo>
                  <a:lnTo>
                    <a:pt x="635196" y="180795"/>
                  </a:lnTo>
                  <a:lnTo>
                    <a:pt x="631800" y="187507"/>
                  </a:lnTo>
                  <a:lnTo>
                    <a:pt x="623810" y="197307"/>
                  </a:lnTo>
                  <a:lnTo>
                    <a:pt x="613980" y="205204"/>
                  </a:lnTo>
                  <a:lnTo>
                    <a:pt x="602680" y="210846"/>
                  </a:lnTo>
                  <a:lnTo>
                    <a:pt x="589911" y="214230"/>
                  </a:lnTo>
                  <a:lnTo>
                    <a:pt x="575673" y="215358"/>
                  </a:lnTo>
                  <a:close/>
                </a:path>
                <a:path w="986155" h="215900">
                  <a:moveTo>
                    <a:pt x="635196" y="180795"/>
                  </a:moveTo>
                  <a:lnTo>
                    <a:pt x="584815" y="180795"/>
                  </a:lnTo>
                  <a:lnTo>
                    <a:pt x="591882" y="178113"/>
                  </a:lnTo>
                  <a:lnTo>
                    <a:pt x="601864" y="167384"/>
                  </a:lnTo>
                  <a:lnTo>
                    <a:pt x="604360" y="159548"/>
                  </a:lnTo>
                  <a:lnTo>
                    <a:pt x="604360" y="42959"/>
                  </a:lnTo>
                  <a:lnTo>
                    <a:pt x="642072" y="42959"/>
                  </a:lnTo>
                  <a:lnTo>
                    <a:pt x="642072" y="149239"/>
                  </a:lnTo>
                  <a:lnTo>
                    <a:pt x="640931" y="163473"/>
                  </a:lnTo>
                  <a:lnTo>
                    <a:pt x="637507" y="176229"/>
                  </a:lnTo>
                  <a:lnTo>
                    <a:pt x="635196" y="180795"/>
                  </a:lnTo>
                  <a:close/>
                </a:path>
                <a:path w="986155" h="215900">
                  <a:moveTo>
                    <a:pt x="737794" y="77033"/>
                  </a:moveTo>
                  <a:lnTo>
                    <a:pt x="718937" y="77033"/>
                  </a:lnTo>
                  <a:lnTo>
                    <a:pt x="722715" y="60871"/>
                  </a:lnTo>
                  <a:lnTo>
                    <a:pt x="730901" y="49326"/>
                  </a:lnTo>
                  <a:lnTo>
                    <a:pt x="743496" y="42400"/>
                  </a:lnTo>
                  <a:lnTo>
                    <a:pt x="760498" y="40091"/>
                  </a:lnTo>
                  <a:lnTo>
                    <a:pt x="773555" y="41180"/>
                  </a:lnTo>
                  <a:lnTo>
                    <a:pt x="811630" y="66949"/>
                  </a:lnTo>
                  <a:lnTo>
                    <a:pt x="814870" y="73815"/>
                  </a:lnTo>
                  <a:lnTo>
                    <a:pt x="745338" y="73815"/>
                  </a:lnTo>
                  <a:lnTo>
                    <a:pt x="738321" y="76544"/>
                  </a:lnTo>
                  <a:lnTo>
                    <a:pt x="737794" y="77033"/>
                  </a:lnTo>
                  <a:close/>
                </a:path>
                <a:path w="986155" h="215900">
                  <a:moveTo>
                    <a:pt x="725444" y="212490"/>
                  </a:moveTo>
                  <a:lnTo>
                    <a:pt x="687802" y="212490"/>
                  </a:lnTo>
                  <a:lnTo>
                    <a:pt x="687802" y="42959"/>
                  </a:lnTo>
                  <a:lnTo>
                    <a:pt x="724884" y="42959"/>
                  </a:lnTo>
                  <a:lnTo>
                    <a:pt x="719023" y="76544"/>
                  </a:lnTo>
                  <a:lnTo>
                    <a:pt x="718937" y="77033"/>
                  </a:lnTo>
                  <a:lnTo>
                    <a:pt x="737794" y="77033"/>
                  </a:lnTo>
                  <a:lnTo>
                    <a:pt x="727986" y="87692"/>
                  </a:lnTo>
                  <a:lnTo>
                    <a:pt x="725503" y="95528"/>
                  </a:lnTo>
                  <a:lnTo>
                    <a:pt x="725444" y="212490"/>
                  </a:lnTo>
                  <a:close/>
                </a:path>
                <a:path w="986155" h="215900">
                  <a:moveTo>
                    <a:pt x="820879" y="119363"/>
                  </a:moveTo>
                  <a:lnTo>
                    <a:pt x="783237" y="119363"/>
                  </a:lnTo>
                  <a:lnTo>
                    <a:pt x="783237" y="95528"/>
                  </a:lnTo>
                  <a:lnTo>
                    <a:pt x="780836" y="87692"/>
                  </a:lnTo>
                  <a:lnTo>
                    <a:pt x="780765" y="87458"/>
                  </a:lnTo>
                  <a:lnTo>
                    <a:pt x="770923" y="76544"/>
                  </a:lnTo>
                  <a:lnTo>
                    <a:pt x="763809" y="73815"/>
                  </a:lnTo>
                  <a:lnTo>
                    <a:pt x="814870" y="73815"/>
                  </a:lnTo>
                  <a:lnTo>
                    <a:pt x="816769" y="77838"/>
                  </a:lnTo>
                  <a:lnTo>
                    <a:pt x="819852" y="90178"/>
                  </a:lnTo>
                  <a:lnTo>
                    <a:pt x="820879" y="103971"/>
                  </a:lnTo>
                  <a:lnTo>
                    <a:pt x="820879" y="119363"/>
                  </a:lnTo>
                  <a:close/>
                </a:path>
                <a:path w="986155" h="215900">
                  <a:moveTo>
                    <a:pt x="902732" y="78573"/>
                  </a:moveTo>
                  <a:lnTo>
                    <a:pt x="886351" y="78573"/>
                  </a:lnTo>
                  <a:lnTo>
                    <a:pt x="889914" y="55858"/>
                  </a:lnTo>
                  <a:lnTo>
                    <a:pt x="928180" y="40091"/>
                  </a:lnTo>
                  <a:lnTo>
                    <a:pt x="940674" y="41127"/>
                  </a:lnTo>
                  <a:lnTo>
                    <a:pt x="977118" y="65602"/>
                  </a:lnTo>
                  <a:lnTo>
                    <a:pt x="981049" y="73815"/>
                  </a:lnTo>
                  <a:lnTo>
                    <a:pt x="911598" y="73815"/>
                  </a:lnTo>
                  <a:lnTo>
                    <a:pt x="904531" y="76590"/>
                  </a:lnTo>
                  <a:lnTo>
                    <a:pt x="902732" y="78573"/>
                  </a:lnTo>
                  <a:close/>
                </a:path>
                <a:path w="986155" h="215900">
                  <a:moveTo>
                    <a:pt x="891937" y="212490"/>
                  </a:moveTo>
                  <a:lnTo>
                    <a:pt x="854295" y="212490"/>
                  </a:lnTo>
                  <a:lnTo>
                    <a:pt x="854295" y="42959"/>
                  </a:lnTo>
                  <a:lnTo>
                    <a:pt x="891937" y="42959"/>
                  </a:lnTo>
                  <a:lnTo>
                    <a:pt x="890000" y="55615"/>
                  </a:lnTo>
                  <a:lnTo>
                    <a:pt x="889914" y="55858"/>
                  </a:lnTo>
                  <a:lnTo>
                    <a:pt x="886690" y="62218"/>
                  </a:lnTo>
                  <a:lnTo>
                    <a:pt x="885343" y="69866"/>
                  </a:lnTo>
                  <a:lnTo>
                    <a:pt x="885990" y="78573"/>
                  </a:lnTo>
                  <a:lnTo>
                    <a:pt x="902732" y="78573"/>
                  </a:lnTo>
                  <a:lnTo>
                    <a:pt x="894628" y="87502"/>
                  </a:lnTo>
                  <a:lnTo>
                    <a:pt x="892516" y="93872"/>
                  </a:lnTo>
                  <a:lnTo>
                    <a:pt x="891937" y="95715"/>
                  </a:lnTo>
                  <a:lnTo>
                    <a:pt x="891937" y="212490"/>
                  </a:lnTo>
                  <a:close/>
                </a:path>
                <a:path w="986155" h="215900">
                  <a:moveTo>
                    <a:pt x="886351" y="78573"/>
                  </a:moveTo>
                  <a:lnTo>
                    <a:pt x="885990" y="78573"/>
                  </a:lnTo>
                  <a:lnTo>
                    <a:pt x="885343" y="69866"/>
                  </a:lnTo>
                  <a:lnTo>
                    <a:pt x="886690" y="62218"/>
                  </a:lnTo>
                  <a:lnTo>
                    <a:pt x="889914" y="55858"/>
                  </a:lnTo>
                  <a:lnTo>
                    <a:pt x="886351" y="78573"/>
                  </a:lnTo>
                  <a:close/>
                </a:path>
                <a:path w="986155" h="215900">
                  <a:moveTo>
                    <a:pt x="985973" y="212490"/>
                  </a:moveTo>
                  <a:lnTo>
                    <a:pt x="948261" y="212490"/>
                  </a:lnTo>
                  <a:lnTo>
                    <a:pt x="948261" y="93872"/>
                  </a:lnTo>
                  <a:lnTo>
                    <a:pt x="945812" y="86596"/>
                  </a:lnTo>
                  <a:lnTo>
                    <a:pt x="940914" y="81511"/>
                  </a:lnTo>
                  <a:lnTo>
                    <a:pt x="936063" y="76380"/>
                  </a:lnTo>
                  <a:lnTo>
                    <a:pt x="929323" y="73815"/>
                  </a:lnTo>
                  <a:lnTo>
                    <a:pt x="981049" y="73815"/>
                  </a:lnTo>
                  <a:lnTo>
                    <a:pt x="982037" y="75879"/>
                  </a:lnTo>
                  <a:lnTo>
                    <a:pt x="984989" y="87502"/>
                  </a:lnTo>
                  <a:lnTo>
                    <a:pt x="985973" y="100472"/>
                  </a:lnTo>
                  <a:lnTo>
                    <a:pt x="985973" y="212490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/>
          <p:nvPr/>
        </p:nvSpPr>
        <p:spPr>
          <a:xfrm>
            <a:off x="491289" y="2722562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4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1289" y="3787022"/>
            <a:ext cx="14575155" cy="1801495"/>
          </a:xfrm>
          <a:custGeom>
            <a:avLst/>
            <a:gdLst/>
            <a:ahLst/>
            <a:cxnLst/>
            <a:rect l="l" t="t" r="r" b="b"/>
            <a:pathLst>
              <a:path w="14575155" h="1801495">
                <a:moveTo>
                  <a:pt x="14498413" y="1801394"/>
                </a:moveTo>
                <a:lnTo>
                  <a:pt x="76505" y="1801394"/>
                </a:lnTo>
                <a:lnTo>
                  <a:pt x="71180" y="1800869"/>
                </a:lnTo>
                <a:lnTo>
                  <a:pt x="31920" y="1784607"/>
                </a:lnTo>
                <a:lnTo>
                  <a:pt x="4175" y="1745880"/>
                </a:lnTo>
                <a:lnTo>
                  <a:pt x="0" y="1724889"/>
                </a:lnTo>
                <a:lnTo>
                  <a:pt x="0" y="1719512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1724889"/>
                </a:lnTo>
                <a:lnTo>
                  <a:pt x="14558132" y="1769473"/>
                </a:lnTo>
                <a:lnTo>
                  <a:pt x="14519404" y="1797218"/>
                </a:lnTo>
                <a:lnTo>
                  <a:pt x="14503737" y="1800869"/>
                </a:lnTo>
                <a:lnTo>
                  <a:pt x="14498413" y="1801394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 txBox="1"/>
          <p:nvPr/>
        </p:nvSpPr>
        <p:spPr>
          <a:xfrm>
            <a:off x="642352" y="1231899"/>
            <a:ext cx="6387465" cy="20726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03730" marR="1036319" indent="-344805">
              <a:lnSpc>
                <a:spcPct val="143300"/>
              </a:lnSpc>
              <a:spcBef>
                <a:spcPts val="95"/>
              </a:spcBef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(column): column.quantile(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0.4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)</a:t>
            </a:r>
            <a:endParaRPr sz="2250">
              <a:latin typeface="Monaco"/>
              <a:cs typeface="Monaco"/>
            </a:endParaRPr>
          </a:p>
          <a:p>
            <a:pPr>
              <a:lnSpc>
                <a:spcPct val="100000"/>
              </a:lnSpc>
              <a:spcBef>
                <a:spcPts val="2680"/>
              </a:spcBef>
            </a:pP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dogs[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"weight_kg"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].agg([pct30,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 pct40])</a:t>
            </a:r>
            <a:endParaRPr sz="2250">
              <a:latin typeface="Monaco"/>
              <a:cs typeface="Monaco"/>
            </a:endParaRPr>
          </a:p>
        </p:txBody>
      </p:sp>
      <p:graphicFrame>
        <p:nvGraphicFramePr>
          <p:cNvPr id="11" name="object 11"/>
          <p:cNvGraphicFramePr>
            <a:graphicFrameLocks noGrp="1"/>
          </p:cNvGraphicFramePr>
          <p:nvPr/>
        </p:nvGraphicFramePr>
        <p:xfrm>
          <a:off x="623302" y="4020794"/>
          <a:ext cx="5392420" cy="133667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7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1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909">
                <a:tc>
                  <a:txBody>
                    <a:bodyPr/>
                    <a:lstStyle/>
                    <a:p>
                      <a:pPr marR="46355" algn="ct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pct30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2640"/>
                        </a:lnSpc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22.6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R="4635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pct40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24.0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R="46355"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Name: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weight_kg,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dtype: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float64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E0A7BFF2-DC43-986E-E1AA-2E6190271D2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6</a:t>
            </a:fld>
            <a:endParaRPr lang="en-US" altLang="ko-K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430530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40" dirty="0"/>
              <a:t>Cumulative</a:t>
            </a:r>
            <a:r>
              <a:rPr spc="-260" dirty="0"/>
              <a:t> </a:t>
            </a:r>
            <a:r>
              <a:rPr spc="-120" dirty="0"/>
              <a:t>sum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7124065" cy="819150"/>
          </a:xfrm>
          <a:custGeom>
            <a:avLst/>
            <a:gdLst/>
            <a:ahLst/>
            <a:cxnLst/>
            <a:rect l="l" t="t" r="r" b="b"/>
            <a:pathLst>
              <a:path w="7124065" h="819150">
                <a:moveTo>
                  <a:pt x="7047191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7047191" y="0"/>
                </a:lnTo>
                <a:lnTo>
                  <a:pt x="7091775" y="16786"/>
                </a:lnTo>
                <a:lnTo>
                  <a:pt x="7119520" y="55513"/>
                </a:lnTo>
                <a:lnTo>
                  <a:pt x="7123696" y="76505"/>
                </a:lnTo>
                <a:lnTo>
                  <a:pt x="7123696" y="742310"/>
                </a:lnTo>
                <a:lnTo>
                  <a:pt x="7106908" y="786895"/>
                </a:lnTo>
                <a:lnTo>
                  <a:pt x="7068182" y="814639"/>
                </a:lnTo>
                <a:lnTo>
                  <a:pt x="7052515" y="818291"/>
                </a:lnTo>
                <a:lnTo>
                  <a:pt x="7047191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72"/>
            <a:ext cx="7124065" cy="4258310"/>
          </a:xfrm>
          <a:custGeom>
            <a:avLst/>
            <a:gdLst/>
            <a:ahLst/>
            <a:cxnLst/>
            <a:rect l="l" t="t" r="r" b="b"/>
            <a:pathLst>
              <a:path w="7124065" h="4258310">
                <a:moveTo>
                  <a:pt x="7047191" y="4257840"/>
                </a:moveTo>
                <a:lnTo>
                  <a:pt x="76505" y="4257840"/>
                </a:lnTo>
                <a:lnTo>
                  <a:pt x="71180" y="4257315"/>
                </a:lnTo>
                <a:lnTo>
                  <a:pt x="31920" y="4241054"/>
                </a:lnTo>
                <a:lnTo>
                  <a:pt x="4175" y="4202326"/>
                </a:lnTo>
                <a:lnTo>
                  <a:pt x="0" y="4181336"/>
                </a:lnTo>
                <a:lnTo>
                  <a:pt x="0" y="4175959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7047191" y="0"/>
                </a:lnTo>
                <a:lnTo>
                  <a:pt x="7091775" y="16786"/>
                </a:lnTo>
                <a:lnTo>
                  <a:pt x="7119520" y="55513"/>
                </a:lnTo>
                <a:lnTo>
                  <a:pt x="7123696" y="76505"/>
                </a:lnTo>
                <a:lnTo>
                  <a:pt x="7123696" y="4181336"/>
                </a:lnTo>
                <a:lnTo>
                  <a:pt x="7106908" y="4225920"/>
                </a:lnTo>
                <a:lnTo>
                  <a:pt x="7068182" y="4253664"/>
                </a:lnTo>
                <a:lnTo>
                  <a:pt x="7052515" y="4257315"/>
                </a:lnTo>
                <a:lnTo>
                  <a:pt x="7047191" y="4257840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286"/>
            <a:ext cx="294830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dogs[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"weight_kg"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942512" y="1166812"/>
            <a:ext cx="7124065" cy="819150"/>
          </a:xfrm>
          <a:custGeom>
            <a:avLst/>
            <a:gdLst/>
            <a:ahLst/>
            <a:cxnLst/>
            <a:rect l="l" t="t" r="r" b="b"/>
            <a:pathLst>
              <a:path w="7124065" h="819150">
                <a:moveTo>
                  <a:pt x="7047191" y="818815"/>
                </a:moveTo>
                <a:lnTo>
                  <a:pt x="76504" y="818815"/>
                </a:lnTo>
                <a:lnTo>
                  <a:pt x="71179" y="818291"/>
                </a:lnTo>
                <a:lnTo>
                  <a:pt x="31919" y="802028"/>
                </a:lnTo>
                <a:lnTo>
                  <a:pt x="4174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5" y="31920"/>
                </a:lnTo>
                <a:lnTo>
                  <a:pt x="55512" y="4175"/>
                </a:lnTo>
                <a:lnTo>
                  <a:pt x="76504" y="0"/>
                </a:lnTo>
                <a:lnTo>
                  <a:pt x="7047191" y="0"/>
                </a:lnTo>
                <a:lnTo>
                  <a:pt x="7091775" y="16786"/>
                </a:lnTo>
                <a:lnTo>
                  <a:pt x="7119519" y="55513"/>
                </a:lnTo>
                <a:lnTo>
                  <a:pt x="7123695" y="76505"/>
                </a:lnTo>
                <a:lnTo>
                  <a:pt x="7123695" y="742310"/>
                </a:lnTo>
                <a:lnTo>
                  <a:pt x="7106909" y="786895"/>
                </a:lnTo>
                <a:lnTo>
                  <a:pt x="7068181" y="814639"/>
                </a:lnTo>
                <a:lnTo>
                  <a:pt x="7052515" y="818291"/>
                </a:lnTo>
                <a:lnTo>
                  <a:pt x="7047191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942512" y="2231272"/>
            <a:ext cx="7124065" cy="4258310"/>
          </a:xfrm>
          <a:custGeom>
            <a:avLst/>
            <a:gdLst/>
            <a:ahLst/>
            <a:cxnLst/>
            <a:rect l="l" t="t" r="r" b="b"/>
            <a:pathLst>
              <a:path w="7124065" h="4258310">
                <a:moveTo>
                  <a:pt x="7047191" y="4257840"/>
                </a:moveTo>
                <a:lnTo>
                  <a:pt x="76504" y="4257840"/>
                </a:lnTo>
                <a:lnTo>
                  <a:pt x="71179" y="4257315"/>
                </a:lnTo>
                <a:lnTo>
                  <a:pt x="31919" y="4241054"/>
                </a:lnTo>
                <a:lnTo>
                  <a:pt x="4174" y="4202326"/>
                </a:lnTo>
                <a:lnTo>
                  <a:pt x="0" y="4181336"/>
                </a:lnTo>
                <a:lnTo>
                  <a:pt x="0" y="4175959"/>
                </a:lnTo>
                <a:lnTo>
                  <a:pt x="0" y="76505"/>
                </a:lnTo>
                <a:lnTo>
                  <a:pt x="16785" y="31919"/>
                </a:lnTo>
                <a:lnTo>
                  <a:pt x="55512" y="4175"/>
                </a:lnTo>
                <a:lnTo>
                  <a:pt x="76504" y="0"/>
                </a:lnTo>
                <a:lnTo>
                  <a:pt x="7047191" y="0"/>
                </a:lnTo>
                <a:lnTo>
                  <a:pt x="7091775" y="16786"/>
                </a:lnTo>
                <a:lnTo>
                  <a:pt x="7119519" y="55513"/>
                </a:lnTo>
                <a:lnTo>
                  <a:pt x="7123695" y="76505"/>
                </a:lnTo>
                <a:lnTo>
                  <a:pt x="7123695" y="4181336"/>
                </a:lnTo>
                <a:lnTo>
                  <a:pt x="7106909" y="4225920"/>
                </a:lnTo>
                <a:lnTo>
                  <a:pt x="7068181" y="4253664"/>
                </a:lnTo>
                <a:lnTo>
                  <a:pt x="7052515" y="4257315"/>
                </a:lnTo>
                <a:lnTo>
                  <a:pt x="7047191" y="4257840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23302" y="2465044"/>
          <a:ext cx="12516482" cy="379094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010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773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7741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12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7675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026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662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22909">
                <a:tc>
                  <a:txBody>
                    <a:bodyPr/>
                    <a:lstStyle/>
                    <a:p>
                      <a:pPr marL="31750" marR="3175">
                        <a:lnSpc>
                          <a:spcPts val="2640"/>
                        </a:lnSpc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ts val="2640"/>
                        </a:lnSpc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31900" marR="3175">
                        <a:lnSpc>
                          <a:spcPts val="2640"/>
                        </a:lnSpc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2640"/>
                        </a:lnSpc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 marR="31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31900" marR="31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48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 marR="31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31900" marR="31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72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 marR="31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17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31900" marR="31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89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 marR="31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31900" marR="31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118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 marR="31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31900" marR="31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120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 marR="31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231900" marR="317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194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Name: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weight_kg,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dtype: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int64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23190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Name: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weight_kg,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dtype: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int64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8093574" y="1379286"/>
            <a:ext cx="449580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dogs[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"weight_kg"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].cumsum()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CE6E2A08-11CE-AAB2-49D9-69BFEFE0230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7</a:t>
            </a:fld>
            <a:endParaRPr lang="en-US" altLang="ko-K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40" dirty="0"/>
              <a:t>Cumulative</a:t>
            </a:r>
            <a:r>
              <a:rPr spc="-260" dirty="0"/>
              <a:t> </a:t>
            </a:r>
            <a:r>
              <a:rPr spc="-105" dirty="0"/>
              <a:t>statistics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1351045"/>
            <a:ext cx="102352" cy="102351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900697" y="1207753"/>
            <a:ext cx="1637664" cy="429895"/>
          </a:xfrm>
          <a:custGeom>
            <a:avLst/>
            <a:gdLst/>
            <a:ahLst/>
            <a:cxnLst/>
            <a:rect l="l" t="t" r="r" b="b"/>
            <a:pathLst>
              <a:path w="1637664" h="429894">
                <a:moveTo>
                  <a:pt x="1561126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561126" y="0"/>
                </a:lnTo>
                <a:lnTo>
                  <a:pt x="1605710" y="16786"/>
                </a:lnTo>
                <a:lnTo>
                  <a:pt x="1633455" y="55513"/>
                </a:lnTo>
                <a:lnTo>
                  <a:pt x="1637631" y="76505"/>
                </a:lnTo>
                <a:lnTo>
                  <a:pt x="1637631" y="353373"/>
                </a:lnTo>
                <a:lnTo>
                  <a:pt x="1620844" y="397957"/>
                </a:lnTo>
                <a:lnTo>
                  <a:pt x="1582117" y="425702"/>
                </a:lnTo>
                <a:lnTo>
                  <a:pt x="1566450" y="429353"/>
                </a:lnTo>
                <a:lnTo>
                  <a:pt x="1561126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11759" y="2006098"/>
            <a:ext cx="102352" cy="102351"/>
          </a:xfrm>
          <a:prstGeom prst="rect">
            <a:avLst/>
          </a:prstGeom>
        </p:spPr>
      </p:pic>
      <p:sp>
        <p:nvSpPr>
          <p:cNvPr id="6" name="object 6"/>
          <p:cNvSpPr/>
          <p:nvPr/>
        </p:nvSpPr>
        <p:spPr>
          <a:xfrm>
            <a:off x="900697" y="1862805"/>
            <a:ext cx="1637664" cy="429895"/>
          </a:xfrm>
          <a:custGeom>
            <a:avLst/>
            <a:gdLst/>
            <a:ahLst/>
            <a:cxnLst/>
            <a:rect l="l" t="t" r="r" b="b"/>
            <a:pathLst>
              <a:path w="1637664" h="429894">
                <a:moveTo>
                  <a:pt x="1561126" y="429878"/>
                </a:moveTo>
                <a:lnTo>
                  <a:pt x="76505" y="429878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561126" y="0"/>
                </a:lnTo>
                <a:lnTo>
                  <a:pt x="1605710" y="16786"/>
                </a:lnTo>
                <a:lnTo>
                  <a:pt x="1633455" y="55513"/>
                </a:lnTo>
                <a:lnTo>
                  <a:pt x="1637631" y="76505"/>
                </a:lnTo>
                <a:lnTo>
                  <a:pt x="1637631" y="353373"/>
                </a:lnTo>
                <a:lnTo>
                  <a:pt x="1620844" y="397957"/>
                </a:lnTo>
                <a:lnTo>
                  <a:pt x="1582117" y="425702"/>
                </a:lnTo>
                <a:lnTo>
                  <a:pt x="1566450" y="429353"/>
                </a:lnTo>
                <a:lnTo>
                  <a:pt x="1561126" y="429878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11759" y="2661150"/>
            <a:ext cx="102352" cy="102351"/>
          </a:xfrm>
          <a:prstGeom prst="rect">
            <a:avLst/>
          </a:prstGeom>
        </p:spPr>
      </p:pic>
      <p:sp>
        <p:nvSpPr>
          <p:cNvPr id="8" name="object 8"/>
          <p:cNvSpPr/>
          <p:nvPr/>
        </p:nvSpPr>
        <p:spPr>
          <a:xfrm>
            <a:off x="900697" y="2517858"/>
            <a:ext cx="1801495" cy="429895"/>
          </a:xfrm>
          <a:custGeom>
            <a:avLst/>
            <a:gdLst/>
            <a:ahLst/>
            <a:cxnLst/>
            <a:rect l="l" t="t" r="r" b="b"/>
            <a:pathLst>
              <a:path w="1801495" h="429894">
                <a:moveTo>
                  <a:pt x="1724889" y="429877"/>
                </a:moveTo>
                <a:lnTo>
                  <a:pt x="76505" y="429877"/>
                </a:lnTo>
                <a:lnTo>
                  <a:pt x="71180" y="429353"/>
                </a:lnTo>
                <a:lnTo>
                  <a:pt x="31920" y="413091"/>
                </a:lnTo>
                <a:lnTo>
                  <a:pt x="4175" y="374363"/>
                </a:lnTo>
                <a:lnTo>
                  <a:pt x="0" y="353373"/>
                </a:lnTo>
                <a:lnTo>
                  <a:pt x="0" y="34799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724889" y="0"/>
                </a:lnTo>
                <a:lnTo>
                  <a:pt x="1769474" y="16786"/>
                </a:lnTo>
                <a:lnTo>
                  <a:pt x="1797219" y="55513"/>
                </a:lnTo>
                <a:lnTo>
                  <a:pt x="1801394" y="76505"/>
                </a:lnTo>
                <a:lnTo>
                  <a:pt x="1801394" y="353373"/>
                </a:lnTo>
                <a:lnTo>
                  <a:pt x="1784607" y="397957"/>
                </a:lnTo>
                <a:lnTo>
                  <a:pt x="1745880" y="425702"/>
                </a:lnTo>
                <a:lnTo>
                  <a:pt x="1730213" y="429353"/>
                </a:lnTo>
                <a:lnTo>
                  <a:pt x="1724889" y="429877"/>
                </a:lnTo>
                <a:close/>
              </a:path>
            </a:pathLst>
          </a:custGeom>
          <a:solidFill>
            <a:srgbClr val="EFEBE3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928938" y="1215523"/>
            <a:ext cx="1744980" cy="16795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.cummax()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2460"/>
              </a:spcBef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.cummin()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2455"/>
              </a:spcBef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.cumprod()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D177FDFB-3A07-5D38-C8D7-CFA5416E3E2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8</a:t>
            </a:fld>
            <a:endParaRPr lang="en-US" altLang="ko-K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Walmart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06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66"/>
            <a:ext cx="14575155" cy="3275329"/>
          </a:xfrm>
          <a:custGeom>
            <a:avLst/>
            <a:gdLst/>
            <a:ahLst/>
            <a:cxnLst/>
            <a:rect l="l" t="t" r="r" b="b"/>
            <a:pathLst>
              <a:path w="14575155" h="3275329">
                <a:moveTo>
                  <a:pt x="14498413" y="3275262"/>
                </a:moveTo>
                <a:lnTo>
                  <a:pt x="76505" y="3275262"/>
                </a:lnTo>
                <a:lnTo>
                  <a:pt x="71180" y="3274738"/>
                </a:lnTo>
                <a:lnTo>
                  <a:pt x="31920" y="3258476"/>
                </a:lnTo>
                <a:lnTo>
                  <a:pt x="4175" y="3219748"/>
                </a:lnTo>
                <a:lnTo>
                  <a:pt x="0" y="3198757"/>
                </a:lnTo>
                <a:lnTo>
                  <a:pt x="0" y="3193381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3198757"/>
                </a:lnTo>
                <a:lnTo>
                  <a:pt x="14558132" y="3243341"/>
                </a:lnTo>
                <a:lnTo>
                  <a:pt x="14519404" y="3271086"/>
                </a:lnTo>
                <a:lnTo>
                  <a:pt x="14503737" y="3274737"/>
                </a:lnTo>
                <a:lnTo>
                  <a:pt x="14498413" y="3275262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281"/>
            <a:ext cx="208915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sales.head()</a:t>
            </a:r>
            <a:endParaRPr sz="2250">
              <a:latin typeface="Monaco"/>
              <a:cs typeface="Monac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3302" y="2465038"/>
          <a:ext cx="14161767" cy="28092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214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55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551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7738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40728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6311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7540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20631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06299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422909">
                <a:tc>
                  <a:txBody>
                    <a:bodyPr/>
                    <a:lstStyle/>
                    <a:p>
                      <a:pPr marR="78105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store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type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ts val="2640"/>
                        </a:lnSpc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dept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date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weekly_sales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is_holiday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temp_c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fuel_price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unemp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1031240" algn="l"/>
                        </a:tabLst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2010-02-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05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24924.50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False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5.73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0.679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8.106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1031240" algn="l"/>
                        </a:tabLst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2010-02-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05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50605.27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False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5.73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0.679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8.106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1031240" algn="l"/>
                        </a:tabLst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2010-02-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05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13740.12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False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5.73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0.679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8.106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1031240" algn="l"/>
                        </a:tabLst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2010-02-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05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39954.04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False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5.73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0.679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8.106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  <a:tabLst>
                          <a:tab pos="1031240" algn="l"/>
                        </a:tabLst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</a:t>
                      </a: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	</a:t>
                      </a: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2010-02-</a:t>
                      </a: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05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32229.38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False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5.73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0.679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8.106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C559DA3B-1ED2-5DE6-099F-D63C97D9C64B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9</a:t>
            </a:fld>
            <a:endParaRPr lang="en-US" altLang="ko-K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55828" y="2236119"/>
            <a:ext cx="6205220" cy="1825625"/>
          </a:xfrm>
          <a:prstGeom prst="rect">
            <a:avLst/>
          </a:prstGeom>
        </p:spPr>
        <p:txBody>
          <a:bodyPr vert="horz" wrap="square" lIns="0" tIns="363220" rIns="0" bIns="0" rtlCol="0">
            <a:spAutoFit/>
          </a:bodyPr>
          <a:lstStyle/>
          <a:p>
            <a:pPr marL="60960" algn="ctr">
              <a:lnSpc>
                <a:spcPct val="100000"/>
              </a:lnSpc>
              <a:spcBef>
                <a:spcPts val="2860"/>
              </a:spcBef>
            </a:pPr>
            <a:r>
              <a:rPr sz="6450" spc="-60" dirty="0"/>
              <a:t>Counting</a:t>
            </a:r>
            <a:endParaRPr sz="6450"/>
          </a:p>
          <a:p>
            <a:pPr algn="ctr">
              <a:lnSpc>
                <a:spcPct val="100000"/>
              </a:lnSpc>
              <a:spcBef>
                <a:spcPts val="969"/>
              </a:spcBef>
              <a:tabLst>
                <a:tab pos="1024890" algn="l"/>
                <a:tab pos="3806825" algn="l"/>
                <a:tab pos="4827270" algn="l"/>
              </a:tabLst>
            </a:pPr>
            <a:r>
              <a:rPr sz="2250" spc="100" dirty="0"/>
              <a:t>DATA</a:t>
            </a:r>
            <a:r>
              <a:rPr sz="2250" dirty="0"/>
              <a:t>	</a:t>
            </a:r>
            <a:r>
              <a:rPr sz="2250" spc="204" dirty="0"/>
              <a:t>M</a:t>
            </a:r>
            <a:r>
              <a:rPr sz="2250" spc="-300" dirty="0"/>
              <a:t> </a:t>
            </a:r>
            <a:r>
              <a:rPr sz="2250" spc="-25" dirty="0"/>
              <a:t>A</a:t>
            </a:r>
            <a:r>
              <a:rPr sz="2250" spc="-295" dirty="0"/>
              <a:t> </a:t>
            </a:r>
            <a:r>
              <a:rPr sz="2250" spc="65" dirty="0"/>
              <a:t>N</a:t>
            </a:r>
            <a:r>
              <a:rPr sz="2250" spc="-295" dirty="0"/>
              <a:t> </a:t>
            </a:r>
            <a:r>
              <a:rPr sz="2250" spc="-10" dirty="0"/>
              <a:t>I</a:t>
            </a:r>
            <a:r>
              <a:rPr sz="2250" spc="-295" dirty="0"/>
              <a:t> </a:t>
            </a:r>
            <a:r>
              <a:rPr sz="2250" spc="-120" dirty="0"/>
              <a:t>P</a:t>
            </a:r>
            <a:r>
              <a:rPr sz="2250" spc="-300" dirty="0"/>
              <a:t> </a:t>
            </a:r>
            <a:r>
              <a:rPr sz="2250" spc="-90" dirty="0"/>
              <a:t>U</a:t>
            </a:r>
            <a:r>
              <a:rPr sz="2250" spc="-295" dirty="0"/>
              <a:t> </a:t>
            </a:r>
            <a:r>
              <a:rPr sz="2250" spc="-185" dirty="0"/>
              <a:t>L</a:t>
            </a:r>
            <a:r>
              <a:rPr sz="2250" spc="-295" dirty="0"/>
              <a:t> </a:t>
            </a:r>
            <a:r>
              <a:rPr sz="2250" dirty="0"/>
              <a:t>AT</a:t>
            </a:r>
            <a:r>
              <a:rPr sz="2250" spc="-295" dirty="0"/>
              <a:t> </a:t>
            </a:r>
            <a:r>
              <a:rPr sz="2250" spc="-10" dirty="0"/>
              <a:t>I</a:t>
            </a:r>
            <a:r>
              <a:rPr sz="2250" spc="-300" dirty="0"/>
              <a:t> </a:t>
            </a:r>
            <a:r>
              <a:rPr sz="2250" spc="70" dirty="0"/>
              <a:t>O</a:t>
            </a:r>
            <a:r>
              <a:rPr sz="2250" spc="-295" dirty="0"/>
              <a:t> </a:t>
            </a:r>
            <a:r>
              <a:rPr sz="2250" spc="15" dirty="0"/>
              <a:t>N</a:t>
            </a:r>
            <a:r>
              <a:rPr sz="2250" dirty="0"/>
              <a:t>	W</a:t>
            </a:r>
            <a:r>
              <a:rPr sz="2250" spc="-295" dirty="0"/>
              <a:t> </a:t>
            </a:r>
            <a:r>
              <a:rPr sz="2250" spc="-10" dirty="0"/>
              <a:t>I</a:t>
            </a:r>
            <a:r>
              <a:rPr sz="2250" spc="-295" dirty="0"/>
              <a:t> </a:t>
            </a:r>
            <a:r>
              <a:rPr sz="2250" spc="-90" dirty="0"/>
              <a:t>T</a:t>
            </a:r>
            <a:r>
              <a:rPr sz="2250" spc="-295" dirty="0"/>
              <a:t> </a:t>
            </a:r>
            <a:r>
              <a:rPr sz="2250" spc="-50" dirty="0"/>
              <a:t>H</a:t>
            </a:r>
            <a:r>
              <a:rPr sz="2250" dirty="0"/>
              <a:t>	PA</a:t>
            </a:r>
            <a:r>
              <a:rPr sz="2250" spc="-295" dirty="0"/>
              <a:t> </a:t>
            </a:r>
            <a:r>
              <a:rPr sz="2250" spc="65" dirty="0"/>
              <a:t>N</a:t>
            </a:r>
            <a:r>
              <a:rPr sz="2250" spc="-295" dirty="0"/>
              <a:t> </a:t>
            </a:r>
            <a:r>
              <a:rPr sz="2250" spc="135" dirty="0"/>
              <a:t>DA</a:t>
            </a:r>
            <a:r>
              <a:rPr sz="2250" spc="-320" dirty="0"/>
              <a:t> </a:t>
            </a:r>
            <a:r>
              <a:rPr sz="2250" spc="-50" dirty="0"/>
              <a:t>S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5398770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spc="75" dirty="0">
                <a:solidFill>
                  <a:srgbClr val="FFFFFF"/>
                </a:solidFill>
                <a:latin typeface="Arial"/>
                <a:cs typeface="Arial"/>
              </a:rPr>
              <a:t>Maggie</a:t>
            </a:r>
            <a:r>
              <a:rPr sz="255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Matsui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Senior</a:t>
            </a:r>
            <a:r>
              <a:rPr sz="22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8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  <a:r>
              <a:rPr sz="225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50" dirty="0">
                <a:solidFill>
                  <a:srgbClr val="FFFFFF"/>
                </a:solidFill>
                <a:latin typeface="Arial"/>
                <a:cs typeface="Arial"/>
              </a:rPr>
              <a:t>Developer</a:t>
            </a:r>
            <a:r>
              <a:rPr sz="225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165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225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100" dirty="0">
                <a:solidFill>
                  <a:srgbClr val="FFFFFF"/>
                </a:solidFill>
                <a:latin typeface="Arial"/>
                <a:cs typeface="Arial"/>
              </a:rPr>
              <a:t>DataCamp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2BB15349-F850-85E1-DD77-57F305D0E314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10</a:t>
            </a:fld>
            <a:endParaRPr lang="en-US" altLang="ko-K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024393"/>
            <a:ext cx="15557500" cy="20955"/>
          </a:xfrm>
          <a:custGeom>
            <a:avLst/>
            <a:gdLst/>
            <a:ahLst/>
            <a:cxnLst/>
            <a:rect l="l" t="t" r="r" b="b"/>
            <a:pathLst>
              <a:path w="15557500" h="20954">
                <a:moveTo>
                  <a:pt x="15557498" y="20470"/>
                </a:moveTo>
                <a:lnTo>
                  <a:pt x="0" y="20470"/>
                </a:lnTo>
                <a:lnTo>
                  <a:pt x="0" y="0"/>
                </a:lnTo>
                <a:lnTo>
                  <a:pt x="15557498" y="0"/>
                </a:lnTo>
                <a:lnTo>
                  <a:pt x="15557498" y="20470"/>
                </a:lnTo>
                <a:close/>
              </a:path>
            </a:pathLst>
          </a:custGeom>
          <a:solidFill>
            <a:srgbClr val="E4E1D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50" dirty="0"/>
              <a:t>Avoiding</a:t>
            </a:r>
            <a:r>
              <a:rPr spc="-165" dirty="0"/>
              <a:t> </a:t>
            </a:r>
            <a:r>
              <a:rPr spc="-100" dirty="0"/>
              <a:t>double</a:t>
            </a:r>
            <a:r>
              <a:rPr spc="-160" dirty="0"/>
              <a:t> </a:t>
            </a:r>
            <a:r>
              <a:rPr spc="-80" dirty="0"/>
              <a:t>counting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81621" y="1166812"/>
            <a:ext cx="10194255" cy="6530054"/>
          </a:xfrm>
          <a:prstGeom prst="rect">
            <a:avLst/>
          </a:prstGeom>
        </p:spPr>
      </p:pic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6734691-E784-360C-92E5-2B4F5F46D1B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11</a:t>
            </a:fld>
            <a:endParaRPr lang="en-US" altLang="ko-K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234124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35" dirty="0"/>
              <a:t>Vet</a:t>
            </a:r>
            <a:r>
              <a:rPr spc="-265" dirty="0"/>
              <a:t> </a:t>
            </a:r>
            <a:r>
              <a:rPr spc="-190" dirty="0"/>
              <a:t>visits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716915"/>
          </a:xfrm>
          <a:custGeom>
            <a:avLst/>
            <a:gdLst/>
            <a:ahLst/>
            <a:cxnLst/>
            <a:rect l="l" t="t" r="r" b="b"/>
            <a:pathLst>
              <a:path w="14575155" h="716914">
                <a:moveTo>
                  <a:pt x="14498413" y="716463"/>
                </a:moveTo>
                <a:lnTo>
                  <a:pt x="76505" y="716463"/>
                </a:lnTo>
                <a:lnTo>
                  <a:pt x="71180" y="715939"/>
                </a:lnTo>
                <a:lnTo>
                  <a:pt x="31920" y="699677"/>
                </a:lnTo>
                <a:lnTo>
                  <a:pt x="4175" y="660949"/>
                </a:lnTo>
                <a:lnTo>
                  <a:pt x="0" y="639958"/>
                </a:lnTo>
                <a:lnTo>
                  <a:pt x="0" y="634582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639958"/>
                </a:lnTo>
                <a:lnTo>
                  <a:pt x="14558132" y="684543"/>
                </a:lnTo>
                <a:lnTo>
                  <a:pt x="14519404" y="712288"/>
                </a:lnTo>
                <a:lnTo>
                  <a:pt x="14503737" y="715939"/>
                </a:lnTo>
                <a:lnTo>
                  <a:pt x="14498413" y="716463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128920"/>
            <a:ext cx="14575155" cy="4585970"/>
          </a:xfrm>
          <a:custGeom>
            <a:avLst/>
            <a:gdLst/>
            <a:ahLst/>
            <a:cxnLst/>
            <a:rect l="l" t="t" r="r" b="b"/>
            <a:pathLst>
              <a:path w="14575155" h="4585970">
                <a:moveTo>
                  <a:pt x="14498413" y="4585367"/>
                </a:moveTo>
                <a:lnTo>
                  <a:pt x="76505" y="4585367"/>
                </a:lnTo>
                <a:lnTo>
                  <a:pt x="71180" y="4584843"/>
                </a:lnTo>
                <a:lnTo>
                  <a:pt x="31920" y="4568580"/>
                </a:lnTo>
                <a:lnTo>
                  <a:pt x="4175" y="4529852"/>
                </a:lnTo>
                <a:lnTo>
                  <a:pt x="0" y="4508862"/>
                </a:lnTo>
                <a:lnTo>
                  <a:pt x="0" y="4503486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4508862"/>
                </a:lnTo>
                <a:lnTo>
                  <a:pt x="14558132" y="4553446"/>
                </a:lnTo>
                <a:lnTo>
                  <a:pt x="14519404" y="4581191"/>
                </a:lnTo>
                <a:lnTo>
                  <a:pt x="14503737" y="4584843"/>
                </a:lnTo>
                <a:lnTo>
                  <a:pt x="14498413" y="4585367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2521" y="1352265"/>
            <a:ext cx="2596515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1950" spc="-10" dirty="0">
                <a:solidFill>
                  <a:srgbClr val="04182D"/>
                </a:solidFill>
                <a:latin typeface="Monaco"/>
                <a:cs typeface="Monaco"/>
              </a:rPr>
              <a:t>(vet_visits)</a:t>
            </a:r>
            <a:endParaRPr sz="1950">
              <a:latin typeface="Monaco"/>
              <a:cs typeface="Monac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03471" y="2334640"/>
          <a:ext cx="7172324" cy="417575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85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039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370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148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44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19075" algn="r">
                        <a:lnSpc>
                          <a:spcPts val="2315"/>
                        </a:lnSpc>
                      </a:pPr>
                      <a:r>
                        <a:rPr sz="19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date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94640" algn="r">
                        <a:lnSpc>
                          <a:spcPts val="2315"/>
                        </a:lnSpc>
                      </a:pPr>
                      <a:r>
                        <a:rPr sz="19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name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3510" algn="r">
                        <a:lnSpc>
                          <a:spcPts val="2315"/>
                        </a:lnSpc>
                      </a:pPr>
                      <a:r>
                        <a:rPr sz="19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breed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315"/>
                        </a:lnSpc>
                      </a:pPr>
                      <a:r>
                        <a:rPr sz="19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weight_kg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2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219075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2018-09-</a:t>
                      </a: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02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29464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Bella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Labrador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24.87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2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219075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2019-06-</a:t>
                      </a: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07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29464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Max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Labrador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28.35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2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219075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2018-01-</a:t>
                      </a: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17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29464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Stella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Chihuahua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1.51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2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3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219075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2019-10-</a:t>
                      </a: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19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29464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Lucy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</a:t>
                      </a:r>
                      <a:r>
                        <a:rPr sz="1950" spc="4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 </a:t>
                      </a:r>
                      <a:r>
                        <a:rPr sz="19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24.07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2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..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219075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...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29464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...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...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...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92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71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219075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2018-01-</a:t>
                      </a: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29464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Stella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Chihuahua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2.83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92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72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219075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2019-06-</a:t>
                      </a: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07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29464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Max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</a:t>
                      </a:r>
                      <a:r>
                        <a:rPr sz="1950" spc="4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 </a:t>
                      </a:r>
                      <a:r>
                        <a:rPr sz="19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24.01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292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73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219075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2018-08-</a:t>
                      </a: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29464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Lucy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</a:t>
                      </a:r>
                      <a:r>
                        <a:rPr sz="1950" spc="4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 </a:t>
                      </a:r>
                      <a:r>
                        <a:rPr sz="19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24.40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74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219075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2019-04-</a:t>
                      </a: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22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29464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Max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14351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Labrador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34"/>
                        </a:spcBef>
                      </a:pPr>
                      <a:r>
                        <a:rPr sz="19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28.54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55244" marB="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8F1D7E1F-9D59-804C-9326-AAE497BD3829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12</a:t>
            </a:fld>
            <a:endParaRPr lang="en-US" altLang="ko-K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6997700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95" dirty="0"/>
              <a:t>Dropping</a:t>
            </a:r>
            <a:r>
              <a:rPr spc="-195" dirty="0"/>
              <a:t> </a:t>
            </a:r>
            <a:r>
              <a:rPr spc="-35" dirty="0"/>
              <a:t>duplicate</a:t>
            </a:r>
            <a:r>
              <a:rPr spc="-195" dirty="0"/>
              <a:t> </a:t>
            </a:r>
            <a:r>
              <a:rPr spc="-25" dirty="0"/>
              <a:t>names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72"/>
            <a:ext cx="14575155" cy="4749165"/>
          </a:xfrm>
          <a:custGeom>
            <a:avLst/>
            <a:gdLst/>
            <a:ahLst/>
            <a:cxnLst/>
            <a:rect l="l" t="t" r="r" b="b"/>
            <a:pathLst>
              <a:path w="14575155" h="4749165">
                <a:moveTo>
                  <a:pt x="14498413" y="4749130"/>
                </a:moveTo>
                <a:lnTo>
                  <a:pt x="76505" y="4749130"/>
                </a:lnTo>
                <a:lnTo>
                  <a:pt x="71180" y="4748605"/>
                </a:lnTo>
                <a:lnTo>
                  <a:pt x="31920" y="4732343"/>
                </a:lnTo>
                <a:lnTo>
                  <a:pt x="4175" y="4693615"/>
                </a:lnTo>
                <a:lnTo>
                  <a:pt x="0" y="4672624"/>
                </a:lnTo>
                <a:lnTo>
                  <a:pt x="0" y="4667249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4672624"/>
                </a:lnTo>
                <a:lnTo>
                  <a:pt x="14558132" y="4717210"/>
                </a:lnTo>
                <a:lnTo>
                  <a:pt x="14519404" y="4744954"/>
                </a:lnTo>
                <a:lnTo>
                  <a:pt x="14503737" y="4748605"/>
                </a:lnTo>
                <a:lnTo>
                  <a:pt x="14498413" y="4749130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286"/>
            <a:ext cx="707517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vet_visits.drop_duplicates(subset=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"name"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42352" y="2296360"/>
            <a:ext cx="2433320" cy="444754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731645">
              <a:lnSpc>
                <a:spcPct val="100000"/>
              </a:lnSpc>
              <a:spcBef>
                <a:spcPts val="1265"/>
              </a:spcBef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date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700405" algn="l"/>
              </a:tabLst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0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2018-09-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02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  <a:tabLst>
                <a:tab pos="700405" algn="l"/>
              </a:tabLst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1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2019-06-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07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700405" algn="l"/>
              </a:tabLst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2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2019-03-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19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700405" algn="l"/>
              </a:tabLst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3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2018-01-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17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700405" algn="l"/>
              </a:tabLst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4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2019-10-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19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  <a:tabLst>
                <a:tab pos="700405" algn="l"/>
              </a:tabLst>
            </a:pPr>
            <a:r>
              <a:rPr sz="2250" spc="-50" dirty="0">
                <a:solidFill>
                  <a:srgbClr val="FFFFFF"/>
                </a:solidFill>
                <a:latin typeface="Monaco"/>
                <a:cs typeface="Monaco"/>
              </a:rPr>
              <a:t>7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2019-03-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30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700405" algn="l"/>
              </a:tabLst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10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2019-01-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04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  <a:tabLst>
                <a:tab pos="700405" algn="l"/>
              </a:tabLst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(6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	2019-06-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07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393561" y="2296360"/>
            <a:ext cx="1229360" cy="4447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235" marR="5080" indent="171450">
              <a:lnSpc>
                <a:spcPct val="143300"/>
              </a:lnSpc>
              <a:spcBef>
                <a:spcPts val="95"/>
              </a:spcBef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name 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Bella</a:t>
            </a:r>
            <a:endParaRPr sz="2250">
              <a:latin typeface="Monaco"/>
              <a:cs typeface="Monaco"/>
            </a:endParaRPr>
          </a:p>
          <a:p>
            <a:pPr marL="12700" marR="5080" indent="687705" algn="r">
              <a:lnSpc>
                <a:spcPct val="143300"/>
              </a:lnSpc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Max 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Charlie Stella</a:t>
            </a:r>
            <a:endParaRPr sz="2250">
              <a:latin typeface="Monaco"/>
              <a:cs typeface="Monaco"/>
            </a:endParaRPr>
          </a:p>
          <a:p>
            <a:pPr marL="184150" marR="5080" indent="343535" algn="just">
              <a:lnSpc>
                <a:spcPct val="143300"/>
              </a:lnSpc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Lucy 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Cooper Bernie</a:t>
            </a:r>
            <a:endParaRPr sz="2250">
              <a:latin typeface="Monaco"/>
              <a:cs typeface="Monaco"/>
            </a:endParaRPr>
          </a:p>
          <a:p>
            <a:pPr marL="700405">
              <a:lnSpc>
                <a:spcPct val="100000"/>
              </a:lnSpc>
              <a:spcBef>
                <a:spcPts val="1170"/>
              </a:spcBef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Max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941116" y="2296360"/>
            <a:ext cx="1917064" cy="44475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6235" marR="5080" indent="687705" algn="r">
              <a:lnSpc>
                <a:spcPct val="143300"/>
              </a:lnSpc>
              <a:spcBef>
                <a:spcPts val="95"/>
              </a:spcBef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breed Labrador 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Chow </a:t>
            </a: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Chow</a:t>
            </a:r>
            <a:endParaRPr sz="2250">
              <a:latin typeface="Monaco"/>
              <a:cs typeface="Monaco"/>
            </a:endParaRPr>
          </a:p>
          <a:p>
            <a:pPr marL="12700" marR="5080" indent="859155" algn="r">
              <a:lnSpc>
                <a:spcPct val="143300"/>
              </a:lnSpc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Poodle Chihuahua 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Chow </a:t>
            </a: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Chow 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Schnauzer </a:t>
            </a: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St. 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Bernard Labrador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176473" y="2296360"/>
            <a:ext cx="1744980" cy="444754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R="176530" algn="r">
              <a:lnSpc>
                <a:spcPct val="100000"/>
              </a:lnSpc>
              <a:spcBef>
                <a:spcPts val="1265"/>
              </a:spcBef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weight_kg</a:t>
            </a:r>
            <a:endParaRPr sz="2250">
              <a:latin typeface="Monaco"/>
              <a:cs typeface="Monaco"/>
            </a:endParaRPr>
          </a:p>
          <a:p>
            <a:pPr marR="176530" algn="r">
              <a:lnSpc>
                <a:spcPct val="100000"/>
              </a:lnSpc>
              <a:spcBef>
                <a:spcPts val="1170"/>
              </a:spcBef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24.87</a:t>
            </a:r>
            <a:endParaRPr sz="2250">
              <a:latin typeface="Monaco"/>
              <a:cs typeface="Monaco"/>
            </a:endParaRPr>
          </a:p>
          <a:p>
            <a:pPr marR="176530" algn="r">
              <a:lnSpc>
                <a:spcPct val="100000"/>
              </a:lnSpc>
              <a:spcBef>
                <a:spcPts val="1165"/>
              </a:spcBef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24.01</a:t>
            </a:r>
            <a:endParaRPr sz="2250">
              <a:latin typeface="Monaco"/>
              <a:cs typeface="Monaco"/>
            </a:endParaRPr>
          </a:p>
          <a:p>
            <a:pPr marR="176530" algn="r">
              <a:lnSpc>
                <a:spcPct val="100000"/>
              </a:lnSpc>
              <a:spcBef>
                <a:spcPts val="1170"/>
              </a:spcBef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24.95</a:t>
            </a:r>
            <a:endParaRPr sz="2250">
              <a:latin typeface="Monaco"/>
              <a:cs typeface="Monaco"/>
            </a:endParaRPr>
          </a:p>
          <a:p>
            <a:pPr marR="176530" algn="r">
              <a:lnSpc>
                <a:spcPct val="100000"/>
              </a:lnSpc>
              <a:spcBef>
                <a:spcPts val="1170"/>
              </a:spcBef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1.51</a:t>
            </a:r>
            <a:endParaRPr sz="2250">
              <a:latin typeface="Monaco"/>
              <a:cs typeface="Monaco"/>
            </a:endParaRPr>
          </a:p>
          <a:p>
            <a:pPr marR="176530" algn="r">
              <a:lnSpc>
                <a:spcPct val="100000"/>
              </a:lnSpc>
              <a:spcBef>
                <a:spcPts val="1170"/>
              </a:spcBef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24.07</a:t>
            </a:r>
            <a:endParaRPr sz="2250">
              <a:latin typeface="Monaco"/>
              <a:cs typeface="Monaco"/>
            </a:endParaRPr>
          </a:p>
          <a:p>
            <a:pPr marR="176530" algn="r">
              <a:lnSpc>
                <a:spcPct val="100000"/>
              </a:lnSpc>
              <a:spcBef>
                <a:spcPts val="1165"/>
              </a:spcBef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16.91</a:t>
            </a:r>
            <a:endParaRPr sz="2250">
              <a:latin typeface="Monaco"/>
              <a:cs typeface="Monaco"/>
            </a:endParaRPr>
          </a:p>
          <a:p>
            <a:pPr marR="176530" algn="r">
              <a:lnSpc>
                <a:spcPct val="100000"/>
              </a:lnSpc>
              <a:spcBef>
                <a:spcPts val="1170"/>
              </a:spcBef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74.98</a:t>
            </a:r>
            <a:endParaRPr sz="2250">
              <a:latin typeface="Monaco"/>
              <a:cs typeface="Monaco"/>
            </a:endParaRPr>
          </a:p>
          <a:p>
            <a:pPr marL="700405">
              <a:lnSpc>
                <a:spcPct val="100000"/>
              </a:lnSpc>
              <a:spcBef>
                <a:spcPts val="1170"/>
              </a:spcBef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28.35)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A64E1945-DF84-4218-759C-8814F2D2B13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13</a:t>
            </a:fld>
            <a:endParaRPr lang="en-US" altLang="ko-K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6537959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95" dirty="0"/>
              <a:t>Dropping</a:t>
            </a:r>
            <a:r>
              <a:rPr spc="-195" dirty="0"/>
              <a:t> </a:t>
            </a:r>
            <a:r>
              <a:rPr spc="-35" dirty="0"/>
              <a:t>duplicate</a:t>
            </a:r>
            <a:r>
              <a:rPr spc="-195" dirty="0"/>
              <a:t> </a:t>
            </a:r>
            <a:r>
              <a:rPr spc="-50" dirty="0"/>
              <a:t>pairs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1207770"/>
          </a:xfrm>
          <a:custGeom>
            <a:avLst/>
            <a:gdLst/>
            <a:ahLst/>
            <a:cxnLst/>
            <a:rect l="l" t="t" r="r" b="b"/>
            <a:pathLst>
              <a:path w="14575155" h="1207770">
                <a:moveTo>
                  <a:pt x="14498413" y="1207752"/>
                </a:moveTo>
                <a:lnTo>
                  <a:pt x="76505" y="1207752"/>
                </a:lnTo>
                <a:lnTo>
                  <a:pt x="71180" y="1207228"/>
                </a:lnTo>
                <a:lnTo>
                  <a:pt x="31920" y="1190966"/>
                </a:lnTo>
                <a:lnTo>
                  <a:pt x="4175" y="1152238"/>
                </a:lnTo>
                <a:lnTo>
                  <a:pt x="0" y="1131247"/>
                </a:lnTo>
                <a:lnTo>
                  <a:pt x="0" y="1125871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1131247"/>
                </a:lnTo>
                <a:lnTo>
                  <a:pt x="14558132" y="1175832"/>
                </a:lnTo>
                <a:lnTo>
                  <a:pt x="14519404" y="1203577"/>
                </a:lnTo>
                <a:lnTo>
                  <a:pt x="14503737" y="1207228"/>
                </a:lnTo>
                <a:lnTo>
                  <a:pt x="14498413" y="1207752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620210"/>
            <a:ext cx="14575155" cy="4360545"/>
          </a:xfrm>
          <a:custGeom>
            <a:avLst/>
            <a:gdLst/>
            <a:ahLst/>
            <a:cxnLst/>
            <a:rect l="l" t="t" r="r" b="b"/>
            <a:pathLst>
              <a:path w="14575155" h="4360545">
                <a:moveTo>
                  <a:pt x="14498413" y="4360192"/>
                </a:moveTo>
                <a:lnTo>
                  <a:pt x="76505" y="4360192"/>
                </a:lnTo>
                <a:lnTo>
                  <a:pt x="71180" y="4359668"/>
                </a:lnTo>
                <a:lnTo>
                  <a:pt x="31920" y="4343406"/>
                </a:lnTo>
                <a:lnTo>
                  <a:pt x="4175" y="4304678"/>
                </a:lnTo>
                <a:lnTo>
                  <a:pt x="0" y="4283687"/>
                </a:lnTo>
                <a:lnTo>
                  <a:pt x="0" y="4278312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4283687"/>
                </a:lnTo>
                <a:lnTo>
                  <a:pt x="14558132" y="4328272"/>
                </a:lnTo>
                <a:lnTo>
                  <a:pt x="14519404" y="4356016"/>
                </a:lnTo>
                <a:lnTo>
                  <a:pt x="14503737" y="4359668"/>
                </a:lnTo>
                <a:lnTo>
                  <a:pt x="14498413" y="4360192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34036" y="1229033"/>
            <a:ext cx="10803890" cy="9264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37400"/>
              </a:lnSpc>
              <a:spcBef>
                <a:spcPts val="100"/>
              </a:spcBef>
            </a:pP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unique_dogs</a:t>
            </a:r>
            <a:r>
              <a:rPr sz="2150" spc="-4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=</a:t>
            </a:r>
            <a:r>
              <a:rPr sz="2150" spc="-4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150" spc="-20" dirty="0">
                <a:solidFill>
                  <a:srgbClr val="04182D"/>
                </a:solidFill>
                <a:latin typeface="Monaco"/>
                <a:cs typeface="Monaco"/>
              </a:rPr>
              <a:t>vet_visits.drop_duplicates(subset=[</a:t>
            </a:r>
            <a:r>
              <a:rPr sz="2150" spc="-20" dirty="0">
                <a:solidFill>
                  <a:srgbClr val="BE2F72"/>
                </a:solidFill>
                <a:latin typeface="Monaco"/>
                <a:cs typeface="Monaco"/>
              </a:rPr>
              <a:t>"name"</a:t>
            </a:r>
            <a:r>
              <a:rPr sz="2150" spc="-2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150" spc="-5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BE2F72"/>
                </a:solidFill>
                <a:latin typeface="Monaco"/>
                <a:cs typeface="Monaco"/>
              </a:rPr>
              <a:t>"breed"</a:t>
            </a: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]) </a:t>
            </a:r>
            <a:r>
              <a:rPr sz="2150" spc="-10" dirty="0">
                <a:solidFill>
                  <a:srgbClr val="008600"/>
                </a:solidFill>
                <a:latin typeface="Monaco"/>
                <a:cs typeface="Monaco"/>
              </a:rPr>
              <a:t>print</a:t>
            </a: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(unique_dogs)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4036" y="2682431"/>
            <a:ext cx="2312035" cy="4078604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1645285">
              <a:lnSpc>
                <a:spcPct val="100000"/>
              </a:lnSpc>
              <a:spcBef>
                <a:spcPts val="1065"/>
              </a:spcBef>
            </a:pPr>
            <a:r>
              <a:rPr sz="2150" spc="-20" dirty="0">
                <a:solidFill>
                  <a:srgbClr val="FFFFFF"/>
                </a:solidFill>
                <a:latin typeface="Monaco"/>
                <a:cs typeface="Monaco"/>
              </a:rPr>
              <a:t>date</a:t>
            </a:r>
            <a:endParaRPr sz="21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  <a:tabLst>
                <a:tab pos="665480" algn="l"/>
              </a:tabLst>
            </a:pPr>
            <a:r>
              <a:rPr sz="2150" spc="-50" dirty="0">
                <a:solidFill>
                  <a:srgbClr val="FFFFFF"/>
                </a:solidFill>
                <a:latin typeface="Monaco"/>
                <a:cs typeface="Monaco"/>
              </a:rPr>
              <a:t>0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2018-09-02</a:t>
            </a:r>
            <a:endParaRPr sz="21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970"/>
              </a:spcBef>
              <a:tabLst>
                <a:tab pos="665480" algn="l"/>
              </a:tabLst>
            </a:pPr>
            <a:r>
              <a:rPr sz="2150" spc="-50" dirty="0">
                <a:solidFill>
                  <a:srgbClr val="FFFFFF"/>
                </a:solidFill>
                <a:latin typeface="Monaco"/>
                <a:cs typeface="Monaco"/>
              </a:rPr>
              <a:t>1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2019-03-13</a:t>
            </a:r>
            <a:endParaRPr sz="21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  <a:tabLst>
                <a:tab pos="665480" algn="l"/>
              </a:tabLst>
            </a:pPr>
            <a:r>
              <a:rPr sz="2150" spc="-50" dirty="0">
                <a:solidFill>
                  <a:srgbClr val="FFFFFF"/>
                </a:solidFill>
                <a:latin typeface="Monaco"/>
                <a:cs typeface="Monaco"/>
              </a:rPr>
              <a:t>2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2019-03-19</a:t>
            </a:r>
            <a:endParaRPr sz="21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  <a:tabLst>
                <a:tab pos="665480" algn="l"/>
              </a:tabLst>
            </a:pPr>
            <a:r>
              <a:rPr sz="2150" spc="-50" dirty="0">
                <a:solidFill>
                  <a:srgbClr val="FFFFFF"/>
                </a:solidFill>
                <a:latin typeface="Monaco"/>
                <a:cs typeface="Monaco"/>
              </a:rPr>
              <a:t>3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2018-01-17</a:t>
            </a:r>
            <a:endParaRPr sz="21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  <a:tabLst>
                <a:tab pos="665480" algn="l"/>
              </a:tabLst>
            </a:pPr>
            <a:r>
              <a:rPr sz="2150" spc="-50" dirty="0">
                <a:solidFill>
                  <a:srgbClr val="FFFFFF"/>
                </a:solidFill>
                <a:latin typeface="Monaco"/>
                <a:cs typeface="Monaco"/>
              </a:rPr>
              <a:t>4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2019-10-19</a:t>
            </a:r>
            <a:endParaRPr sz="21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  <a:tabLst>
                <a:tab pos="665480" algn="l"/>
              </a:tabLst>
            </a:pPr>
            <a:r>
              <a:rPr sz="2150" spc="-50" dirty="0">
                <a:solidFill>
                  <a:srgbClr val="FFFFFF"/>
                </a:solidFill>
                <a:latin typeface="Monaco"/>
                <a:cs typeface="Monaco"/>
              </a:rPr>
              <a:t>6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2019-06-07</a:t>
            </a:r>
            <a:endParaRPr sz="21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970"/>
              </a:spcBef>
              <a:tabLst>
                <a:tab pos="665480" algn="l"/>
              </a:tabLst>
            </a:pPr>
            <a:r>
              <a:rPr sz="2150" spc="-50" dirty="0">
                <a:solidFill>
                  <a:srgbClr val="FFFFFF"/>
                </a:solidFill>
                <a:latin typeface="Monaco"/>
                <a:cs typeface="Monaco"/>
              </a:rPr>
              <a:t>7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2019-03-30</a:t>
            </a:r>
            <a:endParaRPr sz="21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965"/>
              </a:spcBef>
              <a:tabLst>
                <a:tab pos="665480" algn="l"/>
              </a:tabLst>
            </a:pP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10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	</a:t>
            </a: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2019-01-04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247075" y="2682431"/>
            <a:ext cx="1169035" cy="40786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9090" marR="5080" indent="163195" algn="r">
              <a:lnSpc>
                <a:spcPct val="137400"/>
              </a:lnSpc>
              <a:spcBef>
                <a:spcPts val="100"/>
              </a:spcBef>
            </a:pPr>
            <a:r>
              <a:rPr sz="2150" spc="-20" dirty="0">
                <a:solidFill>
                  <a:srgbClr val="FFFFFF"/>
                </a:solidFill>
                <a:latin typeface="Monaco"/>
                <a:cs typeface="Monaco"/>
              </a:rPr>
              <a:t>name </a:t>
            </a: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Bella</a:t>
            </a:r>
            <a:endParaRPr sz="2150">
              <a:latin typeface="Monaco"/>
              <a:cs typeface="Monaco"/>
            </a:endParaRPr>
          </a:p>
          <a:p>
            <a:pPr marL="12700" marR="5080" indent="652780" algn="just">
              <a:lnSpc>
                <a:spcPct val="137400"/>
              </a:lnSpc>
            </a:pP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Max </a:t>
            </a: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Charlie Stella</a:t>
            </a:r>
            <a:endParaRPr sz="2150">
              <a:latin typeface="Monaco"/>
              <a:cs typeface="Monaco"/>
            </a:endParaRPr>
          </a:p>
          <a:p>
            <a:pPr marL="175895" marR="5080" indent="326390" algn="r">
              <a:lnSpc>
                <a:spcPct val="137400"/>
              </a:lnSpc>
              <a:spcBef>
                <a:spcPts val="5"/>
              </a:spcBef>
            </a:pPr>
            <a:r>
              <a:rPr sz="2150" spc="-20" dirty="0">
                <a:solidFill>
                  <a:srgbClr val="FFFFFF"/>
                </a:solidFill>
                <a:latin typeface="Monaco"/>
                <a:cs typeface="Monaco"/>
              </a:rPr>
              <a:t>Lucy </a:t>
            </a: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Max </a:t>
            </a: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Cooper Bernie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716909" y="2682431"/>
            <a:ext cx="1822450" cy="407860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39090" marR="5080" indent="652780" algn="just">
              <a:lnSpc>
                <a:spcPct val="137400"/>
              </a:lnSpc>
              <a:spcBef>
                <a:spcPts val="100"/>
              </a:spcBef>
            </a:pP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breed Labrador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Chow</a:t>
            </a:r>
            <a:r>
              <a:rPr sz="2150" spc="-7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spc="-20" dirty="0">
                <a:solidFill>
                  <a:srgbClr val="FFFFFF"/>
                </a:solidFill>
                <a:latin typeface="Monaco"/>
                <a:cs typeface="Monaco"/>
              </a:rPr>
              <a:t>Chow</a:t>
            </a:r>
            <a:endParaRPr sz="2150">
              <a:latin typeface="Monaco"/>
              <a:cs typeface="Monaco"/>
            </a:endParaRPr>
          </a:p>
          <a:p>
            <a:pPr marL="12700" marR="5080" indent="815975" algn="r">
              <a:lnSpc>
                <a:spcPct val="137400"/>
              </a:lnSpc>
            </a:pP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Poodle Chihuahua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Chow</a:t>
            </a:r>
            <a:r>
              <a:rPr sz="2150" spc="-7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spc="-20" dirty="0">
                <a:solidFill>
                  <a:srgbClr val="FFFFFF"/>
                </a:solidFill>
                <a:latin typeface="Monaco"/>
                <a:cs typeface="Monaco"/>
              </a:rPr>
              <a:t>Chow </a:t>
            </a: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Labrador Schnauzer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St.</a:t>
            </a:r>
            <a:r>
              <a:rPr sz="2150" spc="-5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Bernard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840001" y="2682431"/>
            <a:ext cx="1495425" cy="4078604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R="5080" algn="r">
              <a:lnSpc>
                <a:spcPct val="100000"/>
              </a:lnSpc>
              <a:spcBef>
                <a:spcPts val="1065"/>
              </a:spcBef>
            </a:pP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weight_kg</a:t>
            </a:r>
            <a:endParaRPr sz="2150">
              <a:latin typeface="Monaco"/>
              <a:cs typeface="Monaco"/>
            </a:endParaRPr>
          </a:p>
          <a:p>
            <a:pPr marR="5080" algn="r">
              <a:lnSpc>
                <a:spcPct val="100000"/>
              </a:lnSpc>
              <a:spcBef>
                <a:spcPts val="965"/>
              </a:spcBef>
            </a:pP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24.87</a:t>
            </a:r>
            <a:endParaRPr sz="2150">
              <a:latin typeface="Monaco"/>
              <a:cs typeface="Monaco"/>
            </a:endParaRPr>
          </a:p>
          <a:p>
            <a:pPr marR="5080" algn="r">
              <a:lnSpc>
                <a:spcPct val="100000"/>
              </a:lnSpc>
              <a:spcBef>
                <a:spcPts val="970"/>
              </a:spcBef>
            </a:pP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24.13</a:t>
            </a:r>
            <a:endParaRPr sz="2150">
              <a:latin typeface="Monaco"/>
              <a:cs typeface="Monaco"/>
            </a:endParaRPr>
          </a:p>
          <a:p>
            <a:pPr marR="5080" algn="r">
              <a:lnSpc>
                <a:spcPct val="100000"/>
              </a:lnSpc>
              <a:spcBef>
                <a:spcPts val="965"/>
              </a:spcBef>
            </a:pP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24.95</a:t>
            </a:r>
            <a:endParaRPr sz="2150">
              <a:latin typeface="Monaco"/>
              <a:cs typeface="Monaco"/>
            </a:endParaRPr>
          </a:p>
          <a:p>
            <a:pPr marR="5080" algn="r">
              <a:lnSpc>
                <a:spcPct val="100000"/>
              </a:lnSpc>
              <a:spcBef>
                <a:spcPts val="965"/>
              </a:spcBef>
            </a:pPr>
            <a:r>
              <a:rPr sz="2150" spc="-20" dirty="0">
                <a:solidFill>
                  <a:srgbClr val="FFFFFF"/>
                </a:solidFill>
                <a:latin typeface="Monaco"/>
                <a:cs typeface="Monaco"/>
              </a:rPr>
              <a:t>1.51</a:t>
            </a:r>
            <a:endParaRPr sz="2150">
              <a:latin typeface="Monaco"/>
              <a:cs typeface="Monaco"/>
            </a:endParaRPr>
          </a:p>
          <a:p>
            <a:pPr marR="5080" algn="r">
              <a:lnSpc>
                <a:spcPct val="100000"/>
              </a:lnSpc>
              <a:spcBef>
                <a:spcPts val="965"/>
              </a:spcBef>
            </a:pP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24.07</a:t>
            </a:r>
            <a:endParaRPr sz="2150">
              <a:latin typeface="Monaco"/>
              <a:cs typeface="Monaco"/>
            </a:endParaRPr>
          </a:p>
          <a:p>
            <a:pPr marR="5080" algn="r">
              <a:lnSpc>
                <a:spcPct val="100000"/>
              </a:lnSpc>
              <a:spcBef>
                <a:spcPts val="965"/>
              </a:spcBef>
            </a:pP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28.35</a:t>
            </a:r>
            <a:endParaRPr sz="2150">
              <a:latin typeface="Monaco"/>
              <a:cs typeface="Monaco"/>
            </a:endParaRPr>
          </a:p>
          <a:p>
            <a:pPr marR="5080" algn="r">
              <a:lnSpc>
                <a:spcPct val="100000"/>
              </a:lnSpc>
              <a:spcBef>
                <a:spcPts val="970"/>
              </a:spcBef>
            </a:pP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16.91</a:t>
            </a:r>
            <a:endParaRPr sz="2150">
              <a:latin typeface="Monaco"/>
              <a:cs typeface="Monaco"/>
            </a:endParaRPr>
          </a:p>
          <a:p>
            <a:pPr marR="5080" algn="r">
              <a:lnSpc>
                <a:spcPct val="100000"/>
              </a:lnSpc>
              <a:spcBef>
                <a:spcPts val="965"/>
              </a:spcBef>
            </a:pP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74.98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068134AA-9C0B-F793-2D4B-92B3321C31FE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14</a:t>
            </a:fld>
            <a:endParaRPr lang="en-US" altLang="ko-K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25" dirty="0"/>
              <a:t>Easy</a:t>
            </a:r>
            <a:r>
              <a:rPr spc="-190" dirty="0"/>
              <a:t> </a:t>
            </a:r>
            <a:r>
              <a:rPr spc="-20" dirty="0"/>
              <a:t>as</a:t>
            </a:r>
            <a:r>
              <a:rPr spc="-290" dirty="0"/>
              <a:t> </a:t>
            </a:r>
            <a:r>
              <a:rPr spc="-475" dirty="0"/>
              <a:t>1,</a:t>
            </a:r>
            <a:r>
              <a:rPr spc="-95" dirty="0"/>
              <a:t> </a:t>
            </a:r>
            <a:r>
              <a:rPr dirty="0"/>
              <a:t>2,</a:t>
            </a:r>
            <a:r>
              <a:rPr spc="-260" dirty="0"/>
              <a:t> </a:t>
            </a:r>
            <a:r>
              <a:rPr spc="-50" dirty="0"/>
              <a:t>3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7124065" cy="716915"/>
          </a:xfrm>
          <a:custGeom>
            <a:avLst/>
            <a:gdLst/>
            <a:ahLst/>
            <a:cxnLst/>
            <a:rect l="l" t="t" r="r" b="b"/>
            <a:pathLst>
              <a:path w="7124065" h="716914">
                <a:moveTo>
                  <a:pt x="7047191" y="716463"/>
                </a:moveTo>
                <a:lnTo>
                  <a:pt x="76505" y="716463"/>
                </a:lnTo>
                <a:lnTo>
                  <a:pt x="71180" y="715939"/>
                </a:lnTo>
                <a:lnTo>
                  <a:pt x="31920" y="699677"/>
                </a:lnTo>
                <a:lnTo>
                  <a:pt x="4175" y="660949"/>
                </a:lnTo>
                <a:lnTo>
                  <a:pt x="0" y="639958"/>
                </a:lnTo>
                <a:lnTo>
                  <a:pt x="0" y="634582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7047191" y="0"/>
                </a:lnTo>
                <a:lnTo>
                  <a:pt x="7091775" y="16786"/>
                </a:lnTo>
                <a:lnTo>
                  <a:pt x="7119520" y="55513"/>
                </a:lnTo>
                <a:lnTo>
                  <a:pt x="7123696" y="76505"/>
                </a:lnTo>
                <a:lnTo>
                  <a:pt x="7123696" y="639958"/>
                </a:lnTo>
                <a:lnTo>
                  <a:pt x="7106908" y="684543"/>
                </a:lnTo>
                <a:lnTo>
                  <a:pt x="7068182" y="712288"/>
                </a:lnTo>
                <a:lnTo>
                  <a:pt x="7052515" y="715939"/>
                </a:lnTo>
                <a:lnTo>
                  <a:pt x="7047191" y="716463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128920"/>
            <a:ext cx="7124065" cy="3316604"/>
          </a:xfrm>
          <a:custGeom>
            <a:avLst/>
            <a:gdLst/>
            <a:ahLst/>
            <a:cxnLst/>
            <a:rect l="l" t="t" r="r" b="b"/>
            <a:pathLst>
              <a:path w="7124065" h="3316604">
                <a:moveTo>
                  <a:pt x="7047191" y="3316202"/>
                </a:moveTo>
                <a:lnTo>
                  <a:pt x="76505" y="3316202"/>
                </a:lnTo>
                <a:lnTo>
                  <a:pt x="71180" y="3315678"/>
                </a:lnTo>
                <a:lnTo>
                  <a:pt x="31920" y="3299416"/>
                </a:lnTo>
                <a:lnTo>
                  <a:pt x="4175" y="3260689"/>
                </a:lnTo>
                <a:lnTo>
                  <a:pt x="0" y="3239698"/>
                </a:lnTo>
                <a:lnTo>
                  <a:pt x="0" y="3234321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7047191" y="0"/>
                </a:lnTo>
                <a:lnTo>
                  <a:pt x="7091775" y="16786"/>
                </a:lnTo>
                <a:lnTo>
                  <a:pt x="7119520" y="55513"/>
                </a:lnTo>
                <a:lnTo>
                  <a:pt x="7123696" y="76505"/>
                </a:lnTo>
                <a:lnTo>
                  <a:pt x="7123696" y="3239698"/>
                </a:lnTo>
                <a:lnTo>
                  <a:pt x="7106908" y="3284282"/>
                </a:lnTo>
                <a:lnTo>
                  <a:pt x="7068182" y="3312027"/>
                </a:lnTo>
                <a:lnTo>
                  <a:pt x="7052515" y="3315678"/>
                </a:lnTo>
                <a:lnTo>
                  <a:pt x="7047191" y="3316202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25720" y="1346533"/>
            <a:ext cx="543941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10" dirty="0">
                <a:solidFill>
                  <a:srgbClr val="04182D"/>
                </a:solidFill>
                <a:latin typeface="Monaco"/>
                <a:cs typeface="Monaco"/>
              </a:rPr>
              <a:t>unique_dogs[</a:t>
            </a:r>
            <a:r>
              <a:rPr sz="2000" spc="-10" dirty="0">
                <a:solidFill>
                  <a:srgbClr val="BE2F72"/>
                </a:solidFill>
                <a:latin typeface="Monaco"/>
                <a:cs typeface="Monaco"/>
              </a:rPr>
              <a:t>"breed"</a:t>
            </a:r>
            <a:r>
              <a:rPr sz="2000" spc="-10" dirty="0">
                <a:solidFill>
                  <a:srgbClr val="04182D"/>
                </a:solidFill>
                <a:latin typeface="Monaco"/>
                <a:cs typeface="Monaco"/>
              </a:rPr>
              <a:t>].value_counts()</a:t>
            </a:r>
            <a:endParaRPr sz="2000">
              <a:latin typeface="Monaco"/>
              <a:cs typeface="Monaco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942512" y="1166812"/>
            <a:ext cx="7124065" cy="716915"/>
          </a:xfrm>
          <a:custGeom>
            <a:avLst/>
            <a:gdLst/>
            <a:ahLst/>
            <a:cxnLst/>
            <a:rect l="l" t="t" r="r" b="b"/>
            <a:pathLst>
              <a:path w="7124065" h="716914">
                <a:moveTo>
                  <a:pt x="7047191" y="716463"/>
                </a:moveTo>
                <a:lnTo>
                  <a:pt x="76504" y="716463"/>
                </a:lnTo>
                <a:lnTo>
                  <a:pt x="71179" y="715939"/>
                </a:lnTo>
                <a:lnTo>
                  <a:pt x="31919" y="699677"/>
                </a:lnTo>
                <a:lnTo>
                  <a:pt x="4174" y="660949"/>
                </a:lnTo>
                <a:lnTo>
                  <a:pt x="0" y="639958"/>
                </a:lnTo>
                <a:lnTo>
                  <a:pt x="0" y="634582"/>
                </a:lnTo>
                <a:lnTo>
                  <a:pt x="0" y="76505"/>
                </a:lnTo>
                <a:lnTo>
                  <a:pt x="16785" y="31920"/>
                </a:lnTo>
                <a:lnTo>
                  <a:pt x="55512" y="4175"/>
                </a:lnTo>
                <a:lnTo>
                  <a:pt x="76504" y="0"/>
                </a:lnTo>
                <a:lnTo>
                  <a:pt x="7047191" y="0"/>
                </a:lnTo>
                <a:lnTo>
                  <a:pt x="7091775" y="16786"/>
                </a:lnTo>
                <a:lnTo>
                  <a:pt x="7119519" y="55513"/>
                </a:lnTo>
                <a:lnTo>
                  <a:pt x="7123695" y="76505"/>
                </a:lnTo>
                <a:lnTo>
                  <a:pt x="7123695" y="639958"/>
                </a:lnTo>
                <a:lnTo>
                  <a:pt x="7106909" y="684543"/>
                </a:lnTo>
                <a:lnTo>
                  <a:pt x="7068181" y="712288"/>
                </a:lnTo>
                <a:lnTo>
                  <a:pt x="7052515" y="715939"/>
                </a:lnTo>
                <a:lnTo>
                  <a:pt x="7047191" y="716463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7942512" y="2128920"/>
            <a:ext cx="7124065" cy="3316604"/>
          </a:xfrm>
          <a:custGeom>
            <a:avLst/>
            <a:gdLst/>
            <a:ahLst/>
            <a:cxnLst/>
            <a:rect l="l" t="t" r="r" b="b"/>
            <a:pathLst>
              <a:path w="7124065" h="3316604">
                <a:moveTo>
                  <a:pt x="7047191" y="3316202"/>
                </a:moveTo>
                <a:lnTo>
                  <a:pt x="76504" y="3316202"/>
                </a:lnTo>
                <a:lnTo>
                  <a:pt x="71179" y="3315678"/>
                </a:lnTo>
                <a:lnTo>
                  <a:pt x="31919" y="3299416"/>
                </a:lnTo>
                <a:lnTo>
                  <a:pt x="4174" y="3260689"/>
                </a:lnTo>
                <a:lnTo>
                  <a:pt x="0" y="3239698"/>
                </a:lnTo>
                <a:lnTo>
                  <a:pt x="0" y="3234321"/>
                </a:lnTo>
                <a:lnTo>
                  <a:pt x="0" y="76505"/>
                </a:lnTo>
                <a:lnTo>
                  <a:pt x="16785" y="31920"/>
                </a:lnTo>
                <a:lnTo>
                  <a:pt x="55512" y="4175"/>
                </a:lnTo>
                <a:lnTo>
                  <a:pt x="76504" y="0"/>
                </a:lnTo>
                <a:lnTo>
                  <a:pt x="7047191" y="0"/>
                </a:lnTo>
                <a:lnTo>
                  <a:pt x="7091775" y="16786"/>
                </a:lnTo>
                <a:lnTo>
                  <a:pt x="7119519" y="55513"/>
                </a:lnTo>
                <a:lnTo>
                  <a:pt x="7123695" y="76505"/>
                </a:lnTo>
                <a:lnTo>
                  <a:pt x="7123695" y="3239698"/>
                </a:lnTo>
                <a:lnTo>
                  <a:pt x="7106909" y="3284282"/>
                </a:lnTo>
                <a:lnTo>
                  <a:pt x="7068181" y="3312027"/>
                </a:lnTo>
                <a:lnTo>
                  <a:pt x="7052515" y="3315678"/>
                </a:lnTo>
                <a:lnTo>
                  <a:pt x="7047191" y="3316202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graphicFrame>
        <p:nvGraphicFramePr>
          <p:cNvPr id="8" name="object 8"/>
          <p:cNvGraphicFramePr>
            <a:graphicFrameLocks noGrp="1"/>
          </p:cNvGraphicFramePr>
          <p:nvPr/>
        </p:nvGraphicFramePr>
        <p:xfrm>
          <a:off x="606670" y="2349550"/>
          <a:ext cx="11381740" cy="289559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9653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4287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7255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26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826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74650">
                <a:tc>
                  <a:txBody>
                    <a:bodyPr/>
                    <a:lstStyle/>
                    <a:p>
                      <a:pPr marL="31750">
                        <a:lnSpc>
                          <a:spcPts val="2370"/>
                        </a:lnSpc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Labrador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685" algn="ctr">
                        <a:lnSpc>
                          <a:spcPts val="2370"/>
                        </a:lnSpc>
                      </a:pPr>
                      <a:r>
                        <a:rPr sz="200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1970">
                        <a:lnSpc>
                          <a:spcPts val="2370"/>
                        </a:lnSpc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Labrador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6685" algn="ctr">
                        <a:lnSpc>
                          <a:spcPts val="2370"/>
                        </a:lnSpc>
                      </a:pPr>
                      <a:r>
                        <a:rPr sz="200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92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Schnauzer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19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</a:t>
                      </a:r>
                      <a:r>
                        <a:rPr sz="2000" spc="4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 </a:t>
                      </a:r>
                      <a:r>
                        <a:rPr sz="200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92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St.</a:t>
                      </a:r>
                      <a:r>
                        <a:rPr sz="2000" spc="4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 </a:t>
                      </a: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Bernard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19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Schnauzer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292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</a:t>
                      </a:r>
                      <a:r>
                        <a:rPr sz="2000" spc="4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 </a:t>
                      </a:r>
                      <a:r>
                        <a:rPr sz="200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19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St.</a:t>
                      </a:r>
                      <a:r>
                        <a:rPr sz="2000" spc="4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 </a:t>
                      </a: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Bernard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292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Poodle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19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Poodle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925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Chihuahua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919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Chihuahua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R="146685" algn="ctr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465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Name:</a:t>
                      </a:r>
                      <a:r>
                        <a:rPr sz="2000" spc="5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 </a:t>
                      </a: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breed,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dtype: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int64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L="1791970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Name:</a:t>
                      </a:r>
                      <a:r>
                        <a:rPr sz="2000" spc="5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 </a:t>
                      </a: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breed,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dtype: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tc>
                  <a:txBody>
                    <a:bodyPr/>
                    <a:lstStyle/>
                    <a:p>
                      <a:pPr marL="76835">
                        <a:lnSpc>
                          <a:spcPct val="100000"/>
                        </a:lnSpc>
                        <a:spcBef>
                          <a:spcPts val="400"/>
                        </a:spcBef>
                      </a:pPr>
                      <a:r>
                        <a:rPr sz="200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int64</a:t>
                      </a:r>
                      <a:endParaRPr sz="2000">
                        <a:latin typeface="Monaco"/>
                        <a:cs typeface="Monaco"/>
                      </a:endParaRPr>
                    </a:p>
                  </a:txBody>
                  <a:tcPr marL="0" marR="0" marT="5080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9" name="object 9"/>
          <p:cNvSpPr txBox="1"/>
          <p:nvPr/>
        </p:nvSpPr>
        <p:spPr>
          <a:xfrm>
            <a:off x="8076943" y="1346533"/>
            <a:ext cx="6831330" cy="3352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000" spc="-10" dirty="0">
                <a:solidFill>
                  <a:srgbClr val="04182D"/>
                </a:solidFill>
                <a:latin typeface="Monaco"/>
                <a:cs typeface="Monaco"/>
              </a:rPr>
              <a:t>unique_dogs[</a:t>
            </a:r>
            <a:r>
              <a:rPr sz="2000" spc="-10" dirty="0">
                <a:solidFill>
                  <a:srgbClr val="BE2F72"/>
                </a:solidFill>
                <a:latin typeface="Monaco"/>
                <a:cs typeface="Monaco"/>
              </a:rPr>
              <a:t>"breed"</a:t>
            </a:r>
            <a:r>
              <a:rPr sz="2000" spc="-10" dirty="0">
                <a:solidFill>
                  <a:srgbClr val="04182D"/>
                </a:solidFill>
                <a:latin typeface="Monaco"/>
                <a:cs typeface="Monaco"/>
              </a:rPr>
              <a:t>].value_counts(sort=</a:t>
            </a:r>
            <a:r>
              <a:rPr sz="2000" spc="-10" dirty="0">
                <a:solidFill>
                  <a:srgbClr val="BE2F72"/>
                </a:solidFill>
                <a:latin typeface="Monaco"/>
                <a:cs typeface="Monaco"/>
              </a:rPr>
              <a:t>True</a:t>
            </a:r>
            <a:r>
              <a:rPr sz="2000" spc="-10" dirty="0">
                <a:solidFill>
                  <a:srgbClr val="04182D"/>
                </a:solidFill>
                <a:latin typeface="Monaco"/>
                <a:cs typeface="Monaco"/>
              </a:rPr>
              <a:t>)</a:t>
            </a:r>
            <a:endParaRPr sz="2000">
              <a:latin typeface="Monaco"/>
              <a:cs typeface="Monaco"/>
            </a:endParaRPr>
          </a:p>
        </p:txBody>
      </p:sp>
      <p:sp>
        <p:nvSpPr>
          <p:cNvPr id="13" name="슬라이드 번호 개체 틀 12">
            <a:extLst>
              <a:ext uri="{FF2B5EF4-FFF2-40B4-BE49-F238E27FC236}">
                <a16:creationId xmlns:a16="http://schemas.microsoft.com/office/drawing/2014/main" id="{1AC98918-3913-EF48-59D3-E55B0FD8356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15</a:t>
            </a:fld>
            <a:endParaRPr lang="en-US" altLang="ko-KR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60" dirty="0"/>
              <a:t>Proportions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00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61"/>
            <a:ext cx="14575155" cy="3766820"/>
          </a:xfrm>
          <a:custGeom>
            <a:avLst/>
            <a:gdLst/>
            <a:ahLst/>
            <a:cxnLst/>
            <a:rect l="l" t="t" r="r" b="b"/>
            <a:pathLst>
              <a:path w="14575155" h="3766820">
                <a:moveTo>
                  <a:pt x="14498413" y="3766551"/>
                </a:moveTo>
                <a:lnTo>
                  <a:pt x="76505" y="3766551"/>
                </a:lnTo>
                <a:lnTo>
                  <a:pt x="71180" y="3766026"/>
                </a:lnTo>
                <a:lnTo>
                  <a:pt x="31920" y="3749764"/>
                </a:lnTo>
                <a:lnTo>
                  <a:pt x="4175" y="3711036"/>
                </a:lnTo>
                <a:lnTo>
                  <a:pt x="0" y="3690046"/>
                </a:lnTo>
                <a:lnTo>
                  <a:pt x="0" y="3684670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3690046"/>
                </a:lnTo>
                <a:lnTo>
                  <a:pt x="14558132" y="3734630"/>
                </a:lnTo>
                <a:lnTo>
                  <a:pt x="14519404" y="3762375"/>
                </a:lnTo>
                <a:lnTo>
                  <a:pt x="14503737" y="3766026"/>
                </a:lnTo>
                <a:lnTo>
                  <a:pt x="14498413" y="3766551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274"/>
            <a:ext cx="845058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unique_dogs[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"breed"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].value_counts(normalize=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True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)</a:t>
            </a:r>
            <a:endParaRPr sz="2250">
              <a:latin typeface="Monaco"/>
              <a:cs typeface="Monac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3302" y="2465032"/>
          <a:ext cx="3502025" cy="280923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266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35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2909">
                <a:tc>
                  <a:txBody>
                    <a:bodyPr/>
                    <a:lstStyle/>
                    <a:p>
                      <a:pPr marL="31750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Labrador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0.250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 </a:t>
                      </a: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0.250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Schnauzer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0.125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St. 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Bernard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0.125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Poodle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0.125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Chihuahua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0.125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object 7"/>
          <p:cNvSpPr txBox="1"/>
          <p:nvPr/>
        </p:nvSpPr>
        <p:spPr>
          <a:xfrm>
            <a:off x="642352" y="5391471"/>
            <a:ext cx="466852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FFFFFF"/>
                </a:solidFill>
                <a:latin typeface="Monaco"/>
                <a:cs typeface="Monaco"/>
              </a:rPr>
              <a:t>Name: breed, dtype: 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float64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2C15399E-1CED-9FB3-884F-CA944580CD2F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16</a:t>
            </a:fld>
            <a:endParaRPr lang="en-US" altLang="ko-KR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275847" y="2157149"/>
            <a:ext cx="7026275" cy="2334895"/>
          </a:xfrm>
          <a:prstGeom prst="rect">
            <a:avLst/>
          </a:prstGeom>
        </p:spPr>
        <p:txBody>
          <a:bodyPr vert="horz" wrap="square" lIns="0" tIns="143510" rIns="0" bIns="0" rtlCol="0">
            <a:spAutoFit/>
          </a:bodyPr>
          <a:lstStyle/>
          <a:p>
            <a:pPr marL="12700" marR="5080" algn="ctr">
              <a:lnSpc>
                <a:spcPts val="6770"/>
              </a:lnSpc>
              <a:spcBef>
                <a:spcPts val="1130"/>
              </a:spcBef>
            </a:pPr>
            <a:r>
              <a:rPr sz="6450" spc="-190" dirty="0"/>
              <a:t>Grouped</a:t>
            </a:r>
            <a:r>
              <a:rPr sz="6450" spc="-240" dirty="0"/>
              <a:t> </a:t>
            </a:r>
            <a:r>
              <a:rPr sz="6450" spc="-105" dirty="0"/>
              <a:t>summary </a:t>
            </a:r>
            <a:r>
              <a:rPr sz="6450" spc="-140" dirty="0"/>
              <a:t>statistics</a:t>
            </a:r>
            <a:endParaRPr sz="6450"/>
          </a:p>
          <a:p>
            <a:pPr marR="53340" algn="ctr">
              <a:lnSpc>
                <a:spcPct val="100000"/>
              </a:lnSpc>
              <a:spcBef>
                <a:spcPts val="910"/>
              </a:spcBef>
              <a:tabLst>
                <a:tab pos="1024890" algn="l"/>
                <a:tab pos="3806825" algn="l"/>
                <a:tab pos="4827270" algn="l"/>
              </a:tabLst>
            </a:pPr>
            <a:r>
              <a:rPr sz="2250" spc="100" dirty="0"/>
              <a:t>DATA</a:t>
            </a:r>
            <a:r>
              <a:rPr sz="2250" dirty="0"/>
              <a:t>	</a:t>
            </a:r>
            <a:r>
              <a:rPr sz="2250" spc="204" dirty="0"/>
              <a:t>M</a:t>
            </a:r>
            <a:r>
              <a:rPr sz="2250" spc="-300" dirty="0"/>
              <a:t> </a:t>
            </a:r>
            <a:r>
              <a:rPr sz="2250" spc="-25" dirty="0"/>
              <a:t>A</a:t>
            </a:r>
            <a:r>
              <a:rPr sz="2250" spc="-295" dirty="0"/>
              <a:t> </a:t>
            </a:r>
            <a:r>
              <a:rPr sz="2250" spc="65" dirty="0"/>
              <a:t>N</a:t>
            </a:r>
            <a:r>
              <a:rPr sz="2250" spc="-295" dirty="0"/>
              <a:t> </a:t>
            </a:r>
            <a:r>
              <a:rPr sz="2250" spc="-10" dirty="0"/>
              <a:t>I</a:t>
            </a:r>
            <a:r>
              <a:rPr sz="2250" spc="-295" dirty="0"/>
              <a:t> </a:t>
            </a:r>
            <a:r>
              <a:rPr sz="2250" spc="-120" dirty="0"/>
              <a:t>P</a:t>
            </a:r>
            <a:r>
              <a:rPr sz="2250" spc="-300" dirty="0"/>
              <a:t> </a:t>
            </a:r>
            <a:r>
              <a:rPr sz="2250" spc="-90" dirty="0"/>
              <a:t>U</a:t>
            </a:r>
            <a:r>
              <a:rPr sz="2250" spc="-295" dirty="0"/>
              <a:t> </a:t>
            </a:r>
            <a:r>
              <a:rPr sz="2250" spc="-185" dirty="0"/>
              <a:t>L</a:t>
            </a:r>
            <a:r>
              <a:rPr sz="2250" spc="-295" dirty="0"/>
              <a:t> </a:t>
            </a:r>
            <a:r>
              <a:rPr sz="2250" dirty="0"/>
              <a:t>AT</a:t>
            </a:r>
            <a:r>
              <a:rPr sz="2250" spc="-295" dirty="0"/>
              <a:t> </a:t>
            </a:r>
            <a:r>
              <a:rPr sz="2250" spc="-10" dirty="0"/>
              <a:t>I</a:t>
            </a:r>
            <a:r>
              <a:rPr sz="2250" spc="-300" dirty="0"/>
              <a:t> </a:t>
            </a:r>
            <a:r>
              <a:rPr sz="2250" spc="70" dirty="0"/>
              <a:t>O</a:t>
            </a:r>
            <a:r>
              <a:rPr sz="2250" spc="-295" dirty="0"/>
              <a:t> </a:t>
            </a:r>
            <a:r>
              <a:rPr sz="2250" spc="15" dirty="0"/>
              <a:t>N</a:t>
            </a:r>
            <a:r>
              <a:rPr sz="2250" dirty="0"/>
              <a:t>	W</a:t>
            </a:r>
            <a:r>
              <a:rPr sz="2250" spc="-295" dirty="0"/>
              <a:t> </a:t>
            </a:r>
            <a:r>
              <a:rPr sz="2250" spc="-10" dirty="0"/>
              <a:t>I</a:t>
            </a:r>
            <a:r>
              <a:rPr sz="2250" spc="-295" dirty="0"/>
              <a:t> </a:t>
            </a:r>
            <a:r>
              <a:rPr sz="2250" spc="-90" dirty="0"/>
              <a:t>T</a:t>
            </a:r>
            <a:r>
              <a:rPr sz="2250" spc="-295" dirty="0"/>
              <a:t> </a:t>
            </a:r>
            <a:r>
              <a:rPr sz="2250" spc="-50" dirty="0"/>
              <a:t>H</a:t>
            </a:r>
            <a:r>
              <a:rPr sz="2250" dirty="0"/>
              <a:t>	PA</a:t>
            </a:r>
            <a:r>
              <a:rPr sz="2250" spc="-295" dirty="0"/>
              <a:t> </a:t>
            </a:r>
            <a:r>
              <a:rPr sz="2250" spc="65" dirty="0"/>
              <a:t>N</a:t>
            </a:r>
            <a:r>
              <a:rPr sz="2250" spc="-295" dirty="0"/>
              <a:t> </a:t>
            </a:r>
            <a:r>
              <a:rPr sz="2250" spc="135" dirty="0"/>
              <a:t>DA</a:t>
            </a:r>
            <a:r>
              <a:rPr sz="2250" spc="-320" dirty="0"/>
              <a:t> </a:t>
            </a:r>
            <a:r>
              <a:rPr sz="2250" spc="-50" dirty="0"/>
              <a:t>S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22"/>
            <a:ext cx="5398770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spc="75" dirty="0">
                <a:solidFill>
                  <a:srgbClr val="FFFFFF"/>
                </a:solidFill>
                <a:latin typeface="Arial"/>
                <a:cs typeface="Arial"/>
              </a:rPr>
              <a:t>Maggie</a:t>
            </a:r>
            <a:r>
              <a:rPr sz="255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Matsui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Senior</a:t>
            </a:r>
            <a:r>
              <a:rPr sz="22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8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  <a:r>
              <a:rPr sz="225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50" dirty="0">
                <a:solidFill>
                  <a:srgbClr val="FFFFFF"/>
                </a:solidFill>
                <a:latin typeface="Arial"/>
                <a:cs typeface="Arial"/>
              </a:rPr>
              <a:t>Developer</a:t>
            </a:r>
            <a:r>
              <a:rPr sz="225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165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225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100" dirty="0">
                <a:solidFill>
                  <a:srgbClr val="FFFFFF"/>
                </a:solidFill>
                <a:latin typeface="Arial"/>
                <a:cs typeface="Arial"/>
              </a:rPr>
              <a:t>DataCamp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DD76988F-D024-A74E-3205-D82706EA3890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17</a:t>
            </a:fld>
            <a:endParaRPr lang="en-US" altLang="ko-K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78589" y="273885"/>
            <a:ext cx="5502275" cy="71374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40" dirty="0"/>
              <a:t>Summaries</a:t>
            </a:r>
            <a:r>
              <a:rPr spc="-80" dirty="0"/>
              <a:t> </a:t>
            </a:r>
            <a:r>
              <a:rPr dirty="0"/>
              <a:t>by</a:t>
            </a:r>
            <a:r>
              <a:rPr spc="-75" dirty="0"/>
              <a:t> </a:t>
            </a:r>
            <a:r>
              <a:rPr spc="-40" dirty="0"/>
              <a:t>group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2784475"/>
          </a:xfrm>
          <a:custGeom>
            <a:avLst/>
            <a:gdLst/>
            <a:ahLst/>
            <a:cxnLst/>
            <a:rect l="l" t="t" r="r" b="b"/>
            <a:pathLst>
              <a:path w="14575155" h="2784475">
                <a:moveTo>
                  <a:pt x="14498413" y="2783973"/>
                </a:moveTo>
                <a:lnTo>
                  <a:pt x="76505" y="2783973"/>
                </a:lnTo>
                <a:lnTo>
                  <a:pt x="71180" y="2783448"/>
                </a:lnTo>
                <a:lnTo>
                  <a:pt x="31920" y="2767186"/>
                </a:lnTo>
                <a:lnTo>
                  <a:pt x="4175" y="2728459"/>
                </a:lnTo>
                <a:lnTo>
                  <a:pt x="0" y="2707467"/>
                </a:lnTo>
                <a:lnTo>
                  <a:pt x="0" y="2702091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2707467"/>
                </a:lnTo>
                <a:lnTo>
                  <a:pt x="14558132" y="2752052"/>
                </a:lnTo>
                <a:lnTo>
                  <a:pt x="14519404" y="2779797"/>
                </a:lnTo>
                <a:lnTo>
                  <a:pt x="14503737" y="2783448"/>
                </a:lnTo>
                <a:lnTo>
                  <a:pt x="14498413" y="2783973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4196430"/>
            <a:ext cx="14575155" cy="2784475"/>
          </a:xfrm>
          <a:custGeom>
            <a:avLst/>
            <a:gdLst/>
            <a:ahLst/>
            <a:cxnLst/>
            <a:rect l="l" t="t" r="r" b="b"/>
            <a:pathLst>
              <a:path w="14575155" h="2784475">
                <a:moveTo>
                  <a:pt x="14498413" y="2783972"/>
                </a:moveTo>
                <a:lnTo>
                  <a:pt x="76505" y="2783972"/>
                </a:lnTo>
                <a:lnTo>
                  <a:pt x="71180" y="2783447"/>
                </a:lnTo>
                <a:lnTo>
                  <a:pt x="31920" y="2767186"/>
                </a:lnTo>
                <a:lnTo>
                  <a:pt x="4175" y="2728458"/>
                </a:lnTo>
                <a:lnTo>
                  <a:pt x="0" y="2707467"/>
                </a:lnTo>
                <a:lnTo>
                  <a:pt x="0" y="2702091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4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2707467"/>
                </a:lnTo>
                <a:lnTo>
                  <a:pt x="14558132" y="2752052"/>
                </a:lnTo>
                <a:lnTo>
                  <a:pt x="14519404" y="2779796"/>
                </a:lnTo>
                <a:lnTo>
                  <a:pt x="14503737" y="2783447"/>
                </a:lnTo>
                <a:lnTo>
                  <a:pt x="14498413" y="2783972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231899"/>
            <a:ext cx="8622030" cy="551180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dogs[dogs[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"color"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r>
              <a:rPr sz="2250" spc="-1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==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"Black"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][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"weight_kg"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].mean()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dogs[dogs[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"color"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r>
              <a:rPr sz="2250" spc="-1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==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"Brown"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][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"weight_kg"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].mean()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dogs[dogs[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"color"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r>
              <a:rPr sz="2250" spc="-1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==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"White"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][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"weight_kg"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].mean()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dogs[dogs[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"color"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r>
              <a:rPr sz="2250" spc="-1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==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"Gray"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][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"weight_kg"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].mean()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dogs[dogs[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"color"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]</a:t>
            </a:r>
            <a:r>
              <a:rPr sz="2250" spc="-1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==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"Tan"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][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"weight_kg"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].mean()</a:t>
            </a:r>
            <a:endParaRPr sz="2250">
              <a:latin typeface="Monaco"/>
              <a:cs typeface="Monaco"/>
            </a:endParaRPr>
          </a:p>
          <a:p>
            <a:pPr>
              <a:lnSpc>
                <a:spcPct val="100000"/>
              </a:lnSpc>
              <a:spcBef>
                <a:spcPts val="2680"/>
              </a:spcBef>
            </a:pP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26.0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24.0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74.0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17.0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2.0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D6353EFC-2377-A97C-DDC3-ECA22207B4C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18</a:t>
            </a:fld>
            <a:endParaRPr lang="en-US" altLang="ko-K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70" dirty="0"/>
              <a:t>Grouped</a:t>
            </a:r>
            <a:r>
              <a:rPr spc="-245" dirty="0"/>
              <a:t> </a:t>
            </a:r>
            <a:r>
              <a:rPr spc="-105" dirty="0"/>
              <a:t>summaries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72"/>
            <a:ext cx="14575155" cy="3766820"/>
          </a:xfrm>
          <a:custGeom>
            <a:avLst/>
            <a:gdLst/>
            <a:ahLst/>
            <a:cxnLst/>
            <a:rect l="l" t="t" r="r" b="b"/>
            <a:pathLst>
              <a:path w="14575155" h="3766820">
                <a:moveTo>
                  <a:pt x="14498413" y="3766551"/>
                </a:moveTo>
                <a:lnTo>
                  <a:pt x="76505" y="3766551"/>
                </a:lnTo>
                <a:lnTo>
                  <a:pt x="71180" y="3766026"/>
                </a:lnTo>
                <a:lnTo>
                  <a:pt x="31920" y="3749764"/>
                </a:lnTo>
                <a:lnTo>
                  <a:pt x="4175" y="3711036"/>
                </a:lnTo>
                <a:lnTo>
                  <a:pt x="0" y="3690046"/>
                </a:lnTo>
                <a:lnTo>
                  <a:pt x="0" y="3684670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3690046"/>
                </a:lnTo>
                <a:lnTo>
                  <a:pt x="14558132" y="3734630"/>
                </a:lnTo>
                <a:lnTo>
                  <a:pt x="14519404" y="3762375"/>
                </a:lnTo>
                <a:lnTo>
                  <a:pt x="14503737" y="3766026"/>
                </a:lnTo>
                <a:lnTo>
                  <a:pt x="14498413" y="3766551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286"/>
            <a:ext cx="707517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dogs.groupby(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"color"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)[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"weight_kg"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].mean()</a:t>
            </a:r>
            <a:endParaRPr sz="2250">
              <a:latin typeface="Monaco"/>
              <a:cs typeface="Monac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3302" y="2465044"/>
          <a:ext cx="5392420" cy="330009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7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10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3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22909">
                <a:tc>
                  <a:txBody>
                    <a:bodyPr/>
                    <a:lstStyle/>
                    <a:p>
                      <a:pPr marL="31750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color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2"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 rowSpan="2"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Black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60134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26.5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 gridSpan="2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Brown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60134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24.0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Gray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60134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17.0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Tan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77343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2.0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White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60134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74.0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Name: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weight_kg,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dtype: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float64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B63ED6AA-3DBF-2C43-1C53-FC96FB31A48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19</a:t>
            </a:fld>
            <a:endParaRPr lang="en-US" altLang="ko-K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Multiple</a:t>
            </a:r>
            <a:r>
              <a:rPr spc="-225" dirty="0"/>
              <a:t> </a:t>
            </a:r>
            <a:r>
              <a:rPr spc="-70" dirty="0"/>
              <a:t>grouped</a:t>
            </a:r>
            <a:r>
              <a:rPr spc="-225" dirty="0"/>
              <a:t> </a:t>
            </a:r>
            <a:r>
              <a:rPr spc="-95" dirty="0"/>
              <a:t>summaries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72"/>
            <a:ext cx="14575155" cy="3766820"/>
          </a:xfrm>
          <a:custGeom>
            <a:avLst/>
            <a:gdLst/>
            <a:ahLst/>
            <a:cxnLst/>
            <a:rect l="l" t="t" r="r" b="b"/>
            <a:pathLst>
              <a:path w="14575155" h="3766820">
                <a:moveTo>
                  <a:pt x="14498413" y="3766551"/>
                </a:moveTo>
                <a:lnTo>
                  <a:pt x="76505" y="3766551"/>
                </a:lnTo>
                <a:lnTo>
                  <a:pt x="71180" y="3766026"/>
                </a:lnTo>
                <a:lnTo>
                  <a:pt x="31920" y="3749764"/>
                </a:lnTo>
                <a:lnTo>
                  <a:pt x="4175" y="3711036"/>
                </a:lnTo>
                <a:lnTo>
                  <a:pt x="0" y="3690046"/>
                </a:lnTo>
                <a:lnTo>
                  <a:pt x="0" y="3684670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3690046"/>
                </a:lnTo>
                <a:lnTo>
                  <a:pt x="14558132" y="3734630"/>
                </a:lnTo>
                <a:lnTo>
                  <a:pt x="14519404" y="3762375"/>
                </a:lnTo>
                <a:lnTo>
                  <a:pt x="14503737" y="3766026"/>
                </a:lnTo>
                <a:lnTo>
                  <a:pt x="14498413" y="3766551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286"/>
            <a:ext cx="948118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dogs.groupby(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"color"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)[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"weight_kg"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].agg([</a:t>
            </a:r>
            <a:r>
              <a:rPr sz="2250" dirty="0">
                <a:solidFill>
                  <a:srgbClr val="008600"/>
                </a:solidFill>
                <a:latin typeface="Monaco"/>
                <a:cs typeface="Monaco"/>
              </a:rPr>
              <a:t>min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250" spc="-2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08600"/>
                </a:solidFill>
                <a:latin typeface="Monaco"/>
                <a:cs typeface="Monaco"/>
              </a:rPr>
              <a:t>max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250" spc="-1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spc="-10" dirty="0">
                <a:solidFill>
                  <a:srgbClr val="008600"/>
                </a:solidFill>
                <a:latin typeface="Monaco"/>
                <a:cs typeface="Monaco"/>
              </a:rPr>
              <a:t>sum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])</a:t>
            </a:r>
            <a:endParaRPr sz="2250">
              <a:latin typeface="Monaco"/>
              <a:cs typeface="Monac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3302" y="2465044"/>
          <a:ext cx="3502657" cy="33007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97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5978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945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color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15494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min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max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40"/>
                        </a:lnSpc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sum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Black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53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Brown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48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Gray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17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17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17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Tan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White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D5A57170-E75E-301D-4CCA-2E8E4F183F53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20</a:t>
            </a:fld>
            <a:endParaRPr lang="en-US" altLang="ko-K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20" dirty="0"/>
              <a:t>Grouping</a:t>
            </a:r>
            <a:r>
              <a:rPr spc="-155" dirty="0"/>
              <a:t> </a:t>
            </a:r>
            <a:r>
              <a:rPr dirty="0"/>
              <a:t>by</a:t>
            </a:r>
            <a:r>
              <a:rPr spc="-145" dirty="0"/>
              <a:t> </a:t>
            </a:r>
            <a:r>
              <a:rPr spc="-60" dirty="0"/>
              <a:t>multiple</a:t>
            </a:r>
            <a:r>
              <a:rPr spc="-145" dirty="0"/>
              <a:t> </a:t>
            </a:r>
            <a:r>
              <a:rPr spc="-45" dirty="0"/>
              <a:t>variables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777875"/>
          </a:xfrm>
          <a:custGeom>
            <a:avLst/>
            <a:gdLst/>
            <a:ahLst/>
            <a:cxnLst/>
            <a:rect l="l" t="t" r="r" b="b"/>
            <a:pathLst>
              <a:path w="14575155" h="777875">
                <a:moveTo>
                  <a:pt x="14498413" y="777874"/>
                </a:moveTo>
                <a:lnTo>
                  <a:pt x="76505" y="777874"/>
                </a:lnTo>
                <a:lnTo>
                  <a:pt x="71180" y="777350"/>
                </a:lnTo>
                <a:lnTo>
                  <a:pt x="31920" y="761088"/>
                </a:lnTo>
                <a:lnTo>
                  <a:pt x="4175" y="722360"/>
                </a:lnTo>
                <a:lnTo>
                  <a:pt x="0" y="701369"/>
                </a:lnTo>
                <a:lnTo>
                  <a:pt x="0" y="695993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01369"/>
                </a:lnTo>
                <a:lnTo>
                  <a:pt x="14558132" y="745954"/>
                </a:lnTo>
                <a:lnTo>
                  <a:pt x="14519404" y="773699"/>
                </a:lnTo>
                <a:lnTo>
                  <a:pt x="14503737" y="777350"/>
                </a:lnTo>
                <a:lnTo>
                  <a:pt x="14498413" y="777874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190332"/>
            <a:ext cx="14575155" cy="5036185"/>
          </a:xfrm>
          <a:custGeom>
            <a:avLst/>
            <a:gdLst/>
            <a:ahLst/>
            <a:cxnLst/>
            <a:rect l="l" t="t" r="r" b="b"/>
            <a:pathLst>
              <a:path w="14575155" h="5036184">
                <a:moveTo>
                  <a:pt x="14498413" y="5035715"/>
                </a:moveTo>
                <a:lnTo>
                  <a:pt x="76505" y="5035715"/>
                </a:lnTo>
                <a:lnTo>
                  <a:pt x="71180" y="5035191"/>
                </a:lnTo>
                <a:lnTo>
                  <a:pt x="31920" y="5018929"/>
                </a:lnTo>
                <a:lnTo>
                  <a:pt x="4175" y="4980202"/>
                </a:lnTo>
                <a:lnTo>
                  <a:pt x="0" y="4959211"/>
                </a:lnTo>
                <a:lnTo>
                  <a:pt x="0" y="49538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4959211"/>
                </a:lnTo>
                <a:lnTo>
                  <a:pt x="14558132" y="5003795"/>
                </a:lnTo>
                <a:lnTo>
                  <a:pt x="14519404" y="5031540"/>
                </a:lnTo>
                <a:lnTo>
                  <a:pt x="14503737" y="5035191"/>
                </a:lnTo>
                <a:lnTo>
                  <a:pt x="14498413" y="5035715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35635" y="1370279"/>
            <a:ext cx="8608060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dogs.groupby([</a:t>
            </a:r>
            <a:r>
              <a:rPr sz="2150" dirty="0">
                <a:solidFill>
                  <a:srgbClr val="BE2F72"/>
                </a:solidFill>
                <a:latin typeface="Monaco"/>
                <a:cs typeface="Monaco"/>
              </a:rPr>
              <a:t>"color"</a:t>
            </a:r>
            <a:r>
              <a:rPr sz="21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150" spc="-11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BE2F72"/>
                </a:solidFill>
                <a:latin typeface="Monaco"/>
                <a:cs typeface="Monaco"/>
              </a:rPr>
              <a:t>"breed"</a:t>
            </a: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])[</a:t>
            </a:r>
            <a:r>
              <a:rPr sz="2150" spc="-10" dirty="0">
                <a:solidFill>
                  <a:srgbClr val="BE2F72"/>
                </a:solidFill>
                <a:latin typeface="Monaco"/>
                <a:cs typeface="Monaco"/>
              </a:rPr>
              <a:t>"weight_kg"</a:t>
            </a: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].mean()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5635" y="2253126"/>
            <a:ext cx="850900" cy="9671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700"/>
              </a:lnSpc>
              <a:spcBef>
                <a:spcPts val="95"/>
              </a:spcBef>
            </a:pP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color Black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5635" y="4277075"/>
            <a:ext cx="850900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Brown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5635" y="5078041"/>
            <a:ext cx="850900" cy="1438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700"/>
              </a:lnSpc>
              <a:spcBef>
                <a:spcPts val="95"/>
              </a:spcBef>
            </a:pPr>
            <a:r>
              <a:rPr sz="2150" spc="-20" dirty="0">
                <a:solidFill>
                  <a:srgbClr val="FFFFFF"/>
                </a:solidFill>
                <a:latin typeface="Monaco"/>
                <a:cs typeface="Monaco"/>
              </a:rPr>
              <a:t>Gray </a:t>
            </a: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Tan </a:t>
            </a: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White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790933" y="2253126"/>
            <a:ext cx="1841500" cy="426339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334645">
              <a:lnSpc>
                <a:spcPct val="143700"/>
              </a:lnSpc>
              <a:spcBef>
                <a:spcPts val="95"/>
              </a:spcBef>
            </a:pP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breed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Chow</a:t>
            </a:r>
            <a:r>
              <a:rPr sz="2150" spc="-20" dirty="0">
                <a:solidFill>
                  <a:srgbClr val="FFFFFF"/>
                </a:solidFill>
                <a:latin typeface="Monaco"/>
                <a:cs typeface="Monaco"/>
              </a:rPr>
              <a:t> Chow </a:t>
            </a: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Labrador Poodle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Chow</a:t>
            </a:r>
            <a:r>
              <a:rPr sz="2150" spc="-20" dirty="0">
                <a:solidFill>
                  <a:srgbClr val="FFFFFF"/>
                </a:solidFill>
                <a:latin typeface="Monaco"/>
                <a:cs typeface="Monaco"/>
              </a:rPr>
              <a:t> Chow </a:t>
            </a: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Labrador Schnauzer Chihuahua</a:t>
            </a:r>
            <a:endParaRPr sz="21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St.</a:t>
            </a:r>
            <a:r>
              <a:rPr sz="2150" spc="-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Bernard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266571" y="2723945"/>
            <a:ext cx="355600" cy="379222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25</a:t>
            </a:r>
            <a:endParaRPr sz="21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29</a:t>
            </a:r>
            <a:endParaRPr sz="21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24</a:t>
            </a:r>
            <a:endParaRPr sz="21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24</a:t>
            </a:r>
            <a:endParaRPr sz="21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24</a:t>
            </a:r>
            <a:endParaRPr sz="21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17</a:t>
            </a:r>
            <a:endParaRPr sz="2150">
              <a:latin typeface="Monaco"/>
              <a:cs typeface="Monaco"/>
            </a:endParaRPr>
          </a:p>
          <a:p>
            <a:pPr marL="177165">
              <a:lnSpc>
                <a:spcPct val="100000"/>
              </a:lnSpc>
              <a:spcBef>
                <a:spcPts val="1125"/>
              </a:spcBef>
            </a:pPr>
            <a:r>
              <a:rPr sz="2150" spc="-50" dirty="0">
                <a:solidFill>
                  <a:srgbClr val="FFFFFF"/>
                </a:solidFill>
                <a:latin typeface="Monaco"/>
                <a:cs typeface="Monaco"/>
              </a:rPr>
              <a:t>2</a:t>
            </a:r>
            <a:endParaRPr sz="21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74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35635" y="6631170"/>
            <a:ext cx="4812030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Name:</a:t>
            </a: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weight_kg,</a:t>
            </a: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dtype:</a:t>
            </a: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int64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15" name="슬라이드 번호 개체 틀 14">
            <a:extLst>
              <a:ext uri="{FF2B5EF4-FFF2-40B4-BE49-F238E27FC236}">
                <a16:creationId xmlns:a16="http://schemas.microsoft.com/office/drawing/2014/main" id="{FC924E32-69AE-79C8-66E5-1B1080C2D115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21</a:t>
            </a:fld>
            <a:endParaRPr lang="en-US" altLang="ko-K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100" dirty="0"/>
              <a:t>Many</a:t>
            </a:r>
            <a:r>
              <a:rPr spc="-80" dirty="0"/>
              <a:t> </a:t>
            </a:r>
            <a:r>
              <a:rPr spc="-160" dirty="0"/>
              <a:t>groups,</a:t>
            </a:r>
            <a:r>
              <a:rPr spc="-80" dirty="0"/>
              <a:t> </a:t>
            </a:r>
            <a:r>
              <a:rPr dirty="0"/>
              <a:t>many</a:t>
            </a:r>
            <a:r>
              <a:rPr spc="-75" dirty="0"/>
              <a:t> </a:t>
            </a:r>
            <a:r>
              <a:rPr spc="-90" dirty="0"/>
              <a:t>summaries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36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96"/>
            <a:ext cx="14575155" cy="4749165"/>
          </a:xfrm>
          <a:custGeom>
            <a:avLst/>
            <a:gdLst/>
            <a:ahLst/>
            <a:cxnLst/>
            <a:rect l="l" t="t" r="r" b="b"/>
            <a:pathLst>
              <a:path w="14575155" h="4749165">
                <a:moveTo>
                  <a:pt x="14498413" y="4749130"/>
                </a:moveTo>
                <a:lnTo>
                  <a:pt x="76505" y="4749130"/>
                </a:lnTo>
                <a:lnTo>
                  <a:pt x="71180" y="4748605"/>
                </a:lnTo>
                <a:lnTo>
                  <a:pt x="31920" y="4732343"/>
                </a:lnTo>
                <a:lnTo>
                  <a:pt x="4175" y="4693615"/>
                </a:lnTo>
                <a:lnTo>
                  <a:pt x="0" y="4672624"/>
                </a:lnTo>
                <a:lnTo>
                  <a:pt x="0" y="4667249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4672624"/>
                </a:lnTo>
                <a:lnTo>
                  <a:pt x="14558132" y="4717210"/>
                </a:lnTo>
                <a:lnTo>
                  <a:pt x="14519404" y="4744954"/>
                </a:lnTo>
                <a:lnTo>
                  <a:pt x="14503737" y="4748605"/>
                </a:lnTo>
                <a:lnTo>
                  <a:pt x="14498413" y="4749130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310"/>
            <a:ext cx="1154557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dogs.groupby([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"color"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250" spc="-1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"breed"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])[[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"weight_kg"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"height_cm"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]].mean()</a:t>
            </a:r>
            <a:endParaRPr sz="2250">
              <a:latin typeface="Monaco"/>
              <a:cs typeface="Monac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3302" y="2465068"/>
          <a:ext cx="6769733" cy="428243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7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9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9166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513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color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15494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1220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L="85725">
                        <a:lnSpc>
                          <a:spcPct val="10000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breed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15494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weight_kg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height_cm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Black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Labrador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Poodle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43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Brown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 </a:t>
                      </a: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Labrador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56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Gray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Schnauzer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17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49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Tan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Chihuahua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18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White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L="85725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St. </a:t>
                      </a: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Bernard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77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DBCFD992-B1DF-67DD-37AD-237B87D73266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22</a:t>
            </a:fld>
            <a:endParaRPr lang="en-US" altLang="ko-K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4655828" y="2236119"/>
            <a:ext cx="6205220" cy="1825625"/>
          </a:xfrm>
          <a:prstGeom prst="rect">
            <a:avLst/>
          </a:prstGeom>
        </p:spPr>
        <p:txBody>
          <a:bodyPr vert="horz" wrap="square" lIns="0" tIns="363220" rIns="0" bIns="0" rtlCol="0">
            <a:spAutoFit/>
          </a:bodyPr>
          <a:lstStyle/>
          <a:p>
            <a:pPr marL="61594" algn="ctr">
              <a:lnSpc>
                <a:spcPct val="100000"/>
              </a:lnSpc>
              <a:spcBef>
                <a:spcPts val="2860"/>
              </a:spcBef>
            </a:pPr>
            <a:r>
              <a:rPr sz="6450" spc="-260" dirty="0"/>
              <a:t>Pivot</a:t>
            </a:r>
            <a:r>
              <a:rPr sz="6450" spc="-229" dirty="0"/>
              <a:t> </a:t>
            </a:r>
            <a:r>
              <a:rPr sz="6450" spc="-10" dirty="0"/>
              <a:t>tables</a:t>
            </a:r>
            <a:endParaRPr sz="6450"/>
          </a:p>
          <a:p>
            <a:pPr algn="ctr">
              <a:lnSpc>
                <a:spcPct val="100000"/>
              </a:lnSpc>
              <a:spcBef>
                <a:spcPts val="969"/>
              </a:spcBef>
              <a:tabLst>
                <a:tab pos="1024890" algn="l"/>
                <a:tab pos="3806825" algn="l"/>
                <a:tab pos="4827270" algn="l"/>
              </a:tabLst>
            </a:pPr>
            <a:r>
              <a:rPr sz="2250" spc="100" dirty="0"/>
              <a:t>DATA</a:t>
            </a:r>
            <a:r>
              <a:rPr sz="2250" dirty="0"/>
              <a:t>	</a:t>
            </a:r>
            <a:r>
              <a:rPr sz="2250" spc="204" dirty="0"/>
              <a:t>M</a:t>
            </a:r>
            <a:r>
              <a:rPr sz="2250" spc="-300" dirty="0"/>
              <a:t> </a:t>
            </a:r>
            <a:r>
              <a:rPr sz="2250" spc="-25" dirty="0"/>
              <a:t>A</a:t>
            </a:r>
            <a:r>
              <a:rPr sz="2250" spc="-295" dirty="0"/>
              <a:t> </a:t>
            </a:r>
            <a:r>
              <a:rPr sz="2250" spc="65" dirty="0"/>
              <a:t>N</a:t>
            </a:r>
            <a:r>
              <a:rPr sz="2250" spc="-295" dirty="0"/>
              <a:t> </a:t>
            </a:r>
            <a:r>
              <a:rPr sz="2250" spc="-10" dirty="0"/>
              <a:t>I</a:t>
            </a:r>
            <a:r>
              <a:rPr sz="2250" spc="-295" dirty="0"/>
              <a:t> </a:t>
            </a:r>
            <a:r>
              <a:rPr sz="2250" spc="-120" dirty="0"/>
              <a:t>P</a:t>
            </a:r>
            <a:r>
              <a:rPr sz="2250" spc="-300" dirty="0"/>
              <a:t> </a:t>
            </a:r>
            <a:r>
              <a:rPr sz="2250" spc="-90" dirty="0"/>
              <a:t>U</a:t>
            </a:r>
            <a:r>
              <a:rPr sz="2250" spc="-295" dirty="0"/>
              <a:t> </a:t>
            </a:r>
            <a:r>
              <a:rPr sz="2250" spc="-185" dirty="0"/>
              <a:t>L</a:t>
            </a:r>
            <a:r>
              <a:rPr sz="2250" spc="-295" dirty="0"/>
              <a:t> </a:t>
            </a:r>
            <a:r>
              <a:rPr sz="2250" dirty="0"/>
              <a:t>AT</a:t>
            </a:r>
            <a:r>
              <a:rPr sz="2250" spc="-295" dirty="0"/>
              <a:t> </a:t>
            </a:r>
            <a:r>
              <a:rPr sz="2250" spc="-10" dirty="0"/>
              <a:t>I</a:t>
            </a:r>
            <a:r>
              <a:rPr sz="2250" spc="-300" dirty="0"/>
              <a:t> </a:t>
            </a:r>
            <a:r>
              <a:rPr sz="2250" spc="70" dirty="0"/>
              <a:t>O</a:t>
            </a:r>
            <a:r>
              <a:rPr sz="2250" spc="-295" dirty="0"/>
              <a:t> </a:t>
            </a:r>
            <a:r>
              <a:rPr sz="2250" spc="15" dirty="0"/>
              <a:t>N</a:t>
            </a:r>
            <a:r>
              <a:rPr sz="2250" dirty="0"/>
              <a:t>	W</a:t>
            </a:r>
            <a:r>
              <a:rPr sz="2250" spc="-295" dirty="0"/>
              <a:t> </a:t>
            </a:r>
            <a:r>
              <a:rPr sz="2250" spc="-10" dirty="0"/>
              <a:t>I</a:t>
            </a:r>
            <a:r>
              <a:rPr sz="2250" spc="-295" dirty="0"/>
              <a:t> </a:t>
            </a:r>
            <a:r>
              <a:rPr sz="2250" spc="-90" dirty="0"/>
              <a:t>T</a:t>
            </a:r>
            <a:r>
              <a:rPr sz="2250" spc="-295" dirty="0"/>
              <a:t> </a:t>
            </a:r>
            <a:r>
              <a:rPr sz="2250" spc="-50" dirty="0"/>
              <a:t>H</a:t>
            </a:r>
            <a:r>
              <a:rPr sz="2250" dirty="0"/>
              <a:t>	PA</a:t>
            </a:r>
            <a:r>
              <a:rPr sz="2250" spc="-295" dirty="0"/>
              <a:t> </a:t>
            </a:r>
            <a:r>
              <a:rPr sz="2250" spc="65" dirty="0"/>
              <a:t>N</a:t>
            </a:r>
            <a:r>
              <a:rPr sz="2250" spc="-295" dirty="0"/>
              <a:t> </a:t>
            </a:r>
            <a:r>
              <a:rPr sz="2250" spc="135" dirty="0"/>
              <a:t>DA</a:t>
            </a:r>
            <a:r>
              <a:rPr sz="2250" spc="-320" dirty="0"/>
              <a:t> </a:t>
            </a:r>
            <a:r>
              <a:rPr sz="2250" spc="-50" dirty="0"/>
              <a:t>S</a:t>
            </a:r>
            <a:endParaRPr sz="2250"/>
          </a:p>
        </p:txBody>
      </p:sp>
      <p:sp>
        <p:nvSpPr>
          <p:cNvPr id="7" name="object 7"/>
          <p:cNvSpPr txBox="1"/>
          <p:nvPr/>
        </p:nvSpPr>
        <p:spPr>
          <a:xfrm>
            <a:off x="314826" y="6185734"/>
            <a:ext cx="5398770" cy="8851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2550" b="1" spc="75" dirty="0">
                <a:solidFill>
                  <a:srgbClr val="FFFFFF"/>
                </a:solidFill>
                <a:latin typeface="Arial"/>
                <a:cs typeface="Arial"/>
              </a:rPr>
              <a:t>Maggie</a:t>
            </a:r>
            <a:r>
              <a:rPr sz="2550" b="1" spc="6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550" b="1" spc="-10" dirty="0">
                <a:solidFill>
                  <a:srgbClr val="FFFFFF"/>
                </a:solidFill>
                <a:latin typeface="Arial"/>
                <a:cs typeface="Arial"/>
              </a:rPr>
              <a:t>Matsui</a:t>
            </a:r>
            <a:endParaRPr sz="25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9"/>
              </a:spcBef>
            </a:pPr>
            <a:r>
              <a:rPr sz="2250" dirty="0">
                <a:solidFill>
                  <a:srgbClr val="FFFFFF"/>
                </a:solidFill>
                <a:latin typeface="Arial"/>
                <a:cs typeface="Arial"/>
              </a:rPr>
              <a:t>Senior</a:t>
            </a:r>
            <a:r>
              <a:rPr sz="2250" spc="25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80" dirty="0">
                <a:solidFill>
                  <a:srgbClr val="FFFFFF"/>
                </a:solidFill>
                <a:latin typeface="Arial"/>
                <a:cs typeface="Arial"/>
              </a:rPr>
              <a:t>Content</a:t>
            </a:r>
            <a:r>
              <a:rPr sz="225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50" dirty="0">
                <a:solidFill>
                  <a:srgbClr val="FFFFFF"/>
                </a:solidFill>
                <a:latin typeface="Arial"/>
                <a:cs typeface="Arial"/>
              </a:rPr>
              <a:t>Developer</a:t>
            </a:r>
            <a:r>
              <a:rPr sz="225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165" dirty="0">
                <a:solidFill>
                  <a:srgbClr val="FFFFFF"/>
                </a:solidFill>
                <a:latin typeface="Arial"/>
                <a:cs typeface="Arial"/>
              </a:rPr>
              <a:t>at</a:t>
            </a:r>
            <a:r>
              <a:rPr sz="2250" spc="30" dirty="0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sz="2250" spc="100" dirty="0">
                <a:solidFill>
                  <a:srgbClr val="FFFFFF"/>
                </a:solidFill>
                <a:latin typeface="Arial"/>
                <a:cs typeface="Arial"/>
              </a:rPr>
              <a:t>DataCamp</a:t>
            </a:r>
            <a:endParaRPr sz="2250">
              <a:latin typeface="Arial"/>
              <a:cs typeface="Arial"/>
            </a:endParaRPr>
          </a:p>
        </p:txBody>
      </p:sp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AEEFE8E9-07AA-6DC8-5ECD-3C66994DE0CA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23</a:t>
            </a:fld>
            <a:endParaRPr lang="en-US" altLang="ko-KR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90" dirty="0"/>
              <a:t>Group</a:t>
            </a:r>
            <a:r>
              <a:rPr spc="-155" dirty="0"/>
              <a:t> </a:t>
            </a:r>
            <a:r>
              <a:rPr dirty="0"/>
              <a:t>by</a:t>
            </a:r>
            <a:r>
              <a:rPr spc="-140" dirty="0"/>
              <a:t> </a:t>
            </a:r>
            <a:r>
              <a:rPr dirty="0"/>
              <a:t>to</a:t>
            </a:r>
            <a:r>
              <a:rPr spc="-140" dirty="0"/>
              <a:t> </a:t>
            </a:r>
            <a:r>
              <a:rPr spc="-75" dirty="0"/>
              <a:t>pivot</a:t>
            </a:r>
            <a:r>
              <a:rPr spc="-140" dirty="0"/>
              <a:t> </a:t>
            </a:r>
            <a:r>
              <a:rPr spc="-10" dirty="0"/>
              <a:t>table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7124065" cy="777875"/>
          </a:xfrm>
          <a:custGeom>
            <a:avLst/>
            <a:gdLst/>
            <a:ahLst/>
            <a:cxnLst/>
            <a:rect l="l" t="t" r="r" b="b"/>
            <a:pathLst>
              <a:path w="7124065" h="777875">
                <a:moveTo>
                  <a:pt x="7047191" y="777874"/>
                </a:moveTo>
                <a:lnTo>
                  <a:pt x="76505" y="777874"/>
                </a:lnTo>
                <a:lnTo>
                  <a:pt x="71180" y="777350"/>
                </a:lnTo>
                <a:lnTo>
                  <a:pt x="31920" y="761088"/>
                </a:lnTo>
                <a:lnTo>
                  <a:pt x="4175" y="722360"/>
                </a:lnTo>
                <a:lnTo>
                  <a:pt x="0" y="701369"/>
                </a:lnTo>
                <a:lnTo>
                  <a:pt x="0" y="695993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7047191" y="0"/>
                </a:lnTo>
                <a:lnTo>
                  <a:pt x="7091775" y="16786"/>
                </a:lnTo>
                <a:lnTo>
                  <a:pt x="7119520" y="55513"/>
                </a:lnTo>
                <a:lnTo>
                  <a:pt x="7123696" y="76505"/>
                </a:lnTo>
                <a:lnTo>
                  <a:pt x="7123696" y="701369"/>
                </a:lnTo>
                <a:lnTo>
                  <a:pt x="7106908" y="745954"/>
                </a:lnTo>
                <a:lnTo>
                  <a:pt x="7068182" y="773699"/>
                </a:lnTo>
                <a:lnTo>
                  <a:pt x="7052515" y="777350"/>
                </a:lnTo>
                <a:lnTo>
                  <a:pt x="7047191" y="777874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190332"/>
            <a:ext cx="7124065" cy="3623310"/>
          </a:xfrm>
          <a:custGeom>
            <a:avLst/>
            <a:gdLst/>
            <a:ahLst/>
            <a:cxnLst/>
            <a:rect l="l" t="t" r="r" b="b"/>
            <a:pathLst>
              <a:path w="7124065" h="3623310">
                <a:moveTo>
                  <a:pt x="7047191" y="3623258"/>
                </a:moveTo>
                <a:lnTo>
                  <a:pt x="76505" y="3623258"/>
                </a:lnTo>
                <a:lnTo>
                  <a:pt x="71180" y="3622734"/>
                </a:lnTo>
                <a:lnTo>
                  <a:pt x="31920" y="3606472"/>
                </a:lnTo>
                <a:lnTo>
                  <a:pt x="4175" y="3567744"/>
                </a:lnTo>
                <a:lnTo>
                  <a:pt x="0" y="3546754"/>
                </a:lnTo>
                <a:lnTo>
                  <a:pt x="0" y="3541377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7047191" y="0"/>
                </a:lnTo>
                <a:lnTo>
                  <a:pt x="7091775" y="16786"/>
                </a:lnTo>
                <a:lnTo>
                  <a:pt x="7119520" y="55513"/>
                </a:lnTo>
                <a:lnTo>
                  <a:pt x="7123696" y="76505"/>
                </a:lnTo>
                <a:lnTo>
                  <a:pt x="7123696" y="3546754"/>
                </a:lnTo>
                <a:lnTo>
                  <a:pt x="7106908" y="3591338"/>
                </a:lnTo>
                <a:lnTo>
                  <a:pt x="7068182" y="3619083"/>
                </a:lnTo>
                <a:lnTo>
                  <a:pt x="7052515" y="3622734"/>
                </a:lnTo>
                <a:lnTo>
                  <a:pt x="7047191" y="3623258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35635" y="1370279"/>
            <a:ext cx="6792595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dogs.groupby(</a:t>
            </a:r>
            <a:r>
              <a:rPr sz="2150" spc="-10" dirty="0">
                <a:solidFill>
                  <a:srgbClr val="BE2F72"/>
                </a:solidFill>
                <a:latin typeface="Monaco"/>
                <a:cs typeface="Monaco"/>
              </a:rPr>
              <a:t>"color"</a:t>
            </a: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)[</a:t>
            </a:r>
            <a:r>
              <a:rPr sz="2150" spc="-10" dirty="0">
                <a:solidFill>
                  <a:srgbClr val="BE2F72"/>
                </a:solidFill>
                <a:latin typeface="Monaco"/>
                <a:cs typeface="Monaco"/>
              </a:rPr>
              <a:t>"weight_kg"</a:t>
            </a: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].mean()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35635" y="2253126"/>
            <a:ext cx="850900" cy="2850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700"/>
              </a:lnSpc>
              <a:spcBef>
                <a:spcPts val="95"/>
              </a:spcBef>
            </a:pP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color Black Brown </a:t>
            </a:r>
            <a:r>
              <a:rPr sz="2150" spc="-20" dirty="0">
                <a:solidFill>
                  <a:srgbClr val="FFFFFF"/>
                </a:solidFill>
                <a:latin typeface="Monaco"/>
                <a:cs typeface="Monaco"/>
              </a:rPr>
              <a:t>Gray </a:t>
            </a: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Tan </a:t>
            </a: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White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21018" y="2723945"/>
            <a:ext cx="355600" cy="2379980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26</a:t>
            </a:r>
            <a:endParaRPr sz="21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30"/>
              </a:spcBef>
            </a:pP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24</a:t>
            </a:r>
            <a:endParaRPr sz="21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17</a:t>
            </a:r>
            <a:endParaRPr sz="2150">
              <a:latin typeface="Monaco"/>
              <a:cs typeface="Monaco"/>
            </a:endParaRPr>
          </a:p>
          <a:p>
            <a:pPr marL="177165">
              <a:lnSpc>
                <a:spcPct val="100000"/>
              </a:lnSpc>
              <a:spcBef>
                <a:spcPts val="1130"/>
              </a:spcBef>
            </a:pPr>
            <a:r>
              <a:rPr sz="2150" spc="-50" dirty="0">
                <a:solidFill>
                  <a:srgbClr val="FFFFFF"/>
                </a:solidFill>
                <a:latin typeface="Monaco"/>
                <a:cs typeface="Monaco"/>
              </a:rPr>
              <a:t>2</a:t>
            </a:r>
            <a:endParaRPr sz="21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25"/>
              </a:spcBef>
            </a:pP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74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35635" y="5218713"/>
            <a:ext cx="4812030" cy="35560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Name:</a:t>
            </a: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weight_kg,</a:t>
            </a: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dirty="0">
                <a:solidFill>
                  <a:srgbClr val="FFFFFF"/>
                </a:solidFill>
                <a:latin typeface="Monaco"/>
                <a:cs typeface="Monaco"/>
              </a:rPr>
              <a:t>dtype:</a:t>
            </a: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 </a:t>
            </a: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int64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7942512" y="1166812"/>
            <a:ext cx="7124065" cy="1249045"/>
          </a:xfrm>
          <a:custGeom>
            <a:avLst/>
            <a:gdLst/>
            <a:ahLst/>
            <a:cxnLst/>
            <a:rect l="l" t="t" r="r" b="b"/>
            <a:pathLst>
              <a:path w="7124065" h="1249045">
                <a:moveTo>
                  <a:pt x="7047191" y="1248693"/>
                </a:moveTo>
                <a:lnTo>
                  <a:pt x="76504" y="1248693"/>
                </a:lnTo>
                <a:lnTo>
                  <a:pt x="71179" y="1248169"/>
                </a:lnTo>
                <a:lnTo>
                  <a:pt x="31919" y="1231907"/>
                </a:lnTo>
                <a:lnTo>
                  <a:pt x="4174" y="1193179"/>
                </a:lnTo>
                <a:lnTo>
                  <a:pt x="0" y="1172188"/>
                </a:lnTo>
                <a:lnTo>
                  <a:pt x="0" y="1166812"/>
                </a:lnTo>
                <a:lnTo>
                  <a:pt x="0" y="76505"/>
                </a:lnTo>
                <a:lnTo>
                  <a:pt x="16785" y="31920"/>
                </a:lnTo>
                <a:lnTo>
                  <a:pt x="55512" y="4175"/>
                </a:lnTo>
                <a:lnTo>
                  <a:pt x="76504" y="0"/>
                </a:lnTo>
                <a:lnTo>
                  <a:pt x="7047191" y="0"/>
                </a:lnTo>
                <a:lnTo>
                  <a:pt x="7091775" y="16786"/>
                </a:lnTo>
                <a:lnTo>
                  <a:pt x="7119519" y="55513"/>
                </a:lnTo>
                <a:lnTo>
                  <a:pt x="7123695" y="76505"/>
                </a:lnTo>
                <a:lnTo>
                  <a:pt x="7123695" y="1172188"/>
                </a:lnTo>
                <a:lnTo>
                  <a:pt x="7106909" y="1216773"/>
                </a:lnTo>
                <a:lnTo>
                  <a:pt x="7068181" y="1244518"/>
                </a:lnTo>
                <a:lnTo>
                  <a:pt x="7052515" y="1248169"/>
                </a:lnTo>
                <a:lnTo>
                  <a:pt x="7047191" y="1248693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7942512" y="2661150"/>
            <a:ext cx="7124065" cy="3623310"/>
          </a:xfrm>
          <a:custGeom>
            <a:avLst/>
            <a:gdLst/>
            <a:ahLst/>
            <a:cxnLst/>
            <a:rect l="l" t="t" r="r" b="b"/>
            <a:pathLst>
              <a:path w="7124065" h="3623310">
                <a:moveTo>
                  <a:pt x="7047191" y="3623259"/>
                </a:moveTo>
                <a:lnTo>
                  <a:pt x="76504" y="3623259"/>
                </a:lnTo>
                <a:lnTo>
                  <a:pt x="71179" y="3622734"/>
                </a:lnTo>
                <a:lnTo>
                  <a:pt x="31919" y="3606472"/>
                </a:lnTo>
                <a:lnTo>
                  <a:pt x="4174" y="3567744"/>
                </a:lnTo>
                <a:lnTo>
                  <a:pt x="0" y="3546753"/>
                </a:lnTo>
                <a:lnTo>
                  <a:pt x="0" y="3541377"/>
                </a:lnTo>
                <a:lnTo>
                  <a:pt x="0" y="76505"/>
                </a:lnTo>
                <a:lnTo>
                  <a:pt x="16785" y="31920"/>
                </a:lnTo>
                <a:lnTo>
                  <a:pt x="55512" y="4175"/>
                </a:lnTo>
                <a:lnTo>
                  <a:pt x="76504" y="0"/>
                </a:lnTo>
                <a:lnTo>
                  <a:pt x="7047191" y="0"/>
                </a:lnTo>
                <a:lnTo>
                  <a:pt x="7091775" y="16786"/>
                </a:lnTo>
                <a:lnTo>
                  <a:pt x="7119519" y="55513"/>
                </a:lnTo>
                <a:lnTo>
                  <a:pt x="7123695" y="76505"/>
                </a:lnTo>
                <a:lnTo>
                  <a:pt x="7123695" y="3546753"/>
                </a:lnTo>
                <a:lnTo>
                  <a:pt x="7106909" y="3591338"/>
                </a:lnTo>
                <a:lnTo>
                  <a:pt x="7068181" y="3619083"/>
                </a:lnTo>
                <a:lnTo>
                  <a:pt x="7052515" y="3622734"/>
                </a:lnTo>
                <a:lnTo>
                  <a:pt x="7047191" y="3623259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8086858" y="1229607"/>
            <a:ext cx="5967095" cy="967105"/>
          </a:xfrm>
          <a:prstGeom prst="rect">
            <a:avLst/>
          </a:prstGeom>
        </p:spPr>
        <p:txBody>
          <a:bodyPr vert="horz" wrap="square" lIns="0" tIns="1549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20"/>
              </a:spcBef>
            </a:pP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dogs.pivot_table(values=</a:t>
            </a:r>
            <a:r>
              <a:rPr sz="2150" spc="-10" dirty="0">
                <a:solidFill>
                  <a:srgbClr val="BE2F72"/>
                </a:solidFill>
                <a:latin typeface="Monaco"/>
                <a:cs typeface="Monaco"/>
              </a:rPr>
              <a:t>"weight_kg"</a:t>
            </a: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endParaRPr sz="2150">
              <a:latin typeface="Monaco"/>
              <a:cs typeface="Monaco"/>
            </a:endParaRPr>
          </a:p>
          <a:p>
            <a:pPr marL="2818130">
              <a:lnSpc>
                <a:spcPct val="100000"/>
              </a:lnSpc>
              <a:spcBef>
                <a:spcPts val="1130"/>
              </a:spcBef>
            </a:pP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index=</a:t>
            </a:r>
            <a:r>
              <a:rPr sz="2150" spc="-10" dirty="0">
                <a:solidFill>
                  <a:srgbClr val="BE2F72"/>
                </a:solidFill>
                <a:latin typeface="Monaco"/>
                <a:cs typeface="Monaco"/>
              </a:rPr>
              <a:t>"color"</a:t>
            </a:r>
            <a:r>
              <a:rPr sz="2150" spc="-10" dirty="0">
                <a:solidFill>
                  <a:srgbClr val="04182D"/>
                </a:solidFill>
                <a:latin typeface="Monaco"/>
                <a:cs typeface="Monaco"/>
              </a:rPr>
              <a:t>)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086858" y="3194764"/>
            <a:ext cx="850900" cy="285051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700"/>
              </a:lnSpc>
              <a:spcBef>
                <a:spcPts val="95"/>
              </a:spcBef>
            </a:pP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color Black Brown </a:t>
            </a:r>
            <a:r>
              <a:rPr sz="2150" spc="-20" dirty="0">
                <a:solidFill>
                  <a:srgbClr val="FFFFFF"/>
                </a:solidFill>
                <a:latin typeface="Monaco"/>
                <a:cs typeface="Monaco"/>
              </a:rPr>
              <a:t>Gray </a:t>
            </a: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Tan </a:t>
            </a: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White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242156" y="2864618"/>
            <a:ext cx="1511300" cy="31807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2150" spc="-10" dirty="0">
                <a:solidFill>
                  <a:srgbClr val="FFFFFF"/>
                </a:solidFill>
                <a:latin typeface="Monaco"/>
                <a:cs typeface="Monaco"/>
              </a:rPr>
              <a:t>weight_kg</a:t>
            </a:r>
            <a:endParaRPr sz="2150">
              <a:latin typeface="Monaco"/>
              <a:cs typeface="Monaco"/>
            </a:endParaRPr>
          </a:p>
          <a:p>
            <a:pPr>
              <a:lnSpc>
                <a:spcPct val="100000"/>
              </a:lnSpc>
              <a:spcBef>
                <a:spcPts val="1964"/>
              </a:spcBef>
            </a:pPr>
            <a:endParaRPr sz="2150">
              <a:latin typeface="Monaco"/>
              <a:cs typeface="Monaco"/>
            </a:endParaRPr>
          </a:p>
          <a:p>
            <a:pPr marL="837565">
              <a:lnSpc>
                <a:spcPct val="100000"/>
              </a:lnSpc>
            </a:pPr>
            <a:r>
              <a:rPr sz="2150" spc="-20" dirty="0">
                <a:solidFill>
                  <a:srgbClr val="FFFFFF"/>
                </a:solidFill>
                <a:latin typeface="Monaco"/>
                <a:cs typeface="Monaco"/>
              </a:rPr>
              <a:t>26.5</a:t>
            </a:r>
            <a:endParaRPr sz="2150">
              <a:latin typeface="Monaco"/>
              <a:cs typeface="Monaco"/>
            </a:endParaRPr>
          </a:p>
          <a:p>
            <a:pPr marL="837565">
              <a:lnSpc>
                <a:spcPct val="100000"/>
              </a:lnSpc>
              <a:spcBef>
                <a:spcPts val="1130"/>
              </a:spcBef>
            </a:pPr>
            <a:r>
              <a:rPr sz="2150" spc="-20" dirty="0">
                <a:solidFill>
                  <a:srgbClr val="FFFFFF"/>
                </a:solidFill>
                <a:latin typeface="Monaco"/>
                <a:cs typeface="Monaco"/>
              </a:rPr>
              <a:t>24.0</a:t>
            </a:r>
            <a:endParaRPr sz="2150">
              <a:latin typeface="Monaco"/>
              <a:cs typeface="Monaco"/>
            </a:endParaRPr>
          </a:p>
          <a:p>
            <a:pPr marL="837565">
              <a:lnSpc>
                <a:spcPct val="100000"/>
              </a:lnSpc>
              <a:spcBef>
                <a:spcPts val="1125"/>
              </a:spcBef>
            </a:pPr>
            <a:r>
              <a:rPr sz="2150" spc="-20" dirty="0">
                <a:solidFill>
                  <a:srgbClr val="FFFFFF"/>
                </a:solidFill>
                <a:latin typeface="Monaco"/>
                <a:cs typeface="Monaco"/>
              </a:rPr>
              <a:t>17.0</a:t>
            </a:r>
            <a:endParaRPr sz="2150">
              <a:latin typeface="Monaco"/>
              <a:cs typeface="Monaco"/>
            </a:endParaRPr>
          </a:p>
          <a:p>
            <a:pPr marL="1002665">
              <a:lnSpc>
                <a:spcPct val="100000"/>
              </a:lnSpc>
              <a:spcBef>
                <a:spcPts val="1130"/>
              </a:spcBef>
            </a:pPr>
            <a:r>
              <a:rPr sz="2150" spc="-25" dirty="0">
                <a:solidFill>
                  <a:srgbClr val="FFFFFF"/>
                </a:solidFill>
                <a:latin typeface="Monaco"/>
                <a:cs typeface="Monaco"/>
              </a:rPr>
              <a:t>2.0</a:t>
            </a:r>
            <a:endParaRPr sz="2150">
              <a:latin typeface="Monaco"/>
              <a:cs typeface="Monaco"/>
            </a:endParaRPr>
          </a:p>
          <a:p>
            <a:pPr marL="837565">
              <a:lnSpc>
                <a:spcPct val="100000"/>
              </a:lnSpc>
              <a:spcBef>
                <a:spcPts val="1125"/>
              </a:spcBef>
            </a:pPr>
            <a:r>
              <a:rPr sz="2150" spc="-20" dirty="0">
                <a:solidFill>
                  <a:srgbClr val="FFFFFF"/>
                </a:solidFill>
                <a:latin typeface="Monaco"/>
                <a:cs typeface="Monaco"/>
              </a:rPr>
              <a:t>74.0</a:t>
            </a:r>
            <a:endParaRPr sz="2150">
              <a:latin typeface="Monaco"/>
              <a:cs typeface="Monaco"/>
            </a:endParaRPr>
          </a:p>
        </p:txBody>
      </p:sp>
      <p:sp>
        <p:nvSpPr>
          <p:cNvPr id="17" name="슬라이드 번호 개체 틀 16">
            <a:extLst>
              <a:ext uri="{FF2B5EF4-FFF2-40B4-BE49-F238E27FC236}">
                <a16:creationId xmlns:a16="http://schemas.microsoft.com/office/drawing/2014/main" id="{8D9FA253-6141-C777-64AC-B93242BC4A5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24</a:t>
            </a:fld>
            <a:endParaRPr lang="en-US" altLang="ko-K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Different</a:t>
            </a:r>
            <a:r>
              <a:rPr spc="-295" dirty="0"/>
              <a:t> </a:t>
            </a:r>
            <a:r>
              <a:rPr spc="-110" dirty="0"/>
              <a:t>statistics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91289" y="1166812"/>
            <a:ext cx="14575155" cy="1310640"/>
            <a:chOff x="491289" y="1166812"/>
            <a:chExt cx="14575155" cy="1310640"/>
          </a:xfrm>
        </p:grpSpPr>
        <p:sp>
          <p:nvSpPr>
            <p:cNvPr id="4" name="object 4"/>
            <p:cNvSpPr/>
            <p:nvPr/>
          </p:nvSpPr>
          <p:spPr>
            <a:xfrm>
              <a:off x="491289" y="1166812"/>
              <a:ext cx="14575155" cy="1310640"/>
            </a:xfrm>
            <a:custGeom>
              <a:avLst/>
              <a:gdLst/>
              <a:ahLst/>
              <a:cxnLst/>
              <a:rect l="l" t="t" r="r" b="b"/>
              <a:pathLst>
                <a:path w="14575155" h="1310639">
                  <a:moveTo>
                    <a:pt x="14498413" y="1310105"/>
                  </a:moveTo>
                  <a:lnTo>
                    <a:pt x="76505" y="1310105"/>
                  </a:lnTo>
                  <a:lnTo>
                    <a:pt x="71180" y="1309580"/>
                  </a:lnTo>
                  <a:lnTo>
                    <a:pt x="31920" y="1293318"/>
                  </a:lnTo>
                  <a:lnTo>
                    <a:pt x="4175" y="1254590"/>
                  </a:lnTo>
                  <a:lnTo>
                    <a:pt x="0" y="1233599"/>
                  </a:lnTo>
                  <a:lnTo>
                    <a:pt x="0" y="1228223"/>
                  </a:lnTo>
                  <a:lnTo>
                    <a:pt x="0" y="76505"/>
                  </a:lnTo>
                  <a:lnTo>
                    <a:pt x="16786" y="31920"/>
                  </a:lnTo>
                  <a:lnTo>
                    <a:pt x="55513" y="4175"/>
                  </a:lnTo>
                  <a:lnTo>
                    <a:pt x="76505" y="0"/>
                  </a:lnTo>
                  <a:lnTo>
                    <a:pt x="14498413" y="0"/>
                  </a:lnTo>
                  <a:lnTo>
                    <a:pt x="14542998" y="16786"/>
                  </a:lnTo>
                  <a:lnTo>
                    <a:pt x="14570742" y="55513"/>
                  </a:lnTo>
                  <a:lnTo>
                    <a:pt x="14574918" y="76505"/>
                  </a:lnTo>
                  <a:lnTo>
                    <a:pt x="14574918" y="1233599"/>
                  </a:lnTo>
                  <a:lnTo>
                    <a:pt x="14558132" y="1278184"/>
                  </a:lnTo>
                  <a:lnTo>
                    <a:pt x="14519404" y="1305929"/>
                  </a:lnTo>
                  <a:lnTo>
                    <a:pt x="14503737" y="1309580"/>
                  </a:lnTo>
                  <a:lnTo>
                    <a:pt x="14498413" y="1310105"/>
                  </a:lnTo>
                  <a:close/>
                </a:path>
              </a:pathLst>
            </a:custGeom>
            <a:solidFill>
              <a:srgbClr val="F6F2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677989" y="1447482"/>
              <a:ext cx="2543810" cy="283210"/>
            </a:xfrm>
            <a:custGeom>
              <a:avLst/>
              <a:gdLst/>
              <a:ahLst/>
              <a:cxnLst/>
              <a:rect l="l" t="t" r="r" b="b"/>
              <a:pathLst>
                <a:path w="2543810" h="283210">
                  <a:moveTo>
                    <a:pt x="99288" y="16510"/>
                  </a:moveTo>
                  <a:lnTo>
                    <a:pt x="96977" y="10909"/>
                  </a:lnTo>
                  <a:lnTo>
                    <a:pt x="87744" y="2184"/>
                  </a:lnTo>
                  <a:lnTo>
                    <a:pt x="81864" y="0"/>
                  </a:lnTo>
                  <a:lnTo>
                    <a:pt x="61861" y="0"/>
                  </a:lnTo>
                  <a:lnTo>
                    <a:pt x="55981" y="2184"/>
                  </a:lnTo>
                  <a:lnTo>
                    <a:pt x="46748" y="10909"/>
                  </a:lnTo>
                  <a:lnTo>
                    <a:pt x="44437" y="16510"/>
                  </a:lnTo>
                  <a:lnTo>
                    <a:pt x="44437" y="30264"/>
                  </a:lnTo>
                  <a:lnTo>
                    <a:pt x="46697" y="35814"/>
                  </a:lnTo>
                  <a:lnTo>
                    <a:pt x="51219" y="40017"/>
                  </a:lnTo>
                  <a:lnTo>
                    <a:pt x="55791" y="44170"/>
                  </a:lnTo>
                  <a:lnTo>
                    <a:pt x="61722" y="46240"/>
                  </a:lnTo>
                  <a:lnTo>
                    <a:pt x="81775" y="46240"/>
                  </a:lnTo>
                  <a:lnTo>
                    <a:pt x="87630" y="44170"/>
                  </a:lnTo>
                  <a:lnTo>
                    <a:pt x="96977" y="35814"/>
                  </a:lnTo>
                  <a:lnTo>
                    <a:pt x="99288" y="30264"/>
                  </a:lnTo>
                  <a:lnTo>
                    <a:pt x="99288" y="16510"/>
                  </a:lnTo>
                  <a:close/>
                </a:path>
                <a:path w="2543810" h="283210">
                  <a:moveTo>
                    <a:pt x="146583" y="195694"/>
                  </a:moveTo>
                  <a:lnTo>
                    <a:pt x="93548" y="195694"/>
                  </a:lnTo>
                  <a:lnTo>
                    <a:pt x="93548" y="61569"/>
                  </a:lnTo>
                  <a:lnTo>
                    <a:pt x="7137" y="61569"/>
                  </a:lnTo>
                  <a:lnTo>
                    <a:pt x="7137" y="96964"/>
                  </a:lnTo>
                  <a:lnTo>
                    <a:pt x="55841" y="96964"/>
                  </a:lnTo>
                  <a:lnTo>
                    <a:pt x="55841" y="195694"/>
                  </a:lnTo>
                  <a:lnTo>
                    <a:pt x="0" y="195694"/>
                  </a:lnTo>
                  <a:lnTo>
                    <a:pt x="0" y="231101"/>
                  </a:lnTo>
                  <a:lnTo>
                    <a:pt x="146583" y="231101"/>
                  </a:lnTo>
                  <a:lnTo>
                    <a:pt x="146583" y="195694"/>
                  </a:lnTo>
                  <a:close/>
                </a:path>
                <a:path w="2543810" h="283210">
                  <a:moveTo>
                    <a:pt x="313918" y="105359"/>
                  </a:moveTo>
                  <a:lnTo>
                    <a:pt x="313309" y="95554"/>
                  </a:lnTo>
                  <a:lnTo>
                    <a:pt x="312242" y="90385"/>
                  </a:lnTo>
                  <a:lnTo>
                    <a:pt x="311467" y="86677"/>
                  </a:lnTo>
                  <a:lnTo>
                    <a:pt x="310819" y="85001"/>
                  </a:lnTo>
                  <a:lnTo>
                    <a:pt x="310743" y="84797"/>
                  </a:lnTo>
                  <a:lnTo>
                    <a:pt x="276771" y="58699"/>
                  </a:lnTo>
                  <a:lnTo>
                    <a:pt x="268414" y="58699"/>
                  </a:lnTo>
                  <a:lnTo>
                    <a:pt x="261734" y="61010"/>
                  </a:lnTo>
                  <a:lnTo>
                    <a:pt x="260883" y="61569"/>
                  </a:lnTo>
                  <a:lnTo>
                    <a:pt x="250063" y="70827"/>
                  </a:lnTo>
                  <a:lnTo>
                    <a:pt x="249758" y="71767"/>
                  </a:lnTo>
                  <a:lnTo>
                    <a:pt x="249199" y="70192"/>
                  </a:lnTo>
                  <a:lnTo>
                    <a:pt x="248323" y="69469"/>
                  </a:lnTo>
                  <a:lnTo>
                    <a:pt x="248323" y="78765"/>
                  </a:lnTo>
                  <a:lnTo>
                    <a:pt x="248069" y="77025"/>
                  </a:lnTo>
                  <a:lnTo>
                    <a:pt x="248183" y="76657"/>
                  </a:lnTo>
                  <a:lnTo>
                    <a:pt x="248208" y="77025"/>
                  </a:lnTo>
                  <a:lnTo>
                    <a:pt x="248323" y="78765"/>
                  </a:lnTo>
                  <a:lnTo>
                    <a:pt x="248323" y="69469"/>
                  </a:lnTo>
                  <a:lnTo>
                    <a:pt x="243738" y="65620"/>
                  </a:lnTo>
                  <a:lnTo>
                    <a:pt x="238328" y="61010"/>
                  </a:lnTo>
                  <a:lnTo>
                    <a:pt x="231660" y="58699"/>
                  </a:lnTo>
                  <a:lnTo>
                    <a:pt x="215379" y="58699"/>
                  </a:lnTo>
                  <a:lnTo>
                    <a:pt x="208813" y="61010"/>
                  </a:lnTo>
                  <a:lnTo>
                    <a:pt x="208572" y="61010"/>
                  </a:lnTo>
                  <a:lnTo>
                    <a:pt x="201422" y="67233"/>
                  </a:lnTo>
                  <a:lnTo>
                    <a:pt x="202463" y="61569"/>
                  </a:lnTo>
                  <a:lnTo>
                    <a:pt x="195427" y="61569"/>
                  </a:lnTo>
                  <a:lnTo>
                    <a:pt x="195427" y="78765"/>
                  </a:lnTo>
                  <a:lnTo>
                    <a:pt x="195110" y="77025"/>
                  </a:lnTo>
                  <a:lnTo>
                    <a:pt x="195237" y="76657"/>
                  </a:lnTo>
                  <a:lnTo>
                    <a:pt x="195275" y="77025"/>
                  </a:lnTo>
                  <a:lnTo>
                    <a:pt x="195427" y="78765"/>
                  </a:lnTo>
                  <a:lnTo>
                    <a:pt x="195427" y="61569"/>
                  </a:lnTo>
                  <a:lnTo>
                    <a:pt x="167894" y="61569"/>
                  </a:lnTo>
                  <a:lnTo>
                    <a:pt x="167894" y="231101"/>
                  </a:lnTo>
                  <a:lnTo>
                    <a:pt x="203581" y="231101"/>
                  </a:lnTo>
                  <a:lnTo>
                    <a:pt x="203581" y="99631"/>
                  </a:lnTo>
                  <a:lnTo>
                    <a:pt x="204444" y="95948"/>
                  </a:lnTo>
                  <a:lnTo>
                    <a:pt x="207937" y="91516"/>
                  </a:lnTo>
                  <a:lnTo>
                    <a:pt x="210464" y="90385"/>
                  </a:lnTo>
                  <a:lnTo>
                    <a:pt x="217182" y="90385"/>
                  </a:lnTo>
                  <a:lnTo>
                    <a:pt x="219697" y="91516"/>
                  </a:lnTo>
                  <a:lnTo>
                    <a:pt x="223405" y="95948"/>
                  </a:lnTo>
                  <a:lnTo>
                    <a:pt x="224548" y="99631"/>
                  </a:lnTo>
                  <a:lnTo>
                    <a:pt x="224637" y="231101"/>
                  </a:lnTo>
                  <a:lnTo>
                    <a:pt x="257175" y="231101"/>
                  </a:lnTo>
                  <a:lnTo>
                    <a:pt x="257200" y="99631"/>
                  </a:lnTo>
                  <a:lnTo>
                    <a:pt x="258229" y="95948"/>
                  </a:lnTo>
                  <a:lnTo>
                    <a:pt x="262013" y="91516"/>
                  </a:lnTo>
                  <a:lnTo>
                    <a:pt x="264566" y="90385"/>
                  </a:lnTo>
                  <a:lnTo>
                    <a:pt x="271284" y="90385"/>
                  </a:lnTo>
                  <a:lnTo>
                    <a:pt x="273748" y="91516"/>
                  </a:lnTo>
                  <a:lnTo>
                    <a:pt x="277139" y="95948"/>
                  </a:lnTo>
                  <a:lnTo>
                    <a:pt x="278155" y="99631"/>
                  </a:lnTo>
                  <a:lnTo>
                    <a:pt x="278231" y="231101"/>
                  </a:lnTo>
                  <a:lnTo>
                    <a:pt x="313918" y="231101"/>
                  </a:lnTo>
                  <a:lnTo>
                    <a:pt x="313918" y="105359"/>
                  </a:lnTo>
                  <a:close/>
                </a:path>
                <a:path w="2543810" h="283210">
                  <a:moveTo>
                    <a:pt x="479577" y="123139"/>
                  </a:moveTo>
                  <a:lnTo>
                    <a:pt x="478612" y="109270"/>
                  </a:lnTo>
                  <a:lnTo>
                    <a:pt x="475729" y="96850"/>
                  </a:lnTo>
                  <a:lnTo>
                    <a:pt x="474027" y="92976"/>
                  </a:lnTo>
                  <a:lnTo>
                    <a:pt x="470916" y="85864"/>
                  </a:lnTo>
                  <a:lnTo>
                    <a:pt x="464185" y="76327"/>
                  </a:lnTo>
                  <a:lnTo>
                    <a:pt x="455815" y="68618"/>
                  </a:lnTo>
                  <a:lnTo>
                    <a:pt x="446062" y="63106"/>
                  </a:lnTo>
                  <a:lnTo>
                    <a:pt x="441934" y="61887"/>
                  </a:lnTo>
                  <a:lnTo>
                    <a:pt x="441934" y="114134"/>
                  </a:lnTo>
                  <a:lnTo>
                    <a:pt x="441934" y="178523"/>
                  </a:lnTo>
                  <a:lnTo>
                    <a:pt x="439534" y="186499"/>
                  </a:lnTo>
                  <a:lnTo>
                    <a:pt x="430009" y="196951"/>
                  </a:lnTo>
                  <a:lnTo>
                    <a:pt x="422922" y="199682"/>
                  </a:lnTo>
                  <a:lnTo>
                    <a:pt x="404774" y="199682"/>
                  </a:lnTo>
                  <a:lnTo>
                    <a:pt x="385114" y="178523"/>
                  </a:lnTo>
                  <a:lnTo>
                    <a:pt x="385114" y="114134"/>
                  </a:lnTo>
                  <a:lnTo>
                    <a:pt x="387515" y="106692"/>
                  </a:lnTo>
                  <a:lnTo>
                    <a:pt x="396392" y="97180"/>
                  </a:lnTo>
                  <a:lnTo>
                    <a:pt x="396697" y="96850"/>
                  </a:lnTo>
                  <a:lnTo>
                    <a:pt x="398030" y="95618"/>
                  </a:lnTo>
                  <a:lnTo>
                    <a:pt x="404774" y="92976"/>
                  </a:lnTo>
                  <a:lnTo>
                    <a:pt x="422922" y="92976"/>
                  </a:lnTo>
                  <a:lnTo>
                    <a:pt x="429920" y="95618"/>
                  </a:lnTo>
                  <a:lnTo>
                    <a:pt x="439534" y="106159"/>
                  </a:lnTo>
                  <a:lnTo>
                    <a:pt x="441934" y="114134"/>
                  </a:lnTo>
                  <a:lnTo>
                    <a:pt x="441934" y="61887"/>
                  </a:lnTo>
                  <a:lnTo>
                    <a:pt x="434898" y="59804"/>
                  </a:lnTo>
                  <a:lnTo>
                    <a:pt x="422338" y="58699"/>
                  </a:lnTo>
                  <a:lnTo>
                    <a:pt x="412864" y="59334"/>
                  </a:lnTo>
                  <a:lnTo>
                    <a:pt x="382752" y="75780"/>
                  </a:lnTo>
                  <a:lnTo>
                    <a:pt x="384975" y="61569"/>
                  </a:lnTo>
                  <a:lnTo>
                    <a:pt x="378472" y="61569"/>
                  </a:lnTo>
                  <a:lnTo>
                    <a:pt x="378472" y="195973"/>
                  </a:lnTo>
                  <a:lnTo>
                    <a:pt x="378434" y="196951"/>
                  </a:lnTo>
                  <a:lnTo>
                    <a:pt x="378320" y="199682"/>
                  </a:lnTo>
                  <a:lnTo>
                    <a:pt x="378117" y="204343"/>
                  </a:lnTo>
                  <a:lnTo>
                    <a:pt x="378472" y="195973"/>
                  </a:lnTo>
                  <a:lnTo>
                    <a:pt x="378472" y="61569"/>
                  </a:lnTo>
                  <a:lnTo>
                    <a:pt x="347332" y="61569"/>
                  </a:lnTo>
                  <a:lnTo>
                    <a:pt x="347332" y="282663"/>
                  </a:lnTo>
                  <a:lnTo>
                    <a:pt x="384975" y="282663"/>
                  </a:lnTo>
                  <a:lnTo>
                    <a:pt x="384771" y="229552"/>
                  </a:lnTo>
                  <a:lnTo>
                    <a:pt x="382752" y="216966"/>
                  </a:lnTo>
                  <a:lnTo>
                    <a:pt x="383425" y="218160"/>
                  </a:lnTo>
                  <a:lnTo>
                    <a:pt x="422338" y="233959"/>
                  </a:lnTo>
                  <a:lnTo>
                    <a:pt x="434898" y="232867"/>
                  </a:lnTo>
                  <a:lnTo>
                    <a:pt x="470916" y="206781"/>
                  </a:lnTo>
                  <a:lnTo>
                    <a:pt x="479577" y="169240"/>
                  </a:lnTo>
                  <a:lnTo>
                    <a:pt x="479577" y="123139"/>
                  </a:lnTo>
                  <a:close/>
                </a:path>
                <a:path w="2543810" h="283210">
                  <a:moveTo>
                    <a:pt x="651522" y="124536"/>
                  </a:moveTo>
                  <a:lnTo>
                    <a:pt x="641324" y="86131"/>
                  </a:lnTo>
                  <a:lnTo>
                    <a:pt x="613879" y="63957"/>
                  </a:lnTo>
                  <a:lnTo>
                    <a:pt x="613879" y="114363"/>
                  </a:lnTo>
                  <a:lnTo>
                    <a:pt x="613879" y="178295"/>
                  </a:lnTo>
                  <a:lnTo>
                    <a:pt x="611403" y="186131"/>
                  </a:lnTo>
                  <a:lnTo>
                    <a:pt x="601573" y="196532"/>
                  </a:lnTo>
                  <a:lnTo>
                    <a:pt x="594360" y="199123"/>
                  </a:lnTo>
                  <a:lnTo>
                    <a:pt x="575284" y="199123"/>
                  </a:lnTo>
                  <a:lnTo>
                    <a:pt x="568058" y="196532"/>
                  </a:lnTo>
                  <a:lnTo>
                    <a:pt x="558253" y="186131"/>
                  </a:lnTo>
                  <a:lnTo>
                    <a:pt x="555802" y="178295"/>
                  </a:lnTo>
                  <a:lnTo>
                    <a:pt x="555802" y="114363"/>
                  </a:lnTo>
                  <a:lnTo>
                    <a:pt x="558253" y="106553"/>
                  </a:lnTo>
                  <a:lnTo>
                    <a:pt x="568058" y="96151"/>
                  </a:lnTo>
                  <a:lnTo>
                    <a:pt x="575284" y="93535"/>
                  </a:lnTo>
                  <a:lnTo>
                    <a:pt x="594360" y="93535"/>
                  </a:lnTo>
                  <a:lnTo>
                    <a:pt x="601573" y="96151"/>
                  </a:lnTo>
                  <a:lnTo>
                    <a:pt x="606463" y="101371"/>
                  </a:lnTo>
                  <a:lnTo>
                    <a:pt x="611403" y="106553"/>
                  </a:lnTo>
                  <a:lnTo>
                    <a:pt x="613879" y="63957"/>
                  </a:lnTo>
                  <a:lnTo>
                    <a:pt x="584847" y="58699"/>
                  </a:lnTo>
                  <a:lnTo>
                    <a:pt x="570331" y="59804"/>
                  </a:lnTo>
                  <a:lnTo>
                    <a:pt x="528269" y="86131"/>
                  </a:lnTo>
                  <a:lnTo>
                    <a:pt x="518121" y="124536"/>
                  </a:lnTo>
                  <a:lnTo>
                    <a:pt x="518096" y="167843"/>
                  </a:lnTo>
                  <a:lnTo>
                    <a:pt x="519226" y="182333"/>
                  </a:lnTo>
                  <a:lnTo>
                    <a:pt x="545985" y="223964"/>
                  </a:lnTo>
                  <a:lnTo>
                    <a:pt x="584847" y="233959"/>
                  </a:lnTo>
                  <a:lnTo>
                    <a:pt x="599325" y="232854"/>
                  </a:lnTo>
                  <a:lnTo>
                    <a:pt x="641324" y="206502"/>
                  </a:lnTo>
                  <a:lnTo>
                    <a:pt x="651522" y="167843"/>
                  </a:lnTo>
                  <a:lnTo>
                    <a:pt x="651522" y="124536"/>
                  </a:lnTo>
                  <a:close/>
                </a:path>
                <a:path w="2543810" h="283210">
                  <a:moveTo>
                    <a:pt x="829767" y="122580"/>
                  </a:moveTo>
                  <a:lnTo>
                    <a:pt x="828738" y="108788"/>
                  </a:lnTo>
                  <a:lnTo>
                    <a:pt x="825665" y="96443"/>
                  </a:lnTo>
                  <a:lnTo>
                    <a:pt x="823760" y="92417"/>
                  </a:lnTo>
                  <a:lnTo>
                    <a:pt x="820521" y="85559"/>
                  </a:lnTo>
                  <a:lnTo>
                    <a:pt x="782447" y="59791"/>
                  </a:lnTo>
                  <a:lnTo>
                    <a:pt x="769391" y="58699"/>
                  </a:lnTo>
                  <a:lnTo>
                    <a:pt x="752386" y="61010"/>
                  </a:lnTo>
                  <a:lnTo>
                    <a:pt x="739787" y="67932"/>
                  </a:lnTo>
                  <a:lnTo>
                    <a:pt x="731608" y="79476"/>
                  </a:lnTo>
                  <a:lnTo>
                    <a:pt x="727824" y="95643"/>
                  </a:lnTo>
                  <a:lnTo>
                    <a:pt x="727913" y="95148"/>
                  </a:lnTo>
                  <a:lnTo>
                    <a:pt x="733780" y="61569"/>
                  </a:lnTo>
                  <a:lnTo>
                    <a:pt x="696696" y="61569"/>
                  </a:lnTo>
                  <a:lnTo>
                    <a:pt x="696696" y="231101"/>
                  </a:lnTo>
                  <a:lnTo>
                    <a:pt x="734339" y="231101"/>
                  </a:lnTo>
                  <a:lnTo>
                    <a:pt x="734390" y="114134"/>
                  </a:lnTo>
                  <a:lnTo>
                    <a:pt x="736879" y="106299"/>
                  </a:lnTo>
                  <a:lnTo>
                    <a:pt x="746683" y="95643"/>
                  </a:lnTo>
                  <a:lnTo>
                    <a:pt x="747217" y="95148"/>
                  </a:lnTo>
                  <a:lnTo>
                    <a:pt x="754227" y="92417"/>
                  </a:lnTo>
                  <a:lnTo>
                    <a:pt x="772706" y="92417"/>
                  </a:lnTo>
                  <a:lnTo>
                    <a:pt x="779818" y="95148"/>
                  </a:lnTo>
                  <a:lnTo>
                    <a:pt x="789660" y="106070"/>
                  </a:lnTo>
                  <a:lnTo>
                    <a:pt x="789724" y="106299"/>
                  </a:lnTo>
                  <a:lnTo>
                    <a:pt x="792124" y="114134"/>
                  </a:lnTo>
                  <a:lnTo>
                    <a:pt x="792124" y="137972"/>
                  </a:lnTo>
                  <a:lnTo>
                    <a:pt x="829767" y="137972"/>
                  </a:lnTo>
                  <a:lnTo>
                    <a:pt x="829767" y="122580"/>
                  </a:lnTo>
                  <a:close/>
                </a:path>
                <a:path w="2543810" h="283210">
                  <a:moveTo>
                    <a:pt x="997737" y="61569"/>
                  </a:moveTo>
                  <a:lnTo>
                    <a:pt x="934694" y="61569"/>
                  </a:lnTo>
                  <a:lnTo>
                    <a:pt x="934694" y="18605"/>
                  </a:lnTo>
                  <a:lnTo>
                    <a:pt x="896975" y="18605"/>
                  </a:lnTo>
                  <a:lnTo>
                    <a:pt x="896975" y="61569"/>
                  </a:lnTo>
                  <a:lnTo>
                    <a:pt x="852551" y="61569"/>
                  </a:lnTo>
                  <a:lnTo>
                    <a:pt x="852551" y="96964"/>
                  </a:lnTo>
                  <a:lnTo>
                    <a:pt x="896975" y="96964"/>
                  </a:lnTo>
                  <a:lnTo>
                    <a:pt x="896975" y="183591"/>
                  </a:lnTo>
                  <a:lnTo>
                    <a:pt x="897801" y="194144"/>
                  </a:lnTo>
                  <a:lnTo>
                    <a:pt x="925614" y="227952"/>
                  </a:lnTo>
                  <a:lnTo>
                    <a:pt x="945959" y="231101"/>
                  </a:lnTo>
                  <a:lnTo>
                    <a:pt x="994867" y="231101"/>
                  </a:lnTo>
                  <a:lnTo>
                    <a:pt x="994867" y="195694"/>
                  </a:lnTo>
                  <a:lnTo>
                    <a:pt x="941755" y="195694"/>
                  </a:lnTo>
                  <a:lnTo>
                    <a:pt x="938822" y="194805"/>
                  </a:lnTo>
                  <a:lnTo>
                    <a:pt x="935507" y="191262"/>
                  </a:lnTo>
                  <a:lnTo>
                    <a:pt x="934694" y="188112"/>
                  </a:lnTo>
                  <a:lnTo>
                    <a:pt x="934694" y="96964"/>
                  </a:lnTo>
                  <a:lnTo>
                    <a:pt x="997737" y="96964"/>
                  </a:lnTo>
                  <a:lnTo>
                    <a:pt x="997737" y="61569"/>
                  </a:lnTo>
                  <a:close/>
                </a:path>
                <a:path w="2543810" h="283210">
                  <a:moveTo>
                    <a:pt x="2370226" y="158610"/>
                  </a:moveTo>
                  <a:lnTo>
                    <a:pt x="2370188" y="149415"/>
                  </a:lnTo>
                  <a:lnTo>
                    <a:pt x="2370061" y="115023"/>
                  </a:lnTo>
                  <a:lnTo>
                    <a:pt x="2369337" y="106768"/>
                  </a:lnTo>
                  <a:lnTo>
                    <a:pt x="2342616" y="67716"/>
                  </a:lnTo>
                  <a:lnTo>
                    <a:pt x="2318207" y="59817"/>
                  </a:lnTo>
                  <a:lnTo>
                    <a:pt x="2316823" y="59817"/>
                  </a:lnTo>
                  <a:lnTo>
                    <a:pt x="2304669" y="58978"/>
                  </a:lnTo>
                  <a:lnTo>
                    <a:pt x="2259888" y="72339"/>
                  </a:lnTo>
                  <a:lnTo>
                    <a:pt x="2237981" y="115023"/>
                  </a:lnTo>
                  <a:lnTo>
                    <a:pt x="2275763" y="115023"/>
                  </a:lnTo>
                  <a:lnTo>
                    <a:pt x="2276932" y="106768"/>
                  </a:lnTo>
                  <a:lnTo>
                    <a:pt x="2279916" y="101117"/>
                  </a:lnTo>
                  <a:lnTo>
                    <a:pt x="2289568" y="95059"/>
                  </a:lnTo>
                  <a:lnTo>
                    <a:pt x="2296134" y="93535"/>
                  </a:lnTo>
                  <a:lnTo>
                    <a:pt x="2313571" y="93535"/>
                  </a:lnTo>
                  <a:lnTo>
                    <a:pt x="2320544" y="95643"/>
                  </a:lnTo>
                  <a:lnTo>
                    <a:pt x="2325306" y="99834"/>
                  </a:lnTo>
                  <a:lnTo>
                    <a:pt x="2330107" y="103987"/>
                  </a:lnTo>
                  <a:lnTo>
                    <a:pt x="2332507" y="109931"/>
                  </a:lnTo>
                  <a:lnTo>
                    <a:pt x="2332507" y="126911"/>
                  </a:lnTo>
                  <a:lnTo>
                    <a:pt x="2332507" y="158610"/>
                  </a:lnTo>
                  <a:lnTo>
                    <a:pt x="2332507" y="182727"/>
                  </a:lnTo>
                  <a:lnTo>
                    <a:pt x="2329154" y="189115"/>
                  </a:lnTo>
                  <a:lnTo>
                    <a:pt x="2295499" y="201714"/>
                  </a:lnTo>
                  <a:lnTo>
                    <a:pt x="2286825" y="201714"/>
                  </a:lnTo>
                  <a:lnTo>
                    <a:pt x="2280158" y="199745"/>
                  </a:lnTo>
                  <a:lnTo>
                    <a:pt x="2270823" y="191909"/>
                  </a:lnTo>
                  <a:lnTo>
                    <a:pt x="2268486" y="186499"/>
                  </a:lnTo>
                  <a:lnTo>
                    <a:pt x="2268486" y="172885"/>
                  </a:lnTo>
                  <a:lnTo>
                    <a:pt x="2270379" y="167703"/>
                  </a:lnTo>
                  <a:lnTo>
                    <a:pt x="2277935" y="160426"/>
                  </a:lnTo>
                  <a:lnTo>
                    <a:pt x="2283320" y="158610"/>
                  </a:lnTo>
                  <a:lnTo>
                    <a:pt x="2332507" y="158610"/>
                  </a:lnTo>
                  <a:lnTo>
                    <a:pt x="2332507" y="126911"/>
                  </a:lnTo>
                  <a:lnTo>
                    <a:pt x="2289759" y="126911"/>
                  </a:lnTo>
                  <a:lnTo>
                    <a:pt x="2276970" y="127825"/>
                  </a:lnTo>
                  <a:lnTo>
                    <a:pt x="2239797" y="149415"/>
                  </a:lnTo>
                  <a:lnTo>
                    <a:pt x="2230780" y="181279"/>
                  </a:lnTo>
                  <a:lnTo>
                    <a:pt x="2231783" y="192760"/>
                  </a:lnTo>
                  <a:lnTo>
                    <a:pt x="2255685" y="225971"/>
                  </a:lnTo>
                  <a:lnTo>
                    <a:pt x="2289479" y="233959"/>
                  </a:lnTo>
                  <a:lnTo>
                    <a:pt x="2300262" y="233324"/>
                  </a:lnTo>
                  <a:lnTo>
                    <a:pt x="2335517" y="215988"/>
                  </a:lnTo>
                  <a:lnTo>
                    <a:pt x="2333142" y="231101"/>
                  </a:lnTo>
                  <a:lnTo>
                    <a:pt x="2370226" y="231101"/>
                  </a:lnTo>
                  <a:lnTo>
                    <a:pt x="2370226" y="195414"/>
                  </a:lnTo>
                  <a:lnTo>
                    <a:pt x="2370226" y="158610"/>
                  </a:lnTo>
                  <a:close/>
                </a:path>
                <a:path w="2543810" h="283210">
                  <a:moveTo>
                    <a:pt x="2543556" y="180505"/>
                  </a:moveTo>
                  <a:lnTo>
                    <a:pt x="2522880" y="139420"/>
                  </a:lnTo>
                  <a:lnTo>
                    <a:pt x="2468638" y="124955"/>
                  </a:lnTo>
                  <a:lnTo>
                    <a:pt x="2461361" y="123837"/>
                  </a:lnTo>
                  <a:lnTo>
                    <a:pt x="2456421" y="122174"/>
                  </a:lnTo>
                  <a:lnTo>
                    <a:pt x="2451189" y="117792"/>
                  </a:lnTo>
                  <a:lnTo>
                    <a:pt x="2449893" y="114439"/>
                  </a:lnTo>
                  <a:lnTo>
                    <a:pt x="2449944" y="109639"/>
                  </a:lnTo>
                  <a:lnTo>
                    <a:pt x="2451265" y="102755"/>
                  </a:lnTo>
                  <a:lnTo>
                    <a:pt x="2455430" y="97624"/>
                  </a:lnTo>
                  <a:lnTo>
                    <a:pt x="2462326" y="94564"/>
                  </a:lnTo>
                  <a:lnTo>
                    <a:pt x="2471991" y="93535"/>
                  </a:lnTo>
                  <a:lnTo>
                    <a:pt x="2489212" y="93535"/>
                  </a:lnTo>
                  <a:lnTo>
                    <a:pt x="2493543" y="94564"/>
                  </a:lnTo>
                  <a:lnTo>
                    <a:pt x="2493937" y="94564"/>
                  </a:lnTo>
                  <a:lnTo>
                    <a:pt x="2501341" y="99326"/>
                  </a:lnTo>
                  <a:lnTo>
                    <a:pt x="2503855" y="103797"/>
                  </a:lnTo>
                  <a:lnTo>
                    <a:pt x="2505303" y="110477"/>
                  </a:lnTo>
                  <a:lnTo>
                    <a:pt x="2542870" y="110477"/>
                  </a:lnTo>
                  <a:lnTo>
                    <a:pt x="2522931" y="70802"/>
                  </a:lnTo>
                  <a:lnTo>
                    <a:pt x="2482913" y="58699"/>
                  </a:lnTo>
                  <a:lnTo>
                    <a:pt x="2471991" y="58699"/>
                  </a:lnTo>
                  <a:lnTo>
                    <a:pt x="2459825" y="59448"/>
                  </a:lnTo>
                  <a:lnTo>
                    <a:pt x="2458936" y="59448"/>
                  </a:lnTo>
                  <a:lnTo>
                    <a:pt x="2420988" y="79425"/>
                  </a:lnTo>
                  <a:lnTo>
                    <a:pt x="2413063" y="99326"/>
                  </a:lnTo>
                  <a:lnTo>
                    <a:pt x="2412174" y="109639"/>
                  </a:lnTo>
                  <a:lnTo>
                    <a:pt x="2432088" y="149872"/>
                  </a:lnTo>
                  <a:lnTo>
                    <a:pt x="2484247" y="163995"/>
                  </a:lnTo>
                  <a:lnTo>
                    <a:pt x="2493734" y="166408"/>
                  </a:lnTo>
                  <a:lnTo>
                    <a:pt x="2500503" y="170192"/>
                  </a:lnTo>
                  <a:lnTo>
                    <a:pt x="2504579" y="175361"/>
                  </a:lnTo>
                  <a:lnTo>
                    <a:pt x="2505926" y="181914"/>
                  </a:lnTo>
                  <a:lnTo>
                    <a:pt x="2505926" y="187083"/>
                  </a:lnTo>
                  <a:lnTo>
                    <a:pt x="2504021" y="191262"/>
                  </a:lnTo>
                  <a:lnTo>
                    <a:pt x="2496413" y="197561"/>
                  </a:lnTo>
                  <a:lnTo>
                    <a:pt x="2490279" y="199123"/>
                  </a:lnTo>
                  <a:lnTo>
                    <a:pt x="2462720" y="199123"/>
                  </a:lnTo>
                  <a:lnTo>
                    <a:pt x="2445131" y="180505"/>
                  </a:lnTo>
                  <a:lnTo>
                    <a:pt x="2407691" y="180505"/>
                  </a:lnTo>
                  <a:lnTo>
                    <a:pt x="2407742" y="180721"/>
                  </a:lnTo>
                  <a:lnTo>
                    <a:pt x="2410206" y="193662"/>
                  </a:lnTo>
                  <a:lnTo>
                    <a:pt x="2414320" y="204863"/>
                  </a:lnTo>
                  <a:lnTo>
                    <a:pt x="2446109" y="230809"/>
                  </a:lnTo>
                  <a:lnTo>
                    <a:pt x="2456891" y="233083"/>
                  </a:lnTo>
                  <a:lnTo>
                    <a:pt x="2455875" y="233083"/>
                  </a:lnTo>
                  <a:lnTo>
                    <a:pt x="2469756" y="233959"/>
                  </a:lnTo>
                  <a:lnTo>
                    <a:pt x="2481796" y="233959"/>
                  </a:lnTo>
                  <a:lnTo>
                    <a:pt x="2527554" y="219900"/>
                  </a:lnTo>
                  <a:lnTo>
                    <a:pt x="2540685" y="199123"/>
                  </a:lnTo>
                  <a:lnTo>
                    <a:pt x="2542578" y="192557"/>
                  </a:lnTo>
                  <a:lnTo>
                    <a:pt x="2542679" y="191262"/>
                  </a:lnTo>
                  <a:lnTo>
                    <a:pt x="2543467" y="181914"/>
                  </a:lnTo>
                  <a:lnTo>
                    <a:pt x="2543556" y="180505"/>
                  </a:lnTo>
                  <a:close/>
                </a:path>
              </a:pathLst>
            </a:custGeom>
            <a:solidFill>
              <a:srgbClr val="007BB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491289" y="2722562"/>
            <a:ext cx="14575155" cy="3766820"/>
          </a:xfrm>
          <a:custGeom>
            <a:avLst/>
            <a:gdLst/>
            <a:ahLst/>
            <a:cxnLst/>
            <a:rect l="l" t="t" r="r" b="b"/>
            <a:pathLst>
              <a:path w="14575155" h="3766820">
                <a:moveTo>
                  <a:pt x="14498413" y="3766551"/>
                </a:moveTo>
                <a:lnTo>
                  <a:pt x="76505" y="3766551"/>
                </a:lnTo>
                <a:lnTo>
                  <a:pt x="71180" y="3766026"/>
                </a:lnTo>
                <a:lnTo>
                  <a:pt x="31920" y="3749765"/>
                </a:lnTo>
                <a:lnTo>
                  <a:pt x="4175" y="3711037"/>
                </a:lnTo>
                <a:lnTo>
                  <a:pt x="0" y="3690046"/>
                </a:lnTo>
                <a:lnTo>
                  <a:pt x="0" y="3684670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3690046"/>
                </a:lnTo>
                <a:lnTo>
                  <a:pt x="14558132" y="3734630"/>
                </a:lnTo>
                <a:lnTo>
                  <a:pt x="14519404" y="3762375"/>
                </a:lnTo>
                <a:lnTo>
                  <a:pt x="14503737" y="3766026"/>
                </a:lnTo>
                <a:lnTo>
                  <a:pt x="14498413" y="3766551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42352" y="1231899"/>
            <a:ext cx="12061825" cy="1008380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16025">
              <a:lnSpc>
                <a:spcPct val="100000"/>
              </a:lnSpc>
              <a:spcBef>
                <a:spcPts val="1265"/>
              </a:spcBef>
              <a:tabLst>
                <a:tab pos="2763520" algn="l"/>
              </a:tabLst>
            </a:pP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numpy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	</a:t>
            </a:r>
            <a:r>
              <a:rPr sz="2250" spc="-25" dirty="0">
                <a:solidFill>
                  <a:srgbClr val="04182D"/>
                </a:solidFill>
                <a:latin typeface="Monaco"/>
                <a:cs typeface="Monaco"/>
              </a:rPr>
              <a:t>np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dogs.pivot_table(values=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"weight_kg"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index=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"color"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 aggfunc=np.median)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846006" y="2935036"/>
            <a:ext cx="1573530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weight_kg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42352" y="3278939"/>
            <a:ext cx="885190" cy="29737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43300"/>
              </a:lnSpc>
              <a:spcBef>
                <a:spcPts val="95"/>
              </a:spcBef>
            </a:pP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color Black Brown </a:t>
            </a: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Gray </a:t>
            </a: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Tan </a:t>
            </a:r>
            <a:r>
              <a:rPr sz="2250" spc="-10" dirty="0">
                <a:solidFill>
                  <a:srgbClr val="FFFFFF"/>
                </a:solidFill>
                <a:latin typeface="Monaco"/>
                <a:cs typeface="Monaco"/>
              </a:rPr>
              <a:t>White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705759" y="3770228"/>
            <a:ext cx="713740" cy="2482215"/>
          </a:xfrm>
          <a:prstGeom prst="rect">
            <a:avLst/>
          </a:prstGeom>
        </p:spPr>
        <p:txBody>
          <a:bodyPr vert="horz" wrap="square" lIns="0" tIns="1606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65"/>
              </a:spcBef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26.5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24.0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17.0</a:t>
            </a:r>
            <a:endParaRPr sz="2250">
              <a:latin typeface="Monaco"/>
              <a:cs typeface="Monaco"/>
            </a:endParaRPr>
          </a:p>
          <a:p>
            <a:pPr marL="184150">
              <a:lnSpc>
                <a:spcPct val="100000"/>
              </a:lnSpc>
              <a:spcBef>
                <a:spcPts val="1170"/>
              </a:spcBef>
            </a:pPr>
            <a:r>
              <a:rPr sz="2250" spc="-25" dirty="0">
                <a:solidFill>
                  <a:srgbClr val="FFFFFF"/>
                </a:solidFill>
                <a:latin typeface="Monaco"/>
                <a:cs typeface="Monaco"/>
              </a:rPr>
              <a:t>2.0</a:t>
            </a:r>
            <a:endParaRPr sz="22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  <a:spcBef>
                <a:spcPts val="1170"/>
              </a:spcBef>
            </a:pPr>
            <a:r>
              <a:rPr sz="2250" spc="-20" dirty="0">
                <a:solidFill>
                  <a:srgbClr val="FFFFFF"/>
                </a:solidFill>
                <a:latin typeface="Monaco"/>
                <a:cs typeface="Monaco"/>
              </a:rPr>
              <a:t>74.0</a:t>
            </a:r>
            <a:endParaRPr sz="2250">
              <a:latin typeface="Monaco"/>
              <a:cs typeface="Monaco"/>
            </a:endParaRPr>
          </a:p>
        </p:txBody>
      </p:sp>
      <p:sp>
        <p:nvSpPr>
          <p:cNvPr id="14" name="슬라이드 번호 개체 틀 13">
            <a:extLst>
              <a:ext uri="{FF2B5EF4-FFF2-40B4-BE49-F238E27FC236}">
                <a16:creationId xmlns:a16="http://schemas.microsoft.com/office/drawing/2014/main" id="{A0FFE0F0-7883-670E-0B91-AB2796BEABDC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25</a:t>
            </a:fld>
            <a:endParaRPr lang="en-US" altLang="ko-K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0" dirty="0"/>
              <a:t>Multiple</a:t>
            </a:r>
            <a:r>
              <a:rPr spc="-270" dirty="0"/>
              <a:t> </a:t>
            </a:r>
            <a:r>
              <a:rPr spc="-110" dirty="0"/>
              <a:t>statistics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72"/>
            <a:ext cx="14575155" cy="4258310"/>
          </a:xfrm>
          <a:custGeom>
            <a:avLst/>
            <a:gdLst/>
            <a:ahLst/>
            <a:cxnLst/>
            <a:rect l="l" t="t" r="r" b="b"/>
            <a:pathLst>
              <a:path w="14575155" h="4258310">
                <a:moveTo>
                  <a:pt x="14498413" y="4257840"/>
                </a:moveTo>
                <a:lnTo>
                  <a:pt x="76505" y="4257840"/>
                </a:lnTo>
                <a:lnTo>
                  <a:pt x="71180" y="4257315"/>
                </a:lnTo>
                <a:lnTo>
                  <a:pt x="31920" y="4241054"/>
                </a:lnTo>
                <a:lnTo>
                  <a:pt x="4175" y="4202326"/>
                </a:lnTo>
                <a:lnTo>
                  <a:pt x="0" y="4181336"/>
                </a:lnTo>
                <a:lnTo>
                  <a:pt x="0" y="4175959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4181336"/>
                </a:lnTo>
                <a:lnTo>
                  <a:pt x="14558132" y="4225920"/>
                </a:lnTo>
                <a:lnTo>
                  <a:pt x="14519404" y="4253664"/>
                </a:lnTo>
                <a:lnTo>
                  <a:pt x="14503737" y="4257315"/>
                </a:lnTo>
                <a:lnTo>
                  <a:pt x="14498413" y="4257840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286"/>
            <a:ext cx="1395285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dogs.pivot_table(values=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"weight_kg"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index=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"color"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aggfunc=[np.mean,</a:t>
            </a:r>
            <a:r>
              <a:rPr sz="2250" spc="-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np.median])</a:t>
            </a:r>
            <a:endParaRPr sz="2250">
              <a:latin typeface="Monaco"/>
              <a:cs typeface="Monac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3302" y="2465044"/>
          <a:ext cx="4362449" cy="379221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772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5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656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0589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2500"/>
                        </a:spcBef>
                      </a:pPr>
                      <a:endParaRPr sz="2250">
                        <a:latin typeface="Times New Roman"/>
                        <a:cs typeface="Times New Roman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color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ts val="2640"/>
                        </a:lnSpc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mean</a:t>
                      </a:r>
                      <a:endParaRPr sz="2250">
                        <a:latin typeface="Monaco"/>
                        <a:cs typeface="Monaco"/>
                      </a:endParaRPr>
                    </a:p>
                    <a:p>
                      <a:pPr marR="78105" algn="r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weight_kg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median</a:t>
                      </a:r>
                      <a:endParaRPr sz="2250">
                        <a:latin typeface="Monaco"/>
                        <a:cs typeface="Monaco"/>
                      </a:endParaRPr>
                    </a:p>
                    <a:p>
                      <a:pPr marR="24130" algn="r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weight_kg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Black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26.5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26.5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Brown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24.0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24.0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Gray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17.0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17.0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Tan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2.0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2.0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White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78105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74.0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74.0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EC810AEE-2932-A7B5-B4DA-D370DAEBF877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26</a:t>
            </a:fld>
            <a:endParaRPr lang="en-US" altLang="ko-KR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30" dirty="0"/>
              <a:t>Pivot</a:t>
            </a:r>
            <a:r>
              <a:rPr spc="-140" dirty="0"/>
              <a:t> </a:t>
            </a:r>
            <a:r>
              <a:rPr spc="-110" dirty="0"/>
              <a:t>on</a:t>
            </a:r>
            <a:r>
              <a:rPr spc="-135" dirty="0"/>
              <a:t> </a:t>
            </a:r>
            <a:r>
              <a:rPr dirty="0"/>
              <a:t>two</a:t>
            </a:r>
            <a:r>
              <a:rPr spc="-135" dirty="0"/>
              <a:t> </a:t>
            </a:r>
            <a:r>
              <a:rPr spc="-60" dirty="0"/>
              <a:t>variables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716915"/>
          </a:xfrm>
          <a:custGeom>
            <a:avLst/>
            <a:gdLst/>
            <a:ahLst/>
            <a:cxnLst/>
            <a:rect l="l" t="t" r="r" b="b"/>
            <a:pathLst>
              <a:path w="14575155" h="716914">
                <a:moveTo>
                  <a:pt x="14498413" y="716463"/>
                </a:moveTo>
                <a:lnTo>
                  <a:pt x="76505" y="716463"/>
                </a:lnTo>
                <a:lnTo>
                  <a:pt x="71180" y="715939"/>
                </a:lnTo>
                <a:lnTo>
                  <a:pt x="31920" y="699677"/>
                </a:lnTo>
                <a:lnTo>
                  <a:pt x="4175" y="660949"/>
                </a:lnTo>
                <a:lnTo>
                  <a:pt x="0" y="639958"/>
                </a:lnTo>
                <a:lnTo>
                  <a:pt x="0" y="634582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639958"/>
                </a:lnTo>
                <a:lnTo>
                  <a:pt x="14558132" y="684543"/>
                </a:lnTo>
                <a:lnTo>
                  <a:pt x="14519404" y="712288"/>
                </a:lnTo>
                <a:lnTo>
                  <a:pt x="14503737" y="715939"/>
                </a:lnTo>
                <a:lnTo>
                  <a:pt x="14498413" y="716463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128920"/>
            <a:ext cx="14575155" cy="716915"/>
          </a:xfrm>
          <a:custGeom>
            <a:avLst/>
            <a:gdLst/>
            <a:ahLst/>
            <a:cxnLst/>
            <a:rect l="l" t="t" r="r" b="b"/>
            <a:pathLst>
              <a:path w="14575155" h="716914">
                <a:moveTo>
                  <a:pt x="14498413" y="716463"/>
                </a:moveTo>
                <a:lnTo>
                  <a:pt x="76505" y="716463"/>
                </a:lnTo>
                <a:lnTo>
                  <a:pt x="71180" y="715939"/>
                </a:lnTo>
                <a:lnTo>
                  <a:pt x="31920" y="699677"/>
                </a:lnTo>
                <a:lnTo>
                  <a:pt x="4175" y="660949"/>
                </a:lnTo>
                <a:lnTo>
                  <a:pt x="0" y="639958"/>
                </a:lnTo>
                <a:lnTo>
                  <a:pt x="0" y="634582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639958"/>
                </a:lnTo>
                <a:lnTo>
                  <a:pt x="14558132" y="684543"/>
                </a:lnTo>
                <a:lnTo>
                  <a:pt x="14519404" y="712288"/>
                </a:lnTo>
                <a:lnTo>
                  <a:pt x="14503737" y="715939"/>
                </a:lnTo>
                <a:lnTo>
                  <a:pt x="14498413" y="716463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491289" y="3091029"/>
            <a:ext cx="14575155" cy="3152775"/>
          </a:xfrm>
          <a:custGeom>
            <a:avLst/>
            <a:gdLst/>
            <a:ahLst/>
            <a:cxnLst/>
            <a:rect l="l" t="t" r="r" b="b"/>
            <a:pathLst>
              <a:path w="14575155" h="3152775">
                <a:moveTo>
                  <a:pt x="14498413" y="3152440"/>
                </a:moveTo>
                <a:lnTo>
                  <a:pt x="76505" y="3152440"/>
                </a:lnTo>
                <a:lnTo>
                  <a:pt x="71180" y="3151915"/>
                </a:lnTo>
                <a:lnTo>
                  <a:pt x="31920" y="3135653"/>
                </a:lnTo>
                <a:lnTo>
                  <a:pt x="4175" y="3096926"/>
                </a:lnTo>
                <a:lnTo>
                  <a:pt x="0" y="3075934"/>
                </a:lnTo>
                <a:lnTo>
                  <a:pt x="0" y="3070558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3075934"/>
                </a:lnTo>
                <a:lnTo>
                  <a:pt x="14558132" y="3120519"/>
                </a:lnTo>
                <a:lnTo>
                  <a:pt x="14519404" y="3148264"/>
                </a:lnTo>
                <a:lnTo>
                  <a:pt x="14503737" y="3151915"/>
                </a:lnTo>
                <a:lnTo>
                  <a:pt x="14498413" y="3152440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620922" y="1355131"/>
            <a:ext cx="10190480" cy="1287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950" dirty="0">
                <a:solidFill>
                  <a:srgbClr val="04182D"/>
                </a:solidFill>
                <a:latin typeface="Monaco"/>
                <a:cs typeface="Monaco"/>
              </a:rPr>
              <a:t>dogs.groupby([</a:t>
            </a:r>
            <a:r>
              <a:rPr sz="1950" dirty="0">
                <a:solidFill>
                  <a:srgbClr val="BE2F72"/>
                </a:solidFill>
                <a:latin typeface="Monaco"/>
                <a:cs typeface="Monaco"/>
              </a:rPr>
              <a:t>"color"</a:t>
            </a:r>
            <a:r>
              <a:rPr sz="19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1950" spc="-10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950" spc="-10" dirty="0">
                <a:solidFill>
                  <a:srgbClr val="BE2F72"/>
                </a:solidFill>
                <a:latin typeface="Monaco"/>
                <a:cs typeface="Monaco"/>
              </a:rPr>
              <a:t>"breed"</a:t>
            </a:r>
            <a:r>
              <a:rPr sz="1950" spc="-10" dirty="0">
                <a:solidFill>
                  <a:srgbClr val="04182D"/>
                </a:solidFill>
                <a:latin typeface="Monaco"/>
                <a:cs typeface="Monaco"/>
              </a:rPr>
              <a:t>])[</a:t>
            </a:r>
            <a:r>
              <a:rPr sz="1950" spc="-10" dirty="0">
                <a:solidFill>
                  <a:srgbClr val="BE2F72"/>
                </a:solidFill>
                <a:latin typeface="Monaco"/>
                <a:cs typeface="Monaco"/>
              </a:rPr>
              <a:t>"weight_kg"</a:t>
            </a:r>
            <a:r>
              <a:rPr sz="1950" spc="-10" dirty="0">
                <a:solidFill>
                  <a:srgbClr val="04182D"/>
                </a:solidFill>
                <a:latin typeface="Monaco"/>
                <a:cs typeface="Monaco"/>
              </a:rPr>
              <a:t>].mean()</a:t>
            </a:r>
            <a:endParaRPr sz="1950">
              <a:latin typeface="Monaco"/>
              <a:cs typeface="Monaco"/>
            </a:endParaRPr>
          </a:p>
          <a:p>
            <a:pPr>
              <a:lnSpc>
                <a:spcPct val="100000"/>
              </a:lnSpc>
            </a:pPr>
            <a:endParaRPr sz="1950">
              <a:latin typeface="Monaco"/>
              <a:cs typeface="Monaco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1950">
              <a:latin typeface="Monaco"/>
              <a:cs typeface="Monaco"/>
            </a:endParaRPr>
          </a:p>
          <a:p>
            <a:pPr marL="12700">
              <a:lnSpc>
                <a:spcPct val="100000"/>
              </a:lnSpc>
            </a:pPr>
            <a:r>
              <a:rPr sz="1950" dirty="0">
                <a:solidFill>
                  <a:srgbClr val="04182D"/>
                </a:solidFill>
                <a:latin typeface="Monaco"/>
                <a:cs typeface="Monaco"/>
              </a:rPr>
              <a:t>dogs.pivot_table(values=</a:t>
            </a:r>
            <a:r>
              <a:rPr sz="1950" dirty="0">
                <a:solidFill>
                  <a:srgbClr val="BE2F72"/>
                </a:solidFill>
                <a:latin typeface="Monaco"/>
                <a:cs typeface="Monaco"/>
              </a:rPr>
              <a:t>"weight_kg"</a:t>
            </a:r>
            <a:r>
              <a:rPr sz="19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1950" spc="-125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950" dirty="0">
                <a:solidFill>
                  <a:srgbClr val="04182D"/>
                </a:solidFill>
                <a:latin typeface="Monaco"/>
                <a:cs typeface="Monaco"/>
              </a:rPr>
              <a:t>index=</a:t>
            </a:r>
            <a:r>
              <a:rPr sz="1950" dirty="0">
                <a:solidFill>
                  <a:srgbClr val="BE2F72"/>
                </a:solidFill>
                <a:latin typeface="Monaco"/>
                <a:cs typeface="Monaco"/>
              </a:rPr>
              <a:t>"color"</a:t>
            </a:r>
            <a:r>
              <a:rPr sz="19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1950" spc="-114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1950" spc="-10" dirty="0">
                <a:solidFill>
                  <a:srgbClr val="04182D"/>
                </a:solidFill>
                <a:latin typeface="Monaco"/>
                <a:cs typeface="Monaco"/>
              </a:rPr>
              <a:t>columns=</a:t>
            </a:r>
            <a:r>
              <a:rPr sz="1950" spc="-10" dirty="0">
                <a:solidFill>
                  <a:srgbClr val="BE2F72"/>
                </a:solidFill>
                <a:latin typeface="Monaco"/>
                <a:cs typeface="Monaco"/>
              </a:rPr>
              <a:t>"breed"</a:t>
            </a:r>
            <a:r>
              <a:rPr sz="1950" spc="-10" dirty="0">
                <a:solidFill>
                  <a:srgbClr val="04182D"/>
                </a:solidFill>
                <a:latin typeface="Monaco"/>
                <a:cs typeface="Monaco"/>
              </a:rPr>
              <a:t>)</a:t>
            </a:r>
            <a:endParaRPr sz="1950">
              <a:latin typeface="Monaco"/>
              <a:cs typeface="Monaco"/>
            </a:endParaRPr>
          </a:p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601872" y="3279057"/>
          <a:ext cx="10377803" cy="27628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929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446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32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947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57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64401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24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768350">
                <a:tc>
                  <a:txBody>
                    <a:bodyPr/>
                    <a:lstStyle/>
                    <a:p>
                      <a:pPr marL="31750">
                        <a:lnSpc>
                          <a:spcPts val="2295"/>
                        </a:lnSpc>
                      </a:pPr>
                      <a:r>
                        <a:rPr sz="19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breed</a:t>
                      </a:r>
                      <a:endParaRPr sz="1950">
                        <a:latin typeface="Monaco"/>
                        <a:cs typeface="Monaco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r>
                        <a:rPr sz="19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color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ts val="2295"/>
                        </a:lnSpc>
                      </a:pPr>
                      <a:r>
                        <a:rPr sz="19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Chihuahua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ts val="2295"/>
                        </a:lnSpc>
                      </a:pPr>
                      <a:r>
                        <a:rPr sz="19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ts val="2295"/>
                        </a:lnSpc>
                      </a:pPr>
                      <a:r>
                        <a:rPr sz="19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ts val="2295"/>
                        </a:lnSpc>
                      </a:pPr>
                      <a:r>
                        <a:rPr sz="19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Labrador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ts val="2295"/>
                        </a:lnSpc>
                      </a:pPr>
                      <a:r>
                        <a:rPr sz="19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Poodle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ts val="2295"/>
                        </a:lnSpc>
                      </a:pPr>
                      <a:r>
                        <a:rPr sz="19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Schnauzer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49225">
                        <a:lnSpc>
                          <a:spcPts val="2295"/>
                        </a:lnSpc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St.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295"/>
                        </a:lnSpc>
                      </a:pPr>
                      <a:r>
                        <a:rPr sz="19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Bernard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Black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NaN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NaN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29.0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24.0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NaN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NaN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Brown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NaN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24.0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24.0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NaN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NaN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NaN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Gray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NaN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NaN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NaN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NaN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17.0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NaN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08940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Tan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2.0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NaN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NaN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NaN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NaN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NaN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877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White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NaN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NaN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NaN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NaN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 marR="141605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NaN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r>
                        <a:rPr sz="19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74.0</a:t>
                      </a:r>
                      <a:endParaRPr sz="1950">
                        <a:latin typeface="Monaco"/>
                        <a:cs typeface="Monaco"/>
                      </a:endParaRPr>
                    </a:p>
                  </a:txBody>
                  <a:tcPr marL="0" marR="0" marT="4381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슬라이드 번호 개체 틀 10">
            <a:extLst>
              <a:ext uri="{FF2B5EF4-FFF2-40B4-BE49-F238E27FC236}">
                <a16:creationId xmlns:a16="http://schemas.microsoft.com/office/drawing/2014/main" id="{67BBA92A-CF04-3E35-CB4C-94C6963E1622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27</a:t>
            </a:fld>
            <a:endParaRPr lang="en-US" altLang="ko-KR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25" dirty="0"/>
              <a:t>Filling</a:t>
            </a:r>
            <a:r>
              <a:rPr spc="-190" dirty="0"/>
              <a:t> </a:t>
            </a:r>
            <a:r>
              <a:rPr spc="-220" dirty="0"/>
              <a:t>missing</a:t>
            </a:r>
            <a:r>
              <a:rPr spc="-95" dirty="0"/>
              <a:t> </a:t>
            </a:r>
            <a:r>
              <a:rPr spc="-120" dirty="0"/>
              <a:t>values</a:t>
            </a:r>
            <a:r>
              <a:rPr spc="-190" dirty="0"/>
              <a:t> </a:t>
            </a:r>
            <a:r>
              <a:rPr spc="-55" dirty="0"/>
              <a:t>in</a:t>
            </a:r>
            <a:r>
              <a:rPr spc="-229" dirty="0"/>
              <a:t> </a:t>
            </a:r>
            <a:r>
              <a:rPr spc="-75" dirty="0"/>
              <a:t>pivot</a:t>
            </a:r>
            <a:r>
              <a:rPr spc="-175" dirty="0"/>
              <a:t> </a:t>
            </a:r>
            <a:r>
              <a:rPr spc="-10" dirty="0"/>
              <a:t>tables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812"/>
            <a:ext cx="14575155" cy="819150"/>
          </a:xfrm>
          <a:custGeom>
            <a:avLst/>
            <a:gdLst/>
            <a:ahLst/>
            <a:cxnLst/>
            <a:rect l="l" t="t" r="r" b="b"/>
            <a:pathLst>
              <a:path w="14575155" h="819150">
                <a:moveTo>
                  <a:pt x="14498413" y="818815"/>
                </a:moveTo>
                <a:lnTo>
                  <a:pt x="76505" y="818815"/>
                </a:lnTo>
                <a:lnTo>
                  <a:pt x="71180" y="818291"/>
                </a:lnTo>
                <a:lnTo>
                  <a:pt x="31920" y="802028"/>
                </a:lnTo>
                <a:lnTo>
                  <a:pt x="4175" y="763301"/>
                </a:lnTo>
                <a:lnTo>
                  <a:pt x="0" y="742310"/>
                </a:lnTo>
                <a:lnTo>
                  <a:pt x="0" y="736934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742310"/>
                </a:lnTo>
                <a:lnTo>
                  <a:pt x="14558132" y="786895"/>
                </a:lnTo>
                <a:lnTo>
                  <a:pt x="14519404" y="814639"/>
                </a:lnTo>
                <a:lnTo>
                  <a:pt x="14503737" y="818291"/>
                </a:lnTo>
                <a:lnTo>
                  <a:pt x="14498413" y="81881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231272"/>
            <a:ext cx="14575155" cy="3766820"/>
          </a:xfrm>
          <a:custGeom>
            <a:avLst/>
            <a:gdLst/>
            <a:ahLst/>
            <a:cxnLst/>
            <a:rect l="l" t="t" r="r" b="b"/>
            <a:pathLst>
              <a:path w="14575155" h="3766820">
                <a:moveTo>
                  <a:pt x="14498413" y="3766551"/>
                </a:moveTo>
                <a:lnTo>
                  <a:pt x="76505" y="3766551"/>
                </a:lnTo>
                <a:lnTo>
                  <a:pt x="71180" y="3766026"/>
                </a:lnTo>
                <a:lnTo>
                  <a:pt x="31920" y="3749764"/>
                </a:lnTo>
                <a:lnTo>
                  <a:pt x="4175" y="3711036"/>
                </a:lnTo>
                <a:lnTo>
                  <a:pt x="0" y="3690046"/>
                </a:lnTo>
                <a:lnTo>
                  <a:pt x="0" y="3684670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3690046"/>
                </a:lnTo>
                <a:lnTo>
                  <a:pt x="14558132" y="3734630"/>
                </a:lnTo>
                <a:lnTo>
                  <a:pt x="14519404" y="3762375"/>
                </a:lnTo>
                <a:lnTo>
                  <a:pt x="14503737" y="3766026"/>
                </a:lnTo>
                <a:lnTo>
                  <a:pt x="14498413" y="3766551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379286"/>
            <a:ext cx="14124305" cy="3695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dogs.pivot_table(values=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"weight_kg"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index=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"color"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columns=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"breed"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 fill_value=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0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)</a:t>
            </a:r>
            <a:endParaRPr sz="2250">
              <a:latin typeface="Monaco"/>
              <a:cs typeface="Monac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3302" y="2465044"/>
          <a:ext cx="11931012" cy="330072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1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02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60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916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40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3214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31750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breed</a:t>
                      </a:r>
                      <a:endParaRPr sz="2250">
                        <a:latin typeface="Monaco"/>
                        <a:cs typeface="Monaco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color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Chihuahua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2640"/>
                        </a:lnSpc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Labrador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Poodle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Schnauzer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2640"/>
                        </a:lnSpc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St.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Bernard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Black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Brown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Gray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17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Tan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White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5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04B15C87-AB6E-F91B-0319-658D8EB7C7C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28</a:t>
            </a:fld>
            <a:endParaRPr lang="en-US" altLang="ko-KR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pc="-160" dirty="0"/>
              <a:t>Summing</a:t>
            </a:r>
            <a:r>
              <a:rPr spc="-165" dirty="0"/>
              <a:t> </a:t>
            </a:r>
            <a:r>
              <a:rPr spc="-10" dirty="0"/>
              <a:t>with</a:t>
            </a:r>
            <a:r>
              <a:rPr spc="-250" dirty="0"/>
              <a:t> </a:t>
            </a:r>
            <a:r>
              <a:rPr spc="-75" dirty="0"/>
              <a:t>pivot</a:t>
            </a:r>
            <a:r>
              <a:rPr spc="-200" dirty="0"/>
              <a:t> </a:t>
            </a:r>
            <a:r>
              <a:rPr spc="-10" dirty="0"/>
              <a:t>tables</a:t>
            </a:r>
          </a:p>
        </p:txBody>
      </p:sp>
      <p:sp>
        <p:nvSpPr>
          <p:cNvPr id="3" name="object 3"/>
          <p:cNvSpPr/>
          <p:nvPr/>
        </p:nvSpPr>
        <p:spPr>
          <a:xfrm>
            <a:off x="491289" y="1166788"/>
            <a:ext cx="14575155" cy="1310640"/>
          </a:xfrm>
          <a:custGeom>
            <a:avLst/>
            <a:gdLst/>
            <a:ahLst/>
            <a:cxnLst/>
            <a:rect l="l" t="t" r="r" b="b"/>
            <a:pathLst>
              <a:path w="14575155" h="1310639">
                <a:moveTo>
                  <a:pt x="14498413" y="1310105"/>
                </a:moveTo>
                <a:lnTo>
                  <a:pt x="76505" y="1310105"/>
                </a:lnTo>
                <a:lnTo>
                  <a:pt x="71180" y="1309580"/>
                </a:lnTo>
                <a:lnTo>
                  <a:pt x="31920" y="1293318"/>
                </a:lnTo>
                <a:lnTo>
                  <a:pt x="4175" y="1254590"/>
                </a:lnTo>
                <a:lnTo>
                  <a:pt x="0" y="1233599"/>
                </a:lnTo>
                <a:lnTo>
                  <a:pt x="0" y="1228223"/>
                </a:lnTo>
                <a:lnTo>
                  <a:pt x="0" y="76505"/>
                </a:lnTo>
                <a:lnTo>
                  <a:pt x="16786" y="31920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1233599"/>
                </a:lnTo>
                <a:lnTo>
                  <a:pt x="14558132" y="1278184"/>
                </a:lnTo>
                <a:lnTo>
                  <a:pt x="14519404" y="1305929"/>
                </a:lnTo>
                <a:lnTo>
                  <a:pt x="14503737" y="1309580"/>
                </a:lnTo>
                <a:lnTo>
                  <a:pt x="14498413" y="1310105"/>
                </a:lnTo>
                <a:close/>
              </a:path>
            </a:pathLst>
          </a:custGeom>
          <a:solidFill>
            <a:srgbClr val="F6F2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491289" y="2722538"/>
            <a:ext cx="14575155" cy="4258310"/>
          </a:xfrm>
          <a:custGeom>
            <a:avLst/>
            <a:gdLst/>
            <a:ahLst/>
            <a:cxnLst/>
            <a:rect l="l" t="t" r="r" b="b"/>
            <a:pathLst>
              <a:path w="14575155" h="4258309">
                <a:moveTo>
                  <a:pt x="14498413" y="4257840"/>
                </a:moveTo>
                <a:lnTo>
                  <a:pt x="76505" y="4257840"/>
                </a:lnTo>
                <a:lnTo>
                  <a:pt x="71180" y="4257316"/>
                </a:lnTo>
                <a:lnTo>
                  <a:pt x="31920" y="4241054"/>
                </a:lnTo>
                <a:lnTo>
                  <a:pt x="4175" y="4202326"/>
                </a:lnTo>
                <a:lnTo>
                  <a:pt x="0" y="4181335"/>
                </a:lnTo>
                <a:lnTo>
                  <a:pt x="0" y="4175960"/>
                </a:lnTo>
                <a:lnTo>
                  <a:pt x="0" y="76505"/>
                </a:lnTo>
                <a:lnTo>
                  <a:pt x="16786" y="31919"/>
                </a:lnTo>
                <a:lnTo>
                  <a:pt x="55513" y="4175"/>
                </a:lnTo>
                <a:lnTo>
                  <a:pt x="76505" y="0"/>
                </a:lnTo>
                <a:lnTo>
                  <a:pt x="14498413" y="0"/>
                </a:lnTo>
                <a:lnTo>
                  <a:pt x="14542998" y="16786"/>
                </a:lnTo>
                <a:lnTo>
                  <a:pt x="14570742" y="55513"/>
                </a:lnTo>
                <a:lnTo>
                  <a:pt x="14574918" y="76505"/>
                </a:lnTo>
                <a:lnTo>
                  <a:pt x="14574918" y="4181335"/>
                </a:lnTo>
                <a:lnTo>
                  <a:pt x="14558132" y="4225920"/>
                </a:lnTo>
                <a:lnTo>
                  <a:pt x="14519404" y="4253664"/>
                </a:lnTo>
                <a:lnTo>
                  <a:pt x="14503737" y="4257316"/>
                </a:lnTo>
                <a:lnTo>
                  <a:pt x="14498413" y="4257840"/>
                </a:lnTo>
                <a:close/>
              </a:path>
            </a:pathLst>
          </a:custGeom>
          <a:solidFill>
            <a:srgbClr val="04182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642352" y="1231876"/>
            <a:ext cx="11717655" cy="10083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935605" marR="5080" indent="-2923540">
              <a:lnSpc>
                <a:spcPct val="143300"/>
              </a:lnSpc>
              <a:spcBef>
                <a:spcPts val="95"/>
              </a:spcBef>
            </a:pP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dogs.pivot_table(values=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"weight_kg"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index=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"color"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 columns=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"breed"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, 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fill_value=</a:t>
            </a:r>
            <a:r>
              <a:rPr sz="2250" dirty="0">
                <a:solidFill>
                  <a:srgbClr val="BE2F72"/>
                </a:solidFill>
                <a:latin typeface="Monaco"/>
                <a:cs typeface="Monaco"/>
              </a:rPr>
              <a:t>0</a:t>
            </a:r>
            <a:r>
              <a:rPr sz="2250" dirty="0">
                <a:solidFill>
                  <a:srgbClr val="04182D"/>
                </a:solidFill>
                <a:latin typeface="Monaco"/>
                <a:cs typeface="Monaco"/>
              </a:rPr>
              <a:t>,</a:t>
            </a:r>
            <a:r>
              <a:rPr sz="2250" spc="-20" dirty="0">
                <a:solidFill>
                  <a:srgbClr val="04182D"/>
                </a:solidFill>
                <a:latin typeface="Monaco"/>
                <a:cs typeface="Monaco"/>
              </a:rPr>
              <a:t> 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margins=</a:t>
            </a:r>
            <a:r>
              <a:rPr sz="2250" spc="-10" dirty="0">
                <a:solidFill>
                  <a:srgbClr val="BE2F72"/>
                </a:solidFill>
                <a:latin typeface="Monaco"/>
                <a:cs typeface="Monaco"/>
              </a:rPr>
              <a:t>True</a:t>
            </a:r>
            <a:r>
              <a:rPr sz="2250" spc="-10" dirty="0">
                <a:solidFill>
                  <a:srgbClr val="04182D"/>
                </a:solidFill>
                <a:latin typeface="Monaco"/>
                <a:cs typeface="Monaco"/>
              </a:rPr>
              <a:t>)</a:t>
            </a:r>
            <a:endParaRPr sz="2250">
              <a:latin typeface="Monaco"/>
              <a:cs typeface="Monaco"/>
            </a:endParaRPr>
          </a:p>
        </p:txBody>
      </p:sp>
      <p:graphicFrame>
        <p:nvGraphicFramePr>
          <p:cNvPr id="6" name="object 6"/>
          <p:cNvGraphicFramePr>
            <a:graphicFrameLocks noGrp="1"/>
          </p:cNvGraphicFramePr>
          <p:nvPr/>
        </p:nvGraphicFramePr>
        <p:xfrm>
          <a:off x="623302" y="2956310"/>
          <a:ext cx="13822677" cy="379158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6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166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202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60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89166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7406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146177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75132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914400">
                <a:tc>
                  <a:txBody>
                    <a:bodyPr/>
                    <a:lstStyle/>
                    <a:p>
                      <a:pPr marL="31750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breed</a:t>
                      </a:r>
                      <a:endParaRPr sz="2250">
                        <a:latin typeface="Monaco"/>
                        <a:cs typeface="Monaco"/>
                      </a:endParaRPr>
                    </a:p>
                    <a:p>
                      <a:pPr marL="31750">
                        <a:lnSpc>
                          <a:spcPct val="100000"/>
                        </a:lnSpc>
                        <a:spcBef>
                          <a:spcPts val="116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color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Chihuahua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2640"/>
                        </a:lnSpc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Chow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Labrador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Poodle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Schnauzer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171450">
                        <a:lnSpc>
                          <a:spcPts val="2640"/>
                        </a:lnSpc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St.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ts val="2640"/>
                        </a:lnSpc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Bernard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ts val="2640"/>
                        </a:lnSpc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All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Black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29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26.500000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Brown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24.000000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Gray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17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17.000000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Tan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2.000000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90855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White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74.000000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22909">
                <a:tc>
                  <a:txBody>
                    <a:bodyPr/>
                    <a:lstStyle/>
                    <a:p>
                      <a:pPr marL="31750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All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5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17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R="1638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25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74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tc>
                  <a:txBody>
                    <a:bodyPr/>
                    <a:lstStyle/>
                    <a:p>
                      <a:pPr marR="24130" algn="r">
                        <a:lnSpc>
                          <a:spcPct val="100000"/>
                        </a:lnSpc>
                        <a:spcBef>
                          <a:spcPts val="475"/>
                        </a:spcBef>
                      </a:pPr>
                      <a:r>
                        <a:rPr sz="2250" spc="-10" dirty="0">
                          <a:solidFill>
                            <a:srgbClr val="FFFFFF"/>
                          </a:solidFill>
                          <a:latin typeface="Monaco"/>
                          <a:cs typeface="Monaco"/>
                        </a:rPr>
                        <a:t>27.714286</a:t>
                      </a:r>
                      <a:endParaRPr sz="2250">
                        <a:latin typeface="Monaco"/>
                        <a:cs typeface="Monaco"/>
                      </a:endParaRPr>
                    </a:p>
                  </a:txBody>
                  <a:tcPr marL="0" marR="0" marT="60325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슬라이드 번호 개체 틀 9">
            <a:extLst>
              <a:ext uri="{FF2B5EF4-FFF2-40B4-BE49-F238E27FC236}">
                <a16:creationId xmlns:a16="http://schemas.microsoft.com/office/drawing/2014/main" id="{6A1A9ACE-D8AB-E2F6-1A93-CC3FA2B98A68}"/>
              </a:ext>
            </a:extLst>
          </p:cNvPr>
          <p:cNvSpPr>
            <a:spLocks noGrp="1"/>
          </p:cNvSpPr>
          <p:nvPr>
            <p:ph type="sldNum" sz="quarter" idx="7"/>
          </p:nvPr>
        </p:nvSpPr>
        <p:spPr/>
        <p:txBody>
          <a:bodyPr/>
          <a:lstStyle/>
          <a:p>
            <a:fld id="{B6F15528-21DE-4FAA-801E-634DDDAF4B2B}" type="slidenum">
              <a:rPr lang="en-US" altLang="ko-KR" smtClean="0"/>
              <a:t>29</a:t>
            </a:fld>
            <a:endParaRPr lang="en-US" altLang="ko-K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1511</Words>
  <Application>Microsoft Macintosh PowerPoint</Application>
  <PresentationFormat>사용자 지정</PresentationFormat>
  <Paragraphs>652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35" baseType="lpstr">
      <vt:lpstr>맑은 고딕</vt:lpstr>
      <vt:lpstr>Arial</vt:lpstr>
      <vt:lpstr>Calibri</vt:lpstr>
      <vt:lpstr>Monaco</vt:lpstr>
      <vt:lpstr>Times New Roman</vt:lpstr>
      <vt:lpstr>Office Theme</vt:lpstr>
      <vt:lpstr>Summary statistics DATA M A N I P U L AT I O N W I T H PA N DA S</vt:lpstr>
      <vt:lpstr>Summarizing numerical data</vt:lpstr>
      <vt:lpstr>Summarizing dates</vt:lpstr>
      <vt:lpstr>The .agg() method</vt:lpstr>
      <vt:lpstr>Summaries on multiple columns</vt:lpstr>
      <vt:lpstr>Multiple summaries</vt:lpstr>
      <vt:lpstr>Cumulative sum</vt:lpstr>
      <vt:lpstr>Cumulative statistics</vt:lpstr>
      <vt:lpstr>Walmart</vt:lpstr>
      <vt:lpstr>Counting DATA M A N I P U L AT I O N W I T H PA N DA S</vt:lpstr>
      <vt:lpstr>Avoiding double counting</vt:lpstr>
      <vt:lpstr>Vet visits</vt:lpstr>
      <vt:lpstr>Dropping duplicate names</vt:lpstr>
      <vt:lpstr>Dropping duplicate pairs</vt:lpstr>
      <vt:lpstr>Easy as 1, 2, 3</vt:lpstr>
      <vt:lpstr>Proportions</vt:lpstr>
      <vt:lpstr>Grouped summary statistics DATA M A N I P U L AT I O N W I T H PA N DA S</vt:lpstr>
      <vt:lpstr>Summaries by group</vt:lpstr>
      <vt:lpstr>Grouped summaries</vt:lpstr>
      <vt:lpstr>Multiple grouped summaries</vt:lpstr>
      <vt:lpstr>Grouping by multiple variables</vt:lpstr>
      <vt:lpstr>Many groups, many summaries</vt:lpstr>
      <vt:lpstr>Pivot tables DATA M A N I P U L AT I O N W I T H PA N DA S</vt:lpstr>
      <vt:lpstr>Group by to pivot table</vt:lpstr>
      <vt:lpstr>Different statistics</vt:lpstr>
      <vt:lpstr>Multiple statistics</vt:lpstr>
      <vt:lpstr>Pivot on two variables</vt:lpstr>
      <vt:lpstr>Filling missing values in pivot tables</vt:lpstr>
      <vt:lpstr>Summing with pivot tables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백우진</cp:lastModifiedBy>
  <cp:revision>1</cp:revision>
  <dcterms:created xsi:type="dcterms:W3CDTF">2024-12-08T09:09:27Z</dcterms:created>
  <dcterms:modified xsi:type="dcterms:W3CDTF">2024-12-08T09:14:14Z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2024-08-23T00:00:00Z</vt:filetime>
  </property>
  <property fmtid="{D5CDD505-2E9C-101B-9397-08002B2CF9AE}" pid="3" name="Creator">
    <vt:lpwstr>Chromium</vt:lpwstr>
  </property>
  <property fmtid="{D5CDD505-2E9C-101B-9397-08002B2CF9AE}" pid="4" name="LastSaved">
    <vt:filetime>2024-12-08T00:00:00Z</vt:filetime>
  </property>
  <property fmtid="{D5CDD505-2E9C-101B-9397-08002B2CF9AE}" pid="5" name="Producer">
    <vt:lpwstr>Skia/PDF m89</vt:lpwstr>
  </property>
</Properties>
</file>