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81" r:id="rId3"/>
    <p:sldId id="282" r:id="rId4"/>
    <p:sldId id="283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20"/>
    <p:restoredTop sz="94694"/>
  </p:normalViewPr>
  <p:slideViewPr>
    <p:cSldViewPr>
      <p:cViewPr varScale="1">
        <p:scale>
          <a:sx n="64" d="100"/>
          <a:sy n="64" d="100"/>
        </p:scale>
        <p:origin x="184" y="10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4C7BA-E44D-9B4D-AB2F-5D7E91B9C34C}" type="datetimeFigureOut">
              <a:rPr kumimoji="1" lang="ko-KR" altLang="en-US" smtClean="0"/>
              <a:t>2025. 1. 13.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149CB-94CF-3045-9914-830BF5BB53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164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C7D65-E07F-A245-994A-BAA979C339B8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5572B-BFA3-5746-94DC-C891775B32ED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C5937-822F-1B40-B1EE-984B9C8721CD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1477D-2BF9-B346-88CE-30D4D9F96C49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5BBD3-76AE-4744-B322-3A1B6868AEE7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417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73"/>
            <a:ext cx="968502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88961" y="2157161"/>
            <a:ext cx="7000240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6186" y="8207389"/>
            <a:ext cx="2656840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96E91-459F-FE45-88C8-DD1541D2B1FB}" type="datetime1">
              <a:rPr lang="ko-KR" altLang="en-US" smtClean="0"/>
              <a:t>2025. 1. 13.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3937" y="2236119"/>
            <a:ext cx="605028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dirty="0"/>
              <a:t>What</a:t>
            </a:r>
            <a:r>
              <a:rPr sz="6450" spc="-285" dirty="0"/>
              <a:t> </a:t>
            </a:r>
            <a:r>
              <a:rPr sz="6450" spc="-425" dirty="0"/>
              <a:t>is</a:t>
            </a:r>
            <a:r>
              <a:rPr sz="6450" spc="-229" dirty="0"/>
              <a:t> </a:t>
            </a:r>
            <a:r>
              <a:rPr sz="6450" spc="-345" dirty="0"/>
              <a:t>MLOps?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04AA876-04FB-0A1E-1DD9-E10F626142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DE272-432F-AB9A-F57F-F32A4A368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875" y="175260"/>
            <a:ext cx="13792200" cy="8617744"/>
          </a:xfrm>
        </p:spPr>
        <p:txBody>
          <a:bodyPr/>
          <a:lstStyle/>
          <a:p>
            <a:r>
              <a:rPr kumimoji="1" lang="en" altLang="ko-KR" sz="2000" dirty="0" err="1"/>
              <a:t>MLOps</a:t>
            </a:r>
            <a:r>
              <a:rPr kumimoji="1" lang="en" altLang="ko-KR" sz="2000" dirty="0"/>
              <a:t>(</a:t>
            </a:r>
            <a:r>
              <a:rPr kumimoji="1" lang="ko-KR" altLang="en-US" sz="2000" dirty="0" err="1"/>
              <a:t>머신러닝</a:t>
            </a:r>
            <a:r>
              <a:rPr kumimoji="1" lang="ko-KR" altLang="en-US" sz="2000" dirty="0"/>
              <a:t> 운영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는 </a:t>
            </a:r>
            <a:r>
              <a:rPr kumimoji="1" lang="en" altLang="ko-KR" sz="2000" dirty="0"/>
              <a:t>DevOps(</a:t>
            </a:r>
            <a:r>
              <a:rPr kumimoji="1" lang="ko-KR" altLang="en-US" sz="2000" dirty="0"/>
              <a:t>소프트웨어 개발 및 운영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의 원칙을 </a:t>
            </a:r>
            <a:r>
              <a:rPr kumimoji="1" lang="ko-KR" altLang="en-US" sz="2000" dirty="0" err="1"/>
              <a:t>머신러닝</a:t>
            </a:r>
            <a:r>
              <a:rPr kumimoji="1" lang="ko-KR" altLang="en-US" sz="2000" dirty="0"/>
              <a:t> 모델의 개발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배포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운영에 적용한 접근 방식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이는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모델을 생산 환경에서 안정적이고 지속적으로 관리하고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모델의 개발부터 배포 및 운영까지의 전체 생애주기를 체계적으로 지원하는 데 목적이 있음</a:t>
            </a:r>
          </a:p>
          <a:p>
            <a:endParaRPr kumimoji="1" lang="ko-KR" altLang="en-US" sz="2000" b="0" dirty="0"/>
          </a:p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주요 목적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효율적인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모델 개발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모델을 개발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실험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검증하는 과정을 자동화하고 협업을 강화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신속하고 안정적인 배포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개발된 모델을 빠르고 안정적으로 배포하여 실시간 서비스를 가능하게 함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운영 및 유지관리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배포된 모델의 성능을 지속적으로 모니터링하고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성능 저하 시 </a:t>
            </a:r>
            <a:r>
              <a:rPr kumimoji="1" lang="ko-KR" altLang="en-US" sz="2000" b="0" dirty="0" err="1"/>
              <a:t>재학습</a:t>
            </a:r>
            <a:r>
              <a:rPr kumimoji="1" lang="ko-KR" altLang="en-US" sz="2000" b="0" dirty="0"/>
              <a:t> 및 업데이트를 자동화</a:t>
            </a:r>
            <a:r>
              <a:rPr kumimoji="1" lang="en-US" altLang="ko-KR" sz="2000" b="0" dirty="0"/>
              <a:t>.</a:t>
            </a:r>
          </a:p>
          <a:p>
            <a:endParaRPr kumimoji="1" lang="en-US" altLang="ko-KR" sz="2000" b="0" dirty="0"/>
          </a:p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구성 요소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개발 </a:t>
            </a:r>
            <a:r>
              <a:rPr kumimoji="1" lang="en-US" altLang="ko-KR" sz="2000" b="0" dirty="0"/>
              <a:t>(</a:t>
            </a:r>
            <a:r>
              <a:rPr kumimoji="1" lang="en" altLang="ko-KR" sz="2000" b="0" dirty="0"/>
              <a:t>Development):</a:t>
            </a:r>
          </a:p>
          <a:p>
            <a:r>
              <a:rPr kumimoji="1" lang="ko-KR" altLang="en-US" sz="2000" b="0" dirty="0"/>
              <a:t>데이터 준비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모델 학습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 err="1"/>
              <a:t>하이퍼파라미터</a:t>
            </a:r>
            <a:r>
              <a:rPr kumimoji="1" lang="ko-KR" altLang="en-US" sz="2000" b="0" dirty="0"/>
              <a:t> 튜닝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실험 관리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버전 관리 툴을 통해 데이터와 모델 변경 이력을 추적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도구</a:t>
            </a:r>
            <a:r>
              <a:rPr kumimoji="1" lang="en-US" altLang="ko-KR" sz="2000" b="0" dirty="0"/>
              <a:t>: </a:t>
            </a:r>
            <a:r>
              <a:rPr kumimoji="1" lang="en" altLang="ko-KR" sz="2000" b="0" dirty="0" err="1"/>
              <a:t>Jupyter</a:t>
            </a:r>
            <a:r>
              <a:rPr kumimoji="1" lang="en" altLang="ko-KR" sz="2000" b="0" dirty="0"/>
              <a:t> Notebook, TensorFlow, </a:t>
            </a:r>
            <a:r>
              <a:rPr kumimoji="1" lang="en" altLang="ko-KR" sz="2000" b="0" dirty="0" err="1"/>
              <a:t>PyTorch</a:t>
            </a:r>
            <a:r>
              <a:rPr kumimoji="1" lang="en" altLang="ko-KR" sz="2000" b="0" dirty="0"/>
              <a:t> </a:t>
            </a:r>
            <a:r>
              <a:rPr kumimoji="1" lang="ko-KR" altLang="en-US" sz="2000" b="0" dirty="0"/>
              <a:t>등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모델 검증 및 테스트 </a:t>
            </a:r>
            <a:r>
              <a:rPr kumimoji="1" lang="en-US" altLang="ko-KR" sz="2000" b="0" dirty="0"/>
              <a:t>(</a:t>
            </a:r>
            <a:r>
              <a:rPr kumimoji="1" lang="en" altLang="ko-KR" sz="2000" b="0" dirty="0"/>
              <a:t>Validation &amp; Testing):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학습된 모델의 성능을 평가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데이터 </a:t>
            </a:r>
            <a:r>
              <a:rPr kumimoji="1" lang="ko-KR" altLang="en-US" sz="2000" b="0" dirty="0" err="1"/>
              <a:t>드리프트</a:t>
            </a:r>
            <a:r>
              <a:rPr kumimoji="1" lang="ko-KR" altLang="en-US" sz="2000" b="0" dirty="0"/>
              <a:t> 및 모델 </a:t>
            </a:r>
            <a:r>
              <a:rPr kumimoji="1" lang="ko-KR" altLang="en-US" sz="2000" b="0" dirty="0" err="1"/>
              <a:t>드리프트를</a:t>
            </a:r>
            <a:r>
              <a:rPr kumimoji="1" lang="ko-KR" altLang="en-US" sz="2000" b="0" dirty="0"/>
              <a:t> 감지하여 성능 저하를 방지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배포 </a:t>
            </a:r>
            <a:r>
              <a:rPr kumimoji="1" lang="en-US" altLang="ko-KR" sz="2000" b="0" dirty="0"/>
              <a:t>(</a:t>
            </a:r>
            <a:r>
              <a:rPr kumimoji="1" lang="en" altLang="ko-KR" sz="2000" b="0" dirty="0"/>
              <a:t>Deployment):</a:t>
            </a:r>
          </a:p>
          <a:p>
            <a:r>
              <a:rPr kumimoji="1" lang="ko-KR" altLang="en-US" sz="2000" b="0" dirty="0"/>
              <a:t>모델을 </a:t>
            </a:r>
            <a:r>
              <a:rPr kumimoji="1" lang="en" altLang="ko-KR" sz="2000" b="0" dirty="0"/>
              <a:t>API </a:t>
            </a:r>
            <a:r>
              <a:rPr kumimoji="1" lang="ko-KR" altLang="en-US" sz="2000" b="0" dirty="0"/>
              <a:t>또는 애플리케이션으로 배포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배포 방식</a:t>
            </a:r>
            <a:r>
              <a:rPr kumimoji="1" lang="en-US" altLang="ko-KR" sz="2000" b="0" dirty="0"/>
              <a:t>: </a:t>
            </a:r>
            <a:r>
              <a:rPr kumimoji="1" lang="ko-KR" altLang="en-US" sz="2000" b="0" dirty="0"/>
              <a:t>실시간 배포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배치 배포</a:t>
            </a:r>
            <a:r>
              <a:rPr kumimoji="1" lang="en-US" altLang="ko-KR" sz="2000" b="0" dirty="0"/>
              <a:t>, </a:t>
            </a:r>
            <a:r>
              <a:rPr kumimoji="1" lang="en" altLang="ko-KR" sz="2000" b="0" dirty="0"/>
              <a:t>A/B </a:t>
            </a:r>
            <a:r>
              <a:rPr kumimoji="1" lang="ko-KR" altLang="en-US" sz="2000" b="0" dirty="0"/>
              <a:t>테스트 배포</a:t>
            </a:r>
            <a:r>
              <a:rPr kumimoji="1" lang="en-US" altLang="ko-KR" sz="2000" b="0" dirty="0"/>
              <a:t>, </a:t>
            </a:r>
            <a:r>
              <a:rPr kumimoji="1" lang="en" altLang="ko-KR" sz="2000" b="0" dirty="0"/>
              <a:t>Canary </a:t>
            </a:r>
            <a:r>
              <a:rPr kumimoji="1" lang="ko-KR" altLang="en-US" sz="2000" b="0" dirty="0"/>
              <a:t>배포 등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운영 및 모니터링 </a:t>
            </a:r>
            <a:r>
              <a:rPr kumimoji="1" lang="en-US" altLang="ko-KR" sz="2000" b="0" dirty="0"/>
              <a:t>(</a:t>
            </a:r>
            <a:r>
              <a:rPr kumimoji="1" lang="en" altLang="ko-KR" sz="2000" b="0" dirty="0"/>
              <a:t>Operations &amp; Monitoring):</a:t>
            </a:r>
          </a:p>
          <a:p>
            <a:r>
              <a:rPr kumimoji="1" lang="ko-KR" altLang="en-US" sz="2000" b="0" dirty="0"/>
              <a:t>운영 중인 모델의 성능 및 데이터의 변화를 실시간으로 모니터링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예측 실패율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응답 속도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서비스 가용성을 분석</a:t>
            </a:r>
            <a:r>
              <a:rPr kumimoji="1" lang="en-US" altLang="ko-KR" sz="2000" b="0" dirty="0"/>
              <a:t>.</a:t>
            </a:r>
          </a:p>
          <a:p>
            <a:r>
              <a:rPr kumimoji="1" lang="ko-KR" altLang="en-US" sz="2000" b="0" dirty="0"/>
              <a:t>문제가 발생할 경우 경고를 보내고 필요한 조치를 자동화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자동화 및 </a:t>
            </a:r>
            <a:r>
              <a:rPr kumimoji="1" lang="ko-KR" altLang="en-US" sz="2000" b="0" dirty="0" err="1"/>
              <a:t>재학습</a:t>
            </a:r>
            <a:r>
              <a:rPr kumimoji="1" lang="ko-KR" altLang="en-US" sz="2000" b="0" dirty="0"/>
              <a:t> </a:t>
            </a:r>
            <a:r>
              <a:rPr kumimoji="1" lang="en-US" altLang="ko-KR" sz="2000" b="0" dirty="0"/>
              <a:t>(</a:t>
            </a:r>
            <a:r>
              <a:rPr kumimoji="1" lang="en" altLang="ko-KR" sz="2000" b="0" dirty="0"/>
              <a:t>Automation &amp; Retraining):</a:t>
            </a:r>
          </a:p>
          <a:p>
            <a:r>
              <a:rPr kumimoji="1" lang="ko-KR" altLang="en-US" sz="2000" b="0" dirty="0"/>
              <a:t>새 데이터가 들어오거나 모델 성능이 저하될 경우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모델을 자동으로 </a:t>
            </a:r>
            <a:r>
              <a:rPr kumimoji="1" lang="ko-KR" altLang="en-US" sz="2000" b="0" dirty="0" err="1"/>
              <a:t>재학습</a:t>
            </a:r>
            <a:r>
              <a:rPr kumimoji="1" lang="ko-KR" altLang="en-US" sz="2000" b="0" dirty="0"/>
              <a:t> 및 업데이트</a:t>
            </a:r>
            <a:r>
              <a:rPr kumimoji="1" lang="en-US" altLang="ko-KR" sz="2000" b="0" dirty="0"/>
              <a:t>.</a:t>
            </a:r>
            <a:endParaRPr kumimoji="1" lang="ko-KR" altLang="en-US" sz="20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3FB4E-0CDB-19E3-9553-F96549A72D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48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9DDD-76CE-49B1-93BB-A78A28E1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240005-5CB9-1CB3-4FDD-DC7DF1D7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875" y="1429345"/>
            <a:ext cx="13792200" cy="5847755"/>
          </a:xfrm>
        </p:spPr>
        <p:txBody>
          <a:bodyPr/>
          <a:lstStyle/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주요 단계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데이터 수집 및 준비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데이터를 수집하고 정제하여 학습에 적합한 형태로 변환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개발 및 학습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알고리즘을 사용하여 모델을 설계하고 학습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평가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학습된 모델의 성능을 테스트 데이터로 평가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배포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학습된 모델을 프로덕션 환경에 배포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모니터링 및 </a:t>
            </a:r>
            <a:r>
              <a:rPr kumimoji="1" lang="ko-KR" altLang="en-US" sz="2000" b="0" dirty="0" err="1"/>
              <a:t>재학습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배포된 모델의 성능과 입력 데이터를 지속적으로 모니터링하고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필요시 </a:t>
            </a:r>
            <a:r>
              <a:rPr kumimoji="1" lang="ko-KR" altLang="en-US" sz="2000" b="0" dirty="0" err="1"/>
              <a:t>재학습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핵심 원칙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자동화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 준비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모델 학습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배포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모니터링 등 반복 작업을 자동화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협업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 과학자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엔지니어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운영팀 간의 원활한 협업을 지원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재현성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실험 결과와 모델 학습 과정을 재현 가능하게 유지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확장성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데이터와 모델 규모가 커져도 시스템이 안정적으로 작동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모니터링 및 피드백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모델의 성능을 실시간으로 모니터링하고 필요한 경우 조정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b="0" dirty="0"/>
          </a:p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장점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프로덕션 모델의 신뢰성 향상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모델 성능 및 데이터 품질을 지속적으로 모니터링하여 예측 실패를 최소화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생산성 증대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반복적이고 수동적인 작업을 자동화하여 데이터 과학자의 시간 절약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모델 품질 보장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모델의 재현성과 버전 관리를 통해 안정적인 결과 제공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운영 비용 절감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효율적인 운영과 자동화를 통해 비용 절감</a:t>
            </a:r>
            <a:r>
              <a:rPr kumimoji="1" lang="en-US" altLang="ko-KR" sz="2000" b="0" dirty="0"/>
              <a:t>.</a:t>
            </a:r>
            <a:endParaRPr kumimoji="1" lang="ko-KR" altLang="en-US" sz="20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438BB-6EAC-96B6-7265-4F9B8EEDB2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172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AAD10-E9C9-BD68-9D18-67419DC7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0F5C75-45D3-D033-87DC-41CF4EE56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875" y="1429345"/>
            <a:ext cx="13792200" cy="4308872"/>
          </a:xfrm>
        </p:spPr>
        <p:txBody>
          <a:bodyPr/>
          <a:lstStyle/>
          <a:p>
            <a:r>
              <a:rPr kumimoji="1" lang="en" altLang="ko-KR" sz="2000" dirty="0" err="1"/>
              <a:t>MLOps</a:t>
            </a:r>
            <a:r>
              <a:rPr kumimoji="1" lang="ko-KR" altLang="en-US" sz="2000" dirty="0"/>
              <a:t>의 도입 사례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전자상거래</a:t>
            </a:r>
            <a:r>
              <a:rPr kumimoji="1" lang="en-US" altLang="ko-KR" sz="2000" b="0" dirty="0"/>
              <a:t>: </a:t>
            </a:r>
            <a:r>
              <a:rPr kumimoji="1" lang="ko-KR" altLang="en-US" sz="2000" b="0" dirty="0"/>
              <a:t>추천 시스템 모델을 자동 배포 및 모니터링하여 고객 경험 개선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금융</a:t>
            </a:r>
            <a:r>
              <a:rPr kumimoji="1" lang="en-US" altLang="ko-KR" sz="2000" b="0" dirty="0"/>
              <a:t>: </a:t>
            </a:r>
            <a:r>
              <a:rPr kumimoji="1" lang="ko-KR" altLang="en-US" sz="2000" b="0" dirty="0"/>
              <a:t>사기 탐지 모델을 실시간으로 모니터링하고 업데이트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헬스케어</a:t>
            </a:r>
            <a:r>
              <a:rPr kumimoji="1" lang="en-US" altLang="ko-KR" sz="2000" b="0" dirty="0"/>
              <a:t>: </a:t>
            </a:r>
            <a:r>
              <a:rPr kumimoji="1" lang="ko-KR" altLang="en-US" sz="2000" b="0" dirty="0"/>
              <a:t>환자 데이터 기반 예측 모델을 배포 및 관리하여 의료 효율성 향상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b="0" dirty="0"/>
          </a:p>
          <a:p>
            <a:r>
              <a:rPr kumimoji="1" lang="en-US" altLang="ko-KR" sz="2000" dirty="0" err="1"/>
              <a:t>MLOps</a:t>
            </a:r>
            <a:r>
              <a:rPr kumimoji="1" lang="ko-KR" altLang="en-US" sz="2000" dirty="0"/>
              <a:t>의 어려움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복잡성 증가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모델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시스템 간의 의존성이 증가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팀 간 협업 부족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데이터 과학자와 엔지니어 간의 역할 차이로 인해 협업이 어려울 수 있음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운영 환경 관리</a:t>
            </a:r>
            <a:r>
              <a:rPr kumimoji="1" lang="en-US" altLang="ko-KR" sz="2000" b="0" dirty="0"/>
              <a:t>:</a:t>
            </a:r>
            <a:r>
              <a:rPr kumimoji="1" lang="ko-KR" altLang="en-US" sz="2000" b="0" dirty="0"/>
              <a:t> 클라우드 및 </a:t>
            </a:r>
            <a:r>
              <a:rPr kumimoji="1" lang="ko-KR" altLang="en-US" sz="2000" b="0" dirty="0" err="1"/>
              <a:t>온프레미스</a:t>
            </a:r>
            <a:r>
              <a:rPr kumimoji="1" lang="ko-KR" altLang="en-US" sz="2000" b="0" dirty="0"/>
              <a:t> 환경에서의 배포와 관리 복잡성</a:t>
            </a:r>
            <a:r>
              <a:rPr kumimoji="1" lang="en-US" altLang="ko-KR" sz="2000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2000" b="0" dirty="0"/>
          </a:p>
          <a:p>
            <a:r>
              <a:rPr kumimoji="1" lang="ko-KR" altLang="en-US" sz="2000" dirty="0"/>
              <a:t>결론</a:t>
            </a:r>
            <a:endParaRPr kumimoji="1"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b="0" dirty="0" err="1"/>
              <a:t>MLOps</a:t>
            </a:r>
            <a:r>
              <a:rPr kumimoji="1" lang="ko-KR" altLang="en-US" sz="2000" b="0" dirty="0"/>
              <a:t>는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모델을 효과적으로 관리하고 운영하기 위한 필수적인 프레임워크</a:t>
            </a:r>
            <a:endParaRPr kumimoji="1" lang="en-US" altLang="ko-KR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000" b="0" dirty="0"/>
              <a:t>자동화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협업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재현성을 통해 </a:t>
            </a:r>
            <a:r>
              <a:rPr kumimoji="1" lang="ko-KR" altLang="en-US" sz="2000" b="0" dirty="0" err="1"/>
              <a:t>머신러닝</a:t>
            </a:r>
            <a:r>
              <a:rPr kumimoji="1" lang="ko-KR" altLang="en-US" sz="2000" b="0" dirty="0"/>
              <a:t> 모델의 품질과 신뢰성을 높이고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기업의 데이터 기반 의사 결정을 지원</a:t>
            </a:r>
            <a:endParaRPr kumimoji="1" lang="en-US" altLang="ko-KR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000" b="0" dirty="0" err="1"/>
              <a:t>MLOps</a:t>
            </a:r>
            <a:r>
              <a:rPr kumimoji="1" lang="ko-KR" altLang="en-US" sz="2000" b="0" dirty="0" err="1"/>
              <a:t>를</a:t>
            </a:r>
            <a:r>
              <a:rPr kumimoji="1" lang="ko-KR" altLang="en-US" sz="2000" b="0" dirty="0"/>
              <a:t> 성공적으로 구현하면 모델 배포 주기가 단축되고</a:t>
            </a:r>
            <a:r>
              <a:rPr kumimoji="1" lang="en-US" altLang="ko-KR" sz="2000" b="0" dirty="0"/>
              <a:t>, </a:t>
            </a:r>
            <a:r>
              <a:rPr kumimoji="1" lang="ko-KR" altLang="en-US" sz="2000" b="0" dirty="0"/>
              <a:t>운영 효율성이 극대화됨</a:t>
            </a:r>
            <a:endParaRPr kumimoji="1" lang="en-US" altLang="ko-KR" sz="2000" b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4010A4-12E5-E752-635F-B1A2090DCB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0371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Machine</a:t>
            </a:r>
            <a:r>
              <a:rPr spc="-160" dirty="0"/>
              <a:t> </a:t>
            </a:r>
            <a:r>
              <a:rPr spc="-120" dirty="0"/>
              <a:t>Learning</a:t>
            </a:r>
            <a:r>
              <a:rPr spc="-155" dirty="0"/>
              <a:t> </a:t>
            </a:r>
            <a:r>
              <a:rPr spc="-5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589" y="1078340"/>
            <a:ext cx="13352780" cy="24803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550" spc="-3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650" i="1" spc="-3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7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650" i="1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105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50" dirty="0">
                <a:solidFill>
                  <a:srgbClr val="04182D"/>
                </a:solidFill>
                <a:latin typeface="Arial"/>
                <a:cs typeface="Arial"/>
              </a:rPr>
              <a:t>practices</a:t>
            </a:r>
            <a:r>
              <a:rPr sz="2650" i="1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95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b="1" i="1" spc="-80" dirty="0">
                <a:solidFill>
                  <a:srgbClr val="04182D"/>
                </a:solidFill>
                <a:latin typeface="Arial"/>
                <a:cs typeface="Arial"/>
              </a:rPr>
              <a:t>design</a:t>
            </a:r>
            <a:r>
              <a:rPr sz="2650" i="1" spc="-8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650" i="1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b="1" i="1" spc="-25" dirty="0">
                <a:solidFill>
                  <a:srgbClr val="04182D"/>
                </a:solidFill>
                <a:latin typeface="Arial"/>
                <a:cs typeface="Arial"/>
              </a:rPr>
              <a:t>deploy</a:t>
            </a:r>
            <a:r>
              <a:rPr sz="2650" b="1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b="1" i="1" dirty="0">
                <a:solidFill>
                  <a:srgbClr val="04182D"/>
                </a:solidFill>
                <a:latin typeface="Arial"/>
                <a:cs typeface="Arial"/>
              </a:rPr>
              <a:t>maintain</a:t>
            </a:r>
            <a:r>
              <a:rPr sz="2650" b="1" i="1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4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650" i="1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650" i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40" dirty="0">
                <a:solidFill>
                  <a:srgbClr val="04182D"/>
                </a:solidFill>
                <a:latin typeface="Arial"/>
                <a:cs typeface="Arial"/>
              </a:rPr>
              <a:t>production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650" b="1" i="1" spc="-90" dirty="0">
                <a:solidFill>
                  <a:srgbClr val="04182D"/>
                </a:solidFill>
                <a:latin typeface="Arial"/>
                <a:cs typeface="Arial"/>
              </a:rPr>
              <a:t>continuously</a:t>
            </a:r>
            <a:r>
              <a:rPr sz="2650" i="1" spc="-9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650" i="1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b="1" i="1" spc="-25" dirty="0">
                <a:solidFill>
                  <a:srgbClr val="04182D"/>
                </a:solidFill>
                <a:latin typeface="Arial"/>
                <a:cs typeface="Arial"/>
              </a:rPr>
              <a:t>reliably</a:t>
            </a:r>
            <a:r>
              <a:rPr sz="2650" i="1" spc="-25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650" i="1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650" i="1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b="1" i="1" spc="-10" dirty="0">
                <a:solidFill>
                  <a:srgbClr val="04182D"/>
                </a:solidFill>
                <a:latin typeface="Arial"/>
                <a:cs typeface="Arial"/>
              </a:rPr>
              <a:t>efficiently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  <a:p>
            <a:pPr marL="381000" marR="6581775">
              <a:lnSpc>
                <a:spcPct val="165300"/>
              </a:lnSpc>
              <a:spcBef>
                <a:spcPts val="11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Focus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'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650" i="1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40" dirty="0">
                <a:solidFill>
                  <a:srgbClr val="04182D"/>
                </a:solidFill>
                <a:latin typeface="Arial"/>
                <a:cs typeface="Arial"/>
              </a:rPr>
              <a:t>production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'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full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289" y="3787021"/>
            <a:ext cx="14574919" cy="2906795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269E45B-0BEE-7153-5A17-BB0A710224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53555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165" dirty="0"/>
              <a:t> </a:t>
            </a:r>
            <a:r>
              <a:rPr spc="-105" dirty="0"/>
              <a:t>origin</a:t>
            </a:r>
            <a:r>
              <a:rPr spc="-160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spc="-80" dirty="0"/>
              <a:t>MLOps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9473" y="1191278"/>
            <a:ext cx="7238550" cy="40860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813590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637126"/>
            <a:ext cx="789495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Practices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tools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deliver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software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applications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Operations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used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separate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6468642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5FFEC70-FB16-A4D5-DB20-9275F48E47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2245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290" dirty="0"/>
              <a:t> </a:t>
            </a:r>
            <a:r>
              <a:rPr spc="-100" dirty="0"/>
              <a:t>MLOps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103" y="1166812"/>
            <a:ext cx="13061290" cy="54246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63" y="7172407"/>
            <a:ext cx="14319885" cy="6972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 marR="30480">
              <a:lnSpc>
                <a:spcPts val="2580"/>
              </a:lnSpc>
              <a:spcBef>
                <a:spcPts val="290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517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04182D"/>
                </a:solidFill>
                <a:latin typeface="Arial"/>
                <a:cs typeface="Arial"/>
              </a:rPr>
              <a:t>https://cloud.google.com/architecture/mlops-</a:t>
            </a:r>
            <a:r>
              <a:rPr sz="2250" spc="55" dirty="0">
                <a:solidFill>
                  <a:srgbClr val="04182D"/>
                </a:solidFill>
                <a:latin typeface="Arial"/>
                <a:cs typeface="Arial"/>
              </a:rPr>
              <a:t>continuous-</a:t>
            </a:r>
            <a:r>
              <a:rPr sz="2250" spc="65" dirty="0">
                <a:solidFill>
                  <a:srgbClr val="04182D"/>
                </a:solidFill>
                <a:latin typeface="Arial"/>
                <a:cs typeface="Arial"/>
              </a:rPr>
              <a:t>delivery-</a:t>
            </a:r>
            <a:r>
              <a:rPr sz="2250" spc="85" dirty="0">
                <a:solidFill>
                  <a:srgbClr val="04182D"/>
                </a:solidFill>
                <a:latin typeface="Arial"/>
                <a:cs typeface="Arial"/>
              </a:rPr>
              <a:t>and-</a:t>
            </a:r>
            <a:r>
              <a:rPr sz="2250" spc="90" dirty="0">
                <a:solidFill>
                  <a:srgbClr val="04182D"/>
                </a:solidFill>
                <a:latin typeface="Arial"/>
                <a:cs typeface="Arial"/>
              </a:rPr>
              <a:t>automation-</a:t>
            </a:r>
            <a:r>
              <a:rPr sz="2250" spc="50" dirty="0">
                <a:solidFill>
                  <a:srgbClr val="04182D"/>
                </a:solidFill>
                <a:latin typeface="Arial"/>
                <a:cs typeface="Arial"/>
              </a:rPr>
              <a:t>pipelines-in-</a:t>
            </a:r>
            <a:r>
              <a:rPr sz="2250" spc="65" dirty="0">
                <a:solidFill>
                  <a:srgbClr val="04182D"/>
                </a:solidFill>
                <a:latin typeface="Arial"/>
                <a:cs typeface="Arial"/>
              </a:rPr>
              <a:t>machine- </a:t>
            </a:r>
            <a:r>
              <a:rPr sz="2250" spc="55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BFDD56-92F9-E865-BEF3-75250FC721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2"/>
            <a:ext cx="32245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290" dirty="0"/>
              <a:t> </a:t>
            </a:r>
            <a:r>
              <a:rPr spc="-100" dirty="0"/>
              <a:t>MLOps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099" y="1166809"/>
            <a:ext cx="7102076" cy="2947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1351042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174579"/>
            <a:ext cx="520382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Improved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collaboration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Automation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performance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006095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661148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47C4368-B461-E7BE-A1A0-922ABF59B4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pc="-90" dirty="0"/>
              <a:t>Different</a:t>
            </a:r>
            <a:r>
              <a:rPr spc="-295" dirty="0"/>
              <a:t> </a:t>
            </a:r>
            <a:r>
              <a:rPr spc="-290" dirty="0"/>
              <a:t>phases</a:t>
            </a:r>
            <a:r>
              <a:rPr spc="-235" dirty="0"/>
              <a:t> </a:t>
            </a:r>
            <a:r>
              <a:rPr spc="-55" dirty="0"/>
              <a:t>in </a:t>
            </a:r>
            <a:r>
              <a:rPr spc="-40" dirty="0"/>
              <a:t>MLOps</a:t>
            </a:r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DEAE257-B0F6-1A0F-C78D-786B76ECDE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MLOps</a:t>
            </a:r>
            <a:r>
              <a:rPr spc="-200" dirty="0"/>
              <a:t> </a:t>
            </a:r>
            <a:r>
              <a:rPr spc="-25" dirty="0"/>
              <a:t>lifecycle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687" y="1166812"/>
            <a:ext cx="11668122" cy="384843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65B4E-3FF1-F00F-C348-1F8FAF1A0C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210" dirty="0"/>
              <a:t> </a:t>
            </a:r>
            <a:r>
              <a:rPr dirty="0"/>
              <a:t>the</a:t>
            </a:r>
            <a:r>
              <a:rPr spc="-210" dirty="0"/>
              <a:t> </a:t>
            </a:r>
            <a:r>
              <a:rPr spc="-40" dirty="0"/>
              <a:t>machine</a:t>
            </a:r>
            <a:r>
              <a:rPr spc="-204" dirty="0"/>
              <a:t> </a:t>
            </a:r>
            <a:r>
              <a:rPr spc="-65" dirty="0"/>
              <a:t>learning</a:t>
            </a:r>
            <a:r>
              <a:rPr spc="-210" dirty="0"/>
              <a:t> </a:t>
            </a:r>
            <a:r>
              <a:rPr spc="-35" dirty="0"/>
              <a:t>lifecycle?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687" y="1166806"/>
            <a:ext cx="11668122" cy="38484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526999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350536"/>
            <a:ext cx="526542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Structures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ML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process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Defines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key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players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stage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Toolkit</a:t>
            </a:r>
            <a:r>
              <a:rPr sz="2550" spc="1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2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optimization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6182052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837105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0717D7F8-C56D-E2BD-ACB1-F93B439685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358647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Design</a:t>
            </a:r>
            <a:r>
              <a:rPr spc="-170" dirty="0"/>
              <a:t> </a:t>
            </a:r>
            <a:r>
              <a:rPr spc="-6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83" y="1166806"/>
            <a:ext cx="4626308" cy="65300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5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993392"/>
            <a:ext cx="3592829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Context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problem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Added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value</a:t>
            </a:r>
            <a:endParaRPr sz="2550">
              <a:latin typeface="Arial"/>
              <a:cs typeface="Arial"/>
            </a:endParaRPr>
          </a:p>
          <a:p>
            <a:pPr marL="12700" marR="142240">
              <a:lnSpc>
                <a:spcPts val="5160"/>
              </a:lnSpc>
              <a:spcBef>
                <a:spcPts val="5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Business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requirements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Key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metrics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processing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90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3479961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4135013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790066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8F7F617-8F89-44AB-E576-4B7F5721A1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Development</a:t>
            </a:r>
            <a:r>
              <a:rPr spc="-220" dirty="0"/>
              <a:t> </a:t>
            </a:r>
            <a:r>
              <a:rPr spc="-5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83" y="1166812"/>
            <a:ext cx="4626308" cy="65300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993398"/>
            <a:ext cx="5890895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Develop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Experiment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data,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algorithms,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ready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914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3971256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07A0C089-4F22-6A9A-EA29-87E5696D60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98348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  <a:r>
              <a:rPr spc="-254" dirty="0"/>
              <a:t> </a:t>
            </a:r>
            <a:r>
              <a:rPr spc="-50" dirty="0"/>
              <a:t>phase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983" y="1166812"/>
            <a:ext cx="4626308" cy="65300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895140"/>
            <a:ext cx="6184265" cy="231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Integrate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in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business</a:t>
            </a:r>
            <a:endParaRPr sz="2550">
              <a:latin typeface="Arial"/>
              <a:cs typeface="Arial"/>
            </a:endParaRPr>
          </a:p>
          <a:p>
            <a:pPr marL="12700" marR="854075">
              <a:lnSpc>
                <a:spcPts val="5160"/>
              </a:lnSpc>
              <a:spcBef>
                <a:spcPts val="320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Deploying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production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performance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3316203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3971256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CE6B1D7-E5D3-CE87-E9B6-434C0E65DDC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MLOps</a:t>
            </a:r>
            <a:r>
              <a:rPr spc="-200" dirty="0"/>
              <a:t> </a:t>
            </a:r>
            <a:r>
              <a:rPr spc="-25" dirty="0"/>
              <a:t>lifecycle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687" y="1166812"/>
            <a:ext cx="11668122" cy="384843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69954E-D4B7-9927-3385-888EB168F7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8811" y="2236119"/>
            <a:ext cx="568071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475" dirty="0"/>
              <a:t>Roles</a:t>
            </a:r>
            <a:r>
              <a:rPr sz="6450" spc="-220" dirty="0"/>
              <a:t> </a:t>
            </a:r>
            <a:r>
              <a:rPr sz="6450" spc="-240" dirty="0"/>
              <a:t>in</a:t>
            </a:r>
            <a:r>
              <a:rPr sz="6450" spc="-225" dirty="0"/>
              <a:t> </a:t>
            </a:r>
            <a:r>
              <a:rPr sz="6450" spc="-155" dirty="0"/>
              <a:t>MLOps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834940B-4480-9E85-4CED-FD8639388D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Machine</a:t>
            </a:r>
            <a:r>
              <a:rPr spc="-180" dirty="0"/>
              <a:t> </a:t>
            </a:r>
            <a:r>
              <a:rPr spc="-65" dirty="0"/>
              <a:t>learning</a:t>
            </a:r>
            <a:r>
              <a:rPr spc="-180" dirty="0"/>
              <a:t> </a:t>
            </a:r>
            <a:r>
              <a:rPr spc="-10" dirty="0"/>
              <a:t>lifecycle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9" cy="2906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585367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4408904"/>
            <a:ext cx="230187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Business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roles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Technical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roles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24042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18A34FE-A6DF-5A1D-9B57-BB04477578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589" y="-98688"/>
            <a:ext cx="3737610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300" dirty="0"/>
              <a:t>Business</a:t>
            </a:r>
            <a:r>
              <a:rPr spc="-75" dirty="0"/>
              <a:t> </a:t>
            </a:r>
            <a:r>
              <a:rPr spc="-55" dirty="0"/>
              <a:t>roles</a:t>
            </a:r>
          </a:p>
          <a:p>
            <a:pPr marL="381000" marR="5080">
              <a:lnSpc>
                <a:spcPts val="5160"/>
              </a:lnSpc>
            </a:pPr>
            <a:r>
              <a:rPr sz="2550" b="0" dirty="0">
                <a:latin typeface="Arial"/>
                <a:cs typeface="Arial"/>
              </a:rPr>
              <a:t>Business</a:t>
            </a:r>
            <a:r>
              <a:rPr sz="2550" b="0" spc="60" dirty="0">
                <a:latin typeface="Arial"/>
                <a:cs typeface="Arial"/>
              </a:rPr>
              <a:t> stakeholder </a:t>
            </a:r>
            <a:r>
              <a:rPr sz="2550" b="0" spc="65" dirty="0">
                <a:latin typeface="Arial"/>
                <a:cs typeface="Arial"/>
              </a:rPr>
              <a:t>Subject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40" dirty="0">
                <a:latin typeface="Arial"/>
                <a:cs typeface="Arial"/>
              </a:rPr>
              <a:t>matter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90" dirty="0">
                <a:latin typeface="Arial"/>
                <a:cs typeface="Arial"/>
              </a:rPr>
              <a:t>expert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00"/>
            <a:ext cx="7123696" cy="6530054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5A2869-CF11-A941-844D-4D16BA799C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0" dirty="0"/>
              <a:t>Business</a:t>
            </a:r>
            <a:r>
              <a:rPr spc="-80" dirty="0"/>
              <a:t> </a:t>
            </a:r>
            <a:r>
              <a:rPr spc="-220" dirty="0"/>
              <a:t>roles:</a:t>
            </a:r>
            <a:r>
              <a:rPr spc="-75" dirty="0"/>
              <a:t> </a:t>
            </a:r>
            <a:r>
              <a:rPr spc="-254" dirty="0"/>
              <a:t>business</a:t>
            </a:r>
            <a:r>
              <a:rPr spc="-75" dirty="0"/>
              <a:t> </a:t>
            </a:r>
            <a:r>
              <a:rPr spc="-70" dirty="0"/>
              <a:t>stakeholder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00"/>
            <a:ext cx="14574919" cy="3643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322290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145826"/>
            <a:ext cx="505460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Budget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decisions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Vision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company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Involved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throughout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77342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632395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8EC913A-A030-6D6A-7559-00D35A22E8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0" dirty="0"/>
              <a:t>Business</a:t>
            </a:r>
            <a:r>
              <a:rPr spc="-55" dirty="0"/>
              <a:t> </a:t>
            </a:r>
            <a:r>
              <a:rPr spc="-220" dirty="0"/>
              <a:t>roles:</a:t>
            </a:r>
            <a:r>
              <a:rPr spc="-40" dirty="0"/>
              <a:t> </a:t>
            </a:r>
            <a:r>
              <a:rPr spc="-95" dirty="0"/>
              <a:t>subject</a:t>
            </a:r>
            <a:r>
              <a:rPr spc="-45" dirty="0"/>
              <a:t> </a:t>
            </a:r>
            <a:r>
              <a:rPr dirty="0"/>
              <a:t>matter</a:t>
            </a:r>
            <a:r>
              <a:rPr spc="-40" dirty="0"/>
              <a:t> </a:t>
            </a:r>
            <a:r>
              <a:rPr spc="-10" dirty="0"/>
              <a:t>expert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00"/>
            <a:ext cx="14574919" cy="3643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322290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145826"/>
            <a:ext cx="505460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Domain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knowledge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Involved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throughout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Interpret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validate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77342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6632395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C2552BF0-B16D-DC7E-7753-09404EC459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3931285" cy="300228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525" dirty="0"/>
              <a:t>T</a:t>
            </a:r>
            <a:r>
              <a:rPr spc="-85" dirty="0"/>
              <a:t>ec</a:t>
            </a:r>
            <a:r>
              <a:rPr spc="-95" dirty="0"/>
              <a:t>h</a:t>
            </a:r>
            <a:r>
              <a:rPr spc="-90" dirty="0"/>
              <a:t>n</a:t>
            </a:r>
            <a:r>
              <a:rPr spc="-130" dirty="0"/>
              <a:t>i</a:t>
            </a:r>
            <a:r>
              <a:rPr spc="-85" dirty="0"/>
              <a:t>c</a:t>
            </a:r>
            <a:r>
              <a:rPr spc="-80" dirty="0"/>
              <a:t>a</a:t>
            </a:r>
            <a:r>
              <a:rPr dirty="0"/>
              <a:t>l</a:t>
            </a:r>
            <a:r>
              <a:rPr spc="-130" dirty="0"/>
              <a:t> </a:t>
            </a:r>
            <a:r>
              <a:rPr spc="-135" dirty="0"/>
              <a:t>roles</a:t>
            </a:r>
          </a:p>
          <a:p>
            <a:pPr marL="381000" marR="1350010" algn="just">
              <a:lnSpc>
                <a:spcPts val="5160"/>
              </a:lnSpc>
            </a:pPr>
            <a:r>
              <a:rPr sz="2550" b="0" spc="130" dirty="0">
                <a:latin typeface="Arial"/>
                <a:cs typeface="Arial"/>
              </a:rPr>
              <a:t>Data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scientist </a:t>
            </a:r>
            <a:r>
              <a:rPr sz="2550" b="0" spc="130" dirty="0">
                <a:latin typeface="Arial"/>
                <a:cs typeface="Arial"/>
              </a:rPr>
              <a:t>Data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engineer </a:t>
            </a:r>
            <a:r>
              <a:rPr sz="2550" b="0" spc="60" dirty="0">
                <a:latin typeface="Arial"/>
                <a:cs typeface="Arial"/>
              </a:rPr>
              <a:t>ML</a:t>
            </a:r>
            <a:r>
              <a:rPr sz="2550" b="0" spc="40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engineer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5777" y="1571484"/>
            <a:ext cx="4309736" cy="3995357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E129F1D-BD50-F785-120D-6AF0078628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25" dirty="0"/>
              <a:t>T</a:t>
            </a:r>
            <a:r>
              <a:rPr spc="-85" dirty="0"/>
              <a:t>ec</a:t>
            </a:r>
            <a:r>
              <a:rPr spc="-95" dirty="0"/>
              <a:t>h</a:t>
            </a:r>
            <a:r>
              <a:rPr spc="-90" dirty="0"/>
              <a:t>n</a:t>
            </a:r>
            <a:r>
              <a:rPr spc="-130" dirty="0"/>
              <a:t>i</a:t>
            </a:r>
            <a:r>
              <a:rPr spc="-85" dirty="0"/>
              <a:t>c</a:t>
            </a:r>
            <a:r>
              <a:rPr spc="-80" dirty="0"/>
              <a:t>a</a:t>
            </a:r>
            <a:r>
              <a:rPr dirty="0"/>
              <a:t>l</a:t>
            </a:r>
            <a:r>
              <a:rPr spc="-114" dirty="0"/>
              <a:t> </a:t>
            </a:r>
            <a:r>
              <a:rPr spc="-220" dirty="0"/>
              <a:t>roles:</a:t>
            </a:r>
            <a:r>
              <a:rPr spc="-95" dirty="0"/>
              <a:t> </a:t>
            </a:r>
            <a:r>
              <a:rPr spc="95" dirty="0"/>
              <a:t>data</a:t>
            </a:r>
            <a:r>
              <a:rPr spc="-100" dirty="0"/>
              <a:t> </a:t>
            </a:r>
            <a:r>
              <a:rPr spc="-105" dirty="0"/>
              <a:t>scientist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9" cy="3643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32230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145839"/>
            <a:ext cx="463740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analysis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training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evaluation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77354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46B280E-D141-8792-85E5-0D9F5DD74E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25" dirty="0"/>
              <a:t>T</a:t>
            </a:r>
            <a:r>
              <a:rPr spc="-85" dirty="0"/>
              <a:t>ec</a:t>
            </a:r>
            <a:r>
              <a:rPr spc="-95" dirty="0"/>
              <a:t>h</a:t>
            </a:r>
            <a:r>
              <a:rPr spc="-90" dirty="0"/>
              <a:t>n</a:t>
            </a:r>
            <a:r>
              <a:rPr spc="-130" dirty="0"/>
              <a:t>i</a:t>
            </a:r>
            <a:r>
              <a:rPr spc="-85" dirty="0"/>
              <a:t>c</a:t>
            </a:r>
            <a:r>
              <a:rPr spc="-80" dirty="0"/>
              <a:t>a</a:t>
            </a:r>
            <a:r>
              <a:rPr dirty="0"/>
              <a:t>l</a:t>
            </a:r>
            <a:r>
              <a:rPr spc="-114" dirty="0"/>
              <a:t> </a:t>
            </a:r>
            <a:r>
              <a:rPr spc="-220" dirty="0"/>
              <a:t>roles:</a:t>
            </a:r>
            <a:r>
              <a:rPr spc="-95" dirty="0"/>
              <a:t> </a:t>
            </a:r>
            <a:r>
              <a:rPr spc="95" dirty="0"/>
              <a:t>data</a:t>
            </a:r>
            <a:r>
              <a:rPr spc="-100" dirty="0"/>
              <a:t> </a:t>
            </a:r>
            <a:r>
              <a:rPr spc="-30" dirty="0"/>
              <a:t>engineer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9" cy="3643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32230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145839"/>
            <a:ext cx="614045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Collecting,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storing,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processing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Check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maintain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77354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BA2E82B-92FD-9F82-2B82-6FEC23DC19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25" dirty="0"/>
              <a:t>T</a:t>
            </a:r>
            <a:r>
              <a:rPr spc="-85" dirty="0"/>
              <a:t>ec</a:t>
            </a:r>
            <a:r>
              <a:rPr spc="-95" dirty="0"/>
              <a:t>h</a:t>
            </a:r>
            <a:r>
              <a:rPr spc="-90" dirty="0"/>
              <a:t>n</a:t>
            </a:r>
            <a:r>
              <a:rPr spc="-130" dirty="0"/>
              <a:t>i</a:t>
            </a:r>
            <a:r>
              <a:rPr spc="-85" dirty="0"/>
              <a:t>c</a:t>
            </a:r>
            <a:r>
              <a:rPr spc="-80" dirty="0"/>
              <a:t>a</a:t>
            </a:r>
            <a:r>
              <a:rPr dirty="0"/>
              <a:t>l</a:t>
            </a:r>
            <a:r>
              <a:rPr spc="-135" dirty="0"/>
              <a:t> </a:t>
            </a:r>
            <a:r>
              <a:rPr spc="-220" dirty="0"/>
              <a:t>roles:</a:t>
            </a:r>
            <a:r>
              <a:rPr spc="-95" dirty="0"/>
              <a:t> </a:t>
            </a:r>
            <a:r>
              <a:rPr dirty="0"/>
              <a:t>ML</a:t>
            </a:r>
            <a:r>
              <a:rPr spc="-114" dirty="0"/>
              <a:t> </a:t>
            </a:r>
            <a:r>
              <a:rPr spc="-35" dirty="0"/>
              <a:t>engineer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9" cy="3643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532230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5145839"/>
            <a:ext cx="947737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Versatile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role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Specifically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designed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complete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977354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D94B45C-C8FC-1649-7FBC-AEBED7F0E8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Additional</a:t>
            </a:r>
            <a:r>
              <a:rPr spc="-200" dirty="0"/>
              <a:t> </a:t>
            </a:r>
            <a:r>
              <a:rPr spc="-180" dirty="0"/>
              <a:t>roles</a:t>
            </a:r>
            <a:r>
              <a:rPr spc="-130" dirty="0"/>
              <a:t> </a:t>
            </a:r>
            <a:r>
              <a:rPr spc="-155" dirty="0"/>
              <a:t>involved</a:t>
            </a:r>
            <a:r>
              <a:rPr spc="-160" dirty="0"/>
              <a:t> </a:t>
            </a:r>
            <a:r>
              <a:rPr spc="-55" dirty="0"/>
              <a:t>in</a:t>
            </a:r>
            <a:r>
              <a:rPr spc="-160" dirty="0"/>
              <a:t> </a:t>
            </a:r>
            <a:r>
              <a:rPr spc="-25" dirty="0"/>
              <a:t>ML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69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48"/>
            <a:ext cx="6706870" cy="280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analyst,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developer,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software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engineer,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backend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engineer</a:t>
            </a:r>
            <a:endParaRPr sz="2550">
              <a:latin typeface="Arial"/>
              <a:cs typeface="Arial"/>
            </a:endParaRPr>
          </a:p>
          <a:p>
            <a:pPr marL="12700" marR="257810">
              <a:lnSpc>
                <a:spcPct val="126400"/>
              </a:lnSpc>
              <a:spcBef>
                <a:spcPts val="1290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Responsbility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roles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vary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depending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application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Startup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large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enterprise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411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643753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36"/>
            <a:ext cx="7123696" cy="653005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0AC7135-C765-BF1F-F000-18797230C9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</TotalTime>
  <Words>931</Words>
  <Application>Microsoft Macintosh PowerPoint</Application>
  <PresentationFormat>사용자 지정</PresentationFormat>
  <Paragraphs>151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Theme</vt:lpstr>
      <vt:lpstr>What is MLOps? M LO P S C O N C E P T S</vt:lpstr>
      <vt:lpstr>PowerPoint 프레젠테이션</vt:lpstr>
      <vt:lpstr>PowerPoint 프레젠테이션</vt:lpstr>
      <vt:lpstr>PowerPoint 프레젠테이션</vt:lpstr>
      <vt:lpstr>Machine Learning Operations</vt:lpstr>
      <vt:lpstr>The origin of MLOps</vt:lpstr>
      <vt:lpstr>Why MLOps</vt:lpstr>
      <vt:lpstr>Why MLOps</vt:lpstr>
      <vt:lpstr>PowerPoint 프레젠테이션</vt:lpstr>
      <vt:lpstr>MLOps lifecycle</vt:lpstr>
      <vt:lpstr>Why the machine learning lifecycle?</vt:lpstr>
      <vt:lpstr>Design phase</vt:lpstr>
      <vt:lpstr>Development phase</vt:lpstr>
      <vt:lpstr>Deployment phase</vt:lpstr>
      <vt:lpstr>MLOps lifecycle</vt:lpstr>
      <vt:lpstr>Roles in MLOps M LO P S C O N C E P T S</vt:lpstr>
      <vt:lpstr>Machine learning lifecycle</vt:lpstr>
      <vt:lpstr>Business roles Business stakeholder Subject matter expert</vt:lpstr>
      <vt:lpstr>Business roles: business stakeholder</vt:lpstr>
      <vt:lpstr>Business roles: subject matter expert</vt:lpstr>
      <vt:lpstr>Technical roles Data scientist Data engineer ML engineer</vt:lpstr>
      <vt:lpstr>Technical roles: data scientist</vt:lpstr>
      <vt:lpstr>Technical roles: data engineer</vt:lpstr>
      <vt:lpstr>Technical roles: ML engineer</vt:lpstr>
      <vt:lpstr>Additional roles involved in ML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6</cp:revision>
  <dcterms:created xsi:type="dcterms:W3CDTF">2025-01-13T11:00:11Z</dcterms:created>
  <dcterms:modified xsi:type="dcterms:W3CDTF">2025-01-14T03:29:02Z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2025-01-13T00:00:00Z</vt:filetime>
  </property>
  <property fmtid="{D5CDD505-2E9C-101B-9397-08002B2CF9AE}" pid="5" name="Producer">
    <vt:lpwstr>Skia/PDF m89</vt:lpwstr>
  </property>
</Properties>
</file>