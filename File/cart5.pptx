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95" d="100"/>
          <a:sy n="95" d="100"/>
        </p:scale>
        <p:origin x="76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2C7C4-5DBF-854A-B219-E870AC9EBE79}" type="datetimeFigureOut">
              <a:rPr kumimoji="1" lang="ko-KR" altLang="en-US" smtClean="0"/>
              <a:t>2025. 1. 6.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911DD-FCB4-EA4A-BD2A-B75597278BB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9222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6812" y="2716530"/>
            <a:ext cx="13223875" cy="184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MACHINE </a:t>
            </a:r>
            <a:r>
              <a:rPr spc="-35" dirty="0"/>
              <a:t>LEARNING</a:t>
            </a:r>
            <a:r>
              <a:rPr spc="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spc="-95" dirty="0"/>
              <a:t>TREE-</a:t>
            </a:r>
            <a:r>
              <a:rPr spc="-75" dirty="0"/>
              <a:t>BASED</a:t>
            </a:r>
            <a:r>
              <a:rPr spc="10" dirty="0"/>
              <a:t> </a:t>
            </a:r>
            <a:r>
              <a:rPr dirty="0"/>
              <a:t>MODELS</a:t>
            </a:r>
            <a:r>
              <a:rPr spc="1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ED95C-CB72-0C4C-965F-4E70A7006E5D}" type="datetime1">
              <a:rPr lang="ko-KR" altLang="en-US" smtClean="0"/>
              <a:t>2025. 1. 6.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MACHINE </a:t>
            </a:r>
            <a:r>
              <a:rPr spc="-35" dirty="0"/>
              <a:t>LEARNING</a:t>
            </a:r>
            <a:r>
              <a:rPr spc="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spc="-95" dirty="0"/>
              <a:t>TREE-</a:t>
            </a:r>
            <a:r>
              <a:rPr spc="-75" dirty="0"/>
              <a:t>BASED</a:t>
            </a:r>
            <a:r>
              <a:rPr spc="10" dirty="0"/>
              <a:t> </a:t>
            </a:r>
            <a:r>
              <a:rPr dirty="0"/>
              <a:t>MODELS</a:t>
            </a:r>
            <a:r>
              <a:rPr spc="1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A1A36-8B10-814B-AFAA-2E1F24B3BFC3}" type="datetime1">
              <a:rPr lang="ko-KR" altLang="en-US" smtClean="0"/>
              <a:t>2025. 1. 6.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MACHINE </a:t>
            </a:r>
            <a:r>
              <a:rPr spc="-35" dirty="0"/>
              <a:t>LEARNING</a:t>
            </a:r>
            <a:r>
              <a:rPr spc="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spc="-95" dirty="0"/>
              <a:t>TREE-</a:t>
            </a:r>
            <a:r>
              <a:rPr spc="-75" dirty="0"/>
              <a:t>BASED</a:t>
            </a:r>
            <a:r>
              <a:rPr spc="10" dirty="0"/>
              <a:t> </a:t>
            </a:r>
            <a:r>
              <a:rPr dirty="0"/>
              <a:t>MODELS</a:t>
            </a:r>
            <a:r>
              <a:rPr spc="1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spc="-10" dirty="0"/>
              <a:t>PYTHON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D9336-6AE3-EB44-85D4-F71D318EE7D8}" type="datetime1">
              <a:rPr lang="ko-KR" altLang="en-US" smtClean="0"/>
              <a:t>2025. 1. 6.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MACHINE </a:t>
            </a:r>
            <a:r>
              <a:rPr spc="-35" dirty="0"/>
              <a:t>LEARNING</a:t>
            </a:r>
            <a:r>
              <a:rPr spc="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spc="-95" dirty="0"/>
              <a:t>TREE-</a:t>
            </a:r>
            <a:r>
              <a:rPr spc="-75" dirty="0"/>
              <a:t>BASED</a:t>
            </a:r>
            <a:r>
              <a:rPr spc="10" dirty="0"/>
              <a:t> </a:t>
            </a:r>
            <a:r>
              <a:rPr dirty="0"/>
              <a:t>MODELS</a:t>
            </a:r>
            <a:r>
              <a:rPr spc="1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spc="-10" dirty="0"/>
              <a:t>PYTHON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1327D-CA3F-074E-9D95-D5CF6950960E}" type="datetime1">
              <a:rPr lang="ko-KR" altLang="en-US" smtClean="0"/>
              <a:t>2025. 1. 6.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MACHINE </a:t>
            </a:r>
            <a:r>
              <a:rPr spc="-35" dirty="0"/>
              <a:t>LEARNING</a:t>
            </a:r>
            <a:r>
              <a:rPr spc="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spc="-95" dirty="0"/>
              <a:t>TREE-</a:t>
            </a:r>
            <a:r>
              <a:rPr spc="-75" dirty="0"/>
              <a:t>BASED</a:t>
            </a:r>
            <a:r>
              <a:rPr spc="10" dirty="0"/>
              <a:t> </a:t>
            </a:r>
            <a:r>
              <a:rPr dirty="0"/>
              <a:t>MODELS</a:t>
            </a:r>
            <a:r>
              <a:rPr spc="1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D8F99-4547-E040-9B16-8B286D5AFC42}" type="datetime1">
              <a:rPr lang="ko-KR" altLang="en-US" smtClean="0"/>
              <a:t>2025. 1. 6.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79"/>
            <a:ext cx="14018894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17312" y="2157161"/>
            <a:ext cx="10481945" cy="2334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25897" y="8207389"/>
            <a:ext cx="8516619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/>
              <a:t>MACHINE </a:t>
            </a:r>
            <a:r>
              <a:rPr spc="-35" dirty="0"/>
              <a:t>LEARNING</a:t>
            </a:r>
            <a:r>
              <a:rPr spc="10" dirty="0"/>
              <a:t> </a:t>
            </a:r>
            <a:r>
              <a:rPr dirty="0"/>
              <a:t>WITH</a:t>
            </a:r>
            <a:r>
              <a:rPr spc="10" dirty="0"/>
              <a:t> </a:t>
            </a:r>
            <a:r>
              <a:rPr spc="-95" dirty="0"/>
              <a:t>TREE-</a:t>
            </a:r>
            <a:r>
              <a:rPr spc="-75" dirty="0"/>
              <a:t>BASED</a:t>
            </a:r>
            <a:r>
              <a:rPr spc="10" dirty="0"/>
              <a:t> </a:t>
            </a:r>
            <a:r>
              <a:rPr dirty="0"/>
              <a:t>MODELS</a:t>
            </a:r>
            <a:r>
              <a:rPr spc="1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F277D-6B22-E04A-9776-E3F1C79C0D26}" type="datetime1">
              <a:rPr lang="ko-KR" altLang="en-US" smtClean="0"/>
              <a:t>2025. 1. 6.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2044700" marR="1975485" algn="ctr">
              <a:lnSpc>
                <a:spcPts val="6770"/>
              </a:lnSpc>
              <a:spcBef>
                <a:spcPts val="1130"/>
              </a:spcBef>
            </a:pPr>
            <a:r>
              <a:rPr spc="-655" dirty="0"/>
              <a:t>T</a:t>
            </a:r>
            <a:r>
              <a:rPr spc="-310" dirty="0"/>
              <a:t>un</a:t>
            </a:r>
            <a:r>
              <a:rPr spc="-315" dirty="0"/>
              <a:t>i</a:t>
            </a:r>
            <a:r>
              <a:rPr spc="-370" dirty="0"/>
              <a:t>n</a:t>
            </a:r>
            <a:r>
              <a:rPr spc="-135" dirty="0"/>
              <a:t>g</a:t>
            </a:r>
            <a:r>
              <a:rPr spc="-215" dirty="0"/>
              <a:t> </a:t>
            </a:r>
            <a:r>
              <a:rPr spc="355" dirty="0"/>
              <a:t>a</a:t>
            </a:r>
            <a:r>
              <a:rPr spc="-215" dirty="0"/>
              <a:t> </a:t>
            </a:r>
            <a:r>
              <a:rPr spc="-445" dirty="0"/>
              <a:t>CART's </a:t>
            </a:r>
            <a:r>
              <a:rPr spc="-110" dirty="0"/>
              <a:t>hyperparameters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1779270" algn="l"/>
                <a:tab pos="3679825" algn="l"/>
                <a:tab pos="4699635" algn="l"/>
                <a:tab pos="6979920" algn="l"/>
                <a:tab pos="8555990" algn="l"/>
                <a:tab pos="9057640" algn="l"/>
              </a:tabLst>
            </a:pPr>
            <a:r>
              <a:rPr sz="2250" spc="204" dirty="0"/>
              <a:t>M</a:t>
            </a:r>
            <a:r>
              <a:rPr sz="2250" spc="-295" dirty="0"/>
              <a:t> </a:t>
            </a:r>
            <a:r>
              <a:rPr sz="2250" spc="170" dirty="0"/>
              <a:t>AC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-50" dirty="0"/>
              <a:t>E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W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90" dirty="0"/>
              <a:t>T</a:t>
            </a:r>
            <a:r>
              <a:rPr sz="2250" spc="-310" dirty="0"/>
              <a:t> </a:t>
            </a:r>
            <a:r>
              <a:rPr sz="2250" spc="-235" dirty="0"/>
              <a:t>R</a:t>
            </a:r>
            <a:r>
              <a:rPr sz="2250" spc="-295" dirty="0"/>
              <a:t> </a:t>
            </a:r>
            <a:r>
              <a:rPr sz="2250" spc="-105" dirty="0"/>
              <a:t>E</a:t>
            </a:r>
            <a:r>
              <a:rPr sz="2250" spc="-29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dirty="0"/>
              <a:t>-</a:t>
            </a:r>
            <a:r>
              <a:rPr sz="2250" spc="-295" dirty="0"/>
              <a:t> </a:t>
            </a:r>
            <a:r>
              <a:rPr sz="2250" spc="-185" dirty="0"/>
              <a:t>B</a:t>
            </a:r>
            <a:r>
              <a:rPr sz="2250" spc="-295" dirty="0"/>
              <a:t> </a:t>
            </a:r>
            <a:r>
              <a:rPr sz="2250" spc="-25" dirty="0"/>
              <a:t>A</a:t>
            </a:r>
            <a:r>
              <a:rPr sz="2250" spc="-325" dirty="0"/>
              <a:t> </a:t>
            </a:r>
            <a:r>
              <a:rPr sz="2250" spc="-210" dirty="0"/>
              <a:t>S</a:t>
            </a:r>
            <a:r>
              <a:rPr sz="2250" spc="-295" dirty="0"/>
              <a:t> </a:t>
            </a:r>
            <a:r>
              <a:rPr sz="2250" spc="-105" dirty="0"/>
              <a:t>E</a:t>
            </a:r>
            <a:r>
              <a:rPr sz="2250" spc="-29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D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3B67A3B-2446-CB0E-2D95-E7E668CB8C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" dirty="0"/>
              <a:t>Hyperparameters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0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2650915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797256"/>
            <a:ext cx="122822" cy="12282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705140" y="3664199"/>
            <a:ext cx="1637664" cy="429895"/>
          </a:xfrm>
          <a:custGeom>
            <a:avLst/>
            <a:gdLst/>
            <a:ahLst/>
            <a:cxnLst/>
            <a:rect l="l" t="t" r="r" b="b"/>
            <a:pathLst>
              <a:path w="1637664" h="429895">
                <a:moveTo>
                  <a:pt x="1561126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19"/>
                </a:lnTo>
                <a:lnTo>
                  <a:pt x="55514" y="4175"/>
                </a:lnTo>
                <a:lnTo>
                  <a:pt x="76505" y="0"/>
                </a:lnTo>
                <a:lnTo>
                  <a:pt x="1561126" y="0"/>
                </a:lnTo>
                <a:lnTo>
                  <a:pt x="1605711" y="16785"/>
                </a:lnTo>
                <a:lnTo>
                  <a:pt x="1633455" y="55513"/>
                </a:lnTo>
                <a:lnTo>
                  <a:pt x="1637631" y="76505"/>
                </a:lnTo>
                <a:lnTo>
                  <a:pt x="1637631" y="353372"/>
                </a:lnTo>
                <a:lnTo>
                  <a:pt x="1620844" y="397957"/>
                </a:lnTo>
                <a:lnTo>
                  <a:pt x="1582117" y="425702"/>
                </a:lnTo>
                <a:lnTo>
                  <a:pt x="1566450" y="429353"/>
                </a:lnTo>
                <a:lnTo>
                  <a:pt x="1561126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29357" y="3664199"/>
            <a:ext cx="2845435" cy="429895"/>
          </a:xfrm>
          <a:custGeom>
            <a:avLst/>
            <a:gdLst/>
            <a:ahLst/>
            <a:cxnLst/>
            <a:rect l="l" t="t" r="r" b="b"/>
            <a:pathLst>
              <a:path w="2845434" h="429895">
                <a:moveTo>
                  <a:pt x="2768878" y="429877"/>
                </a:moveTo>
                <a:lnTo>
                  <a:pt x="76504" y="429877"/>
                </a:lnTo>
                <a:lnTo>
                  <a:pt x="71179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19"/>
                </a:lnTo>
                <a:lnTo>
                  <a:pt x="55512" y="4175"/>
                </a:lnTo>
                <a:lnTo>
                  <a:pt x="76504" y="0"/>
                </a:lnTo>
                <a:lnTo>
                  <a:pt x="2768878" y="0"/>
                </a:lnTo>
                <a:lnTo>
                  <a:pt x="2813463" y="16785"/>
                </a:lnTo>
                <a:lnTo>
                  <a:pt x="2841207" y="55513"/>
                </a:lnTo>
                <a:lnTo>
                  <a:pt x="2845383" y="76505"/>
                </a:lnTo>
                <a:lnTo>
                  <a:pt x="2845383" y="353372"/>
                </a:lnTo>
                <a:lnTo>
                  <a:pt x="2828597" y="397957"/>
                </a:lnTo>
                <a:lnTo>
                  <a:pt x="2789870" y="425702"/>
                </a:lnTo>
                <a:lnTo>
                  <a:pt x="2774203" y="429353"/>
                </a:lnTo>
                <a:lnTo>
                  <a:pt x="2768878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8589" y="1174582"/>
            <a:ext cx="11179810" cy="28752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model: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parameters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learned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 from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  <a:p>
            <a:pPr marL="749300">
              <a:lnSpc>
                <a:spcPct val="100000"/>
              </a:lnSpc>
              <a:spcBef>
                <a:spcPts val="80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CART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example: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split-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point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node,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split-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node,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100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hyperparameters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not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learned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from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data,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set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prior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training</a:t>
            </a:r>
            <a:endParaRPr sz="2550">
              <a:latin typeface="Arial"/>
              <a:cs typeface="Arial"/>
            </a:endParaRPr>
          </a:p>
          <a:p>
            <a:pPr marL="749300">
              <a:lnSpc>
                <a:spcPct val="100000"/>
              </a:lnSpc>
              <a:spcBef>
                <a:spcPts val="805"/>
              </a:spcBef>
              <a:tabLst>
                <a:tab pos="3266440" algn="l"/>
                <a:tab pos="5194300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CART</a:t>
            </a:r>
            <a:r>
              <a:rPr sz="2550" spc="-1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example: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max_depth</a:t>
            </a:r>
            <a:r>
              <a:rPr sz="2250" spc="-39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min_samples_leaf</a:t>
            </a:r>
            <a:r>
              <a:rPr sz="2250" spc="-3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splitting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criterion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9478E839-E60A-EBF6-66A1-7394AA8306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4"/>
            <a:ext cx="858583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What</a:t>
            </a:r>
            <a:r>
              <a:rPr spc="-120" dirty="0"/>
              <a:t> </a:t>
            </a:r>
            <a:r>
              <a:rPr spc="-280" dirty="0"/>
              <a:t>is</a:t>
            </a:r>
            <a:r>
              <a:rPr spc="-95" dirty="0"/>
              <a:t> </a:t>
            </a:r>
            <a:r>
              <a:rPr spc="-10" dirty="0"/>
              <a:t>hyperparameter</a:t>
            </a:r>
            <a:r>
              <a:rPr spc="-110" dirty="0"/>
              <a:t> </a:t>
            </a:r>
            <a:r>
              <a:rPr spc="-80" dirty="0"/>
              <a:t>tuning?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4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4356" y="1174581"/>
            <a:ext cx="12387580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Problem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search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set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optimal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hyperparameters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algorithm.</a:t>
            </a:r>
            <a:endParaRPr sz="2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100"/>
              </a:spcBef>
            </a:pPr>
            <a:r>
              <a:rPr sz="2550" b="1" spc="-50" dirty="0">
                <a:solidFill>
                  <a:srgbClr val="04182D"/>
                </a:solidFill>
                <a:latin typeface="Arial"/>
                <a:cs typeface="Arial"/>
              </a:rPr>
              <a:t>Solution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find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set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optimal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hyperparameters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70" dirty="0">
                <a:solidFill>
                  <a:srgbClr val="04182D"/>
                </a:solidFill>
                <a:latin typeface="Arial"/>
                <a:cs typeface="Arial"/>
              </a:rPr>
              <a:t>that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results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an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optimal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model.</a:t>
            </a:r>
            <a:endParaRPr sz="2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2100"/>
              </a:spcBef>
            </a:pPr>
            <a:r>
              <a:rPr sz="2550" b="1" spc="45" dirty="0">
                <a:solidFill>
                  <a:srgbClr val="04182D"/>
                </a:solidFill>
                <a:latin typeface="Arial"/>
                <a:cs typeface="Arial"/>
              </a:rPr>
              <a:t>Optimal</a:t>
            </a:r>
            <a:r>
              <a:rPr sz="2550" b="1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yields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an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optimal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score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</a:t>
            </a:r>
            <a:endParaRPr sz="2550">
              <a:latin typeface="Arial"/>
              <a:cs typeface="Arial"/>
            </a:endParaRPr>
          </a:p>
          <a:p>
            <a:pPr marL="25400" marR="1022985">
              <a:lnSpc>
                <a:spcPts val="5160"/>
              </a:lnSpc>
              <a:spcBef>
                <a:spcPts val="320"/>
              </a:spcBef>
            </a:pPr>
            <a:r>
              <a:rPr sz="2550" b="1" spc="-20" dirty="0">
                <a:solidFill>
                  <a:srgbClr val="04182D"/>
                </a:solidFill>
                <a:latin typeface="Arial"/>
                <a:cs typeface="Arial"/>
              </a:rPr>
              <a:t>Score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sklearn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defaults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accuracy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(classification)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3100" i="1" spc="70" dirty="0">
                <a:solidFill>
                  <a:srgbClr val="04182D"/>
                </a:solidFill>
                <a:latin typeface="Arial"/>
                <a:cs typeface="Arial"/>
              </a:rPr>
              <a:t>R</a:t>
            </a:r>
            <a:r>
              <a:rPr sz="3225" spc="104" baseline="29715" dirty="0">
                <a:solidFill>
                  <a:srgbClr val="04182D"/>
                </a:solidFill>
                <a:latin typeface="Times New Roman"/>
                <a:cs typeface="Times New Roman"/>
              </a:rPr>
              <a:t>2</a:t>
            </a:r>
            <a:r>
              <a:rPr sz="3225" spc="540" baseline="29715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(regression).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Cross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validation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used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estimate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generalization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performance.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6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49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2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54"/>
            <a:ext cx="102352" cy="102351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9A51852-9ADF-5AA3-5C7E-321C812704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69164" y="1207753"/>
            <a:ext cx="1289685" cy="429895"/>
          </a:xfrm>
          <a:custGeom>
            <a:avLst/>
            <a:gdLst/>
            <a:ahLst/>
            <a:cxnLst/>
            <a:rect l="l" t="t" r="r" b="b"/>
            <a:pathLst>
              <a:path w="1289685" h="429894">
                <a:moveTo>
                  <a:pt x="121312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1213129" y="0"/>
                </a:lnTo>
                <a:lnTo>
                  <a:pt x="1257714" y="16786"/>
                </a:lnTo>
                <a:lnTo>
                  <a:pt x="1285458" y="55513"/>
                </a:lnTo>
                <a:lnTo>
                  <a:pt x="1289634" y="76505"/>
                </a:lnTo>
                <a:lnTo>
                  <a:pt x="1289634" y="353373"/>
                </a:lnTo>
                <a:lnTo>
                  <a:pt x="1272847" y="397957"/>
                </a:lnTo>
                <a:lnTo>
                  <a:pt x="1234120" y="425702"/>
                </a:lnTo>
                <a:lnTo>
                  <a:pt x="1218454" y="429353"/>
                </a:lnTo>
                <a:lnTo>
                  <a:pt x="121312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12747625" cy="234696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dirty="0"/>
              <a:t>Why</a:t>
            </a:r>
            <a:r>
              <a:rPr spc="-285" dirty="0"/>
              <a:t> </a:t>
            </a:r>
            <a:r>
              <a:rPr dirty="0"/>
              <a:t>tune</a:t>
            </a:r>
            <a:r>
              <a:rPr spc="-285" dirty="0"/>
              <a:t> </a:t>
            </a:r>
            <a:r>
              <a:rPr spc="-10" dirty="0"/>
              <a:t>hyperparameters?</a:t>
            </a:r>
          </a:p>
          <a:p>
            <a:pPr marL="381000" marR="5080">
              <a:lnSpc>
                <a:spcPts val="5160"/>
              </a:lnSpc>
              <a:tabLst>
                <a:tab pos="831215" algn="l"/>
              </a:tabLst>
            </a:pPr>
            <a:r>
              <a:rPr sz="2550" b="0" spc="-25" dirty="0">
                <a:latin typeface="Arial"/>
                <a:cs typeface="Arial"/>
              </a:rPr>
              <a:t>In</a:t>
            </a:r>
            <a:r>
              <a:rPr sz="2550" b="0" dirty="0">
                <a:latin typeface="Arial"/>
                <a:cs typeface="Arial"/>
              </a:rPr>
              <a:t>	</a:t>
            </a:r>
            <a:r>
              <a:rPr sz="2250" b="0" dirty="0">
                <a:latin typeface="Monaco"/>
                <a:cs typeface="Monaco"/>
              </a:rPr>
              <a:t>sklearn</a:t>
            </a:r>
            <a:r>
              <a:rPr sz="2250" b="0" spc="-385" dirty="0">
                <a:latin typeface="Monaco"/>
                <a:cs typeface="Monaco"/>
              </a:rPr>
              <a:t> </a:t>
            </a:r>
            <a:r>
              <a:rPr sz="2550" b="0" dirty="0">
                <a:latin typeface="Arial"/>
                <a:cs typeface="Arial"/>
              </a:rPr>
              <a:t>,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155" dirty="0">
                <a:latin typeface="Arial"/>
                <a:cs typeface="Arial"/>
              </a:rPr>
              <a:t>a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55" dirty="0">
                <a:latin typeface="Arial"/>
                <a:cs typeface="Arial"/>
              </a:rPr>
              <a:t>model's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125" dirty="0">
                <a:latin typeface="Arial"/>
                <a:cs typeface="Arial"/>
              </a:rPr>
              <a:t>default</a:t>
            </a:r>
            <a:r>
              <a:rPr sz="2550" b="0" spc="40" dirty="0">
                <a:latin typeface="Arial"/>
                <a:cs typeface="Arial"/>
              </a:rPr>
              <a:t> </a:t>
            </a:r>
            <a:r>
              <a:rPr sz="2550" b="0" spc="100" dirty="0">
                <a:latin typeface="Arial"/>
                <a:cs typeface="Arial"/>
              </a:rPr>
              <a:t>hyperparameters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85" dirty="0">
                <a:latin typeface="Arial"/>
                <a:cs typeface="Arial"/>
              </a:rPr>
              <a:t>are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not</a:t>
            </a:r>
            <a:r>
              <a:rPr sz="2550" b="0" spc="40" dirty="0">
                <a:latin typeface="Arial"/>
                <a:cs typeface="Arial"/>
              </a:rPr>
              <a:t> </a:t>
            </a:r>
            <a:r>
              <a:rPr sz="2550" b="0" spc="130" dirty="0">
                <a:latin typeface="Arial"/>
                <a:cs typeface="Arial"/>
              </a:rPr>
              <a:t>optimal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100" dirty="0">
                <a:latin typeface="Arial"/>
                <a:cs typeface="Arial"/>
              </a:rPr>
              <a:t>for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105" dirty="0">
                <a:latin typeface="Arial"/>
                <a:cs typeface="Arial"/>
              </a:rPr>
              <a:t>all</a:t>
            </a:r>
            <a:r>
              <a:rPr sz="2550" b="0" spc="45" dirty="0">
                <a:latin typeface="Arial"/>
                <a:cs typeface="Arial"/>
              </a:rPr>
              <a:t> problems. </a:t>
            </a:r>
            <a:r>
              <a:rPr sz="2550" b="0" spc="100" dirty="0">
                <a:latin typeface="Arial"/>
                <a:cs typeface="Arial"/>
              </a:rPr>
              <a:t>Hyperparameters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60" dirty="0">
                <a:latin typeface="Arial"/>
                <a:cs typeface="Arial"/>
              </a:rPr>
              <a:t>should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be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tuned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40" dirty="0">
                <a:latin typeface="Arial"/>
                <a:cs typeface="Arial"/>
              </a:rPr>
              <a:t>to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14" dirty="0">
                <a:latin typeface="Arial"/>
                <a:cs typeface="Arial"/>
              </a:rPr>
              <a:t>obtain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the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95" dirty="0">
                <a:latin typeface="Arial"/>
                <a:cs typeface="Arial"/>
              </a:rPr>
              <a:t>best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05" dirty="0">
                <a:latin typeface="Arial"/>
                <a:cs typeface="Arial"/>
              </a:rPr>
              <a:t>model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85" dirty="0">
                <a:latin typeface="Arial"/>
                <a:cs typeface="Arial"/>
              </a:rPr>
              <a:t>performance.</a:t>
            </a:r>
            <a:endParaRPr sz="25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A4049E5-26B6-8D1E-1465-8CB97E55FA9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Approaches</a:t>
            </a:r>
            <a:r>
              <a:rPr spc="-145" dirty="0"/>
              <a:t> </a:t>
            </a:r>
            <a:r>
              <a:rPr dirty="0"/>
              <a:t>to</a:t>
            </a:r>
            <a:r>
              <a:rPr spc="-145" dirty="0"/>
              <a:t> </a:t>
            </a:r>
            <a:r>
              <a:rPr spc="-10" dirty="0"/>
              <a:t>hyperparameter</a:t>
            </a:r>
            <a:r>
              <a:rPr spc="-145" dirty="0"/>
              <a:t> </a:t>
            </a:r>
            <a:r>
              <a:rPr spc="-10" dirty="0"/>
              <a:t>tuning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79"/>
            <a:ext cx="3508375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Grid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Search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52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Random</a:t>
            </a:r>
            <a:r>
              <a:rPr sz="2550" spc="3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Search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Bayesian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Optimization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Genetic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Algorithms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....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5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48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0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52"/>
            <a:ext cx="102352" cy="102351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35F4E0B-C91A-1FE9-0E8E-37DE44FD4A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0" dirty="0"/>
              <a:t>Grid</a:t>
            </a:r>
            <a:r>
              <a:rPr spc="-285" dirty="0"/>
              <a:t> </a:t>
            </a:r>
            <a:r>
              <a:rPr spc="-80" dirty="0"/>
              <a:t>search</a:t>
            </a:r>
            <a:r>
              <a:rPr spc="-195" dirty="0"/>
              <a:t> </a:t>
            </a:r>
            <a:r>
              <a:rPr spc="-245" dirty="0"/>
              <a:t>cross</a:t>
            </a:r>
            <a:r>
              <a:rPr spc="-95" dirty="0"/>
              <a:t> </a:t>
            </a:r>
            <a:r>
              <a:rPr spc="-30" dirty="0"/>
              <a:t>validation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12663805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Manually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set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grid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discrete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hyperparameter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values.</a:t>
            </a:r>
            <a:endParaRPr sz="2550">
              <a:latin typeface="Arial"/>
              <a:cs typeface="Arial"/>
            </a:endParaRPr>
          </a:p>
          <a:p>
            <a:pPr marL="12700" marR="5850255">
              <a:lnSpc>
                <a:spcPts val="5160"/>
              </a:lnSpc>
              <a:spcBef>
                <a:spcPts val="52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Set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metric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scoring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performance.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Search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exhaustively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through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grid.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set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hyperparameters,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evaluate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model's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CV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score.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optimal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hyperparameters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those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achieving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best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CV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score.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56"/>
            <a:ext cx="102352" cy="102351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F3C983F-80F3-2F1E-6050-F9473924F2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0" dirty="0"/>
              <a:t>Grid</a:t>
            </a:r>
            <a:r>
              <a:rPr spc="-295" dirty="0"/>
              <a:t> </a:t>
            </a:r>
            <a:r>
              <a:rPr spc="-80" dirty="0"/>
              <a:t>search</a:t>
            </a:r>
            <a:r>
              <a:rPr spc="-220" dirty="0"/>
              <a:t> </a:t>
            </a:r>
            <a:r>
              <a:rPr spc="-245" dirty="0"/>
              <a:t>cross</a:t>
            </a:r>
            <a:r>
              <a:rPr spc="-95" dirty="0"/>
              <a:t> </a:t>
            </a:r>
            <a:r>
              <a:rPr spc="-85" dirty="0"/>
              <a:t>validation:</a:t>
            </a:r>
            <a:r>
              <a:rPr spc="-195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100"/>
            <a:ext cx="122822" cy="1228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269164" y="1699042"/>
            <a:ext cx="1637664" cy="429895"/>
          </a:xfrm>
          <a:custGeom>
            <a:avLst/>
            <a:gdLst/>
            <a:ahLst/>
            <a:cxnLst/>
            <a:rect l="l" t="t" r="r" b="b"/>
            <a:pathLst>
              <a:path w="1637664" h="429894">
                <a:moveTo>
                  <a:pt x="1561126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1561126" y="0"/>
                </a:lnTo>
                <a:lnTo>
                  <a:pt x="1605710" y="16786"/>
                </a:lnTo>
                <a:lnTo>
                  <a:pt x="1633455" y="55513"/>
                </a:lnTo>
                <a:lnTo>
                  <a:pt x="1637631" y="76505"/>
                </a:lnTo>
                <a:lnTo>
                  <a:pt x="1637631" y="353372"/>
                </a:lnTo>
                <a:lnTo>
                  <a:pt x="1620844" y="397957"/>
                </a:lnTo>
                <a:lnTo>
                  <a:pt x="1582116" y="425702"/>
                </a:lnTo>
                <a:lnTo>
                  <a:pt x="1566451" y="429353"/>
                </a:lnTo>
                <a:lnTo>
                  <a:pt x="1561126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2"/>
            <a:ext cx="122822" cy="12282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269164" y="2354095"/>
            <a:ext cx="2825115" cy="429895"/>
          </a:xfrm>
          <a:custGeom>
            <a:avLst/>
            <a:gdLst/>
            <a:ahLst/>
            <a:cxnLst/>
            <a:rect l="l" t="t" r="r" b="b"/>
            <a:pathLst>
              <a:path w="2825115" h="429894">
                <a:moveTo>
                  <a:pt x="2748408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2748408" y="0"/>
                </a:lnTo>
                <a:lnTo>
                  <a:pt x="2792993" y="16786"/>
                </a:lnTo>
                <a:lnTo>
                  <a:pt x="2820738" y="55513"/>
                </a:lnTo>
                <a:lnTo>
                  <a:pt x="2824913" y="76505"/>
                </a:lnTo>
                <a:lnTo>
                  <a:pt x="2824913" y="353373"/>
                </a:lnTo>
                <a:lnTo>
                  <a:pt x="2808127" y="397957"/>
                </a:lnTo>
                <a:lnTo>
                  <a:pt x="2769399" y="425702"/>
                </a:lnTo>
                <a:lnTo>
                  <a:pt x="2753733" y="429353"/>
                </a:lnTo>
                <a:lnTo>
                  <a:pt x="2748408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4356" y="1076324"/>
            <a:ext cx="13564869" cy="362839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0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Hyperparameters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grids:</a:t>
            </a:r>
            <a:endParaRPr sz="2550">
              <a:latin typeface="Arial"/>
              <a:cs typeface="Arial"/>
            </a:endParaRPr>
          </a:p>
          <a:p>
            <a:pPr marL="475615">
              <a:lnSpc>
                <a:spcPct val="100000"/>
              </a:lnSpc>
              <a:spcBef>
                <a:spcPts val="810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max_depth</a:t>
            </a:r>
            <a:r>
              <a:rPr sz="2250" spc="34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{2,3,4},</a:t>
            </a:r>
            <a:endParaRPr sz="2550">
              <a:latin typeface="Arial"/>
              <a:cs typeface="Arial"/>
            </a:endParaRPr>
          </a:p>
          <a:p>
            <a:pPr marL="475615">
              <a:lnSpc>
                <a:spcPct val="100000"/>
              </a:lnSpc>
              <a:spcBef>
                <a:spcPts val="209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min_samples_leaf</a:t>
            </a:r>
            <a:r>
              <a:rPr sz="2250" spc="3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{0.05,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0.1}</a:t>
            </a:r>
            <a:endParaRPr sz="2550">
              <a:latin typeface="Arial"/>
              <a:cs typeface="Arial"/>
            </a:endParaRPr>
          </a:p>
          <a:p>
            <a:pPr marL="25400" marR="5026660">
              <a:lnSpc>
                <a:spcPct val="150600"/>
              </a:lnSpc>
              <a:spcBef>
                <a:spcPts val="550"/>
              </a:spcBef>
            </a:pP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hyperparameter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space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{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(2,0.05)</a:t>
            </a:r>
            <a:r>
              <a:rPr sz="2550" spc="-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35" dirty="0">
                <a:solidFill>
                  <a:srgbClr val="04182D"/>
                </a:solidFill>
                <a:latin typeface="Arial"/>
                <a:cs typeface="Arial"/>
              </a:rPr>
              <a:t>(2,0.1)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(3,0.05),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...</a:t>
            </a:r>
            <a:r>
              <a:rPr sz="2550" spc="-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}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CV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scores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{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3100" i="1" dirty="0">
                <a:solidFill>
                  <a:srgbClr val="04182D"/>
                </a:solidFill>
                <a:latin typeface="Arial"/>
                <a:cs typeface="Arial"/>
              </a:rPr>
              <a:t>score</a:t>
            </a:r>
            <a:r>
              <a:rPr sz="3225" baseline="-12919" dirty="0">
                <a:solidFill>
                  <a:srgbClr val="04182D"/>
                </a:solidFill>
                <a:latin typeface="Times New Roman"/>
                <a:cs typeface="Times New Roman"/>
              </a:rPr>
              <a:t>(2,0.05)</a:t>
            </a:r>
            <a:r>
              <a:rPr sz="3225" spc="592" baseline="-12919" dirty="0">
                <a:solidFill>
                  <a:srgbClr val="04182D"/>
                </a:solidFill>
                <a:latin typeface="Times New Roman"/>
                <a:cs typeface="Times New Roman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}</a:t>
            </a:r>
            <a:endParaRPr sz="255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989"/>
              </a:spcBef>
            </a:pP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optimal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hyperparameters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set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hyperparameters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corresponding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best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CV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score.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759" y="3807493"/>
            <a:ext cx="102352" cy="1023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1759" y="4462545"/>
            <a:ext cx="102352" cy="102351"/>
          </a:xfrm>
          <a:prstGeom prst="rect">
            <a:avLst/>
          </a:prstGeom>
        </p:spPr>
      </p:pic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D2955DB4-70F8-A181-970D-3545F1D648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Inspecting</a:t>
            </a:r>
            <a:r>
              <a:rPr spc="-155" dirty="0"/>
              <a:t> </a:t>
            </a:r>
            <a:r>
              <a:rPr dirty="0"/>
              <a:t>the</a:t>
            </a:r>
            <a:r>
              <a:rPr spc="-145" dirty="0"/>
              <a:t> </a:t>
            </a:r>
            <a:r>
              <a:rPr spc="-45" dirty="0"/>
              <a:t>hyperparameters</a:t>
            </a:r>
            <a:r>
              <a:rPr spc="-145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spc="250" dirty="0"/>
              <a:t>a</a:t>
            </a:r>
            <a:r>
              <a:rPr spc="-145" dirty="0"/>
              <a:t> </a:t>
            </a:r>
            <a:r>
              <a:rPr spc="-180" dirty="0"/>
              <a:t>CART</a:t>
            </a:r>
            <a:r>
              <a:rPr spc="-130" dirty="0"/>
              <a:t> </a:t>
            </a:r>
            <a:r>
              <a:rPr spc="-55" dirty="0"/>
              <a:t>in</a:t>
            </a:r>
            <a:r>
              <a:rPr spc="-145" dirty="0"/>
              <a:t> </a:t>
            </a:r>
            <a:r>
              <a:rPr spc="-10" dirty="0"/>
              <a:t>sklearn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4749165"/>
            <a:chOff x="491289" y="1166812"/>
            <a:chExt cx="14575155" cy="4749165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4749165"/>
            </a:xfrm>
            <a:custGeom>
              <a:avLst/>
              <a:gdLst/>
              <a:ahLst/>
              <a:cxnLst/>
              <a:rect l="l" t="t" r="r" b="b"/>
              <a:pathLst>
                <a:path w="14575155" h="4749165">
                  <a:moveTo>
                    <a:pt x="14498413" y="4749130"/>
                  </a:moveTo>
                  <a:lnTo>
                    <a:pt x="76505" y="4749130"/>
                  </a:lnTo>
                  <a:lnTo>
                    <a:pt x="71180" y="4748606"/>
                  </a:lnTo>
                  <a:lnTo>
                    <a:pt x="31920" y="4732343"/>
                  </a:lnTo>
                  <a:lnTo>
                    <a:pt x="4175" y="4693616"/>
                  </a:lnTo>
                  <a:lnTo>
                    <a:pt x="0" y="4672625"/>
                  </a:lnTo>
                  <a:lnTo>
                    <a:pt x="0" y="4667249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4672625"/>
                  </a:lnTo>
                  <a:lnTo>
                    <a:pt x="14558132" y="4717210"/>
                  </a:lnTo>
                  <a:lnTo>
                    <a:pt x="14519404" y="4744954"/>
                  </a:lnTo>
                  <a:lnTo>
                    <a:pt x="14503737" y="4748606"/>
                  </a:lnTo>
                  <a:lnTo>
                    <a:pt x="14498413" y="4749130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938769"/>
              <a:ext cx="4098925" cy="283210"/>
            </a:xfrm>
            <a:custGeom>
              <a:avLst/>
              <a:gdLst/>
              <a:ahLst/>
              <a:cxnLst/>
              <a:rect l="l" t="t" r="r" b="b"/>
              <a:pathLst>
                <a:path w="4098925" h="283210">
                  <a:moveTo>
                    <a:pt x="147980" y="10007"/>
                  </a:moveTo>
                  <a:lnTo>
                    <a:pt x="93332" y="10007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86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28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10007"/>
                  </a:lnTo>
                  <a:close/>
                </a:path>
                <a:path w="4098925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4098925" h="283210">
                  <a:moveTo>
                    <a:pt x="485305" y="124536"/>
                  </a:moveTo>
                  <a:lnTo>
                    <a:pt x="484174" y="110172"/>
                  </a:lnTo>
                  <a:lnTo>
                    <a:pt x="480771" y="97370"/>
                  </a:lnTo>
                  <a:lnTo>
                    <a:pt x="478840" y="93548"/>
                  </a:lnTo>
                  <a:lnTo>
                    <a:pt x="475107" y="86144"/>
                  </a:lnTo>
                  <a:lnTo>
                    <a:pt x="467182" y="76466"/>
                  </a:lnTo>
                  <a:lnTo>
                    <a:pt x="457377" y="68694"/>
                  </a:lnTo>
                  <a:lnTo>
                    <a:pt x="447662" y="63957"/>
                  </a:lnTo>
                  <a:lnTo>
                    <a:pt x="447662" y="114376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76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48"/>
                  </a:lnTo>
                  <a:lnTo>
                    <a:pt x="428142" y="93548"/>
                  </a:lnTo>
                  <a:lnTo>
                    <a:pt x="435343" y="96151"/>
                  </a:lnTo>
                  <a:lnTo>
                    <a:pt x="440245" y="101384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44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64"/>
                  </a:lnTo>
                  <a:lnTo>
                    <a:pt x="418617" y="233972"/>
                  </a:lnTo>
                  <a:lnTo>
                    <a:pt x="433095" y="232854"/>
                  </a:lnTo>
                  <a:lnTo>
                    <a:pt x="475107" y="206514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4098925" h="283210">
                  <a:moveTo>
                    <a:pt x="663549" y="105371"/>
                  </a:moveTo>
                  <a:lnTo>
                    <a:pt x="662940" y="95554"/>
                  </a:lnTo>
                  <a:lnTo>
                    <a:pt x="661873" y="90398"/>
                  </a:lnTo>
                  <a:lnTo>
                    <a:pt x="661098" y="86690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98"/>
                  </a:lnTo>
                  <a:lnTo>
                    <a:pt x="566813" y="90398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98"/>
                  </a:lnTo>
                  <a:lnTo>
                    <a:pt x="620915" y="90398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71"/>
                  </a:lnTo>
                  <a:close/>
                </a:path>
                <a:path w="4098925" h="283210">
                  <a:moveTo>
                    <a:pt x="3199879" y="16510"/>
                  </a:moveTo>
                  <a:lnTo>
                    <a:pt x="3197580" y="10909"/>
                  </a:lnTo>
                  <a:lnTo>
                    <a:pt x="3188335" y="2184"/>
                  </a:lnTo>
                  <a:lnTo>
                    <a:pt x="3182467" y="0"/>
                  </a:lnTo>
                  <a:lnTo>
                    <a:pt x="3162452" y="0"/>
                  </a:lnTo>
                  <a:lnTo>
                    <a:pt x="3156572" y="2184"/>
                  </a:lnTo>
                  <a:lnTo>
                    <a:pt x="3147339" y="10909"/>
                  </a:lnTo>
                  <a:lnTo>
                    <a:pt x="3145028" y="16510"/>
                  </a:lnTo>
                  <a:lnTo>
                    <a:pt x="3145028" y="30264"/>
                  </a:lnTo>
                  <a:lnTo>
                    <a:pt x="3147288" y="35814"/>
                  </a:lnTo>
                  <a:lnTo>
                    <a:pt x="3151822" y="40017"/>
                  </a:lnTo>
                  <a:lnTo>
                    <a:pt x="3156394" y="44170"/>
                  </a:lnTo>
                  <a:lnTo>
                    <a:pt x="3162312" y="46240"/>
                  </a:lnTo>
                  <a:lnTo>
                    <a:pt x="3182366" y="46240"/>
                  </a:lnTo>
                  <a:lnTo>
                    <a:pt x="3188220" y="44170"/>
                  </a:lnTo>
                  <a:lnTo>
                    <a:pt x="3197568" y="35814"/>
                  </a:lnTo>
                  <a:lnTo>
                    <a:pt x="3199879" y="30264"/>
                  </a:lnTo>
                  <a:lnTo>
                    <a:pt x="3199879" y="16510"/>
                  </a:lnTo>
                  <a:close/>
                </a:path>
                <a:path w="4098925" h="283210">
                  <a:moveTo>
                    <a:pt x="3247186" y="195694"/>
                  </a:moveTo>
                  <a:lnTo>
                    <a:pt x="3194151" y="195694"/>
                  </a:lnTo>
                  <a:lnTo>
                    <a:pt x="3194151" y="61569"/>
                  </a:lnTo>
                  <a:lnTo>
                    <a:pt x="3107740" y="61569"/>
                  </a:lnTo>
                  <a:lnTo>
                    <a:pt x="3107740" y="96977"/>
                  </a:lnTo>
                  <a:lnTo>
                    <a:pt x="3156432" y="96977"/>
                  </a:lnTo>
                  <a:lnTo>
                    <a:pt x="3156432" y="195694"/>
                  </a:lnTo>
                  <a:lnTo>
                    <a:pt x="3100603" y="195694"/>
                  </a:lnTo>
                  <a:lnTo>
                    <a:pt x="3100603" y="231101"/>
                  </a:lnTo>
                  <a:lnTo>
                    <a:pt x="3247186" y="231101"/>
                  </a:lnTo>
                  <a:lnTo>
                    <a:pt x="3247186" y="195694"/>
                  </a:lnTo>
                  <a:close/>
                </a:path>
                <a:path w="4098925" h="283210">
                  <a:moveTo>
                    <a:pt x="3414509" y="105371"/>
                  </a:moveTo>
                  <a:lnTo>
                    <a:pt x="3413899" y="95554"/>
                  </a:lnTo>
                  <a:lnTo>
                    <a:pt x="3412833" y="90398"/>
                  </a:lnTo>
                  <a:lnTo>
                    <a:pt x="3412071" y="86690"/>
                  </a:lnTo>
                  <a:lnTo>
                    <a:pt x="3411423" y="85001"/>
                  </a:lnTo>
                  <a:lnTo>
                    <a:pt x="3411334" y="84797"/>
                  </a:lnTo>
                  <a:lnTo>
                    <a:pt x="3409010" y="78765"/>
                  </a:lnTo>
                  <a:lnTo>
                    <a:pt x="3377361" y="58699"/>
                  </a:lnTo>
                  <a:lnTo>
                    <a:pt x="3369018" y="58699"/>
                  </a:lnTo>
                  <a:lnTo>
                    <a:pt x="3362325" y="61010"/>
                  </a:lnTo>
                  <a:lnTo>
                    <a:pt x="3361474" y="61569"/>
                  </a:lnTo>
                  <a:lnTo>
                    <a:pt x="3350653" y="70827"/>
                  </a:lnTo>
                  <a:lnTo>
                    <a:pt x="3350361" y="71767"/>
                  </a:lnTo>
                  <a:lnTo>
                    <a:pt x="3349790" y="70192"/>
                  </a:lnTo>
                  <a:lnTo>
                    <a:pt x="3348913" y="69469"/>
                  </a:lnTo>
                  <a:lnTo>
                    <a:pt x="3348913" y="78765"/>
                  </a:lnTo>
                  <a:lnTo>
                    <a:pt x="3348659" y="77025"/>
                  </a:lnTo>
                  <a:lnTo>
                    <a:pt x="3348774" y="76657"/>
                  </a:lnTo>
                  <a:lnTo>
                    <a:pt x="3348799" y="77025"/>
                  </a:lnTo>
                  <a:lnTo>
                    <a:pt x="3348913" y="78765"/>
                  </a:lnTo>
                  <a:lnTo>
                    <a:pt x="3348913" y="69469"/>
                  </a:lnTo>
                  <a:lnTo>
                    <a:pt x="3344341" y="65620"/>
                  </a:lnTo>
                  <a:lnTo>
                    <a:pt x="3338931" y="61010"/>
                  </a:lnTo>
                  <a:lnTo>
                    <a:pt x="3332251" y="58699"/>
                  </a:lnTo>
                  <a:lnTo>
                    <a:pt x="3315982" y="58699"/>
                  </a:lnTo>
                  <a:lnTo>
                    <a:pt x="3309404" y="61010"/>
                  </a:lnTo>
                  <a:lnTo>
                    <a:pt x="3309162" y="61010"/>
                  </a:lnTo>
                  <a:lnTo>
                    <a:pt x="3302012" y="67233"/>
                  </a:lnTo>
                  <a:lnTo>
                    <a:pt x="3303054" y="61569"/>
                  </a:lnTo>
                  <a:lnTo>
                    <a:pt x="3297110" y="61569"/>
                  </a:lnTo>
                  <a:lnTo>
                    <a:pt x="3297110" y="84442"/>
                  </a:lnTo>
                  <a:lnTo>
                    <a:pt x="3295713" y="77025"/>
                  </a:lnTo>
                  <a:lnTo>
                    <a:pt x="3295840" y="76657"/>
                  </a:lnTo>
                  <a:lnTo>
                    <a:pt x="3295878" y="77025"/>
                  </a:lnTo>
                  <a:lnTo>
                    <a:pt x="3296043" y="78765"/>
                  </a:lnTo>
                  <a:lnTo>
                    <a:pt x="3297110" y="84442"/>
                  </a:lnTo>
                  <a:lnTo>
                    <a:pt x="3297110" y="61569"/>
                  </a:lnTo>
                  <a:lnTo>
                    <a:pt x="3268497" y="61569"/>
                  </a:lnTo>
                  <a:lnTo>
                    <a:pt x="3268497" y="231101"/>
                  </a:lnTo>
                  <a:lnTo>
                    <a:pt x="3304171" y="231101"/>
                  </a:lnTo>
                  <a:lnTo>
                    <a:pt x="3304171" y="99631"/>
                  </a:lnTo>
                  <a:lnTo>
                    <a:pt x="3305035" y="95948"/>
                  </a:lnTo>
                  <a:lnTo>
                    <a:pt x="3308540" y="91516"/>
                  </a:lnTo>
                  <a:lnTo>
                    <a:pt x="3311055" y="90398"/>
                  </a:lnTo>
                  <a:lnTo>
                    <a:pt x="3317773" y="90398"/>
                  </a:lnTo>
                  <a:lnTo>
                    <a:pt x="3320300" y="91516"/>
                  </a:lnTo>
                  <a:lnTo>
                    <a:pt x="3323996" y="95948"/>
                  </a:lnTo>
                  <a:lnTo>
                    <a:pt x="3325139" y="99631"/>
                  </a:lnTo>
                  <a:lnTo>
                    <a:pt x="3325241" y="231101"/>
                  </a:lnTo>
                  <a:lnTo>
                    <a:pt x="3357765" y="231101"/>
                  </a:lnTo>
                  <a:lnTo>
                    <a:pt x="3357791" y="99631"/>
                  </a:lnTo>
                  <a:lnTo>
                    <a:pt x="3358832" y="95948"/>
                  </a:lnTo>
                  <a:lnTo>
                    <a:pt x="3362604" y="91516"/>
                  </a:lnTo>
                  <a:lnTo>
                    <a:pt x="3365169" y="90398"/>
                  </a:lnTo>
                  <a:lnTo>
                    <a:pt x="3371875" y="90398"/>
                  </a:lnTo>
                  <a:lnTo>
                    <a:pt x="3374339" y="91516"/>
                  </a:lnTo>
                  <a:lnTo>
                    <a:pt x="3377730" y="95948"/>
                  </a:lnTo>
                  <a:lnTo>
                    <a:pt x="3378758" y="99631"/>
                  </a:lnTo>
                  <a:lnTo>
                    <a:pt x="3378835" y="231101"/>
                  </a:lnTo>
                  <a:lnTo>
                    <a:pt x="3414509" y="231101"/>
                  </a:lnTo>
                  <a:lnTo>
                    <a:pt x="3414509" y="105371"/>
                  </a:lnTo>
                  <a:close/>
                </a:path>
                <a:path w="4098925" h="283210">
                  <a:moveTo>
                    <a:pt x="3580168" y="123139"/>
                  </a:moveTo>
                  <a:lnTo>
                    <a:pt x="3571506" y="85864"/>
                  </a:lnTo>
                  <a:lnTo>
                    <a:pt x="3542525" y="61887"/>
                  </a:lnTo>
                  <a:lnTo>
                    <a:pt x="3542525" y="114134"/>
                  </a:lnTo>
                  <a:lnTo>
                    <a:pt x="3542525" y="178523"/>
                  </a:lnTo>
                  <a:lnTo>
                    <a:pt x="3540125" y="186512"/>
                  </a:lnTo>
                  <a:lnTo>
                    <a:pt x="3530600" y="196951"/>
                  </a:lnTo>
                  <a:lnTo>
                    <a:pt x="3523513" y="199682"/>
                  </a:lnTo>
                  <a:lnTo>
                    <a:pt x="3505377" y="199682"/>
                  </a:lnTo>
                  <a:lnTo>
                    <a:pt x="3498329" y="196951"/>
                  </a:lnTo>
                  <a:lnTo>
                    <a:pt x="3497415" y="195973"/>
                  </a:lnTo>
                  <a:lnTo>
                    <a:pt x="3493198" y="191503"/>
                  </a:lnTo>
                  <a:lnTo>
                    <a:pt x="3488118" y="185991"/>
                  </a:lnTo>
                  <a:lnTo>
                    <a:pt x="3485705" y="178523"/>
                  </a:lnTo>
                  <a:lnTo>
                    <a:pt x="3485705" y="114134"/>
                  </a:lnTo>
                  <a:lnTo>
                    <a:pt x="3488118" y="106692"/>
                  </a:lnTo>
                  <a:lnTo>
                    <a:pt x="3496983" y="97180"/>
                  </a:lnTo>
                  <a:lnTo>
                    <a:pt x="3497288" y="96850"/>
                  </a:lnTo>
                  <a:lnTo>
                    <a:pt x="3498634" y="95618"/>
                  </a:lnTo>
                  <a:lnTo>
                    <a:pt x="3505377" y="92989"/>
                  </a:lnTo>
                  <a:lnTo>
                    <a:pt x="3523513" y="92989"/>
                  </a:lnTo>
                  <a:lnTo>
                    <a:pt x="3530511" y="95618"/>
                  </a:lnTo>
                  <a:lnTo>
                    <a:pt x="3540125" y="106159"/>
                  </a:lnTo>
                  <a:lnTo>
                    <a:pt x="3542525" y="114134"/>
                  </a:lnTo>
                  <a:lnTo>
                    <a:pt x="3542525" y="61887"/>
                  </a:lnTo>
                  <a:lnTo>
                    <a:pt x="3535489" y="59804"/>
                  </a:lnTo>
                  <a:lnTo>
                    <a:pt x="3522929" y="58699"/>
                  </a:lnTo>
                  <a:lnTo>
                    <a:pt x="3513467" y="59334"/>
                  </a:lnTo>
                  <a:lnTo>
                    <a:pt x="3483343" y="75780"/>
                  </a:lnTo>
                  <a:lnTo>
                    <a:pt x="3485578" y="61569"/>
                  </a:lnTo>
                  <a:lnTo>
                    <a:pt x="3447935" y="61569"/>
                  </a:lnTo>
                  <a:lnTo>
                    <a:pt x="3447935" y="282663"/>
                  </a:lnTo>
                  <a:lnTo>
                    <a:pt x="3485578" y="282663"/>
                  </a:lnTo>
                  <a:lnTo>
                    <a:pt x="3485375" y="229565"/>
                  </a:lnTo>
                  <a:lnTo>
                    <a:pt x="3483343" y="216979"/>
                  </a:lnTo>
                  <a:lnTo>
                    <a:pt x="3484029" y="218173"/>
                  </a:lnTo>
                  <a:lnTo>
                    <a:pt x="3522929" y="233972"/>
                  </a:lnTo>
                  <a:lnTo>
                    <a:pt x="3535489" y="232867"/>
                  </a:lnTo>
                  <a:lnTo>
                    <a:pt x="3571506" y="206781"/>
                  </a:lnTo>
                  <a:lnTo>
                    <a:pt x="3580168" y="169252"/>
                  </a:lnTo>
                  <a:lnTo>
                    <a:pt x="3580168" y="123139"/>
                  </a:lnTo>
                  <a:close/>
                </a:path>
                <a:path w="4098925" h="283210">
                  <a:moveTo>
                    <a:pt x="3752113" y="124536"/>
                  </a:moveTo>
                  <a:lnTo>
                    <a:pt x="3750983" y="110172"/>
                  </a:lnTo>
                  <a:lnTo>
                    <a:pt x="3747592" y="97370"/>
                  </a:lnTo>
                  <a:lnTo>
                    <a:pt x="3745661" y="93548"/>
                  </a:lnTo>
                  <a:lnTo>
                    <a:pt x="3741928" y="86144"/>
                  </a:lnTo>
                  <a:lnTo>
                    <a:pt x="3734003" y="76466"/>
                  </a:lnTo>
                  <a:lnTo>
                    <a:pt x="3724198" y="68694"/>
                  </a:lnTo>
                  <a:lnTo>
                    <a:pt x="3714470" y="63944"/>
                  </a:lnTo>
                  <a:lnTo>
                    <a:pt x="3714470" y="114376"/>
                  </a:lnTo>
                  <a:lnTo>
                    <a:pt x="3714470" y="178295"/>
                  </a:lnTo>
                  <a:lnTo>
                    <a:pt x="3712006" y="186131"/>
                  </a:lnTo>
                  <a:lnTo>
                    <a:pt x="3702164" y="196532"/>
                  </a:lnTo>
                  <a:lnTo>
                    <a:pt x="3694950" y="199123"/>
                  </a:lnTo>
                  <a:lnTo>
                    <a:pt x="3675875" y="199123"/>
                  </a:lnTo>
                  <a:lnTo>
                    <a:pt x="3668649" y="196532"/>
                  </a:lnTo>
                  <a:lnTo>
                    <a:pt x="3658857" y="186131"/>
                  </a:lnTo>
                  <a:lnTo>
                    <a:pt x="3656406" y="178295"/>
                  </a:lnTo>
                  <a:lnTo>
                    <a:pt x="3656406" y="114376"/>
                  </a:lnTo>
                  <a:lnTo>
                    <a:pt x="3658857" y="106553"/>
                  </a:lnTo>
                  <a:lnTo>
                    <a:pt x="3668649" y="96151"/>
                  </a:lnTo>
                  <a:lnTo>
                    <a:pt x="3675875" y="93548"/>
                  </a:lnTo>
                  <a:lnTo>
                    <a:pt x="3694950" y="93548"/>
                  </a:lnTo>
                  <a:lnTo>
                    <a:pt x="3702164" y="96151"/>
                  </a:lnTo>
                  <a:lnTo>
                    <a:pt x="3707053" y="101384"/>
                  </a:lnTo>
                  <a:lnTo>
                    <a:pt x="3712006" y="106553"/>
                  </a:lnTo>
                  <a:lnTo>
                    <a:pt x="3714470" y="63944"/>
                  </a:lnTo>
                  <a:lnTo>
                    <a:pt x="3685438" y="58699"/>
                  </a:lnTo>
                  <a:lnTo>
                    <a:pt x="3670935" y="59804"/>
                  </a:lnTo>
                  <a:lnTo>
                    <a:pt x="3628860" y="86144"/>
                  </a:lnTo>
                  <a:lnTo>
                    <a:pt x="3618712" y="124536"/>
                  </a:lnTo>
                  <a:lnTo>
                    <a:pt x="3618687" y="167843"/>
                  </a:lnTo>
                  <a:lnTo>
                    <a:pt x="3619817" y="182333"/>
                  </a:lnTo>
                  <a:lnTo>
                    <a:pt x="3646576" y="223964"/>
                  </a:lnTo>
                  <a:lnTo>
                    <a:pt x="3685438" y="233972"/>
                  </a:lnTo>
                  <a:lnTo>
                    <a:pt x="3699916" y="232854"/>
                  </a:lnTo>
                  <a:lnTo>
                    <a:pt x="3741928" y="206514"/>
                  </a:lnTo>
                  <a:lnTo>
                    <a:pt x="3752113" y="167843"/>
                  </a:lnTo>
                  <a:lnTo>
                    <a:pt x="3752113" y="124536"/>
                  </a:lnTo>
                  <a:close/>
                </a:path>
                <a:path w="4098925" h="283210">
                  <a:moveTo>
                    <a:pt x="3930370" y="122580"/>
                  </a:moveTo>
                  <a:lnTo>
                    <a:pt x="3921112" y="85559"/>
                  </a:lnTo>
                  <a:lnTo>
                    <a:pt x="3883037" y="59791"/>
                  </a:lnTo>
                  <a:lnTo>
                    <a:pt x="3869982" y="58699"/>
                  </a:lnTo>
                  <a:lnTo>
                    <a:pt x="3852976" y="61010"/>
                  </a:lnTo>
                  <a:lnTo>
                    <a:pt x="3840391" y="67932"/>
                  </a:lnTo>
                  <a:lnTo>
                    <a:pt x="3832199" y="79476"/>
                  </a:lnTo>
                  <a:lnTo>
                    <a:pt x="3828427" y="95643"/>
                  </a:lnTo>
                  <a:lnTo>
                    <a:pt x="3828504" y="95148"/>
                  </a:lnTo>
                  <a:lnTo>
                    <a:pt x="3834371" y="61569"/>
                  </a:lnTo>
                  <a:lnTo>
                    <a:pt x="3797287" y="61569"/>
                  </a:lnTo>
                  <a:lnTo>
                    <a:pt x="3797287" y="231101"/>
                  </a:lnTo>
                  <a:lnTo>
                    <a:pt x="3834930" y="231101"/>
                  </a:lnTo>
                  <a:lnTo>
                    <a:pt x="3834993" y="114134"/>
                  </a:lnTo>
                  <a:lnTo>
                    <a:pt x="3837470" y="106299"/>
                  </a:lnTo>
                  <a:lnTo>
                    <a:pt x="3847287" y="95643"/>
                  </a:lnTo>
                  <a:lnTo>
                    <a:pt x="3847808" y="95148"/>
                  </a:lnTo>
                  <a:lnTo>
                    <a:pt x="3854831" y="92417"/>
                  </a:lnTo>
                  <a:lnTo>
                    <a:pt x="3873296" y="92417"/>
                  </a:lnTo>
                  <a:lnTo>
                    <a:pt x="3880408" y="95148"/>
                  </a:lnTo>
                  <a:lnTo>
                    <a:pt x="3890251" y="106070"/>
                  </a:lnTo>
                  <a:lnTo>
                    <a:pt x="3890327" y="106299"/>
                  </a:lnTo>
                  <a:lnTo>
                    <a:pt x="3892727" y="114134"/>
                  </a:lnTo>
                  <a:lnTo>
                    <a:pt x="3892727" y="137972"/>
                  </a:lnTo>
                  <a:lnTo>
                    <a:pt x="3930370" y="137972"/>
                  </a:lnTo>
                  <a:lnTo>
                    <a:pt x="3930370" y="122580"/>
                  </a:lnTo>
                  <a:close/>
                </a:path>
                <a:path w="4098925" h="283210">
                  <a:moveTo>
                    <a:pt x="4098328" y="61569"/>
                  </a:moveTo>
                  <a:lnTo>
                    <a:pt x="4035285" y="61569"/>
                  </a:lnTo>
                  <a:lnTo>
                    <a:pt x="4035285" y="18605"/>
                  </a:lnTo>
                  <a:lnTo>
                    <a:pt x="3997579" y="18605"/>
                  </a:lnTo>
                  <a:lnTo>
                    <a:pt x="3997579" y="61569"/>
                  </a:lnTo>
                  <a:lnTo>
                    <a:pt x="3953141" y="61569"/>
                  </a:lnTo>
                  <a:lnTo>
                    <a:pt x="3953141" y="96977"/>
                  </a:lnTo>
                  <a:lnTo>
                    <a:pt x="3997579" y="96977"/>
                  </a:lnTo>
                  <a:lnTo>
                    <a:pt x="3997579" y="183591"/>
                  </a:lnTo>
                  <a:lnTo>
                    <a:pt x="3998391" y="194144"/>
                  </a:lnTo>
                  <a:lnTo>
                    <a:pt x="4026204" y="227952"/>
                  </a:lnTo>
                  <a:lnTo>
                    <a:pt x="4046550" y="231101"/>
                  </a:lnTo>
                  <a:lnTo>
                    <a:pt x="4095458" y="231101"/>
                  </a:lnTo>
                  <a:lnTo>
                    <a:pt x="4095458" y="195694"/>
                  </a:lnTo>
                  <a:lnTo>
                    <a:pt x="4042359" y="195694"/>
                  </a:lnTo>
                  <a:lnTo>
                    <a:pt x="4039412" y="194805"/>
                  </a:lnTo>
                  <a:lnTo>
                    <a:pt x="4036110" y="191262"/>
                  </a:lnTo>
                  <a:lnTo>
                    <a:pt x="4035285" y="188112"/>
                  </a:lnTo>
                  <a:lnTo>
                    <a:pt x="4035285" y="96977"/>
                  </a:lnTo>
                  <a:lnTo>
                    <a:pt x="4098328" y="96977"/>
                  </a:lnTo>
                  <a:lnTo>
                    <a:pt x="4098328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2352" y="1231899"/>
            <a:ext cx="8107045" cy="39560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Import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DecisionTreeClassifier</a:t>
            </a:r>
            <a:endParaRPr sz="2250">
              <a:latin typeface="Monaco"/>
              <a:cs typeface="Monaco"/>
            </a:endParaRPr>
          </a:p>
          <a:p>
            <a:pPr marL="871855">
              <a:lnSpc>
                <a:spcPct val="100000"/>
              </a:lnSpc>
              <a:spcBef>
                <a:spcPts val="1170"/>
              </a:spcBef>
              <a:tabLst>
                <a:tab pos="4310380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sklearn.tree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DecisionTreeClassifier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2250">
              <a:latin typeface="Monaco"/>
              <a:cs typeface="Monaco"/>
            </a:endParaRPr>
          </a:p>
          <a:p>
            <a:pPr marL="12700" marR="2067560">
              <a:lnSpc>
                <a:spcPct val="143300"/>
              </a:lnSpc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Set seed to 1 for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reproducibility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SEED = </a:t>
            </a:r>
            <a:r>
              <a:rPr sz="2250" spc="-50" dirty="0">
                <a:solidFill>
                  <a:srgbClr val="BE2F72"/>
                </a:solidFill>
                <a:latin typeface="Monaco"/>
                <a:cs typeface="Monaco"/>
              </a:rPr>
              <a:t>1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Instantiate a DecisionTreeClassifier </a:t>
            </a:r>
            <a:r>
              <a:rPr sz="2250" spc="-20" dirty="0">
                <a:solidFill>
                  <a:srgbClr val="008600"/>
                </a:solidFill>
                <a:latin typeface="Monaco"/>
                <a:cs typeface="Monaco"/>
              </a:rPr>
              <a:t>'dt'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dt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DecisionTreeClassifier(random_state=SEED)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8F6098C-CE3F-C5CC-E976-25FCBD695B9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Inspecting</a:t>
            </a:r>
            <a:r>
              <a:rPr spc="-155" dirty="0"/>
              <a:t> </a:t>
            </a:r>
            <a:r>
              <a:rPr dirty="0"/>
              <a:t>the</a:t>
            </a:r>
            <a:r>
              <a:rPr spc="-145" dirty="0"/>
              <a:t> </a:t>
            </a:r>
            <a:r>
              <a:rPr spc="-45" dirty="0"/>
              <a:t>hyperparameters</a:t>
            </a:r>
            <a:r>
              <a:rPr spc="-145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spc="250" dirty="0"/>
              <a:t>a</a:t>
            </a:r>
            <a:r>
              <a:rPr spc="-145" dirty="0"/>
              <a:t> </a:t>
            </a:r>
            <a:r>
              <a:rPr spc="-180" dirty="0"/>
              <a:t>CART</a:t>
            </a:r>
            <a:r>
              <a:rPr spc="-130" dirty="0"/>
              <a:t> </a:t>
            </a:r>
            <a:r>
              <a:rPr spc="-55" dirty="0"/>
              <a:t>in</a:t>
            </a:r>
            <a:r>
              <a:rPr spc="-145" dirty="0"/>
              <a:t> </a:t>
            </a:r>
            <a:r>
              <a:rPr spc="-10" dirty="0"/>
              <a:t>sklearn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6"/>
            <a:ext cx="7124065" cy="1044575"/>
          </a:xfrm>
          <a:custGeom>
            <a:avLst/>
            <a:gdLst/>
            <a:ahLst/>
            <a:cxnLst/>
            <a:rect l="l" t="t" r="r" b="b"/>
            <a:pathLst>
              <a:path w="7124065" h="1044575">
                <a:moveTo>
                  <a:pt x="7047191" y="1043989"/>
                </a:moveTo>
                <a:lnTo>
                  <a:pt x="76505" y="1043989"/>
                </a:lnTo>
                <a:lnTo>
                  <a:pt x="71180" y="1043465"/>
                </a:lnTo>
                <a:lnTo>
                  <a:pt x="31920" y="1027203"/>
                </a:lnTo>
                <a:lnTo>
                  <a:pt x="4175" y="988475"/>
                </a:lnTo>
                <a:lnTo>
                  <a:pt x="0" y="967484"/>
                </a:lnTo>
                <a:lnTo>
                  <a:pt x="0" y="96210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967484"/>
                </a:lnTo>
                <a:lnTo>
                  <a:pt x="7106908" y="1012069"/>
                </a:lnTo>
                <a:lnTo>
                  <a:pt x="7068182" y="1039814"/>
                </a:lnTo>
                <a:lnTo>
                  <a:pt x="7052515" y="1043465"/>
                </a:lnTo>
                <a:lnTo>
                  <a:pt x="7047191" y="1043989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9408" y="1199959"/>
            <a:ext cx="4560570" cy="803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95"/>
              </a:spcBef>
            </a:pPr>
            <a:r>
              <a:rPr sz="180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1800" spc="-1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80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800" spc="-1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800" dirty="0">
                <a:solidFill>
                  <a:srgbClr val="008600"/>
                </a:solidFill>
                <a:latin typeface="Monaco"/>
                <a:cs typeface="Monaco"/>
              </a:rPr>
              <a:t>out</a:t>
            </a:r>
            <a:r>
              <a:rPr sz="1800" spc="-1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800" dirty="0">
                <a:solidFill>
                  <a:srgbClr val="008600"/>
                </a:solidFill>
                <a:latin typeface="Monaco"/>
                <a:cs typeface="Monaco"/>
              </a:rPr>
              <a:t>'dt's</a:t>
            </a:r>
            <a:r>
              <a:rPr sz="1800" spc="-10" dirty="0">
                <a:solidFill>
                  <a:srgbClr val="008600"/>
                </a:solidFill>
                <a:latin typeface="Monaco"/>
                <a:cs typeface="Monaco"/>
              </a:rPr>
              <a:t> hyperparameters print</a:t>
            </a:r>
            <a:r>
              <a:rPr sz="1800" spc="-10" dirty="0">
                <a:solidFill>
                  <a:srgbClr val="04182D"/>
                </a:solidFill>
                <a:latin typeface="Monaco"/>
                <a:cs typeface="Monaco"/>
              </a:rPr>
              <a:t>(dt.get_params())</a:t>
            </a:r>
            <a:endParaRPr sz="1800">
              <a:latin typeface="Monaco"/>
              <a:cs typeface="Monac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42512" y="1166806"/>
            <a:ext cx="7124065" cy="5322570"/>
          </a:xfrm>
          <a:custGeom>
            <a:avLst/>
            <a:gdLst/>
            <a:ahLst/>
            <a:cxnLst/>
            <a:rect l="l" t="t" r="r" b="b"/>
            <a:pathLst>
              <a:path w="7124065" h="5322570">
                <a:moveTo>
                  <a:pt x="7047191" y="5322301"/>
                </a:moveTo>
                <a:lnTo>
                  <a:pt x="76504" y="5322301"/>
                </a:lnTo>
                <a:lnTo>
                  <a:pt x="71179" y="5321776"/>
                </a:lnTo>
                <a:lnTo>
                  <a:pt x="31919" y="5305514"/>
                </a:lnTo>
                <a:lnTo>
                  <a:pt x="4174" y="5266787"/>
                </a:lnTo>
                <a:lnTo>
                  <a:pt x="0" y="5245796"/>
                </a:lnTo>
                <a:lnTo>
                  <a:pt x="0" y="5240420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5245796"/>
                </a:lnTo>
                <a:lnTo>
                  <a:pt x="7106909" y="5290380"/>
                </a:lnTo>
                <a:lnTo>
                  <a:pt x="7068181" y="5318125"/>
                </a:lnTo>
                <a:lnTo>
                  <a:pt x="7052515" y="5321776"/>
                </a:lnTo>
                <a:lnTo>
                  <a:pt x="7047191" y="532230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59897" y="1199959"/>
            <a:ext cx="4560570" cy="5081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 marR="417195" indent="-137795">
              <a:lnSpc>
                <a:spcPct val="141800"/>
              </a:lnSpc>
              <a:spcBef>
                <a:spcPts val="95"/>
              </a:spcBef>
            </a:pP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{'class_weight':</a:t>
            </a:r>
            <a:r>
              <a:rPr sz="1800" spc="-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onaco"/>
                <a:cs typeface="Monaco"/>
              </a:rPr>
              <a:t>None, 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'criterion':</a:t>
            </a:r>
            <a:r>
              <a:rPr sz="1800" spc="-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onaco"/>
                <a:cs typeface="Monaco"/>
              </a:rPr>
              <a:t>'gini', 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'max_depth':</a:t>
            </a:r>
            <a:r>
              <a:rPr sz="1800" spc="-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onaco"/>
                <a:cs typeface="Monaco"/>
              </a:rPr>
              <a:t>None, 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'max_features':</a:t>
            </a:r>
            <a:r>
              <a:rPr sz="1800" spc="-8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onaco"/>
                <a:cs typeface="Monaco"/>
              </a:rPr>
              <a:t>None, 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'max_leaf_nodes':</a:t>
            </a:r>
            <a:r>
              <a:rPr sz="1800" spc="-9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onaco"/>
                <a:cs typeface="Monaco"/>
              </a:rPr>
              <a:t>None, 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'min_impurity_decrease':</a:t>
            </a:r>
            <a:r>
              <a:rPr sz="1800" spc="-12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onaco"/>
                <a:cs typeface="Monaco"/>
              </a:rPr>
              <a:t>0.0, 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'min_impurity_split':</a:t>
            </a:r>
            <a:r>
              <a:rPr sz="1800" spc="-11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onaco"/>
                <a:cs typeface="Monaco"/>
              </a:rPr>
              <a:t>None, 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'min_samples_leaf':</a:t>
            </a:r>
            <a:r>
              <a:rPr sz="1800" spc="-10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onaco"/>
                <a:cs typeface="Monaco"/>
              </a:rPr>
              <a:t>1,</a:t>
            </a:r>
            <a:endParaRPr sz="1800">
              <a:latin typeface="Monaco"/>
              <a:cs typeface="Monaco"/>
            </a:endParaRPr>
          </a:p>
          <a:p>
            <a:pPr marL="149860">
              <a:lnSpc>
                <a:spcPct val="100000"/>
              </a:lnSpc>
              <a:spcBef>
                <a:spcPts val="905"/>
              </a:spcBef>
            </a:pP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'min_samples_split':</a:t>
            </a:r>
            <a:r>
              <a:rPr sz="1800" spc="-10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onaco"/>
                <a:cs typeface="Monaco"/>
              </a:rPr>
              <a:t>2,</a:t>
            </a:r>
            <a:endParaRPr sz="1800">
              <a:latin typeface="Monaco"/>
              <a:cs typeface="Monaco"/>
            </a:endParaRPr>
          </a:p>
          <a:p>
            <a:pPr marL="149860" marR="5080">
              <a:lnSpc>
                <a:spcPct val="141800"/>
              </a:lnSpc>
            </a:pP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'min_weight_fraction_leaf':</a:t>
            </a:r>
            <a:r>
              <a:rPr sz="1800" spc="-14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Monaco"/>
                <a:cs typeface="Monaco"/>
              </a:rPr>
              <a:t>0.0, 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'presort':</a:t>
            </a:r>
            <a:r>
              <a:rPr sz="1800" spc="-4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onaco"/>
                <a:cs typeface="Monaco"/>
              </a:rPr>
              <a:t>False, 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'random_state':</a:t>
            </a:r>
            <a:r>
              <a:rPr sz="1800" spc="-8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onaco"/>
                <a:cs typeface="Monaco"/>
              </a:rPr>
              <a:t>1,</a:t>
            </a:r>
            <a:endParaRPr sz="1800">
              <a:latin typeface="Monaco"/>
              <a:cs typeface="Monaco"/>
            </a:endParaRPr>
          </a:p>
          <a:p>
            <a:pPr marL="149860">
              <a:lnSpc>
                <a:spcPct val="100000"/>
              </a:lnSpc>
              <a:spcBef>
                <a:spcPts val="900"/>
              </a:spcBef>
            </a:pP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'splitter':</a:t>
            </a:r>
            <a:r>
              <a:rPr sz="1800" spc="-5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onaco"/>
                <a:cs typeface="Monaco"/>
              </a:rPr>
              <a:t>'best'}</a:t>
            </a:r>
            <a:endParaRPr sz="1800">
              <a:latin typeface="Monaco"/>
              <a:cs typeface="Monac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7913" y="8248707"/>
            <a:ext cx="1739900" cy="368300"/>
          </a:xfrm>
          <a:custGeom>
            <a:avLst/>
            <a:gdLst/>
            <a:ahLst/>
            <a:cxnLst/>
            <a:rect l="l" t="t" r="r" b="b"/>
            <a:pathLst>
              <a:path w="1739900" h="368300">
                <a:moveTo>
                  <a:pt x="209676" y="110742"/>
                </a:moveTo>
                <a:lnTo>
                  <a:pt x="176576" y="110742"/>
                </a:lnTo>
                <a:lnTo>
                  <a:pt x="176576" y="0"/>
                </a:lnTo>
                <a:lnTo>
                  <a:pt x="209676" y="0"/>
                </a:lnTo>
                <a:lnTo>
                  <a:pt x="209676" y="110742"/>
                </a:lnTo>
                <a:close/>
              </a:path>
              <a:path w="1739900" h="368300">
                <a:moveTo>
                  <a:pt x="102631" y="290963"/>
                </a:moveTo>
                <a:lnTo>
                  <a:pt x="63835" y="282714"/>
                </a:lnTo>
                <a:lnTo>
                  <a:pt x="29931" y="259678"/>
                </a:lnTo>
                <a:lnTo>
                  <a:pt x="7482" y="225481"/>
                </a:lnTo>
                <a:lnTo>
                  <a:pt x="0" y="186728"/>
                </a:lnTo>
                <a:lnTo>
                  <a:pt x="7482" y="147975"/>
                </a:lnTo>
                <a:lnTo>
                  <a:pt x="29931" y="113778"/>
                </a:lnTo>
                <a:lnTo>
                  <a:pt x="63835" y="90741"/>
                </a:lnTo>
                <a:lnTo>
                  <a:pt x="102631" y="82493"/>
                </a:lnTo>
                <a:lnTo>
                  <a:pt x="141738" y="89128"/>
                </a:lnTo>
                <a:lnTo>
                  <a:pt x="176576" y="110742"/>
                </a:lnTo>
                <a:lnTo>
                  <a:pt x="209676" y="110742"/>
                </a:lnTo>
                <a:lnTo>
                  <a:pt x="209676" y="115505"/>
                </a:lnTo>
                <a:lnTo>
                  <a:pt x="104843" y="115505"/>
                </a:lnTo>
                <a:lnTo>
                  <a:pt x="76969" y="121103"/>
                </a:lnTo>
                <a:lnTo>
                  <a:pt x="54206" y="136369"/>
                </a:lnTo>
                <a:lnTo>
                  <a:pt x="38859" y="159011"/>
                </a:lnTo>
                <a:lnTo>
                  <a:pt x="33233" y="186728"/>
                </a:lnTo>
                <a:lnTo>
                  <a:pt x="38764" y="213998"/>
                </a:lnTo>
                <a:lnTo>
                  <a:pt x="38859" y="214465"/>
                </a:lnTo>
                <a:lnTo>
                  <a:pt x="54206" y="237107"/>
                </a:lnTo>
                <a:lnTo>
                  <a:pt x="76969" y="252373"/>
                </a:lnTo>
                <a:lnTo>
                  <a:pt x="104843" y="257971"/>
                </a:lnTo>
                <a:lnTo>
                  <a:pt x="209676" y="257971"/>
                </a:lnTo>
                <a:lnTo>
                  <a:pt x="209676" y="262714"/>
                </a:lnTo>
                <a:lnTo>
                  <a:pt x="176576" y="262714"/>
                </a:lnTo>
                <a:lnTo>
                  <a:pt x="141738" y="284327"/>
                </a:lnTo>
                <a:lnTo>
                  <a:pt x="102631" y="290963"/>
                </a:lnTo>
                <a:close/>
              </a:path>
              <a:path w="1739900" h="368300">
                <a:moveTo>
                  <a:pt x="209676" y="257971"/>
                </a:moveTo>
                <a:lnTo>
                  <a:pt x="104843" y="257971"/>
                </a:lnTo>
                <a:lnTo>
                  <a:pt x="118880" y="256589"/>
                </a:lnTo>
                <a:lnTo>
                  <a:pt x="132248" y="252548"/>
                </a:lnTo>
                <a:lnTo>
                  <a:pt x="164424" y="226258"/>
                </a:lnTo>
                <a:lnTo>
                  <a:pt x="176454" y="186728"/>
                </a:lnTo>
                <a:lnTo>
                  <a:pt x="170828" y="159011"/>
                </a:lnTo>
                <a:lnTo>
                  <a:pt x="155481" y="136369"/>
                </a:lnTo>
                <a:lnTo>
                  <a:pt x="132718" y="121103"/>
                </a:lnTo>
                <a:lnTo>
                  <a:pt x="104843" y="115505"/>
                </a:lnTo>
                <a:lnTo>
                  <a:pt x="209676" y="115505"/>
                </a:lnTo>
                <a:lnTo>
                  <a:pt x="209676" y="257971"/>
                </a:lnTo>
                <a:close/>
              </a:path>
              <a:path w="1739900" h="368300">
                <a:moveTo>
                  <a:pt x="209676" y="285671"/>
                </a:moveTo>
                <a:lnTo>
                  <a:pt x="176576" y="285671"/>
                </a:lnTo>
                <a:lnTo>
                  <a:pt x="176576" y="262714"/>
                </a:lnTo>
                <a:lnTo>
                  <a:pt x="209676" y="262714"/>
                </a:lnTo>
                <a:lnTo>
                  <a:pt x="209676" y="285671"/>
                </a:lnTo>
                <a:close/>
              </a:path>
              <a:path w="1739900" h="368300">
                <a:moveTo>
                  <a:pt x="1095907" y="290963"/>
                </a:moveTo>
                <a:lnTo>
                  <a:pt x="1057112" y="282714"/>
                </a:lnTo>
                <a:lnTo>
                  <a:pt x="1023208" y="259678"/>
                </a:lnTo>
                <a:lnTo>
                  <a:pt x="1000759" y="225481"/>
                </a:lnTo>
                <a:lnTo>
                  <a:pt x="993276" y="186728"/>
                </a:lnTo>
                <a:lnTo>
                  <a:pt x="1000759" y="147975"/>
                </a:lnTo>
                <a:lnTo>
                  <a:pt x="1023208" y="113778"/>
                </a:lnTo>
                <a:lnTo>
                  <a:pt x="1057112" y="90741"/>
                </a:lnTo>
                <a:lnTo>
                  <a:pt x="1095907" y="82493"/>
                </a:lnTo>
                <a:lnTo>
                  <a:pt x="1135014" y="89128"/>
                </a:lnTo>
                <a:lnTo>
                  <a:pt x="1169853" y="110742"/>
                </a:lnTo>
                <a:lnTo>
                  <a:pt x="1202932" y="110742"/>
                </a:lnTo>
                <a:lnTo>
                  <a:pt x="1202932" y="115505"/>
                </a:lnTo>
                <a:lnTo>
                  <a:pt x="1098140" y="115505"/>
                </a:lnTo>
                <a:lnTo>
                  <a:pt x="1070265" y="121103"/>
                </a:lnTo>
                <a:lnTo>
                  <a:pt x="1047502" y="136369"/>
                </a:lnTo>
                <a:lnTo>
                  <a:pt x="1032155" y="159011"/>
                </a:lnTo>
                <a:lnTo>
                  <a:pt x="1026530" y="186728"/>
                </a:lnTo>
                <a:lnTo>
                  <a:pt x="1032060" y="213998"/>
                </a:lnTo>
                <a:lnTo>
                  <a:pt x="1032155" y="214465"/>
                </a:lnTo>
                <a:lnTo>
                  <a:pt x="1047502" y="237107"/>
                </a:lnTo>
                <a:lnTo>
                  <a:pt x="1070265" y="252373"/>
                </a:lnTo>
                <a:lnTo>
                  <a:pt x="1098140" y="257971"/>
                </a:lnTo>
                <a:lnTo>
                  <a:pt x="1202953" y="257971"/>
                </a:lnTo>
                <a:lnTo>
                  <a:pt x="1202953" y="262714"/>
                </a:lnTo>
                <a:lnTo>
                  <a:pt x="1169853" y="262714"/>
                </a:lnTo>
                <a:lnTo>
                  <a:pt x="1135014" y="284327"/>
                </a:lnTo>
                <a:lnTo>
                  <a:pt x="1095907" y="290963"/>
                </a:lnTo>
                <a:close/>
              </a:path>
              <a:path w="1739900" h="368300">
                <a:moveTo>
                  <a:pt x="1202932" y="110742"/>
                </a:moveTo>
                <a:lnTo>
                  <a:pt x="1169853" y="110742"/>
                </a:lnTo>
                <a:lnTo>
                  <a:pt x="1169853" y="83581"/>
                </a:lnTo>
                <a:lnTo>
                  <a:pt x="1202932" y="83581"/>
                </a:lnTo>
                <a:lnTo>
                  <a:pt x="1202932" y="110742"/>
                </a:lnTo>
                <a:close/>
              </a:path>
              <a:path w="1739900" h="368300">
                <a:moveTo>
                  <a:pt x="1202953" y="257971"/>
                </a:moveTo>
                <a:lnTo>
                  <a:pt x="1098140" y="257971"/>
                </a:lnTo>
                <a:lnTo>
                  <a:pt x="1112176" y="256589"/>
                </a:lnTo>
                <a:lnTo>
                  <a:pt x="1125545" y="252548"/>
                </a:lnTo>
                <a:lnTo>
                  <a:pt x="1157720" y="226258"/>
                </a:lnTo>
                <a:lnTo>
                  <a:pt x="1169750" y="186728"/>
                </a:lnTo>
                <a:lnTo>
                  <a:pt x="1164125" y="159011"/>
                </a:lnTo>
                <a:lnTo>
                  <a:pt x="1148777" y="136369"/>
                </a:lnTo>
                <a:lnTo>
                  <a:pt x="1126015" y="121103"/>
                </a:lnTo>
                <a:lnTo>
                  <a:pt x="1098140" y="115505"/>
                </a:lnTo>
                <a:lnTo>
                  <a:pt x="1202932" y="115505"/>
                </a:lnTo>
                <a:lnTo>
                  <a:pt x="1202953" y="257971"/>
                </a:lnTo>
                <a:close/>
              </a:path>
              <a:path w="1739900" h="368300">
                <a:moveTo>
                  <a:pt x="1202953" y="285671"/>
                </a:moveTo>
                <a:lnTo>
                  <a:pt x="1169853" y="285671"/>
                </a:lnTo>
                <a:lnTo>
                  <a:pt x="1169853" y="262714"/>
                </a:lnTo>
                <a:lnTo>
                  <a:pt x="1202953" y="262714"/>
                </a:lnTo>
                <a:lnTo>
                  <a:pt x="1202953" y="285671"/>
                </a:lnTo>
                <a:close/>
              </a:path>
              <a:path w="1739900" h="368300">
                <a:moveTo>
                  <a:pt x="1259816" y="285671"/>
                </a:moveTo>
                <a:lnTo>
                  <a:pt x="1227441" y="285671"/>
                </a:lnTo>
                <a:lnTo>
                  <a:pt x="1227441" y="83454"/>
                </a:lnTo>
                <a:lnTo>
                  <a:pt x="1261205" y="83454"/>
                </a:lnTo>
                <a:lnTo>
                  <a:pt x="1260519" y="205634"/>
                </a:lnTo>
                <a:lnTo>
                  <a:pt x="1260420" y="223385"/>
                </a:lnTo>
                <a:lnTo>
                  <a:pt x="1297925" y="223385"/>
                </a:lnTo>
                <a:lnTo>
                  <a:pt x="1279985" y="252612"/>
                </a:lnTo>
                <a:lnTo>
                  <a:pt x="1259816" y="285671"/>
                </a:lnTo>
                <a:close/>
              </a:path>
              <a:path w="1739900" h="368300">
                <a:moveTo>
                  <a:pt x="1297925" y="223385"/>
                </a:moveTo>
                <a:lnTo>
                  <a:pt x="1260420" y="223385"/>
                </a:lnTo>
                <a:lnTo>
                  <a:pt x="1341815" y="90596"/>
                </a:lnTo>
                <a:lnTo>
                  <a:pt x="1344437" y="86406"/>
                </a:lnTo>
                <a:lnTo>
                  <a:pt x="1349724" y="83454"/>
                </a:lnTo>
                <a:lnTo>
                  <a:pt x="1361517" y="83454"/>
                </a:lnTo>
                <a:lnTo>
                  <a:pt x="1386275" y="134619"/>
                </a:lnTo>
                <a:lnTo>
                  <a:pt x="1352677" y="134619"/>
                </a:lnTo>
                <a:lnTo>
                  <a:pt x="1297925" y="223385"/>
                </a:lnTo>
                <a:close/>
              </a:path>
              <a:path w="1739900" h="368300">
                <a:moveTo>
                  <a:pt x="1423909" y="222504"/>
                </a:moveTo>
                <a:lnTo>
                  <a:pt x="1386420" y="222504"/>
                </a:lnTo>
                <a:lnTo>
                  <a:pt x="1469827" y="86406"/>
                </a:lnTo>
                <a:lnTo>
                  <a:pt x="1475114" y="83454"/>
                </a:lnTo>
                <a:lnTo>
                  <a:pt x="1487154" y="83454"/>
                </a:lnTo>
                <a:lnTo>
                  <a:pt x="1511676" y="135000"/>
                </a:lnTo>
                <a:lnTo>
                  <a:pt x="1477892" y="135000"/>
                </a:lnTo>
                <a:lnTo>
                  <a:pt x="1423909" y="222504"/>
                </a:lnTo>
                <a:close/>
              </a:path>
              <a:path w="1739900" h="368300">
                <a:moveTo>
                  <a:pt x="1381590" y="285671"/>
                </a:moveTo>
                <a:lnTo>
                  <a:pt x="1359983" y="285671"/>
                </a:lnTo>
                <a:lnTo>
                  <a:pt x="1352677" y="278404"/>
                </a:lnTo>
                <a:lnTo>
                  <a:pt x="1352677" y="134619"/>
                </a:lnTo>
                <a:lnTo>
                  <a:pt x="1386275" y="134619"/>
                </a:lnTo>
                <a:lnTo>
                  <a:pt x="1386395" y="209445"/>
                </a:lnTo>
                <a:lnTo>
                  <a:pt x="1386420" y="222504"/>
                </a:lnTo>
                <a:lnTo>
                  <a:pt x="1423909" y="222504"/>
                </a:lnTo>
                <a:lnTo>
                  <a:pt x="1386859" y="282733"/>
                </a:lnTo>
                <a:lnTo>
                  <a:pt x="1381590" y="285671"/>
                </a:lnTo>
                <a:close/>
              </a:path>
              <a:path w="1739900" h="368300">
                <a:moveTo>
                  <a:pt x="1511676" y="285671"/>
                </a:moveTo>
                <a:lnTo>
                  <a:pt x="1477892" y="285671"/>
                </a:lnTo>
                <a:lnTo>
                  <a:pt x="1477892" y="135000"/>
                </a:lnTo>
                <a:lnTo>
                  <a:pt x="1511676" y="135000"/>
                </a:lnTo>
                <a:lnTo>
                  <a:pt x="1511676" y="285671"/>
                </a:lnTo>
                <a:close/>
              </a:path>
              <a:path w="1739900" h="368300">
                <a:moveTo>
                  <a:pt x="904751" y="291025"/>
                </a:moveTo>
                <a:lnTo>
                  <a:pt x="842180" y="270014"/>
                </a:lnTo>
                <a:lnTo>
                  <a:pt x="805126" y="217457"/>
                </a:lnTo>
                <a:lnTo>
                  <a:pt x="800524" y="184503"/>
                </a:lnTo>
                <a:lnTo>
                  <a:pt x="806583" y="151783"/>
                </a:lnTo>
                <a:lnTo>
                  <a:pt x="822226" y="123259"/>
                </a:lnTo>
                <a:lnTo>
                  <a:pt x="845930" y="100903"/>
                </a:lnTo>
                <a:lnTo>
                  <a:pt x="876170" y="86685"/>
                </a:lnTo>
                <a:lnTo>
                  <a:pt x="909371" y="82657"/>
                </a:lnTo>
                <a:lnTo>
                  <a:pt x="941412" y="88981"/>
                </a:lnTo>
                <a:lnTo>
                  <a:pt x="969945" y="104800"/>
                </a:lnTo>
                <a:lnTo>
                  <a:pt x="980829" y="116537"/>
                </a:lnTo>
                <a:lnTo>
                  <a:pt x="906313" y="116537"/>
                </a:lnTo>
                <a:lnTo>
                  <a:pt x="884848" y="119223"/>
                </a:lnTo>
                <a:lnTo>
                  <a:pt x="865246" y="128329"/>
                </a:lnTo>
                <a:lnTo>
                  <a:pt x="849711" y="142609"/>
                </a:lnTo>
                <a:lnTo>
                  <a:pt x="839201" y="160868"/>
                </a:lnTo>
                <a:lnTo>
                  <a:pt x="834671" y="181910"/>
                </a:lnTo>
                <a:lnTo>
                  <a:pt x="836848" y="203320"/>
                </a:lnTo>
                <a:lnTo>
                  <a:pt x="845278" y="222618"/>
                </a:lnTo>
                <a:lnTo>
                  <a:pt x="859141" y="238509"/>
                </a:lnTo>
                <a:lnTo>
                  <a:pt x="877618" y="249703"/>
                </a:lnTo>
                <a:lnTo>
                  <a:pt x="898656" y="254719"/>
                </a:lnTo>
                <a:lnTo>
                  <a:pt x="983306" y="254719"/>
                </a:lnTo>
                <a:lnTo>
                  <a:pt x="966247" y="271560"/>
                </a:lnTo>
                <a:lnTo>
                  <a:pt x="937041" y="286112"/>
                </a:lnTo>
                <a:lnTo>
                  <a:pt x="904751" y="291025"/>
                </a:lnTo>
                <a:close/>
              </a:path>
              <a:path w="1739900" h="368300">
                <a:moveTo>
                  <a:pt x="960891" y="145667"/>
                </a:moveTo>
                <a:lnTo>
                  <a:pt x="945784" y="130264"/>
                </a:lnTo>
                <a:lnTo>
                  <a:pt x="927108" y="120385"/>
                </a:lnTo>
                <a:lnTo>
                  <a:pt x="906313" y="116537"/>
                </a:lnTo>
                <a:lnTo>
                  <a:pt x="980829" y="116537"/>
                </a:lnTo>
                <a:lnTo>
                  <a:pt x="992623" y="129255"/>
                </a:lnTo>
                <a:lnTo>
                  <a:pt x="960891" y="145667"/>
                </a:lnTo>
                <a:close/>
              </a:path>
              <a:path w="1739900" h="368300">
                <a:moveTo>
                  <a:pt x="983306" y="254719"/>
                </a:moveTo>
                <a:lnTo>
                  <a:pt x="898656" y="254719"/>
                </a:lnTo>
                <a:lnTo>
                  <a:pt x="919751" y="253167"/>
                </a:lnTo>
                <a:lnTo>
                  <a:pt x="939405" y="245390"/>
                </a:lnTo>
                <a:lnTo>
                  <a:pt x="956123" y="231731"/>
                </a:lnTo>
                <a:lnTo>
                  <a:pt x="989987" y="248123"/>
                </a:lnTo>
                <a:lnTo>
                  <a:pt x="983306" y="254719"/>
                </a:lnTo>
                <a:close/>
              </a:path>
              <a:path w="1739900" h="368300">
                <a:moveTo>
                  <a:pt x="1708136" y="110702"/>
                </a:moveTo>
                <a:lnTo>
                  <a:pt x="1566749" y="110702"/>
                </a:lnTo>
                <a:lnTo>
                  <a:pt x="1582358" y="98707"/>
                </a:lnTo>
                <a:lnTo>
                  <a:pt x="1599798" y="89911"/>
                </a:lnTo>
                <a:lnTo>
                  <a:pt x="1618581" y="84505"/>
                </a:lnTo>
                <a:lnTo>
                  <a:pt x="1638220" y="82661"/>
                </a:lnTo>
                <a:lnTo>
                  <a:pt x="1672025" y="88219"/>
                </a:lnTo>
                <a:lnTo>
                  <a:pt x="1701538" y="103828"/>
                </a:lnTo>
                <a:lnTo>
                  <a:pt x="1708136" y="110702"/>
                </a:lnTo>
                <a:close/>
              </a:path>
              <a:path w="1739900" h="368300">
                <a:moveTo>
                  <a:pt x="1566749" y="368192"/>
                </a:moveTo>
                <a:lnTo>
                  <a:pt x="1533649" y="368192"/>
                </a:lnTo>
                <a:lnTo>
                  <a:pt x="1533649" y="83581"/>
                </a:lnTo>
                <a:lnTo>
                  <a:pt x="1566749" y="83581"/>
                </a:lnTo>
                <a:lnTo>
                  <a:pt x="1566749" y="110702"/>
                </a:lnTo>
                <a:lnTo>
                  <a:pt x="1708136" y="110702"/>
                </a:lnTo>
                <a:lnTo>
                  <a:pt x="1712975" y="115742"/>
                </a:lnTo>
                <a:lnTo>
                  <a:pt x="1641095" y="115742"/>
                </a:lnTo>
                <a:lnTo>
                  <a:pt x="1613369" y="120098"/>
                </a:lnTo>
                <a:lnTo>
                  <a:pt x="1590186" y="134098"/>
                </a:lnTo>
                <a:lnTo>
                  <a:pt x="1573871" y="155647"/>
                </a:lnTo>
                <a:lnTo>
                  <a:pt x="1566749" y="182655"/>
                </a:lnTo>
                <a:lnTo>
                  <a:pt x="1566749" y="191181"/>
                </a:lnTo>
                <a:lnTo>
                  <a:pt x="1573542" y="217500"/>
                </a:lnTo>
                <a:lnTo>
                  <a:pt x="1589116" y="238747"/>
                </a:lnTo>
                <a:lnTo>
                  <a:pt x="1611365" y="252949"/>
                </a:lnTo>
                <a:lnTo>
                  <a:pt x="1638180" y="258131"/>
                </a:lnTo>
                <a:lnTo>
                  <a:pt x="1713519" y="258131"/>
                </a:lnTo>
                <a:lnTo>
                  <a:pt x="1707698" y="263115"/>
                </a:lnTo>
                <a:lnTo>
                  <a:pt x="1566749" y="263115"/>
                </a:lnTo>
                <a:lnTo>
                  <a:pt x="1566749" y="368192"/>
                </a:lnTo>
                <a:close/>
              </a:path>
              <a:path w="1739900" h="368300">
                <a:moveTo>
                  <a:pt x="1713519" y="258131"/>
                </a:moveTo>
                <a:lnTo>
                  <a:pt x="1638322" y="258131"/>
                </a:lnTo>
                <a:lnTo>
                  <a:pt x="1665750" y="252701"/>
                </a:lnTo>
                <a:lnTo>
                  <a:pt x="1688355" y="237795"/>
                </a:lnTo>
                <a:lnTo>
                  <a:pt x="1703795" y="215616"/>
                </a:lnTo>
                <a:lnTo>
                  <a:pt x="1709831" y="188348"/>
                </a:lnTo>
                <a:lnTo>
                  <a:pt x="1704900" y="160861"/>
                </a:lnTo>
                <a:lnTo>
                  <a:pt x="1690368" y="138084"/>
                </a:lnTo>
                <a:lnTo>
                  <a:pt x="1668383" y="122287"/>
                </a:lnTo>
                <a:lnTo>
                  <a:pt x="1641095" y="115742"/>
                </a:lnTo>
                <a:lnTo>
                  <a:pt x="1712975" y="115742"/>
                </a:lnTo>
                <a:lnTo>
                  <a:pt x="1724622" y="127875"/>
                </a:lnTo>
                <a:lnTo>
                  <a:pt x="1739135" y="158748"/>
                </a:lnTo>
                <a:lnTo>
                  <a:pt x="1739369" y="160861"/>
                </a:lnTo>
                <a:lnTo>
                  <a:pt x="1739474" y="208108"/>
                </a:lnTo>
                <a:lnTo>
                  <a:pt x="1735735" y="225106"/>
                </a:lnTo>
                <a:lnTo>
                  <a:pt x="1718688" y="253705"/>
                </a:lnTo>
                <a:lnTo>
                  <a:pt x="1713519" y="258131"/>
                </a:lnTo>
                <a:close/>
              </a:path>
              <a:path w="1739900" h="368300">
                <a:moveTo>
                  <a:pt x="1627567" y="290594"/>
                </a:moveTo>
                <a:lnTo>
                  <a:pt x="1595281" y="281985"/>
                </a:lnTo>
                <a:lnTo>
                  <a:pt x="1566749" y="263115"/>
                </a:lnTo>
                <a:lnTo>
                  <a:pt x="1707698" y="263115"/>
                </a:lnTo>
                <a:lnTo>
                  <a:pt x="1692720" y="275939"/>
                </a:lnTo>
                <a:lnTo>
                  <a:pt x="1660937" y="288669"/>
                </a:lnTo>
                <a:lnTo>
                  <a:pt x="1627567" y="290594"/>
                </a:lnTo>
                <a:close/>
              </a:path>
              <a:path w="1739900" h="368300">
                <a:moveTo>
                  <a:pt x="516267" y="83101"/>
                </a:moveTo>
                <a:lnTo>
                  <a:pt x="483127" y="83101"/>
                </a:lnTo>
                <a:lnTo>
                  <a:pt x="483127" y="27840"/>
                </a:lnTo>
                <a:lnTo>
                  <a:pt x="516267" y="27840"/>
                </a:lnTo>
                <a:lnTo>
                  <a:pt x="516267" y="83101"/>
                </a:lnTo>
                <a:close/>
              </a:path>
              <a:path w="1739900" h="368300">
                <a:moveTo>
                  <a:pt x="674483" y="290963"/>
                </a:moveTo>
                <a:lnTo>
                  <a:pt x="635688" y="282714"/>
                </a:lnTo>
                <a:lnTo>
                  <a:pt x="601783" y="259678"/>
                </a:lnTo>
                <a:lnTo>
                  <a:pt x="579335" y="225481"/>
                </a:lnTo>
                <a:lnTo>
                  <a:pt x="571854" y="186718"/>
                </a:lnTo>
                <a:lnTo>
                  <a:pt x="579335" y="147975"/>
                </a:lnTo>
                <a:lnTo>
                  <a:pt x="601783" y="113778"/>
                </a:lnTo>
                <a:lnTo>
                  <a:pt x="635688" y="90741"/>
                </a:lnTo>
                <a:lnTo>
                  <a:pt x="674483" y="82493"/>
                </a:lnTo>
                <a:lnTo>
                  <a:pt x="713590" y="89128"/>
                </a:lnTo>
                <a:lnTo>
                  <a:pt x="748429" y="110742"/>
                </a:lnTo>
                <a:lnTo>
                  <a:pt x="781529" y="110742"/>
                </a:lnTo>
                <a:lnTo>
                  <a:pt x="781529" y="115485"/>
                </a:lnTo>
                <a:lnTo>
                  <a:pt x="676716" y="115485"/>
                </a:lnTo>
                <a:lnTo>
                  <a:pt x="648841" y="121083"/>
                </a:lnTo>
                <a:lnTo>
                  <a:pt x="626078" y="136349"/>
                </a:lnTo>
                <a:lnTo>
                  <a:pt x="610731" y="158991"/>
                </a:lnTo>
                <a:lnTo>
                  <a:pt x="605103" y="186718"/>
                </a:lnTo>
                <a:lnTo>
                  <a:pt x="610636" y="213978"/>
                </a:lnTo>
                <a:lnTo>
                  <a:pt x="610731" y="214445"/>
                </a:lnTo>
                <a:lnTo>
                  <a:pt x="626078" y="237087"/>
                </a:lnTo>
                <a:lnTo>
                  <a:pt x="648841" y="252353"/>
                </a:lnTo>
                <a:lnTo>
                  <a:pt x="676716" y="257951"/>
                </a:lnTo>
                <a:lnTo>
                  <a:pt x="781529" y="257951"/>
                </a:lnTo>
                <a:lnTo>
                  <a:pt x="781529" y="262714"/>
                </a:lnTo>
                <a:lnTo>
                  <a:pt x="748429" y="262714"/>
                </a:lnTo>
                <a:lnTo>
                  <a:pt x="713590" y="284327"/>
                </a:lnTo>
                <a:lnTo>
                  <a:pt x="674483" y="290963"/>
                </a:lnTo>
                <a:close/>
              </a:path>
              <a:path w="1739900" h="368300">
                <a:moveTo>
                  <a:pt x="575022" y="115125"/>
                </a:moveTo>
                <a:lnTo>
                  <a:pt x="447432" y="115125"/>
                </a:lnTo>
                <a:lnTo>
                  <a:pt x="447432" y="83101"/>
                </a:lnTo>
                <a:lnTo>
                  <a:pt x="575022" y="83101"/>
                </a:lnTo>
                <a:lnTo>
                  <a:pt x="575022" y="115125"/>
                </a:lnTo>
                <a:close/>
              </a:path>
              <a:path w="1739900" h="368300">
                <a:moveTo>
                  <a:pt x="781529" y="110742"/>
                </a:moveTo>
                <a:lnTo>
                  <a:pt x="748429" y="110742"/>
                </a:lnTo>
                <a:lnTo>
                  <a:pt x="748429" y="83521"/>
                </a:lnTo>
                <a:lnTo>
                  <a:pt x="781529" y="83521"/>
                </a:lnTo>
                <a:lnTo>
                  <a:pt x="781529" y="110742"/>
                </a:lnTo>
                <a:close/>
              </a:path>
              <a:path w="1739900" h="368300">
                <a:moveTo>
                  <a:pt x="568241" y="285671"/>
                </a:moveTo>
                <a:lnTo>
                  <a:pt x="529728" y="285671"/>
                </a:lnTo>
                <a:lnTo>
                  <a:pt x="511643" y="282027"/>
                </a:lnTo>
                <a:lnTo>
                  <a:pt x="496873" y="272118"/>
                </a:lnTo>
                <a:lnTo>
                  <a:pt x="486911" y="257426"/>
                </a:lnTo>
                <a:lnTo>
                  <a:pt x="483248" y="239437"/>
                </a:lnTo>
                <a:lnTo>
                  <a:pt x="483127" y="115125"/>
                </a:lnTo>
                <a:lnTo>
                  <a:pt x="516287" y="115125"/>
                </a:lnTo>
                <a:lnTo>
                  <a:pt x="516287" y="246810"/>
                </a:lnTo>
                <a:lnTo>
                  <a:pt x="522296" y="252787"/>
                </a:lnTo>
                <a:lnTo>
                  <a:pt x="568241" y="252787"/>
                </a:lnTo>
                <a:lnTo>
                  <a:pt x="568241" y="285671"/>
                </a:lnTo>
                <a:close/>
              </a:path>
              <a:path w="1739900" h="368300">
                <a:moveTo>
                  <a:pt x="781529" y="257951"/>
                </a:moveTo>
                <a:lnTo>
                  <a:pt x="676716" y="257951"/>
                </a:lnTo>
                <a:lnTo>
                  <a:pt x="690752" y="256569"/>
                </a:lnTo>
                <a:lnTo>
                  <a:pt x="704121" y="252528"/>
                </a:lnTo>
                <a:lnTo>
                  <a:pt x="736296" y="226238"/>
                </a:lnTo>
                <a:lnTo>
                  <a:pt x="748328" y="186718"/>
                </a:lnTo>
                <a:lnTo>
                  <a:pt x="742700" y="158991"/>
                </a:lnTo>
                <a:lnTo>
                  <a:pt x="727353" y="136349"/>
                </a:lnTo>
                <a:lnTo>
                  <a:pt x="704591" y="121083"/>
                </a:lnTo>
                <a:lnTo>
                  <a:pt x="676716" y="115485"/>
                </a:lnTo>
                <a:lnTo>
                  <a:pt x="781529" y="115485"/>
                </a:lnTo>
                <a:lnTo>
                  <a:pt x="781529" y="257951"/>
                </a:lnTo>
                <a:close/>
              </a:path>
              <a:path w="1739900" h="368300">
                <a:moveTo>
                  <a:pt x="781529" y="285671"/>
                </a:moveTo>
                <a:lnTo>
                  <a:pt x="748429" y="285671"/>
                </a:lnTo>
                <a:lnTo>
                  <a:pt x="748429" y="262714"/>
                </a:lnTo>
                <a:lnTo>
                  <a:pt x="781529" y="262714"/>
                </a:lnTo>
                <a:lnTo>
                  <a:pt x="781529" y="285671"/>
                </a:lnTo>
                <a:close/>
              </a:path>
              <a:path w="1739900" h="368300">
                <a:moveTo>
                  <a:pt x="325516" y="290963"/>
                </a:moveTo>
                <a:lnTo>
                  <a:pt x="286721" y="282714"/>
                </a:lnTo>
                <a:lnTo>
                  <a:pt x="252817" y="259678"/>
                </a:lnTo>
                <a:lnTo>
                  <a:pt x="230368" y="225481"/>
                </a:lnTo>
                <a:lnTo>
                  <a:pt x="222885" y="186728"/>
                </a:lnTo>
                <a:lnTo>
                  <a:pt x="230368" y="147975"/>
                </a:lnTo>
                <a:lnTo>
                  <a:pt x="252817" y="113778"/>
                </a:lnTo>
                <a:lnTo>
                  <a:pt x="286721" y="90741"/>
                </a:lnTo>
                <a:lnTo>
                  <a:pt x="325516" y="82493"/>
                </a:lnTo>
                <a:lnTo>
                  <a:pt x="364623" y="89128"/>
                </a:lnTo>
                <a:lnTo>
                  <a:pt x="399462" y="110742"/>
                </a:lnTo>
                <a:lnTo>
                  <a:pt x="432542" y="110742"/>
                </a:lnTo>
                <a:lnTo>
                  <a:pt x="432542" y="115505"/>
                </a:lnTo>
                <a:lnTo>
                  <a:pt x="327749" y="115505"/>
                </a:lnTo>
                <a:lnTo>
                  <a:pt x="299874" y="121103"/>
                </a:lnTo>
                <a:lnTo>
                  <a:pt x="277112" y="136369"/>
                </a:lnTo>
                <a:lnTo>
                  <a:pt x="261764" y="159011"/>
                </a:lnTo>
                <a:lnTo>
                  <a:pt x="256139" y="186728"/>
                </a:lnTo>
                <a:lnTo>
                  <a:pt x="261670" y="214001"/>
                </a:lnTo>
                <a:lnTo>
                  <a:pt x="261764" y="214465"/>
                </a:lnTo>
                <a:lnTo>
                  <a:pt x="277112" y="237107"/>
                </a:lnTo>
                <a:lnTo>
                  <a:pt x="299874" y="252373"/>
                </a:lnTo>
                <a:lnTo>
                  <a:pt x="327749" y="257971"/>
                </a:lnTo>
                <a:lnTo>
                  <a:pt x="432542" y="257971"/>
                </a:lnTo>
                <a:lnTo>
                  <a:pt x="432542" y="262714"/>
                </a:lnTo>
                <a:lnTo>
                  <a:pt x="399462" y="262714"/>
                </a:lnTo>
                <a:lnTo>
                  <a:pt x="364623" y="284327"/>
                </a:lnTo>
                <a:lnTo>
                  <a:pt x="325516" y="290963"/>
                </a:lnTo>
                <a:close/>
              </a:path>
              <a:path w="1739900" h="368300">
                <a:moveTo>
                  <a:pt x="432542" y="110742"/>
                </a:moveTo>
                <a:lnTo>
                  <a:pt x="399462" y="110742"/>
                </a:lnTo>
                <a:lnTo>
                  <a:pt x="399462" y="83521"/>
                </a:lnTo>
                <a:lnTo>
                  <a:pt x="432542" y="83521"/>
                </a:lnTo>
                <a:lnTo>
                  <a:pt x="432542" y="110742"/>
                </a:lnTo>
                <a:close/>
              </a:path>
              <a:path w="1739900" h="368300">
                <a:moveTo>
                  <a:pt x="432542" y="257971"/>
                </a:moveTo>
                <a:lnTo>
                  <a:pt x="327749" y="257971"/>
                </a:lnTo>
                <a:lnTo>
                  <a:pt x="341787" y="256593"/>
                </a:lnTo>
                <a:lnTo>
                  <a:pt x="355157" y="252554"/>
                </a:lnTo>
                <a:lnTo>
                  <a:pt x="387336" y="226263"/>
                </a:lnTo>
                <a:lnTo>
                  <a:pt x="399359" y="186728"/>
                </a:lnTo>
                <a:lnTo>
                  <a:pt x="393734" y="159011"/>
                </a:lnTo>
                <a:lnTo>
                  <a:pt x="378387" y="136369"/>
                </a:lnTo>
                <a:lnTo>
                  <a:pt x="355624" y="121103"/>
                </a:lnTo>
                <a:lnTo>
                  <a:pt x="327749" y="115505"/>
                </a:lnTo>
                <a:lnTo>
                  <a:pt x="432542" y="115505"/>
                </a:lnTo>
                <a:lnTo>
                  <a:pt x="432542" y="257971"/>
                </a:lnTo>
                <a:close/>
              </a:path>
              <a:path w="1739900" h="368300">
                <a:moveTo>
                  <a:pt x="432542" y="285671"/>
                </a:moveTo>
                <a:lnTo>
                  <a:pt x="399462" y="285671"/>
                </a:lnTo>
                <a:lnTo>
                  <a:pt x="399462" y="262714"/>
                </a:lnTo>
                <a:lnTo>
                  <a:pt x="432542" y="262714"/>
                </a:lnTo>
                <a:lnTo>
                  <a:pt x="432542" y="285671"/>
                </a:lnTo>
                <a:close/>
              </a:path>
            </a:pathLst>
          </a:custGeom>
          <a:solidFill>
            <a:srgbClr val="04182D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7497" y="8167740"/>
            <a:ext cx="332105" cy="430530"/>
          </a:xfrm>
          <a:custGeom>
            <a:avLst/>
            <a:gdLst/>
            <a:ahLst/>
            <a:cxnLst/>
            <a:rect l="l" t="t" r="r" b="b"/>
            <a:pathLst>
              <a:path w="332105" h="430529">
                <a:moveTo>
                  <a:pt x="24621" y="316746"/>
                </a:moveTo>
                <a:lnTo>
                  <a:pt x="18208" y="315587"/>
                </a:lnTo>
                <a:lnTo>
                  <a:pt x="12201" y="312824"/>
                </a:lnTo>
                <a:lnTo>
                  <a:pt x="4601" y="308078"/>
                </a:lnTo>
                <a:lnTo>
                  <a:pt x="0" y="299768"/>
                </a:lnTo>
                <a:lnTo>
                  <a:pt x="13" y="16932"/>
                </a:lnTo>
                <a:lnTo>
                  <a:pt x="4618" y="8639"/>
                </a:lnTo>
                <a:lnTo>
                  <a:pt x="12211" y="3906"/>
                </a:lnTo>
                <a:lnTo>
                  <a:pt x="18214" y="1152"/>
                </a:lnTo>
                <a:lnTo>
                  <a:pt x="24618" y="0"/>
                </a:lnTo>
                <a:lnTo>
                  <a:pt x="31110" y="466"/>
                </a:lnTo>
                <a:lnTo>
                  <a:pt x="37373" y="2569"/>
                </a:lnTo>
                <a:lnTo>
                  <a:pt x="38098" y="2929"/>
                </a:lnTo>
                <a:lnTo>
                  <a:pt x="108327" y="42979"/>
                </a:lnTo>
                <a:lnTo>
                  <a:pt x="35965" y="42979"/>
                </a:lnTo>
                <a:lnTo>
                  <a:pt x="35965" y="273770"/>
                </a:lnTo>
                <a:lnTo>
                  <a:pt x="108660" y="273770"/>
                </a:lnTo>
                <a:lnTo>
                  <a:pt x="38420" y="313659"/>
                </a:lnTo>
                <a:lnTo>
                  <a:pt x="37393" y="314180"/>
                </a:lnTo>
                <a:lnTo>
                  <a:pt x="31121" y="316282"/>
                </a:lnTo>
                <a:lnTo>
                  <a:pt x="24621" y="316746"/>
                </a:lnTo>
                <a:close/>
              </a:path>
              <a:path w="332105" h="430529">
                <a:moveTo>
                  <a:pt x="108660" y="273770"/>
                </a:moveTo>
                <a:lnTo>
                  <a:pt x="35965" y="273770"/>
                </a:lnTo>
                <a:lnTo>
                  <a:pt x="147156" y="210683"/>
                </a:lnTo>
                <a:lnTo>
                  <a:pt x="147156" y="106446"/>
                </a:lnTo>
                <a:lnTo>
                  <a:pt x="35965" y="42979"/>
                </a:lnTo>
                <a:lnTo>
                  <a:pt x="108327" y="42979"/>
                </a:lnTo>
                <a:lnTo>
                  <a:pt x="179673" y="83697"/>
                </a:lnTo>
                <a:lnTo>
                  <a:pt x="183113" y="89611"/>
                </a:lnTo>
                <a:lnTo>
                  <a:pt x="183133" y="190288"/>
                </a:lnTo>
                <a:lnTo>
                  <a:pt x="255732" y="190288"/>
                </a:lnTo>
                <a:lnTo>
                  <a:pt x="183133" y="231498"/>
                </a:lnTo>
                <a:lnTo>
                  <a:pt x="183133" y="251953"/>
                </a:lnTo>
                <a:lnTo>
                  <a:pt x="147076" y="251953"/>
                </a:lnTo>
                <a:lnTo>
                  <a:pt x="108660" y="273770"/>
                </a:lnTo>
                <a:close/>
              </a:path>
              <a:path w="332105" h="430529">
                <a:moveTo>
                  <a:pt x="255732" y="190288"/>
                </a:moveTo>
                <a:lnTo>
                  <a:pt x="183133" y="190288"/>
                </a:lnTo>
                <a:lnTo>
                  <a:pt x="295814" y="126340"/>
                </a:lnTo>
                <a:lnTo>
                  <a:pt x="332032" y="146976"/>
                </a:lnTo>
                <a:lnTo>
                  <a:pt x="255732" y="190288"/>
                </a:lnTo>
                <a:close/>
              </a:path>
              <a:path w="332105" h="430529">
                <a:moveTo>
                  <a:pt x="295592" y="430266"/>
                </a:moveTo>
                <a:lnTo>
                  <a:pt x="150555" y="348363"/>
                </a:lnTo>
                <a:lnTo>
                  <a:pt x="147097" y="342438"/>
                </a:lnTo>
                <a:lnTo>
                  <a:pt x="147076" y="251953"/>
                </a:lnTo>
                <a:lnTo>
                  <a:pt x="183133" y="251953"/>
                </a:lnTo>
                <a:lnTo>
                  <a:pt x="183133" y="325448"/>
                </a:lnTo>
                <a:lnTo>
                  <a:pt x="331811" y="409610"/>
                </a:lnTo>
                <a:lnTo>
                  <a:pt x="295592" y="430266"/>
                </a:lnTo>
                <a:close/>
              </a:path>
            </a:pathLst>
          </a:custGeom>
          <a:solidFill>
            <a:srgbClr val="04182D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C7FA783-6314-F8CF-677A-4DE9C4DE68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289" y="327520"/>
            <a:ext cx="14575155" cy="7164705"/>
            <a:chOff x="491289" y="327520"/>
            <a:chExt cx="14575155" cy="7164705"/>
          </a:xfrm>
        </p:grpSpPr>
        <p:sp>
          <p:nvSpPr>
            <p:cNvPr id="3" name="object 3"/>
            <p:cNvSpPr/>
            <p:nvPr/>
          </p:nvSpPr>
          <p:spPr>
            <a:xfrm>
              <a:off x="491289" y="327520"/>
              <a:ext cx="14575155" cy="7164705"/>
            </a:xfrm>
            <a:custGeom>
              <a:avLst/>
              <a:gdLst/>
              <a:ahLst/>
              <a:cxnLst/>
              <a:rect l="l" t="t" r="r" b="b"/>
              <a:pathLst>
                <a:path w="14575155" h="7164705">
                  <a:moveTo>
                    <a:pt x="14498413" y="7164637"/>
                  </a:moveTo>
                  <a:lnTo>
                    <a:pt x="76505" y="7164637"/>
                  </a:lnTo>
                  <a:lnTo>
                    <a:pt x="71180" y="7164112"/>
                  </a:lnTo>
                  <a:lnTo>
                    <a:pt x="31920" y="7147849"/>
                  </a:lnTo>
                  <a:lnTo>
                    <a:pt x="4175" y="7109122"/>
                  </a:lnTo>
                  <a:lnTo>
                    <a:pt x="0" y="7088131"/>
                  </a:lnTo>
                  <a:lnTo>
                    <a:pt x="0" y="7082755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7088131"/>
                  </a:lnTo>
                  <a:lnTo>
                    <a:pt x="14558132" y="7132715"/>
                  </a:lnTo>
                  <a:lnTo>
                    <a:pt x="14519404" y="7160460"/>
                  </a:lnTo>
                  <a:lnTo>
                    <a:pt x="14503737" y="7164112"/>
                  </a:lnTo>
                  <a:lnTo>
                    <a:pt x="14498413" y="7164637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3910" y="999756"/>
              <a:ext cx="5388610" cy="254635"/>
            </a:xfrm>
            <a:custGeom>
              <a:avLst/>
              <a:gdLst/>
              <a:ahLst/>
              <a:cxnLst/>
              <a:rect l="l" t="t" r="r" b="b"/>
              <a:pathLst>
                <a:path w="5388610" h="254634">
                  <a:moveTo>
                    <a:pt x="133172" y="9017"/>
                  </a:moveTo>
                  <a:lnTo>
                    <a:pt x="83997" y="9017"/>
                  </a:lnTo>
                  <a:lnTo>
                    <a:pt x="74777" y="9702"/>
                  </a:lnTo>
                  <a:lnTo>
                    <a:pt x="44157" y="33070"/>
                  </a:lnTo>
                  <a:lnTo>
                    <a:pt x="41236" y="49936"/>
                  </a:lnTo>
                  <a:lnTo>
                    <a:pt x="41236" y="58254"/>
                  </a:lnTo>
                  <a:lnTo>
                    <a:pt x="0" y="58254"/>
                  </a:lnTo>
                  <a:lnTo>
                    <a:pt x="0" y="90119"/>
                  </a:lnTo>
                  <a:lnTo>
                    <a:pt x="41236" y="90119"/>
                  </a:lnTo>
                  <a:lnTo>
                    <a:pt x="41236" y="208000"/>
                  </a:lnTo>
                  <a:lnTo>
                    <a:pt x="75184" y="208000"/>
                  </a:lnTo>
                  <a:lnTo>
                    <a:pt x="75184" y="90119"/>
                  </a:lnTo>
                  <a:lnTo>
                    <a:pt x="133172" y="90119"/>
                  </a:lnTo>
                  <a:lnTo>
                    <a:pt x="133172" y="58254"/>
                  </a:lnTo>
                  <a:lnTo>
                    <a:pt x="75184" y="58254"/>
                  </a:lnTo>
                  <a:lnTo>
                    <a:pt x="75184" y="46710"/>
                  </a:lnTo>
                  <a:lnTo>
                    <a:pt x="75895" y="44500"/>
                  </a:lnTo>
                  <a:lnTo>
                    <a:pt x="78790" y="41605"/>
                  </a:lnTo>
                  <a:lnTo>
                    <a:pt x="81013" y="40868"/>
                  </a:lnTo>
                  <a:lnTo>
                    <a:pt x="133172" y="40868"/>
                  </a:lnTo>
                  <a:lnTo>
                    <a:pt x="133172" y="9017"/>
                  </a:lnTo>
                  <a:close/>
                </a:path>
                <a:path w="5388610" h="254634">
                  <a:moveTo>
                    <a:pt x="287604" y="110324"/>
                  </a:moveTo>
                  <a:lnTo>
                    <a:pt x="286677" y="97917"/>
                  </a:lnTo>
                  <a:lnTo>
                    <a:pt x="283908" y="86804"/>
                  </a:lnTo>
                  <a:lnTo>
                    <a:pt x="282194" y="83185"/>
                  </a:lnTo>
                  <a:lnTo>
                    <a:pt x="279285" y="77012"/>
                  </a:lnTo>
                  <a:lnTo>
                    <a:pt x="245008" y="53822"/>
                  </a:lnTo>
                  <a:lnTo>
                    <a:pt x="233260" y="52832"/>
                  </a:lnTo>
                  <a:lnTo>
                    <a:pt x="217957" y="54914"/>
                  </a:lnTo>
                  <a:lnTo>
                    <a:pt x="206629" y="61150"/>
                  </a:lnTo>
                  <a:lnTo>
                    <a:pt x="199263" y="71539"/>
                  </a:lnTo>
                  <a:lnTo>
                    <a:pt x="195859" y="86080"/>
                  </a:lnTo>
                  <a:lnTo>
                    <a:pt x="195935" y="85648"/>
                  </a:lnTo>
                  <a:lnTo>
                    <a:pt x="201206" y="55422"/>
                  </a:lnTo>
                  <a:lnTo>
                    <a:pt x="167830" y="55422"/>
                  </a:lnTo>
                  <a:lnTo>
                    <a:pt x="167830" y="208000"/>
                  </a:lnTo>
                  <a:lnTo>
                    <a:pt x="201714" y="208000"/>
                  </a:lnTo>
                  <a:lnTo>
                    <a:pt x="201764" y="102730"/>
                  </a:lnTo>
                  <a:lnTo>
                    <a:pt x="204000" y="95681"/>
                  </a:lnTo>
                  <a:lnTo>
                    <a:pt x="212826" y="86080"/>
                  </a:lnTo>
                  <a:lnTo>
                    <a:pt x="213296" y="85648"/>
                  </a:lnTo>
                  <a:lnTo>
                    <a:pt x="219621" y="83185"/>
                  </a:lnTo>
                  <a:lnTo>
                    <a:pt x="236245" y="83185"/>
                  </a:lnTo>
                  <a:lnTo>
                    <a:pt x="242646" y="85648"/>
                  </a:lnTo>
                  <a:lnTo>
                    <a:pt x="251498" y="95465"/>
                  </a:lnTo>
                  <a:lnTo>
                    <a:pt x="251561" y="95681"/>
                  </a:lnTo>
                  <a:lnTo>
                    <a:pt x="253720" y="102730"/>
                  </a:lnTo>
                  <a:lnTo>
                    <a:pt x="253720" y="124180"/>
                  </a:lnTo>
                  <a:lnTo>
                    <a:pt x="287604" y="124180"/>
                  </a:lnTo>
                  <a:lnTo>
                    <a:pt x="287604" y="110324"/>
                  </a:lnTo>
                  <a:close/>
                </a:path>
                <a:path w="5388610" h="254634">
                  <a:moveTo>
                    <a:pt x="436613" y="112090"/>
                  </a:moveTo>
                  <a:lnTo>
                    <a:pt x="435597" y="99161"/>
                  </a:lnTo>
                  <a:lnTo>
                    <a:pt x="432536" y="87642"/>
                  </a:lnTo>
                  <a:lnTo>
                    <a:pt x="430796" y="84201"/>
                  </a:lnTo>
                  <a:lnTo>
                    <a:pt x="427443" y="77533"/>
                  </a:lnTo>
                  <a:lnTo>
                    <a:pt x="420306" y="68834"/>
                  </a:lnTo>
                  <a:lnTo>
                    <a:pt x="411480" y="61836"/>
                  </a:lnTo>
                  <a:lnTo>
                    <a:pt x="402742" y="57569"/>
                  </a:lnTo>
                  <a:lnTo>
                    <a:pt x="402742" y="102946"/>
                  </a:lnTo>
                  <a:lnTo>
                    <a:pt x="402742" y="160477"/>
                  </a:lnTo>
                  <a:lnTo>
                    <a:pt x="400507" y="167525"/>
                  </a:lnTo>
                  <a:lnTo>
                    <a:pt x="391655" y="176885"/>
                  </a:lnTo>
                  <a:lnTo>
                    <a:pt x="385165" y="179222"/>
                  </a:lnTo>
                  <a:lnTo>
                    <a:pt x="367995" y="179222"/>
                  </a:lnTo>
                  <a:lnTo>
                    <a:pt x="361492" y="176885"/>
                  </a:lnTo>
                  <a:lnTo>
                    <a:pt x="352679" y="167525"/>
                  </a:lnTo>
                  <a:lnTo>
                    <a:pt x="350469" y="160477"/>
                  </a:lnTo>
                  <a:lnTo>
                    <a:pt x="350469" y="102946"/>
                  </a:lnTo>
                  <a:lnTo>
                    <a:pt x="352679" y="95910"/>
                  </a:lnTo>
                  <a:lnTo>
                    <a:pt x="361492" y="86550"/>
                  </a:lnTo>
                  <a:lnTo>
                    <a:pt x="367995" y="84201"/>
                  </a:lnTo>
                  <a:lnTo>
                    <a:pt x="385165" y="84201"/>
                  </a:lnTo>
                  <a:lnTo>
                    <a:pt x="391655" y="86550"/>
                  </a:lnTo>
                  <a:lnTo>
                    <a:pt x="396062" y="91249"/>
                  </a:lnTo>
                  <a:lnTo>
                    <a:pt x="400507" y="95910"/>
                  </a:lnTo>
                  <a:lnTo>
                    <a:pt x="402742" y="57569"/>
                  </a:lnTo>
                  <a:lnTo>
                    <a:pt x="376605" y="52832"/>
                  </a:lnTo>
                  <a:lnTo>
                    <a:pt x="363550" y="53835"/>
                  </a:lnTo>
                  <a:lnTo>
                    <a:pt x="325678" y="77533"/>
                  </a:lnTo>
                  <a:lnTo>
                    <a:pt x="316534" y="151066"/>
                  </a:lnTo>
                  <a:lnTo>
                    <a:pt x="317550" y="164109"/>
                  </a:lnTo>
                  <a:lnTo>
                    <a:pt x="341630" y="201587"/>
                  </a:lnTo>
                  <a:lnTo>
                    <a:pt x="376605" y="210578"/>
                  </a:lnTo>
                  <a:lnTo>
                    <a:pt x="389636" y="209575"/>
                  </a:lnTo>
                  <a:lnTo>
                    <a:pt x="427443" y="185864"/>
                  </a:lnTo>
                  <a:lnTo>
                    <a:pt x="430771" y="179222"/>
                  </a:lnTo>
                  <a:lnTo>
                    <a:pt x="432536" y="175704"/>
                  </a:lnTo>
                  <a:lnTo>
                    <a:pt x="435597" y="164109"/>
                  </a:lnTo>
                  <a:lnTo>
                    <a:pt x="436613" y="151066"/>
                  </a:lnTo>
                  <a:lnTo>
                    <a:pt x="436613" y="112090"/>
                  </a:lnTo>
                  <a:close/>
                </a:path>
                <a:path w="5388610" h="254634">
                  <a:moveTo>
                    <a:pt x="596963" y="94843"/>
                  </a:moveTo>
                  <a:lnTo>
                    <a:pt x="593979" y="76009"/>
                  </a:lnTo>
                  <a:lnTo>
                    <a:pt x="591997" y="70891"/>
                  </a:lnTo>
                  <a:lnTo>
                    <a:pt x="563524" y="52832"/>
                  </a:lnTo>
                  <a:lnTo>
                    <a:pt x="556006" y="52832"/>
                  </a:lnTo>
                  <a:lnTo>
                    <a:pt x="549998" y="54914"/>
                  </a:lnTo>
                  <a:lnTo>
                    <a:pt x="549224" y="55422"/>
                  </a:lnTo>
                  <a:lnTo>
                    <a:pt x="539496" y="63754"/>
                  </a:lnTo>
                  <a:lnTo>
                    <a:pt x="539216" y="64592"/>
                  </a:lnTo>
                  <a:lnTo>
                    <a:pt x="538721" y="63182"/>
                  </a:lnTo>
                  <a:lnTo>
                    <a:pt x="537921" y="62522"/>
                  </a:lnTo>
                  <a:lnTo>
                    <a:pt x="537921" y="70891"/>
                  </a:lnTo>
                  <a:lnTo>
                    <a:pt x="537692" y="69342"/>
                  </a:lnTo>
                  <a:lnTo>
                    <a:pt x="537794" y="68999"/>
                  </a:lnTo>
                  <a:lnTo>
                    <a:pt x="537921" y="70891"/>
                  </a:lnTo>
                  <a:lnTo>
                    <a:pt x="537921" y="62522"/>
                  </a:lnTo>
                  <a:lnTo>
                    <a:pt x="533806" y="59067"/>
                  </a:lnTo>
                  <a:lnTo>
                    <a:pt x="528929" y="54914"/>
                  </a:lnTo>
                  <a:lnTo>
                    <a:pt x="522935" y="52832"/>
                  </a:lnTo>
                  <a:lnTo>
                    <a:pt x="508279" y="52832"/>
                  </a:lnTo>
                  <a:lnTo>
                    <a:pt x="502361" y="54914"/>
                  </a:lnTo>
                  <a:lnTo>
                    <a:pt x="502145" y="54914"/>
                  </a:lnTo>
                  <a:lnTo>
                    <a:pt x="495719" y="60515"/>
                  </a:lnTo>
                  <a:lnTo>
                    <a:pt x="496646" y="55422"/>
                  </a:lnTo>
                  <a:lnTo>
                    <a:pt x="490321" y="55422"/>
                  </a:lnTo>
                  <a:lnTo>
                    <a:pt x="490321" y="70891"/>
                  </a:lnTo>
                  <a:lnTo>
                    <a:pt x="490042" y="69342"/>
                  </a:lnTo>
                  <a:lnTo>
                    <a:pt x="490156" y="68999"/>
                  </a:lnTo>
                  <a:lnTo>
                    <a:pt x="490181" y="69342"/>
                  </a:lnTo>
                  <a:lnTo>
                    <a:pt x="490321" y="70891"/>
                  </a:lnTo>
                  <a:lnTo>
                    <a:pt x="490321" y="55422"/>
                  </a:lnTo>
                  <a:lnTo>
                    <a:pt x="465543" y="55422"/>
                  </a:lnTo>
                  <a:lnTo>
                    <a:pt x="465543" y="208000"/>
                  </a:lnTo>
                  <a:lnTo>
                    <a:pt x="497662" y="208000"/>
                  </a:lnTo>
                  <a:lnTo>
                    <a:pt x="497662" y="89674"/>
                  </a:lnTo>
                  <a:lnTo>
                    <a:pt x="498436" y="86360"/>
                  </a:lnTo>
                  <a:lnTo>
                    <a:pt x="501586" y="82372"/>
                  </a:lnTo>
                  <a:lnTo>
                    <a:pt x="503847" y="81368"/>
                  </a:lnTo>
                  <a:lnTo>
                    <a:pt x="509892" y="81368"/>
                  </a:lnTo>
                  <a:lnTo>
                    <a:pt x="512165" y="82372"/>
                  </a:lnTo>
                  <a:lnTo>
                    <a:pt x="515493" y="86360"/>
                  </a:lnTo>
                  <a:lnTo>
                    <a:pt x="516521" y="89674"/>
                  </a:lnTo>
                  <a:lnTo>
                    <a:pt x="516610" y="208000"/>
                  </a:lnTo>
                  <a:lnTo>
                    <a:pt x="545896" y="208000"/>
                  </a:lnTo>
                  <a:lnTo>
                    <a:pt x="545909" y="89674"/>
                  </a:lnTo>
                  <a:lnTo>
                    <a:pt x="546849" y="86360"/>
                  </a:lnTo>
                  <a:lnTo>
                    <a:pt x="550240" y="82372"/>
                  </a:lnTo>
                  <a:lnTo>
                    <a:pt x="552551" y="81368"/>
                  </a:lnTo>
                  <a:lnTo>
                    <a:pt x="558596" y="81368"/>
                  </a:lnTo>
                  <a:lnTo>
                    <a:pt x="560806" y="82372"/>
                  </a:lnTo>
                  <a:lnTo>
                    <a:pt x="563867" y="86360"/>
                  </a:lnTo>
                  <a:lnTo>
                    <a:pt x="564781" y="89674"/>
                  </a:lnTo>
                  <a:lnTo>
                    <a:pt x="564845" y="208000"/>
                  </a:lnTo>
                  <a:lnTo>
                    <a:pt x="596963" y="208000"/>
                  </a:lnTo>
                  <a:lnTo>
                    <a:pt x="596963" y="94843"/>
                  </a:lnTo>
                  <a:close/>
                </a:path>
                <a:path w="5388610" h="254634">
                  <a:moveTo>
                    <a:pt x="4579772" y="14871"/>
                  </a:moveTo>
                  <a:lnTo>
                    <a:pt x="4577689" y="9829"/>
                  </a:lnTo>
                  <a:lnTo>
                    <a:pt x="4569384" y="1981"/>
                  </a:lnTo>
                  <a:lnTo>
                    <a:pt x="4564088" y="0"/>
                  </a:lnTo>
                  <a:lnTo>
                    <a:pt x="4546079" y="0"/>
                  </a:lnTo>
                  <a:lnTo>
                    <a:pt x="4540783" y="1981"/>
                  </a:lnTo>
                  <a:lnTo>
                    <a:pt x="4532477" y="9829"/>
                  </a:lnTo>
                  <a:lnTo>
                    <a:pt x="4530395" y="14871"/>
                  </a:lnTo>
                  <a:lnTo>
                    <a:pt x="4530395" y="27254"/>
                  </a:lnTo>
                  <a:lnTo>
                    <a:pt x="4532439" y="32245"/>
                  </a:lnTo>
                  <a:lnTo>
                    <a:pt x="4536503" y="36029"/>
                  </a:lnTo>
                  <a:lnTo>
                    <a:pt x="4540618" y="39763"/>
                  </a:lnTo>
                  <a:lnTo>
                    <a:pt x="4545952" y="41630"/>
                  </a:lnTo>
                  <a:lnTo>
                    <a:pt x="4563999" y="41630"/>
                  </a:lnTo>
                  <a:lnTo>
                    <a:pt x="4569269" y="39763"/>
                  </a:lnTo>
                  <a:lnTo>
                    <a:pt x="4577689" y="32245"/>
                  </a:lnTo>
                  <a:lnTo>
                    <a:pt x="4579772" y="27254"/>
                  </a:lnTo>
                  <a:lnTo>
                    <a:pt x="4579772" y="14871"/>
                  </a:lnTo>
                  <a:close/>
                </a:path>
                <a:path w="5388610" h="254634">
                  <a:moveTo>
                    <a:pt x="4622330" y="176136"/>
                  </a:moveTo>
                  <a:lnTo>
                    <a:pt x="4574603" y="176136"/>
                  </a:lnTo>
                  <a:lnTo>
                    <a:pt x="4574603" y="55422"/>
                  </a:lnTo>
                  <a:lnTo>
                    <a:pt x="4496841" y="55422"/>
                  </a:lnTo>
                  <a:lnTo>
                    <a:pt x="4496841" y="87287"/>
                  </a:lnTo>
                  <a:lnTo>
                    <a:pt x="4540669" y="87287"/>
                  </a:lnTo>
                  <a:lnTo>
                    <a:pt x="4540669" y="176136"/>
                  </a:lnTo>
                  <a:lnTo>
                    <a:pt x="4490415" y="176136"/>
                  </a:lnTo>
                  <a:lnTo>
                    <a:pt x="4490415" y="208000"/>
                  </a:lnTo>
                  <a:lnTo>
                    <a:pt x="4622330" y="208000"/>
                  </a:lnTo>
                  <a:lnTo>
                    <a:pt x="4622330" y="176136"/>
                  </a:lnTo>
                  <a:close/>
                </a:path>
                <a:path w="5388610" h="254634">
                  <a:moveTo>
                    <a:pt x="4772863" y="94843"/>
                  </a:moveTo>
                  <a:lnTo>
                    <a:pt x="4772304" y="86004"/>
                  </a:lnTo>
                  <a:lnTo>
                    <a:pt x="4771352" y="81368"/>
                  </a:lnTo>
                  <a:lnTo>
                    <a:pt x="4770653" y="78028"/>
                  </a:lnTo>
                  <a:lnTo>
                    <a:pt x="4769993" y="76327"/>
                  </a:lnTo>
                  <a:lnTo>
                    <a:pt x="4769878" y="76009"/>
                  </a:lnTo>
                  <a:lnTo>
                    <a:pt x="4739424" y="52832"/>
                  </a:lnTo>
                  <a:lnTo>
                    <a:pt x="4731905" y="52832"/>
                  </a:lnTo>
                  <a:lnTo>
                    <a:pt x="4725898" y="54914"/>
                  </a:lnTo>
                  <a:lnTo>
                    <a:pt x="4725124" y="55422"/>
                  </a:lnTo>
                  <a:lnTo>
                    <a:pt x="4715383" y="63754"/>
                  </a:lnTo>
                  <a:lnTo>
                    <a:pt x="4715116" y="64592"/>
                  </a:lnTo>
                  <a:lnTo>
                    <a:pt x="4714608" y="63182"/>
                  </a:lnTo>
                  <a:lnTo>
                    <a:pt x="4713821" y="62522"/>
                  </a:lnTo>
                  <a:lnTo>
                    <a:pt x="4713821" y="70891"/>
                  </a:lnTo>
                  <a:lnTo>
                    <a:pt x="4713592" y="69342"/>
                  </a:lnTo>
                  <a:lnTo>
                    <a:pt x="4713694" y="68999"/>
                  </a:lnTo>
                  <a:lnTo>
                    <a:pt x="4713821" y="70891"/>
                  </a:lnTo>
                  <a:lnTo>
                    <a:pt x="4713821" y="62522"/>
                  </a:lnTo>
                  <a:lnTo>
                    <a:pt x="4709706" y="59067"/>
                  </a:lnTo>
                  <a:lnTo>
                    <a:pt x="4704829" y="54914"/>
                  </a:lnTo>
                  <a:lnTo>
                    <a:pt x="4698822" y="52832"/>
                  </a:lnTo>
                  <a:lnTo>
                    <a:pt x="4684179" y="52832"/>
                  </a:lnTo>
                  <a:lnTo>
                    <a:pt x="4678261" y="54914"/>
                  </a:lnTo>
                  <a:lnTo>
                    <a:pt x="4678045" y="54914"/>
                  </a:lnTo>
                  <a:lnTo>
                    <a:pt x="4671606" y="60515"/>
                  </a:lnTo>
                  <a:lnTo>
                    <a:pt x="4672546" y="55422"/>
                  </a:lnTo>
                  <a:lnTo>
                    <a:pt x="4667199" y="55422"/>
                  </a:lnTo>
                  <a:lnTo>
                    <a:pt x="4667199" y="76009"/>
                  </a:lnTo>
                  <a:lnTo>
                    <a:pt x="4665929" y="69342"/>
                  </a:lnTo>
                  <a:lnTo>
                    <a:pt x="4666056" y="68999"/>
                  </a:lnTo>
                  <a:lnTo>
                    <a:pt x="4666081" y="69342"/>
                  </a:lnTo>
                  <a:lnTo>
                    <a:pt x="4666234" y="70891"/>
                  </a:lnTo>
                  <a:lnTo>
                    <a:pt x="4667199" y="76009"/>
                  </a:lnTo>
                  <a:lnTo>
                    <a:pt x="4667199" y="55422"/>
                  </a:lnTo>
                  <a:lnTo>
                    <a:pt x="4641443" y="55422"/>
                  </a:lnTo>
                  <a:lnTo>
                    <a:pt x="4641443" y="208000"/>
                  </a:lnTo>
                  <a:lnTo>
                    <a:pt x="4673549" y="208000"/>
                  </a:lnTo>
                  <a:lnTo>
                    <a:pt x="4673549" y="89674"/>
                  </a:lnTo>
                  <a:lnTo>
                    <a:pt x="4674336" y="86360"/>
                  </a:lnTo>
                  <a:lnTo>
                    <a:pt x="4677473" y="82372"/>
                  </a:lnTo>
                  <a:lnTo>
                    <a:pt x="4679747" y="81368"/>
                  </a:lnTo>
                  <a:lnTo>
                    <a:pt x="4685792" y="81368"/>
                  </a:lnTo>
                  <a:lnTo>
                    <a:pt x="4688065" y="82372"/>
                  </a:lnTo>
                  <a:lnTo>
                    <a:pt x="4691392" y="86360"/>
                  </a:lnTo>
                  <a:lnTo>
                    <a:pt x="4692421" y="89674"/>
                  </a:lnTo>
                  <a:lnTo>
                    <a:pt x="4692510" y="208000"/>
                  </a:lnTo>
                  <a:lnTo>
                    <a:pt x="4721796" y="208000"/>
                  </a:lnTo>
                  <a:lnTo>
                    <a:pt x="4721809" y="89674"/>
                  </a:lnTo>
                  <a:lnTo>
                    <a:pt x="4722736" y="86360"/>
                  </a:lnTo>
                  <a:lnTo>
                    <a:pt x="4726140" y="82372"/>
                  </a:lnTo>
                  <a:lnTo>
                    <a:pt x="4728438" y="81368"/>
                  </a:lnTo>
                  <a:lnTo>
                    <a:pt x="4734484" y="81368"/>
                  </a:lnTo>
                  <a:lnTo>
                    <a:pt x="4736706" y="82372"/>
                  </a:lnTo>
                  <a:lnTo>
                    <a:pt x="4739754" y="86360"/>
                  </a:lnTo>
                  <a:lnTo>
                    <a:pt x="4740668" y="89674"/>
                  </a:lnTo>
                  <a:lnTo>
                    <a:pt x="4740745" y="208000"/>
                  </a:lnTo>
                  <a:lnTo>
                    <a:pt x="4772863" y="208000"/>
                  </a:lnTo>
                  <a:lnTo>
                    <a:pt x="4772863" y="94843"/>
                  </a:lnTo>
                  <a:close/>
                </a:path>
                <a:path w="5388610" h="254634">
                  <a:moveTo>
                    <a:pt x="4921872" y="110832"/>
                  </a:moveTo>
                  <a:lnTo>
                    <a:pt x="4908016" y="68707"/>
                  </a:lnTo>
                  <a:lnTo>
                    <a:pt x="4887988" y="55714"/>
                  </a:lnTo>
                  <a:lnTo>
                    <a:pt x="4887988" y="102730"/>
                  </a:lnTo>
                  <a:lnTo>
                    <a:pt x="4887988" y="160680"/>
                  </a:lnTo>
                  <a:lnTo>
                    <a:pt x="4885829" y="167868"/>
                  </a:lnTo>
                  <a:lnTo>
                    <a:pt x="4877257" y="177266"/>
                  </a:lnTo>
                  <a:lnTo>
                    <a:pt x="4870882" y="179717"/>
                  </a:lnTo>
                  <a:lnTo>
                    <a:pt x="4854549" y="179717"/>
                  </a:lnTo>
                  <a:lnTo>
                    <a:pt x="4836858" y="160680"/>
                  </a:lnTo>
                  <a:lnTo>
                    <a:pt x="4836858" y="102730"/>
                  </a:lnTo>
                  <a:lnTo>
                    <a:pt x="4839017" y="96037"/>
                  </a:lnTo>
                  <a:lnTo>
                    <a:pt x="4847006" y="87477"/>
                  </a:lnTo>
                  <a:lnTo>
                    <a:pt x="4847285" y="87172"/>
                  </a:lnTo>
                  <a:lnTo>
                    <a:pt x="4848479" y="86067"/>
                  </a:lnTo>
                  <a:lnTo>
                    <a:pt x="4854549" y="83693"/>
                  </a:lnTo>
                  <a:lnTo>
                    <a:pt x="4870882" y="83693"/>
                  </a:lnTo>
                  <a:lnTo>
                    <a:pt x="4877181" y="86067"/>
                  </a:lnTo>
                  <a:lnTo>
                    <a:pt x="4885829" y="95554"/>
                  </a:lnTo>
                  <a:lnTo>
                    <a:pt x="4887988" y="102730"/>
                  </a:lnTo>
                  <a:lnTo>
                    <a:pt x="4887988" y="55714"/>
                  </a:lnTo>
                  <a:lnTo>
                    <a:pt x="4881664" y="53835"/>
                  </a:lnTo>
                  <a:lnTo>
                    <a:pt x="4870361" y="52832"/>
                  </a:lnTo>
                  <a:lnTo>
                    <a:pt x="4861839" y="53403"/>
                  </a:lnTo>
                  <a:lnTo>
                    <a:pt x="4834725" y="68211"/>
                  </a:lnTo>
                  <a:lnTo>
                    <a:pt x="4836731" y="55422"/>
                  </a:lnTo>
                  <a:lnTo>
                    <a:pt x="4830889" y="55422"/>
                  </a:lnTo>
                  <a:lnTo>
                    <a:pt x="4830889" y="176187"/>
                  </a:lnTo>
                  <a:lnTo>
                    <a:pt x="4830851" y="177266"/>
                  </a:lnTo>
                  <a:lnTo>
                    <a:pt x="4830750" y="179298"/>
                  </a:lnTo>
                  <a:lnTo>
                    <a:pt x="4830889" y="176187"/>
                  </a:lnTo>
                  <a:lnTo>
                    <a:pt x="4830889" y="55422"/>
                  </a:lnTo>
                  <a:lnTo>
                    <a:pt x="4802860" y="55422"/>
                  </a:lnTo>
                  <a:lnTo>
                    <a:pt x="4802860" y="254406"/>
                  </a:lnTo>
                  <a:lnTo>
                    <a:pt x="4836731" y="254406"/>
                  </a:lnTo>
                  <a:lnTo>
                    <a:pt x="4836553" y="206616"/>
                  </a:lnTo>
                  <a:lnTo>
                    <a:pt x="4834737" y="195287"/>
                  </a:lnTo>
                  <a:lnTo>
                    <a:pt x="4835347" y="196354"/>
                  </a:lnTo>
                  <a:lnTo>
                    <a:pt x="4870361" y="210578"/>
                  </a:lnTo>
                  <a:lnTo>
                    <a:pt x="4881664" y="209588"/>
                  </a:lnTo>
                  <a:lnTo>
                    <a:pt x="4914074" y="186105"/>
                  </a:lnTo>
                  <a:lnTo>
                    <a:pt x="4921872" y="152336"/>
                  </a:lnTo>
                  <a:lnTo>
                    <a:pt x="4921872" y="110832"/>
                  </a:lnTo>
                  <a:close/>
                </a:path>
                <a:path w="5388610" h="254634">
                  <a:moveTo>
                    <a:pt x="5076545" y="112090"/>
                  </a:moveTo>
                  <a:lnTo>
                    <a:pt x="5075529" y="99161"/>
                  </a:lnTo>
                  <a:lnTo>
                    <a:pt x="5072469" y="87642"/>
                  </a:lnTo>
                  <a:lnTo>
                    <a:pt x="5070729" y="84201"/>
                  </a:lnTo>
                  <a:lnTo>
                    <a:pt x="5067376" y="77533"/>
                  </a:lnTo>
                  <a:lnTo>
                    <a:pt x="5060239" y="68834"/>
                  </a:lnTo>
                  <a:lnTo>
                    <a:pt x="5051412" y="61836"/>
                  </a:lnTo>
                  <a:lnTo>
                    <a:pt x="5042674" y="57569"/>
                  </a:lnTo>
                  <a:lnTo>
                    <a:pt x="5042674" y="102946"/>
                  </a:lnTo>
                  <a:lnTo>
                    <a:pt x="5042674" y="160477"/>
                  </a:lnTo>
                  <a:lnTo>
                    <a:pt x="5040452" y="167525"/>
                  </a:lnTo>
                  <a:lnTo>
                    <a:pt x="5031587" y="176885"/>
                  </a:lnTo>
                  <a:lnTo>
                    <a:pt x="5025098" y="179222"/>
                  </a:lnTo>
                  <a:lnTo>
                    <a:pt x="5007927" y="179222"/>
                  </a:lnTo>
                  <a:lnTo>
                    <a:pt x="5001425" y="176885"/>
                  </a:lnTo>
                  <a:lnTo>
                    <a:pt x="4992611" y="167525"/>
                  </a:lnTo>
                  <a:lnTo>
                    <a:pt x="4990401" y="160477"/>
                  </a:lnTo>
                  <a:lnTo>
                    <a:pt x="4990401" y="102946"/>
                  </a:lnTo>
                  <a:lnTo>
                    <a:pt x="4992611" y="95910"/>
                  </a:lnTo>
                  <a:lnTo>
                    <a:pt x="5001425" y="86550"/>
                  </a:lnTo>
                  <a:lnTo>
                    <a:pt x="5007927" y="84201"/>
                  </a:lnTo>
                  <a:lnTo>
                    <a:pt x="5025098" y="84201"/>
                  </a:lnTo>
                  <a:lnTo>
                    <a:pt x="5031587" y="86550"/>
                  </a:lnTo>
                  <a:lnTo>
                    <a:pt x="5035994" y="91249"/>
                  </a:lnTo>
                  <a:lnTo>
                    <a:pt x="5040452" y="95910"/>
                  </a:lnTo>
                  <a:lnTo>
                    <a:pt x="5042674" y="57569"/>
                  </a:lnTo>
                  <a:lnTo>
                    <a:pt x="5016538" y="52832"/>
                  </a:lnTo>
                  <a:lnTo>
                    <a:pt x="5003482" y="53835"/>
                  </a:lnTo>
                  <a:lnTo>
                    <a:pt x="4965611" y="77533"/>
                  </a:lnTo>
                  <a:lnTo>
                    <a:pt x="4956467" y="151066"/>
                  </a:lnTo>
                  <a:lnTo>
                    <a:pt x="4957483" y="164109"/>
                  </a:lnTo>
                  <a:lnTo>
                    <a:pt x="4981562" y="201587"/>
                  </a:lnTo>
                  <a:lnTo>
                    <a:pt x="5016538" y="210578"/>
                  </a:lnTo>
                  <a:lnTo>
                    <a:pt x="5029568" y="209575"/>
                  </a:lnTo>
                  <a:lnTo>
                    <a:pt x="5067376" y="185864"/>
                  </a:lnTo>
                  <a:lnTo>
                    <a:pt x="5076545" y="151066"/>
                  </a:lnTo>
                  <a:lnTo>
                    <a:pt x="5076545" y="112090"/>
                  </a:lnTo>
                  <a:close/>
                </a:path>
                <a:path w="5388610" h="254634">
                  <a:moveTo>
                    <a:pt x="5236896" y="110324"/>
                  </a:moveTo>
                  <a:lnTo>
                    <a:pt x="5235968" y="97917"/>
                  </a:lnTo>
                  <a:lnTo>
                    <a:pt x="5233200" y="86804"/>
                  </a:lnTo>
                  <a:lnTo>
                    <a:pt x="5231485" y="83185"/>
                  </a:lnTo>
                  <a:lnTo>
                    <a:pt x="5228577" y="77012"/>
                  </a:lnTo>
                  <a:lnTo>
                    <a:pt x="5194300" y="53822"/>
                  </a:lnTo>
                  <a:lnTo>
                    <a:pt x="5182552" y="52832"/>
                  </a:lnTo>
                  <a:lnTo>
                    <a:pt x="5167249" y="54914"/>
                  </a:lnTo>
                  <a:lnTo>
                    <a:pt x="5155920" y="61150"/>
                  </a:lnTo>
                  <a:lnTo>
                    <a:pt x="5148554" y="71539"/>
                  </a:lnTo>
                  <a:lnTo>
                    <a:pt x="5145151" y="86080"/>
                  </a:lnTo>
                  <a:lnTo>
                    <a:pt x="5145227" y="85648"/>
                  </a:lnTo>
                  <a:lnTo>
                    <a:pt x="5150497" y="55422"/>
                  </a:lnTo>
                  <a:lnTo>
                    <a:pt x="5117122" y="55422"/>
                  </a:lnTo>
                  <a:lnTo>
                    <a:pt x="5117122" y="208000"/>
                  </a:lnTo>
                  <a:lnTo>
                    <a:pt x="5151005" y="208000"/>
                  </a:lnTo>
                  <a:lnTo>
                    <a:pt x="5151056" y="102730"/>
                  </a:lnTo>
                  <a:lnTo>
                    <a:pt x="5153291" y="95681"/>
                  </a:lnTo>
                  <a:lnTo>
                    <a:pt x="5162118" y="86080"/>
                  </a:lnTo>
                  <a:lnTo>
                    <a:pt x="5162601" y="85648"/>
                  </a:lnTo>
                  <a:lnTo>
                    <a:pt x="5168912" y="83185"/>
                  </a:lnTo>
                  <a:lnTo>
                    <a:pt x="5185537" y="83185"/>
                  </a:lnTo>
                  <a:lnTo>
                    <a:pt x="5191938" y="85648"/>
                  </a:lnTo>
                  <a:lnTo>
                    <a:pt x="5200789" y="95465"/>
                  </a:lnTo>
                  <a:lnTo>
                    <a:pt x="5200853" y="95681"/>
                  </a:lnTo>
                  <a:lnTo>
                    <a:pt x="5203025" y="102730"/>
                  </a:lnTo>
                  <a:lnTo>
                    <a:pt x="5203025" y="124180"/>
                  </a:lnTo>
                  <a:lnTo>
                    <a:pt x="5236896" y="124180"/>
                  </a:lnTo>
                  <a:lnTo>
                    <a:pt x="5236896" y="110324"/>
                  </a:lnTo>
                  <a:close/>
                </a:path>
                <a:path w="5388610" h="254634">
                  <a:moveTo>
                    <a:pt x="5387987" y="55422"/>
                  </a:moveTo>
                  <a:lnTo>
                    <a:pt x="5331257" y="55422"/>
                  </a:lnTo>
                  <a:lnTo>
                    <a:pt x="5331257" y="16751"/>
                  </a:lnTo>
                  <a:lnTo>
                    <a:pt x="5297309" y="16751"/>
                  </a:lnTo>
                  <a:lnTo>
                    <a:pt x="5297309" y="55422"/>
                  </a:lnTo>
                  <a:lnTo>
                    <a:pt x="5257317" y="55422"/>
                  </a:lnTo>
                  <a:lnTo>
                    <a:pt x="5257317" y="87287"/>
                  </a:lnTo>
                  <a:lnTo>
                    <a:pt x="5297309" y="87287"/>
                  </a:lnTo>
                  <a:lnTo>
                    <a:pt x="5297309" y="165239"/>
                  </a:lnTo>
                  <a:lnTo>
                    <a:pt x="5298046" y="174739"/>
                  </a:lnTo>
                  <a:lnTo>
                    <a:pt x="5323078" y="205168"/>
                  </a:lnTo>
                  <a:lnTo>
                    <a:pt x="5341391" y="208000"/>
                  </a:lnTo>
                  <a:lnTo>
                    <a:pt x="5385409" y="208000"/>
                  </a:lnTo>
                  <a:lnTo>
                    <a:pt x="5385409" y="176136"/>
                  </a:lnTo>
                  <a:lnTo>
                    <a:pt x="5337607" y="176136"/>
                  </a:lnTo>
                  <a:lnTo>
                    <a:pt x="5334965" y="175336"/>
                  </a:lnTo>
                  <a:lnTo>
                    <a:pt x="5331980" y="172148"/>
                  </a:lnTo>
                  <a:lnTo>
                    <a:pt x="5331257" y="169316"/>
                  </a:lnTo>
                  <a:lnTo>
                    <a:pt x="5331257" y="87287"/>
                  </a:lnTo>
                  <a:lnTo>
                    <a:pt x="5387987" y="87287"/>
                  </a:lnTo>
                  <a:lnTo>
                    <a:pt x="5387987" y="55422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25720" y="386875"/>
            <a:ext cx="8533130" cy="690372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75"/>
              </a:spcBef>
            </a:pP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2000" spc="4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Import</a:t>
            </a:r>
            <a:r>
              <a:rPr sz="2000" spc="4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008600"/>
                </a:solidFill>
                <a:latin typeface="Monaco"/>
                <a:cs typeface="Monaco"/>
              </a:rPr>
              <a:t>GridSearchCV</a:t>
            </a:r>
            <a:endParaRPr sz="2000">
              <a:latin typeface="Monaco"/>
              <a:cs typeface="Monaco"/>
            </a:endParaRPr>
          </a:p>
          <a:p>
            <a:pPr marL="12700" marR="1087755" indent="772795" algn="just">
              <a:lnSpc>
                <a:spcPct val="141000"/>
              </a:lnSpc>
              <a:spcBef>
                <a:spcPts val="5"/>
              </a:spcBef>
            </a:pP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sklearn.model_selection</a:t>
            </a:r>
            <a:r>
              <a:rPr sz="2000" spc="450" dirty="0">
                <a:solidFill>
                  <a:srgbClr val="04182D"/>
                </a:solidFill>
                <a:latin typeface="Monaco"/>
                <a:cs typeface="Monaco"/>
              </a:rPr>
              <a:t>      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GridSearchCV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2000" spc="5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Define</a:t>
            </a:r>
            <a:r>
              <a:rPr sz="2000" spc="5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the</a:t>
            </a:r>
            <a:r>
              <a:rPr sz="2000" spc="5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grid</a:t>
            </a:r>
            <a:r>
              <a:rPr sz="2000" spc="5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of</a:t>
            </a:r>
            <a:r>
              <a:rPr sz="2000" spc="6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hyperparameters</a:t>
            </a:r>
            <a:r>
              <a:rPr sz="2000" spc="5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008600"/>
                </a:solidFill>
                <a:latin typeface="Monaco"/>
                <a:cs typeface="Monaco"/>
              </a:rPr>
              <a:t>'params_dt'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params_dt</a:t>
            </a:r>
            <a:r>
              <a:rPr sz="2000" spc="5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000" spc="5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spc="-50" dirty="0">
                <a:solidFill>
                  <a:srgbClr val="04182D"/>
                </a:solidFill>
                <a:latin typeface="Monaco"/>
                <a:cs typeface="Monaco"/>
              </a:rPr>
              <a:t>{</a:t>
            </a:r>
            <a:endParaRPr sz="2000">
              <a:latin typeface="Monaco"/>
              <a:cs typeface="Monaco"/>
            </a:endParaRPr>
          </a:p>
          <a:p>
            <a:pPr marL="202311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'max_depth'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2000" spc="6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[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3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000" spc="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4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5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000" spc="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spc="-25" dirty="0">
                <a:solidFill>
                  <a:srgbClr val="BE2F72"/>
                </a:solidFill>
                <a:latin typeface="Monaco"/>
                <a:cs typeface="Monaco"/>
              </a:rPr>
              <a:t>6</a:t>
            </a:r>
            <a:r>
              <a:rPr sz="2000" spc="-25" dirty="0">
                <a:solidFill>
                  <a:srgbClr val="04182D"/>
                </a:solidFill>
                <a:latin typeface="Monaco"/>
                <a:cs typeface="Monaco"/>
              </a:rPr>
              <a:t>],</a:t>
            </a:r>
            <a:endParaRPr sz="2000">
              <a:latin typeface="Monaco"/>
              <a:cs typeface="Monaco"/>
            </a:endParaRPr>
          </a:p>
          <a:p>
            <a:pPr marL="202311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'min_samples_leaf'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2000" spc="9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[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0.04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000" spc="9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0.06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000" spc="9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BE2F72"/>
                </a:solidFill>
                <a:latin typeface="Monaco"/>
                <a:cs typeface="Monaco"/>
              </a:rPr>
              <a:t>0.08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],</a:t>
            </a:r>
            <a:endParaRPr sz="2000">
              <a:latin typeface="Monaco"/>
              <a:cs typeface="Monaco"/>
            </a:endParaRPr>
          </a:p>
          <a:p>
            <a:pPr marL="202311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'max_features'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2000" spc="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[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0.2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000" spc="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0.4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000" dirty="0">
                <a:solidFill>
                  <a:srgbClr val="BE2F72"/>
                </a:solidFill>
                <a:latin typeface="Monaco"/>
                <a:cs typeface="Monaco"/>
              </a:rPr>
              <a:t>0.6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000" spc="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spc="-20" dirty="0">
                <a:solidFill>
                  <a:srgbClr val="BE2F72"/>
                </a:solidFill>
                <a:latin typeface="Monaco"/>
                <a:cs typeface="Monaco"/>
              </a:rPr>
              <a:t>0.8</a:t>
            </a:r>
            <a:r>
              <a:rPr sz="2000" spc="-2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2000">
              <a:latin typeface="Monaco"/>
              <a:cs typeface="Monaco"/>
            </a:endParaRPr>
          </a:p>
          <a:p>
            <a:pPr marL="1868805">
              <a:lnSpc>
                <a:spcPct val="100000"/>
              </a:lnSpc>
              <a:spcBef>
                <a:spcPts val="985"/>
              </a:spcBef>
            </a:pPr>
            <a:r>
              <a:rPr sz="2000" spc="-50" dirty="0">
                <a:solidFill>
                  <a:srgbClr val="04182D"/>
                </a:solidFill>
                <a:latin typeface="Monaco"/>
                <a:cs typeface="Monaco"/>
              </a:rPr>
              <a:t>}</a:t>
            </a:r>
            <a:endParaRPr sz="2000">
              <a:latin typeface="Monaco"/>
              <a:cs typeface="Monaco"/>
            </a:endParaRPr>
          </a:p>
          <a:p>
            <a:pPr marL="12700" marR="5080">
              <a:lnSpc>
                <a:spcPct val="141000"/>
              </a:lnSpc>
            </a:pP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2000" spc="5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Instantiate</a:t>
            </a:r>
            <a:r>
              <a:rPr sz="2000" spc="5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a</a:t>
            </a:r>
            <a:r>
              <a:rPr sz="2000" spc="5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10-fold</a:t>
            </a:r>
            <a:r>
              <a:rPr sz="2000" spc="5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CV</a:t>
            </a:r>
            <a:r>
              <a:rPr sz="2000" spc="5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grid</a:t>
            </a:r>
            <a:r>
              <a:rPr sz="2000" spc="5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search</a:t>
            </a:r>
            <a:r>
              <a:rPr sz="2000" spc="5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object</a:t>
            </a:r>
            <a:r>
              <a:rPr sz="2000" spc="5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008600"/>
                </a:solidFill>
                <a:latin typeface="Monaco"/>
                <a:cs typeface="Monaco"/>
              </a:rPr>
              <a:t>'grid_dt'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grid_dt</a:t>
            </a:r>
            <a:r>
              <a:rPr sz="2000" spc="4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000" spc="5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GridSearchCV(estimator=dt,</a:t>
            </a:r>
            <a:endParaRPr sz="2000">
              <a:latin typeface="Monaco"/>
              <a:cs typeface="Monaco"/>
            </a:endParaRPr>
          </a:p>
          <a:p>
            <a:pPr marL="3569970" marR="1706245">
              <a:lnSpc>
                <a:spcPct val="141000"/>
              </a:lnSpc>
            </a:pP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param_grid=params_dt, scoring=</a:t>
            </a:r>
            <a:r>
              <a:rPr sz="2000" spc="-10" dirty="0">
                <a:solidFill>
                  <a:srgbClr val="BE2F72"/>
                </a:solidFill>
                <a:latin typeface="Monaco"/>
                <a:cs typeface="Monaco"/>
              </a:rPr>
              <a:t>'accuracy'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, cv=</a:t>
            </a:r>
            <a:r>
              <a:rPr sz="2000" spc="-10" dirty="0">
                <a:solidFill>
                  <a:srgbClr val="BE2F72"/>
                </a:solidFill>
                <a:latin typeface="Monaco"/>
                <a:cs typeface="Monaco"/>
              </a:rPr>
              <a:t>10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endParaRPr sz="2000">
              <a:latin typeface="Monaco"/>
              <a:cs typeface="Monaco"/>
            </a:endParaRPr>
          </a:p>
          <a:p>
            <a:pPr marL="3569970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n_jobs=-</a:t>
            </a:r>
            <a:r>
              <a:rPr sz="2000" spc="-25" dirty="0">
                <a:solidFill>
                  <a:srgbClr val="BE2F72"/>
                </a:solidFill>
                <a:latin typeface="Monaco"/>
                <a:cs typeface="Monaco"/>
              </a:rPr>
              <a:t>1</a:t>
            </a:r>
            <a:r>
              <a:rPr sz="2000" spc="-25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000">
              <a:latin typeface="Monaco"/>
              <a:cs typeface="Monaco"/>
            </a:endParaRPr>
          </a:p>
          <a:p>
            <a:pPr marL="12700" marR="2943860">
              <a:lnSpc>
                <a:spcPct val="141000"/>
              </a:lnSpc>
            </a:pP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2000" spc="5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Fit</a:t>
            </a:r>
            <a:r>
              <a:rPr sz="2000" spc="5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'grid_dt'</a:t>
            </a:r>
            <a:r>
              <a:rPr sz="2000" spc="5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to</a:t>
            </a:r>
            <a:r>
              <a:rPr sz="2000" spc="5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the</a:t>
            </a:r>
            <a:r>
              <a:rPr sz="2000" spc="5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training</a:t>
            </a:r>
            <a:r>
              <a:rPr sz="2000" spc="5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spc="-20" dirty="0">
                <a:solidFill>
                  <a:srgbClr val="008600"/>
                </a:solidFill>
                <a:latin typeface="Monaco"/>
                <a:cs typeface="Monaco"/>
              </a:rPr>
              <a:t>data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grid_dt.fit(X_train,</a:t>
            </a:r>
            <a:r>
              <a:rPr sz="2000" spc="15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y_train)</a:t>
            </a:r>
            <a:endParaRPr sz="2000">
              <a:latin typeface="Monaco"/>
              <a:cs typeface="Monaco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CABD2B-2C8F-0D75-0B7D-893B43C81B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977519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0" dirty="0"/>
              <a:t>Extracting</a:t>
            </a:r>
            <a:r>
              <a:rPr spc="-195" dirty="0"/>
              <a:t> </a:t>
            </a:r>
            <a:r>
              <a:rPr dirty="0"/>
              <a:t>the</a:t>
            </a:r>
            <a:r>
              <a:rPr spc="-190" dirty="0"/>
              <a:t> </a:t>
            </a:r>
            <a:r>
              <a:rPr spc="-60" dirty="0"/>
              <a:t>best</a:t>
            </a:r>
            <a:r>
              <a:rPr spc="-195" dirty="0"/>
              <a:t> </a:t>
            </a:r>
            <a:r>
              <a:rPr spc="-10" dirty="0"/>
              <a:t>hyperparameters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1658620"/>
          </a:xfrm>
          <a:custGeom>
            <a:avLst/>
            <a:gdLst/>
            <a:ahLst/>
            <a:cxnLst/>
            <a:rect l="l" t="t" r="r" b="b"/>
            <a:pathLst>
              <a:path w="14575155" h="1658620">
                <a:moveTo>
                  <a:pt x="14498413" y="1658101"/>
                </a:moveTo>
                <a:lnTo>
                  <a:pt x="76505" y="1658101"/>
                </a:lnTo>
                <a:lnTo>
                  <a:pt x="71180" y="1657577"/>
                </a:lnTo>
                <a:lnTo>
                  <a:pt x="31920" y="1641314"/>
                </a:lnTo>
                <a:lnTo>
                  <a:pt x="4175" y="1602587"/>
                </a:lnTo>
                <a:lnTo>
                  <a:pt x="0" y="1581596"/>
                </a:lnTo>
                <a:lnTo>
                  <a:pt x="0" y="157622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581596"/>
                </a:lnTo>
                <a:lnTo>
                  <a:pt x="14558132" y="1626180"/>
                </a:lnTo>
                <a:lnTo>
                  <a:pt x="14519404" y="1653925"/>
                </a:lnTo>
                <a:lnTo>
                  <a:pt x="14503737" y="1657577"/>
                </a:lnTo>
                <a:lnTo>
                  <a:pt x="14498413" y="165810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3070558"/>
            <a:ext cx="14575155" cy="1207770"/>
          </a:xfrm>
          <a:custGeom>
            <a:avLst/>
            <a:gdLst/>
            <a:ahLst/>
            <a:cxnLst/>
            <a:rect l="l" t="t" r="r" b="b"/>
            <a:pathLst>
              <a:path w="14575155" h="1207770">
                <a:moveTo>
                  <a:pt x="14498413" y="1207753"/>
                </a:moveTo>
                <a:lnTo>
                  <a:pt x="76505" y="1207753"/>
                </a:lnTo>
                <a:lnTo>
                  <a:pt x="71180" y="1207228"/>
                </a:lnTo>
                <a:lnTo>
                  <a:pt x="31920" y="1190966"/>
                </a:lnTo>
                <a:lnTo>
                  <a:pt x="4175" y="1152238"/>
                </a:lnTo>
                <a:lnTo>
                  <a:pt x="0" y="1131247"/>
                </a:lnTo>
                <a:lnTo>
                  <a:pt x="0" y="112587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131247"/>
                </a:lnTo>
                <a:lnTo>
                  <a:pt x="14558132" y="1175832"/>
                </a:lnTo>
                <a:lnTo>
                  <a:pt x="14519404" y="1203577"/>
                </a:lnTo>
                <a:lnTo>
                  <a:pt x="14503737" y="1207228"/>
                </a:lnTo>
                <a:lnTo>
                  <a:pt x="14498413" y="120775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4523956"/>
            <a:ext cx="14575155" cy="1678939"/>
          </a:xfrm>
          <a:custGeom>
            <a:avLst/>
            <a:gdLst/>
            <a:ahLst/>
            <a:cxnLst/>
            <a:rect l="l" t="t" r="r" b="b"/>
            <a:pathLst>
              <a:path w="14575155" h="1678939">
                <a:moveTo>
                  <a:pt x="14498413" y="1678571"/>
                </a:moveTo>
                <a:lnTo>
                  <a:pt x="76505" y="1678571"/>
                </a:lnTo>
                <a:lnTo>
                  <a:pt x="71180" y="1678046"/>
                </a:lnTo>
                <a:lnTo>
                  <a:pt x="31920" y="1661784"/>
                </a:lnTo>
                <a:lnTo>
                  <a:pt x="4175" y="1623056"/>
                </a:lnTo>
                <a:lnTo>
                  <a:pt x="0" y="1602066"/>
                </a:lnTo>
                <a:lnTo>
                  <a:pt x="0" y="159669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602066"/>
                </a:lnTo>
                <a:lnTo>
                  <a:pt x="14558132" y="1646650"/>
                </a:lnTo>
                <a:lnTo>
                  <a:pt x="14519404" y="1674396"/>
                </a:lnTo>
                <a:lnTo>
                  <a:pt x="14503737" y="1678046"/>
                </a:lnTo>
                <a:lnTo>
                  <a:pt x="14498413" y="167857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289" y="6448173"/>
            <a:ext cx="14575155" cy="777875"/>
          </a:xfrm>
          <a:custGeom>
            <a:avLst/>
            <a:gdLst/>
            <a:ahLst/>
            <a:cxnLst/>
            <a:rect l="l" t="t" r="r" b="b"/>
            <a:pathLst>
              <a:path w="14575155" h="777875">
                <a:moveTo>
                  <a:pt x="14498413" y="777874"/>
                </a:moveTo>
                <a:lnTo>
                  <a:pt x="76505" y="777874"/>
                </a:lnTo>
                <a:lnTo>
                  <a:pt x="71180" y="777349"/>
                </a:lnTo>
                <a:lnTo>
                  <a:pt x="31920" y="761087"/>
                </a:lnTo>
                <a:lnTo>
                  <a:pt x="4175" y="722360"/>
                </a:lnTo>
                <a:lnTo>
                  <a:pt x="0" y="701369"/>
                </a:lnTo>
                <a:lnTo>
                  <a:pt x="0" y="695993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2"/>
                </a:lnTo>
                <a:lnTo>
                  <a:pt x="14574918" y="76504"/>
                </a:lnTo>
                <a:lnTo>
                  <a:pt x="14574918" y="701369"/>
                </a:lnTo>
                <a:lnTo>
                  <a:pt x="14558132" y="745954"/>
                </a:lnTo>
                <a:lnTo>
                  <a:pt x="14519404" y="773698"/>
                </a:lnTo>
                <a:lnTo>
                  <a:pt x="14503737" y="777350"/>
                </a:lnTo>
                <a:lnTo>
                  <a:pt x="14498413" y="77787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4036" y="1229033"/>
            <a:ext cx="10641330" cy="575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619375">
              <a:lnSpc>
                <a:spcPct val="137400"/>
              </a:lnSpc>
              <a:spcBef>
                <a:spcPts val="100"/>
              </a:spcBef>
            </a:pP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2150" spc="-114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Extract</a:t>
            </a:r>
            <a:r>
              <a:rPr sz="2150" spc="-11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best</a:t>
            </a:r>
            <a:r>
              <a:rPr sz="2150" spc="-11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hyperparameters</a:t>
            </a:r>
            <a:r>
              <a:rPr sz="2150" spc="-11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from</a:t>
            </a:r>
            <a:r>
              <a:rPr sz="2150" spc="-11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08600"/>
                </a:solidFill>
                <a:latin typeface="Monaco"/>
                <a:cs typeface="Monaco"/>
              </a:rPr>
              <a:t>'grid_dt'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best_hyperparams</a:t>
            </a:r>
            <a:r>
              <a:rPr sz="2150" spc="-15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150" spc="-15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grid_dt.best_params_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(</a:t>
            </a:r>
            <a:r>
              <a:rPr sz="2150" dirty="0">
                <a:solidFill>
                  <a:srgbClr val="BE2F72"/>
                </a:solidFill>
                <a:latin typeface="Monaco"/>
                <a:cs typeface="Monaco"/>
              </a:rPr>
              <a:t>'Best</a:t>
            </a:r>
            <a:r>
              <a:rPr sz="2150" spc="-175" dirty="0">
                <a:solidFill>
                  <a:srgbClr val="BE2F72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BE2F72"/>
                </a:solidFill>
                <a:latin typeface="Monaco"/>
                <a:cs typeface="Monaco"/>
              </a:rPr>
              <a:t>hyerparameters:\n'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150" spc="-17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best_hyperparams)</a:t>
            </a:r>
            <a:endParaRPr sz="21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450"/>
              </a:spcBef>
            </a:pP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Best</a:t>
            </a:r>
            <a:r>
              <a:rPr sz="2150" spc="-7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hyerparameters:</a:t>
            </a:r>
            <a:endParaRPr sz="2150">
              <a:latin typeface="Monaco"/>
              <a:cs typeface="Monaco"/>
            </a:endParaRPr>
          </a:p>
          <a:p>
            <a:pPr marL="339090">
              <a:lnSpc>
                <a:spcPct val="100000"/>
              </a:lnSpc>
              <a:spcBef>
                <a:spcPts val="970"/>
              </a:spcBef>
            </a:pP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{'max_depth':</a:t>
            </a:r>
            <a:r>
              <a:rPr sz="2150" spc="-1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3,</a:t>
            </a:r>
            <a:r>
              <a:rPr sz="2150" spc="-15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'max_features':</a:t>
            </a:r>
            <a:r>
              <a:rPr sz="2150" spc="-15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0.4,</a:t>
            </a:r>
            <a:r>
              <a:rPr sz="2150" spc="-1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'min_samples_leaf':</a:t>
            </a:r>
            <a:r>
              <a:rPr sz="2150" spc="-15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0.06}</a:t>
            </a:r>
            <a:endParaRPr sz="21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2150">
              <a:latin typeface="Monaco"/>
              <a:cs typeface="Monaco"/>
            </a:endParaRPr>
          </a:p>
          <a:p>
            <a:pPr marL="12700" marR="2945765">
              <a:lnSpc>
                <a:spcPct val="137400"/>
              </a:lnSpc>
            </a:pP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2150" spc="-7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Extract</a:t>
            </a:r>
            <a:r>
              <a:rPr sz="2150" spc="-7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best</a:t>
            </a:r>
            <a:r>
              <a:rPr sz="2150" spc="-7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CV</a:t>
            </a:r>
            <a:r>
              <a:rPr sz="2150" spc="-6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score</a:t>
            </a:r>
            <a:r>
              <a:rPr sz="2150" spc="-7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from</a:t>
            </a:r>
            <a:r>
              <a:rPr sz="2150" spc="-7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08600"/>
                </a:solidFill>
                <a:latin typeface="Monaco"/>
                <a:cs typeface="Monaco"/>
              </a:rPr>
              <a:t>'grid_dt'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best_CV_score</a:t>
            </a:r>
            <a:r>
              <a:rPr sz="2150" spc="-13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150" spc="-12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grid_dt.best_score_ 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(</a:t>
            </a:r>
            <a:r>
              <a:rPr sz="2150" dirty="0">
                <a:solidFill>
                  <a:srgbClr val="BE2F72"/>
                </a:solidFill>
                <a:latin typeface="Monaco"/>
                <a:cs typeface="Monaco"/>
              </a:rPr>
              <a:t>'Best</a:t>
            </a:r>
            <a:r>
              <a:rPr sz="2150" spc="-120" dirty="0">
                <a:solidFill>
                  <a:srgbClr val="BE2F72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BE2F72"/>
                </a:solidFill>
                <a:latin typeface="Monaco"/>
                <a:cs typeface="Monaco"/>
              </a:rPr>
              <a:t>CV</a:t>
            </a:r>
            <a:r>
              <a:rPr sz="2150" spc="-114" dirty="0">
                <a:solidFill>
                  <a:srgbClr val="BE2F72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BE2F72"/>
                </a:solidFill>
                <a:latin typeface="Monaco"/>
                <a:cs typeface="Monaco"/>
              </a:rPr>
              <a:t>accuracy'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.</a:t>
            </a:r>
            <a:r>
              <a:rPr sz="2150" spc="-10" dirty="0">
                <a:solidFill>
                  <a:srgbClr val="008600"/>
                </a:solidFill>
                <a:latin typeface="Monaco"/>
                <a:cs typeface="Monaco"/>
              </a:rPr>
              <a:t>format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(best_CV_score))</a:t>
            </a:r>
            <a:endParaRPr sz="21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610"/>
              </a:spcBef>
            </a:pP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Best</a:t>
            </a:r>
            <a:r>
              <a:rPr sz="2150" spc="-9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CV</a:t>
            </a:r>
            <a:r>
              <a:rPr sz="2150" spc="-9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accuracy:</a:t>
            </a:r>
            <a:r>
              <a:rPr sz="2150" spc="-9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0.938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C18F886-4D1A-90E7-04A6-DAD12BA704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0" dirty="0"/>
              <a:t>Extracting</a:t>
            </a:r>
            <a:r>
              <a:rPr spc="-195" dirty="0"/>
              <a:t> </a:t>
            </a:r>
            <a:r>
              <a:rPr dirty="0"/>
              <a:t>the</a:t>
            </a:r>
            <a:r>
              <a:rPr spc="-190" dirty="0"/>
              <a:t> </a:t>
            </a:r>
            <a:r>
              <a:rPr spc="-60" dirty="0"/>
              <a:t>best</a:t>
            </a:r>
            <a:r>
              <a:rPr spc="-195" dirty="0"/>
              <a:t> </a:t>
            </a:r>
            <a:r>
              <a:rPr spc="-10" dirty="0"/>
              <a:t>estimator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1"/>
                </a:moveTo>
                <a:lnTo>
                  <a:pt x="76505" y="4257841"/>
                </a:lnTo>
                <a:lnTo>
                  <a:pt x="71180" y="4257316"/>
                </a:lnTo>
                <a:lnTo>
                  <a:pt x="31920" y="4241054"/>
                </a:lnTo>
                <a:lnTo>
                  <a:pt x="4175" y="4202327"/>
                </a:lnTo>
                <a:lnTo>
                  <a:pt x="0" y="4181335"/>
                </a:lnTo>
                <a:lnTo>
                  <a:pt x="0" y="417596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5"/>
                </a:lnTo>
                <a:lnTo>
                  <a:pt x="14558132" y="4225920"/>
                </a:lnTo>
                <a:lnTo>
                  <a:pt x="14519404" y="4253665"/>
                </a:lnTo>
                <a:lnTo>
                  <a:pt x="14503737" y="4257316"/>
                </a:lnTo>
                <a:lnTo>
                  <a:pt x="14498413" y="425784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5670298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2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8"/>
                </a:lnTo>
                <a:lnTo>
                  <a:pt x="14503737" y="818290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99"/>
            <a:ext cx="11201400" cy="5020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990465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Extract best model from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'grid_dt'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best_model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grid_dt.best_estimator_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Evaluate test set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accuracy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test_acc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best_model.score(X_test,y_test)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Print test set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accuracy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(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"Test</a:t>
            </a:r>
            <a:r>
              <a:rPr sz="2250" spc="-15" dirty="0">
                <a:solidFill>
                  <a:srgbClr val="BE2F72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set accuracy of</a:t>
            </a:r>
            <a:r>
              <a:rPr sz="2250" spc="-5" dirty="0">
                <a:solidFill>
                  <a:srgbClr val="BE2F72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best model: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{:.3f}"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.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format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(test_acc))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680"/>
              </a:spcBef>
            </a:pP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Test set accuracy of best model: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0.947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9EEE5B-C799-7BB3-6E60-F131018B19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979295" marR="1910080" indent="-635" algn="ctr">
              <a:lnSpc>
                <a:spcPts val="6770"/>
              </a:lnSpc>
              <a:spcBef>
                <a:spcPts val="1130"/>
              </a:spcBef>
            </a:pPr>
            <a:r>
              <a:rPr spc="-655" dirty="0"/>
              <a:t>T</a:t>
            </a:r>
            <a:r>
              <a:rPr spc="-310" dirty="0"/>
              <a:t>un</a:t>
            </a:r>
            <a:r>
              <a:rPr spc="-315" dirty="0"/>
              <a:t>i</a:t>
            </a:r>
            <a:r>
              <a:rPr spc="-370" dirty="0"/>
              <a:t>n</a:t>
            </a:r>
            <a:r>
              <a:rPr spc="-135" dirty="0"/>
              <a:t>g</a:t>
            </a:r>
            <a:r>
              <a:rPr spc="-220" dirty="0"/>
              <a:t> </a:t>
            </a:r>
            <a:r>
              <a:rPr dirty="0"/>
              <a:t>an</a:t>
            </a:r>
            <a:r>
              <a:rPr spc="-215" dirty="0"/>
              <a:t> </a:t>
            </a:r>
            <a:r>
              <a:rPr spc="-595" dirty="0"/>
              <a:t>RF's </a:t>
            </a:r>
            <a:r>
              <a:rPr spc="-90" dirty="0"/>
              <a:t>Hyperparameters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1779270" algn="l"/>
                <a:tab pos="3679825" algn="l"/>
                <a:tab pos="4699635" algn="l"/>
                <a:tab pos="6979920" algn="l"/>
                <a:tab pos="8555990" algn="l"/>
                <a:tab pos="9057640" algn="l"/>
              </a:tabLst>
            </a:pPr>
            <a:r>
              <a:rPr sz="2250" spc="204" dirty="0"/>
              <a:t>M</a:t>
            </a:r>
            <a:r>
              <a:rPr sz="2250" spc="-295" dirty="0"/>
              <a:t> </a:t>
            </a:r>
            <a:r>
              <a:rPr sz="2250" spc="170" dirty="0"/>
              <a:t>AC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-50" dirty="0"/>
              <a:t>E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W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spc="-50" dirty="0"/>
              <a:t>H</a:t>
            </a:r>
            <a:r>
              <a:rPr sz="2250" dirty="0"/>
              <a:t>	</a:t>
            </a:r>
            <a:r>
              <a:rPr sz="2250" spc="-90" dirty="0"/>
              <a:t>T</a:t>
            </a:r>
            <a:r>
              <a:rPr sz="2250" spc="-310" dirty="0"/>
              <a:t> </a:t>
            </a:r>
            <a:r>
              <a:rPr sz="2250" spc="-235" dirty="0"/>
              <a:t>R</a:t>
            </a:r>
            <a:r>
              <a:rPr sz="2250" spc="-295" dirty="0"/>
              <a:t> </a:t>
            </a:r>
            <a:r>
              <a:rPr sz="2250" spc="-105" dirty="0"/>
              <a:t>E</a:t>
            </a:r>
            <a:r>
              <a:rPr sz="2250" spc="-29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dirty="0"/>
              <a:t>-</a:t>
            </a:r>
            <a:r>
              <a:rPr sz="2250" spc="-295" dirty="0"/>
              <a:t> </a:t>
            </a:r>
            <a:r>
              <a:rPr sz="2250" spc="-185" dirty="0"/>
              <a:t>B</a:t>
            </a:r>
            <a:r>
              <a:rPr sz="2250" spc="-295" dirty="0"/>
              <a:t> </a:t>
            </a:r>
            <a:r>
              <a:rPr sz="2250" spc="-25" dirty="0"/>
              <a:t>A</a:t>
            </a:r>
            <a:r>
              <a:rPr sz="2250" spc="-325" dirty="0"/>
              <a:t> </a:t>
            </a:r>
            <a:r>
              <a:rPr sz="2250" spc="-210" dirty="0"/>
              <a:t>S</a:t>
            </a:r>
            <a:r>
              <a:rPr sz="2250" spc="-295" dirty="0"/>
              <a:t> </a:t>
            </a:r>
            <a:r>
              <a:rPr sz="2250" spc="-105" dirty="0"/>
              <a:t>E</a:t>
            </a:r>
            <a:r>
              <a:rPr sz="2250" spc="-29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D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189865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Elie</a:t>
            </a:r>
            <a:r>
              <a:rPr sz="255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Kawerk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250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Scientist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58A7A9E-B044-7AF6-F14C-B6AB4F59F8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128B1-16AF-2181-0CF2-A8438DCFAF74}"/>
              </a:ext>
            </a:extLst>
          </p:cNvPr>
          <p:cNvSpPr txBox="1"/>
          <p:nvPr/>
        </p:nvSpPr>
        <p:spPr>
          <a:xfrm>
            <a:off x="561494" y="5682509"/>
            <a:ext cx="141931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Random Forest (RF)</a:t>
            </a:r>
            <a:r>
              <a:rPr lang="en" altLang="ko-KR" dirty="0"/>
              <a:t> is an ensemble learning algorithm based on </a:t>
            </a:r>
            <a:r>
              <a:rPr lang="en" altLang="ko-KR" b="1" dirty="0"/>
              <a:t>bagging (Bootstrap Aggregating)</a:t>
            </a:r>
            <a:r>
              <a:rPr lang="en" altLang="ko-KR" dirty="0"/>
              <a:t> that combines multiple decision trees to improve prediction accuracy and robustness. It can be used for both </a:t>
            </a:r>
            <a:r>
              <a:rPr lang="en" altLang="ko-KR" b="1" dirty="0"/>
              <a:t>classification</a:t>
            </a:r>
            <a:r>
              <a:rPr lang="en" altLang="ko-KR" dirty="0"/>
              <a:t> and </a:t>
            </a:r>
            <a:r>
              <a:rPr lang="en" altLang="ko-KR" b="1" dirty="0"/>
              <a:t>regression</a:t>
            </a:r>
            <a:r>
              <a:rPr lang="en" altLang="ko-KR" dirty="0"/>
              <a:t> tasks and is one of the most widely used machine learning algorithms due to its simplicity, effectiveness, and ability to handle various types of data.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50" dirty="0"/>
              <a:t>Random</a:t>
            </a:r>
            <a:r>
              <a:rPr spc="-140" dirty="0"/>
              <a:t> </a:t>
            </a:r>
            <a:r>
              <a:rPr spc="-210" dirty="0"/>
              <a:t>Forests</a:t>
            </a:r>
            <a:r>
              <a:rPr spc="-100" dirty="0"/>
              <a:t> </a:t>
            </a:r>
            <a:r>
              <a:rPr spc="-10" dirty="0"/>
              <a:t>Hyperparameters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3629025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CART</a:t>
            </a:r>
            <a:r>
              <a:rPr sz="2550" spc="-1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hyperparameters</a:t>
            </a:r>
            <a:endParaRPr sz="2550">
              <a:latin typeface="Arial"/>
              <a:cs typeface="Arial"/>
            </a:endParaRPr>
          </a:p>
          <a:p>
            <a:pPr marL="12700" marR="322580">
              <a:lnSpc>
                <a:spcPts val="5160"/>
              </a:lnSpc>
              <a:spcBef>
                <a:spcPts val="520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number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estimators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bootstrap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....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69E09BE5-6814-832A-948B-23E43329B0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0" dirty="0"/>
              <a:t>Tuning</a:t>
            </a:r>
            <a:r>
              <a:rPr spc="-100" dirty="0"/>
              <a:t> </a:t>
            </a:r>
            <a:r>
              <a:rPr spc="-280" dirty="0"/>
              <a:t>is</a:t>
            </a:r>
            <a:r>
              <a:rPr spc="-95" dirty="0"/>
              <a:t> </a:t>
            </a:r>
            <a:r>
              <a:rPr spc="-125" dirty="0"/>
              <a:t>expensive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14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8589" y="1174582"/>
            <a:ext cx="7643495" cy="2547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Hyperparameter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tuning: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5"/>
              </a:spcBef>
            </a:pP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computationally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expensive,</a:t>
            </a:r>
            <a:endParaRPr sz="2550">
              <a:latin typeface="Arial"/>
              <a:cs typeface="Arial"/>
            </a:endParaRPr>
          </a:p>
          <a:p>
            <a:pPr marL="12700" marR="5080" indent="368300">
              <a:lnSpc>
                <a:spcPts val="5160"/>
              </a:lnSpc>
              <a:spcBef>
                <a:spcPts val="315"/>
              </a:spcBef>
            </a:pP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sometimes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leads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very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slight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improvement,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Weight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impact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tuning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whole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project.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B0FD8C-928D-004C-579B-3468E77BCC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3"/>
            <a:ext cx="1109599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Inspecting</a:t>
            </a:r>
            <a:r>
              <a:rPr spc="-215" dirty="0"/>
              <a:t> </a:t>
            </a:r>
            <a:r>
              <a:rPr spc="-315" dirty="0"/>
              <a:t>RF</a:t>
            </a:r>
            <a:r>
              <a:rPr spc="-95" dirty="0"/>
              <a:t> </a:t>
            </a:r>
            <a:r>
              <a:rPr spc="-30" dirty="0"/>
              <a:t>Hyperparameters</a:t>
            </a:r>
            <a:r>
              <a:rPr spc="-215" dirty="0"/>
              <a:t> </a:t>
            </a:r>
            <a:r>
              <a:rPr spc="-55" dirty="0"/>
              <a:t>in</a:t>
            </a:r>
            <a:r>
              <a:rPr spc="-170" dirty="0"/>
              <a:t> </a:t>
            </a:r>
            <a:r>
              <a:rPr spc="-10" dirty="0"/>
              <a:t>sklearn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00"/>
            <a:ext cx="14575155" cy="4749165"/>
            <a:chOff x="491289" y="1166800"/>
            <a:chExt cx="14575155" cy="4749165"/>
          </a:xfrm>
        </p:grpSpPr>
        <p:sp>
          <p:nvSpPr>
            <p:cNvPr id="4" name="object 4"/>
            <p:cNvSpPr/>
            <p:nvPr/>
          </p:nvSpPr>
          <p:spPr>
            <a:xfrm>
              <a:off x="491289" y="1166800"/>
              <a:ext cx="14575155" cy="4749165"/>
            </a:xfrm>
            <a:custGeom>
              <a:avLst/>
              <a:gdLst/>
              <a:ahLst/>
              <a:cxnLst/>
              <a:rect l="l" t="t" r="r" b="b"/>
              <a:pathLst>
                <a:path w="14575155" h="4749165">
                  <a:moveTo>
                    <a:pt x="14498413" y="4749130"/>
                  </a:moveTo>
                  <a:lnTo>
                    <a:pt x="76505" y="4749130"/>
                  </a:lnTo>
                  <a:lnTo>
                    <a:pt x="71180" y="4748606"/>
                  </a:lnTo>
                  <a:lnTo>
                    <a:pt x="31920" y="4732343"/>
                  </a:lnTo>
                  <a:lnTo>
                    <a:pt x="4175" y="4693616"/>
                  </a:lnTo>
                  <a:lnTo>
                    <a:pt x="0" y="4672625"/>
                  </a:lnTo>
                  <a:lnTo>
                    <a:pt x="0" y="4667249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4672625"/>
                  </a:lnTo>
                  <a:lnTo>
                    <a:pt x="14558132" y="4717210"/>
                  </a:lnTo>
                  <a:lnTo>
                    <a:pt x="14519404" y="4744954"/>
                  </a:lnTo>
                  <a:lnTo>
                    <a:pt x="14503737" y="4748606"/>
                  </a:lnTo>
                  <a:lnTo>
                    <a:pt x="14498413" y="4749130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938756"/>
              <a:ext cx="4786630" cy="283210"/>
            </a:xfrm>
            <a:custGeom>
              <a:avLst/>
              <a:gdLst/>
              <a:ahLst/>
              <a:cxnLst/>
              <a:rect l="l" t="t" r="r" b="b"/>
              <a:pathLst>
                <a:path w="4786630" h="283210">
                  <a:moveTo>
                    <a:pt x="147980" y="10007"/>
                  </a:moveTo>
                  <a:lnTo>
                    <a:pt x="93332" y="10007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86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28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10007"/>
                  </a:lnTo>
                  <a:close/>
                </a:path>
                <a:path w="4786630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4786630" h="283210">
                  <a:moveTo>
                    <a:pt x="485305" y="124536"/>
                  </a:moveTo>
                  <a:lnTo>
                    <a:pt x="484174" y="110172"/>
                  </a:lnTo>
                  <a:lnTo>
                    <a:pt x="480771" y="97370"/>
                  </a:lnTo>
                  <a:lnTo>
                    <a:pt x="478840" y="93548"/>
                  </a:lnTo>
                  <a:lnTo>
                    <a:pt x="475107" y="86144"/>
                  </a:lnTo>
                  <a:lnTo>
                    <a:pt x="467182" y="76466"/>
                  </a:lnTo>
                  <a:lnTo>
                    <a:pt x="457377" y="68694"/>
                  </a:lnTo>
                  <a:lnTo>
                    <a:pt x="447662" y="63957"/>
                  </a:lnTo>
                  <a:lnTo>
                    <a:pt x="447662" y="114376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76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48"/>
                  </a:lnTo>
                  <a:lnTo>
                    <a:pt x="428142" y="93548"/>
                  </a:lnTo>
                  <a:lnTo>
                    <a:pt x="435343" y="96151"/>
                  </a:lnTo>
                  <a:lnTo>
                    <a:pt x="440245" y="101384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44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77"/>
                  </a:lnTo>
                  <a:lnTo>
                    <a:pt x="418617" y="233972"/>
                  </a:lnTo>
                  <a:lnTo>
                    <a:pt x="433095" y="232854"/>
                  </a:lnTo>
                  <a:lnTo>
                    <a:pt x="475107" y="206514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4786630" h="283210">
                  <a:moveTo>
                    <a:pt x="663549" y="105371"/>
                  </a:moveTo>
                  <a:lnTo>
                    <a:pt x="662940" y="95554"/>
                  </a:lnTo>
                  <a:lnTo>
                    <a:pt x="661873" y="90398"/>
                  </a:lnTo>
                  <a:lnTo>
                    <a:pt x="661098" y="86690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98"/>
                  </a:lnTo>
                  <a:lnTo>
                    <a:pt x="566813" y="90398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98"/>
                  </a:lnTo>
                  <a:lnTo>
                    <a:pt x="620915" y="90398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71"/>
                  </a:lnTo>
                  <a:close/>
                </a:path>
                <a:path w="4786630" h="283210">
                  <a:moveTo>
                    <a:pt x="3887559" y="16510"/>
                  </a:moveTo>
                  <a:lnTo>
                    <a:pt x="3885247" y="10909"/>
                  </a:lnTo>
                  <a:lnTo>
                    <a:pt x="3876014" y="2184"/>
                  </a:lnTo>
                  <a:lnTo>
                    <a:pt x="3870134" y="0"/>
                  </a:lnTo>
                  <a:lnTo>
                    <a:pt x="3850132" y="0"/>
                  </a:lnTo>
                  <a:lnTo>
                    <a:pt x="3844252" y="2184"/>
                  </a:lnTo>
                  <a:lnTo>
                    <a:pt x="3835019" y="10909"/>
                  </a:lnTo>
                  <a:lnTo>
                    <a:pt x="3832707" y="16510"/>
                  </a:lnTo>
                  <a:lnTo>
                    <a:pt x="3832707" y="30264"/>
                  </a:lnTo>
                  <a:lnTo>
                    <a:pt x="3834968" y="35826"/>
                  </a:lnTo>
                  <a:lnTo>
                    <a:pt x="3839489" y="40017"/>
                  </a:lnTo>
                  <a:lnTo>
                    <a:pt x="3844061" y="44170"/>
                  </a:lnTo>
                  <a:lnTo>
                    <a:pt x="3849992" y="46240"/>
                  </a:lnTo>
                  <a:lnTo>
                    <a:pt x="3870045" y="46240"/>
                  </a:lnTo>
                  <a:lnTo>
                    <a:pt x="3875900" y="44170"/>
                  </a:lnTo>
                  <a:lnTo>
                    <a:pt x="3885247" y="35826"/>
                  </a:lnTo>
                  <a:lnTo>
                    <a:pt x="3887559" y="30264"/>
                  </a:lnTo>
                  <a:lnTo>
                    <a:pt x="3887559" y="16510"/>
                  </a:lnTo>
                  <a:close/>
                </a:path>
                <a:path w="4786630" h="283210">
                  <a:moveTo>
                    <a:pt x="3934853" y="195694"/>
                  </a:moveTo>
                  <a:lnTo>
                    <a:pt x="3881818" y="195694"/>
                  </a:lnTo>
                  <a:lnTo>
                    <a:pt x="3881818" y="61569"/>
                  </a:lnTo>
                  <a:lnTo>
                    <a:pt x="3795420" y="61569"/>
                  </a:lnTo>
                  <a:lnTo>
                    <a:pt x="3795420" y="96977"/>
                  </a:lnTo>
                  <a:lnTo>
                    <a:pt x="3844112" y="96977"/>
                  </a:lnTo>
                  <a:lnTo>
                    <a:pt x="3844112" y="195694"/>
                  </a:lnTo>
                  <a:lnTo>
                    <a:pt x="3788283" y="195694"/>
                  </a:lnTo>
                  <a:lnTo>
                    <a:pt x="3788283" y="231101"/>
                  </a:lnTo>
                  <a:lnTo>
                    <a:pt x="3934853" y="231101"/>
                  </a:lnTo>
                  <a:lnTo>
                    <a:pt x="3934853" y="195694"/>
                  </a:lnTo>
                  <a:close/>
                </a:path>
                <a:path w="4786630" h="283210">
                  <a:moveTo>
                    <a:pt x="4102189" y="105371"/>
                  </a:moveTo>
                  <a:lnTo>
                    <a:pt x="4101579" y="95554"/>
                  </a:lnTo>
                  <a:lnTo>
                    <a:pt x="4100512" y="90398"/>
                  </a:lnTo>
                  <a:lnTo>
                    <a:pt x="4099737" y="86690"/>
                  </a:lnTo>
                  <a:lnTo>
                    <a:pt x="4099090" y="85001"/>
                  </a:lnTo>
                  <a:lnTo>
                    <a:pt x="4099014" y="84797"/>
                  </a:lnTo>
                  <a:lnTo>
                    <a:pt x="4065041" y="58699"/>
                  </a:lnTo>
                  <a:lnTo>
                    <a:pt x="4056684" y="58699"/>
                  </a:lnTo>
                  <a:lnTo>
                    <a:pt x="4050004" y="61010"/>
                  </a:lnTo>
                  <a:lnTo>
                    <a:pt x="4049153" y="61569"/>
                  </a:lnTo>
                  <a:lnTo>
                    <a:pt x="4038333" y="70827"/>
                  </a:lnTo>
                  <a:lnTo>
                    <a:pt x="4038028" y="71767"/>
                  </a:lnTo>
                  <a:lnTo>
                    <a:pt x="4037469" y="70192"/>
                  </a:lnTo>
                  <a:lnTo>
                    <a:pt x="4036593" y="69469"/>
                  </a:lnTo>
                  <a:lnTo>
                    <a:pt x="4036593" y="78765"/>
                  </a:lnTo>
                  <a:lnTo>
                    <a:pt x="4036339" y="77025"/>
                  </a:lnTo>
                  <a:lnTo>
                    <a:pt x="4036453" y="76657"/>
                  </a:lnTo>
                  <a:lnTo>
                    <a:pt x="4036479" y="77025"/>
                  </a:lnTo>
                  <a:lnTo>
                    <a:pt x="4036593" y="78765"/>
                  </a:lnTo>
                  <a:lnTo>
                    <a:pt x="4036593" y="69469"/>
                  </a:lnTo>
                  <a:lnTo>
                    <a:pt x="4032021" y="65620"/>
                  </a:lnTo>
                  <a:lnTo>
                    <a:pt x="4026598" y="61010"/>
                  </a:lnTo>
                  <a:lnTo>
                    <a:pt x="4019931" y="58699"/>
                  </a:lnTo>
                  <a:lnTo>
                    <a:pt x="4003649" y="58699"/>
                  </a:lnTo>
                  <a:lnTo>
                    <a:pt x="3997083" y="61010"/>
                  </a:lnTo>
                  <a:lnTo>
                    <a:pt x="3996842" y="61010"/>
                  </a:lnTo>
                  <a:lnTo>
                    <a:pt x="3989692" y="67233"/>
                  </a:lnTo>
                  <a:lnTo>
                    <a:pt x="3990733" y="61569"/>
                  </a:lnTo>
                  <a:lnTo>
                    <a:pt x="3983698" y="61569"/>
                  </a:lnTo>
                  <a:lnTo>
                    <a:pt x="3983698" y="78663"/>
                  </a:lnTo>
                  <a:lnTo>
                    <a:pt x="3983393" y="77025"/>
                  </a:lnTo>
                  <a:lnTo>
                    <a:pt x="3983520" y="76657"/>
                  </a:lnTo>
                  <a:lnTo>
                    <a:pt x="3983545" y="77025"/>
                  </a:lnTo>
                  <a:lnTo>
                    <a:pt x="3983698" y="78663"/>
                  </a:lnTo>
                  <a:lnTo>
                    <a:pt x="3983698" y="61569"/>
                  </a:lnTo>
                  <a:lnTo>
                    <a:pt x="3956177" y="61569"/>
                  </a:lnTo>
                  <a:lnTo>
                    <a:pt x="3956177" y="231101"/>
                  </a:lnTo>
                  <a:lnTo>
                    <a:pt x="3991851" y="231101"/>
                  </a:lnTo>
                  <a:lnTo>
                    <a:pt x="3991851" y="99631"/>
                  </a:lnTo>
                  <a:lnTo>
                    <a:pt x="3992715" y="95948"/>
                  </a:lnTo>
                  <a:lnTo>
                    <a:pt x="3996220" y="91516"/>
                  </a:lnTo>
                  <a:lnTo>
                    <a:pt x="3998734" y="90398"/>
                  </a:lnTo>
                  <a:lnTo>
                    <a:pt x="4005453" y="90398"/>
                  </a:lnTo>
                  <a:lnTo>
                    <a:pt x="4007980" y="91516"/>
                  </a:lnTo>
                  <a:lnTo>
                    <a:pt x="4011676" y="95948"/>
                  </a:lnTo>
                  <a:lnTo>
                    <a:pt x="4012819" y="99631"/>
                  </a:lnTo>
                  <a:lnTo>
                    <a:pt x="4012908" y="231101"/>
                  </a:lnTo>
                  <a:lnTo>
                    <a:pt x="4045445" y="231101"/>
                  </a:lnTo>
                  <a:lnTo>
                    <a:pt x="4045470" y="99631"/>
                  </a:lnTo>
                  <a:lnTo>
                    <a:pt x="4046499" y="95948"/>
                  </a:lnTo>
                  <a:lnTo>
                    <a:pt x="4050284" y="91516"/>
                  </a:lnTo>
                  <a:lnTo>
                    <a:pt x="4052836" y="90398"/>
                  </a:lnTo>
                  <a:lnTo>
                    <a:pt x="4059555" y="90398"/>
                  </a:lnTo>
                  <a:lnTo>
                    <a:pt x="4062018" y="91516"/>
                  </a:lnTo>
                  <a:lnTo>
                    <a:pt x="4065409" y="95948"/>
                  </a:lnTo>
                  <a:lnTo>
                    <a:pt x="4066425" y="99631"/>
                  </a:lnTo>
                  <a:lnTo>
                    <a:pt x="4066514" y="231101"/>
                  </a:lnTo>
                  <a:lnTo>
                    <a:pt x="4102189" y="231101"/>
                  </a:lnTo>
                  <a:lnTo>
                    <a:pt x="4102189" y="105371"/>
                  </a:lnTo>
                  <a:close/>
                </a:path>
                <a:path w="4786630" h="283210">
                  <a:moveTo>
                    <a:pt x="4267847" y="123139"/>
                  </a:moveTo>
                  <a:lnTo>
                    <a:pt x="4266882" y="109270"/>
                  </a:lnTo>
                  <a:lnTo>
                    <a:pt x="4263999" y="96850"/>
                  </a:lnTo>
                  <a:lnTo>
                    <a:pt x="4262298" y="92989"/>
                  </a:lnTo>
                  <a:lnTo>
                    <a:pt x="4259186" y="85864"/>
                  </a:lnTo>
                  <a:lnTo>
                    <a:pt x="4252455" y="76327"/>
                  </a:lnTo>
                  <a:lnTo>
                    <a:pt x="4244086" y="68618"/>
                  </a:lnTo>
                  <a:lnTo>
                    <a:pt x="4234332" y="63106"/>
                  </a:lnTo>
                  <a:lnTo>
                    <a:pt x="4230205" y="61887"/>
                  </a:lnTo>
                  <a:lnTo>
                    <a:pt x="4230205" y="114134"/>
                  </a:lnTo>
                  <a:lnTo>
                    <a:pt x="4230205" y="178523"/>
                  </a:lnTo>
                  <a:lnTo>
                    <a:pt x="4227804" y="186512"/>
                  </a:lnTo>
                  <a:lnTo>
                    <a:pt x="4218279" y="196951"/>
                  </a:lnTo>
                  <a:lnTo>
                    <a:pt x="4211193" y="199682"/>
                  </a:lnTo>
                  <a:lnTo>
                    <a:pt x="4193044" y="199682"/>
                  </a:lnTo>
                  <a:lnTo>
                    <a:pt x="4173385" y="178523"/>
                  </a:lnTo>
                  <a:lnTo>
                    <a:pt x="4173385" y="114134"/>
                  </a:lnTo>
                  <a:lnTo>
                    <a:pt x="4175798" y="106692"/>
                  </a:lnTo>
                  <a:lnTo>
                    <a:pt x="4184662" y="97180"/>
                  </a:lnTo>
                  <a:lnTo>
                    <a:pt x="4184967" y="96850"/>
                  </a:lnTo>
                  <a:lnTo>
                    <a:pt x="4186301" y="95618"/>
                  </a:lnTo>
                  <a:lnTo>
                    <a:pt x="4193044" y="92989"/>
                  </a:lnTo>
                  <a:lnTo>
                    <a:pt x="4211193" y="92989"/>
                  </a:lnTo>
                  <a:lnTo>
                    <a:pt x="4218190" y="95618"/>
                  </a:lnTo>
                  <a:lnTo>
                    <a:pt x="4227804" y="106159"/>
                  </a:lnTo>
                  <a:lnTo>
                    <a:pt x="4230205" y="114134"/>
                  </a:lnTo>
                  <a:lnTo>
                    <a:pt x="4230205" y="61887"/>
                  </a:lnTo>
                  <a:lnTo>
                    <a:pt x="4223169" y="59804"/>
                  </a:lnTo>
                  <a:lnTo>
                    <a:pt x="4210608" y="58699"/>
                  </a:lnTo>
                  <a:lnTo>
                    <a:pt x="4201134" y="59334"/>
                  </a:lnTo>
                  <a:lnTo>
                    <a:pt x="4171023" y="75780"/>
                  </a:lnTo>
                  <a:lnTo>
                    <a:pt x="4173245" y="61569"/>
                  </a:lnTo>
                  <a:lnTo>
                    <a:pt x="4135602" y="61569"/>
                  </a:lnTo>
                  <a:lnTo>
                    <a:pt x="4135602" y="282663"/>
                  </a:lnTo>
                  <a:lnTo>
                    <a:pt x="4173245" y="282663"/>
                  </a:lnTo>
                  <a:lnTo>
                    <a:pt x="4173042" y="229565"/>
                  </a:lnTo>
                  <a:lnTo>
                    <a:pt x="4171023" y="216979"/>
                  </a:lnTo>
                  <a:lnTo>
                    <a:pt x="4171696" y="218173"/>
                  </a:lnTo>
                  <a:lnTo>
                    <a:pt x="4210608" y="233972"/>
                  </a:lnTo>
                  <a:lnTo>
                    <a:pt x="4223169" y="232867"/>
                  </a:lnTo>
                  <a:lnTo>
                    <a:pt x="4259186" y="206781"/>
                  </a:lnTo>
                  <a:lnTo>
                    <a:pt x="4267847" y="169252"/>
                  </a:lnTo>
                  <a:lnTo>
                    <a:pt x="4267847" y="123139"/>
                  </a:lnTo>
                  <a:close/>
                </a:path>
                <a:path w="4786630" h="283210">
                  <a:moveTo>
                    <a:pt x="4439793" y="124536"/>
                  </a:moveTo>
                  <a:lnTo>
                    <a:pt x="4438662" y="110172"/>
                  </a:lnTo>
                  <a:lnTo>
                    <a:pt x="4435272" y="97370"/>
                  </a:lnTo>
                  <a:lnTo>
                    <a:pt x="4433328" y="93548"/>
                  </a:lnTo>
                  <a:lnTo>
                    <a:pt x="4429607" y="86144"/>
                  </a:lnTo>
                  <a:lnTo>
                    <a:pt x="4421670" y="76466"/>
                  </a:lnTo>
                  <a:lnTo>
                    <a:pt x="4411865" y="68694"/>
                  </a:lnTo>
                  <a:lnTo>
                    <a:pt x="4402150" y="63957"/>
                  </a:lnTo>
                  <a:lnTo>
                    <a:pt x="4402150" y="114376"/>
                  </a:lnTo>
                  <a:lnTo>
                    <a:pt x="4402150" y="178295"/>
                  </a:lnTo>
                  <a:lnTo>
                    <a:pt x="4399686" y="186131"/>
                  </a:lnTo>
                  <a:lnTo>
                    <a:pt x="4389844" y="196532"/>
                  </a:lnTo>
                  <a:lnTo>
                    <a:pt x="4382630" y="199123"/>
                  </a:lnTo>
                  <a:lnTo>
                    <a:pt x="4363555" y="199123"/>
                  </a:lnTo>
                  <a:lnTo>
                    <a:pt x="4356328" y="196532"/>
                  </a:lnTo>
                  <a:lnTo>
                    <a:pt x="4346524" y="186131"/>
                  </a:lnTo>
                  <a:lnTo>
                    <a:pt x="4344086" y="178295"/>
                  </a:lnTo>
                  <a:lnTo>
                    <a:pt x="4344086" y="114376"/>
                  </a:lnTo>
                  <a:lnTo>
                    <a:pt x="4346524" y="106553"/>
                  </a:lnTo>
                  <a:lnTo>
                    <a:pt x="4356328" y="96151"/>
                  </a:lnTo>
                  <a:lnTo>
                    <a:pt x="4363555" y="93548"/>
                  </a:lnTo>
                  <a:lnTo>
                    <a:pt x="4382630" y="93548"/>
                  </a:lnTo>
                  <a:lnTo>
                    <a:pt x="4389844" y="96151"/>
                  </a:lnTo>
                  <a:lnTo>
                    <a:pt x="4394733" y="101384"/>
                  </a:lnTo>
                  <a:lnTo>
                    <a:pt x="4399686" y="106553"/>
                  </a:lnTo>
                  <a:lnTo>
                    <a:pt x="4402150" y="63957"/>
                  </a:lnTo>
                  <a:lnTo>
                    <a:pt x="4373118" y="58699"/>
                  </a:lnTo>
                  <a:lnTo>
                    <a:pt x="4358602" y="59804"/>
                  </a:lnTo>
                  <a:lnTo>
                    <a:pt x="4316539" y="86144"/>
                  </a:lnTo>
                  <a:lnTo>
                    <a:pt x="4306392" y="124536"/>
                  </a:lnTo>
                  <a:lnTo>
                    <a:pt x="4306367" y="167843"/>
                  </a:lnTo>
                  <a:lnTo>
                    <a:pt x="4307497" y="182333"/>
                  </a:lnTo>
                  <a:lnTo>
                    <a:pt x="4334256" y="223977"/>
                  </a:lnTo>
                  <a:lnTo>
                    <a:pt x="4373118" y="233972"/>
                  </a:lnTo>
                  <a:lnTo>
                    <a:pt x="4387596" y="232854"/>
                  </a:lnTo>
                  <a:lnTo>
                    <a:pt x="4429607" y="206514"/>
                  </a:lnTo>
                  <a:lnTo>
                    <a:pt x="4433303" y="199123"/>
                  </a:lnTo>
                  <a:lnTo>
                    <a:pt x="4435272" y="195224"/>
                  </a:lnTo>
                  <a:lnTo>
                    <a:pt x="4438662" y="182333"/>
                  </a:lnTo>
                  <a:lnTo>
                    <a:pt x="4439793" y="167843"/>
                  </a:lnTo>
                  <a:lnTo>
                    <a:pt x="4439793" y="124536"/>
                  </a:lnTo>
                  <a:close/>
                </a:path>
                <a:path w="4786630" h="283210">
                  <a:moveTo>
                    <a:pt x="4618050" y="122580"/>
                  </a:moveTo>
                  <a:lnTo>
                    <a:pt x="4617021" y="108788"/>
                  </a:lnTo>
                  <a:lnTo>
                    <a:pt x="4613935" y="96443"/>
                  </a:lnTo>
                  <a:lnTo>
                    <a:pt x="4612030" y="92417"/>
                  </a:lnTo>
                  <a:lnTo>
                    <a:pt x="4608792" y="85559"/>
                  </a:lnTo>
                  <a:lnTo>
                    <a:pt x="4570717" y="59791"/>
                  </a:lnTo>
                  <a:lnTo>
                    <a:pt x="4557661" y="58699"/>
                  </a:lnTo>
                  <a:lnTo>
                    <a:pt x="4540656" y="61010"/>
                  </a:lnTo>
                  <a:lnTo>
                    <a:pt x="4528070" y="67932"/>
                  </a:lnTo>
                  <a:lnTo>
                    <a:pt x="4519879" y="79476"/>
                  </a:lnTo>
                  <a:lnTo>
                    <a:pt x="4516107" y="95643"/>
                  </a:lnTo>
                  <a:lnTo>
                    <a:pt x="4516183" y="95148"/>
                  </a:lnTo>
                  <a:lnTo>
                    <a:pt x="4522051" y="61569"/>
                  </a:lnTo>
                  <a:lnTo>
                    <a:pt x="4484967" y="61569"/>
                  </a:lnTo>
                  <a:lnTo>
                    <a:pt x="4484967" y="231101"/>
                  </a:lnTo>
                  <a:lnTo>
                    <a:pt x="4522609" y="231101"/>
                  </a:lnTo>
                  <a:lnTo>
                    <a:pt x="4522673" y="114134"/>
                  </a:lnTo>
                  <a:lnTo>
                    <a:pt x="4525149" y="106299"/>
                  </a:lnTo>
                  <a:lnTo>
                    <a:pt x="4534954" y="95643"/>
                  </a:lnTo>
                  <a:lnTo>
                    <a:pt x="4535487" y="95148"/>
                  </a:lnTo>
                  <a:lnTo>
                    <a:pt x="4542498" y="92417"/>
                  </a:lnTo>
                  <a:lnTo>
                    <a:pt x="4560976" y="92417"/>
                  </a:lnTo>
                  <a:lnTo>
                    <a:pt x="4568088" y="95148"/>
                  </a:lnTo>
                  <a:lnTo>
                    <a:pt x="4577931" y="106070"/>
                  </a:lnTo>
                  <a:lnTo>
                    <a:pt x="4578007" y="106299"/>
                  </a:lnTo>
                  <a:lnTo>
                    <a:pt x="4580407" y="114134"/>
                  </a:lnTo>
                  <a:lnTo>
                    <a:pt x="4580407" y="137972"/>
                  </a:lnTo>
                  <a:lnTo>
                    <a:pt x="4618050" y="137972"/>
                  </a:lnTo>
                  <a:lnTo>
                    <a:pt x="4618050" y="122580"/>
                  </a:lnTo>
                  <a:close/>
                </a:path>
                <a:path w="4786630" h="283210">
                  <a:moveTo>
                    <a:pt x="4786007" y="61569"/>
                  </a:moveTo>
                  <a:lnTo>
                    <a:pt x="4722965" y="61569"/>
                  </a:lnTo>
                  <a:lnTo>
                    <a:pt x="4722965" y="18605"/>
                  </a:lnTo>
                  <a:lnTo>
                    <a:pt x="4685258" y="18605"/>
                  </a:lnTo>
                  <a:lnTo>
                    <a:pt x="4685258" y="61569"/>
                  </a:lnTo>
                  <a:lnTo>
                    <a:pt x="4640821" y="61569"/>
                  </a:lnTo>
                  <a:lnTo>
                    <a:pt x="4640821" y="96977"/>
                  </a:lnTo>
                  <a:lnTo>
                    <a:pt x="4685258" y="96977"/>
                  </a:lnTo>
                  <a:lnTo>
                    <a:pt x="4685258" y="183591"/>
                  </a:lnTo>
                  <a:lnTo>
                    <a:pt x="4686071" y="194144"/>
                  </a:lnTo>
                  <a:lnTo>
                    <a:pt x="4713884" y="227952"/>
                  </a:lnTo>
                  <a:lnTo>
                    <a:pt x="4734230" y="231101"/>
                  </a:lnTo>
                  <a:lnTo>
                    <a:pt x="4783137" y="231101"/>
                  </a:lnTo>
                  <a:lnTo>
                    <a:pt x="4783137" y="195694"/>
                  </a:lnTo>
                  <a:lnTo>
                    <a:pt x="4730039" y="195694"/>
                  </a:lnTo>
                  <a:lnTo>
                    <a:pt x="4727092" y="194805"/>
                  </a:lnTo>
                  <a:lnTo>
                    <a:pt x="4723777" y="191262"/>
                  </a:lnTo>
                  <a:lnTo>
                    <a:pt x="4722965" y="188112"/>
                  </a:lnTo>
                  <a:lnTo>
                    <a:pt x="4722965" y="96977"/>
                  </a:lnTo>
                  <a:lnTo>
                    <a:pt x="4786007" y="96977"/>
                  </a:lnTo>
                  <a:lnTo>
                    <a:pt x="4786007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2352" y="1231888"/>
            <a:ext cx="8622665" cy="395605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Import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RandomForestRegressor</a:t>
            </a:r>
            <a:endParaRPr sz="2250">
              <a:latin typeface="Monaco"/>
              <a:cs typeface="Monaco"/>
            </a:endParaRPr>
          </a:p>
          <a:p>
            <a:pPr marL="871855">
              <a:lnSpc>
                <a:spcPct val="100000"/>
              </a:lnSpc>
              <a:spcBef>
                <a:spcPts val="1170"/>
              </a:spcBef>
              <a:tabLst>
                <a:tab pos="4998085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sklearn.ensemble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RandomForestRegressor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2250">
              <a:latin typeface="Monaco"/>
              <a:cs typeface="Monaco"/>
            </a:endParaRPr>
          </a:p>
          <a:p>
            <a:pPr marL="12700" marR="3442970">
              <a:lnSpc>
                <a:spcPct val="143300"/>
              </a:lnSpc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Set seed for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reproducibility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SEED = </a:t>
            </a:r>
            <a:r>
              <a:rPr sz="2250" spc="-50" dirty="0">
                <a:solidFill>
                  <a:srgbClr val="BE2F72"/>
                </a:solidFill>
                <a:latin typeface="Monaco"/>
                <a:cs typeface="Monaco"/>
              </a:rPr>
              <a:t>1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250">
              <a:latin typeface="Monaco"/>
              <a:cs typeface="Monaco"/>
            </a:endParaRPr>
          </a:p>
          <a:p>
            <a:pPr marL="12700" marR="692150">
              <a:lnSpc>
                <a:spcPct val="143300"/>
              </a:lnSpc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Instantiate a random forests regressor </a:t>
            </a:r>
            <a:r>
              <a:rPr sz="2250" spc="-20" dirty="0">
                <a:solidFill>
                  <a:srgbClr val="008600"/>
                </a:solidFill>
                <a:latin typeface="Monaco"/>
                <a:cs typeface="Monaco"/>
              </a:rPr>
              <a:t>'rf'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rf = RandomForestRegressor(random_state=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SEED)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7FA3FB1F-6759-0443-A053-80A6A2314D0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1289" y="327514"/>
            <a:ext cx="7124065" cy="1146810"/>
          </a:xfrm>
          <a:custGeom>
            <a:avLst/>
            <a:gdLst/>
            <a:ahLst/>
            <a:cxnLst/>
            <a:rect l="l" t="t" r="r" b="b"/>
            <a:pathLst>
              <a:path w="7124065" h="1146810">
                <a:moveTo>
                  <a:pt x="7047191" y="1146341"/>
                </a:moveTo>
                <a:lnTo>
                  <a:pt x="76505" y="1146341"/>
                </a:lnTo>
                <a:lnTo>
                  <a:pt x="71180" y="1145817"/>
                </a:lnTo>
                <a:lnTo>
                  <a:pt x="31920" y="1129555"/>
                </a:lnTo>
                <a:lnTo>
                  <a:pt x="4175" y="1090827"/>
                </a:lnTo>
                <a:lnTo>
                  <a:pt x="0" y="1069836"/>
                </a:lnTo>
                <a:lnTo>
                  <a:pt x="0" y="106446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1069836"/>
                </a:lnTo>
                <a:lnTo>
                  <a:pt x="7106908" y="1114421"/>
                </a:lnTo>
                <a:lnTo>
                  <a:pt x="7068182" y="1142166"/>
                </a:lnTo>
                <a:lnTo>
                  <a:pt x="7052515" y="1145817"/>
                </a:lnTo>
                <a:lnTo>
                  <a:pt x="7047191" y="114634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25720" y="386871"/>
            <a:ext cx="4820920" cy="885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95"/>
              </a:spcBef>
            </a:pP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2000" spc="4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Inspect</a:t>
            </a:r>
            <a:r>
              <a:rPr sz="2000" spc="4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rf'</a:t>
            </a:r>
            <a:r>
              <a:rPr sz="2000" spc="4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08600"/>
                </a:solidFill>
                <a:latin typeface="Monaco"/>
                <a:cs typeface="Monaco"/>
              </a:rPr>
              <a:t>s</a:t>
            </a:r>
            <a:r>
              <a:rPr sz="2000" spc="4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008600"/>
                </a:solidFill>
                <a:latin typeface="Monaco"/>
                <a:cs typeface="Monaco"/>
              </a:rPr>
              <a:t>hyperparameters 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rf.get_params()</a:t>
            </a:r>
            <a:endParaRPr sz="2000">
              <a:latin typeface="Monaco"/>
              <a:cs typeface="Monac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42512" y="327514"/>
            <a:ext cx="7124065" cy="7164705"/>
          </a:xfrm>
          <a:custGeom>
            <a:avLst/>
            <a:gdLst/>
            <a:ahLst/>
            <a:cxnLst/>
            <a:rect l="l" t="t" r="r" b="b"/>
            <a:pathLst>
              <a:path w="7124065" h="7164705">
                <a:moveTo>
                  <a:pt x="7047191" y="7164637"/>
                </a:moveTo>
                <a:lnTo>
                  <a:pt x="76504" y="7164637"/>
                </a:lnTo>
                <a:lnTo>
                  <a:pt x="71179" y="7164112"/>
                </a:lnTo>
                <a:lnTo>
                  <a:pt x="31919" y="7147849"/>
                </a:lnTo>
                <a:lnTo>
                  <a:pt x="4174" y="7109122"/>
                </a:lnTo>
                <a:lnTo>
                  <a:pt x="0" y="7088131"/>
                </a:lnTo>
                <a:lnTo>
                  <a:pt x="0" y="7082755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7088131"/>
                </a:lnTo>
                <a:lnTo>
                  <a:pt x="7106909" y="7132715"/>
                </a:lnTo>
                <a:lnTo>
                  <a:pt x="7068181" y="7160460"/>
                </a:lnTo>
                <a:lnTo>
                  <a:pt x="7052515" y="7164112"/>
                </a:lnTo>
                <a:lnTo>
                  <a:pt x="7047191" y="7164637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76943" y="386871"/>
            <a:ext cx="5130165" cy="6903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005" marR="468630" indent="-154940">
              <a:lnSpc>
                <a:spcPct val="141000"/>
              </a:lnSpc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{'bootstrap':</a:t>
            </a:r>
            <a:r>
              <a:rPr sz="2000" spc="11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onaco"/>
                <a:cs typeface="Monaco"/>
              </a:rPr>
              <a:t>True,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'criterion':</a:t>
            </a:r>
            <a:r>
              <a:rPr sz="2000" spc="10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onaco"/>
                <a:cs typeface="Monaco"/>
              </a:rPr>
              <a:t>'mse',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'max_depth':</a:t>
            </a:r>
            <a:r>
              <a:rPr sz="2000" spc="10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onaco"/>
                <a:cs typeface="Monaco"/>
              </a:rPr>
              <a:t>None,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'max_features':</a:t>
            </a:r>
            <a:r>
              <a:rPr sz="2000" spc="12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onaco"/>
                <a:cs typeface="Monaco"/>
              </a:rPr>
              <a:t>'auto',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'max_leaf_nodes':</a:t>
            </a:r>
            <a:r>
              <a:rPr sz="2000" spc="13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onaco"/>
                <a:cs typeface="Monaco"/>
              </a:rPr>
              <a:t>None,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'min_impurity_decrease':</a:t>
            </a:r>
            <a:r>
              <a:rPr sz="2000" spc="1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onaco"/>
                <a:cs typeface="Monaco"/>
              </a:rPr>
              <a:t>0.0,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'min_impurity_split':</a:t>
            </a:r>
            <a:r>
              <a:rPr sz="2000" spc="16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onaco"/>
                <a:cs typeface="Monaco"/>
              </a:rPr>
              <a:t>None,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'min_samples_leaf':</a:t>
            </a:r>
            <a:r>
              <a:rPr sz="2000" spc="15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onaco"/>
                <a:cs typeface="Monaco"/>
              </a:rPr>
              <a:t>1,</a:t>
            </a:r>
            <a:endParaRPr sz="2000">
              <a:latin typeface="Monaco"/>
              <a:cs typeface="Monaco"/>
            </a:endParaRPr>
          </a:p>
          <a:p>
            <a:pPr marL="167005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'min_samples_split':</a:t>
            </a:r>
            <a:r>
              <a:rPr sz="2000" spc="15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onaco"/>
                <a:cs typeface="Monaco"/>
              </a:rPr>
              <a:t>2,</a:t>
            </a:r>
            <a:endParaRPr sz="2000">
              <a:latin typeface="Monaco"/>
              <a:cs typeface="Monaco"/>
            </a:endParaRPr>
          </a:p>
          <a:p>
            <a:pPr marL="167005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'min_weight_fraction_leaf':</a:t>
            </a:r>
            <a:r>
              <a:rPr sz="2000" spc="204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Monaco"/>
                <a:cs typeface="Monaco"/>
              </a:rPr>
              <a:t>0.0,</a:t>
            </a:r>
            <a:endParaRPr sz="2000">
              <a:latin typeface="Monaco"/>
              <a:cs typeface="Monaco"/>
            </a:endParaRPr>
          </a:p>
          <a:p>
            <a:pPr marL="167005">
              <a:lnSpc>
                <a:spcPct val="100000"/>
              </a:lnSpc>
              <a:spcBef>
                <a:spcPts val="985"/>
              </a:spcBef>
            </a:pP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'n_estimators':</a:t>
            </a:r>
            <a:r>
              <a:rPr sz="2000" spc="114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onaco"/>
                <a:cs typeface="Monaco"/>
              </a:rPr>
              <a:t>10,</a:t>
            </a:r>
            <a:endParaRPr sz="2000">
              <a:latin typeface="Monaco"/>
              <a:cs typeface="Monaco"/>
            </a:endParaRPr>
          </a:p>
          <a:p>
            <a:pPr marL="167005" marR="2015489">
              <a:lnSpc>
                <a:spcPct val="141000"/>
              </a:lnSpc>
            </a:pP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'n_jobs':</a:t>
            </a:r>
            <a:r>
              <a:rPr sz="2000" spc="9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-</a:t>
            </a:r>
            <a:r>
              <a:rPr sz="2000" spc="-25" dirty="0">
                <a:solidFill>
                  <a:srgbClr val="FFFFFF"/>
                </a:solidFill>
                <a:latin typeface="Monaco"/>
                <a:cs typeface="Monaco"/>
              </a:rPr>
              <a:t>1,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'oob_score':</a:t>
            </a:r>
            <a:r>
              <a:rPr sz="2000" spc="10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onaco"/>
                <a:cs typeface="Monaco"/>
              </a:rPr>
              <a:t>False,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'random_state':</a:t>
            </a:r>
            <a:r>
              <a:rPr sz="2000" spc="114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onaco"/>
                <a:cs typeface="Monaco"/>
              </a:rPr>
              <a:t>1,</a:t>
            </a:r>
            <a:endParaRPr sz="2000">
              <a:latin typeface="Monaco"/>
              <a:cs typeface="Monaco"/>
            </a:endParaRPr>
          </a:p>
          <a:p>
            <a:pPr marL="167005" marR="1861185">
              <a:lnSpc>
                <a:spcPct val="141000"/>
              </a:lnSpc>
            </a:pP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'verbose':</a:t>
            </a:r>
            <a:r>
              <a:rPr sz="2000" spc="9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onaco"/>
                <a:cs typeface="Monaco"/>
              </a:rPr>
              <a:t>0, </a:t>
            </a:r>
            <a:r>
              <a:rPr sz="2000" dirty="0">
                <a:solidFill>
                  <a:srgbClr val="FFFFFF"/>
                </a:solidFill>
                <a:latin typeface="Monaco"/>
                <a:cs typeface="Monaco"/>
              </a:rPr>
              <a:t>'warm_start':</a:t>
            </a:r>
            <a:r>
              <a:rPr sz="2000" spc="11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onaco"/>
                <a:cs typeface="Monaco"/>
              </a:rPr>
              <a:t>False}</a:t>
            </a:r>
            <a:endParaRPr sz="2000">
              <a:latin typeface="Monaco"/>
              <a:cs typeface="Monaco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F244B8-67C6-E6C8-5A66-C9AC8A65E6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327513"/>
            <a:ext cx="14574919" cy="736934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7724" y="384004"/>
            <a:ext cx="2946400" cy="84455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90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1900" spc="2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08600"/>
                </a:solidFill>
                <a:latin typeface="Monaco"/>
                <a:cs typeface="Monaco"/>
              </a:rPr>
              <a:t>Basic</a:t>
            </a:r>
            <a:r>
              <a:rPr sz="1900" spc="3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900" spc="-10" dirty="0">
                <a:solidFill>
                  <a:srgbClr val="008600"/>
                </a:solidFill>
                <a:latin typeface="Monaco"/>
                <a:cs typeface="Monaco"/>
              </a:rPr>
              <a:t>imports</a:t>
            </a:r>
            <a:endParaRPr sz="1900">
              <a:latin typeface="Monaco"/>
              <a:cs typeface="Monaco"/>
            </a:endParaRPr>
          </a:p>
          <a:p>
            <a:pPr marL="742315">
              <a:lnSpc>
                <a:spcPct val="100000"/>
              </a:lnSpc>
              <a:spcBef>
                <a:spcPts val="940"/>
              </a:spcBef>
            </a:pP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sklearn.metrics</a:t>
            </a:r>
            <a:endParaRPr sz="1900">
              <a:latin typeface="Monaco"/>
              <a:cs typeface="Monac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6557" y="910502"/>
            <a:ext cx="3676650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225165" algn="l"/>
              </a:tabLst>
            </a:pP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mean_squared_error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1900" spc="-25" dirty="0">
                <a:solidFill>
                  <a:srgbClr val="04182D"/>
                </a:solidFill>
                <a:latin typeface="Monaco"/>
                <a:cs typeface="Monaco"/>
              </a:rPr>
              <a:t>MSE</a:t>
            </a:r>
            <a:endParaRPr sz="1900">
              <a:latin typeface="Monaco"/>
              <a:cs typeface="Monac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724" y="1202820"/>
            <a:ext cx="8204200" cy="6167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72845" indent="729615">
              <a:lnSpc>
                <a:spcPct val="141400"/>
              </a:lnSpc>
              <a:spcBef>
                <a:spcPts val="95"/>
              </a:spcBef>
              <a:tabLst>
                <a:tab pos="5269865" algn="l"/>
              </a:tabLst>
            </a:pP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sklearn.model_selection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GridSearchCV </a:t>
            </a:r>
            <a:r>
              <a:rPr sz="190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1900" spc="3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08600"/>
                </a:solidFill>
                <a:latin typeface="Monaco"/>
                <a:cs typeface="Monaco"/>
              </a:rPr>
              <a:t>Define</a:t>
            </a:r>
            <a:r>
              <a:rPr sz="1900" spc="4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08600"/>
                </a:solidFill>
                <a:latin typeface="Monaco"/>
                <a:cs typeface="Monaco"/>
              </a:rPr>
              <a:t>a</a:t>
            </a:r>
            <a:r>
              <a:rPr sz="1900" spc="4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08600"/>
                </a:solidFill>
                <a:latin typeface="Monaco"/>
                <a:cs typeface="Monaco"/>
              </a:rPr>
              <a:t>grid</a:t>
            </a:r>
            <a:r>
              <a:rPr sz="1900" spc="4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08600"/>
                </a:solidFill>
                <a:latin typeface="Monaco"/>
                <a:cs typeface="Monaco"/>
              </a:rPr>
              <a:t>of</a:t>
            </a:r>
            <a:r>
              <a:rPr sz="1900" spc="4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08600"/>
                </a:solidFill>
                <a:latin typeface="Monaco"/>
                <a:cs typeface="Monaco"/>
              </a:rPr>
              <a:t>hyperparameter</a:t>
            </a:r>
            <a:r>
              <a:rPr sz="1900" spc="4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900" spc="-10" dirty="0">
                <a:solidFill>
                  <a:srgbClr val="008600"/>
                </a:solidFill>
                <a:latin typeface="Monaco"/>
                <a:cs typeface="Monaco"/>
              </a:rPr>
              <a:t>'params_rf' 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params_rf</a:t>
            </a:r>
            <a:r>
              <a:rPr sz="1900" spc="4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900" spc="4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spc="-50" dirty="0">
                <a:solidFill>
                  <a:srgbClr val="04182D"/>
                </a:solidFill>
                <a:latin typeface="Monaco"/>
                <a:cs typeface="Monaco"/>
              </a:rPr>
              <a:t>{</a:t>
            </a:r>
            <a:endParaRPr sz="1900">
              <a:latin typeface="Monaco"/>
              <a:cs typeface="Monaco"/>
            </a:endParaRPr>
          </a:p>
          <a:p>
            <a:pPr marL="2056764">
              <a:lnSpc>
                <a:spcPct val="100000"/>
              </a:lnSpc>
              <a:spcBef>
                <a:spcPts val="945"/>
              </a:spcBef>
            </a:pPr>
            <a:r>
              <a:rPr sz="1900" dirty="0">
                <a:solidFill>
                  <a:srgbClr val="BE2F72"/>
                </a:solidFill>
                <a:latin typeface="Monaco"/>
                <a:cs typeface="Monaco"/>
              </a:rPr>
              <a:t>'n_estimators'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1900" spc="6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[</a:t>
            </a:r>
            <a:r>
              <a:rPr sz="1900" dirty="0">
                <a:solidFill>
                  <a:srgbClr val="BE2F72"/>
                </a:solidFill>
                <a:latin typeface="Monaco"/>
                <a:cs typeface="Monaco"/>
              </a:rPr>
              <a:t>300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900" spc="6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BE2F72"/>
                </a:solidFill>
                <a:latin typeface="Monaco"/>
                <a:cs typeface="Monaco"/>
              </a:rPr>
              <a:t>400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900" spc="6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spc="-10" dirty="0">
                <a:solidFill>
                  <a:srgbClr val="BE2F72"/>
                </a:solidFill>
                <a:latin typeface="Monaco"/>
                <a:cs typeface="Monaco"/>
              </a:rPr>
              <a:t>500</a:t>
            </a: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],</a:t>
            </a:r>
            <a:endParaRPr sz="1900">
              <a:latin typeface="Monaco"/>
              <a:cs typeface="Monaco"/>
            </a:endParaRPr>
          </a:p>
          <a:p>
            <a:pPr marL="2056764">
              <a:lnSpc>
                <a:spcPct val="100000"/>
              </a:lnSpc>
              <a:spcBef>
                <a:spcPts val="940"/>
              </a:spcBef>
            </a:pPr>
            <a:r>
              <a:rPr sz="1900" dirty="0">
                <a:solidFill>
                  <a:srgbClr val="BE2F72"/>
                </a:solidFill>
                <a:latin typeface="Monaco"/>
                <a:cs typeface="Monaco"/>
              </a:rPr>
              <a:t>'max_depth'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1900" spc="4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[</a:t>
            </a:r>
            <a:r>
              <a:rPr sz="1900" dirty="0">
                <a:solidFill>
                  <a:srgbClr val="BE2F72"/>
                </a:solidFill>
                <a:latin typeface="Monaco"/>
                <a:cs typeface="Monaco"/>
              </a:rPr>
              <a:t>4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900" spc="4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BE2F72"/>
                </a:solidFill>
                <a:latin typeface="Monaco"/>
                <a:cs typeface="Monaco"/>
              </a:rPr>
              <a:t>6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900" spc="4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spc="-25" dirty="0">
                <a:solidFill>
                  <a:srgbClr val="BE2F72"/>
                </a:solidFill>
                <a:latin typeface="Monaco"/>
                <a:cs typeface="Monaco"/>
              </a:rPr>
              <a:t>8</a:t>
            </a:r>
            <a:r>
              <a:rPr sz="1900" spc="-25" dirty="0">
                <a:solidFill>
                  <a:srgbClr val="04182D"/>
                </a:solidFill>
                <a:latin typeface="Monaco"/>
                <a:cs typeface="Monaco"/>
              </a:rPr>
              <a:t>],</a:t>
            </a:r>
            <a:endParaRPr sz="1900">
              <a:latin typeface="Monaco"/>
              <a:cs typeface="Monaco"/>
            </a:endParaRPr>
          </a:p>
          <a:p>
            <a:pPr marL="2056764">
              <a:lnSpc>
                <a:spcPct val="100000"/>
              </a:lnSpc>
              <a:spcBef>
                <a:spcPts val="944"/>
              </a:spcBef>
            </a:pPr>
            <a:r>
              <a:rPr sz="1900" dirty="0">
                <a:solidFill>
                  <a:srgbClr val="BE2F72"/>
                </a:solidFill>
                <a:latin typeface="Monaco"/>
                <a:cs typeface="Monaco"/>
              </a:rPr>
              <a:t>'min_samples_leaf'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1900" spc="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[</a:t>
            </a:r>
            <a:r>
              <a:rPr sz="1900" dirty="0">
                <a:solidFill>
                  <a:srgbClr val="BE2F72"/>
                </a:solidFill>
                <a:latin typeface="Monaco"/>
                <a:cs typeface="Monaco"/>
              </a:rPr>
              <a:t>0.1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900" spc="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spc="-10" dirty="0">
                <a:solidFill>
                  <a:srgbClr val="BE2F72"/>
                </a:solidFill>
                <a:latin typeface="Monaco"/>
                <a:cs typeface="Monaco"/>
              </a:rPr>
              <a:t>0.2</a:t>
            </a: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],</a:t>
            </a:r>
            <a:endParaRPr sz="1900">
              <a:latin typeface="Monaco"/>
              <a:cs typeface="Monaco"/>
            </a:endParaRPr>
          </a:p>
          <a:p>
            <a:pPr marL="2056764">
              <a:lnSpc>
                <a:spcPct val="100000"/>
              </a:lnSpc>
              <a:spcBef>
                <a:spcPts val="944"/>
              </a:spcBef>
            </a:pPr>
            <a:r>
              <a:rPr sz="1900" dirty="0">
                <a:solidFill>
                  <a:srgbClr val="BE2F72"/>
                </a:solidFill>
                <a:latin typeface="Monaco"/>
                <a:cs typeface="Monaco"/>
              </a:rPr>
              <a:t>'max_features'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1900" spc="8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[</a:t>
            </a:r>
            <a:r>
              <a:rPr sz="1900" dirty="0">
                <a:solidFill>
                  <a:srgbClr val="BE2F72"/>
                </a:solidFill>
                <a:latin typeface="Monaco"/>
                <a:cs typeface="Monaco"/>
              </a:rPr>
              <a:t>'log2'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900" spc="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spc="-10" dirty="0">
                <a:solidFill>
                  <a:srgbClr val="BE2F72"/>
                </a:solidFill>
                <a:latin typeface="Monaco"/>
                <a:cs typeface="Monaco"/>
              </a:rPr>
              <a:t>'sqrt'</a:t>
            </a: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1900">
              <a:latin typeface="Monaco"/>
              <a:cs typeface="Monaco"/>
            </a:endParaRPr>
          </a:p>
          <a:p>
            <a:pPr marL="1910714">
              <a:lnSpc>
                <a:spcPct val="100000"/>
              </a:lnSpc>
              <a:spcBef>
                <a:spcPts val="945"/>
              </a:spcBef>
            </a:pPr>
            <a:r>
              <a:rPr sz="1900" spc="-50" dirty="0">
                <a:solidFill>
                  <a:srgbClr val="04182D"/>
                </a:solidFill>
                <a:latin typeface="Monaco"/>
                <a:cs typeface="Monaco"/>
              </a:rPr>
              <a:t>}</a:t>
            </a:r>
            <a:endParaRPr sz="190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90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1900" spc="4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08600"/>
                </a:solidFill>
                <a:latin typeface="Monaco"/>
                <a:cs typeface="Monaco"/>
              </a:rPr>
              <a:t>Instantiate</a:t>
            </a:r>
            <a:r>
              <a:rPr sz="1900" spc="5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1900" spc="-10" dirty="0">
                <a:solidFill>
                  <a:srgbClr val="008600"/>
                </a:solidFill>
                <a:latin typeface="Monaco"/>
                <a:cs typeface="Monaco"/>
              </a:rPr>
              <a:t>'grid_rf'</a:t>
            </a:r>
            <a:endParaRPr sz="190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grid_rf</a:t>
            </a:r>
            <a:r>
              <a:rPr sz="1900" spc="3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900" spc="3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GridSearchCV(estimator=rf,</a:t>
            </a:r>
            <a:endParaRPr sz="1900">
              <a:latin typeface="Monaco"/>
              <a:cs typeface="Monaco"/>
            </a:endParaRPr>
          </a:p>
          <a:p>
            <a:pPr marL="3371215" marR="1757045">
              <a:lnSpc>
                <a:spcPct val="141400"/>
              </a:lnSpc>
            </a:pP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param_grid=params_rf, cv=</a:t>
            </a:r>
            <a:r>
              <a:rPr sz="1900" spc="-10" dirty="0">
                <a:solidFill>
                  <a:srgbClr val="BE2F72"/>
                </a:solidFill>
                <a:latin typeface="Monaco"/>
                <a:cs typeface="Monaco"/>
              </a:rPr>
              <a:t>3</a:t>
            </a: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endParaRPr sz="1900">
              <a:latin typeface="Monaco"/>
              <a:cs typeface="Monaco"/>
            </a:endParaRPr>
          </a:p>
          <a:p>
            <a:pPr marL="3371215" marR="5080">
              <a:lnSpc>
                <a:spcPct val="141400"/>
              </a:lnSpc>
            </a:pP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scoring=</a:t>
            </a:r>
            <a:r>
              <a:rPr sz="1900" spc="-10" dirty="0">
                <a:solidFill>
                  <a:srgbClr val="BE2F72"/>
                </a:solidFill>
                <a:latin typeface="Monaco"/>
                <a:cs typeface="Monaco"/>
              </a:rPr>
              <a:t>'neg_mean_squared_error'</a:t>
            </a: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, verbose=</a:t>
            </a:r>
            <a:r>
              <a:rPr sz="1900" spc="-10" dirty="0">
                <a:solidFill>
                  <a:srgbClr val="BE2F72"/>
                </a:solidFill>
                <a:latin typeface="Monaco"/>
                <a:cs typeface="Monaco"/>
              </a:rPr>
              <a:t>1</a:t>
            </a: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endParaRPr sz="1900">
              <a:latin typeface="Monaco"/>
              <a:cs typeface="Monaco"/>
            </a:endParaRPr>
          </a:p>
          <a:p>
            <a:pPr marL="3371215">
              <a:lnSpc>
                <a:spcPct val="100000"/>
              </a:lnSpc>
              <a:spcBef>
                <a:spcPts val="944"/>
              </a:spcBef>
            </a:pPr>
            <a:r>
              <a:rPr sz="1900" dirty="0">
                <a:solidFill>
                  <a:srgbClr val="04182D"/>
                </a:solidFill>
                <a:latin typeface="Monaco"/>
                <a:cs typeface="Monaco"/>
              </a:rPr>
              <a:t>n_jobs=-</a:t>
            </a:r>
            <a:r>
              <a:rPr sz="1900" spc="-25" dirty="0">
                <a:solidFill>
                  <a:srgbClr val="BE2F72"/>
                </a:solidFill>
                <a:latin typeface="Monaco"/>
                <a:cs typeface="Monaco"/>
              </a:rPr>
              <a:t>1</a:t>
            </a:r>
            <a:r>
              <a:rPr sz="1900" spc="-25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1900">
              <a:latin typeface="Monaco"/>
              <a:cs typeface="Monaco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84034A-44A5-57E3-AD88-00781CB0FA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Searching</a:t>
            </a:r>
            <a:r>
              <a:rPr spc="-210" dirty="0"/>
              <a:t> </a:t>
            </a:r>
            <a:r>
              <a:rPr dirty="0"/>
              <a:t>for</a:t>
            </a:r>
            <a:r>
              <a:rPr spc="-195" dirty="0"/>
              <a:t> </a:t>
            </a:r>
            <a:r>
              <a:rPr dirty="0"/>
              <a:t>the</a:t>
            </a:r>
            <a:r>
              <a:rPr spc="-200" dirty="0"/>
              <a:t> </a:t>
            </a:r>
            <a:r>
              <a:rPr spc="-60" dirty="0"/>
              <a:t>best</a:t>
            </a:r>
            <a:r>
              <a:rPr spc="-195" dirty="0"/>
              <a:t> </a:t>
            </a:r>
            <a:r>
              <a:rPr spc="-10" dirty="0"/>
              <a:t>hyperparameters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1207770"/>
          </a:xfrm>
          <a:custGeom>
            <a:avLst/>
            <a:gdLst/>
            <a:ahLst/>
            <a:cxnLst/>
            <a:rect l="l" t="t" r="r" b="b"/>
            <a:pathLst>
              <a:path w="14575155" h="1207770">
                <a:moveTo>
                  <a:pt x="14498413" y="1207752"/>
                </a:moveTo>
                <a:lnTo>
                  <a:pt x="76505" y="1207752"/>
                </a:lnTo>
                <a:lnTo>
                  <a:pt x="71180" y="1207228"/>
                </a:lnTo>
                <a:lnTo>
                  <a:pt x="31920" y="1190966"/>
                </a:lnTo>
                <a:lnTo>
                  <a:pt x="4175" y="1152238"/>
                </a:lnTo>
                <a:lnTo>
                  <a:pt x="0" y="1131247"/>
                </a:lnTo>
                <a:lnTo>
                  <a:pt x="0" y="112587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131247"/>
                </a:lnTo>
                <a:lnTo>
                  <a:pt x="14558132" y="1175832"/>
                </a:lnTo>
                <a:lnTo>
                  <a:pt x="14519404" y="1203577"/>
                </a:lnTo>
                <a:lnTo>
                  <a:pt x="14503737" y="1207228"/>
                </a:lnTo>
                <a:lnTo>
                  <a:pt x="14498413" y="120775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620210"/>
            <a:ext cx="14575155" cy="4360545"/>
          </a:xfrm>
          <a:custGeom>
            <a:avLst/>
            <a:gdLst/>
            <a:ahLst/>
            <a:cxnLst/>
            <a:rect l="l" t="t" r="r" b="b"/>
            <a:pathLst>
              <a:path w="14575155" h="4360545">
                <a:moveTo>
                  <a:pt x="14498413" y="4360192"/>
                </a:moveTo>
                <a:lnTo>
                  <a:pt x="76505" y="4360192"/>
                </a:lnTo>
                <a:lnTo>
                  <a:pt x="71180" y="4359668"/>
                </a:lnTo>
                <a:lnTo>
                  <a:pt x="31920" y="4343406"/>
                </a:lnTo>
                <a:lnTo>
                  <a:pt x="4175" y="4304678"/>
                </a:lnTo>
                <a:lnTo>
                  <a:pt x="0" y="4283687"/>
                </a:lnTo>
                <a:lnTo>
                  <a:pt x="0" y="427831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283687"/>
                </a:lnTo>
                <a:lnTo>
                  <a:pt x="14558132" y="4328272"/>
                </a:lnTo>
                <a:lnTo>
                  <a:pt x="14519404" y="4356016"/>
                </a:lnTo>
                <a:lnTo>
                  <a:pt x="14503737" y="4359668"/>
                </a:lnTo>
                <a:lnTo>
                  <a:pt x="14498413" y="436019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4036" y="1229033"/>
            <a:ext cx="9987915" cy="19297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50690">
              <a:lnSpc>
                <a:spcPct val="137400"/>
              </a:lnSpc>
              <a:spcBef>
                <a:spcPts val="100"/>
              </a:spcBef>
            </a:pP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#</a:t>
            </a:r>
            <a:r>
              <a:rPr sz="2150" spc="-8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Fit</a:t>
            </a:r>
            <a:r>
              <a:rPr sz="2150" spc="-7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'grid_rf'</a:t>
            </a:r>
            <a:r>
              <a:rPr sz="2150" spc="-8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to</a:t>
            </a:r>
            <a:r>
              <a:rPr sz="2150" spc="-7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the</a:t>
            </a:r>
            <a:r>
              <a:rPr sz="2150" spc="-80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08600"/>
                </a:solidFill>
                <a:latin typeface="Monaco"/>
                <a:cs typeface="Monaco"/>
              </a:rPr>
              <a:t>training</a:t>
            </a:r>
            <a:r>
              <a:rPr sz="2150" spc="-75" dirty="0">
                <a:solidFill>
                  <a:srgbClr val="008600"/>
                </a:solidFill>
                <a:latin typeface="Monaco"/>
                <a:cs typeface="Monaco"/>
              </a:rPr>
              <a:t> </a:t>
            </a:r>
            <a:r>
              <a:rPr sz="2150" spc="-25" dirty="0">
                <a:solidFill>
                  <a:srgbClr val="008600"/>
                </a:solidFill>
                <a:latin typeface="Monaco"/>
                <a:cs typeface="Monaco"/>
              </a:rPr>
              <a:t>set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grid_rf.fit(X_train,</a:t>
            </a:r>
            <a:r>
              <a:rPr sz="2150" spc="-16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y_train)</a:t>
            </a:r>
            <a:endParaRPr sz="21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450"/>
              </a:spcBef>
            </a:pP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Fitting</a:t>
            </a:r>
            <a:r>
              <a:rPr sz="2150" spc="-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3</a:t>
            </a:r>
            <a:r>
              <a:rPr sz="2150" spc="-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folds</a:t>
            </a:r>
            <a:r>
              <a:rPr sz="2150" spc="-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for</a:t>
            </a:r>
            <a:r>
              <a:rPr sz="2150" spc="-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each</a:t>
            </a:r>
            <a:r>
              <a:rPr sz="2150" spc="-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of</a:t>
            </a:r>
            <a:r>
              <a:rPr sz="2150" spc="-8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36</a:t>
            </a:r>
            <a:r>
              <a:rPr sz="2150" spc="-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candidates,</a:t>
            </a:r>
            <a:r>
              <a:rPr sz="2150" spc="-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totalling</a:t>
            </a:r>
            <a:r>
              <a:rPr sz="2150" spc="-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108</a:t>
            </a:r>
            <a:r>
              <a:rPr sz="2150" spc="-8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fits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036" y="3256421"/>
            <a:ext cx="8681720" cy="352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748530" algn="l"/>
                <a:tab pos="7035165" algn="l"/>
              </a:tabLst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[Parallel(n_jobs=-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1)]:</a:t>
            </a:r>
            <a:r>
              <a:rPr sz="2150" spc="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Done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	42</a:t>
            </a:r>
            <a:r>
              <a:rPr sz="2150" spc="-4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tasks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	|</a:t>
            </a: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elapsed: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4036" y="3706770"/>
            <a:ext cx="8681720" cy="352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[Parallel(n_jobs=-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1)]:</a:t>
            </a:r>
            <a:r>
              <a:rPr sz="2150" spc="-3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Done</a:t>
            </a:r>
            <a:r>
              <a:rPr sz="2150" spc="-3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108</a:t>
            </a:r>
            <a:r>
              <a:rPr sz="2150" spc="-3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out</a:t>
            </a:r>
            <a:r>
              <a:rPr sz="2150" spc="-3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of</a:t>
            </a:r>
            <a:r>
              <a:rPr sz="2150" spc="-3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108</a:t>
            </a:r>
            <a:r>
              <a:rPr sz="2150" spc="-3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|</a:t>
            </a:r>
            <a:r>
              <a:rPr sz="2150" spc="-3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elapsed: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79663" y="3132780"/>
            <a:ext cx="2312035" cy="92646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10.0s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24.3s</a:t>
            </a:r>
            <a:r>
              <a:rPr sz="2150" spc="-9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finished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4036" y="4033477"/>
            <a:ext cx="11784330" cy="272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9114" marR="5080" indent="-1797050">
              <a:lnSpc>
                <a:spcPct val="137400"/>
              </a:lnSpc>
              <a:spcBef>
                <a:spcPts val="100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RandomForestRegressor(bootstrap=True,</a:t>
            </a:r>
            <a:r>
              <a:rPr sz="2150" spc="-29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criterion='mse',</a:t>
            </a:r>
            <a:r>
              <a:rPr sz="2150" spc="-29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max_depth=4, max_features='log2',</a:t>
            </a:r>
            <a:r>
              <a:rPr sz="2150" spc="-16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max_leaf_nodes=None, min_impurity_decrease=0.0,</a:t>
            </a:r>
            <a:r>
              <a:rPr sz="2150" spc="-204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min_impurity_split=None, min_samples_leaf=0.1,</a:t>
            </a:r>
            <a:r>
              <a:rPr sz="2150" spc="-17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min_samples_split=2, min_weight_fraction_leaf=0.0,</a:t>
            </a:r>
            <a:r>
              <a:rPr sz="2150" spc="-27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n_estimators=400,</a:t>
            </a:r>
            <a:r>
              <a:rPr sz="2150" spc="-26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n_jobs=1,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oob_score=False,</a:t>
            </a:r>
            <a:r>
              <a:rPr sz="2150" spc="-24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random_state=1,</a:t>
            </a:r>
            <a:r>
              <a:rPr sz="2150" spc="-24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verbose=0,</a:t>
            </a:r>
            <a:r>
              <a:rPr sz="2150" spc="-24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warm_start=False)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892EDB68-2595-BCB4-A70E-CC1C1BF219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977519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0" dirty="0"/>
              <a:t>Extracting</a:t>
            </a:r>
            <a:r>
              <a:rPr spc="-195" dirty="0"/>
              <a:t> </a:t>
            </a:r>
            <a:r>
              <a:rPr dirty="0"/>
              <a:t>the</a:t>
            </a:r>
            <a:r>
              <a:rPr spc="-190" dirty="0"/>
              <a:t> </a:t>
            </a:r>
            <a:r>
              <a:rPr spc="-60" dirty="0"/>
              <a:t>best</a:t>
            </a:r>
            <a:r>
              <a:rPr spc="-195" dirty="0"/>
              <a:t> </a:t>
            </a:r>
            <a:r>
              <a:rPr spc="-10" dirty="0"/>
              <a:t>hyperparameters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2292985"/>
          </a:xfrm>
          <a:custGeom>
            <a:avLst/>
            <a:gdLst/>
            <a:ahLst/>
            <a:cxnLst/>
            <a:rect l="l" t="t" r="r" b="b"/>
            <a:pathLst>
              <a:path w="14575155" h="2292985">
                <a:moveTo>
                  <a:pt x="14498413" y="2292683"/>
                </a:moveTo>
                <a:lnTo>
                  <a:pt x="76505" y="2292683"/>
                </a:lnTo>
                <a:lnTo>
                  <a:pt x="71180" y="2292159"/>
                </a:lnTo>
                <a:lnTo>
                  <a:pt x="31920" y="2275896"/>
                </a:lnTo>
                <a:lnTo>
                  <a:pt x="4175" y="2237169"/>
                </a:lnTo>
                <a:lnTo>
                  <a:pt x="0" y="2216178"/>
                </a:lnTo>
                <a:lnTo>
                  <a:pt x="0" y="221080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216178"/>
                </a:lnTo>
                <a:lnTo>
                  <a:pt x="14558132" y="2260763"/>
                </a:lnTo>
                <a:lnTo>
                  <a:pt x="14519404" y="2288508"/>
                </a:lnTo>
                <a:lnTo>
                  <a:pt x="14503737" y="2292159"/>
                </a:lnTo>
                <a:lnTo>
                  <a:pt x="14498413" y="229268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3705140"/>
            <a:ext cx="14575155" cy="2784475"/>
          </a:xfrm>
          <a:custGeom>
            <a:avLst/>
            <a:gdLst/>
            <a:ahLst/>
            <a:cxnLst/>
            <a:rect l="l" t="t" r="r" b="b"/>
            <a:pathLst>
              <a:path w="14575155" h="2784475">
                <a:moveTo>
                  <a:pt x="14498413" y="2783972"/>
                </a:moveTo>
                <a:lnTo>
                  <a:pt x="76505" y="2783972"/>
                </a:lnTo>
                <a:lnTo>
                  <a:pt x="71180" y="2783447"/>
                </a:lnTo>
                <a:lnTo>
                  <a:pt x="31920" y="2767186"/>
                </a:lnTo>
                <a:lnTo>
                  <a:pt x="4175" y="2728458"/>
                </a:lnTo>
                <a:lnTo>
                  <a:pt x="0" y="2707467"/>
                </a:lnTo>
                <a:lnTo>
                  <a:pt x="0" y="270209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707467"/>
                </a:lnTo>
                <a:lnTo>
                  <a:pt x="14558132" y="2752052"/>
                </a:lnTo>
                <a:lnTo>
                  <a:pt x="14519404" y="2779796"/>
                </a:lnTo>
                <a:lnTo>
                  <a:pt x="14503737" y="2783447"/>
                </a:lnTo>
                <a:lnTo>
                  <a:pt x="14498413" y="278397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99"/>
            <a:ext cx="8622665" cy="5020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5895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Extract the best hyperparameters from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'grid_rf'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best_hyperparams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grid_rf.best_params_</a:t>
            </a:r>
            <a:endParaRPr sz="2250">
              <a:latin typeface="Monaco"/>
              <a:cs typeface="Monaco"/>
            </a:endParaRPr>
          </a:p>
          <a:p>
            <a:pPr marL="12700" marR="5080">
              <a:lnSpc>
                <a:spcPts val="8380"/>
              </a:lnSpc>
              <a:spcBef>
                <a:spcPts val="585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(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'Best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hyperparameters:\n'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best_hyperparams)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Best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hyperparameters:</a:t>
            </a:r>
            <a:endParaRPr sz="2250">
              <a:latin typeface="Monaco"/>
              <a:cs typeface="Monaco"/>
            </a:endParaRPr>
          </a:p>
          <a:p>
            <a:pPr marL="1388110">
              <a:lnSpc>
                <a:spcPts val="2645"/>
              </a:lnSpc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{'max_depth': 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4,</a:t>
            </a:r>
            <a:endParaRPr sz="2250">
              <a:latin typeface="Monaco"/>
              <a:cs typeface="Monaco"/>
            </a:endParaRPr>
          </a:p>
          <a:p>
            <a:pPr marL="1560195" marR="2927350">
              <a:lnSpc>
                <a:spcPct val="143300"/>
              </a:lnSpc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'max_features':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'log2',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'min_samples_leaf':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0.1,</a:t>
            </a:r>
            <a:endParaRPr sz="2250">
              <a:latin typeface="Monaco"/>
              <a:cs typeface="Monaco"/>
            </a:endParaRPr>
          </a:p>
          <a:p>
            <a:pPr marL="1560195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'n_estimators':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400}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549801-EBB9-DD7C-A426-5D442FD46E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0" dirty="0"/>
              <a:t>Evaluating</a:t>
            </a:r>
            <a:r>
              <a:rPr spc="-185" dirty="0"/>
              <a:t> </a:t>
            </a:r>
            <a:r>
              <a:rPr dirty="0"/>
              <a:t>the</a:t>
            </a:r>
            <a:r>
              <a:rPr spc="-185" dirty="0"/>
              <a:t> </a:t>
            </a:r>
            <a:r>
              <a:rPr spc="-60" dirty="0"/>
              <a:t>best</a:t>
            </a:r>
            <a:r>
              <a:rPr spc="-180" dirty="0"/>
              <a:t> </a:t>
            </a:r>
            <a:r>
              <a:rPr spc="-60" dirty="0"/>
              <a:t>model</a:t>
            </a:r>
            <a:r>
              <a:rPr spc="-185" dirty="0"/>
              <a:t> </a:t>
            </a:r>
            <a:r>
              <a:rPr spc="-10" dirty="0"/>
              <a:t>performance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1"/>
                </a:moveTo>
                <a:lnTo>
                  <a:pt x="76505" y="4257841"/>
                </a:lnTo>
                <a:lnTo>
                  <a:pt x="71180" y="4257316"/>
                </a:lnTo>
                <a:lnTo>
                  <a:pt x="31920" y="4241054"/>
                </a:lnTo>
                <a:lnTo>
                  <a:pt x="4175" y="4202327"/>
                </a:lnTo>
                <a:lnTo>
                  <a:pt x="0" y="4181335"/>
                </a:lnTo>
                <a:lnTo>
                  <a:pt x="0" y="417596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5"/>
                </a:lnTo>
                <a:lnTo>
                  <a:pt x="14558132" y="4225920"/>
                </a:lnTo>
                <a:lnTo>
                  <a:pt x="14519404" y="4253665"/>
                </a:lnTo>
                <a:lnTo>
                  <a:pt x="14503737" y="4257316"/>
                </a:lnTo>
                <a:lnTo>
                  <a:pt x="14498413" y="425784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5670298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2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8"/>
                </a:lnTo>
                <a:lnTo>
                  <a:pt x="14503737" y="818290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99"/>
            <a:ext cx="9309735" cy="5020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831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Extract the best model from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'grid_rf'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best_model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grid_rf.best_estimator_</a:t>
            </a:r>
            <a:endParaRPr sz="2250">
              <a:latin typeface="Monaco"/>
              <a:cs typeface="Monaco"/>
            </a:endParaRPr>
          </a:p>
          <a:p>
            <a:pPr marL="12700" marR="3270885">
              <a:lnSpc>
                <a:spcPct val="143300"/>
              </a:lnSpc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Predict the test set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labels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y_pred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best_model.predict(X_test) </a:t>
            </a: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Evaluate the test set </a:t>
            </a:r>
            <a:r>
              <a:rPr sz="2250" spc="-20" dirty="0">
                <a:solidFill>
                  <a:srgbClr val="008600"/>
                </a:solidFill>
                <a:latin typeface="Monaco"/>
                <a:cs typeface="Monaco"/>
              </a:rPr>
              <a:t>RMSE</a:t>
            </a:r>
            <a:endParaRPr sz="2250">
              <a:latin typeface="Monaco"/>
              <a:cs typeface="Monaco"/>
            </a:endParaRPr>
          </a:p>
          <a:p>
            <a:pPr marL="12700" marR="275590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rmse_test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 MSE(y_test,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y_pred)**(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1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/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2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 </a:t>
            </a: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Print the test set </a:t>
            </a:r>
            <a:r>
              <a:rPr sz="2250" spc="-20" dirty="0">
                <a:solidFill>
                  <a:srgbClr val="008600"/>
                </a:solidFill>
                <a:latin typeface="Monaco"/>
                <a:cs typeface="Monaco"/>
              </a:rPr>
              <a:t>RMSE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(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'Test</a:t>
            </a:r>
            <a:r>
              <a:rPr sz="2250" spc="-15" dirty="0">
                <a:solidFill>
                  <a:srgbClr val="BE2F72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set RMSE</a:t>
            </a:r>
            <a:r>
              <a:rPr sz="2250" spc="-5" dirty="0">
                <a:solidFill>
                  <a:srgbClr val="BE2F72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of rf: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{:.2f}'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.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format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(rmse_test))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680"/>
              </a:spcBef>
            </a:pP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Test set RMSE of rf: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3.89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437199-20ED-2D14-EBDE-65831C757D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1608</Words>
  <Application>Microsoft Macintosh PowerPoint</Application>
  <PresentationFormat>사용자 지정</PresentationFormat>
  <Paragraphs>159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Arial</vt:lpstr>
      <vt:lpstr>Monaco</vt:lpstr>
      <vt:lpstr>Times New Roman</vt:lpstr>
      <vt:lpstr>Office Theme</vt:lpstr>
      <vt:lpstr>PowerPoint 프레젠테이션</vt:lpstr>
      <vt:lpstr>Hyperparameters</vt:lpstr>
      <vt:lpstr>What is hyperparameter tuning?</vt:lpstr>
      <vt:lpstr>Why tune hyperparameters? In sklearn , a model's default hyperparameters are not optimal for all problems. Hyperparameters should be tuned to obtain the best model performance.</vt:lpstr>
      <vt:lpstr>Approaches to hyperparameter tuning</vt:lpstr>
      <vt:lpstr>Grid search cross validation</vt:lpstr>
      <vt:lpstr>Grid search cross validation: example</vt:lpstr>
      <vt:lpstr>Inspecting the hyperparameters of a CART in sklearn</vt:lpstr>
      <vt:lpstr>Inspecting the hyperparameters of a CART in sklearn</vt:lpstr>
      <vt:lpstr>PowerPoint 프레젠테이션</vt:lpstr>
      <vt:lpstr>Extracting the best hyperparameters</vt:lpstr>
      <vt:lpstr>Extracting the best estimator</vt:lpstr>
      <vt:lpstr>PowerPoint 프레젠테이션</vt:lpstr>
      <vt:lpstr>Random Forests Hyperparameters</vt:lpstr>
      <vt:lpstr>Tuning is expensive</vt:lpstr>
      <vt:lpstr>Inspecting RF Hyperparameters in sklearn</vt:lpstr>
      <vt:lpstr>PowerPoint 프레젠테이션</vt:lpstr>
      <vt:lpstr>PowerPoint 프레젠테이션</vt:lpstr>
      <vt:lpstr>Searching for the best hyperparameters</vt:lpstr>
      <vt:lpstr>Extracting the best hyperparameters</vt:lpstr>
      <vt:lpstr>Evaluating the best model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8</cp:revision>
  <dcterms:created xsi:type="dcterms:W3CDTF">2025-01-06T13:13:23Z</dcterms:created>
  <dcterms:modified xsi:type="dcterms:W3CDTF">2025-01-06T14:12:01Z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2024-08-27T00:00:00Z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2025-01-06T00:00:00Z</vt:filetime>
  </property>
  <property fmtid="{D5CDD505-2E9C-101B-9397-08002B2CF9AE}" pid="5" name="Producer">
    <vt:lpwstr>Skia/PDF m89</vt:lpwstr>
  </property>
</Properties>
</file>