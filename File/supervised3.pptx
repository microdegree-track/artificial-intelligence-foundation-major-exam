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2" r:id="rId27"/>
    <p:sldId id="293" r:id="rId28"/>
    <p:sldId id="294" r:id="rId29"/>
    <p:sldId id="297" r:id="rId30"/>
    <p:sldId id="298" r:id="rId31"/>
    <p:sldId id="299" r:id="rId32"/>
    <p:sldId id="300" r:id="rId33"/>
    <p:sldId id="301" r:id="rId34"/>
  </p:sldIdLst>
  <p:sldSz cx="15557500" cy="8763000"/>
  <p:notesSz cx="15557500" cy="8763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95" d="100"/>
          <a:sy n="95" d="100"/>
        </p:scale>
        <p:origin x="760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742113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8812213" y="0"/>
            <a:ext cx="6742112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DA9225-95B0-4151-BDEF-56A5C8911000}" type="datetimeFigureOut">
              <a:rPr lang="ko-KR" altLang="en-US" smtClean="0"/>
              <a:t>2025. 2. 2.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5153025" y="1095375"/>
            <a:ext cx="5251450" cy="2957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555750" y="4217988"/>
            <a:ext cx="12446000" cy="34496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323263"/>
            <a:ext cx="6742113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8812213" y="8323263"/>
            <a:ext cx="6742112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C311C1-417A-4F34-961A-401D342FF3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31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8589" y="273885"/>
            <a:ext cx="11706860" cy="1388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33625" y="4907280"/>
            <a:ext cx="10890250" cy="2190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25" dirty="0"/>
              <a:t>SUPERVISED</a:t>
            </a:r>
            <a:r>
              <a:rPr dirty="0"/>
              <a:t> </a:t>
            </a:r>
            <a:r>
              <a:rPr spc="-90" dirty="0"/>
              <a:t>LEARNING</a:t>
            </a:r>
            <a:r>
              <a:rPr spc="5" dirty="0"/>
              <a:t> </a:t>
            </a:r>
            <a:r>
              <a:rPr spc="-195" dirty="0"/>
              <a:t>WITH</a:t>
            </a:r>
            <a:r>
              <a:rPr spc="10" dirty="0"/>
              <a:t> </a:t>
            </a:r>
            <a:r>
              <a:rPr spc="-185" dirty="0"/>
              <a:t>SCIKIT-</a:t>
            </a:r>
            <a:r>
              <a:rPr spc="-10" dirty="0"/>
              <a:t>LEARN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EAD47-63A6-4EBB-B6E0-F46FAD3F4AC2}" type="datetime1">
              <a:rPr lang="en-US" altLang="ko-KR" smtClean="0"/>
              <a:t>2/2/25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4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25" dirty="0"/>
              <a:t>SUPERVISED</a:t>
            </a:r>
            <a:r>
              <a:rPr dirty="0"/>
              <a:t> </a:t>
            </a:r>
            <a:r>
              <a:rPr spc="-90" dirty="0"/>
              <a:t>LEARNING</a:t>
            </a:r>
            <a:r>
              <a:rPr spc="5" dirty="0"/>
              <a:t> </a:t>
            </a:r>
            <a:r>
              <a:rPr spc="-195" dirty="0"/>
              <a:t>WITH</a:t>
            </a:r>
            <a:r>
              <a:rPr spc="10" dirty="0"/>
              <a:t> </a:t>
            </a:r>
            <a:r>
              <a:rPr spc="-185" dirty="0"/>
              <a:t>SCIKIT-</a:t>
            </a:r>
            <a:r>
              <a:rPr spc="-10" dirty="0"/>
              <a:t>LEARN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0A909-8CE4-4D9A-AC6F-0A1CAF05D3E9}" type="datetime1">
              <a:rPr lang="en-US" altLang="ko-KR" smtClean="0"/>
              <a:t>2/2/25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77875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012112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25" dirty="0"/>
              <a:t>SUPERVISED</a:t>
            </a:r>
            <a:r>
              <a:rPr dirty="0"/>
              <a:t> </a:t>
            </a:r>
            <a:r>
              <a:rPr spc="-90" dirty="0"/>
              <a:t>LEARNING</a:t>
            </a:r>
            <a:r>
              <a:rPr spc="5" dirty="0"/>
              <a:t> </a:t>
            </a:r>
            <a:r>
              <a:rPr spc="-195" dirty="0"/>
              <a:t>WITH</a:t>
            </a:r>
            <a:r>
              <a:rPr spc="10" dirty="0"/>
              <a:t> </a:t>
            </a:r>
            <a:r>
              <a:rPr spc="-185" dirty="0"/>
              <a:t>SCIKIT-</a:t>
            </a:r>
            <a:r>
              <a:rPr spc="-10" dirty="0"/>
              <a:t>LEARN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F411D-2F49-4372-A1DD-F42B0150545B}" type="datetime1">
              <a:rPr lang="en-US" altLang="ko-KR" smtClean="0"/>
              <a:t>2/2/25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25" dirty="0"/>
              <a:t>SUPERVISED</a:t>
            </a:r>
            <a:r>
              <a:rPr dirty="0"/>
              <a:t> </a:t>
            </a:r>
            <a:r>
              <a:rPr spc="-90" dirty="0"/>
              <a:t>LEARNING</a:t>
            </a:r>
            <a:r>
              <a:rPr spc="5" dirty="0"/>
              <a:t> </a:t>
            </a:r>
            <a:r>
              <a:rPr spc="-195" dirty="0"/>
              <a:t>WITH</a:t>
            </a:r>
            <a:r>
              <a:rPr spc="10" dirty="0"/>
              <a:t> </a:t>
            </a:r>
            <a:r>
              <a:rPr spc="-185" dirty="0"/>
              <a:t>SCIKIT-</a:t>
            </a:r>
            <a:r>
              <a:rPr spc="-10" dirty="0"/>
              <a:t>LEARN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78D08-9AA8-4717-9998-135C271BF9E4}" type="datetime1">
              <a:rPr lang="en-US" altLang="ko-KR" smtClean="0"/>
              <a:t>2/2/25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25" dirty="0"/>
              <a:t>SUPERVISED</a:t>
            </a:r>
            <a:r>
              <a:rPr dirty="0"/>
              <a:t> </a:t>
            </a:r>
            <a:r>
              <a:rPr spc="-90" dirty="0"/>
              <a:t>LEARNING</a:t>
            </a:r>
            <a:r>
              <a:rPr spc="5" dirty="0"/>
              <a:t> </a:t>
            </a:r>
            <a:r>
              <a:rPr spc="-195" dirty="0"/>
              <a:t>WITH</a:t>
            </a:r>
            <a:r>
              <a:rPr spc="10" dirty="0"/>
              <a:t> </a:t>
            </a:r>
            <a:r>
              <a:rPr spc="-185" dirty="0"/>
              <a:t>SCIKIT-</a:t>
            </a:r>
            <a:r>
              <a:rPr spc="-10" dirty="0"/>
              <a:t>LEARN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D876D-53D5-4F13-91BE-D9B9BBFCEF61}" type="datetime1">
              <a:rPr lang="en-US" altLang="ko-KR" smtClean="0"/>
              <a:t>2/2/25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8024393"/>
            <a:ext cx="15557500" cy="20955"/>
          </a:xfrm>
          <a:custGeom>
            <a:avLst/>
            <a:gdLst/>
            <a:ahLst/>
            <a:cxnLst/>
            <a:rect l="l" t="t" r="r" b="b"/>
            <a:pathLst>
              <a:path w="15557500" h="20954">
                <a:moveTo>
                  <a:pt x="15557498" y="20470"/>
                </a:moveTo>
                <a:lnTo>
                  <a:pt x="0" y="20470"/>
                </a:lnTo>
                <a:lnTo>
                  <a:pt x="0" y="0"/>
                </a:lnTo>
                <a:lnTo>
                  <a:pt x="15557498" y="0"/>
                </a:lnTo>
                <a:lnTo>
                  <a:pt x="15557498" y="20470"/>
                </a:lnTo>
                <a:close/>
              </a:path>
            </a:pathLst>
          </a:custGeom>
          <a:solidFill>
            <a:srgbClr val="E4E1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8589" y="273861"/>
            <a:ext cx="11242040" cy="7137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72949" y="2157137"/>
            <a:ext cx="7570470" cy="2334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146201" y="8207389"/>
            <a:ext cx="6096634" cy="371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4182D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25" dirty="0"/>
              <a:t>SUPERVISED</a:t>
            </a:r>
            <a:r>
              <a:rPr dirty="0"/>
              <a:t> </a:t>
            </a:r>
            <a:r>
              <a:rPr spc="-90" dirty="0"/>
              <a:t>LEARNING</a:t>
            </a:r>
            <a:r>
              <a:rPr spc="5" dirty="0"/>
              <a:t> </a:t>
            </a:r>
            <a:r>
              <a:rPr spc="-195" dirty="0"/>
              <a:t>WITH</a:t>
            </a:r>
            <a:r>
              <a:rPr spc="10" dirty="0"/>
              <a:t> </a:t>
            </a:r>
            <a:r>
              <a:rPr spc="-185" dirty="0"/>
              <a:t>SCIKIT-</a:t>
            </a:r>
            <a:r>
              <a:rPr spc="-10" dirty="0"/>
              <a:t>LEARN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77875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5215B9-3D7B-4F99-91F9-988E413515EF}" type="datetime1">
              <a:rPr lang="en-US" altLang="ko-KR" smtClean="0"/>
              <a:t>2/2/25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01400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558165" marR="488950" algn="ctr">
              <a:lnSpc>
                <a:spcPts val="6770"/>
              </a:lnSpc>
              <a:spcBef>
                <a:spcPts val="1130"/>
              </a:spcBef>
            </a:pPr>
            <a:r>
              <a:rPr spc="-420" dirty="0"/>
              <a:t>How</a:t>
            </a:r>
            <a:r>
              <a:rPr spc="-335" dirty="0"/>
              <a:t> </a:t>
            </a:r>
            <a:r>
              <a:rPr spc="-250" dirty="0"/>
              <a:t>good</a:t>
            </a:r>
            <a:r>
              <a:rPr spc="-320" dirty="0"/>
              <a:t> </a:t>
            </a:r>
            <a:r>
              <a:rPr spc="-370" dirty="0"/>
              <a:t>is</a:t>
            </a:r>
            <a:r>
              <a:rPr spc="-315" dirty="0"/>
              <a:t> </a:t>
            </a:r>
            <a:r>
              <a:rPr spc="-330" dirty="0"/>
              <a:t>your </a:t>
            </a:r>
            <a:r>
              <a:rPr spc="-385" dirty="0"/>
              <a:t>model?</a:t>
            </a:r>
          </a:p>
          <a:p>
            <a:pPr algn="ctr">
              <a:lnSpc>
                <a:spcPct val="100000"/>
              </a:lnSpc>
              <a:spcBef>
                <a:spcPts val="910"/>
              </a:spcBef>
              <a:tabLst>
                <a:tab pos="2252345" algn="l"/>
                <a:tab pos="4152900" algn="l"/>
                <a:tab pos="5172710" algn="l"/>
              </a:tabLst>
            </a:pPr>
            <a:r>
              <a:rPr sz="2250" spc="-150" dirty="0"/>
              <a:t>S</a:t>
            </a:r>
            <a:r>
              <a:rPr sz="2250" spc="-335" dirty="0"/>
              <a:t> </a:t>
            </a:r>
            <a:r>
              <a:rPr sz="2250" spc="-125" dirty="0"/>
              <a:t>U</a:t>
            </a:r>
            <a:r>
              <a:rPr sz="2250" spc="-330" dirty="0"/>
              <a:t> </a:t>
            </a:r>
            <a:r>
              <a:rPr sz="2250" spc="-95" dirty="0"/>
              <a:t>P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0" dirty="0"/>
              <a:t> </a:t>
            </a:r>
            <a:r>
              <a:rPr sz="2250" spc="-254" dirty="0"/>
              <a:t>R</a:t>
            </a:r>
            <a:r>
              <a:rPr sz="2250" spc="-335" dirty="0"/>
              <a:t> </a:t>
            </a:r>
            <a:r>
              <a:rPr sz="2250" spc="-55" dirty="0"/>
              <a:t>V</a:t>
            </a:r>
            <a:r>
              <a:rPr sz="2250" spc="-330" dirty="0"/>
              <a:t> </a:t>
            </a:r>
            <a:r>
              <a:rPr sz="2250" spc="-470" dirty="0"/>
              <a:t>I</a:t>
            </a:r>
            <a:r>
              <a:rPr sz="2250" spc="-330" dirty="0"/>
              <a:t> </a:t>
            </a:r>
            <a:r>
              <a:rPr sz="2250" spc="-150" dirty="0"/>
              <a:t>S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-50" dirty="0"/>
              <a:t>D</a:t>
            </a:r>
            <a:r>
              <a:rPr sz="2250" dirty="0"/>
              <a:t>	</a:t>
            </a:r>
            <a:r>
              <a:rPr sz="2250" spc="-100" dirty="0"/>
              <a:t>L</a:t>
            </a:r>
            <a:r>
              <a:rPr sz="2250" spc="-335" dirty="0"/>
              <a:t> </a:t>
            </a:r>
            <a:r>
              <a:rPr sz="2250" dirty="0"/>
              <a:t>E</a:t>
            </a:r>
            <a:r>
              <a:rPr sz="2250" spc="-330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0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0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30" dirty="0"/>
              <a:t>G</a:t>
            </a:r>
            <a:r>
              <a:rPr sz="2250" dirty="0"/>
              <a:t>	</a:t>
            </a:r>
            <a:r>
              <a:rPr sz="2250" spc="-170" dirty="0"/>
              <a:t>W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90" dirty="0"/>
              <a:t>T</a:t>
            </a:r>
            <a:r>
              <a:rPr sz="2250" spc="-335" dirty="0"/>
              <a:t> </a:t>
            </a:r>
            <a:r>
              <a:rPr sz="2250" spc="-50" dirty="0"/>
              <a:t>H</a:t>
            </a:r>
            <a:r>
              <a:rPr sz="2250" dirty="0"/>
              <a:t>	</a:t>
            </a:r>
            <a:r>
              <a:rPr sz="2250" spc="-150" dirty="0"/>
              <a:t>S</a:t>
            </a:r>
            <a:r>
              <a:rPr sz="2250" spc="-335" dirty="0"/>
              <a:t> </a:t>
            </a:r>
            <a:r>
              <a:rPr sz="2250" spc="210" dirty="0"/>
              <a:t>C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dirty="0"/>
              <a:t>K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35" dirty="0"/>
              <a:t>T-</a:t>
            </a:r>
            <a:r>
              <a:rPr sz="2250" spc="-330" dirty="0"/>
              <a:t> </a:t>
            </a:r>
            <a:r>
              <a:rPr sz="2250" spc="-100" dirty="0"/>
              <a:t>L</a:t>
            </a:r>
            <a:r>
              <a:rPr sz="2250" spc="-335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5" dirty="0"/>
              <a:t> </a:t>
            </a:r>
            <a:r>
              <a:rPr sz="2250" spc="-50" dirty="0"/>
              <a:t>N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5164455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Tahoma"/>
                <a:cs typeface="Tahoma"/>
              </a:rPr>
              <a:t>George</a:t>
            </a:r>
            <a:r>
              <a:rPr sz="2550" b="1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Tahoma"/>
                <a:cs typeface="Tahoma"/>
              </a:rPr>
              <a:t>Boorman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125" dirty="0">
                <a:solidFill>
                  <a:srgbClr val="FFFFFF"/>
                </a:solidFill>
                <a:latin typeface="Tahoma"/>
                <a:cs typeface="Tahoma"/>
              </a:rPr>
              <a:t>Core</a:t>
            </a:r>
            <a:r>
              <a:rPr sz="225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90" dirty="0">
                <a:solidFill>
                  <a:srgbClr val="FFFFFF"/>
                </a:solidFill>
                <a:latin typeface="Tahoma"/>
                <a:cs typeface="Tahoma"/>
              </a:rPr>
              <a:t>Curriculum</a:t>
            </a:r>
            <a:r>
              <a:rPr sz="225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85" dirty="0">
                <a:solidFill>
                  <a:srgbClr val="FFFFFF"/>
                </a:solidFill>
                <a:latin typeface="Tahoma"/>
                <a:cs typeface="Tahoma"/>
              </a:rPr>
              <a:t>Manager,</a:t>
            </a:r>
            <a:r>
              <a:rPr sz="225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160" dirty="0">
                <a:solidFill>
                  <a:srgbClr val="FFFFFF"/>
                </a:solidFill>
                <a:latin typeface="Tahoma"/>
                <a:cs typeface="Tahoma"/>
              </a:rPr>
              <a:t>DataCamp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81517B53-07BA-83C1-3416-0DC3F8755EA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</a:t>
            </a:fld>
            <a:endParaRPr lang="en-US" alt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570547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65" dirty="0"/>
              <a:t>Classification</a:t>
            </a:r>
            <a:r>
              <a:rPr spc="-85" dirty="0"/>
              <a:t> </a:t>
            </a:r>
            <a:r>
              <a:rPr spc="-160" dirty="0"/>
              <a:t>metrics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991" y="1832099"/>
            <a:ext cx="122822" cy="1228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2487151"/>
            <a:ext cx="122822" cy="12282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7056" y="1076324"/>
            <a:ext cx="7118350" cy="16630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marR="5080" indent="-368935">
              <a:lnSpc>
                <a:spcPct val="126400"/>
              </a:lnSpc>
              <a:spcBef>
                <a:spcPts val="95"/>
              </a:spcBef>
            </a:pP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Measuring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model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performance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with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accuracy: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Fraction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correctly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classified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samples</a:t>
            </a: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2095"/>
              </a:spcBef>
            </a:pP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Not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Tahoma"/>
                <a:cs typeface="Tahoma"/>
              </a:rPr>
              <a:t>always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useful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metric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7CDB9FC9-DEB6-A0AC-F371-619F035726D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</a:t>
            </a:fld>
            <a:endParaRPr lang="en-US" alt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85" dirty="0"/>
              <a:t>Class</a:t>
            </a:r>
            <a:r>
              <a:rPr spc="-235" dirty="0"/>
              <a:t> </a:t>
            </a:r>
            <a:r>
              <a:rPr spc="-135" dirty="0"/>
              <a:t>imbalance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4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991" y="1832098"/>
            <a:ext cx="122822" cy="1228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2497386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991" y="2978440"/>
            <a:ext cx="122822" cy="1228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9991" y="3633493"/>
            <a:ext cx="122822" cy="1228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9991" y="4288545"/>
            <a:ext cx="122822" cy="12282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47056" y="1076323"/>
            <a:ext cx="11908155" cy="4774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marR="3112770" indent="-368935">
              <a:lnSpc>
                <a:spcPct val="126400"/>
              </a:lnSpc>
              <a:spcBef>
                <a:spcPts val="95"/>
              </a:spcBef>
            </a:pP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Classification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for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predicting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fraudulent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bank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transactions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99%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transactions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are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legitimate;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370" dirty="0">
                <a:solidFill>
                  <a:srgbClr val="04182D"/>
                </a:solidFill>
                <a:latin typeface="Tahoma"/>
                <a:cs typeface="Tahoma"/>
              </a:rPr>
              <a:t>1%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are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fraudulent</a:t>
            </a:r>
            <a:endParaRPr sz="2550">
              <a:latin typeface="Tahoma"/>
              <a:cs typeface="Tahoma"/>
            </a:endParaRPr>
          </a:p>
          <a:p>
            <a:pPr marL="381000" marR="5080" indent="-368935">
              <a:lnSpc>
                <a:spcPct val="126400"/>
              </a:lnSpc>
              <a:spcBef>
                <a:spcPts val="1290"/>
              </a:spcBef>
            </a:pP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Could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build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classifier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that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predicts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15" dirty="0">
                <a:solidFill>
                  <a:srgbClr val="04182D"/>
                </a:solidFill>
                <a:latin typeface="Tahoma"/>
                <a:cs typeface="Tahoma"/>
              </a:rPr>
              <a:t>NONE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transactions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are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fraudulent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99%</a:t>
            </a:r>
            <a:r>
              <a:rPr sz="2550" spc="-7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accurate!</a:t>
            </a:r>
            <a:endParaRPr sz="2550">
              <a:latin typeface="Tahoma"/>
              <a:cs typeface="Tahoma"/>
            </a:endParaRPr>
          </a:p>
          <a:p>
            <a:pPr marL="381000" marR="2752090">
              <a:lnSpc>
                <a:spcPts val="5160"/>
              </a:lnSpc>
              <a:spcBef>
                <a:spcPts val="520"/>
              </a:spcBef>
            </a:pP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But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terrible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60" dirty="0">
                <a:solidFill>
                  <a:srgbClr val="04182D"/>
                </a:solidFill>
                <a:latin typeface="Tahoma"/>
                <a:cs typeface="Tahoma"/>
              </a:rPr>
              <a:t>at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actually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predicting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fraudulent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transactions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Fails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60" dirty="0">
                <a:solidFill>
                  <a:srgbClr val="04182D"/>
                </a:solidFill>
                <a:latin typeface="Tahoma"/>
                <a:cs typeface="Tahoma"/>
              </a:rPr>
              <a:t>at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its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original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purpose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2550" spc="160" dirty="0">
                <a:solidFill>
                  <a:srgbClr val="04182D"/>
                </a:solidFill>
                <a:latin typeface="Tahoma"/>
                <a:cs typeface="Tahoma"/>
              </a:rPr>
              <a:t>Class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imbalance: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Uneven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frequency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classes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160" dirty="0">
                <a:solidFill>
                  <a:srgbClr val="04182D"/>
                </a:solidFill>
                <a:latin typeface="Tahoma"/>
                <a:cs typeface="Tahoma"/>
              </a:rPr>
              <a:t>Need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a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different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85" dirty="0">
                <a:solidFill>
                  <a:srgbClr val="04182D"/>
                </a:solidFill>
                <a:latin typeface="Tahoma"/>
                <a:cs typeface="Tahoma"/>
              </a:rPr>
              <a:t>way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assess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performance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1759" y="4953833"/>
            <a:ext cx="102352" cy="10235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5608885"/>
            <a:ext cx="102352" cy="102351"/>
          </a:xfrm>
          <a:prstGeom prst="rect">
            <a:avLst/>
          </a:prstGeom>
        </p:spPr>
      </p:pic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1C5DB6E1-CF78-2E29-A66F-074B35DD661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</a:t>
            </a:fld>
            <a:endParaRPr lang="en-US" altLang="ko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ts val="5320"/>
              </a:lnSpc>
              <a:spcBef>
                <a:spcPts val="295"/>
              </a:spcBef>
            </a:pPr>
            <a:r>
              <a:rPr spc="-215" dirty="0"/>
              <a:t>Confusion</a:t>
            </a:r>
            <a:r>
              <a:rPr spc="-120" dirty="0"/>
              <a:t> </a:t>
            </a:r>
            <a:r>
              <a:rPr spc="-235" dirty="0"/>
              <a:t>matrix</a:t>
            </a:r>
            <a:r>
              <a:rPr spc="-120" dirty="0"/>
              <a:t> </a:t>
            </a:r>
            <a:r>
              <a:rPr spc="-215" dirty="0"/>
              <a:t>for</a:t>
            </a:r>
            <a:r>
              <a:rPr spc="-120" dirty="0"/>
              <a:t> </a:t>
            </a:r>
            <a:r>
              <a:rPr spc="-235" dirty="0"/>
              <a:t>assessing</a:t>
            </a:r>
            <a:r>
              <a:rPr spc="-120" dirty="0"/>
              <a:t> </a:t>
            </a:r>
            <a:r>
              <a:rPr spc="-140" dirty="0"/>
              <a:t>classification </a:t>
            </a:r>
            <a:r>
              <a:rPr spc="-95" dirty="0"/>
              <a:t>performance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026568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850105"/>
            <a:ext cx="265112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Confusion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matrix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9787" y="2497387"/>
            <a:ext cx="14430255" cy="3766552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A54584C-B27C-78A9-CE5C-052E32F7152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4</a:t>
            </a:fld>
            <a:endParaRPr lang="en-US" altLang="ko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25" dirty="0"/>
              <a:t>Assessing</a:t>
            </a:r>
            <a:r>
              <a:rPr spc="-90" dirty="0"/>
              <a:t> </a:t>
            </a:r>
            <a:r>
              <a:rPr spc="-185" dirty="0"/>
              <a:t>classification</a:t>
            </a:r>
            <a:r>
              <a:rPr spc="-85" dirty="0"/>
              <a:t> </a:t>
            </a:r>
            <a:r>
              <a:rPr spc="-130" dirty="0"/>
              <a:t>performance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787" y="1166812"/>
            <a:ext cx="14430255" cy="376655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5445124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7056" y="5268661"/>
            <a:ext cx="156845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Accuracy: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71858" y="6019660"/>
            <a:ext cx="4265932" cy="1327573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51C192F-6FE6-719D-1B0A-6D61A3C3BF2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5</a:t>
            </a:fld>
            <a:endParaRPr lang="en-US" altLang="ko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15" dirty="0"/>
              <a:t>Precision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6375" y="1166812"/>
            <a:ext cx="7964659" cy="20675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746081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7056" y="3569618"/>
            <a:ext cx="140716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Precision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23552" y="4216900"/>
            <a:ext cx="5761991" cy="10439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1759" y="5772650"/>
            <a:ext cx="102352" cy="10235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47056" y="5596187"/>
            <a:ext cx="12263120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High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precision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390" dirty="0">
                <a:solidFill>
                  <a:srgbClr val="04182D"/>
                </a:solidFill>
                <a:latin typeface="Tahoma"/>
                <a:cs typeface="Tahoma"/>
              </a:rPr>
              <a:t>=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lower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false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positive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rate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High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precision: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Not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many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legitimate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transactions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are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predicted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be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fraudulent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6427703"/>
            <a:ext cx="102352" cy="102351"/>
          </a:xfrm>
          <a:prstGeom prst="rect">
            <a:avLst/>
          </a:prstGeom>
        </p:spPr>
      </p:pic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6B83FC46-411F-3773-8BDB-198934A1B85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6</a:t>
            </a:fld>
            <a:endParaRPr lang="en-US" altLang="ko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162750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85" dirty="0"/>
              <a:t>Recall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6286" y="1166812"/>
            <a:ext cx="7944747" cy="20675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746081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7056" y="3569618"/>
            <a:ext cx="95631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Recall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22506" y="4216900"/>
            <a:ext cx="5746187" cy="98257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1759" y="5711239"/>
            <a:ext cx="102352" cy="10235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47056" y="5534776"/>
            <a:ext cx="9308465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High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recall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390" dirty="0">
                <a:solidFill>
                  <a:srgbClr val="04182D"/>
                </a:solidFill>
                <a:latin typeface="Tahoma"/>
                <a:cs typeface="Tahoma"/>
              </a:rPr>
              <a:t>=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lower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false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negative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rate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High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Tahoma"/>
                <a:cs typeface="Tahoma"/>
              </a:rPr>
              <a:t>recall: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Predicted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most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fraudulent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transactions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correctly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6366292"/>
            <a:ext cx="102352" cy="102351"/>
          </a:xfrm>
          <a:prstGeom prst="rect">
            <a:avLst/>
          </a:prstGeom>
        </p:spPr>
      </p:pic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08B182F3-CFC1-6CC5-69E6-62F4D7230B8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7</a:t>
            </a:fld>
            <a:endParaRPr lang="en-US" altLang="ko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8589" y="273885"/>
            <a:ext cx="215646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500" b="1" spc="-590" dirty="0">
                <a:solidFill>
                  <a:srgbClr val="04182D"/>
                </a:solidFill>
                <a:latin typeface="Tahoma"/>
                <a:cs typeface="Tahoma"/>
              </a:rPr>
              <a:t>F1</a:t>
            </a:r>
            <a:r>
              <a:rPr sz="4500" b="1" spc="-16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4500" b="1" spc="-150" dirty="0">
                <a:solidFill>
                  <a:srgbClr val="04182D"/>
                </a:solidFill>
                <a:latin typeface="Tahoma"/>
                <a:cs typeface="Tahoma"/>
              </a:rPr>
              <a:t>score</a:t>
            </a:r>
            <a:endParaRPr sz="45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71516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08956" y="942039"/>
            <a:ext cx="4332605" cy="8051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ts val="3625"/>
              </a:lnSpc>
              <a:spcBef>
                <a:spcPts val="120"/>
              </a:spcBef>
            </a:pPr>
            <a:r>
              <a:rPr sz="3825" spc="-232" baseline="-31590" dirty="0">
                <a:solidFill>
                  <a:srgbClr val="04182D"/>
                </a:solidFill>
                <a:latin typeface="Tahoma"/>
                <a:cs typeface="Tahoma"/>
              </a:rPr>
              <a:t>F1</a:t>
            </a:r>
            <a:r>
              <a:rPr sz="3825" spc="-15" baseline="-3159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3825" baseline="-31590" dirty="0">
                <a:solidFill>
                  <a:srgbClr val="04182D"/>
                </a:solidFill>
                <a:latin typeface="Tahoma"/>
                <a:cs typeface="Tahoma"/>
              </a:rPr>
              <a:t>Score:</a:t>
            </a:r>
            <a:r>
              <a:rPr sz="3825" spc="-15" baseline="-3159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4650" spc="-622" baseline="-25985" dirty="0">
                <a:solidFill>
                  <a:srgbClr val="04182D"/>
                </a:solidFill>
                <a:latin typeface="Lucida Sans Unicode"/>
                <a:cs typeface="Lucida Sans Unicode"/>
              </a:rPr>
              <a:t>2</a:t>
            </a:r>
            <a:r>
              <a:rPr sz="4650" spc="-375" baseline="-2598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4650" spc="-1372" baseline="-25985" dirty="0">
                <a:solidFill>
                  <a:srgbClr val="04182D"/>
                </a:solidFill>
                <a:latin typeface="Lucida Sans Unicode"/>
                <a:cs typeface="Lucida Sans Unicode"/>
              </a:rPr>
              <a:t>∗</a:t>
            </a:r>
            <a:r>
              <a:rPr sz="4650" spc="89" baseline="-2598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150" i="1" u="heavy" spc="-120" dirty="0">
                <a:solidFill>
                  <a:srgbClr val="04182D"/>
                </a:solidFill>
                <a:uFill>
                  <a:solidFill>
                    <a:srgbClr val="04182D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50" i="1" u="heavy" spc="100" dirty="0">
                <a:solidFill>
                  <a:srgbClr val="04182D"/>
                </a:solidFill>
                <a:uFill>
                  <a:solidFill>
                    <a:srgbClr val="04182D"/>
                  </a:solidFill>
                </a:uFill>
                <a:latin typeface="Times New Roman"/>
                <a:cs typeface="Times New Roman"/>
              </a:rPr>
              <a:t>precision</a:t>
            </a:r>
            <a:r>
              <a:rPr sz="2150" i="1" u="heavy" spc="35" dirty="0">
                <a:solidFill>
                  <a:srgbClr val="04182D"/>
                </a:solidFill>
                <a:uFill>
                  <a:solidFill>
                    <a:srgbClr val="04182D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50" u="heavy" spc="-635" dirty="0">
                <a:solidFill>
                  <a:srgbClr val="04182D"/>
                </a:solidFill>
                <a:uFill>
                  <a:solidFill>
                    <a:srgbClr val="04182D"/>
                  </a:solidFill>
                </a:uFill>
                <a:latin typeface="Lucida Sans Unicode"/>
                <a:cs typeface="Lucida Sans Unicode"/>
              </a:rPr>
              <a:t>∗</a:t>
            </a:r>
            <a:r>
              <a:rPr sz="2150" u="heavy" spc="-110" dirty="0">
                <a:solidFill>
                  <a:srgbClr val="04182D"/>
                </a:solidFill>
                <a:uFill>
                  <a:solidFill>
                    <a:srgbClr val="04182D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2150" i="1" u="heavy" spc="65" dirty="0">
                <a:solidFill>
                  <a:srgbClr val="04182D"/>
                </a:solidFill>
                <a:uFill>
                  <a:solidFill>
                    <a:srgbClr val="04182D"/>
                  </a:solidFill>
                </a:uFill>
                <a:latin typeface="Times New Roman"/>
                <a:cs typeface="Times New Roman"/>
              </a:rPr>
              <a:t>recall</a:t>
            </a:r>
            <a:endParaRPr sz="2150">
              <a:latin typeface="Times New Roman"/>
              <a:cs typeface="Times New Roman"/>
            </a:endParaRPr>
          </a:p>
          <a:p>
            <a:pPr marL="2110105">
              <a:lnSpc>
                <a:spcPts val="2485"/>
              </a:lnSpc>
            </a:pPr>
            <a:r>
              <a:rPr sz="2150" i="1" spc="100" dirty="0">
                <a:solidFill>
                  <a:srgbClr val="04182D"/>
                </a:solidFill>
                <a:latin typeface="Times New Roman"/>
                <a:cs typeface="Times New Roman"/>
              </a:rPr>
              <a:t>precision</a:t>
            </a:r>
            <a:r>
              <a:rPr sz="2150" i="1" spc="10" dirty="0">
                <a:solidFill>
                  <a:srgbClr val="04182D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4182D"/>
                </a:solidFill>
                <a:latin typeface="Lucida Sans Unicode"/>
                <a:cs typeface="Lucida Sans Unicode"/>
              </a:rPr>
              <a:t>+</a:t>
            </a:r>
            <a:r>
              <a:rPr sz="2150" spc="-13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150" i="1" spc="65" dirty="0">
                <a:solidFill>
                  <a:srgbClr val="04182D"/>
                </a:solidFill>
                <a:latin typeface="Times New Roman"/>
                <a:cs typeface="Times New Roman"/>
              </a:rPr>
              <a:t>recall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A16B35F-B3DD-050C-B7BC-1A2B7FE9C3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8</a:t>
            </a:fld>
            <a:endParaRPr lang="en-US" altLang="ko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823849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15" dirty="0"/>
              <a:t>Confusion</a:t>
            </a:r>
            <a:r>
              <a:rPr spc="-114" dirty="0"/>
              <a:t> </a:t>
            </a:r>
            <a:r>
              <a:rPr spc="-235" dirty="0"/>
              <a:t>matrix</a:t>
            </a:r>
            <a:r>
              <a:rPr spc="-114" dirty="0"/>
              <a:t> </a:t>
            </a:r>
            <a:r>
              <a:rPr spc="-265" dirty="0"/>
              <a:t>in</a:t>
            </a:r>
            <a:r>
              <a:rPr spc="-110" dirty="0"/>
              <a:t> </a:t>
            </a:r>
            <a:r>
              <a:rPr spc="-250" dirty="0"/>
              <a:t>scikit-</a:t>
            </a:r>
            <a:r>
              <a:rPr spc="-100" dirty="0"/>
              <a:t>learn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166812"/>
            <a:ext cx="14575155" cy="3275329"/>
            <a:chOff x="491289" y="1166812"/>
            <a:chExt cx="14575155" cy="3275329"/>
          </a:xfrm>
        </p:grpSpPr>
        <p:sp>
          <p:nvSpPr>
            <p:cNvPr id="4" name="object 4"/>
            <p:cNvSpPr/>
            <p:nvPr/>
          </p:nvSpPr>
          <p:spPr>
            <a:xfrm>
              <a:off x="491289" y="1166812"/>
              <a:ext cx="14575155" cy="3275329"/>
            </a:xfrm>
            <a:custGeom>
              <a:avLst/>
              <a:gdLst/>
              <a:ahLst/>
              <a:cxnLst/>
              <a:rect l="l" t="t" r="r" b="b"/>
              <a:pathLst>
                <a:path w="14575155" h="3275329">
                  <a:moveTo>
                    <a:pt x="14498413" y="3275262"/>
                  </a:moveTo>
                  <a:lnTo>
                    <a:pt x="76505" y="3275262"/>
                  </a:lnTo>
                  <a:lnTo>
                    <a:pt x="71180" y="3274738"/>
                  </a:lnTo>
                  <a:lnTo>
                    <a:pt x="31920" y="3258476"/>
                  </a:lnTo>
                  <a:lnTo>
                    <a:pt x="4175" y="3219748"/>
                  </a:lnTo>
                  <a:lnTo>
                    <a:pt x="0" y="3198757"/>
                  </a:lnTo>
                  <a:lnTo>
                    <a:pt x="0" y="3193381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5"/>
                  </a:lnTo>
                  <a:lnTo>
                    <a:pt x="14574918" y="3198757"/>
                  </a:lnTo>
                  <a:lnTo>
                    <a:pt x="14558132" y="3243342"/>
                  </a:lnTo>
                  <a:lnTo>
                    <a:pt x="14519404" y="3271087"/>
                  </a:lnTo>
                  <a:lnTo>
                    <a:pt x="14503737" y="3274738"/>
                  </a:lnTo>
                  <a:lnTo>
                    <a:pt x="14498413" y="3275262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2261" y="1447482"/>
              <a:ext cx="4614545" cy="283210"/>
            </a:xfrm>
            <a:custGeom>
              <a:avLst/>
              <a:gdLst/>
              <a:ahLst/>
              <a:cxnLst/>
              <a:rect l="l" t="t" r="r" b="b"/>
              <a:pathLst>
                <a:path w="4614545" h="283210">
                  <a:moveTo>
                    <a:pt x="147980" y="9994"/>
                  </a:moveTo>
                  <a:lnTo>
                    <a:pt x="93332" y="9994"/>
                  </a:lnTo>
                  <a:lnTo>
                    <a:pt x="83096" y="10769"/>
                  </a:lnTo>
                  <a:lnTo>
                    <a:pt x="49060" y="36728"/>
                  </a:lnTo>
                  <a:lnTo>
                    <a:pt x="45821" y="55473"/>
                  </a:lnTo>
                  <a:lnTo>
                    <a:pt x="45821" y="64719"/>
                  </a:lnTo>
                  <a:lnTo>
                    <a:pt x="0" y="64719"/>
                  </a:lnTo>
                  <a:lnTo>
                    <a:pt x="0" y="100114"/>
                  </a:lnTo>
                  <a:lnTo>
                    <a:pt x="45821" y="100114"/>
                  </a:lnTo>
                  <a:lnTo>
                    <a:pt x="45821" y="231101"/>
                  </a:lnTo>
                  <a:lnTo>
                    <a:pt x="83540" y="231101"/>
                  </a:lnTo>
                  <a:lnTo>
                    <a:pt x="83540" y="100114"/>
                  </a:lnTo>
                  <a:lnTo>
                    <a:pt x="147980" y="100114"/>
                  </a:lnTo>
                  <a:lnTo>
                    <a:pt x="147980" y="64719"/>
                  </a:lnTo>
                  <a:lnTo>
                    <a:pt x="83540" y="64719"/>
                  </a:lnTo>
                  <a:lnTo>
                    <a:pt x="83540" y="51892"/>
                  </a:lnTo>
                  <a:lnTo>
                    <a:pt x="84328" y="49441"/>
                  </a:lnTo>
                  <a:lnTo>
                    <a:pt x="87553" y="46215"/>
                  </a:lnTo>
                  <a:lnTo>
                    <a:pt x="90017" y="45402"/>
                  </a:lnTo>
                  <a:lnTo>
                    <a:pt x="147980" y="45402"/>
                  </a:lnTo>
                  <a:lnTo>
                    <a:pt x="147980" y="9994"/>
                  </a:lnTo>
                  <a:close/>
                </a:path>
                <a:path w="4614545" h="283210">
                  <a:moveTo>
                    <a:pt x="319646" y="122580"/>
                  </a:moveTo>
                  <a:lnTo>
                    <a:pt x="310400" y="85559"/>
                  </a:lnTo>
                  <a:lnTo>
                    <a:pt x="272326" y="59791"/>
                  </a:lnTo>
                  <a:lnTo>
                    <a:pt x="259270" y="58699"/>
                  </a:lnTo>
                  <a:lnTo>
                    <a:pt x="242265" y="61010"/>
                  </a:lnTo>
                  <a:lnTo>
                    <a:pt x="229666" y="67932"/>
                  </a:lnTo>
                  <a:lnTo>
                    <a:pt x="221488" y="79476"/>
                  </a:lnTo>
                  <a:lnTo>
                    <a:pt x="217703" y="95643"/>
                  </a:lnTo>
                  <a:lnTo>
                    <a:pt x="217792" y="95148"/>
                  </a:lnTo>
                  <a:lnTo>
                    <a:pt x="223647" y="61569"/>
                  </a:lnTo>
                  <a:lnTo>
                    <a:pt x="186575" y="61569"/>
                  </a:lnTo>
                  <a:lnTo>
                    <a:pt x="186575" y="231101"/>
                  </a:lnTo>
                  <a:lnTo>
                    <a:pt x="224218" y="231101"/>
                  </a:lnTo>
                  <a:lnTo>
                    <a:pt x="224269" y="114134"/>
                  </a:lnTo>
                  <a:lnTo>
                    <a:pt x="226758" y="106299"/>
                  </a:lnTo>
                  <a:lnTo>
                    <a:pt x="236562" y="95643"/>
                  </a:lnTo>
                  <a:lnTo>
                    <a:pt x="237083" y="95148"/>
                  </a:lnTo>
                  <a:lnTo>
                    <a:pt x="244106" y="92417"/>
                  </a:lnTo>
                  <a:lnTo>
                    <a:pt x="262572" y="92417"/>
                  </a:lnTo>
                  <a:lnTo>
                    <a:pt x="269697" y="95148"/>
                  </a:lnTo>
                  <a:lnTo>
                    <a:pt x="279527" y="106070"/>
                  </a:lnTo>
                  <a:lnTo>
                    <a:pt x="279603" y="106299"/>
                  </a:lnTo>
                  <a:lnTo>
                    <a:pt x="282003" y="114134"/>
                  </a:lnTo>
                  <a:lnTo>
                    <a:pt x="282003" y="137972"/>
                  </a:lnTo>
                  <a:lnTo>
                    <a:pt x="319646" y="137972"/>
                  </a:lnTo>
                  <a:lnTo>
                    <a:pt x="319646" y="122580"/>
                  </a:lnTo>
                  <a:close/>
                </a:path>
                <a:path w="4614545" h="283210">
                  <a:moveTo>
                    <a:pt x="485305" y="124536"/>
                  </a:moveTo>
                  <a:lnTo>
                    <a:pt x="475107" y="86131"/>
                  </a:lnTo>
                  <a:lnTo>
                    <a:pt x="447662" y="63957"/>
                  </a:lnTo>
                  <a:lnTo>
                    <a:pt x="447662" y="114363"/>
                  </a:lnTo>
                  <a:lnTo>
                    <a:pt x="447662" y="178295"/>
                  </a:lnTo>
                  <a:lnTo>
                    <a:pt x="445185" y="186131"/>
                  </a:lnTo>
                  <a:lnTo>
                    <a:pt x="435343" y="196532"/>
                  </a:lnTo>
                  <a:lnTo>
                    <a:pt x="428142" y="199123"/>
                  </a:lnTo>
                  <a:lnTo>
                    <a:pt x="409054" y="199123"/>
                  </a:lnTo>
                  <a:lnTo>
                    <a:pt x="401828" y="196532"/>
                  </a:lnTo>
                  <a:lnTo>
                    <a:pt x="392036" y="186131"/>
                  </a:lnTo>
                  <a:lnTo>
                    <a:pt x="389585" y="178295"/>
                  </a:lnTo>
                  <a:lnTo>
                    <a:pt x="389585" y="114363"/>
                  </a:lnTo>
                  <a:lnTo>
                    <a:pt x="392036" y="106553"/>
                  </a:lnTo>
                  <a:lnTo>
                    <a:pt x="401828" y="96151"/>
                  </a:lnTo>
                  <a:lnTo>
                    <a:pt x="409054" y="93535"/>
                  </a:lnTo>
                  <a:lnTo>
                    <a:pt x="428142" y="93535"/>
                  </a:lnTo>
                  <a:lnTo>
                    <a:pt x="435343" y="96151"/>
                  </a:lnTo>
                  <a:lnTo>
                    <a:pt x="440245" y="101371"/>
                  </a:lnTo>
                  <a:lnTo>
                    <a:pt x="445185" y="106553"/>
                  </a:lnTo>
                  <a:lnTo>
                    <a:pt x="447662" y="63957"/>
                  </a:lnTo>
                  <a:lnTo>
                    <a:pt x="418617" y="58699"/>
                  </a:lnTo>
                  <a:lnTo>
                    <a:pt x="404114" y="59804"/>
                  </a:lnTo>
                  <a:lnTo>
                    <a:pt x="362038" y="86131"/>
                  </a:lnTo>
                  <a:lnTo>
                    <a:pt x="351891" y="124536"/>
                  </a:lnTo>
                  <a:lnTo>
                    <a:pt x="351878" y="167843"/>
                  </a:lnTo>
                  <a:lnTo>
                    <a:pt x="352996" y="182333"/>
                  </a:lnTo>
                  <a:lnTo>
                    <a:pt x="379768" y="223964"/>
                  </a:lnTo>
                  <a:lnTo>
                    <a:pt x="418617" y="233959"/>
                  </a:lnTo>
                  <a:lnTo>
                    <a:pt x="433095" y="232854"/>
                  </a:lnTo>
                  <a:lnTo>
                    <a:pt x="475107" y="206502"/>
                  </a:lnTo>
                  <a:lnTo>
                    <a:pt x="485305" y="167843"/>
                  </a:lnTo>
                  <a:lnTo>
                    <a:pt x="485305" y="124536"/>
                  </a:lnTo>
                  <a:close/>
                </a:path>
                <a:path w="4614545" h="283210">
                  <a:moveTo>
                    <a:pt x="663549" y="105359"/>
                  </a:moveTo>
                  <a:lnTo>
                    <a:pt x="662940" y="95554"/>
                  </a:lnTo>
                  <a:lnTo>
                    <a:pt x="661873" y="90385"/>
                  </a:lnTo>
                  <a:lnTo>
                    <a:pt x="661098" y="86677"/>
                  </a:lnTo>
                  <a:lnTo>
                    <a:pt x="660450" y="85001"/>
                  </a:lnTo>
                  <a:lnTo>
                    <a:pt x="660374" y="84797"/>
                  </a:lnTo>
                  <a:lnTo>
                    <a:pt x="626402" y="58699"/>
                  </a:lnTo>
                  <a:lnTo>
                    <a:pt x="618045" y="58699"/>
                  </a:lnTo>
                  <a:lnTo>
                    <a:pt x="611365" y="61010"/>
                  </a:lnTo>
                  <a:lnTo>
                    <a:pt x="610514" y="61569"/>
                  </a:lnTo>
                  <a:lnTo>
                    <a:pt x="599694" y="70827"/>
                  </a:lnTo>
                  <a:lnTo>
                    <a:pt x="599389" y="71767"/>
                  </a:lnTo>
                  <a:lnTo>
                    <a:pt x="598830" y="70192"/>
                  </a:lnTo>
                  <a:lnTo>
                    <a:pt x="597941" y="69456"/>
                  </a:lnTo>
                  <a:lnTo>
                    <a:pt x="597941" y="78765"/>
                  </a:lnTo>
                  <a:lnTo>
                    <a:pt x="597687" y="77025"/>
                  </a:lnTo>
                  <a:lnTo>
                    <a:pt x="597814" y="76657"/>
                  </a:lnTo>
                  <a:lnTo>
                    <a:pt x="597839" y="77025"/>
                  </a:lnTo>
                  <a:lnTo>
                    <a:pt x="597941" y="78765"/>
                  </a:lnTo>
                  <a:lnTo>
                    <a:pt x="597941" y="69456"/>
                  </a:lnTo>
                  <a:lnTo>
                    <a:pt x="593369" y="65620"/>
                  </a:lnTo>
                  <a:lnTo>
                    <a:pt x="587959" y="61010"/>
                  </a:lnTo>
                  <a:lnTo>
                    <a:pt x="581291" y="58699"/>
                  </a:lnTo>
                  <a:lnTo>
                    <a:pt x="565010" y="58699"/>
                  </a:lnTo>
                  <a:lnTo>
                    <a:pt x="558431" y="61010"/>
                  </a:lnTo>
                  <a:lnTo>
                    <a:pt x="558203" y="61010"/>
                  </a:lnTo>
                  <a:lnTo>
                    <a:pt x="551053" y="67233"/>
                  </a:lnTo>
                  <a:lnTo>
                    <a:pt x="552094" y="61569"/>
                  </a:lnTo>
                  <a:lnTo>
                    <a:pt x="546138" y="61569"/>
                  </a:lnTo>
                  <a:lnTo>
                    <a:pt x="546138" y="84442"/>
                  </a:lnTo>
                  <a:lnTo>
                    <a:pt x="544741" y="77025"/>
                  </a:lnTo>
                  <a:lnTo>
                    <a:pt x="544868" y="76657"/>
                  </a:lnTo>
                  <a:lnTo>
                    <a:pt x="544906" y="77025"/>
                  </a:lnTo>
                  <a:lnTo>
                    <a:pt x="545071" y="78765"/>
                  </a:lnTo>
                  <a:lnTo>
                    <a:pt x="546138" y="84442"/>
                  </a:lnTo>
                  <a:lnTo>
                    <a:pt x="546138" y="61569"/>
                  </a:lnTo>
                  <a:lnTo>
                    <a:pt x="517525" y="61569"/>
                  </a:lnTo>
                  <a:lnTo>
                    <a:pt x="517525" y="231101"/>
                  </a:lnTo>
                  <a:lnTo>
                    <a:pt x="553212" y="231101"/>
                  </a:lnTo>
                  <a:lnTo>
                    <a:pt x="553212" y="99631"/>
                  </a:lnTo>
                  <a:lnTo>
                    <a:pt x="554075" y="95948"/>
                  </a:lnTo>
                  <a:lnTo>
                    <a:pt x="557568" y="91516"/>
                  </a:lnTo>
                  <a:lnTo>
                    <a:pt x="560095" y="90385"/>
                  </a:lnTo>
                  <a:lnTo>
                    <a:pt x="566813" y="90385"/>
                  </a:lnTo>
                  <a:lnTo>
                    <a:pt x="569328" y="91516"/>
                  </a:lnTo>
                  <a:lnTo>
                    <a:pt x="573024" y="95948"/>
                  </a:lnTo>
                  <a:lnTo>
                    <a:pt x="574179" y="99631"/>
                  </a:lnTo>
                  <a:lnTo>
                    <a:pt x="574268" y="231101"/>
                  </a:lnTo>
                  <a:lnTo>
                    <a:pt x="606806" y="231101"/>
                  </a:lnTo>
                  <a:lnTo>
                    <a:pt x="606831" y="99631"/>
                  </a:lnTo>
                  <a:lnTo>
                    <a:pt x="607860" y="95948"/>
                  </a:lnTo>
                  <a:lnTo>
                    <a:pt x="611644" y="91516"/>
                  </a:lnTo>
                  <a:lnTo>
                    <a:pt x="614197" y="90385"/>
                  </a:lnTo>
                  <a:lnTo>
                    <a:pt x="620915" y="90385"/>
                  </a:lnTo>
                  <a:lnTo>
                    <a:pt x="623379" y="91516"/>
                  </a:lnTo>
                  <a:lnTo>
                    <a:pt x="626770" y="95948"/>
                  </a:lnTo>
                  <a:lnTo>
                    <a:pt x="627786" y="99631"/>
                  </a:lnTo>
                  <a:lnTo>
                    <a:pt x="627862" y="231101"/>
                  </a:lnTo>
                  <a:lnTo>
                    <a:pt x="663549" y="231101"/>
                  </a:lnTo>
                  <a:lnTo>
                    <a:pt x="663549" y="105359"/>
                  </a:lnTo>
                  <a:close/>
                </a:path>
                <a:path w="4614545" h="283210">
                  <a:moveTo>
                    <a:pt x="3715804" y="16510"/>
                  </a:moveTo>
                  <a:lnTo>
                    <a:pt x="3713492" y="10909"/>
                  </a:lnTo>
                  <a:lnTo>
                    <a:pt x="3704259" y="2184"/>
                  </a:lnTo>
                  <a:lnTo>
                    <a:pt x="3698379" y="0"/>
                  </a:lnTo>
                  <a:lnTo>
                    <a:pt x="3678364" y="0"/>
                  </a:lnTo>
                  <a:lnTo>
                    <a:pt x="3672497" y="2184"/>
                  </a:lnTo>
                  <a:lnTo>
                    <a:pt x="3663251" y="10909"/>
                  </a:lnTo>
                  <a:lnTo>
                    <a:pt x="3660952" y="16510"/>
                  </a:lnTo>
                  <a:lnTo>
                    <a:pt x="3660952" y="30264"/>
                  </a:lnTo>
                  <a:lnTo>
                    <a:pt x="3663213" y="35814"/>
                  </a:lnTo>
                  <a:lnTo>
                    <a:pt x="3667734" y="40017"/>
                  </a:lnTo>
                  <a:lnTo>
                    <a:pt x="3672306" y="44170"/>
                  </a:lnTo>
                  <a:lnTo>
                    <a:pt x="3678224" y="46240"/>
                  </a:lnTo>
                  <a:lnTo>
                    <a:pt x="3698290" y="46240"/>
                  </a:lnTo>
                  <a:lnTo>
                    <a:pt x="3704145" y="44170"/>
                  </a:lnTo>
                  <a:lnTo>
                    <a:pt x="3713492" y="35814"/>
                  </a:lnTo>
                  <a:lnTo>
                    <a:pt x="3715804" y="30264"/>
                  </a:lnTo>
                  <a:lnTo>
                    <a:pt x="3715804" y="16510"/>
                  </a:lnTo>
                  <a:close/>
                </a:path>
                <a:path w="4614545" h="283210">
                  <a:moveTo>
                    <a:pt x="3763099" y="195694"/>
                  </a:moveTo>
                  <a:lnTo>
                    <a:pt x="3710063" y="195694"/>
                  </a:lnTo>
                  <a:lnTo>
                    <a:pt x="3710063" y="61569"/>
                  </a:lnTo>
                  <a:lnTo>
                    <a:pt x="3623653" y="61569"/>
                  </a:lnTo>
                  <a:lnTo>
                    <a:pt x="3623653" y="96964"/>
                  </a:lnTo>
                  <a:lnTo>
                    <a:pt x="3672357" y="96964"/>
                  </a:lnTo>
                  <a:lnTo>
                    <a:pt x="3672357" y="195694"/>
                  </a:lnTo>
                  <a:lnTo>
                    <a:pt x="3616515" y="195694"/>
                  </a:lnTo>
                  <a:lnTo>
                    <a:pt x="3616515" y="231101"/>
                  </a:lnTo>
                  <a:lnTo>
                    <a:pt x="3763099" y="231101"/>
                  </a:lnTo>
                  <a:lnTo>
                    <a:pt x="3763099" y="195694"/>
                  </a:lnTo>
                  <a:close/>
                </a:path>
                <a:path w="4614545" h="283210">
                  <a:moveTo>
                    <a:pt x="3930434" y="105359"/>
                  </a:moveTo>
                  <a:lnTo>
                    <a:pt x="3929824" y="95554"/>
                  </a:lnTo>
                  <a:lnTo>
                    <a:pt x="3928757" y="90385"/>
                  </a:lnTo>
                  <a:lnTo>
                    <a:pt x="3927983" y="86677"/>
                  </a:lnTo>
                  <a:lnTo>
                    <a:pt x="3927335" y="85001"/>
                  </a:lnTo>
                  <a:lnTo>
                    <a:pt x="3927259" y="84797"/>
                  </a:lnTo>
                  <a:lnTo>
                    <a:pt x="3893286" y="58699"/>
                  </a:lnTo>
                  <a:lnTo>
                    <a:pt x="3884930" y="58699"/>
                  </a:lnTo>
                  <a:lnTo>
                    <a:pt x="3878249" y="61010"/>
                  </a:lnTo>
                  <a:lnTo>
                    <a:pt x="3877399" y="61569"/>
                  </a:lnTo>
                  <a:lnTo>
                    <a:pt x="3866578" y="70827"/>
                  </a:lnTo>
                  <a:lnTo>
                    <a:pt x="3866273" y="71767"/>
                  </a:lnTo>
                  <a:lnTo>
                    <a:pt x="3865715" y="70192"/>
                  </a:lnTo>
                  <a:lnTo>
                    <a:pt x="3864826" y="69456"/>
                  </a:lnTo>
                  <a:lnTo>
                    <a:pt x="3864826" y="78765"/>
                  </a:lnTo>
                  <a:lnTo>
                    <a:pt x="3864572" y="77025"/>
                  </a:lnTo>
                  <a:lnTo>
                    <a:pt x="3864699" y="76657"/>
                  </a:lnTo>
                  <a:lnTo>
                    <a:pt x="3864724" y="77025"/>
                  </a:lnTo>
                  <a:lnTo>
                    <a:pt x="3864826" y="78765"/>
                  </a:lnTo>
                  <a:lnTo>
                    <a:pt x="3864826" y="69456"/>
                  </a:lnTo>
                  <a:lnTo>
                    <a:pt x="3860254" y="65620"/>
                  </a:lnTo>
                  <a:lnTo>
                    <a:pt x="3854843" y="61010"/>
                  </a:lnTo>
                  <a:lnTo>
                    <a:pt x="3848176" y="58699"/>
                  </a:lnTo>
                  <a:lnTo>
                    <a:pt x="3831894" y="58699"/>
                  </a:lnTo>
                  <a:lnTo>
                    <a:pt x="3825316" y="61010"/>
                  </a:lnTo>
                  <a:lnTo>
                    <a:pt x="3825087" y="61010"/>
                  </a:lnTo>
                  <a:lnTo>
                    <a:pt x="3817937" y="67233"/>
                  </a:lnTo>
                  <a:lnTo>
                    <a:pt x="3818979" y="61569"/>
                  </a:lnTo>
                  <a:lnTo>
                    <a:pt x="3813022" y="61569"/>
                  </a:lnTo>
                  <a:lnTo>
                    <a:pt x="3813022" y="84442"/>
                  </a:lnTo>
                  <a:lnTo>
                    <a:pt x="3811625" y="77025"/>
                  </a:lnTo>
                  <a:lnTo>
                    <a:pt x="3811752" y="76657"/>
                  </a:lnTo>
                  <a:lnTo>
                    <a:pt x="3811790" y="77025"/>
                  </a:lnTo>
                  <a:lnTo>
                    <a:pt x="3811955" y="78765"/>
                  </a:lnTo>
                  <a:lnTo>
                    <a:pt x="3813022" y="84442"/>
                  </a:lnTo>
                  <a:lnTo>
                    <a:pt x="3813022" y="61569"/>
                  </a:lnTo>
                  <a:lnTo>
                    <a:pt x="3784409" y="61569"/>
                  </a:lnTo>
                  <a:lnTo>
                    <a:pt x="3784409" y="231101"/>
                  </a:lnTo>
                  <a:lnTo>
                    <a:pt x="3820096" y="231101"/>
                  </a:lnTo>
                  <a:lnTo>
                    <a:pt x="3820096" y="99631"/>
                  </a:lnTo>
                  <a:lnTo>
                    <a:pt x="3820960" y="95948"/>
                  </a:lnTo>
                  <a:lnTo>
                    <a:pt x="3824452" y="91516"/>
                  </a:lnTo>
                  <a:lnTo>
                    <a:pt x="3826980" y="90385"/>
                  </a:lnTo>
                  <a:lnTo>
                    <a:pt x="3833685" y="90385"/>
                  </a:lnTo>
                  <a:lnTo>
                    <a:pt x="3836212" y="91516"/>
                  </a:lnTo>
                  <a:lnTo>
                    <a:pt x="3839908" y="95948"/>
                  </a:lnTo>
                  <a:lnTo>
                    <a:pt x="3841064" y="99631"/>
                  </a:lnTo>
                  <a:lnTo>
                    <a:pt x="3841153" y="231101"/>
                  </a:lnTo>
                  <a:lnTo>
                    <a:pt x="3873690" y="231101"/>
                  </a:lnTo>
                  <a:lnTo>
                    <a:pt x="3873716" y="99631"/>
                  </a:lnTo>
                  <a:lnTo>
                    <a:pt x="3874744" y="95948"/>
                  </a:lnTo>
                  <a:lnTo>
                    <a:pt x="3878529" y="91516"/>
                  </a:lnTo>
                  <a:lnTo>
                    <a:pt x="3881082" y="90385"/>
                  </a:lnTo>
                  <a:lnTo>
                    <a:pt x="3887800" y="90385"/>
                  </a:lnTo>
                  <a:lnTo>
                    <a:pt x="3890264" y="91516"/>
                  </a:lnTo>
                  <a:lnTo>
                    <a:pt x="3893655" y="95948"/>
                  </a:lnTo>
                  <a:lnTo>
                    <a:pt x="3894671" y="99631"/>
                  </a:lnTo>
                  <a:lnTo>
                    <a:pt x="3894747" y="231101"/>
                  </a:lnTo>
                  <a:lnTo>
                    <a:pt x="3930434" y="231101"/>
                  </a:lnTo>
                  <a:lnTo>
                    <a:pt x="3930434" y="105359"/>
                  </a:lnTo>
                  <a:close/>
                </a:path>
                <a:path w="4614545" h="283210">
                  <a:moveTo>
                    <a:pt x="4096080" y="123139"/>
                  </a:moveTo>
                  <a:lnTo>
                    <a:pt x="4087431" y="85864"/>
                  </a:lnTo>
                  <a:lnTo>
                    <a:pt x="4058450" y="61887"/>
                  </a:lnTo>
                  <a:lnTo>
                    <a:pt x="4058450" y="114134"/>
                  </a:lnTo>
                  <a:lnTo>
                    <a:pt x="4058450" y="178523"/>
                  </a:lnTo>
                  <a:lnTo>
                    <a:pt x="4056037" y="186499"/>
                  </a:lnTo>
                  <a:lnTo>
                    <a:pt x="4046512" y="196951"/>
                  </a:lnTo>
                  <a:lnTo>
                    <a:pt x="4039438" y="199682"/>
                  </a:lnTo>
                  <a:lnTo>
                    <a:pt x="4021290" y="199682"/>
                  </a:lnTo>
                  <a:lnTo>
                    <a:pt x="4001630" y="178523"/>
                  </a:lnTo>
                  <a:lnTo>
                    <a:pt x="4001630" y="114134"/>
                  </a:lnTo>
                  <a:lnTo>
                    <a:pt x="4021290" y="92976"/>
                  </a:lnTo>
                  <a:lnTo>
                    <a:pt x="4039438" y="92976"/>
                  </a:lnTo>
                  <a:lnTo>
                    <a:pt x="4046436" y="95618"/>
                  </a:lnTo>
                  <a:lnTo>
                    <a:pt x="4056037" y="106159"/>
                  </a:lnTo>
                  <a:lnTo>
                    <a:pt x="4058450" y="114134"/>
                  </a:lnTo>
                  <a:lnTo>
                    <a:pt x="4058450" y="61887"/>
                  </a:lnTo>
                  <a:lnTo>
                    <a:pt x="4051414" y="59804"/>
                  </a:lnTo>
                  <a:lnTo>
                    <a:pt x="4038854" y="58699"/>
                  </a:lnTo>
                  <a:lnTo>
                    <a:pt x="4029379" y="59334"/>
                  </a:lnTo>
                  <a:lnTo>
                    <a:pt x="3999179" y="76327"/>
                  </a:lnTo>
                  <a:lnTo>
                    <a:pt x="3995953" y="96850"/>
                  </a:lnTo>
                  <a:lnTo>
                    <a:pt x="3999255" y="75780"/>
                  </a:lnTo>
                  <a:lnTo>
                    <a:pt x="4001490" y="61569"/>
                  </a:lnTo>
                  <a:lnTo>
                    <a:pt x="3994988" y="61569"/>
                  </a:lnTo>
                  <a:lnTo>
                    <a:pt x="3994988" y="195973"/>
                  </a:lnTo>
                  <a:lnTo>
                    <a:pt x="3994950" y="196951"/>
                  </a:lnTo>
                  <a:lnTo>
                    <a:pt x="3994848" y="198932"/>
                  </a:lnTo>
                  <a:lnTo>
                    <a:pt x="3994988" y="195973"/>
                  </a:lnTo>
                  <a:lnTo>
                    <a:pt x="3994988" y="61569"/>
                  </a:lnTo>
                  <a:lnTo>
                    <a:pt x="3963847" y="61569"/>
                  </a:lnTo>
                  <a:lnTo>
                    <a:pt x="3963847" y="282663"/>
                  </a:lnTo>
                  <a:lnTo>
                    <a:pt x="4001490" y="282663"/>
                  </a:lnTo>
                  <a:lnTo>
                    <a:pt x="4001287" y="229552"/>
                  </a:lnTo>
                  <a:lnTo>
                    <a:pt x="3999268" y="216966"/>
                  </a:lnTo>
                  <a:lnTo>
                    <a:pt x="3999941" y="218160"/>
                  </a:lnTo>
                  <a:lnTo>
                    <a:pt x="4038854" y="233959"/>
                  </a:lnTo>
                  <a:lnTo>
                    <a:pt x="4051414" y="232867"/>
                  </a:lnTo>
                  <a:lnTo>
                    <a:pt x="4087431" y="206781"/>
                  </a:lnTo>
                  <a:lnTo>
                    <a:pt x="4090517" y="199682"/>
                  </a:lnTo>
                  <a:lnTo>
                    <a:pt x="4092232" y="195745"/>
                  </a:lnTo>
                  <a:lnTo>
                    <a:pt x="4095127" y="183235"/>
                  </a:lnTo>
                  <a:lnTo>
                    <a:pt x="4096080" y="169240"/>
                  </a:lnTo>
                  <a:lnTo>
                    <a:pt x="4096080" y="123139"/>
                  </a:lnTo>
                  <a:close/>
                </a:path>
                <a:path w="4614545" h="283210">
                  <a:moveTo>
                    <a:pt x="4268038" y="124536"/>
                  </a:moveTo>
                  <a:lnTo>
                    <a:pt x="4257840" y="86131"/>
                  </a:lnTo>
                  <a:lnTo>
                    <a:pt x="4230395" y="63957"/>
                  </a:lnTo>
                  <a:lnTo>
                    <a:pt x="4230395" y="114363"/>
                  </a:lnTo>
                  <a:lnTo>
                    <a:pt x="4230395" y="178295"/>
                  </a:lnTo>
                  <a:lnTo>
                    <a:pt x="4227919" y="186131"/>
                  </a:lnTo>
                  <a:lnTo>
                    <a:pt x="4218076" y="196532"/>
                  </a:lnTo>
                  <a:lnTo>
                    <a:pt x="4210875" y="199123"/>
                  </a:lnTo>
                  <a:lnTo>
                    <a:pt x="4191800" y="199123"/>
                  </a:lnTo>
                  <a:lnTo>
                    <a:pt x="4184561" y="196532"/>
                  </a:lnTo>
                  <a:lnTo>
                    <a:pt x="4174769" y="186131"/>
                  </a:lnTo>
                  <a:lnTo>
                    <a:pt x="4172318" y="178295"/>
                  </a:lnTo>
                  <a:lnTo>
                    <a:pt x="4172318" y="114363"/>
                  </a:lnTo>
                  <a:lnTo>
                    <a:pt x="4174769" y="106553"/>
                  </a:lnTo>
                  <a:lnTo>
                    <a:pt x="4184561" y="96151"/>
                  </a:lnTo>
                  <a:lnTo>
                    <a:pt x="4191800" y="93535"/>
                  </a:lnTo>
                  <a:lnTo>
                    <a:pt x="4210875" y="93535"/>
                  </a:lnTo>
                  <a:lnTo>
                    <a:pt x="4218076" y="96151"/>
                  </a:lnTo>
                  <a:lnTo>
                    <a:pt x="4222978" y="101371"/>
                  </a:lnTo>
                  <a:lnTo>
                    <a:pt x="4227919" y="106553"/>
                  </a:lnTo>
                  <a:lnTo>
                    <a:pt x="4230395" y="63957"/>
                  </a:lnTo>
                  <a:lnTo>
                    <a:pt x="4201363" y="58699"/>
                  </a:lnTo>
                  <a:lnTo>
                    <a:pt x="4186847" y="59804"/>
                  </a:lnTo>
                  <a:lnTo>
                    <a:pt x="4144772" y="86131"/>
                  </a:lnTo>
                  <a:lnTo>
                    <a:pt x="4134637" y="124536"/>
                  </a:lnTo>
                  <a:lnTo>
                    <a:pt x="4134612" y="167843"/>
                  </a:lnTo>
                  <a:lnTo>
                    <a:pt x="4135742" y="182333"/>
                  </a:lnTo>
                  <a:lnTo>
                    <a:pt x="4162501" y="223964"/>
                  </a:lnTo>
                  <a:lnTo>
                    <a:pt x="4201363" y="233959"/>
                  </a:lnTo>
                  <a:lnTo>
                    <a:pt x="4215828" y="232854"/>
                  </a:lnTo>
                  <a:lnTo>
                    <a:pt x="4257840" y="206502"/>
                  </a:lnTo>
                  <a:lnTo>
                    <a:pt x="4268038" y="167843"/>
                  </a:lnTo>
                  <a:lnTo>
                    <a:pt x="4268038" y="124536"/>
                  </a:lnTo>
                  <a:close/>
                </a:path>
                <a:path w="4614545" h="283210">
                  <a:moveTo>
                    <a:pt x="4446282" y="122580"/>
                  </a:moveTo>
                  <a:lnTo>
                    <a:pt x="4437037" y="85559"/>
                  </a:lnTo>
                  <a:lnTo>
                    <a:pt x="4398962" y="59791"/>
                  </a:lnTo>
                  <a:lnTo>
                    <a:pt x="4385907" y="58699"/>
                  </a:lnTo>
                  <a:lnTo>
                    <a:pt x="4368901" y="61010"/>
                  </a:lnTo>
                  <a:lnTo>
                    <a:pt x="4356303" y="67932"/>
                  </a:lnTo>
                  <a:lnTo>
                    <a:pt x="4348124" y="79476"/>
                  </a:lnTo>
                  <a:lnTo>
                    <a:pt x="4344340" y="95643"/>
                  </a:lnTo>
                  <a:lnTo>
                    <a:pt x="4344428" y="95148"/>
                  </a:lnTo>
                  <a:lnTo>
                    <a:pt x="4350283" y="61569"/>
                  </a:lnTo>
                  <a:lnTo>
                    <a:pt x="4313212" y="61569"/>
                  </a:lnTo>
                  <a:lnTo>
                    <a:pt x="4313212" y="231101"/>
                  </a:lnTo>
                  <a:lnTo>
                    <a:pt x="4350855" y="231101"/>
                  </a:lnTo>
                  <a:lnTo>
                    <a:pt x="4350905" y="114134"/>
                  </a:lnTo>
                  <a:lnTo>
                    <a:pt x="4353395" y="106299"/>
                  </a:lnTo>
                  <a:lnTo>
                    <a:pt x="4363199" y="95643"/>
                  </a:lnTo>
                  <a:lnTo>
                    <a:pt x="4363732" y="95148"/>
                  </a:lnTo>
                  <a:lnTo>
                    <a:pt x="4370743" y="92417"/>
                  </a:lnTo>
                  <a:lnTo>
                    <a:pt x="4389209" y="92417"/>
                  </a:lnTo>
                  <a:lnTo>
                    <a:pt x="4396333" y="95148"/>
                  </a:lnTo>
                  <a:lnTo>
                    <a:pt x="4406176" y="106070"/>
                  </a:lnTo>
                  <a:lnTo>
                    <a:pt x="4406239" y="106299"/>
                  </a:lnTo>
                  <a:lnTo>
                    <a:pt x="4408640" y="114134"/>
                  </a:lnTo>
                  <a:lnTo>
                    <a:pt x="4408640" y="137972"/>
                  </a:lnTo>
                  <a:lnTo>
                    <a:pt x="4446282" y="137972"/>
                  </a:lnTo>
                  <a:lnTo>
                    <a:pt x="4446282" y="122580"/>
                  </a:lnTo>
                  <a:close/>
                </a:path>
                <a:path w="4614545" h="283210">
                  <a:moveTo>
                    <a:pt x="4614253" y="61569"/>
                  </a:moveTo>
                  <a:lnTo>
                    <a:pt x="4551210" y="61569"/>
                  </a:lnTo>
                  <a:lnTo>
                    <a:pt x="4551210" y="18605"/>
                  </a:lnTo>
                  <a:lnTo>
                    <a:pt x="4513491" y="18605"/>
                  </a:lnTo>
                  <a:lnTo>
                    <a:pt x="4513491" y="61569"/>
                  </a:lnTo>
                  <a:lnTo>
                    <a:pt x="4469066" y="61569"/>
                  </a:lnTo>
                  <a:lnTo>
                    <a:pt x="4469066" y="96964"/>
                  </a:lnTo>
                  <a:lnTo>
                    <a:pt x="4513491" y="96964"/>
                  </a:lnTo>
                  <a:lnTo>
                    <a:pt x="4513491" y="183591"/>
                  </a:lnTo>
                  <a:lnTo>
                    <a:pt x="4514316" y="194144"/>
                  </a:lnTo>
                  <a:lnTo>
                    <a:pt x="4542129" y="227952"/>
                  </a:lnTo>
                  <a:lnTo>
                    <a:pt x="4562475" y="231101"/>
                  </a:lnTo>
                  <a:lnTo>
                    <a:pt x="4611382" y="231101"/>
                  </a:lnTo>
                  <a:lnTo>
                    <a:pt x="4611382" y="195694"/>
                  </a:lnTo>
                  <a:lnTo>
                    <a:pt x="4558271" y="195694"/>
                  </a:lnTo>
                  <a:lnTo>
                    <a:pt x="4555337" y="194805"/>
                  </a:lnTo>
                  <a:lnTo>
                    <a:pt x="4552023" y="191262"/>
                  </a:lnTo>
                  <a:lnTo>
                    <a:pt x="4551210" y="188112"/>
                  </a:lnTo>
                  <a:lnTo>
                    <a:pt x="4551210" y="96964"/>
                  </a:lnTo>
                  <a:lnTo>
                    <a:pt x="4614253" y="96964"/>
                  </a:lnTo>
                  <a:lnTo>
                    <a:pt x="4614253" y="61569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42352" y="1231899"/>
            <a:ext cx="12405995" cy="2973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64235" indent="859155">
              <a:lnSpc>
                <a:spcPct val="143300"/>
              </a:lnSpc>
              <a:spcBef>
                <a:spcPts val="95"/>
              </a:spcBef>
              <a:tabLst>
                <a:tab pos="4826635" algn="l"/>
              </a:tabLst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sklearn.metrics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	classification_report,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confusion_matrix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knn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KNeighborsClassifier(n_neighbors=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7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2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X_train,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X_test, y_train, y_test = train_test_split(X, y,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test_size=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0.4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endParaRPr sz="2250">
              <a:latin typeface="Courier New"/>
              <a:cs typeface="Courier New"/>
            </a:endParaRPr>
          </a:p>
          <a:p>
            <a:pPr marL="8953500">
              <a:lnSpc>
                <a:spcPct val="100000"/>
              </a:lnSpc>
              <a:spcBef>
                <a:spcPts val="1170"/>
              </a:spcBef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random_state=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42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2250">
              <a:latin typeface="Courier New"/>
              <a:cs typeface="Courier New"/>
            </a:endParaRPr>
          </a:p>
          <a:p>
            <a:pPr marL="12700" marR="7569834">
              <a:lnSpc>
                <a:spcPct val="143300"/>
              </a:lnSpc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knn.fit(X_train,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y_train)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y_pred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knn.predict(X_test)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B13DC0C-4370-70A4-8C0D-BB0B3E434F2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9</a:t>
            </a:fld>
            <a:endParaRPr lang="en-US" altLang="ko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73"/>
            <a:ext cx="823849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15" dirty="0"/>
              <a:t>Confusion</a:t>
            </a:r>
            <a:r>
              <a:rPr spc="-114" dirty="0"/>
              <a:t> </a:t>
            </a:r>
            <a:r>
              <a:rPr spc="-235" dirty="0"/>
              <a:t>matrix</a:t>
            </a:r>
            <a:r>
              <a:rPr spc="-114" dirty="0"/>
              <a:t> </a:t>
            </a:r>
            <a:r>
              <a:rPr spc="-265" dirty="0"/>
              <a:t>in</a:t>
            </a:r>
            <a:r>
              <a:rPr spc="-110" dirty="0"/>
              <a:t> </a:t>
            </a:r>
            <a:r>
              <a:rPr spc="-250" dirty="0"/>
              <a:t>scikit-</a:t>
            </a:r>
            <a:r>
              <a:rPr spc="-100" dirty="0"/>
              <a:t>learn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00"/>
            <a:ext cx="14575155" cy="675640"/>
          </a:xfrm>
          <a:custGeom>
            <a:avLst/>
            <a:gdLst/>
            <a:ahLst/>
            <a:cxnLst/>
            <a:rect l="l" t="t" r="r" b="b"/>
            <a:pathLst>
              <a:path w="14575155" h="675639">
                <a:moveTo>
                  <a:pt x="14498413" y="675522"/>
                </a:moveTo>
                <a:lnTo>
                  <a:pt x="76505" y="675522"/>
                </a:lnTo>
                <a:lnTo>
                  <a:pt x="71180" y="674998"/>
                </a:lnTo>
                <a:lnTo>
                  <a:pt x="31920" y="658736"/>
                </a:lnTo>
                <a:lnTo>
                  <a:pt x="4175" y="620008"/>
                </a:lnTo>
                <a:lnTo>
                  <a:pt x="0" y="599017"/>
                </a:lnTo>
                <a:lnTo>
                  <a:pt x="0" y="593641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599017"/>
                </a:lnTo>
                <a:lnTo>
                  <a:pt x="14558132" y="643602"/>
                </a:lnTo>
                <a:lnTo>
                  <a:pt x="14519404" y="671347"/>
                </a:lnTo>
                <a:lnTo>
                  <a:pt x="14503737" y="674998"/>
                </a:lnTo>
                <a:lnTo>
                  <a:pt x="14498413" y="675522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087968"/>
            <a:ext cx="14575155" cy="1044575"/>
          </a:xfrm>
          <a:custGeom>
            <a:avLst/>
            <a:gdLst/>
            <a:ahLst/>
            <a:cxnLst/>
            <a:rect l="l" t="t" r="r" b="b"/>
            <a:pathLst>
              <a:path w="14575155" h="1044575">
                <a:moveTo>
                  <a:pt x="14498413" y="1043989"/>
                </a:moveTo>
                <a:lnTo>
                  <a:pt x="76505" y="1043989"/>
                </a:lnTo>
                <a:lnTo>
                  <a:pt x="71180" y="1043465"/>
                </a:lnTo>
                <a:lnTo>
                  <a:pt x="31920" y="1027202"/>
                </a:lnTo>
                <a:lnTo>
                  <a:pt x="4175" y="988475"/>
                </a:lnTo>
                <a:lnTo>
                  <a:pt x="0" y="967484"/>
                </a:lnTo>
                <a:lnTo>
                  <a:pt x="0" y="962108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967484"/>
                </a:lnTo>
                <a:lnTo>
                  <a:pt x="14558132" y="1012069"/>
                </a:lnTo>
                <a:lnTo>
                  <a:pt x="14519404" y="1039814"/>
                </a:lnTo>
                <a:lnTo>
                  <a:pt x="14503737" y="1043465"/>
                </a:lnTo>
                <a:lnTo>
                  <a:pt x="14498413" y="1043989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9408" y="1334240"/>
            <a:ext cx="538480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1800" dirty="0">
                <a:solidFill>
                  <a:srgbClr val="04182D"/>
                </a:solidFill>
                <a:latin typeface="Courier New"/>
                <a:cs typeface="Courier New"/>
              </a:rPr>
              <a:t>(confusion_matrix(y_test,</a:t>
            </a:r>
            <a:r>
              <a:rPr sz="1800" spc="-15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4182D"/>
                </a:solidFill>
                <a:latin typeface="Courier New"/>
                <a:cs typeface="Courier New"/>
              </a:rPr>
              <a:t>y_pred))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408" y="2121121"/>
            <a:ext cx="1812289" cy="80327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1249045" algn="l"/>
              </a:tabLst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[[1106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11]</a:t>
            </a:r>
            <a:endParaRPr sz="1800">
              <a:latin typeface="Courier New"/>
              <a:cs typeface="Courier New"/>
            </a:endParaRPr>
          </a:p>
          <a:p>
            <a:pPr marL="149860">
              <a:lnSpc>
                <a:spcPct val="100000"/>
              </a:lnSpc>
              <a:spcBef>
                <a:spcPts val="900"/>
              </a:spcBef>
              <a:tabLst>
                <a:tab pos="1249045" algn="l"/>
              </a:tabLst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[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183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34]]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9DD3147-A8A7-4F99-8A32-83FE12301C0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10</a:t>
            </a:fld>
            <a:endParaRPr lang="en-US" altLang="ko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73"/>
            <a:ext cx="905383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65" dirty="0"/>
              <a:t>Classification</a:t>
            </a:r>
            <a:r>
              <a:rPr spc="-105" dirty="0"/>
              <a:t> </a:t>
            </a:r>
            <a:r>
              <a:rPr spc="-229" dirty="0"/>
              <a:t>report</a:t>
            </a:r>
            <a:r>
              <a:rPr spc="-105" dirty="0"/>
              <a:t> </a:t>
            </a:r>
            <a:r>
              <a:rPr spc="-265" dirty="0"/>
              <a:t>in</a:t>
            </a:r>
            <a:r>
              <a:rPr spc="-100" dirty="0"/>
              <a:t> </a:t>
            </a:r>
            <a:r>
              <a:rPr spc="-250" dirty="0"/>
              <a:t>scikit-</a:t>
            </a:r>
            <a:r>
              <a:rPr spc="-90" dirty="0"/>
              <a:t>learn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00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61"/>
            <a:ext cx="14575155" cy="4258310"/>
          </a:xfrm>
          <a:custGeom>
            <a:avLst/>
            <a:gdLst/>
            <a:ahLst/>
            <a:cxnLst/>
            <a:rect l="l" t="t" r="r" b="b"/>
            <a:pathLst>
              <a:path w="14575155" h="4258310">
                <a:moveTo>
                  <a:pt x="14498413" y="4257840"/>
                </a:moveTo>
                <a:lnTo>
                  <a:pt x="76505" y="4257840"/>
                </a:lnTo>
                <a:lnTo>
                  <a:pt x="71180" y="4257315"/>
                </a:lnTo>
                <a:lnTo>
                  <a:pt x="31920" y="4241054"/>
                </a:lnTo>
                <a:lnTo>
                  <a:pt x="4175" y="4202326"/>
                </a:lnTo>
                <a:lnTo>
                  <a:pt x="0" y="4181336"/>
                </a:lnTo>
                <a:lnTo>
                  <a:pt x="0" y="4175959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181336"/>
                </a:lnTo>
                <a:lnTo>
                  <a:pt x="14558132" y="4225920"/>
                </a:lnTo>
                <a:lnTo>
                  <a:pt x="14519404" y="4253664"/>
                </a:lnTo>
                <a:lnTo>
                  <a:pt x="14503737" y="4257315"/>
                </a:lnTo>
                <a:lnTo>
                  <a:pt x="14498413" y="425784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74"/>
            <a:ext cx="759142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(classification_report(y_test,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y_pred))</a:t>
            </a:r>
            <a:endParaRPr sz="225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2465032"/>
          <a:ext cx="9175746" cy="3792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5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2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8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5915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precision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recall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0190" algn="r">
                        <a:lnSpc>
                          <a:spcPts val="2640"/>
                        </a:lnSpc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f1-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score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support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240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305435" marB="0"/>
                </a:tc>
                <a:tc>
                  <a:txBody>
                    <a:bodyPr/>
                    <a:lstStyle/>
                    <a:p>
                      <a:pPr marR="335915" algn="r">
                        <a:lnSpc>
                          <a:spcPct val="100000"/>
                        </a:lnSpc>
                        <a:spcBef>
                          <a:spcPts val="240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0.86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30543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240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0.99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305435" marB="0"/>
                </a:tc>
                <a:tc>
                  <a:txBody>
                    <a:bodyPr/>
                    <a:lstStyle/>
                    <a:p>
                      <a:pPr marR="250190" algn="r">
                        <a:lnSpc>
                          <a:spcPct val="100000"/>
                        </a:lnSpc>
                        <a:spcBef>
                          <a:spcPts val="240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0.92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30543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40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1117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3054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33591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0.76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0.16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5019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0.26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217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240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accuracy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3054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0190" algn="r">
                        <a:lnSpc>
                          <a:spcPct val="100000"/>
                        </a:lnSpc>
                        <a:spcBef>
                          <a:spcPts val="240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0.85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30543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40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1334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30543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macro 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avg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33591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0.81</a:t>
                      </a:r>
                      <a:endParaRPr sz="2250" dirty="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0.57</a:t>
                      </a:r>
                      <a:endParaRPr sz="2250" dirty="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5019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0.59</a:t>
                      </a:r>
                      <a:endParaRPr sz="2250" dirty="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1334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weighted 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avg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33591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0.84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0.85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5019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0.81</a:t>
                      </a:r>
                      <a:endParaRPr sz="225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1334</a:t>
                      </a:r>
                      <a:endParaRPr sz="2250" dirty="0">
                        <a:latin typeface="Courier New"/>
                        <a:cs typeface="Courier New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476FDBE-ADCA-0D1E-02C7-5AD61383719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11</a:t>
            </a:fld>
            <a:endParaRPr lang="en-US" altLang="ko-K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262255" marR="193040" indent="-635" algn="ctr">
              <a:lnSpc>
                <a:spcPts val="6770"/>
              </a:lnSpc>
              <a:spcBef>
                <a:spcPts val="1130"/>
              </a:spcBef>
            </a:pPr>
            <a:r>
              <a:rPr spc="-355" dirty="0"/>
              <a:t>Logistic</a:t>
            </a:r>
            <a:r>
              <a:rPr spc="-310" dirty="0"/>
              <a:t> </a:t>
            </a:r>
            <a:r>
              <a:rPr spc="-415" dirty="0"/>
              <a:t>regression </a:t>
            </a:r>
            <a:r>
              <a:rPr spc="-254" dirty="0"/>
              <a:t>and</a:t>
            </a:r>
            <a:r>
              <a:rPr spc="-330" dirty="0"/>
              <a:t> </a:t>
            </a:r>
            <a:r>
              <a:rPr spc="-350" dirty="0"/>
              <a:t>the</a:t>
            </a:r>
            <a:r>
              <a:rPr spc="-330" dirty="0"/>
              <a:t> </a:t>
            </a:r>
            <a:r>
              <a:rPr spc="-75" dirty="0"/>
              <a:t>ROC</a:t>
            </a:r>
            <a:r>
              <a:rPr spc="-355" dirty="0"/>
              <a:t> </a:t>
            </a:r>
            <a:r>
              <a:rPr spc="-325" dirty="0"/>
              <a:t>curve</a:t>
            </a:r>
          </a:p>
          <a:p>
            <a:pPr algn="ctr">
              <a:lnSpc>
                <a:spcPct val="100000"/>
              </a:lnSpc>
              <a:spcBef>
                <a:spcPts val="910"/>
              </a:spcBef>
              <a:tabLst>
                <a:tab pos="2252345" algn="l"/>
                <a:tab pos="4152900" algn="l"/>
                <a:tab pos="5172710" algn="l"/>
              </a:tabLst>
            </a:pPr>
            <a:r>
              <a:rPr sz="2250" spc="-150" dirty="0"/>
              <a:t>S</a:t>
            </a:r>
            <a:r>
              <a:rPr sz="2250" spc="-335" dirty="0"/>
              <a:t> </a:t>
            </a:r>
            <a:r>
              <a:rPr sz="2250" spc="-125" dirty="0"/>
              <a:t>U</a:t>
            </a:r>
            <a:r>
              <a:rPr sz="2250" spc="-330" dirty="0"/>
              <a:t> </a:t>
            </a:r>
            <a:r>
              <a:rPr sz="2250" spc="-95" dirty="0"/>
              <a:t>P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0" dirty="0"/>
              <a:t> </a:t>
            </a:r>
            <a:r>
              <a:rPr sz="2250" spc="-254" dirty="0"/>
              <a:t>R</a:t>
            </a:r>
            <a:r>
              <a:rPr sz="2250" spc="-335" dirty="0"/>
              <a:t> </a:t>
            </a:r>
            <a:r>
              <a:rPr sz="2250" spc="-55" dirty="0"/>
              <a:t>V</a:t>
            </a:r>
            <a:r>
              <a:rPr sz="2250" spc="-330" dirty="0"/>
              <a:t> </a:t>
            </a:r>
            <a:r>
              <a:rPr sz="2250" spc="-470" dirty="0"/>
              <a:t>I</a:t>
            </a:r>
            <a:r>
              <a:rPr sz="2250" spc="-330" dirty="0"/>
              <a:t> </a:t>
            </a:r>
            <a:r>
              <a:rPr sz="2250" spc="-150" dirty="0"/>
              <a:t>S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-50" dirty="0"/>
              <a:t>D</a:t>
            </a:r>
            <a:r>
              <a:rPr sz="2250" dirty="0"/>
              <a:t>	</a:t>
            </a:r>
            <a:r>
              <a:rPr sz="2250" spc="-100" dirty="0"/>
              <a:t>L</a:t>
            </a:r>
            <a:r>
              <a:rPr sz="2250" spc="-335" dirty="0"/>
              <a:t> </a:t>
            </a:r>
            <a:r>
              <a:rPr sz="2250" dirty="0"/>
              <a:t>E</a:t>
            </a:r>
            <a:r>
              <a:rPr sz="2250" spc="-330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0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0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30" dirty="0"/>
              <a:t>G</a:t>
            </a:r>
            <a:r>
              <a:rPr sz="2250" dirty="0"/>
              <a:t>	</a:t>
            </a:r>
            <a:r>
              <a:rPr sz="2250" spc="-170" dirty="0"/>
              <a:t>W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90" dirty="0"/>
              <a:t>T</a:t>
            </a:r>
            <a:r>
              <a:rPr sz="2250" spc="-335" dirty="0"/>
              <a:t> </a:t>
            </a:r>
            <a:r>
              <a:rPr sz="2250" spc="-50" dirty="0"/>
              <a:t>H</a:t>
            </a:r>
            <a:r>
              <a:rPr sz="2250" dirty="0"/>
              <a:t>	</a:t>
            </a:r>
            <a:r>
              <a:rPr sz="2250" spc="-150" dirty="0"/>
              <a:t>S</a:t>
            </a:r>
            <a:r>
              <a:rPr sz="2250" spc="-335" dirty="0"/>
              <a:t> </a:t>
            </a:r>
            <a:r>
              <a:rPr sz="2250" spc="210" dirty="0"/>
              <a:t>C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dirty="0"/>
              <a:t>K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35" dirty="0"/>
              <a:t>T-</a:t>
            </a:r>
            <a:r>
              <a:rPr sz="2250" spc="-330" dirty="0"/>
              <a:t> </a:t>
            </a:r>
            <a:r>
              <a:rPr sz="2250" spc="-100" dirty="0"/>
              <a:t>L</a:t>
            </a:r>
            <a:r>
              <a:rPr sz="2250" spc="-335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5" dirty="0"/>
              <a:t> </a:t>
            </a:r>
            <a:r>
              <a:rPr sz="2250" spc="-50" dirty="0"/>
              <a:t>N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5164455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Tahoma"/>
                <a:cs typeface="Tahoma"/>
              </a:rPr>
              <a:t>George</a:t>
            </a:r>
            <a:r>
              <a:rPr sz="2550" b="1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Tahoma"/>
                <a:cs typeface="Tahoma"/>
              </a:rPr>
              <a:t>Boorman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125" dirty="0">
                <a:solidFill>
                  <a:srgbClr val="FFFFFF"/>
                </a:solidFill>
                <a:latin typeface="Tahoma"/>
                <a:cs typeface="Tahoma"/>
              </a:rPr>
              <a:t>Core</a:t>
            </a:r>
            <a:r>
              <a:rPr sz="225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90" dirty="0">
                <a:solidFill>
                  <a:srgbClr val="FFFFFF"/>
                </a:solidFill>
                <a:latin typeface="Tahoma"/>
                <a:cs typeface="Tahoma"/>
              </a:rPr>
              <a:t>Curriculum</a:t>
            </a:r>
            <a:r>
              <a:rPr sz="225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85" dirty="0">
                <a:solidFill>
                  <a:srgbClr val="FFFFFF"/>
                </a:solidFill>
                <a:latin typeface="Tahoma"/>
                <a:cs typeface="Tahoma"/>
              </a:rPr>
              <a:t>Manager,</a:t>
            </a:r>
            <a:r>
              <a:rPr sz="225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160" dirty="0">
                <a:solidFill>
                  <a:srgbClr val="FFFFFF"/>
                </a:solidFill>
                <a:latin typeface="Tahoma"/>
                <a:cs typeface="Tahoma"/>
              </a:rPr>
              <a:t>DataCamp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9E46DA9-AEA0-0803-D9E1-37D06131A8F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12</a:t>
            </a:fld>
            <a:endParaRPr lang="en-US" altLang="ko-K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25" dirty="0"/>
              <a:t>Logistic</a:t>
            </a:r>
            <a:r>
              <a:rPr spc="-130" dirty="0"/>
              <a:t> </a:t>
            </a:r>
            <a:r>
              <a:rPr spc="-254" dirty="0"/>
              <a:t>regression</a:t>
            </a:r>
            <a:r>
              <a:rPr spc="-125" dirty="0"/>
              <a:t> </a:t>
            </a:r>
            <a:r>
              <a:rPr spc="-215" dirty="0"/>
              <a:t>for</a:t>
            </a:r>
            <a:r>
              <a:rPr spc="-125" dirty="0"/>
              <a:t> </a:t>
            </a:r>
            <a:r>
              <a:rPr spc="-170" dirty="0"/>
              <a:t>binary</a:t>
            </a:r>
            <a:r>
              <a:rPr spc="-125" dirty="0"/>
              <a:t> </a:t>
            </a:r>
            <a:r>
              <a:rPr spc="-135" dirty="0"/>
              <a:t>classification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3142205"/>
            <a:ext cx="122822" cy="12282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298782" y="3009147"/>
            <a:ext cx="245745" cy="429895"/>
          </a:xfrm>
          <a:custGeom>
            <a:avLst/>
            <a:gdLst/>
            <a:ahLst/>
            <a:cxnLst/>
            <a:rect l="l" t="t" r="r" b="b"/>
            <a:pathLst>
              <a:path w="245745" h="429895">
                <a:moveTo>
                  <a:pt x="169139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4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69139" y="0"/>
                </a:lnTo>
                <a:lnTo>
                  <a:pt x="213723" y="16786"/>
                </a:lnTo>
                <a:lnTo>
                  <a:pt x="241468" y="55513"/>
                </a:lnTo>
                <a:lnTo>
                  <a:pt x="245644" y="76505"/>
                </a:lnTo>
                <a:lnTo>
                  <a:pt x="245644" y="353372"/>
                </a:lnTo>
                <a:lnTo>
                  <a:pt x="228857" y="397957"/>
                </a:lnTo>
                <a:lnTo>
                  <a:pt x="190130" y="425702"/>
                </a:lnTo>
                <a:lnTo>
                  <a:pt x="174464" y="429353"/>
                </a:lnTo>
                <a:lnTo>
                  <a:pt x="169139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1759" y="3807493"/>
            <a:ext cx="102352" cy="1023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9991" y="4288547"/>
            <a:ext cx="122822" cy="122822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4298782" y="4155489"/>
            <a:ext cx="245745" cy="429895"/>
          </a:xfrm>
          <a:custGeom>
            <a:avLst/>
            <a:gdLst/>
            <a:ahLst/>
            <a:cxnLst/>
            <a:rect l="l" t="t" r="r" b="b"/>
            <a:pathLst>
              <a:path w="245745" h="429895">
                <a:moveTo>
                  <a:pt x="169139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0"/>
                </a:lnTo>
                <a:lnTo>
                  <a:pt x="4174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169139" y="0"/>
                </a:lnTo>
                <a:lnTo>
                  <a:pt x="213723" y="16786"/>
                </a:lnTo>
                <a:lnTo>
                  <a:pt x="241468" y="55513"/>
                </a:lnTo>
                <a:lnTo>
                  <a:pt x="245644" y="76505"/>
                </a:lnTo>
                <a:lnTo>
                  <a:pt x="245644" y="353372"/>
                </a:lnTo>
                <a:lnTo>
                  <a:pt x="228857" y="397957"/>
                </a:lnTo>
                <a:lnTo>
                  <a:pt x="190130" y="425702"/>
                </a:lnTo>
                <a:lnTo>
                  <a:pt x="174464" y="429353"/>
                </a:lnTo>
                <a:lnTo>
                  <a:pt x="169139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47056" y="1174582"/>
            <a:ext cx="8157845" cy="33667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Logistic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regression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used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for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classification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problems</a:t>
            </a:r>
            <a:endParaRPr sz="2550">
              <a:latin typeface="Tahoma"/>
              <a:cs typeface="Tahoma"/>
            </a:endParaRPr>
          </a:p>
          <a:p>
            <a:pPr marL="12700" marR="2050414">
              <a:lnSpc>
                <a:spcPct val="150600"/>
              </a:lnSpc>
              <a:spcBef>
                <a:spcPts val="550"/>
              </a:spcBef>
              <a:tabLst>
                <a:tab pos="2841625" algn="l"/>
              </a:tabLst>
            </a:pP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Logistic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regression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outputs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probabilities 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If</a:t>
            </a:r>
            <a:r>
              <a:rPr sz="2550" spc="-10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10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probability,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3100" i="1" dirty="0">
                <a:solidFill>
                  <a:srgbClr val="04182D"/>
                </a:solidFill>
                <a:latin typeface="Times New Roman"/>
                <a:cs typeface="Times New Roman"/>
              </a:rPr>
              <a:t>p</a:t>
            </a:r>
            <a:r>
              <a:rPr sz="3100" i="1" spc="70" dirty="0">
                <a:solidFill>
                  <a:srgbClr val="04182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04182D"/>
                </a:solidFill>
                <a:latin typeface="Lucida Sans Unicode"/>
                <a:cs typeface="Lucida Sans Unicode"/>
              </a:rPr>
              <a:t>&gt;</a:t>
            </a:r>
            <a:r>
              <a:rPr sz="3100" spc="-13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3100" spc="-325" dirty="0">
                <a:solidFill>
                  <a:srgbClr val="04182D"/>
                </a:solidFill>
                <a:latin typeface="Lucida Sans Unicode"/>
                <a:cs typeface="Lucida Sans Unicode"/>
              </a:rPr>
              <a:t>0.5</a:t>
            </a:r>
            <a:r>
              <a:rPr sz="2550" spc="-325" dirty="0">
                <a:solidFill>
                  <a:srgbClr val="04182D"/>
                </a:solidFill>
                <a:latin typeface="Tahoma"/>
                <a:cs typeface="Tahoma"/>
              </a:rPr>
              <a:t>:</a:t>
            </a: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700"/>
              </a:spcBef>
              <a:tabLst>
                <a:tab pos="3488690" algn="l"/>
              </a:tabLst>
            </a:pP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data</a:t>
            </a:r>
            <a:r>
              <a:rPr sz="2550" spc="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is</a:t>
            </a:r>
            <a:r>
              <a:rPr sz="2550" spc="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labeled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spc="-50" dirty="0">
                <a:solidFill>
                  <a:srgbClr val="04182D"/>
                </a:solidFill>
                <a:latin typeface="Courier New"/>
                <a:cs typeface="Courier New"/>
              </a:rPr>
              <a:t>1</a:t>
            </a:r>
            <a:endParaRPr sz="2250">
              <a:latin typeface="Courier New"/>
              <a:cs typeface="Courier New"/>
            </a:endParaRPr>
          </a:p>
          <a:p>
            <a:pPr marL="381000" marR="3991610" indent="-368935">
              <a:lnSpc>
                <a:spcPct val="118800"/>
              </a:lnSpc>
              <a:spcBef>
                <a:spcPts val="850"/>
              </a:spcBef>
              <a:tabLst>
                <a:tab pos="2841625" algn="l"/>
                <a:tab pos="3488690" algn="l"/>
              </a:tabLst>
            </a:pP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If</a:t>
            </a:r>
            <a:r>
              <a:rPr sz="2550" spc="-10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10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probability,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3100" i="1" dirty="0">
                <a:solidFill>
                  <a:srgbClr val="04182D"/>
                </a:solidFill>
                <a:latin typeface="Times New Roman"/>
                <a:cs typeface="Times New Roman"/>
              </a:rPr>
              <a:t>p</a:t>
            </a:r>
            <a:r>
              <a:rPr sz="3100" i="1" spc="70" dirty="0">
                <a:solidFill>
                  <a:srgbClr val="04182D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04182D"/>
                </a:solidFill>
                <a:latin typeface="Lucida Sans Unicode"/>
                <a:cs typeface="Lucida Sans Unicode"/>
              </a:rPr>
              <a:t>&lt;</a:t>
            </a:r>
            <a:r>
              <a:rPr sz="3100" spc="-13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3100" spc="-325" dirty="0">
                <a:solidFill>
                  <a:srgbClr val="04182D"/>
                </a:solidFill>
                <a:latin typeface="Lucida Sans Unicode"/>
                <a:cs typeface="Lucida Sans Unicode"/>
              </a:rPr>
              <a:t>0.5</a:t>
            </a:r>
            <a:r>
              <a:rPr sz="2550" spc="-325" dirty="0">
                <a:solidFill>
                  <a:srgbClr val="04182D"/>
                </a:solidFill>
                <a:latin typeface="Tahoma"/>
                <a:cs typeface="Tahoma"/>
              </a:rPr>
              <a:t>: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data</a:t>
            </a:r>
            <a:r>
              <a:rPr sz="2550" spc="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is</a:t>
            </a:r>
            <a:r>
              <a:rPr sz="2550" spc="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labeled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spc="-50" dirty="0">
                <a:solidFill>
                  <a:srgbClr val="04182D"/>
                </a:solidFill>
                <a:latin typeface="Courier New"/>
                <a:cs typeface="Courier New"/>
              </a:rPr>
              <a:t>0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993B3B52-137D-9313-3E2E-E8B3B26BD93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13</a:t>
            </a:fld>
            <a:endParaRPr lang="en-US" altLang="ko-K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669099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10" dirty="0"/>
              <a:t>Linear</a:t>
            </a:r>
            <a:r>
              <a:rPr spc="-114" dirty="0"/>
              <a:t> </a:t>
            </a:r>
            <a:r>
              <a:rPr spc="-215" dirty="0"/>
              <a:t>decision</a:t>
            </a:r>
            <a:r>
              <a:rPr spc="-110" dirty="0"/>
              <a:t> </a:t>
            </a:r>
            <a:r>
              <a:rPr spc="-135" dirty="0"/>
              <a:t>boundary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6551" y="1166812"/>
            <a:ext cx="8024393" cy="6263939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82E96-A0CB-E528-6549-B795C5C4444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14</a:t>
            </a:fld>
            <a:endParaRPr lang="en-US" altLang="ko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25" dirty="0"/>
              <a:t>Logistic</a:t>
            </a:r>
            <a:r>
              <a:rPr spc="-105" dirty="0"/>
              <a:t> </a:t>
            </a:r>
            <a:r>
              <a:rPr spc="-254" dirty="0"/>
              <a:t>regression</a:t>
            </a:r>
            <a:r>
              <a:rPr spc="-105" dirty="0"/>
              <a:t> </a:t>
            </a:r>
            <a:r>
              <a:rPr spc="-265" dirty="0"/>
              <a:t>in</a:t>
            </a:r>
            <a:r>
              <a:rPr spc="-105" dirty="0"/>
              <a:t> </a:t>
            </a:r>
            <a:r>
              <a:rPr spc="-250" dirty="0"/>
              <a:t>scikit-</a:t>
            </a:r>
            <a:r>
              <a:rPr spc="-100" dirty="0"/>
              <a:t>learn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166812"/>
            <a:ext cx="14575155" cy="3275329"/>
            <a:chOff x="491289" y="1166812"/>
            <a:chExt cx="14575155" cy="3275329"/>
          </a:xfrm>
        </p:grpSpPr>
        <p:sp>
          <p:nvSpPr>
            <p:cNvPr id="4" name="object 4"/>
            <p:cNvSpPr/>
            <p:nvPr/>
          </p:nvSpPr>
          <p:spPr>
            <a:xfrm>
              <a:off x="491289" y="1166812"/>
              <a:ext cx="14575155" cy="3275329"/>
            </a:xfrm>
            <a:custGeom>
              <a:avLst/>
              <a:gdLst/>
              <a:ahLst/>
              <a:cxnLst/>
              <a:rect l="l" t="t" r="r" b="b"/>
              <a:pathLst>
                <a:path w="14575155" h="3275329">
                  <a:moveTo>
                    <a:pt x="14498413" y="3275262"/>
                  </a:moveTo>
                  <a:lnTo>
                    <a:pt x="76505" y="3275262"/>
                  </a:lnTo>
                  <a:lnTo>
                    <a:pt x="71180" y="3274738"/>
                  </a:lnTo>
                  <a:lnTo>
                    <a:pt x="31920" y="3258476"/>
                  </a:lnTo>
                  <a:lnTo>
                    <a:pt x="4175" y="3219748"/>
                  </a:lnTo>
                  <a:lnTo>
                    <a:pt x="0" y="3198757"/>
                  </a:lnTo>
                  <a:lnTo>
                    <a:pt x="0" y="3193381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5"/>
                  </a:lnTo>
                  <a:lnTo>
                    <a:pt x="14574918" y="3198757"/>
                  </a:lnTo>
                  <a:lnTo>
                    <a:pt x="14558132" y="3243342"/>
                  </a:lnTo>
                  <a:lnTo>
                    <a:pt x="14519404" y="3271087"/>
                  </a:lnTo>
                  <a:lnTo>
                    <a:pt x="14503737" y="3274738"/>
                  </a:lnTo>
                  <a:lnTo>
                    <a:pt x="14498413" y="3275262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2261" y="1447482"/>
              <a:ext cx="5474335" cy="283210"/>
            </a:xfrm>
            <a:custGeom>
              <a:avLst/>
              <a:gdLst/>
              <a:ahLst/>
              <a:cxnLst/>
              <a:rect l="l" t="t" r="r" b="b"/>
              <a:pathLst>
                <a:path w="5474335" h="283210">
                  <a:moveTo>
                    <a:pt x="147980" y="9994"/>
                  </a:moveTo>
                  <a:lnTo>
                    <a:pt x="93332" y="9994"/>
                  </a:lnTo>
                  <a:lnTo>
                    <a:pt x="83096" y="10769"/>
                  </a:lnTo>
                  <a:lnTo>
                    <a:pt x="49060" y="36728"/>
                  </a:lnTo>
                  <a:lnTo>
                    <a:pt x="45821" y="55473"/>
                  </a:lnTo>
                  <a:lnTo>
                    <a:pt x="45821" y="64719"/>
                  </a:lnTo>
                  <a:lnTo>
                    <a:pt x="0" y="64719"/>
                  </a:lnTo>
                  <a:lnTo>
                    <a:pt x="0" y="100114"/>
                  </a:lnTo>
                  <a:lnTo>
                    <a:pt x="45821" y="100114"/>
                  </a:lnTo>
                  <a:lnTo>
                    <a:pt x="45821" y="231101"/>
                  </a:lnTo>
                  <a:lnTo>
                    <a:pt x="83540" y="231101"/>
                  </a:lnTo>
                  <a:lnTo>
                    <a:pt x="83540" y="100114"/>
                  </a:lnTo>
                  <a:lnTo>
                    <a:pt x="147980" y="100114"/>
                  </a:lnTo>
                  <a:lnTo>
                    <a:pt x="147980" y="64719"/>
                  </a:lnTo>
                  <a:lnTo>
                    <a:pt x="83540" y="64719"/>
                  </a:lnTo>
                  <a:lnTo>
                    <a:pt x="83540" y="51892"/>
                  </a:lnTo>
                  <a:lnTo>
                    <a:pt x="84328" y="49441"/>
                  </a:lnTo>
                  <a:lnTo>
                    <a:pt x="87553" y="46215"/>
                  </a:lnTo>
                  <a:lnTo>
                    <a:pt x="90017" y="45402"/>
                  </a:lnTo>
                  <a:lnTo>
                    <a:pt x="147980" y="45402"/>
                  </a:lnTo>
                  <a:lnTo>
                    <a:pt x="147980" y="9994"/>
                  </a:lnTo>
                  <a:close/>
                </a:path>
                <a:path w="5474335" h="283210">
                  <a:moveTo>
                    <a:pt x="319646" y="122580"/>
                  </a:moveTo>
                  <a:lnTo>
                    <a:pt x="310400" y="85559"/>
                  </a:lnTo>
                  <a:lnTo>
                    <a:pt x="272326" y="59791"/>
                  </a:lnTo>
                  <a:lnTo>
                    <a:pt x="259270" y="58699"/>
                  </a:lnTo>
                  <a:lnTo>
                    <a:pt x="242265" y="61010"/>
                  </a:lnTo>
                  <a:lnTo>
                    <a:pt x="229666" y="67932"/>
                  </a:lnTo>
                  <a:lnTo>
                    <a:pt x="221488" y="79476"/>
                  </a:lnTo>
                  <a:lnTo>
                    <a:pt x="217703" y="95643"/>
                  </a:lnTo>
                  <a:lnTo>
                    <a:pt x="217792" y="95148"/>
                  </a:lnTo>
                  <a:lnTo>
                    <a:pt x="223647" y="61569"/>
                  </a:lnTo>
                  <a:lnTo>
                    <a:pt x="186575" y="61569"/>
                  </a:lnTo>
                  <a:lnTo>
                    <a:pt x="186575" y="231101"/>
                  </a:lnTo>
                  <a:lnTo>
                    <a:pt x="224218" y="231101"/>
                  </a:lnTo>
                  <a:lnTo>
                    <a:pt x="224269" y="114134"/>
                  </a:lnTo>
                  <a:lnTo>
                    <a:pt x="226758" y="106299"/>
                  </a:lnTo>
                  <a:lnTo>
                    <a:pt x="236562" y="95643"/>
                  </a:lnTo>
                  <a:lnTo>
                    <a:pt x="237083" y="95148"/>
                  </a:lnTo>
                  <a:lnTo>
                    <a:pt x="244106" y="92417"/>
                  </a:lnTo>
                  <a:lnTo>
                    <a:pt x="262572" y="92417"/>
                  </a:lnTo>
                  <a:lnTo>
                    <a:pt x="269697" y="95148"/>
                  </a:lnTo>
                  <a:lnTo>
                    <a:pt x="279527" y="106070"/>
                  </a:lnTo>
                  <a:lnTo>
                    <a:pt x="279603" y="106299"/>
                  </a:lnTo>
                  <a:lnTo>
                    <a:pt x="282003" y="114134"/>
                  </a:lnTo>
                  <a:lnTo>
                    <a:pt x="282003" y="137972"/>
                  </a:lnTo>
                  <a:lnTo>
                    <a:pt x="319646" y="137972"/>
                  </a:lnTo>
                  <a:lnTo>
                    <a:pt x="319646" y="122580"/>
                  </a:lnTo>
                  <a:close/>
                </a:path>
                <a:path w="5474335" h="283210">
                  <a:moveTo>
                    <a:pt x="485305" y="124536"/>
                  </a:moveTo>
                  <a:lnTo>
                    <a:pt x="475107" y="86131"/>
                  </a:lnTo>
                  <a:lnTo>
                    <a:pt x="447662" y="63957"/>
                  </a:lnTo>
                  <a:lnTo>
                    <a:pt x="447662" y="114363"/>
                  </a:lnTo>
                  <a:lnTo>
                    <a:pt x="447662" y="178295"/>
                  </a:lnTo>
                  <a:lnTo>
                    <a:pt x="445185" y="186131"/>
                  </a:lnTo>
                  <a:lnTo>
                    <a:pt x="435343" y="196532"/>
                  </a:lnTo>
                  <a:lnTo>
                    <a:pt x="428142" y="199123"/>
                  </a:lnTo>
                  <a:lnTo>
                    <a:pt x="409054" y="199123"/>
                  </a:lnTo>
                  <a:lnTo>
                    <a:pt x="401828" y="196532"/>
                  </a:lnTo>
                  <a:lnTo>
                    <a:pt x="392036" y="186131"/>
                  </a:lnTo>
                  <a:lnTo>
                    <a:pt x="389585" y="178295"/>
                  </a:lnTo>
                  <a:lnTo>
                    <a:pt x="389585" y="114363"/>
                  </a:lnTo>
                  <a:lnTo>
                    <a:pt x="392036" y="106553"/>
                  </a:lnTo>
                  <a:lnTo>
                    <a:pt x="401828" y="96151"/>
                  </a:lnTo>
                  <a:lnTo>
                    <a:pt x="409054" y="93535"/>
                  </a:lnTo>
                  <a:lnTo>
                    <a:pt x="428142" y="93535"/>
                  </a:lnTo>
                  <a:lnTo>
                    <a:pt x="435343" y="96151"/>
                  </a:lnTo>
                  <a:lnTo>
                    <a:pt x="440245" y="101371"/>
                  </a:lnTo>
                  <a:lnTo>
                    <a:pt x="445185" y="106553"/>
                  </a:lnTo>
                  <a:lnTo>
                    <a:pt x="447662" y="63957"/>
                  </a:lnTo>
                  <a:lnTo>
                    <a:pt x="418617" y="58699"/>
                  </a:lnTo>
                  <a:lnTo>
                    <a:pt x="404114" y="59804"/>
                  </a:lnTo>
                  <a:lnTo>
                    <a:pt x="362038" y="86131"/>
                  </a:lnTo>
                  <a:lnTo>
                    <a:pt x="351891" y="124536"/>
                  </a:lnTo>
                  <a:lnTo>
                    <a:pt x="351878" y="167843"/>
                  </a:lnTo>
                  <a:lnTo>
                    <a:pt x="352996" y="182333"/>
                  </a:lnTo>
                  <a:lnTo>
                    <a:pt x="379768" y="223964"/>
                  </a:lnTo>
                  <a:lnTo>
                    <a:pt x="418617" y="233959"/>
                  </a:lnTo>
                  <a:lnTo>
                    <a:pt x="433095" y="232854"/>
                  </a:lnTo>
                  <a:lnTo>
                    <a:pt x="475107" y="206502"/>
                  </a:lnTo>
                  <a:lnTo>
                    <a:pt x="485305" y="167843"/>
                  </a:lnTo>
                  <a:lnTo>
                    <a:pt x="485305" y="124536"/>
                  </a:lnTo>
                  <a:close/>
                </a:path>
                <a:path w="5474335" h="283210">
                  <a:moveTo>
                    <a:pt x="663549" y="105359"/>
                  </a:moveTo>
                  <a:lnTo>
                    <a:pt x="662940" y="95554"/>
                  </a:lnTo>
                  <a:lnTo>
                    <a:pt x="661873" y="90385"/>
                  </a:lnTo>
                  <a:lnTo>
                    <a:pt x="661098" y="86677"/>
                  </a:lnTo>
                  <a:lnTo>
                    <a:pt x="660450" y="85001"/>
                  </a:lnTo>
                  <a:lnTo>
                    <a:pt x="660374" y="84797"/>
                  </a:lnTo>
                  <a:lnTo>
                    <a:pt x="626402" y="58699"/>
                  </a:lnTo>
                  <a:lnTo>
                    <a:pt x="618045" y="58699"/>
                  </a:lnTo>
                  <a:lnTo>
                    <a:pt x="611365" y="61010"/>
                  </a:lnTo>
                  <a:lnTo>
                    <a:pt x="610514" y="61569"/>
                  </a:lnTo>
                  <a:lnTo>
                    <a:pt x="599694" y="70827"/>
                  </a:lnTo>
                  <a:lnTo>
                    <a:pt x="599389" y="71767"/>
                  </a:lnTo>
                  <a:lnTo>
                    <a:pt x="598830" y="70192"/>
                  </a:lnTo>
                  <a:lnTo>
                    <a:pt x="597941" y="69456"/>
                  </a:lnTo>
                  <a:lnTo>
                    <a:pt x="597941" y="78765"/>
                  </a:lnTo>
                  <a:lnTo>
                    <a:pt x="597687" y="77025"/>
                  </a:lnTo>
                  <a:lnTo>
                    <a:pt x="597814" y="76657"/>
                  </a:lnTo>
                  <a:lnTo>
                    <a:pt x="597839" y="77025"/>
                  </a:lnTo>
                  <a:lnTo>
                    <a:pt x="597941" y="78765"/>
                  </a:lnTo>
                  <a:lnTo>
                    <a:pt x="597941" y="69456"/>
                  </a:lnTo>
                  <a:lnTo>
                    <a:pt x="593369" y="65620"/>
                  </a:lnTo>
                  <a:lnTo>
                    <a:pt x="587959" y="61010"/>
                  </a:lnTo>
                  <a:lnTo>
                    <a:pt x="581291" y="58699"/>
                  </a:lnTo>
                  <a:lnTo>
                    <a:pt x="565010" y="58699"/>
                  </a:lnTo>
                  <a:lnTo>
                    <a:pt x="558431" y="61010"/>
                  </a:lnTo>
                  <a:lnTo>
                    <a:pt x="558203" y="61010"/>
                  </a:lnTo>
                  <a:lnTo>
                    <a:pt x="551053" y="67233"/>
                  </a:lnTo>
                  <a:lnTo>
                    <a:pt x="552094" y="61569"/>
                  </a:lnTo>
                  <a:lnTo>
                    <a:pt x="546138" y="61569"/>
                  </a:lnTo>
                  <a:lnTo>
                    <a:pt x="546138" y="84442"/>
                  </a:lnTo>
                  <a:lnTo>
                    <a:pt x="544741" y="77025"/>
                  </a:lnTo>
                  <a:lnTo>
                    <a:pt x="544868" y="76657"/>
                  </a:lnTo>
                  <a:lnTo>
                    <a:pt x="544906" y="77025"/>
                  </a:lnTo>
                  <a:lnTo>
                    <a:pt x="545071" y="78765"/>
                  </a:lnTo>
                  <a:lnTo>
                    <a:pt x="546138" y="84442"/>
                  </a:lnTo>
                  <a:lnTo>
                    <a:pt x="546138" y="61569"/>
                  </a:lnTo>
                  <a:lnTo>
                    <a:pt x="517525" y="61569"/>
                  </a:lnTo>
                  <a:lnTo>
                    <a:pt x="517525" y="231101"/>
                  </a:lnTo>
                  <a:lnTo>
                    <a:pt x="553212" y="231101"/>
                  </a:lnTo>
                  <a:lnTo>
                    <a:pt x="553212" y="99631"/>
                  </a:lnTo>
                  <a:lnTo>
                    <a:pt x="554075" y="95948"/>
                  </a:lnTo>
                  <a:lnTo>
                    <a:pt x="557568" y="91516"/>
                  </a:lnTo>
                  <a:lnTo>
                    <a:pt x="560095" y="90385"/>
                  </a:lnTo>
                  <a:lnTo>
                    <a:pt x="566813" y="90385"/>
                  </a:lnTo>
                  <a:lnTo>
                    <a:pt x="569328" y="91516"/>
                  </a:lnTo>
                  <a:lnTo>
                    <a:pt x="573024" y="95948"/>
                  </a:lnTo>
                  <a:lnTo>
                    <a:pt x="574179" y="99631"/>
                  </a:lnTo>
                  <a:lnTo>
                    <a:pt x="574268" y="231101"/>
                  </a:lnTo>
                  <a:lnTo>
                    <a:pt x="606806" y="231101"/>
                  </a:lnTo>
                  <a:lnTo>
                    <a:pt x="606831" y="99631"/>
                  </a:lnTo>
                  <a:lnTo>
                    <a:pt x="607860" y="95948"/>
                  </a:lnTo>
                  <a:lnTo>
                    <a:pt x="611644" y="91516"/>
                  </a:lnTo>
                  <a:lnTo>
                    <a:pt x="614197" y="90385"/>
                  </a:lnTo>
                  <a:lnTo>
                    <a:pt x="620915" y="90385"/>
                  </a:lnTo>
                  <a:lnTo>
                    <a:pt x="623379" y="91516"/>
                  </a:lnTo>
                  <a:lnTo>
                    <a:pt x="626770" y="95948"/>
                  </a:lnTo>
                  <a:lnTo>
                    <a:pt x="627786" y="99631"/>
                  </a:lnTo>
                  <a:lnTo>
                    <a:pt x="627862" y="231101"/>
                  </a:lnTo>
                  <a:lnTo>
                    <a:pt x="663549" y="231101"/>
                  </a:lnTo>
                  <a:lnTo>
                    <a:pt x="663549" y="105359"/>
                  </a:lnTo>
                  <a:close/>
                </a:path>
                <a:path w="5474335" h="283210">
                  <a:moveTo>
                    <a:pt x="4575556" y="16510"/>
                  </a:moveTo>
                  <a:lnTo>
                    <a:pt x="4573244" y="10909"/>
                  </a:lnTo>
                  <a:lnTo>
                    <a:pt x="4564011" y="2184"/>
                  </a:lnTo>
                  <a:lnTo>
                    <a:pt x="4558131" y="0"/>
                  </a:lnTo>
                  <a:lnTo>
                    <a:pt x="4538129" y="0"/>
                  </a:lnTo>
                  <a:lnTo>
                    <a:pt x="4532249" y="2184"/>
                  </a:lnTo>
                  <a:lnTo>
                    <a:pt x="4523016" y="10909"/>
                  </a:lnTo>
                  <a:lnTo>
                    <a:pt x="4520704" y="16510"/>
                  </a:lnTo>
                  <a:lnTo>
                    <a:pt x="4520704" y="30264"/>
                  </a:lnTo>
                  <a:lnTo>
                    <a:pt x="4522965" y="35814"/>
                  </a:lnTo>
                  <a:lnTo>
                    <a:pt x="4527486" y="40017"/>
                  </a:lnTo>
                  <a:lnTo>
                    <a:pt x="4532058" y="44170"/>
                  </a:lnTo>
                  <a:lnTo>
                    <a:pt x="4537989" y="46240"/>
                  </a:lnTo>
                  <a:lnTo>
                    <a:pt x="4558042" y="46240"/>
                  </a:lnTo>
                  <a:lnTo>
                    <a:pt x="4563897" y="44170"/>
                  </a:lnTo>
                  <a:lnTo>
                    <a:pt x="4573244" y="35814"/>
                  </a:lnTo>
                  <a:lnTo>
                    <a:pt x="4575556" y="30264"/>
                  </a:lnTo>
                  <a:lnTo>
                    <a:pt x="4575556" y="16510"/>
                  </a:lnTo>
                  <a:close/>
                </a:path>
                <a:path w="5474335" h="283210">
                  <a:moveTo>
                    <a:pt x="4622851" y="195694"/>
                  </a:moveTo>
                  <a:lnTo>
                    <a:pt x="4569815" y="195694"/>
                  </a:lnTo>
                  <a:lnTo>
                    <a:pt x="4569815" y="61569"/>
                  </a:lnTo>
                  <a:lnTo>
                    <a:pt x="4483417" y="61569"/>
                  </a:lnTo>
                  <a:lnTo>
                    <a:pt x="4483417" y="96964"/>
                  </a:lnTo>
                  <a:lnTo>
                    <a:pt x="4532109" y="96964"/>
                  </a:lnTo>
                  <a:lnTo>
                    <a:pt x="4532109" y="195694"/>
                  </a:lnTo>
                  <a:lnTo>
                    <a:pt x="4476280" y="195694"/>
                  </a:lnTo>
                  <a:lnTo>
                    <a:pt x="4476280" y="231101"/>
                  </a:lnTo>
                  <a:lnTo>
                    <a:pt x="4622851" y="231101"/>
                  </a:lnTo>
                  <a:lnTo>
                    <a:pt x="4622851" y="195694"/>
                  </a:lnTo>
                  <a:close/>
                </a:path>
                <a:path w="5474335" h="283210">
                  <a:moveTo>
                    <a:pt x="4790186" y="105359"/>
                  </a:moveTo>
                  <a:lnTo>
                    <a:pt x="4789576" y="95554"/>
                  </a:lnTo>
                  <a:lnTo>
                    <a:pt x="4788509" y="90385"/>
                  </a:lnTo>
                  <a:lnTo>
                    <a:pt x="4787735" y="86677"/>
                  </a:lnTo>
                  <a:lnTo>
                    <a:pt x="4787087" y="85001"/>
                  </a:lnTo>
                  <a:lnTo>
                    <a:pt x="4787011" y="84797"/>
                  </a:lnTo>
                  <a:lnTo>
                    <a:pt x="4753038" y="58699"/>
                  </a:lnTo>
                  <a:lnTo>
                    <a:pt x="4744682" y="58699"/>
                  </a:lnTo>
                  <a:lnTo>
                    <a:pt x="4738001" y="61010"/>
                  </a:lnTo>
                  <a:lnTo>
                    <a:pt x="4737151" y="61569"/>
                  </a:lnTo>
                  <a:lnTo>
                    <a:pt x="4726330" y="70827"/>
                  </a:lnTo>
                  <a:lnTo>
                    <a:pt x="4726025" y="71767"/>
                  </a:lnTo>
                  <a:lnTo>
                    <a:pt x="4725467" y="70192"/>
                  </a:lnTo>
                  <a:lnTo>
                    <a:pt x="4724590" y="69469"/>
                  </a:lnTo>
                  <a:lnTo>
                    <a:pt x="4724590" y="78765"/>
                  </a:lnTo>
                  <a:lnTo>
                    <a:pt x="4724336" y="77025"/>
                  </a:lnTo>
                  <a:lnTo>
                    <a:pt x="4724451" y="76657"/>
                  </a:lnTo>
                  <a:lnTo>
                    <a:pt x="4724476" y="77025"/>
                  </a:lnTo>
                  <a:lnTo>
                    <a:pt x="4724590" y="78765"/>
                  </a:lnTo>
                  <a:lnTo>
                    <a:pt x="4724590" y="69469"/>
                  </a:lnTo>
                  <a:lnTo>
                    <a:pt x="4720018" y="65620"/>
                  </a:lnTo>
                  <a:lnTo>
                    <a:pt x="4714595" y="61010"/>
                  </a:lnTo>
                  <a:lnTo>
                    <a:pt x="4707928" y="58699"/>
                  </a:lnTo>
                  <a:lnTo>
                    <a:pt x="4691646" y="58699"/>
                  </a:lnTo>
                  <a:lnTo>
                    <a:pt x="4685081" y="61010"/>
                  </a:lnTo>
                  <a:lnTo>
                    <a:pt x="4684839" y="61010"/>
                  </a:lnTo>
                  <a:lnTo>
                    <a:pt x="4677689" y="67233"/>
                  </a:lnTo>
                  <a:lnTo>
                    <a:pt x="4678731" y="61569"/>
                  </a:lnTo>
                  <a:lnTo>
                    <a:pt x="4671695" y="61569"/>
                  </a:lnTo>
                  <a:lnTo>
                    <a:pt x="4671695" y="78663"/>
                  </a:lnTo>
                  <a:lnTo>
                    <a:pt x="4671390" y="77025"/>
                  </a:lnTo>
                  <a:lnTo>
                    <a:pt x="4671517" y="76657"/>
                  </a:lnTo>
                  <a:lnTo>
                    <a:pt x="4671542" y="77025"/>
                  </a:lnTo>
                  <a:lnTo>
                    <a:pt x="4671695" y="78663"/>
                  </a:lnTo>
                  <a:lnTo>
                    <a:pt x="4671695" y="61569"/>
                  </a:lnTo>
                  <a:lnTo>
                    <a:pt x="4644174" y="61569"/>
                  </a:lnTo>
                  <a:lnTo>
                    <a:pt x="4644174" y="231101"/>
                  </a:lnTo>
                  <a:lnTo>
                    <a:pt x="4679848" y="231101"/>
                  </a:lnTo>
                  <a:lnTo>
                    <a:pt x="4679848" y="99631"/>
                  </a:lnTo>
                  <a:lnTo>
                    <a:pt x="4680712" y="95948"/>
                  </a:lnTo>
                  <a:lnTo>
                    <a:pt x="4684217" y="91516"/>
                  </a:lnTo>
                  <a:lnTo>
                    <a:pt x="4686732" y="90385"/>
                  </a:lnTo>
                  <a:lnTo>
                    <a:pt x="4693450" y="90385"/>
                  </a:lnTo>
                  <a:lnTo>
                    <a:pt x="4695977" y="91516"/>
                  </a:lnTo>
                  <a:lnTo>
                    <a:pt x="4699673" y="95948"/>
                  </a:lnTo>
                  <a:lnTo>
                    <a:pt x="4700816" y="99631"/>
                  </a:lnTo>
                  <a:lnTo>
                    <a:pt x="4700905" y="231101"/>
                  </a:lnTo>
                  <a:lnTo>
                    <a:pt x="4733442" y="231101"/>
                  </a:lnTo>
                  <a:lnTo>
                    <a:pt x="4733468" y="99631"/>
                  </a:lnTo>
                  <a:lnTo>
                    <a:pt x="4734496" y="95948"/>
                  </a:lnTo>
                  <a:lnTo>
                    <a:pt x="4738281" y="91516"/>
                  </a:lnTo>
                  <a:lnTo>
                    <a:pt x="4740834" y="90385"/>
                  </a:lnTo>
                  <a:lnTo>
                    <a:pt x="4747552" y="90385"/>
                  </a:lnTo>
                  <a:lnTo>
                    <a:pt x="4750016" y="91516"/>
                  </a:lnTo>
                  <a:lnTo>
                    <a:pt x="4753407" y="95948"/>
                  </a:lnTo>
                  <a:lnTo>
                    <a:pt x="4754423" y="99631"/>
                  </a:lnTo>
                  <a:lnTo>
                    <a:pt x="4754511" y="231101"/>
                  </a:lnTo>
                  <a:lnTo>
                    <a:pt x="4790186" y="231101"/>
                  </a:lnTo>
                  <a:lnTo>
                    <a:pt x="4790186" y="105359"/>
                  </a:lnTo>
                  <a:close/>
                </a:path>
                <a:path w="5474335" h="283210">
                  <a:moveTo>
                    <a:pt x="4955845" y="123139"/>
                  </a:moveTo>
                  <a:lnTo>
                    <a:pt x="4947183" y="85864"/>
                  </a:lnTo>
                  <a:lnTo>
                    <a:pt x="4918202" y="61887"/>
                  </a:lnTo>
                  <a:lnTo>
                    <a:pt x="4918202" y="114134"/>
                  </a:lnTo>
                  <a:lnTo>
                    <a:pt x="4918202" y="178523"/>
                  </a:lnTo>
                  <a:lnTo>
                    <a:pt x="4915801" y="186499"/>
                  </a:lnTo>
                  <a:lnTo>
                    <a:pt x="4906276" y="196951"/>
                  </a:lnTo>
                  <a:lnTo>
                    <a:pt x="4899190" y="199682"/>
                  </a:lnTo>
                  <a:lnTo>
                    <a:pt x="4881042" y="199682"/>
                  </a:lnTo>
                  <a:lnTo>
                    <a:pt x="4861382" y="178523"/>
                  </a:lnTo>
                  <a:lnTo>
                    <a:pt x="4861382" y="114134"/>
                  </a:lnTo>
                  <a:lnTo>
                    <a:pt x="4863795" y="106692"/>
                  </a:lnTo>
                  <a:lnTo>
                    <a:pt x="4872660" y="97180"/>
                  </a:lnTo>
                  <a:lnTo>
                    <a:pt x="4872964" y="96850"/>
                  </a:lnTo>
                  <a:lnTo>
                    <a:pt x="4874298" y="95618"/>
                  </a:lnTo>
                  <a:lnTo>
                    <a:pt x="4881042" y="92976"/>
                  </a:lnTo>
                  <a:lnTo>
                    <a:pt x="4899190" y="92976"/>
                  </a:lnTo>
                  <a:lnTo>
                    <a:pt x="4906188" y="95618"/>
                  </a:lnTo>
                  <a:lnTo>
                    <a:pt x="4915801" y="106159"/>
                  </a:lnTo>
                  <a:lnTo>
                    <a:pt x="4918202" y="114134"/>
                  </a:lnTo>
                  <a:lnTo>
                    <a:pt x="4918202" y="61887"/>
                  </a:lnTo>
                  <a:lnTo>
                    <a:pt x="4911166" y="59804"/>
                  </a:lnTo>
                  <a:lnTo>
                    <a:pt x="4898606" y="58699"/>
                  </a:lnTo>
                  <a:lnTo>
                    <a:pt x="4889131" y="59334"/>
                  </a:lnTo>
                  <a:lnTo>
                    <a:pt x="4859020" y="75780"/>
                  </a:lnTo>
                  <a:lnTo>
                    <a:pt x="4861242" y="61569"/>
                  </a:lnTo>
                  <a:lnTo>
                    <a:pt x="4854740" y="61569"/>
                  </a:lnTo>
                  <a:lnTo>
                    <a:pt x="4854740" y="195973"/>
                  </a:lnTo>
                  <a:lnTo>
                    <a:pt x="4854702" y="196951"/>
                  </a:lnTo>
                  <a:lnTo>
                    <a:pt x="4854587" y="199682"/>
                  </a:lnTo>
                  <a:lnTo>
                    <a:pt x="4854384" y="204343"/>
                  </a:lnTo>
                  <a:lnTo>
                    <a:pt x="4854740" y="195973"/>
                  </a:lnTo>
                  <a:lnTo>
                    <a:pt x="4854740" y="61569"/>
                  </a:lnTo>
                  <a:lnTo>
                    <a:pt x="4823599" y="61569"/>
                  </a:lnTo>
                  <a:lnTo>
                    <a:pt x="4823599" y="282663"/>
                  </a:lnTo>
                  <a:lnTo>
                    <a:pt x="4861242" y="282663"/>
                  </a:lnTo>
                  <a:lnTo>
                    <a:pt x="4861039" y="229552"/>
                  </a:lnTo>
                  <a:lnTo>
                    <a:pt x="4859020" y="216966"/>
                  </a:lnTo>
                  <a:lnTo>
                    <a:pt x="4859693" y="218160"/>
                  </a:lnTo>
                  <a:lnTo>
                    <a:pt x="4898606" y="233959"/>
                  </a:lnTo>
                  <a:lnTo>
                    <a:pt x="4911166" y="232867"/>
                  </a:lnTo>
                  <a:lnTo>
                    <a:pt x="4947183" y="206781"/>
                  </a:lnTo>
                  <a:lnTo>
                    <a:pt x="4955845" y="169240"/>
                  </a:lnTo>
                  <a:lnTo>
                    <a:pt x="4955845" y="123139"/>
                  </a:lnTo>
                  <a:close/>
                </a:path>
                <a:path w="5474335" h="283210">
                  <a:moveTo>
                    <a:pt x="5127790" y="124536"/>
                  </a:moveTo>
                  <a:lnTo>
                    <a:pt x="5117604" y="86131"/>
                  </a:lnTo>
                  <a:lnTo>
                    <a:pt x="5090147" y="63957"/>
                  </a:lnTo>
                  <a:lnTo>
                    <a:pt x="5090147" y="114363"/>
                  </a:lnTo>
                  <a:lnTo>
                    <a:pt x="5090147" y="178295"/>
                  </a:lnTo>
                  <a:lnTo>
                    <a:pt x="5087683" y="186131"/>
                  </a:lnTo>
                  <a:lnTo>
                    <a:pt x="5077841" y="196532"/>
                  </a:lnTo>
                  <a:lnTo>
                    <a:pt x="5070627" y="199123"/>
                  </a:lnTo>
                  <a:lnTo>
                    <a:pt x="5051552" y="199123"/>
                  </a:lnTo>
                  <a:lnTo>
                    <a:pt x="5044325" y="196532"/>
                  </a:lnTo>
                  <a:lnTo>
                    <a:pt x="5034521" y="186131"/>
                  </a:lnTo>
                  <a:lnTo>
                    <a:pt x="5032083" y="178295"/>
                  </a:lnTo>
                  <a:lnTo>
                    <a:pt x="5032083" y="114363"/>
                  </a:lnTo>
                  <a:lnTo>
                    <a:pt x="5034521" y="106553"/>
                  </a:lnTo>
                  <a:lnTo>
                    <a:pt x="5044325" y="96151"/>
                  </a:lnTo>
                  <a:lnTo>
                    <a:pt x="5051552" y="93535"/>
                  </a:lnTo>
                  <a:lnTo>
                    <a:pt x="5070627" y="93535"/>
                  </a:lnTo>
                  <a:lnTo>
                    <a:pt x="5077841" y="96151"/>
                  </a:lnTo>
                  <a:lnTo>
                    <a:pt x="5082730" y="101371"/>
                  </a:lnTo>
                  <a:lnTo>
                    <a:pt x="5087683" y="106553"/>
                  </a:lnTo>
                  <a:lnTo>
                    <a:pt x="5090147" y="63957"/>
                  </a:lnTo>
                  <a:lnTo>
                    <a:pt x="5061115" y="58699"/>
                  </a:lnTo>
                  <a:lnTo>
                    <a:pt x="5046611" y="59804"/>
                  </a:lnTo>
                  <a:lnTo>
                    <a:pt x="5004536" y="86131"/>
                  </a:lnTo>
                  <a:lnTo>
                    <a:pt x="4994389" y="124536"/>
                  </a:lnTo>
                  <a:lnTo>
                    <a:pt x="4994364" y="167843"/>
                  </a:lnTo>
                  <a:lnTo>
                    <a:pt x="4995494" y="182333"/>
                  </a:lnTo>
                  <a:lnTo>
                    <a:pt x="5022253" y="223964"/>
                  </a:lnTo>
                  <a:lnTo>
                    <a:pt x="5061115" y="233959"/>
                  </a:lnTo>
                  <a:lnTo>
                    <a:pt x="5075593" y="232854"/>
                  </a:lnTo>
                  <a:lnTo>
                    <a:pt x="5117604" y="206502"/>
                  </a:lnTo>
                  <a:lnTo>
                    <a:pt x="5121300" y="199123"/>
                  </a:lnTo>
                  <a:lnTo>
                    <a:pt x="5123269" y="195224"/>
                  </a:lnTo>
                  <a:lnTo>
                    <a:pt x="5126660" y="182333"/>
                  </a:lnTo>
                  <a:lnTo>
                    <a:pt x="5127790" y="167843"/>
                  </a:lnTo>
                  <a:lnTo>
                    <a:pt x="5127790" y="124536"/>
                  </a:lnTo>
                  <a:close/>
                </a:path>
                <a:path w="5474335" h="283210">
                  <a:moveTo>
                    <a:pt x="5306047" y="122580"/>
                  </a:moveTo>
                  <a:lnTo>
                    <a:pt x="5305018" y="108788"/>
                  </a:lnTo>
                  <a:lnTo>
                    <a:pt x="5301932" y="96443"/>
                  </a:lnTo>
                  <a:lnTo>
                    <a:pt x="5300027" y="92417"/>
                  </a:lnTo>
                  <a:lnTo>
                    <a:pt x="5296789" y="85559"/>
                  </a:lnTo>
                  <a:lnTo>
                    <a:pt x="5258714" y="59791"/>
                  </a:lnTo>
                  <a:lnTo>
                    <a:pt x="5245659" y="58699"/>
                  </a:lnTo>
                  <a:lnTo>
                    <a:pt x="5228653" y="61010"/>
                  </a:lnTo>
                  <a:lnTo>
                    <a:pt x="5216068" y="67932"/>
                  </a:lnTo>
                  <a:lnTo>
                    <a:pt x="5207876" y="79476"/>
                  </a:lnTo>
                  <a:lnTo>
                    <a:pt x="5204104" y="95643"/>
                  </a:lnTo>
                  <a:lnTo>
                    <a:pt x="5204180" y="95148"/>
                  </a:lnTo>
                  <a:lnTo>
                    <a:pt x="5210048" y="61569"/>
                  </a:lnTo>
                  <a:lnTo>
                    <a:pt x="5172964" y="61569"/>
                  </a:lnTo>
                  <a:lnTo>
                    <a:pt x="5172964" y="231101"/>
                  </a:lnTo>
                  <a:lnTo>
                    <a:pt x="5210607" y="231101"/>
                  </a:lnTo>
                  <a:lnTo>
                    <a:pt x="5210670" y="114134"/>
                  </a:lnTo>
                  <a:lnTo>
                    <a:pt x="5213147" y="106299"/>
                  </a:lnTo>
                  <a:lnTo>
                    <a:pt x="5222951" y="95643"/>
                  </a:lnTo>
                  <a:lnTo>
                    <a:pt x="5223484" y="95148"/>
                  </a:lnTo>
                  <a:lnTo>
                    <a:pt x="5230495" y="92417"/>
                  </a:lnTo>
                  <a:lnTo>
                    <a:pt x="5248973" y="92417"/>
                  </a:lnTo>
                  <a:lnTo>
                    <a:pt x="5256085" y="95148"/>
                  </a:lnTo>
                  <a:lnTo>
                    <a:pt x="5265928" y="106070"/>
                  </a:lnTo>
                  <a:lnTo>
                    <a:pt x="5266004" y="106299"/>
                  </a:lnTo>
                  <a:lnTo>
                    <a:pt x="5268404" y="114134"/>
                  </a:lnTo>
                  <a:lnTo>
                    <a:pt x="5268404" y="137972"/>
                  </a:lnTo>
                  <a:lnTo>
                    <a:pt x="5306047" y="137972"/>
                  </a:lnTo>
                  <a:lnTo>
                    <a:pt x="5306047" y="122580"/>
                  </a:lnTo>
                  <a:close/>
                </a:path>
                <a:path w="5474335" h="283210">
                  <a:moveTo>
                    <a:pt x="5474005" y="61569"/>
                  </a:moveTo>
                  <a:lnTo>
                    <a:pt x="5410962" y="61569"/>
                  </a:lnTo>
                  <a:lnTo>
                    <a:pt x="5410962" y="18605"/>
                  </a:lnTo>
                  <a:lnTo>
                    <a:pt x="5373255" y="18605"/>
                  </a:lnTo>
                  <a:lnTo>
                    <a:pt x="5373255" y="61569"/>
                  </a:lnTo>
                  <a:lnTo>
                    <a:pt x="5328818" y="61569"/>
                  </a:lnTo>
                  <a:lnTo>
                    <a:pt x="5328818" y="96964"/>
                  </a:lnTo>
                  <a:lnTo>
                    <a:pt x="5373255" y="96964"/>
                  </a:lnTo>
                  <a:lnTo>
                    <a:pt x="5373255" y="183591"/>
                  </a:lnTo>
                  <a:lnTo>
                    <a:pt x="5374068" y="194144"/>
                  </a:lnTo>
                  <a:lnTo>
                    <a:pt x="5401881" y="227952"/>
                  </a:lnTo>
                  <a:lnTo>
                    <a:pt x="5422227" y="231101"/>
                  </a:lnTo>
                  <a:lnTo>
                    <a:pt x="5471134" y="231101"/>
                  </a:lnTo>
                  <a:lnTo>
                    <a:pt x="5471134" y="195694"/>
                  </a:lnTo>
                  <a:lnTo>
                    <a:pt x="5418036" y="195694"/>
                  </a:lnTo>
                  <a:lnTo>
                    <a:pt x="5415089" y="194805"/>
                  </a:lnTo>
                  <a:lnTo>
                    <a:pt x="5411775" y="191262"/>
                  </a:lnTo>
                  <a:lnTo>
                    <a:pt x="5410962" y="188112"/>
                  </a:lnTo>
                  <a:lnTo>
                    <a:pt x="5410962" y="96964"/>
                  </a:lnTo>
                  <a:lnTo>
                    <a:pt x="5474005" y="96964"/>
                  </a:lnTo>
                  <a:lnTo>
                    <a:pt x="5474005" y="61569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42352" y="1231899"/>
            <a:ext cx="12405995" cy="2973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615690" indent="859155">
              <a:lnSpc>
                <a:spcPct val="143300"/>
              </a:lnSpc>
              <a:spcBef>
                <a:spcPts val="95"/>
              </a:spcBef>
              <a:tabLst>
                <a:tab pos="5686425" algn="l"/>
              </a:tabLst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sklearn.linear_model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LogisticRegression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logreg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LogisticRegression()</a:t>
            </a:r>
            <a:endParaRPr sz="2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X_train,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X_test, y_train, y_test = train_test_split(X, y,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test_size=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0.3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endParaRPr sz="2250">
              <a:latin typeface="Courier New"/>
              <a:cs typeface="Courier New"/>
            </a:endParaRPr>
          </a:p>
          <a:p>
            <a:pPr marL="8953500">
              <a:lnSpc>
                <a:spcPct val="100000"/>
              </a:lnSpc>
              <a:spcBef>
                <a:spcPts val="1170"/>
              </a:spcBef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random_state=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42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2250">
              <a:latin typeface="Courier New"/>
              <a:cs typeface="Courier New"/>
            </a:endParaRPr>
          </a:p>
          <a:p>
            <a:pPr marL="12700" marR="7054215">
              <a:lnSpc>
                <a:spcPct val="143300"/>
              </a:lnSpc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logreg.fit(X_train,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y_train)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y_pred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logreg.predict(X_test)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C2D669B-737C-5B8B-DF32-8163DE21F3B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15</a:t>
            </a:fld>
            <a:endParaRPr lang="en-US" altLang="ko-K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20" dirty="0"/>
              <a:t>Predicting</a:t>
            </a:r>
            <a:r>
              <a:rPr spc="-75" dirty="0"/>
              <a:t> </a:t>
            </a:r>
            <a:r>
              <a:rPr spc="-195" dirty="0"/>
              <a:t>probabilities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36"/>
            <a:ext cx="14575155" cy="1310640"/>
          </a:xfrm>
          <a:custGeom>
            <a:avLst/>
            <a:gdLst/>
            <a:ahLst/>
            <a:cxnLst/>
            <a:rect l="l" t="t" r="r" b="b"/>
            <a:pathLst>
              <a:path w="14575155" h="1310639">
                <a:moveTo>
                  <a:pt x="14498413" y="1310105"/>
                </a:moveTo>
                <a:lnTo>
                  <a:pt x="76505" y="1310105"/>
                </a:lnTo>
                <a:lnTo>
                  <a:pt x="71180" y="1309580"/>
                </a:lnTo>
                <a:lnTo>
                  <a:pt x="31920" y="1293318"/>
                </a:lnTo>
                <a:lnTo>
                  <a:pt x="4175" y="1254590"/>
                </a:lnTo>
                <a:lnTo>
                  <a:pt x="0" y="1233599"/>
                </a:lnTo>
                <a:lnTo>
                  <a:pt x="0" y="1228223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1233599"/>
                </a:lnTo>
                <a:lnTo>
                  <a:pt x="14558132" y="1278184"/>
                </a:lnTo>
                <a:lnTo>
                  <a:pt x="14519404" y="1305929"/>
                </a:lnTo>
                <a:lnTo>
                  <a:pt x="14503737" y="1309580"/>
                </a:lnTo>
                <a:lnTo>
                  <a:pt x="14498413" y="131010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722585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4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231923"/>
            <a:ext cx="8451215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95"/>
              </a:spcBef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y_pred_probs = logreg.predict_proba(X_test)[:, </a:t>
            </a:r>
            <a:r>
              <a:rPr sz="2250" spc="-25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2250" spc="-25" dirty="0">
                <a:solidFill>
                  <a:srgbClr val="04182D"/>
                </a:solidFill>
                <a:latin typeface="Courier New"/>
                <a:cs typeface="Courier New"/>
              </a:rPr>
              <a:t>] </a:t>
            </a:r>
            <a:r>
              <a:rPr sz="2250" spc="-1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(y_pred_probs[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0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])</a:t>
            </a:r>
            <a:endParaRPr sz="225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2352" y="2935060"/>
            <a:ext cx="208915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FFFFFF"/>
                </a:solidFill>
                <a:latin typeface="Courier New"/>
                <a:cs typeface="Courier New"/>
              </a:rPr>
              <a:t>[0.08961376]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989C669-71F9-E8E6-6FFB-3C43C56FFD3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16</a:t>
            </a:fld>
            <a:endParaRPr lang="en-US" altLang="ko-K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04" dirty="0"/>
              <a:t>Probability</a:t>
            </a:r>
            <a:r>
              <a:rPr spc="-95" dirty="0"/>
              <a:t> </a:t>
            </a:r>
            <a:r>
              <a:rPr spc="-270" dirty="0"/>
              <a:t>thresholds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2487152"/>
            <a:ext cx="122822" cy="12282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7056" y="1174582"/>
            <a:ext cx="6922134" cy="22199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70" dirty="0">
                <a:solidFill>
                  <a:srgbClr val="04182D"/>
                </a:solidFill>
                <a:latin typeface="Tahoma"/>
                <a:cs typeface="Tahoma"/>
              </a:rPr>
              <a:t>By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default,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logistic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regression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threshold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390" dirty="0">
                <a:solidFill>
                  <a:srgbClr val="04182D"/>
                </a:solidFill>
                <a:latin typeface="Tahoma"/>
                <a:cs typeface="Tahoma"/>
              </a:rPr>
              <a:t>=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0.5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Not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specific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logistic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Tahoma"/>
                <a:cs typeface="Tahoma"/>
              </a:rPr>
              <a:t>regression</a:t>
            </a:r>
            <a:endParaRPr sz="255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810"/>
              </a:spcBef>
            </a:pPr>
            <a:r>
              <a:rPr sz="2550" spc="225" dirty="0">
                <a:solidFill>
                  <a:srgbClr val="04182D"/>
                </a:solidFill>
                <a:latin typeface="Tahoma"/>
                <a:cs typeface="Tahoma"/>
              </a:rPr>
              <a:t>KNN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classifiers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also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have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thresholds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95"/>
              </a:spcBef>
            </a:pP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What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happens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if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we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vary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Tahoma"/>
                <a:cs typeface="Tahoma"/>
              </a:rPr>
              <a:t>threshold?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152440"/>
            <a:ext cx="102352" cy="102351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061577B9-515A-7E1B-1C13-4866D3301EF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17</a:t>
            </a:fld>
            <a:endParaRPr lang="en-US" altLang="ko-K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20" dirty="0"/>
              <a:t>The</a:t>
            </a:r>
            <a:r>
              <a:rPr spc="-165" dirty="0"/>
              <a:t> </a:t>
            </a:r>
            <a:r>
              <a:rPr dirty="0"/>
              <a:t>ROC</a:t>
            </a:r>
            <a:r>
              <a:rPr spc="-220" dirty="0"/>
              <a:t> </a:t>
            </a:r>
            <a:r>
              <a:rPr spc="-135" dirty="0"/>
              <a:t>curve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0088" y="1166812"/>
            <a:ext cx="9457320" cy="6161587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34E20B-13A1-FB49-79AA-3E9BFECB195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18</a:t>
            </a:fld>
            <a:endParaRPr lang="en-US" altLang="ko-K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0D190F-9950-8941-1AEA-6DFD7D8B4D7A}"/>
              </a:ext>
            </a:extLst>
          </p:cNvPr>
          <p:cNvSpPr txBox="1"/>
          <p:nvPr/>
        </p:nvSpPr>
        <p:spPr>
          <a:xfrm>
            <a:off x="4806950" y="151149"/>
            <a:ext cx="9372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The </a:t>
            </a:r>
            <a:r>
              <a:rPr lang="en-US" altLang="ko-KR" b="1" dirty="0"/>
              <a:t>ROC Curve</a:t>
            </a:r>
            <a:r>
              <a:rPr lang="en-US" altLang="ko-KR" dirty="0"/>
              <a:t> (Receiver Operating Characteristic Curve) is a graphical representation of a binary classifier's performance across different classification thresholds. It plots the </a:t>
            </a:r>
            <a:r>
              <a:rPr lang="en-US" altLang="ko-KR" b="1" dirty="0"/>
              <a:t>True Positive Rate (TPR)</a:t>
            </a:r>
            <a:r>
              <a:rPr lang="en-US" altLang="ko-KR" dirty="0"/>
              <a:t> against the </a:t>
            </a:r>
            <a:r>
              <a:rPr lang="en-US" altLang="ko-KR" b="1" dirty="0"/>
              <a:t>False Positive Rate (FPR)</a:t>
            </a:r>
            <a:r>
              <a:rPr lang="en-US" altLang="ko-KR" dirty="0"/>
              <a:t> for various threshold values.</a:t>
            </a:r>
            <a:endParaRPr lang="ko-KR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20" dirty="0"/>
              <a:t>The</a:t>
            </a:r>
            <a:r>
              <a:rPr spc="-165" dirty="0"/>
              <a:t> </a:t>
            </a:r>
            <a:r>
              <a:rPr dirty="0"/>
              <a:t>ROC</a:t>
            </a:r>
            <a:r>
              <a:rPr spc="-220" dirty="0"/>
              <a:t> </a:t>
            </a:r>
            <a:r>
              <a:rPr spc="-135" dirty="0"/>
              <a:t>curve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0088" y="1166812"/>
            <a:ext cx="9457320" cy="6161587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190BB0-DC82-9551-7723-FF8F1A8CA5A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19</a:t>
            </a:fld>
            <a:endParaRPr lang="en-US" altLang="ko-K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1E51FD-D43A-84F5-6FC0-A7B79632D795}"/>
              </a:ext>
            </a:extLst>
          </p:cNvPr>
          <p:cNvSpPr txBox="1"/>
          <p:nvPr/>
        </p:nvSpPr>
        <p:spPr>
          <a:xfrm>
            <a:off x="4578349" y="17553"/>
            <a:ext cx="102012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Shape of the Curve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A </a:t>
            </a:r>
            <a:r>
              <a:rPr lang="en-US" altLang="ko-KR" b="1" dirty="0"/>
              <a:t>perfect classifier</a:t>
            </a:r>
            <a:r>
              <a:rPr lang="en-US" altLang="ko-KR" dirty="0"/>
              <a:t> will pass through the top-left corner (TPR = 1, FPR = 0), achieving a sharp curve close to the top-left.</a:t>
            </a:r>
          </a:p>
          <a:p>
            <a:r>
              <a:rPr lang="en-US" altLang="ko-KR" dirty="0"/>
              <a:t>A </a:t>
            </a:r>
            <a:r>
              <a:rPr lang="en-US" altLang="ko-KR" b="1" dirty="0"/>
              <a:t>random classifier</a:t>
            </a:r>
            <a:r>
              <a:rPr lang="en-US" altLang="ko-KR" dirty="0"/>
              <a:t> (no predictive power) produces a diagonal line from (0, 0) to (1, 1).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20" dirty="0"/>
              <a:t>The</a:t>
            </a:r>
            <a:r>
              <a:rPr spc="-165" dirty="0"/>
              <a:t> </a:t>
            </a:r>
            <a:r>
              <a:rPr dirty="0"/>
              <a:t>ROC</a:t>
            </a:r>
            <a:r>
              <a:rPr spc="-220" dirty="0"/>
              <a:t> </a:t>
            </a:r>
            <a:r>
              <a:rPr spc="-135" dirty="0"/>
              <a:t>curve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0088" y="1166812"/>
            <a:ext cx="9457320" cy="6161587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D830B1-FC21-6248-117B-EC5438E448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20</a:t>
            </a:fld>
            <a:endParaRPr lang="en-US" altLang="ko-K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20" dirty="0"/>
              <a:t>The</a:t>
            </a:r>
            <a:r>
              <a:rPr spc="-165" dirty="0"/>
              <a:t> </a:t>
            </a:r>
            <a:r>
              <a:rPr dirty="0"/>
              <a:t>ROC</a:t>
            </a:r>
            <a:r>
              <a:rPr spc="-220" dirty="0"/>
              <a:t> </a:t>
            </a:r>
            <a:r>
              <a:rPr spc="-135" dirty="0"/>
              <a:t>curve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0088" y="1166812"/>
            <a:ext cx="9457320" cy="6161587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4A8F9F-8BCF-7E8F-A085-CAF6EF5346B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21</a:t>
            </a:fld>
            <a:endParaRPr lang="en-US" altLang="ko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61"/>
            <a:ext cx="608012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60" dirty="0"/>
              <a:t>Plotting</a:t>
            </a:r>
            <a:r>
              <a:rPr spc="-165" dirty="0"/>
              <a:t> </a:t>
            </a:r>
            <a:r>
              <a:rPr spc="-229" dirty="0"/>
              <a:t>the</a:t>
            </a:r>
            <a:r>
              <a:rPr spc="-165" dirty="0"/>
              <a:t> </a:t>
            </a:r>
            <a:r>
              <a:rPr dirty="0"/>
              <a:t>ROC</a:t>
            </a:r>
            <a:r>
              <a:rPr spc="-180" dirty="0"/>
              <a:t> </a:t>
            </a:r>
            <a:r>
              <a:rPr spc="-105" dirty="0"/>
              <a:t>curve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166788"/>
            <a:ext cx="14575155" cy="4258310"/>
            <a:chOff x="491289" y="1166788"/>
            <a:chExt cx="14575155" cy="4258310"/>
          </a:xfrm>
        </p:grpSpPr>
        <p:sp>
          <p:nvSpPr>
            <p:cNvPr id="4" name="object 4"/>
            <p:cNvSpPr/>
            <p:nvPr/>
          </p:nvSpPr>
          <p:spPr>
            <a:xfrm>
              <a:off x="491289" y="1166788"/>
              <a:ext cx="14575155" cy="4258310"/>
            </a:xfrm>
            <a:custGeom>
              <a:avLst/>
              <a:gdLst/>
              <a:ahLst/>
              <a:cxnLst/>
              <a:rect l="l" t="t" r="r" b="b"/>
              <a:pathLst>
                <a:path w="14575155" h="4258310">
                  <a:moveTo>
                    <a:pt x="14498413" y="4257841"/>
                  </a:moveTo>
                  <a:lnTo>
                    <a:pt x="76505" y="4257841"/>
                  </a:lnTo>
                  <a:lnTo>
                    <a:pt x="71180" y="4257316"/>
                  </a:lnTo>
                  <a:lnTo>
                    <a:pt x="31920" y="4241054"/>
                  </a:lnTo>
                  <a:lnTo>
                    <a:pt x="4175" y="4202327"/>
                  </a:lnTo>
                  <a:lnTo>
                    <a:pt x="0" y="4181335"/>
                  </a:lnTo>
                  <a:lnTo>
                    <a:pt x="0" y="4175960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5"/>
                  </a:lnTo>
                  <a:lnTo>
                    <a:pt x="14574918" y="4181335"/>
                  </a:lnTo>
                  <a:lnTo>
                    <a:pt x="14558132" y="4225920"/>
                  </a:lnTo>
                  <a:lnTo>
                    <a:pt x="14519404" y="4253665"/>
                  </a:lnTo>
                  <a:lnTo>
                    <a:pt x="14503737" y="4257316"/>
                  </a:lnTo>
                  <a:lnTo>
                    <a:pt x="14498413" y="4257841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2261" y="1447456"/>
              <a:ext cx="4614545" cy="283210"/>
            </a:xfrm>
            <a:custGeom>
              <a:avLst/>
              <a:gdLst/>
              <a:ahLst/>
              <a:cxnLst/>
              <a:rect l="l" t="t" r="r" b="b"/>
              <a:pathLst>
                <a:path w="4614545" h="283210">
                  <a:moveTo>
                    <a:pt x="147980" y="10007"/>
                  </a:moveTo>
                  <a:lnTo>
                    <a:pt x="93332" y="10007"/>
                  </a:lnTo>
                  <a:lnTo>
                    <a:pt x="83096" y="10769"/>
                  </a:lnTo>
                  <a:lnTo>
                    <a:pt x="49060" y="36728"/>
                  </a:lnTo>
                  <a:lnTo>
                    <a:pt x="45821" y="55486"/>
                  </a:lnTo>
                  <a:lnTo>
                    <a:pt x="45821" y="64719"/>
                  </a:lnTo>
                  <a:lnTo>
                    <a:pt x="0" y="64719"/>
                  </a:lnTo>
                  <a:lnTo>
                    <a:pt x="0" y="100114"/>
                  </a:lnTo>
                  <a:lnTo>
                    <a:pt x="45821" y="100114"/>
                  </a:lnTo>
                  <a:lnTo>
                    <a:pt x="45821" y="231101"/>
                  </a:lnTo>
                  <a:lnTo>
                    <a:pt x="83540" y="231101"/>
                  </a:lnTo>
                  <a:lnTo>
                    <a:pt x="83540" y="100114"/>
                  </a:lnTo>
                  <a:lnTo>
                    <a:pt x="147980" y="100114"/>
                  </a:lnTo>
                  <a:lnTo>
                    <a:pt x="147980" y="64719"/>
                  </a:lnTo>
                  <a:lnTo>
                    <a:pt x="83540" y="64719"/>
                  </a:lnTo>
                  <a:lnTo>
                    <a:pt x="83540" y="51892"/>
                  </a:lnTo>
                  <a:lnTo>
                    <a:pt x="84328" y="49441"/>
                  </a:lnTo>
                  <a:lnTo>
                    <a:pt x="87553" y="46215"/>
                  </a:lnTo>
                  <a:lnTo>
                    <a:pt x="90017" y="45402"/>
                  </a:lnTo>
                  <a:lnTo>
                    <a:pt x="147980" y="45402"/>
                  </a:lnTo>
                  <a:lnTo>
                    <a:pt x="147980" y="10007"/>
                  </a:lnTo>
                  <a:close/>
                </a:path>
                <a:path w="4614545" h="283210">
                  <a:moveTo>
                    <a:pt x="319646" y="122580"/>
                  </a:moveTo>
                  <a:lnTo>
                    <a:pt x="310400" y="85559"/>
                  </a:lnTo>
                  <a:lnTo>
                    <a:pt x="272326" y="59791"/>
                  </a:lnTo>
                  <a:lnTo>
                    <a:pt x="259270" y="58699"/>
                  </a:lnTo>
                  <a:lnTo>
                    <a:pt x="242265" y="61010"/>
                  </a:lnTo>
                  <a:lnTo>
                    <a:pt x="229666" y="67932"/>
                  </a:lnTo>
                  <a:lnTo>
                    <a:pt x="221488" y="79476"/>
                  </a:lnTo>
                  <a:lnTo>
                    <a:pt x="217703" y="95643"/>
                  </a:lnTo>
                  <a:lnTo>
                    <a:pt x="217792" y="95148"/>
                  </a:lnTo>
                  <a:lnTo>
                    <a:pt x="223647" y="61569"/>
                  </a:lnTo>
                  <a:lnTo>
                    <a:pt x="186575" y="61569"/>
                  </a:lnTo>
                  <a:lnTo>
                    <a:pt x="186575" y="231101"/>
                  </a:lnTo>
                  <a:lnTo>
                    <a:pt x="224218" y="231101"/>
                  </a:lnTo>
                  <a:lnTo>
                    <a:pt x="224269" y="114134"/>
                  </a:lnTo>
                  <a:lnTo>
                    <a:pt x="226758" y="106299"/>
                  </a:lnTo>
                  <a:lnTo>
                    <a:pt x="236562" y="95643"/>
                  </a:lnTo>
                  <a:lnTo>
                    <a:pt x="237083" y="95148"/>
                  </a:lnTo>
                  <a:lnTo>
                    <a:pt x="244106" y="92417"/>
                  </a:lnTo>
                  <a:lnTo>
                    <a:pt x="262572" y="92417"/>
                  </a:lnTo>
                  <a:lnTo>
                    <a:pt x="269697" y="95148"/>
                  </a:lnTo>
                  <a:lnTo>
                    <a:pt x="279527" y="106070"/>
                  </a:lnTo>
                  <a:lnTo>
                    <a:pt x="279603" y="106299"/>
                  </a:lnTo>
                  <a:lnTo>
                    <a:pt x="282003" y="114134"/>
                  </a:lnTo>
                  <a:lnTo>
                    <a:pt x="282003" y="137972"/>
                  </a:lnTo>
                  <a:lnTo>
                    <a:pt x="319646" y="137972"/>
                  </a:lnTo>
                  <a:lnTo>
                    <a:pt x="319646" y="122580"/>
                  </a:lnTo>
                  <a:close/>
                </a:path>
                <a:path w="4614545" h="283210">
                  <a:moveTo>
                    <a:pt x="485305" y="124536"/>
                  </a:moveTo>
                  <a:lnTo>
                    <a:pt x="484174" y="110172"/>
                  </a:lnTo>
                  <a:lnTo>
                    <a:pt x="480771" y="97370"/>
                  </a:lnTo>
                  <a:lnTo>
                    <a:pt x="478840" y="93548"/>
                  </a:lnTo>
                  <a:lnTo>
                    <a:pt x="475107" y="86144"/>
                  </a:lnTo>
                  <a:lnTo>
                    <a:pt x="467182" y="76466"/>
                  </a:lnTo>
                  <a:lnTo>
                    <a:pt x="457377" y="68694"/>
                  </a:lnTo>
                  <a:lnTo>
                    <a:pt x="447662" y="63957"/>
                  </a:lnTo>
                  <a:lnTo>
                    <a:pt x="447662" y="114363"/>
                  </a:lnTo>
                  <a:lnTo>
                    <a:pt x="447662" y="178295"/>
                  </a:lnTo>
                  <a:lnTo>
                    <a:pt x="445185" y="186131"/>
                  </a:lnTo>
                  <a:lnTo>
                    <a:pt x="435343" y="196532"/>
                  </a:lnTo>
                  <a:lnTo>
                    <a:pt x="428142" y="199123"/>
                  </a:lnTo>
                  <a:lnTo>
                    <a:pt x="409054" y="199123"/>
                  </a:lnTo>
                  <a:lnTo>
                    <a:pt x="401828" y="196532"/>
                  </a:lnTo>
                  <a:lnTo>
                    <a:pt x="392036" y="186131"/>
                  </a:lnTo>
                  <a:lnTo>
                    <a:pt x="389585" y="178295"/>
                  </a:lnTo>
                  <a:lnTo>
                    <a:pt x="389585" y="114363"/>
                  </a:lnTo>
                  <a:lnTo>
                    <a:pt x="392036" y="106553"/>
                  </a:lnTo>
                  <a:lnTo>
                    <a:pt x="401828" y="96151"/>
                  </a:lnTo>
                  <a:lnTo>
                    <a:pt x="409054" y="93548"/>
                  </a:lnTo>
                  <a:lnTo>
                    <a:pt x="428142" y="93548"/>
                  </a:lnTo>
                  <a:lnTo>
                    <a:pt x="435343" y="96151"/>
                  </a:lnTo>
                  <a:lnTo>
                    <a:pt x="440245" y="101384"/>
                  </a:lnTo>
                  <a:lnTo>
                    <a:pt x="445185" y="106553"/>
                  </a:lnTo>
                  <a:lnTo>
                    <a:pt x="447662" y="63957"/>
                  </a:lnTo>
                  <a:lnTo>
                    <a:pt x="418617" y="58699"/>
                  </a:lnTo>
                  <a:lnTo>
                    <a:pt x="404114" y="59804"/>
                  </a:lnTo>
                  <a:lnTo>
                    <a:pt x="362038" y="86144"/>
                  </a:lnTo>
                  <a:lnTo>
                    <a:pt x="351891" y="124536"/>
                  </a:lnTo>
                  <a:lnTo>
                    <a:pt x="351878" y="167843"/>
                  </a:lnTo>
                  <a:lnTo>
                    <a:pt x="352996" y="182333"/>
                  </a:lnTo>
                  <a:lnTo>
                    <a:pt x="379768" y="223964"/>
                  </a:lnTo>
                  <a:lnTo>
                    <a:pt x="418617" y="233972"/>
                  </a:lnTo>
                  <a:lnTo>
                    <a:pt x="433095" y="232854"/>
                  </a:lnTo>
                  <a:lnTo>
                    <a:pt x="475107" y="206514"/>
                  </a:lnTo>
                  <a:lnTo>
                    <a:pt x="485305" y="167843"/>
                  </a:lnTo>
                  <a:lnTo>
                    <a:pt x="485305" y="124536"/>
                  </a:lnTo>
                  <a:close/>
                </a:path>
                <a:path w="4614545" h="283210">
                  <a:moveTo>
                    <a:pt x="663549" y="105371"/>
                  </a:moveTo>
                  <a:lnTo>
                    <a:pt x="662940" y="95554"/>
                  </a:lnTo>
                  <a:lnTo>
                    <a:pt x="661873" y="90398"/>
                  </a:lnTo>
                  <a:lnTo>
                    <a:pt x="661098" y="86690"/>
                  </a:lnTo>
                  <a:lnTo>
                    <a:pt x="660450" y="85001"/>
                  </a:lnTo>
                  <a:lnTo>
                    <a:pt x="660374" y="84797"/>
                  </a:lnTo>
                  <a:lnTo>
                    <a:pt x="626402" y="58699"/>
                  </a:lnTo>
                  <a:lnTo>
                    <a:pt x="618045" y="58699"/>
                  </a:lnTo>
                  <a:lnTo>
                    <a:pt x="611365" y="61010"/>
                  </a:lnTo>
                  <a:lnTo>
                    <a:pt x="610514" y="61569"/>
                  </a:lnTo>
                  <a:lnTo>
                    <a:pt x="599694" y="70827"/>
                  </a:lnTo>
                  <a:lnTo>
                    <a:pt x="599389" y="71767"/>
                  </a:lnTo>
                  <a:lnTo>
                    <a:pt x="598830" y="70192"/>
                  </a:lnTo>
                  <a:lnTo>
                    <a:pt x="597941" y="69456"/>
                  </a:lnTo>
                  <a:lnTo>
                    <a:pt x="597941" y="78765"/>
                  </a:lnTo>
                  <a:lnTo>
                    <a:pt x="597687" y="77025"/>
                  </a:lnTo>
                  <a:lnTo>
                    <a:pt x="597814" y="76657"/>
                  </a:lnTo>
                  <a:lnTo>
                    <a:pt x="597839" y="77025"/>
                  </a:lnTo>
                  <a:lnTo>
                    <a:pt x="597941" y="78765"/>
                  </a:lnTo>
                  <a:lnTo>
                    <a:pt x="597941" y="69456"/>
                  </a:lnTo>
                  <a:lnTo>
                    <a:pt x="593369" y="65620"/>
                  </a:lnTo>
                  <a:lnTo>
                    <a:pt x="587959" y="61010"/>
                  </a:lnTo>
                  <a:lnTo>
                    <a:pt x="581291" y="58699"/>
                  </a:lnTo>
                  <a:lnTo>
                    <a:pt x="565010" y="58699"/>
                  </a:lnTo>
                  <a:lnTo>
                    <a:pt x="558431" y="61010"/>
                  </a:lnTo>
                  <a:lnTo>
                    <a:pt x="558203" y="61010"/>
                  </a:lnTo>
                  <a:lnTo>
                    <a:pt x="551053" y="67233"/>
                  </a:lnTo>
                  <a:lnTo>
                    <a:pt x="552094" y="61569"/>
                  </a:lnTo>
                  <a:lnTo>
                    <a:pt x="546138" y="61569"/>
                  </a:lnTo>
                  <a:lnTo>
                    <a:pt x="546138" y="84442"/>
                  </a:lnTo>
                  <a:lnTo>
                    <a:pt x="544741" y="77025"/>
                  </a:lnTo>
                  <a:lnTo>
                    <a:pt x="544868" y="76657"/>
                  </a:lnTo>
                  <a:lnTo>
                    <a:pt x="544906" y="77025"/>
                  </a:lnTo>
                  <a:lnTo>
                    <a:pt x="545071" y="78765"/>
                  </a:lnTo>
                  <a:lnTo>
                    <a:pt x="546138" y="84442"/>
                  </a:lnTo>
                  <a:lnTo>
                    <a:pt x="546138" y="61569"/>
                  </a:lnTo>
                  <a:lnTo>
                    <a:pt x="517525" y="61569"/>
                  </a:lnTo>
                  <a:lnTo>
                    <a:pt x="517525" y="231101"/>
                  </a:lnTo>
                  <a:lnTo>
                    <a:pt x="553212" y="231101"/>
                  </a:lnTo>
                  <a:lnTo>
                    <a:pt x="553212" y="99631"/>
                  </a:lnTo>
                  <a:lnTo>
                    <a:pt x="554075" y="95948"/>
                  </a:lnTo>
                  <a:lnTo>
                    <a:pt x="557568" y="91516"/>
                  </a:lnTo>
                  <a:lnTo>
                    <a:pt x="560095" y="90398"/>
                  </a:lnTo>
                  <a:lnTo>
                    <a:pt x="566813" y="90398"/>
                  </a:lnTo>
                  <a:lnTo>
                    <a:pt x="569328" y="91516"/>
                  </a:lnTo>
                  <a:lnTo>
                    <a:pt x="573024" y="95948"/>
                  </a:lnTo>
                  <a:lnTo>
                    <a:pt x="574179" y="99631"/>
                  </a:lnTo>
                  <a:lnTo>
                    <a:pt x="574268" y="231101"/>
                  </a:lnTo>
                  <a:lnTo>
                    <a:pt x="606806" y="231101"/>
                  </a:lnTo>
                  <a:lnTo>
                    <a:pt x="606831" y="99631"/>
                  </a:lnTo>
                  <a:lnTo>
                    <a:pt x="607860" y="95948"/>
                  </a:lnTo>
                  <a:lnTo>
                    <a:pt x="611644" y="91516"/>
                  </a:lnTo>
                  <a:lnTo>
                    <a:pt x="614197" y="90398"/>
                  </a:lnTo>
                  <a:lnTo>
                    <a:pt x="620915" y="90398"/>
                  </a:lnTo>
                  <a:lnTo>
                    <a:pt x="623379" y="91516"/>
                  </a:lnTo>
                  <a:lnTo>
                    <a:pt x="626770" y="95948"/>
                  </a:lnTo>
                  <a:lnTo>
                    <a:pt x="627786" y="99631"/>
                  </a:lnTo>
                  <a:lnTo>
                    <a:pt x="627862" y="231101"/>
                  </a:lnTo>
                  <a:lnTo>
                    <a:pt x="663549" y="231101"/>
                  </a:lnTo>
                  <a:lnTo>
                    <a:pt x="663549" y="105371"/>
                  </a:lnTo>
                  <a:close/>
                </a:path>
                <a:path w="4614545" h="283210">
                  <a:moveTo>
                    <a:pt x="3715804" y="16510"/>
                  </a:moveTo>
                  <a:lnTo>
                    <a:pt x="3713492" y="10909"/>
                  </a:lnTo>
                  <a:lnTo>
                    <a:pt x="3704259" y="2184"/>
                  </a:lnTo>
                  <a:lnTo>
                    <a:pt x="3698379" y="0"/>
                  </a:lnTo>
                  <a:lnTo>
                    <a:pt x="3678364" y="0"/>
                  </a:lnTo>
                  <a:lnTo>
                    <a:pt x="3672497" y="2184"/>
                  </a:lnTo>
                  <a:lnTo>
                    <a:pt x="3663251" y="10909"/>
                  </a:lnTo>
                  <a:lnTo>
                    <a:pt x="3660952" y="16510"/>
                  </a:lnTo>
                  <a:lnTo>
                    <a:pt x="3660952" y="30264"/>
                  </a:lnTo>
                  <a:lnTo>
                    <a:pt x="3663213" y="35814"/>
                  </a:lnTo>
                  <a:lnTo>
                    <a:pt x="3667734" y="40017"/>
                  </a:lnTo>
                  <a:lnTo>
                    <a:pt x="3672306" y="44170"/>
                  </a:lnTo>
                  <a:lnTo>
                    <a:pt x="3678224" y="46240"/>
                  </a:lnTo>
                  <a:lnTo>
                    <a:pt x="3698290" y="46240"/>
                  </a:lnTo>
                  <a:lnTo>
                    <a:pt x="3704145" y="44170"/>
                  </a:lnTo>
                  <a:lnTo>
                    <a:pt x="3713492" y="35814"/>
                  </a:lnTo>
                  <a:lnTo>
                    <a:pt x="3715804" y="30264"/>
                  </a:lnTo>
                  <a:lnTo>
                    <a:pt x="3715804" y="16510"/>
                  </a:lnTo>
                  <a:close/>
                </a:path>
                <a:path w="4614545" h="283210">
                  <a:moveTo>
                    <a:pt x="3763099" y="195694"/>
                  </a:moveTo>
                  <a:lnTo>
                    <a:pt x="3710063" y="195694"/>
                  </a:lnTo>
                  <a:lnTo>
                    <a:pt x="3710063" y="61569"/>
                  </a:lnTo>
                  <a:lnTo>
                    <a:pt x="3623653" y="61569"/>
                  </a:lnTo>
                  <a:lnTo>
                    <a:pt x="3623653" y="96964"/>
                  </a:lnTo>
                  <a:lnTo>
                    <a:pt x="3672357" y="96964"/>
                  </a:lnTo>
                  <a:lnTo>
                    <a:pt x="3672357" y="195694"/>
                  </a:lnTo>
                  <a:lnTo>
                    <a:pt x="3616515" y="195694"/>
                  </a:lnTo>
                  <a:lnTo>
                    <a:pt x="3616515" y="231101"/>
                  </a:lnTo>
                  <a:lnTo>
                    <a:pt x="3763099" y="231101"/>
                  </a:lnTo>
                  <a:lnTo>
                    <a:pt x="3763099" y="195694"/>
                  </a:lnTo>
                  <a:close/>
                </a:path>
                <a:path w="4614545" h="283210">
                  <a:moveTo>
                    <a:pt x="3930434" y="105371"/>
                  </a:moveTo>
                  <a:lnTo>
                    <a:pt x="3929824" y="95554"/>
                  </a:lnTo>
                  <a:lnTo>
                    <a:pt x="3928757" y="90398"/>
                  </a:lnTo>
                  <a:lnTo>
                    <a:pt x="3927983" y="86690"/>
                  </a:lnTo>
                  <a:lnTo>
                    <a:pt x="3927335" y="85001"/>
                  </a:lnTo>
                  <a:lnTo>
                    <a:pt x="3927259" y="84797"/>
                  </a:lnTo>
                  <a:lnTo>
                    <a:pt x="3893286" y="58699"/>
                  </a:lnTo>
                  <a:lnTo>
                    <a:pt x="3884930" y="58699"/>
                  </a:lnTo>
                  <a:lnTo>
                    <a:pt x="3878249" y="61010"/>
                  </a:lnTo>
                  <a:lnTo>
                    <a:pt x="3877399" y="61569"/>
                  </a:lnTo>
                  <a:lnTo>
                    <a:pt x="3866578" y="70827"/>
                  </a:lnTo>
                  <a:lnTo>
                    <a:pt x="3866273" y="71767"/>
                  </a:lnTo>
                  <a:lnTo>
                    <a:pt x="3865715" y="70192"/>
                  </a:lnTo>
                  <a:lnTo>
                    <a:pt x="3864826" y="69456"/>
                  </a:lnTo>
                  <a:lnTo>
                    <a:pt x="3864826" y="78765"/>
                  </a:lnTo>
                  <a:lnTo>
                    <a:pt x="3864572" y="77025"/>
                  </a:lnTo>
                  <a:lnTo>
                    <a:pt x="3864699" y="76657"/>
                  </a:lnTo>
                  <a:lnTo>
                    <a:pt x="3864724" y="77025"/>
                  </a:lnTo>
                  <a:lnTo>
                    <a:pt x="3864826" y="78765"/>
                  </a:lnTo>
                  <a:lnTo>
                    <a:pt x="3864826" y="69456"/>
                  </a:lnTo>
                  <a:lnTo>
                    <a:pt x="3860254" y="65620"/>
                  </a:lnTo>
                  <a:lnTo>
                    <a:pt x="3854843" y="61010"/>
                  </a:lnTo>
                  <a:lnTo>
                    <a:pt x="3848176" y="58699"/>
                  </a:lnTo>
                  <a:lnTo>
                    <a:pt x="3831894" y="58699"/>
                  </a:lnTo>
                  <a:lnTo>
                    <a:pt x="3825316" y="61010"/>
                  </a:lnTo>
                  <a:lnTo>
                    <a:pt x="3825087" y="61010"/>
                  </a:lnTo>
                  <a:lnTo>
                    <a:pt x="3817937" y="67233"/>
                  </a:lnTo>
                  <a:lnTo>
                    <a:pt x="3818979" y="61569"/>
                  </a:lnTo>
                  <a:lnTo>
                    <a:pt x="3813022" y="61569"/>
                  </a:lnTo>
                  <a:lnTo>
                    <a:pt x="3813022" y="84442"/>
                  </a:lnTo>
                  <a:lnTo>
                    <a:pt x="3811625" y="77025"/>
                  </a:lnTo>
                  <a:lnTo>
                    <a:pt x="3811752" y="76657"/>
                  </a:lnTo>
                  <a:lnTo>
                    <a:pt x="3811790" y="77025"/>
                  </a:lnTo>
                  <a:lnTo>
                    <a:pt x="3811955" y="78765"/>
                  </a:lnTo>
                  <a:lnTo>
                    <a:pt x="3813022" y="84442"/>
                  </a:lnTo>
                  <a:lnTo>
                    <a:pt x="3813022" y="61569"/>
                  </a:lnTo>
                  <a:lnTo>
                    <a:pt x="3784409" y="61569"/>
                  </a:lnTo>
                  <a:lnTo>
                    <a:pt x="3784409" y="231101"/>
                  </a:lnTo>
                  <a:lnTo>
                    <a:pt x="3820096" y="231101"/>
                  </a:lnTo>
                  <a:lnTo>
                    <a:pt x="3820096" y="99631"/>
                  </a:lnTo>
                  <a:lnTo>
                    <a:pt x="3820960" y="95948"/>
                  </a:lnTo>
                  <a:lnTo>
                    <a:pt x="3824452" y="91516"/>
                  </a:lnTo>
                  <a:lnTo>
                    <a:pt x="3826980" y="90398"/>
                  </a:lnTo>
                  <a:lnTo>
                    <a:pt x="3833685" y="90398"/>
                  </a:lnTo>
                  <a:lnTo>
                    <a:pt x="3836212" y="91516"/>
                  </a:lnTo>
                  <a:lnTo>
                    <a:pt x="3839908" y="95948"/>
                  </a:lnTo>
                  <a:lnTo>
                    <a:pt x="3841064" y="99631"/>
                  </a:lnTo>
                  <a:lnTo>
                    <a:pt x="3841153" y="231101"/>
                  </a:lnTo>
                  <a:lnTo>
                    <a:pt x="3873690" y="231101"/>
                  </a:lnTo>
                  <a:lnTo>
                    <a:pt x="3873716" y="99631"/>
                  </a:lnTo>
                  <a:lnTo>
                    <a:pt x="3874744" y="95948"/>
                  </a:lnTo>
                  <a:lnTo>
                    <a:pt x="3878529" y="91516"/>
                  </a:lnTo>
                  <a:lnTo>
                    <a:pt x="3881082" y="90398"/>
                  </a:lnTo>
                  <a:lnTo>
                    <a:pt x="3887800" y="90398"/>
                  </a:lnTo>
                  <a:lnTo>
                    <a:pt x="3890264" y="91516"/>
                  </a:lnTo>
                  <a:lnTo>
                    <a:pt x="3893655" y="95948"/>
                  </a:lnTo>
                  <a:lnTo>
                    <a:pt x="3894671" y="99631"/>
                  </a:lnTo>
                  <a:lnTo>
                    <a:pt x="3894747" y="231101"/>
                  </a:lnTo>
                  <a:lnTo>
                    <a:pt x="3930434" y="231101"/>
                  </a:lnTo>
                  <a:lnTo>
                    <a:pt x="3930434" y="105371"/>
                  </a:lnTo>
                  <a:close/>
                </a:path>
                <a:path w="4614545" h="283210">
                  <a:moveTo>
                    <a:pt x="4096080" y="123139"/>
                  </a:moveTo>
                  <a:lnTo>
                    <a:pt x="4087431" y="85864"/>
                  </a:lnTo>
                  <a:lnTo>
                    <a:pt x="4058450" y="61887"/>
                  </a:lnTo>
                  <a:lnTo>
                    <a:pt x="4058450" y="114134"/>
                  </a:lnTo>
                  <a:lnTo>
                    <a:pt x="4058450" y="178523"/>
                  </a:lnTo>
                  <a:lnTo>
                    <a:pt x="4056037" y="186499"/>
                  </a:lnTo>
                  <a:lnTo>
                    <a:pt x="4046512" y="196951"/>
                  </a:lnTo>
                  <a:lnTo>
                    <a:pt x="4039438" y="199682"/>
                  </a:lnTo>
                  <a:lnTo>
                    <a:pt x="4021290" y="199682"/>
                  </a:lnTo>
                  <a:lnTo>
                    <a:pt x="4001630" y="178523"/>
                  </a:lnTo>
                  <a:lnTo>
                    <a:pt x="4001630" y="114134"/>
                  </a:lnTo>
                  <a:lnTo>
                    <a:pt x="4021290" y="92976"/>
                  </a:lnTo>
                  <a:lnTo>
                    <a:pt x="4039438" y="92976"/>
                  </a:lnTo>
                  <a:lnTo>
                    <a:pt x="4046436" y="95618"/>
                  </a:lnTo>
                  <a:lnTo>
                    <a:pt x="4056037" y="106159"/>
                  </a:lnTo>
                  <a:lnTo>
                    <a:pt x="4058450" y="114134"/>
                  </a:lnTo>
                  <a:lnTo>
                    <a:pt x="4058450" y="61887"/>
                  </a:lnTo>
                  <a:lnTo>
                    <a:pt x="4051414" y="59804"/>
                  </a:lnTo>
                  <a:lnTo>
                    <a:pt x="4038854" y="58699"/>
                  </a:lnTo>
                  <a:lnTo>
                    <a:pt x="4029379" y="59334"/>
                  </a:lnTo>
                  <a:lnTo>
                    <a:pt x="3999179" y="76327"/>
                  </a:lnTo>
                  <a:lnTo>
                    <a:pt x="3995953" y="96850"/>
                  </a:lnTo>
                  <a:lnTo>
                    <a:pt x="3999255" y="75780"/>
                  </a:lnTo>
                  <a:lnTo>
                    <a:pt x="4001490" y="61569"/>
                  </a:lnTo>
                  <a:lnTo>
                    <a:pt x="3994988" y="61569"/>
                  </a:lnTo>
                  <a:lnTo>
                    <a:pt x="3994988" y="195973"/>
                  </a:lnTo>
                  <a:lnTo>
                    <a:pt x="3994950" y="196951"/>
                  </a:lnTo>
                  <a:lnTo>
                    <a:pt x="3994848" y="198932"/>
                  </a:lnTo>
                  <a:lnTo>
                    <a:pt x="3994988" y="195973"/>
                  </a:lnTo>
                  <a:lnTo>
                    <a:pt x="3994988" y="61569"/>
                  </a:lnTo>
                  <a:lnTo>
                    <a:pt x="3963847" y="61569"/>
                  </a:lnTo>
                  <a:lnTo>
                    <a:pt x="3963847" y="282663"/>
                  </a:lnTo>
                  <a:lnTo>
                    <a:pt x="4001490" y="282663"/>
                  </a:lnTo>
                  <a:lnTo>
                    <a:pt x="4001287" y="229552"/>
                  </a:lnTo>
                  <a:lnTo>
                    <a:pt x="3999268" y="216979"/>
                  </a:lnTo>
                  <a:lnTo>
                    <a:pt x="3999941" y="218160"/>
                  </a:lnTo>
                  <a:lnTo>
                    <a:pt x="4038854" y="233972"/>
                  </a:lnTo>
                  <a:lnTo>
                    <a:pt x="4051414" y="232867"/>
                  </a:lnTo>
                  <a:lnTo>
                    <a:pt x="4087431" y="206781"/>
                  </a:lnTo>
                  <a:lnTo>
                    <a:pt x="4090517" y="199682"/>
                  </a:lnTo>
                  <a:lnTo>
                    <a:pt x="4092232" y="195745"/>
                  </a:lnTo>
                  <a:lnTo>
                    <a:pt x="4095127" y="183235"/>
                  </a:lnTo>
                  <a:lnTo>
                    <a:pt x="4096080" y="169252"/>
                  </a:lnTo>
                  <a:lnTo>
                    <a:pt x="4096080" y="123139"/>
                  </a:lnTo>
                  <a:close/>
                </a:path>
                <a:path w="4614545" h="283210">
                  <a:moveTo>
                    <a:pt x="4268038" y="124536"/>
                  </a:moveTo>
                  <a:lnTo>
                    <a:pt x="4266908" y="110172"/>
                  </a:lnTo>
                  <a:lnTo>
                    <a:pt x="4263504" y="97370"/>
                  </a:lnTo>
                  <a:lnTo>
                    <a:pt x="4261574" y="93548"/>
                  </a:lnTo>
                  <a:lnTo>
                    <a:pt x="4257840" y="86144"/>
                  </a:lnTo>
                  <a:lnTo>
                    <a:pt x="4249915" y="76466"/>
                  </a:lnTo>
                  <a:lnTo>
                    <a:pt x="4240111" y="68694"/>
                  </a:lnTo>
                  <a:lnTo>
                    <a:pt x="4230395" y="63957"/>
                  </a:lnTo>
                  <a:lnTo>
                    <a:pt x="4230395" y="114363"/>
                  </a:lnTo>
                  <a:lnTo>
                    <a:pt x="4230395" y="178295"/>
                  </a:lnTo>
                  <a:lnTo>
                    <a:pt x="4227919" y="186131"/>
                  </a:lnTo>
                  <a:lnTo>
                    <a:pt x="4218076" y="196532"/>
                  </a:lnTo>
                  <a:lnTo>
                    <a:pt x="4210875" y="199123"/>
                  </a:lnTo>
                  <a:lnTo>
                    <a:pt x="4191800" y="199123"/>
                  </a:lnTo>
                  <a:lnTo>
                    <a:pt x="4184561" y="196532"/>
                  </a:lnTo>
                  <a:lnTo>
                    <a:pt x="4174769" y="186131"/>
                  </a:lnTo>
                  <a:lnTo>
                    <a:pt x="4172318" y="178295"/>
                  </a:lnTo>
                  <a:lnTo>
                    <a:pt x="4172318" y="114363"/>
                  </a:lnTo>
                  <a:lnTo>
                    <a:pt x="4174769" y="106553"/>
                  </a:lnTo>
                  <a:lnTo>
                    <a:pt x="4184561" y="96151"/>
                  </a:lnTo>
                  <a:lnTo>
                    <a:pt x="4191800" y="93548"/>
                  </a:lnTo>
                  <a:lnTo>
                    <a:pt x="4210875" y="93548"/>
                  </a:lnTo>
                  <a:lnTo>
                    <a:pt x="4218076" y="96151"/>
                  </a:lnTo>
                  <a:lnTo>
                    <a:pt x="4222978" y="101384"/>
                  </a:lnTo>
                  <a:lnTo>
                    <a:pt x="4227919" y="106553"/>
                  </a:lnTo>
                  <a:lnTo>
                    <a:pt x="4230395" y="63957"/>
                  </a:lnTo>
                  <a:lnTo>
                    <a:pt x="4201363" y="58699"/>
                  </a:lnTo>
                  <a:lnTo>
                    <a:pt x="4186847" y="59804"/>
                  </a:lnTo>
                  <a:lnTo>
                    <a:pt x="4144772" y="86144"/>
                  </a:lnTo>
                  <a:lnTo>
                    <a:pt x="4134637" y="124536"/>
                  </a:lnTo>
                  <a:lnTo>
                    <a:pt x="4134612" y="167843"/>
                  </a:lnTo>
                  <a:lnTo>
                    <a:pt x="4135742" y="182333"/>
                  </a:lnTo>
                  <a:lnTo>
                    <a:pt x="4162501" y="223964"/>
                  </a:lnTo>
                  <a:lnTo>
                    <a:pt x="4201363" y="233972"/>
                  </a:lnTo>
                  <a:lnTo>
                    <a:pt x="4215828" y="232854"/>
                  </a:lnTo>
                  <a:lnTo>
                    <a:pt x="4257840" y="206514"/>
                  </a:lnTo>
                  <a:lnTo>
                    <a:pt x="4268038" y="167843"/>
                  </a:lnTo>
                  <a:lnTo>
                    <a:pt x="4268038" y="124536"/>
                  </a:lnTo>
                  <a:close/>
                </a:path>
                <a:path w="4614545" h="283210">
                  <a:moveTo>
                    <a:pt x="4446282" y="122580"/>
                  </a:moveTo>
                  <a:lnTo>
                    <a:pt x="4437037" y="85559"/>
                  </a:lnTo>
                  <a:lnTo>
                    <a:pt x="4398962" y="59791"/>
                  </a:lnTo>
                  <a:lnTo>
                    <a:pt x="4385907" y="58699"/>
                  </a:lnTo>
                  <a:lnTo>
                    <a:pt x="4368901" y="61010"/>
                  </a:lnTo>
                  <a:lnTo>
                    <a:pt x="4356303" y="67932"/>
                  </a:lnTo>
                  <a:lnTo>
                    <a:pt x="4348124" y="79476"/>
                  </a:lnTo>
                  <a:lnTo>
                    <a:pt x="4344340" y="95643"/>
                  </a:lnTo>
                  <a:lnTo>
                    <a:pt x="4344428" y="95148"/>
                  </a:lnTo>
                  <a:lnTo>
                    <a:pt x="4350283" y="61569"/>
                  </a:lnTo>
                  <a:lnTo>
                    <a:pt x="4313212" y="61569"/>
                  </a:lnTo>
                  <a:lnTo>
                    <a:pt x="4313212" y="231101"/>
                  </a:lnTo>
                  <a:lnTo>
                    <a:pt x="4350855" y="231101"/>
                  </a:lnTo>
                  <a:lnTo>
                    <a:pt x="4350905" y="114134"/>
                  </a:lnTo>
                  <a:lnTo>
                    <a:pt x="4353395" y="106299"/>
                  </a:lnTo>
                  <a:lnTo>
                    <a:pt x="4363199" y="95643"/>
                  </a:lnTo>
                  <a:lnTo>
                    <a:pt x="4363732" y="95148"/>
                  </a:lnTo>
                  <a:lnTo>
                    <a:pt x="4370743" y="92417"/>
                  </a:lnTo>
                  <a:lnTo>
                    <a:pt x="4389209" y="92417"/>
                  </a:lnTo>
                  <a:lnTo>
                    <a:pt x="4396333" y="95148"/>
                  </a:lnTo>
                  <a:lnTo>
                    <a:pt x="4406176" y="106070"/>
                  </a:lnTo>
                  <a:lnTo>
                    <a:pt x="4406239" y="106299"/>
                  </a:lnTo>
                  <a:lnTo>
                    <a:pt x="4408640" y="114134"/>
                  </a:lnTo>
                  <a:lnTo>
                    <a:pt x="4408640" y="137972"/>
                  </a:lnTo>
                  <a:lnTo>
                    <a:pt x="4446282" y="137972"/>
                  </a:lnTo>
                  <a:lnTo>
                    <a:pt x="4446282" y="122580"/>
                  </a:lnTo>
                  <a:close/>
                </a:path>
                <a:path w="4614545" h="283210">
                  <a:moveTo>
                    <a:pt x="4614253" y="61569"/>
                  </a:moveTo>
                  <a:lnTo>
                    <a:pt x="4551210" y="61569"/>
                  </a:lnTo>
                  <a:lnTo>
                    <a:pt x="4551210" y="18605"/>
                  </a:lnTo>
                  <a:lnTo>
                    <a:pt x="4513491" y="18605"/>
                  </a:lnTo>
                  <a:lnTo>
                    <a:pt x="4513491" y="61569"/>
                  </a:lnTo>
                  <a:lnTo>
                    <a:pt x="4469066" y="61569"/>
                  </a:lnTo>
                  <a:lnTo>
                    <a:pt x="4469066" y="96964"/>
                  </a:lnTo>
                  <a:lnTo>
                    <a:pt x="4513491" y="96964"/>
                  </a:lnTo>
                  <a:lnTo>
                    <a:pt x="4513491" y="183591"/>
                  </a:lnTo>
                  <a:lnTo>
                    <a:pt x="4514316" y="194144"/>
                  </a:lnTo>
                  <a:lnTo>
                    <a:pt x="4542129" y="227952"/>
                  </a:lnTo>
                  <a:lnTo>
                    <a:pt x="4562475" y="231101"/>
                  </a:lnTo>
                  <a:lnTo>
                    <a:pt x="4611382" y="231101"/>
                  </a:lnTo>
                  <a:lnTo>
                    <a:pt x="4611382" y="195694"/>
                  </a:lnTo>
                  <a:lnTo>
                    <a:pt x="4558271" y="195694"/>
                  </a:lnTo>
                  <a:lnTo>
                    <a:pt x="4555337" y="194805"/>
                  </a:lnTo>
                  <a:lnTo>
                    <a:pt x="4552023" y="191262"/>
                  </a:lnTo>
                  <a:lnTo>
                    <a:pt x="4551210" y="188112"/>
                  </a:lnTo>
                  <a:lnTo>
                    <a:pt x="4551210" y="96964"/>
                  </a:lnTo>
                  <a:lnTo>
                    <a:pt x="4614253" y="96964"/>
                  </a:lnTo>
                  <a:lnTo>
                    <a:pt x="4614253" y="61569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42352" y="1231876"/>
            <a:ext cx="9311005" cy="395605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871855">
              <a:lnSpc>
                <a:spcPct val="100000"/>
              </a:lnSpc>
              <a:spcBef>
                <a:spcPts val="1265"/>
              </a:spcBef>
              <a:tabLst>
                <a:tab pos="4826635" algn="l"/>
              </a:tabLst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sklearn.metrics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roc_curve</a:t>
            </a:r>
            <a:endParaRPr sz="2250">
              <a:latin typeface="Courier New"/>
              <a:cs typeface="Courier New"/>
            </a:endParaRPr>
          </a:p>
          <a:p>
            <a:pPr marL="12700" marR="5080">
              <a:lnSpc>
                <a:spcPct val="143300"/>
              </a:lnSpc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fpr, tpr, thresholds = roc_curve(y_test,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y_pred_probs)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plt.plot([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0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250" spc="-2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],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[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0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],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'k--</a:t>
            </a:r>
            <a:r>
              <a:rPr sz="2250" spc="-25" dirty="0">
                <a:solidFill>
                  <a:srgbClr val="BE2F72"/>
                </a:solidFill>
                <a:latin typeface="Courier New"/>
                <a:cs typeface="Courier New"/>
              </a:rPr>
              <a:t>'</a:t>
            </a:r>
            <a:r>
              <a:rPr sz="2250" spc="-2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2250">
              <a:latin typeface="Courier New"/>
              <a:cs typeface="Courier New"/>
            </a:endParaRPr>
          </a:p>
          <a:p>
            <a:pPr marL="12700" marR="3616325">
              <a:lnSpc>
                <a:spcPct val="143300"/>
              </a:lnSpc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plt.plot(fpr, </a:t>
            </a:r>
            <a:r>
              <a:rPr sz="2250" spc="-20" dirty="0">
                <a:solidFill>
                  <a:srgbClr val="04182D"/>
                </a:solidFill>
                <a:latin typeface="Courier New"/>
                <a:cs typeface="Courier New"/>
              </a:rPr>
              <a:t>tpr)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plt.xlabel(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'False</a:t>
            </a:r>
            <a:r>
              <a:rPr sz="2250" spc="-1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Positive 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Rate'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plt.ylabel(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'True</a:t>
            </a:r>
            <a:r>
              <a:rPr sz="2250" spc="-1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Positive 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Rate'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2250">
              <a:latin typeface="Courier New"/>
              <a:cs typeface="Courier New"/>
            </a:endParaRPr>
          </a:p>
          <a:p>
            <a:pPr marL="12700" marR="2068830">
              <a:lnSpc>
                <a:spcPct val="143300"/>
              </a:lnSpc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plt.title(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'Logistic</a:t>
            </a:r>
            <a:r>
              <a:rPr sz="2250" spc="-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Regression ROC 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Curve'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 plt.show()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31AC77E6-CE9E-B12F-C849-EFE0918F09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22</a:t>
            </a:fld>
            <a:endParaRPr lang="en-US" altLang="ko-K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61"/>
            <a:ext cx="608012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60" dirty="0"/>
              <a:t>Plotting</a:t>
            </a:r>
            <a:r>
              <a:rPr spc="-165" dirty="0"/>
              <a:t> </a:t>
            </a:r>
            <a:r>
              <a:rPr spc="-229" dirty="0"/>
              <a:t>the</a:t>
            </a:r>
            <a:r>
              <a:rPr spc="-165" dirty="0"/>
              <a:t> </a:t>
            </a:r>
            <a:r>
              <a:rPr dirty="0"/>
              <a:t>ROC</a:t>
            </a:r>
            <a:r>
              <a:rPr spc="-180" dirty="0"/>
              <a:t> </a:t>
            </a:r>
            <a:r>
              <a:rPr spc="-105" dirty="0"/>
              <a:t>curve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6551" y="1166788"/>
            <a:ext cx="8024393" cy="6243469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B072D5-FD5D-4CFC-B64F-861FA261E65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23</a:t>
            </a:fld>
            <a:endParaRPr lang="en-US" altLang="ko-K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ROC</a:t>
            </a:r>
            <a:r>
              <a:rPr spc="-235" dirty="0"/>
              <a:t> </a:t>
            </a:r>
            <a:r>
              <a:rPr spc="-25" dirty="0"/>
              <a:t>AUC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96236" y="1775672"/>
            <a:ext cx="8024393" cy="6243469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2EEE14-E8E8-F58C-EEE3-39315B1A201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24</a:t>
            </a:fld>
            <a:endParaRPr lang="en-US" altLang="ko-K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F55717-D52B-129D-5348-8F45C36BDF6E}"/>
              </a:ext>
            </a:extLst>
          </p:cNvPr>
          <p:cNvSpPr txBox="1"/>
          <p:nvPr/>
        </p:nvSpPr>
        <p:spPr>
          <a:xfrm>
            <a:off x="3130550" y="110485"/>
            <a:ext cx="11811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ROC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lang="en-US" altLang="ko-KR" b="1" dirty="0">
                <a:solidFill>
                  <a:schemeClr val="tx1"/>
                </a:solidFill>
                <a:latin typeface="Arial" panose="020B0604020202020204" pitchFamily="34" charset="0"/>
              </a:rPr>
              <a:t>AUC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quantifies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ability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classifier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distinguish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between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classes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AUC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ranges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Perfect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classification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0.5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discrimination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chance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 0.5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Worse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61"/>
            <a:ext cx="630809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ROC</a:t>
            </a:r>
            <a:r>
              <a:rPr spc="-140" dirty="0"/>
              <a:t> </a:t>
            </a:r>
            <a:r>
              <a:rPr dirty="0"/>
              <a:t>AUC</a:t>
            </a:r>
            <a:r>
              <a:rPr spc="-140" dirty="0"/>
              <a:t> </a:t>
            </a:r>
            <a:r>
              <a:rPr spc="-265" dirty="0"/>
              <a:t>in</a:t>
            </a:r>
            <a:r>
              <a:rPr spc="-140" dirty="0"/>
              <a:t> </a:t>
            </a:r>
            <a:r>
              <a:rPr spc="-250" dirty="0"/>
              <a:t>scikit-</a:t>
            </a:r>
            <a:r>
              <a:rPr spc="-125" dirty="0"/>
              <a:t>learn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166788"/>
            <a:ext cx="14575155" cy="1310640"/>
            <a:chOff x="491289" y="1166788"/>
            <a:chExt cx="14575155" cy="1310640"/>
          </a:xfrm>
        </p:grpSpPr>
        <p:sp>
          <p:nvSpPr>
            <p:cNvPr id="4" name="object 4"/>
            <p:cNvSpPr/>
            <p:nvPr/>
          </p:nvSpPr>
          <p:spPr>
            <a:xfrm>
              <a:off x="491289" y="1166788"/>
              <a:ext cx="14575155" cy="1310640"/>
            </a:xfrm>
            <a:custGeom>
              <a:avLst/>
              <a:gdLst/>
              <a:ahLst/>
              <a:cxnLst/>
              <a:rect l="l" t="t" r="r" b="b"/>
              <a:pathLst>
                <a:path w="14575155" h="1310639">
                  <a:moveTo>
                    <a:pt x="14498413" y="1310105"/>
                  </a:moveTo>
                  <a:lnTo>
                    <a:pt x="76505" y="1310105"/>
                  </a:lnTo>
                  <a:lnTo>
                    <a:pt x="71180" y="1309580"/>
                  </a:lnTo>
                  <a:lnTo>
                    <a:pt x="31920" y="1293318"/>
                  </a:lnTo>
                  <a:lnTo>
                    <a:pt x="4175" y="1254590"/>
                  </a:lnTo>
                  <a:lnTo>
                    <a:pt x="0" y="1233599"/>
                  </a:lnTo>
                  <a:lnTo>
                    <a:pt x="0" y="1228223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5"/>
                  </a:lnTo>
                  <a:lnTo>
                    <a:pt x="14574918" y="1233599"/>
                  </a:lnTo>
                  <a:lnTo>
                    <a:pt x="14558132" y="1278184"/>
                  </a:lnTo>
                  <a:lnTo>
                    <a:pt x="14519404" y="1305929"/>
                  </a:lnTo>
                  <a:lnTo>
                    <a:pt x="14503737" y="1309580"/>
                  </a:lnTo>
                  <a:lnTo>
                    <a:pt x="14498413" y="1310105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2261" y="1447456"/>
              <a:ext cx="4614545" cy="283210"/>
            </a:xfrm>
            <a:custGeom>
              <a:avLst/>
              <a:gdLst/>
              <a:ahLst/>
              <a:cxnLst/>
              <a:rect l="l" t="t" r="r" b="b"/>
              <a:pathLst>
                <a:path w="4614545" h="283210">
                  <a:moveTo>
                    <a:pt x="147980" y="10007"/>
                  </a:moveTo>
                  <a:lnTo>
                    <a:pt x="93332" y="10007"/>
                  </a:lnTo>
                  <a:lnTo>
                    <a:pt x="83096" y="10769"/>
                  </a:lnTo>
                  <a:lnTo>
                    <a:pt x="49060" y="36728"/>
                  </a:lnTo>
                  <a:lnTo>
                    <a:pt x="45821" y="55486"/>
                  </a:lnTo>
                  <a:lnTo>
                    <a:pt x="45821" y="64719"/>
                  </a:lnTo>
                  <a:lnTo>
                    <a:pt x="0" y="64719"/>
                  </a:lnTo>
                  <a:lnTo>
                    <a:pt x="0" y="100114"/>
                  </a:lnTo>
                  <a:lnTo>
                    <a:pt x="45821" y="100114"/>
                  </a:lnTo>
                  <a:lnTo>
                    <a:pt x="45821" y="231101"/>
                  </a:lnTo>
                  <a:lnTo>
                    <a:pt x="83540" y="231101"/>
                  </a:lnTo>
                  <a:lnTo>
                    <a:pt x="83540" y="100114"/>
                  </a:lnTo>
                  <a:lnTo>
                    <a:pt x="147980" y="100114"/>
                  </a:lnTo>
                  <a:lnTo>
                    <a:pt x="147980" y="64719"/>
                  </a:lnTo>
                  <a:lnTo>
                    <a:pt x="83540" y="64719"/>
                  </a:lnTo>
                  <a:lnTo>
                    <a:pt x="83540" y="51892"/>
                  </a:lnTo>
                  <a:lnTo>
                    <a:pt x="84328" y="49441"/>
                  </a:lnTo>
                  <a:lnTo>
                    <a:pt x="87553" y="46215"/>
                  </a:lnTo>
                  <a:lnTo>
                    <a:pt x="90017" y="45402"/>
                  </a:lnTo>
                  <a:lnTo>
                    <a:pt x="147980" y="45402"/>
                  </a:lnTo>
                  <a:lnTo>
                    <a:pt x="147980" y="10007"/>
                  </a:lnTo>
                  <a:close/>
                </a:path>
                <a:path w="4614545" h="283210">
                  <a:moveTo>
                    <a:pt x="319646" y="122580"/>
                  </a:moveTo>
                  <a:lnTo>
                    <a:pt x="310400" y="85559"/>
                  </a:lnTo>
                  <a:lnTo>
                    <a:pt x="272326" y="59791"/>
                  </a:lnTo>
                  <a:lnTo>
                    <a:pt x="259270" y="58699"/>
                  </a:lnTo>
                  <a:lnTo>
                    <a:pt x="242265" y="61010"/>
                  </a:lnTo>
                  <a:lnTo>
                    <a:pt x="229666" y="67932"/>
                  </a:lnTo>
                  <a:lnTo>
                    <a:pt x="221488" y="79476"/>
                  </a:lnTo>
                  <a:lnTo>
                    <a:pt x="217703" y="95643"/>
                  </a:lnTo>
                  <a:lnTo>
                    <a:pt x="217792" y="95148"/>
                  </a:lnTo>
                  <a:lnTo>
                    <a:pt x="223647" y="61569"/>
                  </a:lnTo>
                  <a:lnTo>
                    <a:pt x="186575" y="61569"/>
                  </a:lnTo>
                  <a:lnTo>
                    <a:pt x="186575" y="231101"/>
                  </a:lnTo>
                  <a:lnTo>
                    <a:pt x="224218" y="231101"/>
                  </a:lnTo>
                  <a:lnTo>
                    <a:pt x="224269" y="114134"/>
                  </a:lnTo>
                  <a:lnTo>
                    <a:pt x="226758" y="106299"/>
                  </a:lnTo>
                  <a:lnTo>
                    <a:pt x="236562" y="95643"/>
                  </a:lnTo>
                  <a:lnTo>
                    <a:pt x="237083" y="95148"/>
                  </a:lnTo>
                  <a:lnTo>
                    <a:pt x="244106" y="92417"/>
                  </a:lnTo>
                  <a:lnTo>
                    <a:pt x="262572" y="92417"/>
                  </a:lnTo>
                  <a:lnTo>
                    <a:pt x="269697" y="95148"/>
                  </a:lnTo>
                  <a:lnTo>
                    <a:pt x="279527" y="106070"/>
                  </a:lnTo>
                  <a:lnTo>
                    <a:pt x="279603" y="106299"/>
                  </a:lnTo>
                  <a:lnTo>
                    <a:pt x="282003" y="114134"/>
                  </a:lnTo>
                  <a:lnTo>
                    <a:pt x="282003" y="137972"/>
                  </a:lnTo>
                  <a:lnTo>
                    <a:pt x="319646" y="137972"/>
                  </a:lnTo>
                  <a:lnTo>
                    <a:pt x="319646" y="122580"/>
                  </a:lnTo>
                  <a:close/>
                </a:path>
                <a:path w="4614545" h="283210">
                  <a:moveTo>
                    <a:pt x="485305" y="124536"/>
                  </a:moveTo>
                  <a:lnTo>
                    <a:pt x="484174" y="110172"/>
                  </a:lnTo>
                  <a:lnTo>
                    <a:pt x="480771" y="97370"/>
                  </a:lnTo>
                  <a:lnTo>
                    <a:pt x="478840" y="93548"/>
                  </a:lnTo>
                  <a:lnTo>
                    <a:pt x="475107" y="86144"/>
                  </a:lnTo>
                  <a:lnTo>
                    <a:pt x="467182" y="76466"/>
                  </a:lnTo>
                  <a:lnTo>
                    <a:pt x="457377" y="68694"/>
                  </a:lnTo>
                  <a:lnTo>
                    <a:pt x="447662" y="63957"/>
                  </a:lnTo>
                  <a:lnTo>
                    <a:pt x="447662" y="114363"/>
                  </a:lnTo>
                  <a:lnTo>
                    <a:pt x="447662" y="178295"/>
                  </a:lnTo>
                  <a:lnTo>
                    <a:pt x="445185" y="186131"/>
                  </a:lnTo>
                  <a:lnTo>
                    <a:pt x="435343" y="196532"/>
                  </a:lnTo>
                  <a:lnTo>
                    <a:pt x="428142" y="199123"/>
                  </a:lnTo>
                  <a:lnTo>
                    <a:pt x="409054" y="199123"/>
                  </a:lnTo>
                  <a:lnTo>
                    <a:pt x="401828" y="196532"/>
                  </a:lnTo>
                  <a:lnTo>
                    <a:pt x="392036" y="186131"/>
                  </a:lnTo>
                  <a:lnTo>
                    <a:pt x="389585" y="178295"/>
                  </a:lnTo>
                  <a:lnTo>
                    <a:pt x="389585" y="114363"/>
                  </a:lnTo>
                  <a:lnTo>
                    <a:pt x="392036" y="106553"/>
                  </a:lnTo>
                  <a:lnTo>
                    <a:pt x="401828" y="96151"/>
                  </a:lnTo>
                  <a:lnTo>
                    <a:pt x="409054" y="93548"/>
                  </a:lnTo>
                  <a:lnTo>
                    <a:pt x="428142" y="93548"/>
                  </a:lnTo>
                  <a:lnTo>
                    <a:pt x="435343" y="96151"/>
                  </a:lnTo>
                  <a:lnTo>
                    <a:pt x="440245" y="101384"/>
                  </a:lnTo>
                  <a:lnTo>
                    <a:pt x="445185" y="106553"/>
                  </a:lnTo>
                  <a:lnTo>
                    <a:pt x="447662" y="63957"/>
                  </a:lnTo>
                  <a:lnTo>
                    <a:pt x="418617" y="58699"/>
                  </a:lnTo>
                  <a:lnTo>
                    <a:pt x="404114" y="59804"/>
                  </a:lnTo>
                  <a:lnTo>
                    <a:pt x="362038" y="86144"/>
                  </a:lnTo>
                  <a:lnTo>
                    <a:pt x="351891" y="124536"/>
                  </a:lnTo>
                  <a:lnTo>
                    <a:pt x="351878" y="167843"/>
                  </a:lnTo>
                  <a:lnTo>
                    <a:pt x="352996" y="182333"/>
                  </a:lnTo>
                  <a:lnTo>
                    <a:pt x="379768" y="223964"/>
                  </a:lnTo>
                  <a:lnTo>
                    <a:pt x="418617" y="233972"/>
                  </a:lnTo>
                  <a:lnTo>
                    <a:pt x="433095" y="232854"/>
                  </a:lnTo>
                  <a:lnTo>
                    <a:pt x="475107" y="206514"/>
                  </a:lnTo>
                  <a:lnTo>
                    <a:pt x="485305" y="167843"/>
                  </a:lnTo>
                  <a:lnTo>
                    <a:pt x="485305" y="124536"/>
                  </a:lnTo>
                  <a:close/>
                </a:path>
                <a:path w="4614545" h="283210">
                  <a:moveTo>
                    <a:pt x="663549" y="105371"/>
                  </a:moveTo>
                  <a:lnTo>
                    <a:pt x="662940" y="95554"/>
                  </a:lnTo>
                  <a:lnTo>
                    <a:pt x="661873" y="90398"/>
                  </a:lnTo>
                  <a:lnTo>
                    <a:pt x="661098" y="86690"/>
                  </a:lnTo>
                  <a:lnTo>
                    <a:pt x="660450" y="85001"/>
                  </a:lnTo>
                  <a:lnTo>
                    <a:pt x="660374" y="84797"/>
                  </a:lnTo>
                  <a:lnTo>
                    <a:pt x="626402" y="58699"/>
                  </a:lnTo>
                  <a:lnTo>
                    <a:pt x="618045" y="58699"/>
                  </a:lnTo>
                  <a:lnTo>
                    <a:pt x="611365" y="61010"/>
                  </a:lnTo>
                  <a:lnTo>
                    <a:pt x="610514" y="61569"/>
                  </a:lnTo>
                  <a:lnTo>
                    <a:pt x="599694" y="70827"/>
                  </a:lnTo>
                  <a:lnTo>
                    <a:pt x="599389" y="71767"/>
                  </a:lnTo>
                  <a:lnTo>
                    <a:pt x="598830" y="70192"/>
                  </a:lnTo>
                  <a:lnTo>
                    <a:pt x="597941" y="69456"/>
                  </a:lnTo>
                  <a:lnTo>
                    <a:pt x="597941" y="78765"/>
                  </a:lnTo>
                  <a:lnTo>
                    <a:pt x="597687" y="77025"/>
                  </a:lnTo>
                  <a:lnTo>
                    <a:pt x="597814" y="76657"/>
                  </a:lnTo>
                  <a:lnTo>
                    <a:pt x="597839" y="77025"/>
                  </a:lnTo>
                  <a:lnTo>
                    <a:pt x="597941" y="78765"/>
                  </a:lnTo>
                  <a:lnTo>
                    <a:pt x="597941" y="69456"/>
                  </a:lnTo>
                  <a:lnTo>
                    <a:pt x="593369" y="65620"/>
                  </a:lnTo>
                  <a:lnTo>
                    <a:pt x="587959" y="61010"/>
                  </a:lnTo>
                  <a:lnTo>
                    <a:pt x="581291" y="58699"/>
                  </a:lnTo>
                  <a:lnTo>
                    <a:pt x="565010" y="58699"/>
                  </a:lnTo>
                  <a:lnTo>
                    <a:pt x="558431" y="61010"/>
                  </a:lnTo>
                  <a:lnTo>
                    <a:pt x="558203" y="61010"/>
                  </a:lnTo>
                  <a:lnTo>
                    <a:pt x="551053" y="67233"/>
                  </a:lnTo>
                  <a:lnTo>
                    <a:pt x="552094" y="61569"/>
                  </a:lnTo>
                  <a:lnTo>
                    <a:pt x="546138" y="61569"/>
                  </a:lnTo>
                  <a:lnTo>
                    <a:pt x="546138" y="84442"/>
                  </a:lnTo>
                  <a:lnTo>
                    <a:pt x="544741" y="77025"/>
                  </a:lnTo>
                  <a:lnTo>
                    <a:pt x="544868" y="76657"/>
                  </a:lnTo>
                  <a:lnTo>
                    <a:pt x="544906" y="77025"/>
                  </a:lnTo>
                  <a:lnTo>
                    <a:pt x="545071" y="78765"/>
                  </a:lnTo>
                  <a:lnTo>
                    <a:pt x="546138" y="84442"/>
                  </a:lnTo>
                  <a:lnTo>
                    <a:pt x="546138" y="61569"/>
                  </a:lnTo>
                  <a:lnTo>
                    <a:pt x="517525" y="61569"/>
                  </a:lnTo>
                  <a:lnTo>
                    <a:pt x="517525" y="231101"/>
                  </a:lnTo>
                  <a:lnTo>
                    <a:pt x="553212" y="231101"/>
                  </a:lnTo>
                  <a:lnTo>
                    <a:pt x="553212" y="99631"/>
                  </a:lnTo>
                  <a:lnTo>
                    <a:pt x="554075" y="95948"/>
                  </a:lnTo>
                  <a:lnTo>
                    <a:pt x="557568" y="91516"/>
                  </a:lnTo>
                  <a:lnTo>
                    <a:pt x="560095" y="90398"/>
                  </a:lnTo>
                  <a:lnTo>
                    <a:pt x="566813" y="90398"/>
                  </a:lnTo>
                  <a:lnTo>
                    <a:pt x="569328" y="91516"/>
                  </a:lnTo>
                  <a:lnTo>
                    <a:pt x="573024" y="95948"/>
                  </a:lnTo>
                  <a:lnTo>
                    <a:pt x="574179" y="99631"/>
                  </a:lnTo>
                  <a:lnTo>
                    <a:pt x="574268" y="231101"/>
                  </a:lnTo>
                  <a:lnTo>
                    <a:pt x="606806" y="231101"/>
                  </a:lnTo>
                  <a:lnTo>
                    <a:pt x="606831" y="99631"/>
                  </a:lnTo>
                  <a:lnTo>
                    <a:pt x="607860" y="95948"/>
                  </a:lnTo>
                  <a:lnTo>
                    <a:pt x="611644" y="91516"/>
                  </a:lnTo>
                  <a:lnTo>
                    <a:pt x="614197" y="90398"/>
                  </a:lnTo>
                  <a:lnTo>
                    <a:pt x="620915" y="90398"/>
                  </a:lnTo>
                  <a:lnTo>
                    <a:pt x="623379" y="91516"/>
                  </a:lnTo>
                  <a:lnTo>
                    <a:pt x="626770" y="95948"/>
                  </a:lnTo>
                  <a:lnTo>
                    <a:pt x="627786" y="99631"/>
                  </a:lnTo>
                  <a:lnTo>
                    <a:pt x="627862" y="231101"/>
                  </a:lnTo>
                  <a:lnTo>
                    <a:pt x="663549" y="231101"/>
                  </a:lnTo>
                  <a:lnTo>
                    <a:pt x="663549" y="105371"/>
                  </a:lnTo>
                  <a:close/>
                </a:path>
                <a:path w="4614545" h="283210">
                  <a:moveTo>
                    <a:pt x="3715804" y="16510"/>
                  </a:moveTo>
                  <a:lnTo>
                    <a:pt x="3713492" y="10909"/>
                  </a:lnTo>
                  <a:lnTo>
                    <a:pt x="3704259" y="2184"/>
                  </a:lnTo>
                  <a:lnTo>
                    <a:pt x="3698379" y="0"/>
                  </a:lnTo>
                  <a:lnTo>
                    <a:pt x="3678364" y="0"/>
                  </a:lnTo>
                  <a:lnTo>
                    <a:pt x="3672497" y="2184"/>
                  </a:lnTo>
                  <a:lnTo>
                    <a:pt x="3663251" y="10909"/>
                  </a:lnTo>
                  <a:lnTo>
                    <a:pt x="3660952" y="16510"/>
                  </a:lnTo>
                  <a:lnTo>
                    <a:pt x="3660952" y="30264"/>
                  </a:lnTo>
                  <a:lnTo>
                    <a:pt x="3663213" y="35814"/>
                  </a:lnTo>
                  <a:lnTo>
                    <a:pt x="3667734" y="40017"/>
                  </a:lnTo>
                  <a:lnTo>
                    <a:pt x="3672306" y="44170"/>
                  </a:lnTo>
                  <a:lnTo>
                    <a:pt x="3678224" y="46240"/>
                  </a:lnTo>
                  <a:lnTo>
                    <a:pt x="3698290" y="46240"/>
                  </a:lnTo>
                  <a:lnTo>
                    <a:pt x="3704145" y="44170"/>
                  </a:lnTo>
                  <a:lnTo>
                    <a:pt x="3713492" y="35814"/>
                  </a:lnTo>
                  <a:lnTo>
                    <a:pt x="3715804" y="30264"/>
                  </a:lnTo>
                  <a:lnTo>
                    <a:pt x="3715804" y="16510"/>
                  </a:lnTo>
                  <a:close/>
                </a:path>
                <a:path w="4614545" h="283210">
                  <a:moveTo>
                    <a:pt x="3763099" y="195694"/>
                  </a:moveTo>
                  <a:lnTo>
                    <a:pt x="3710063" y="195694"/>
                  </a:lnTo>
                  <a:lnTo>
                    <a:pt x="3710063" y="61569"/>
                  </a:lnTo>
                  <a:lnTo>
                    <a:pt x="3623653" y="61569"/>
                  </a:lnTo>
                  <a:lnTo>
                    <a:pt x="3623653" y="96964"/>
                  </a:lnTo>
                  <a:lnTo>
                    <a:pt x="3672357" y="96964"/>
                  </a:lnTo>
                  <a:lnTo>
                    <a:pt x="3672357" y="195694"/>
                  </a:lnTo>
                  <a:lnTo>
                    <a:pt x="3616515" y="195694"/>
                  </a:lnTo>
                  <a:lnTo>
                    <a:pt x="3616515" y="231101"/>
                  </a:lnTo>
                  <a:lnTo>
                    <a:pt x="3763099" y="231101"/>
                  </a:lnTo>
                  <a:lnTo>
                    <a:pt x="3763099" y="195694"/>
                  </a:lnTo>
                  <a:close/>
                </a:path>
                <a:path w="4614545" h="283210">
                  <a:moveTo>
                    <a:pt x="3930434" y="105371"/>
                  </a:moveTo>
                  <a:lnTo>
                    <a:pt x="3929824" y="95554"/>
                  </a:lnTo>
                  <a:lnTo>
                    <a:pt x="3928757" y="90398"/>
                  </a:lnTo>
                  <a:lnTo>
                    <a:pt x="3927983" y="86690"/>
                  </a:lnTo>
                  <a:lnTo>
                    <a:pt x="3927335" y="85001"/>
                  </a:lnTo>
                  <a:lnTo>
                    <a:pt x="3927259" y="84797"/>
                  </a:lnTo>
                  <a:lnTo>
                    <a:pt x="3893286" y="58699"/>
                  </a:lnTo>
                  <a:lnTo>
                    <a:pt x="3884930" y="58699"/>
                  </a:lnTo>
                  <a:lnTo>
                    <a:pt x="3878249" y="61010"/>
                  </a:lnTo>
                  <a:lnTo>
                    <a:pt x="3877399" y="61569"/>
                  </a:lnTo>
                  <a:lnTo>
                    <a:pt x="3866578" y="70827"/>
                  </a:lnTo>
                  <a:lnTo>
                    <a:pt x="3866273" y="71767"/>
                  </a:lnTo>
                  <a:lnTo>
                    <a:pt x="3865715" y="70192"/>
                  </a:lnTo>
                  <a:lnTo>
                    <a:pt x="3864826" y="69456"/>
                  </a:lnTo>
                  <a:lnTo>
                    <a:pt x="3864826" y="78765"/>
                  </a:lnTo>
                  <a:lnTo>
                    <a:pt x="3864572" y="77025"/>
                  </a:lnTo>
                  <a:lnTo>
                    <a:pt x="3864699" y="76657"/>
                  </a:lnTo>
                  <a:lnTo>
                    <a:pt x="3864724" y="77025"/>
                  </a:lnTo>
                  <a:lnTo>
                    <a:pt x="3864826" y="78765"/>
                  </a:lnTo>
                  <a:lnTo>
                    <a:pt x="3864826" y="69456"/>
                  </a:lnTo>
                  <a:lnTo>
                    <a:pt x="3860254" y="65620"/>
                  </a:lnTo>
                  <a:lnTo>
                    <a:pt x="3854843" y="61010"/>
                  </a:lnTo>
                  <a:lnTo>
                    <a:pt x="3848176" y="58699"/>
                  </a:lnTo>
                  <a:lnTo>
                    <a:pt x="3831894" y="58699"/>
                  </a:lnTo>
                  <a:lnTo>
                    <a:pt x="3825316" y="61010"/>
                  </a:lnTo>
                  <a:lnTo>
                    <a:pt x="3825087" y="61010"/>
                  </a:lnTo>
                  <a:lnTo>
                    <a:pt x="3817937" y="67233"/>
                  </a:lnTo>
                  <a:lnTo>
                    <a:pt x="3818979" y="61569"/>
                  </a:lnTo>
                  <a:lnTo>
                    <a:pt x="3813022" y="61569"/>
                  </a:lnTo>
                  <a:lnTo>
                    <a:pt x="3813022" y="84442"/>
                  </a:lnTo>
                  <a:lnTo>
                    <a:pt x="3811625" y="77025"/>
                  </a:lnTo>
                  <a:lnTo>
                    <a:pt x="3811752" y="76657"/>
                  </a:lnTo>
                  <a:lnTo>
                    <a:pt x="3811790" y="77025"/>
                  </a:lnTo>
                  <a:lnTo>
                    <a:pt x="3811955" y="78765"/>
                  </a:lnTo>
                  <a:lnTo>
                    <a:pt x="3813022" y="84442"/>
                  </a:lnTo>
                  <a:lnTo>
                    <a:pt x="3813022" y="61569"/>
                  </a:lnTo>
                  <a:lnTo>
                    <a:pt x="3784409" y="61569"/>
                  </a:lnTo>
                  <a:lnTo>
                    <a:pt x="3784409" y="231101"/>
                  </a:lnTo>
                  <a:lnTo>
                    <a:pt x="3820096" y="231101"/>
                  </a:lnTo>
                  <a:lnTo>
                    <a:pt x="3820096" y="99631"/>
                  </a:lnTo>
                  <a:lnTo>
                    <a:pt x="3820960" y="95948"/>
                  </a:lnTo>
                  <a:lnTo>
                    <a:pt x="3824452" y="91516"/>
                  </a:lnTo>
                  <a:lnTo>
                    <a:pt x="3826980" y="90398"/>
                  </a:lnTo>
                  <a:lnTo>
                    <a:pt x="3833685" y="90398"/>
                  </a:lnTo>
                  <a:lnTo>
                    <a:pt x="3836212" y="91516"/>
                  </a:lnTo>
                  <a:lnTo>
                    <a:pt x="3839908" y="95948"/>
                  </a:lnTo>
                  <a:lnTo>
                    <a:pt x="3841064" y="99631"/>
                  </a:lnTo>
                  <a:lnTo>
                    <a:pt x="3841153" y="231101"/>
                  </a:lnTo>
                  <a:lnTo>
                    <a:pt x="3873690" y="231101"/>
                  </a:lnTo>
                  <a:lnTo>
                    <a:pt x="3873716" y="99631"/>
                  </a:lnTo>
                  <a:lnTo>
                    <a:pt x="3874744" y="95948"/>
                  </a:lnTo>
                  <a:lnTo>
                    <a:pt x="3878529" y="91516"/>
                  </a:lnTo>
                  <a:lnTo>
                    <a:pt x="3881082" y="90398"/>
                  </a:lnTo>
                  <a:lnTo>
                    <a:pt x="3887800" y="90398"/>
                  </a:lnTo>
                  <a:lnTo>
                    <a:pt x="3890264" y="91516"/>
                  </a:lnTo>
                  <a:lnTo>
                    <a:pt x="3893655" y="95948"/>
                  </a:lnTo>
                  <a:lnTo>
                    <a:pt x="3894671" y="99631"/>
                  </a:lnTo>
                  <a:lnTo>
                    <a:pt x="3894747" y="231101"/>
                  </a:lnTo>
                  <a:lnTo>
                    <a:pt x="3930434" y="231101"/>
                  </a:lnTo>
                  <a:lnTo>
                    <a:pt x="3930434" y="105371"/>
                  </a:lnTo>
                  <a:close/>
                </a:path>
                <a:path w="4614545" h="283210">
                  <a:moveTo>
                    <a:pt x="4096080" y="123139"/>
                  </a:moveTo>
                  <a:lnTo>
                    <a:pt x="4087431" y="85864"/>
                  </a:lnTo>
                  <a:lnTo>
                    <a:pt x="4058450" y="61887"/>
                  </a:lnTo>
                  <a:lnTo>
                    <a:pt x="4058450" y="114134"/>
                  </a:lnTo>
                  <a:lnTo>
                    <a:pt x="4058450" y="178523"/>
                  </a:lnTo>
                  <a:lnTo>
                    <a:pt x="4056037" y="186499"/>
                  </a:lnTo>
                  <a:lnTo>
                    <a:pt x="4046512" y="196951"/>
                  </a:lnTo>
                  <a:lnTo>
                    <a:pt x="4039438" y="199682"/>
                  </a:lnTo>
                  <a:lnTo>
                    <a:pt x="4021290" y="199682"/>
                  </a:lnTo>
                  <a:lnTo>
                    <a:pt x="4001630" y="178523"/>
                  </a:lnTo>
                  <a:lnTo>
                    <a:pt x="4001630" y="114134"/>
                  </a:lnTo>
                  <a:lnTo>
                    <a:pt x="4021290" y="92976"/>
                  </a:lnTo>
                  <a:lnTo>
                    <a:pt x="4039438" y="92976"/>
                  </a:lnTo>
                  <a:lnTo>
                    <a:pt x="4046436" y="95618"/>
                  </a:lnTo>
                  <a:lnTo>
                    <a:pt x="4056037" y="106159"/>
                  </a:lnTo>
                  <a:lnTo>
                    <a:pt x="4058450" y="114134"/>
                  </a:lnTo>
                  <a:lnTo>
                    <a:pt x="4058450" y="61887"/>
                  </a:lnTo>
                  <a:lnTo>
                    <a:pt x="4051414" y="59804"/>
                  </a:lnTo>
                  <a:lnTo>
                    <a:pt x="4038854" y="58699"/>
                  </a:lnTo>
                  <a:lnTo>
                    <a:pt x="4029379" y="59334"/>
                  </a:lnTo>
                  <a:lnTo>
                    <a:pt x="3999179" y="76327"/>
                  </a:lnTo>
                  <a:lnTo>
                    <a:pt x="3995953" y="96850"/>
                  </a:lnTo>
                  <a:lnTo>
                    <a:pt x="3999255" y="75780"/>
                  </a:lnTo>
                  <a:lnTo>
                    <a:pt x="4001490" y="61569"/>
                  </a:lnTo>
                  <a:lnTo>
                    <a:pt x="3994988" y="61569"/>
                  </a:lnTo>
                  <a:lnTo>
                    <a:pt x="3994988" y="195973"/>
                  </a:lnTo>
                  <a:lnTo>
                    <a:pt x="3994950" y="196951"/>
                  </a:lnTo>
                  <a:lnTo>
                    <a:pt x="3994848" y="198932"/>
                  </a:lnTo>
                  <a:lnTo>
                    <a:pt x="3994988" y="195973"/>
                  </a:lnTo>
                  <a:lnTo>
                    <a:pt x="3994988" y="61569"/>
                  </a:lnTo>
                  <a:lnTo>
                    <a:pt x="3963847" y="61569"/>
                  </a:lnTo>
                  <a:lnTo>
                    <a:pt x="3963847" y="282663"/>
                  </a:lnTo>
                  <a:lnTo>
                    <a:pt x="4001490" y="282663"/>
                  </a:lnTo>
                  <a:lnTo>
                    <a:pt x="4001287" y="229552"/>
                  </a:lnTo>
                  <a:lnTo>
                    <a:pt x="3999268" y="216979"/>
                  </a:lnTo>
                  <a:lnTo>
                    <a:pt x="3999941" y="218160"/>
                  </a:lnTo>
                  <a:lnTo>
                    <a:pt x="4038854" y="233972"/>
                  </a:lnTo>
                  <a:lnTo>
                    <a:pt x="4051414" y="232867"/>
                  </a:lnTo>
                  <a:lnTo>
                    <a:pt x="4087431" y="206781"/>
                  </a:lnTo>
                  <a:lnTo>
                    <a:pt x="4090517" y="199682"/>
                  </a:lnTo>
                  <a:lnTo>
                    <a:pt x="4092232" y="195745"/>
                  </a:lnTo>
                  <a:lnTo>
                    <a:pt x="4095127" y="183235"/>
                  </a:lnTo>
                  <a:lnTo>
                    <a:pt x="4096080" y="169252"/>
                  </a:lnTo>
                  <a:lnTo>
                    <a:pt x="4096080" y="123139"/>
                  </a:lnTo>
                  <a:close/>
                </a:path>
                <a:path w="4614545" h="283210">
                  <a:moveTo>
                    <a:pt x="4268038" y="124536"/>
                  </a:moveTo>
                  <a:lnTo>
                    <a:pt x="4266908" y="110172"/>
                  </a:lnTo>
                  <a:lnTo>
                    <a:pt x="4263504" y="97370"/>
                  </a:lnTo>
                  <a:lnTo>
                    <a:pt x="4261574" y="93548"/>
                  </a:lnTo>
                  <a:lnTo>
                    <a:pt x="4257840" y="86144"/>
                  </a:lnTo>
                  <a:lnTo>
                    <a:pt x="4249915" y="76466"/>
                  </a:lnTo>
                  <a:lnTo>
                    <a:pt x="4240111" y="68694"/>
                  </a:lnTo>
                  <a:lnTo>
                    <a:pt x="4230395" y="63957"/>
                  </a:lnTo>
                  <a:lnTo>
                    <a:pt x="4230395" y="114363"/>
                  </a:lnTo>
                  <a:lnTo>
                    <a:pt x="4230395" y="178295"/>
                  </a:lnTo>
                  <a:lnTo>
                    <a:pt x="4227919" y="186131"/>
                  </a:lnTo>
                  <a:lnTo>
                    <a:pt x="4218076" y="196532"/>
                  </a:lnTo>
                  <a:lnTo>
                    <a:pt x="4210875" y="199123"/>
                  </a:lnTo>
                  <a:lnTo>
                    <a:pt x="4191800" y="199123"/>
                  </a:lnTo>
                  <a:lnTo>
                    <a:pt x="4184561" y="196532"/>
                  </a:lnTo>
                  <a:lnTo>
                    <a:pt x="4174769" y="186131"/>
                  </a:lnTo>
                  <a:lnTo>
                    <a:pt x="4172318" y="178295"/>
                  </a:lnTo>
                  <a:lnTo>
                    <a:pt x="4172318" y="114363"/>
                  </a:lnTo>
                  <a:lnTo>
                    <a:pt x="4174769" y="106553"/>
                  </a:lnTo>
                  <a:lnTo>
                    <a:pt x="4184561" y="96151"/>
                  </a:lnTo>
                  <a:lnTo>
                    <a:pt x="4191800" y="93548"/>
                  </a:lnTo>
                  <a:lnTo>
                    <a:pt x="4210875" y="93548"/>
                  </a:lnTo>
                  <a:lnTo>
                    <a:pt x="4218076" y="96151"/>
                  </a:lnTo>
                  <a:lnTo>
                    <a:pt x="4222978" y="101384"/>
                  </a:lnTo>
                  <a:lnTo>
                    <a:pt x="4227919" y="106553"/>
                  </a:lnTo>
                  <a:lnTo>
                    <a:pt x="4230395" y="63957"/>
                  </a:lnTo>
                  <a:lnTo>
                    <a:pt x="4201363" y="58699"/>
                  </a:lnTo>
                  <a:lnTo>
                    <a:pt x="4186847" y="59804"/>
                  </a:lnTo>
                  <a:lnTo>
                    <a:pt x="4144772" y="86144"/>
                  </a:lnTo>
                  <a:lnTo>
                    <a:pt x="4134637" y="124536"/>
                  </a:lnTo>
                  <a:lnTo>
                    <a:pt x="4134612" y="167843"/>
                  </a:lnTo>
                  <a:lnTo>
                    <a:pt x="4135742" y="182333"/>
                  </a:lnTo>
                  <a:lnTo>
                    <a:pt x="4162501" y="223964"/>
                  </a:lnTo>
                  <a:lnTo>
                    <a:pt x="4201363" y="233972"/>
                  </a:lnTo>
                  <a:lnTo>
                    <a:pt x="4215828" y="232854"/>
                  </a:lnTo>
                  <a:lnTo>
                    <a:pt x="4257840" y="206514"/>
                  </a:lnTo>
                  <a:lnTo>
                    <a:pt x="4268038" y="167843"/>
                  </a:lnTo>
                  <a:lnTo>
                    <a:pt x="4268038" y="124536"/>
                  </a:lnTo>
                  <a:close/>
                </a:path>
                <a:path w="4614545" h="283210">
                  <a:moveTo>
                    <a:pt x="4446282" y="122580"/>
                  </a:moveTo>
                  <a:lnTo>
                    <a:pt x="4437037" y="85559"/>
                  </a:lnTo>
                  <a:lnTo>
                    <a:pt x="4398962" y="59791"/>
                  </a:lnTo>
                  <a:lnTo>
                    <a:pt x="4385907" y="58699"/>
                  </a:lnTo>
                  <a:lnTo>
                    <a:pt x="4368901" y="61010"/>
                  </a:lnTo>
                  <a:lnTo>
                    <a:pt x="4356303" y="67932"/>
                  </a:lnTo>
                  <a:lnTo>
                    <a:pt x="4348124" y="79476"/>
                  </a:lnTo>
                  <a:lnTo>
                    <a:pt x="4344340" y="95643"/>
                  </a:lnTo>
                  <a:lnTo>
                    <a:pt x="4344428" y="95148"/>
                  </a:lnTo>
                  <a:lnTo>
                    <a:pt x="4350283" y="61569"/>
                  </a:lnTo>
                  <a:lnTo>
                    <a:pt x="4313212" y="61569"/>
                  </a:lnTo>
                  <a:lnTo>
                    <a:pt x="4313212" y="231101"/>
                  </a:lnTo>
                  <a:lnTo>
                    <a:pt x="4350855" y="231101"/>
                  </a:lnTo>
                  <a:lnTo>
                    <a:pt x="4350905" y="114134"/>
                  </a:lnTo>
                  <a:lnTo>
                    <a:pt x="4353395" y="106299"/>
                  </a:lnTo>
                  <a:lnTo>
                    <a:pt x="4363199" y="95643"/>
                  </a:lnTo>
                  <a:lnTo>
                    <a:pt x="4363732" y="95148"/>
                  </a:lnTo>
                  <a:lnTo>
                    <a:pt x="4370743" y="92417"/>
                  </a:lnTo>
                  <a:lnTo>
                    <a:pt x="4389209" y="92417"/>
                  </a:lnTo>
                  <a:lnTo>
                    <a:pt x="4396333" y="95148"/>
                  </a:lnTo>
                  <a:lnTo>
                    <a:pt x="4406176" y="106070"/>
                  </a:lnTo>
                  <a:lnTo>
                    <a:pt x="4406239" y="106299"/>
                  </a:lnTo>
                  <a:lnTo>
                    <a:pt x="4408640" y="114134"/>
                  </a:lnTo>
                  <a:lnTo>
                    <a:pt x="4408640" y="137972"/>
                  </a:lnTo>
                  <a:lnTo>
                    <a:pt x="4446282" y="137972"/>
                  </a:lnTo>
                  <a:lnTo>
                    <a:pt x="4446282" y="122580"/>
                  </a:lnTo>
                  <a:close/>
                </a:path>
                <a:path w="4614545" h="283210">
                  <a:moveTo>
                    <a:pt x="4614253" y="61569"/>
                  </a:moveTo>
                  <a:lnTo>
                    <a:pt x="4551210" y="61569"/>
                  </a:lnTo>
                  <a:lnTo>
                    <a:pt x="4551210" y="18605"/>
                  </a:lnTo>
                  <a:lnTo>
                    <a:pt x="4513491" y="18605"/>
                  </a:lnTo>
                  <a:lnTo>
                    <a:pt x="4513491" y="61569"/>
                  </a:lnTo>
                  <a:lnTo>
                    <a:pt x="4469066" y="61569"/>
                  </a:lnTo>
                  <a:lnTo>
                    <a:pt x="4469066" y="96964"/>
                  </a:lnTo>
                  <a:lnTo>
                    <a:pt x="4513491" y="96964"/>
                  </a:lnTo>
                  <a:lnTo>
                    <a:pt x="4513491" y="183591"/>
                  </a:lnTo>
                  <a:lnTo>
                    <a:pt x="4514316" y="194144"/>
                  </a:lnTo>
                  <a:lnTo>
                    <a:pt x="4542129" y="227952"/>
                  </a:lnTo>
                  <a:lnTo>
                    <a:pt x="4562475" y="231101"/>
                  </a:lnTo>
                  <a:lnTo>
                    <a:pt x="4611382" y="231101"/>
                  </a:lnTo>
                  <a:lnTo>
                    <a:pt x="4611382" y="195694"/>
                  </a:lnTo>
                  <a:lnTo>
                    <a:pt x="4558271" y="195694"/>
                  </a:lnTo>
                  <a:lnTo>
                    <a:pt x="4555337" y="194805"/>
                  </a:lnTo>
                  <a:lnTo>
                    <a:pt x="4552023" y="191262"/>
                  </a:lnTo>
                  <a:lnTo>
                    <a:pt x="4551210" y="188112"/>
                  </a:lnTo>
                  <a:lnTo>
                    <a:pt x="4551210" y="96964"/>
                  </a:lnTo>
                  <a:lnTo>
                    <a:pt x="4614253" y="96964"/>
                  </a:lnTo>
                  <a:lnTo>
                    <a:pt x="4614253" y="61569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91289" y="2722538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4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2352" y="1231876"/>
            <a:ext cx="7247255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59155">
              <a:lnSpc>
                <a:spcPct val="143300"/>
              </a:lnSpc>
              <a:spcBef>
                <a:spcPts val="95"/>
              </a:spcBef>
              <a:tabLst>
                <a:tab pos="4826635" algn="l"/>
              </a:tabLst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sklearn.metrics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roc_auc_score </a:t>
            </a:r>
            <a:r>
              <a:rPr sz="225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(roc_auc_score(y_test,</a:t>
            </a:r>
            <a:r>
              <a:rPr sz="2250" spc="-1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y_pred_probs))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2352" y="2935012"/>
            <a:ext cx="312102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FFFFFF"/>
                </a:solidFill>
                <a:latin typeface="Courier New"/>
                <a:cs typeface="Courier New"/>
              </a:rPr>
              <a:t>0.6700964152663693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7FDDE1A9-0F02-2541-2704-6C7DAB4F519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25</a:t>
            </a:fld>
            <a:endParaRPr lang="en-US" altLang="ko-K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699770" marR="630555" algn="ctr">
              <a:lnSpc>
                <a:spcPts val="6770"/>
              </a:lnSpc>
              <a:spcBef>
                <a:spcPts val="1130"/>
              </a:spcBef>
            </a:pPr>
            <a:r>
              <a:rPr spc="-330" dirty="0"/>
              <a:t>Hyperparameter </a:t>
            </a:r>
            <a:r>
              <a:rPr spc="-434" dirty="0"/>
              <a:t>tuning</a:t>
            </a:r>
          </a:p>
          <a:p>
            <a:pPr algn="ctr">
              <a:lnSpc>
                <a:spcPct val="100000"/>
              </a:lnSpc>
              <a:spcBef>
                <a:spcPts val="910"/>
              </a:spcBef>
              <a:tabLst>
                <a:tab pos="2252345" algn="l"/>
                <a:tab pos="4152900" algn="l"/>
                <a:tab pos="5172710" algn="l"/>
              </a:tabLst>
            </a:pPr>
            <a:r>
              <a:rPr sz="2250" spc="-150" dirty="0"/>
              <a:t>S</a:t>
            </a:r>
            <a:r>
              <a:rPr sz="2250" spc="-335" dirty="0"/>
              <a:t> </a:t>
            </a:r>
            <a:r>
              <a:rPr sz="2250" spc="-125" dirty="0"/>
              <a:t>U</a:t>
            </a:r>
            <a:r>
              <a:rPr sz="2250" spc="-330" dirty="0"/>
              <a:t> </a:t>
            </a:r>
            <a:r>
              <a:rPr sz="2250" spc="-95" dirty="0"/>
              <a:t>P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0" dirty="0"/>
              <a:t> </a:t>
            </a:r>
            <a:r>
              <a:rPr sz="2250" spc="-254" dirty="0"/>
              <a:t>R</a:t>
            </a:r>
            <a:r>
              <a:rPr sz="2250" spc="-335" dirty="0"/>
              <a:t> </a:t>
            </a:r>
            <a:r>
              <a:rPr sz="2250" spc="-55" dirty="0"/>
              <a:t>V</a:t>
            </a:r>
            <a:r>
              <a:rPr sz="2250" spc="-330" dirty="0"/>
              <a:t> </a:t>
            </a:r>
            <a:r>
              <a:rPr sz="2250" spc="-470" dirty="0"/>
              <a:t>I</a:t>
            </a:r>
            <a:r>
              <a:rPr sz="2250" spc="-330" dirty="0"/>
              <a:t> </a:t>
            </a:r>
            <a:r>
              <a:rPr sz="2250" spc="-150" dirty="0"/>
              <a:t>S</a:t>
            </a:r>
            <a:r>
              <a:rPr sz="2250" spc="-330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-50" dirty="0"/>
              <a:t>D</a:t>
            </a:r>
            <a:r>
              <a:rPr sz="2250" dirty="0"/>
              <a:t>	</a:t>
            </a:r>
            <a:r>
              <a:rPr sz="2250" spc="-100" dirty="0"/>
              <a:t>L</a:t>
            </a:r>
            <a:r>
              <a:rPr sz="2250" spc="-335" dirty="0"/>
              <a:t> </a:t>
            </a:r>
            <a:r>
              <a:rPr sz="2250" dirty="0"/>
              <a:t>E</a:t>
            </a:r>
            <a:r>
              <a:rPr sz="2250" spc="-330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0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0" dirty="0"/>
              <a:t> </a:t>
            </a:r>
            <a:r>
              <a:rPr sz="2250" spc="-60" dirty="0"/>
              <a:t>N</a:t>
            </a:r>
            <a:r>
              <a:rPr sz="2250" spc="-335" dirty="0"/>
              <a:t> </a:t>
            </a:r>
            <a:r>
              <a:rPr sz="2250" spc="30" dirty="0"/>
              <a:t>G</a:t>
            </a:r>
            <a:r>
              <a:rPr sz="2250" dirty="0"/>
              <a:t>	</a:t>
            </a:r>
            <a:r>
              <a:rPr sz="2250" spc="-170" dirty="0"/>
              <a:t>W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90" dirty="0"/>
              <a:t>T</a:t>
            </a:r>
            <a:r>
              <a:rPr sz="2250" spc="-335" dirty="0"/>
              <a:t> </a:t>
            </a:r>
            <a:r>
              <a:rPr sz="2250" spc="-50" dirty="0"/>
              <a:t>H</a:t>
            </a:r>
            <a:r>
              <a:rPr sz="2250" dirty="0"/>
              <a:t>	</a:t>
            </a:r>
            <a:r>
              <a:rPr sz="2250" spc="-150" dirty="0"/>
              <a:t>S</a:t>
            </a:r>
            <a:r>
              <a:rPr sz="2250" spc="-335" dirty="0"/>
              <a:t> </a:t>
            </a:r>
            <a:r>
              <a:rPr sz="2250" spc="210" dirty="0"/>
              <a:t>C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dirty="0"/>
              <a:t>K</a:t>
            </a:r>
            <a:r>
              <a:rPr sz="2250" spc="-335" dirty="0"/>
              <a:t> </a:t>
            </a:r>
            <a:r>
              <a:rPr sz="2250" spc="-470" dirty="0"/>
              <a:t>I</a:t>
            </a:r>
            <a:r>
              <a:rPr sz="2250" spc="-335" dirty="0"/>
              <a:t> </a:t>
            </a:r>
            <a:r>
              <a:rPr sz="2250" spc="-35" dirty="0"/>
              <a:t>T-</a:t>
            </a:r>
            <a:r>
              <a:rPr sz="2250" spc="-330" dirty="0"/>
              <a:t> </a:t>
            </a:r>
            <a:r>
              <a:rPr sz="2250" spc="-100" dirty="0"/>
              <a:t>L</a:t>
            </a:r>
            <a:r>
              <a:rPr sz="2250" spc="-335" dirty="0"/>
              <a:t> </a:t>
            </a:r>
            <a:r>
              <a:rPr sz="2250" dirty="0"/>
              <a:t>E</a:t>
            </a:r>
            <a:r>
              <a:rPr sz="2250" spc="-335" dirty="0"/>
              <a:t> </a:t>
            </a:r>
            <a:r>
              <a:rPr sz="2250" spc="60" dirty="0"/>
              <a:t>A</a:t>
            </a:r>
            <a:r>
              <a:rPr sz="2250" spc="-335" dirty="0"/>
              <a:t> </a:t>
            </a:r>
            <a:r>
              <a:rPr sz="2250" spc="-254" dirty="0"/>
              <a:t>R</a:t>
            </a:r>
            <a:r>
              <a:rPr sz="2250" spc="-335" dirty="0"/>
              <a:t> </a:t>
            </a:r>
            <a:r>
              <a:rPr sz="2250" spc="-50" dirty="0"/>
              <a:t>N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10"/>
            <a:ext cx="3540125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Tahoma"/>
                <a:cs typeface="Tahoma"/>
              </a:rPr>
              <a:t>George</a:t>
            </a:r>
            <a:r>
              <a:rPr sz="2550" b="1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Tahoma"/>
                <a:cs typeface="Tahoma"/>
              </a:rPr>
              <a:t>Boorman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125" dirty="0">
                <a:solidFill>
                  <a:srgbClr val="FFFFFF"/>
                </a:solidFill>
                <a:latin typeface="Tahoma"/>
                <a:cs typeface="Tahoma"/>
              </a:rPr>
              <a:t>Core</a:t>
            </a:r>
            <a:r>
              <a:rPr sz="225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90" dirty="0">
                <a:solidFill>
                  <a:srgbClr val="FFFFFF"/>
                </a:solidFill>
                <a:latin typeface="Tahoma"/>
                <a:cs typeface="Tahoma"/>
              </a:rPr>
              <a:t>Curriculum</a:t>
            </a:r>
            <a:r>
              <a:rPr sz="225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50" spc="125" dirty="0">
                <a:solidFill>
                  <a:srgbClr val="FFFFFF"/>
                </a:solidFill>
                <a:latin typeface="Tahoma"/>
                <a:cs typeface="Tahoma"/>
              </a:rPr>
              <a:t>Manager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A47B4EF2-36DF-9382-4B20-CF1E5A095E4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26</a:t>
            </a:fld>
            <a:endParaRPr lang="en-US" altLang="ko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90" dirty="0"/>
              <a:t>Hyperparameter</a:t>
            </a:r>
            <a:r>
              <a:rPr spc="-90" dirty="0"/>
              <a:t> </a:t>
            </a:r>
            <a:r>
              <a:rPr spc="-280" dirty="0"/>
              <a:t>tuning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100176" y="1207753"/>
            <a:ext cx="941705" cy="429895"/>
          </a:xfrm>
          <a:custGeom>
            <a:avLst/>
            <a:gdLst/>
            <a:ahLst/>
            <a:cxnLst/>
            <a:rect l="l" t="t" r="r" b="b"/>
            <a:pathLst>
              <a:path w="941704" h="429894">
                <a:moveTo>
                  <a:pt x="865133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865133" y="0"/>
                </a:lnTo>
                <a:lnTo>
                  <a:pt x="909717" y="16786"/>
                </a:lnTo>
                <a:lnTo>
                  <a:pt x="937462" y="55513"/>
                </a:lnTo>
                <a:lnTo>
                  <a:pt x="941638" y="76505"/>
                </a:lnTo>
                <a:lnTo>
                  <a:pt x="941638" y="353373"/>
                </a:lnTo>
                <a:lnTo>
                  <a:pt x="924852" y="397957"/>
                </a:lnTo>
                <a:lnTo>
                  <a:pt x="886124" y="425702"/>
                </a:lnTo>
                <a:lnTo>
                  <a:pt x="870457" y="429353"/>
                </a:lnTo>
                <a:lnTo>
                  <a:pt x="865133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336673" y="1862805"/>
            <a:ext cx="1965325" cy="429895"/>
          </a:xfrm>
          <a:custGeom>
            <a:avLst/>
            <a:gdLst/>
            <a:ahLst/>
            <a:cxnLst/>
            <a:rect l="l" t="t" r="r" b="b"/>
            <a:pathLst>
              <a:path w="1965325" h="429894">
                <a:moveTo>
                  <a:pt x="1888652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4" y="4175"/>
                </a:lnTo>
                <a:lnTo>
                  <a:pt x="76505" y="0"/>
                </a:lnTo>
                <a:lnTo>
                  <a:pt x="1888652" y="0"/>
                </a:lnTo>
                <a:lnTo>
                  <a:pt x="1933236" y="16786"/>
                </a:lnTo>
                <a:lnTo>
                  <a:pt x="1960981" y="55513"/>
                </a:lnTo>
                <a:lnTo>
                  <a:pt x="1965157" y="76505"/>
                </a:lnTo>
                <a:lnTo>
                  <a:pt x="1965157" y="353373"/>
                </a:lnTo>
                <a:lnTo>
                  <a:pt x="1948370" y="397957"/>
                </a:lnTo>
                <a:lnTo>
                  <a:pt x="1909643" y="425702"/>
                </a:lnTo>
                <a:lnTo>
                  <a:pt x="1893977" y="429353"/>
                </a:lnTo>
                <a:lnTo>
                  <a:pt x="1888652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3142205"/>
            <a:ext cx="122822" cy="122822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965157" y="3009147"/>
            <a:ext cx="941705" cy="429895"/>
          </a:xfrm>
          <a:custGeom>
            <a:avLst/>
            <a:gdLst/>
            <a:ahLst/>
            <a:cxnLst/>
            <a:rect l="l" t="t" r="r" b="b"/>
            <a:pathLst>
              <a:path w="941705" h="429895">
                <a:moveTo>
                  <a:pt x="865133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865133" y="0"/>
                </a:lnTo>
                <a:lnTo>
                  <a:pt x="909717" y="16786"/>
                </a:lnTo>
                <a:lnTo>
                  <a:pt x="937462" y="55513"/>
                </a:lnTo>
                <a:lnTo>
                  <a:pt x="941637" y="76505"/>
                </a:lnTo>
                <a:lnTo>
                  <a:pt x="941637" y="353372"/>
                </a:lnTo>
                <a:lnTo>
                  <a:pt x="924851" y="397957"/>
                </a:lnTo>
                <a:lnTo>
                  <a:pt x="886123" y="425702"/>
                </a:lnTo>
                <a:lnTo>
                  <a:pt x="870457" y="429353"/>
                </a:lnTo>
                <a:lnTo>
                  <a:pt x="865133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27962" y="3009147"/>
            <a:ext cx="1965325" cy="429895"/>
          </a:xfrm>
          <a:custGeom>
            <a:avLst/>
            <a:gdLst/>
            <a:ahLst/>
            <a:cxnLst/>
            <a:rect l="l" t="t" r="r" b="b"/>
            <a:pathLst>
              <a:path w="1965325" h="429895">
                <a:moveTo>
                  <a:pt x="1888652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4" y="4175"/>
                </a:lnTo>
                <a:lnTo>
                  <a:pt x="76505" y="0"/>
                </a:lnTo>
                <a:lnTo>
                  <a:pt x="1888652" y="0"/>
                </a:lnTo>
                <a:lnTo>
                  <a:pt x="1933236" y="16786"/>
                </a:lnTo>
                <a:lnTo>
                  <a:pt x="1960981" y="55513"/>
                </a:lnTo>
                <a:lnTo>
                  <a:pt x="1965158" y="76505"/>
                </a:lnTo>
                <a:lnTo>
                  <a:pt x="1965158" y="353372"/>
                </a:lnTo>
                <a:lnTo>
                  <a:pt x="1948370" y="397957"/>
                </a:lnTo>
                <a:lnTo>
                  <a:pt x="1909642" y="425702"/>
                </a:lnTo>
                <a:lnTo>
                  <a:pt x="1893977" y="429353"/>
                </a:lnTo>
                <a:lnTo>
                  <a:pt x="1888652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47056" y="1174582"/>
            <a:ext cx="10135870" cy="22199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288280" algn="l"/>
              </a:tabLst>
            </a:pP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Ridge/lasso</a:t>
            </a:r>
            <a:r>
              <a:rPr sz="2550" spc="1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regression:</a:t>
            </a:r>
            <a:r>
              <a:rPr sz="2550" spc="17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Choosing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alpha</a:t>
            </a:r>
            <a:endParaRPr sz="2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  <a:tabLst>
                <a:tab pos="2531110" algn="l"/>
              </a:tabLst>
            </a:pP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KNN: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Choosing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n_neighbors</a:t>
            </a:r>
            <a:endParaRPr sz="2250">
              <a:latin typeface="Courier New"/>
              <a:cs typeface="Courier New"/>
            </a:endParaRPr>
          </a:p>
          <a:p>
            <a:pPr marL="381000" marR="5080" indent="-368935">
              <a:lnSpc>
                <a:spcPct val="126400"/>
              </a:lnSpc>
              <a:spcBef>
                <a:spcPts val="1290"/>
              </a:spcBef>
              <a:tabLst>
                <a:tab pos="1167130" algn="l"/>
                <a:tab pos="3013075" algn="l"/>
              </a:tabLst>
            </a:pP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Hyperparameters: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Parameters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we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specify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before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fitting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model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Like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alpha</a:t>
            </a:r>
            <a:r>
              <a:rPr sz="2250" spc="35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Tahoma"/>
                <a:cs typeface="Tahoma"/>
              </a:rPr>
              <a:t>and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n_neighbors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D8603A08-9939-DC2B-29D6-45B21461972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27</a:t>
            </a:fld>
            <a:endParaRPr lang="en-US" altLang="ko-K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75" dirty="0"/>
              <a:t>Choosing</a:t>
            </a:r>
            <a:r>
              <a:rPr spc="-140" dirty="0"/>
              <a:t> </a:t>
            </a:r>
            <a:r>
              <a:rPr spc="-229" dirty="0"/>
              <a:t>the</a:t>
            </a:r>
            <a:r>
              <a:rPr spc="-140" dirty="0"/>
              <a:t> correct </a:t>
            </a:r>
            <a:r>
              <a:rPr spc="-175" dirty="0"/>
              <a:t>hyperparameters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8589" y="1174582"/>
            <a:ext cx="7066915" cy="2383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62915" indent="-368935">
              <a:lnSpc>
                <a:spcPct val="100000"/>
              </a:lnSpc>
              <a:spcBef>
                <a:spcPts val="125"/>
              </a:spcBef>
              <a:buAutoNum type="arabicPeriod"/>
              <a:tabLst>
                <a:tab pos="462915" algn="l"/>
              </a:tabLst>
            </a:pP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Try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lots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different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hyperparameter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values</a:t>
            </a:r>
            <a:endParaRPr sz="2550">
              <a:latin typeface="Tahoma"/>
              <a:cs typeface="Tahoma"/>
            </a:endParaRPr>
          </a:p>
          <a:p>
            <a:pPr marL="462915" indent="-429895">
              <a:lnSpc>
                <a:spcPct val="100000"/>
              </a:lnSpc>
              <a:spcBef>
                <a:spcPts val="2100"/>
              </a:spcBef>
              <a:buAutoNum type="arabicPeriod"/>
              <a:tabLst>
                <a:tab pos="462915" algn="l"/>
              </a:tabLst>
            </a:pP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Fit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all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them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Tahoma"/>
                <a:cs typeface="Tahoma"/>
              </a:rPr>
              <a:t>separately</a:t>
            </a:r>
            <a:endParaRPr sz="2550">
              <a:latin typeface="Tahoma"/>
              <a:cs typeface="Tahoma"/>
            </a:endParaRPr>
          </a:p>
          <a:p>
            <a:pPr marL="462915" indent="-450215">
              <a:lnSpc>
                <a:spcPct val="100000"/>
              </a:lnSpc>
              <a:spcBef>
                <a:spcPts val="2100"/>
              </a:spcBef>
              <a:buAutoNum type="arabicPeriod"/>
              <a:tabLst>
                <a:tab pos="462915" algn="l"/>
              </a:tabLst>
            </a:pP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See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how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well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they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perform</a:t>
            </a:r>
            <a:endParaRPr sz="2550">
              <a:latin typeface="Tahoma"/>
              <a:cs typeface="Tahoma"/>
            </a:endParaRPr>
          </a:p>
          <a:p>
            <a:pPr marL="462915" indent="-450215">
              <a:lnSpc>
                <a:spcPct val="100000"/>
              </a:lnSpc>
              <a:spcBef>
                <a:spcPts val="2095"/>
              </a:spcBef>
              <a:buAutoNum type="arabicPeriod"/>
              <a:tabLst>
                <a:tab pos="462915" algn="l"/>
              </a:tabLst>
            </a:pP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Choose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best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performing</a:t>
            </a:r>
            <a:r>
              <a:rPr sz="2550" spc="-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values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4912894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7056" y="4736431"/>
            <a:ext cx="11337290" cy="2383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This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is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Tahoma"/>
                <a:cs typeface="Tahoma"/>
              </a:rPr>
              <a:t>called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45" dirty="0">
                <a:solidFill>
                  <a:srgbClr val="04182D"/>
                </a:solidFill>
                <a:latin typeface="Tahoma"/>
                <a:cs typeface="Tahoma"/>
              </a:rPr>
              <a:t>hyperparameter</a:t>
            </a:r>
            <a:r>
              <a:rPr sz="2550" b="1" spc="1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Tahoma"/>
                <a:cs typeface="Tahoma"/>
              </a:rPr>
              <a:t>tuning</a:t>
            </a:r>
            <a:endParaRPr sz="2550">
              <a:latin typeface="Tahoma"/>
              <a:cs typeface="Tahoma"/>
            </a:endParaRPr>
          </a:p>
          <a:p>
            <a:pPr marL="12700" marR="5080">
              <a:lnSpc>
                <a:spcPts val="5160"/>
              </a:lnSpc>
              <a:spcBef>
                <a:spcPts val="320"/>
              </a:spcBef>
            </a:pP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It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is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essential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use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cross-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validation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Tahoma"/>
                <a:cs typeface="Tahoma"/>
              </a:rPr>
              <a:t>avoid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overfitting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to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test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set</a:t>
            </a:r>
            <a:r>
              <a:rPr sz="2550" spc="63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We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80" dirty="0">
                <a:solidFill>
                  <a:srgbClr val="04182D"/>
                </a:solidFill>
                <a:latin typeface="Tahoma"/>
                <a:cs typeface="Tahoma"/>
              </a:rPr>
              <a:t>can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still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split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data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and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perform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cross-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validation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on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training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Tahoma"/>
                <a:cs typeface="Tahoma"/>
              </a:rPr>
              <a:t>set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We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withhold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the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test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set</a:t>
            </a: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Tahoma"/>
                <a:cs typeface="Tahoma"/>
              </a:rPr>
              <a:t>for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Tahoma"/>
                <a:cs typeface="Tahoma"/>
              </a:rPr>
              <a:t>final</a:t>
            </a:r>
            <a:r>
              <a:rPr sz="2550" spc="-3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evaluation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5567946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6222999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6878051"/>
            <a:ext cx="102352" cy="102351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9B9E18E-60E6-D49F-7D10-8383E72B55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28</a:t>
            </a:fld>
            <a:endParaRPr lang="en-US" altLang="ko-K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35" dirty="0"/>
              <a:t>Grid</a:t>
            </a:r>
            <a:r>
              <a:rPr spc="-140" dirty="0"/>
              <a:t> </a:t>
            </a:r>
            <a:r>
              <a:rPr spc="-160" dirty="0"/>
              <a:t>search</a:t>
            </a:r>
            <a:r>
              <a:rPr spc="-140" dirty="0"/>
              <a:t> </a:t>
            </a:r>
            <a:r>
              <a:rPr spc="-250" dirty="0"/>
              <a:t>cross-</a:t>
            </a:r>
            <a:r>
              <a:rPr spc="-175" dirty="0"/>
              <a:t>validation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7100" y="1166812"/>
            <a:ext cx="14521203" cy="4585367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E2B4A6-3259-D0FC-A56C-16D80DBE11D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29</a:t>
            </a:fld>
            <a:endParaRPr lang="en-US" altLang="ko-K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7477759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30" dirty="0"/>
              <a:t>GridSearchCV</a:t>
            </a:r>
            <a:r>
              <a:rPr spc="-110" dirty="0"/>
              <a:t> </a:t>
            </a:r>
            <a:r>
              <a:rPr spc="-265" dirty="0"/>
              <a:t>in</a:t>
            </a:r>
            <a:r>
              <a:rPr spc="-105" dirty="0"/>
              <a:t> </a:t>
            </a:r>
            <a:r>
              <a:rPr spc="-250" dirty="0"/>
              <a:t>scikit-</a:t>
            </a:r>
            <a:r>
              <a:rPr spc="-114" dirty="0"/>
              <a:t>learn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166812"/>
            <a:ext cx="14575155" cy="4258310"/>
            <a:chOff x="491289" y="1166812"/>
            <a:chExt cx="14575155" cy="4258310"/>
          </a:xfrm>
        </p:grpSpPr>
        <p:sp>
          <p:nvSpPr>
            <p:cNvPr id="4" name="object 4"/>
            <p:cNvSpPr/>
            <p:nvPr/>
          </p:nvSpPr>
          <p:spPr>
            <a:xfrm>
              <a:off x="491289" y="1166812"/>
              <a:ext cx="14575155" cy="4258310"/>
            </a:xfrm>
            <a:custGeom>
              <a:avLst/>
              <a:gdLst/>
              <a:ahLst/>
              <a:cxnLst/>
              <a:rect l="l" t="t" r="r" b="b"/>
              <a:pathLst>
                <a:path w="14575155" h="4258310">
                  <a:moveTo>
                    <a:pt x="14498413" y="4257841"/>
                  </a:moveTo>
                  <a:lnTo>
                    <a:pt x="76505" y="4257841"/>
                  </a:lnTo>
                  <a:lnTo>
                    <a:pt x="71180" y="4257316"/>
                  </a:lnTo>
                  <a:lnTo>
                    <a:pt x="31920" y="4241054"/>
                  </a:lnTo>
                  <a:lnTo>
                    <a:pt x="4175" y="4202327"/>
                  </a:lnTo>
                  <a:lnTo>
                    <a:pt x="0" y="4181335"/>
                  </a:lnTo>
                  <a:lnTo>
                    <a:pt x="0" y="4175960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5"/>
                  </a:lnTo>
                  <a:lnTo>
                    <a:pt x="14574918" y="4181335"/>
                  </a:lnTo>
                  <a:lnTo>
                    <a:pt x="14558132" y="4225920"/>
                  </a:lnTo>
                  <a:lnTo>
                    <a:pt x="14519404" y="4253665"/>
                  </a:lnTo>
                  <a:lnTo>
                    <a:pt x="14503737" y="4257316"/>
                  </a:lnTo>
                  <a:lnTo>
                    <a:pt x="14498413" y="4257841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2261" y="1447482"/>
              <a:ext cx="5989955" cy="283210"/>
            </a:xfrm>
            <a:custGeom>
              <a:avLst/>
              <a:gdLst/>
              <a:ahLst/>
              <a:cxnLst/>
              <a:rect l="l" t="t" r="r" b="b"/>
              <a:pathLst>
                <a:path w="5989955" h="283210">
                  <a:moveTo>
                    <a:pt x="147980" y="9994"/>
                  </a:moveTo>
                  <a:lnTo>
                    <a:pt x="93332" y="9994"/>
                  </a:lnTo>
                  <a:lnTo>
                    <a:pt x="83096" y="10769"/>
                  </a:lnTo>
                  <a:lnTo>
                    <a:pt x="49060" y="36728"/>
                  </a:lnTo>
                  <a:lnTo>
                    <a:pt x="45821" y="55473"/>
                  </a:lnTo>
                  <a:lnTo>
                    <a:pt x="45821" y="64719"/>
                  </a:lnTo>
                  <a:lnTo>
                    <a:pt x="0" y="64719"/>
                  </a:lnTo>
                  <a:lnTo>
                    <a:pt x="0" y="100114"/>
                  </a:lnTo>
                  <a:lnTo>
                    <a:pt x="45821" y="100114"/>
                  </a:lnTo>
                  <a:lnTo>
                    <a:pt x="45821" y="231101"/>
                  </a:lnTo>
                  <a:lnTo>
                    <a:pt x="83540" y="231101"/>
                  </a:lnTo>
                  <a:lnTo>
                    <a:pt x="83540" y="100114"/>
                  </a:lnTo>
                  <a:lnTo>
                    <a:pt x="147980" y="100114"/>
                  </a:lnTo>
                  <a:lnTo>
                    <a:pt x="147980" y="64719"/>
                  </a:lnTo>
                  <a:lnTo>
                    <a:pt x="83540" y="64719"/>
                  </a:lnTo>
                  <a:lnTo>
                    <a:pt x="83540" y="51892"/>
                  </a:lnTo>
                  <a:lnTo>
                    <a:pt x="84328" y="49441"/>
                  </a:lnTo>
                  <a:lnTo>
                    <a:pt x="87553" y="46215"/>
                  </a:lnTo>
                  <a:lnTo>
                    <a:pt x="90017" y="45402"/>
                  </a:lnTo>
                  <a:lnTo>
                    <a:pt x="147980" y="45402"/>
                  </a:lnTo>
                  <a:lnTo>
                    <a:pt x="147980" y="9994"/>
                  </a:lnTo>
                  <a:close/>
                </a:path>
                <a:path w="5989955" h="283210">
                  <a:moveTo>
                    <a:pt x="319646" y="122580"/>
                  </a:moveTo>
                  <a:lnTo>
                    <a:pt x="310400" y="85559"/>
                  </a:lnTo>
                  <a:lnTo>
                    <a:pt x="272326" y="59791"/>
                  </a:lnTo>
                  <a:lnTo>
                    <a:pt x="259270" y="58699"/>
                  </a:lnTo>
                  <a:lnTo>
                    <a:pt x="242265" y="61010"/>
                  </a:lnTo>
                  <a:lnTo>
                    <a:pt x="229666" y="67932"/>
                  </a:lnTo>
                  <a:lnTo>
                    <a:pt x="221488" y="79476"/>
                  </a:lnTo>
                  <a:lnTo>
                    <a:pt x="217703" y="95643"/>
                  </a:lnTo>
                  <a:lnTo>
                    <a:pt x="217792" y="95148"/>
                  </a:lnTo>
                  <a:lnTo>
                    <a:pt x="223647" y="61569"/>
                  </a:lnTo>
                  <a:lnTo>
                    <a:pt x="186575" y="61569"/>
                  </a:lnTo>
                  <a:lnTo>
                    <a:pt x="186575" y="231101"/>
                  </a:lnTo>
                  <a:lnTo>
                    <a:pt x="224218" y="231101"/>
                  </a:lnTo>
                  <a:lnTo>
                    <a:pt x="224269" y="114134"/>
                  </a:lnTo>
                  <a:lnTo>
                    <a:pt x="226758" y="106299"/>
                  </a:lnTo>
                  <a:lnTo>
                    <a:pt x="236562" y="95643"/>
                  </a:lnTo>
                  <a:lnTo>
                    <a:pt x="237083" y="95148"/>
                  </a:lnTo>
                  <a:lnTo>
                    <a:pt x="244106" y="92417"/>
                  </a:lnTo>
                  <a:lnTo>
                    <a:pt x="262572" y="92417"/>
                  </a:lnTo>
                  <a:lnTo>
                    <a:pt x="269697" y="95148"/>
                  </a:lnTo>
                  <a:lnTo>
                    <a:pt x="279527" y="106070"/>
                  </a:lnTo>
                  <a:lnTo>
                    <a:pt x="279603" y="106299"/>
                  </a:lnTo>
                  <a:lnTo>
                    <a:pt x="282003" y="114134"/>
                  </a:lnTo>
                  <a:lnTo>
                    <a:pt x="282003" y="137972"/>
                  </a:lnTo>
                  <a:lnTo>
                    <a:pt x="319646" y="137972"/>
                  </a:lnTo>
                  <a:lnTo>
                    <a:pt x="319646" y="122580"/>
                  </a:lnTo>
                  <a:close/>
                </a:path>
                <a:path w="5989955" h="283210">
                  <a:moveTo>
                    <a:pt x="485305" y="124536"/>
                  </a:moveTo>
                  <a:lnTo>
                    <a:pt x="475107" y="86131"/>
                  </a:lnTo>
                  <a:lnTo>
                    <a:pt x="447662" y="63957"/>
                  </a:lnTo>
                  <a:lnTo>
                    <a:pt x="447662" y="114363"/>
                  </a:lnTo>
                  <a:lnTo>
                    <a:pt x="447662" y="178295"/>
                  </a:lnTo>
                  <a:lnTo>
                    <a:pt x="445185" y="186131"/>
                  </a:lnTo>
                  <a:lnTo>
                    <a:pt x="435343" y="196532"/>
                  </a:lnTo>
                  <a:lnTo>
                    <a:pt x="428142" y="199123"/>
                  </a:lnTo>
                  <a:lnTo>
                    <a:pt x="409054" y="199123"/>
                  </a:lnTo>
                  <a:lnTo>
                    <a:pt x="401828" y="196532"/>
                  </a:lnTo>
                  <a:lnTo>
                    <a:pt x="392036" y="186131"/>
                  </a:lnTo>
                  <a:lnTo>
                    <a:pt x="389585" y="178295"/>
                  </a:lnTo>
                  <a:lnTo>
                    <a:pt x="389585" y="114363"/>
                  </a:lnTo>
                  <a:lnTo>
                    <a:pt x="392036" y="106553"/>
                  </a:lnTo>
                  <a:lnTo>
                    <a:pt x="401828" y="96151"/>
                  </a:lnTo>
                  <a:lnTo>
                    <a:pt x="409054" y="93535"/>
                  </a:lnTo>
                  <a:lnTo>
                    <a:pt x="428142" y="93535"/>
                  </a:lnTo>
                  <a:lnTo>
                    <a:pt x="435343" y="96151"/>
                  </a:lnTo>
                  <a:lnTo>
                    <a:pt x="440245" y="101371"/>
                  </a:lnTo>
                  <a:lnTo>
                    <a:pt x="445185" y="106553"/>
                  </a:lnTo>
                  <a:lnTo>
                    <a:pt x="447662" y="63957"/>
                  </a:lnTo>
                  <a:lnTo>
                    <a:pt x="418617" y="58699"/>
                  </a:lnTo>
                  <a:lnTo>
                    <a:pt x="404114" y="59804"/>
                  </a:lnTo>
                  <a:lnTo>
                    <a:pt x="362038" y="86131"/>
                  </a:lnTo>
                  <a:lnTo>
                    <a:pt x="351891" y="124536"/>
                  </a:lnTo>
                  <a:lnTo>
                    <a:pt x="351878" y="167843"/>
                  </a:lnTo>
                  <a:lnTo>
                    <a:pt x="352996" y="182333"/>
                  </a:lnTo>
                  <a:lnTo>
                    <a:pt x="379768" y="223964"/>
                  </a:lnTo>
                  <a:lnTo>
                    <a:pt x="418617" y="233959"/>
                  </a:lnTo>
                  <a:lnTo>
                    <a:pt x="433095" y="232854"/>
                  </a:lnTo>
                  <a:lnTo>
                    <a:pt x="475107" y="206502"/>
                  </a:lnTo>
                  <a:lnTo>
                    <a:pt x="485305" y="167843"/>
                  </a:lnTo>
                  <a:lnTo>
                    <a:pt x="485305" y="124536"/>
                  </a:lnTo>
                  <a:close/>
                </a:path>
                <a:path w="5989955" h="283210">
                  <a:moveTo>
                    <a:pt x="663549" y="105359"/>
                  </a:moveTo>
                  <a:lnTo>
                    <a:pt x="662940" y="95554"/>
                  </a:lnTo>
                  <a:lnTo>
                    <a:pt x="661873" y="90385"/>
                  </a:lnTo>
                  <a:lnTo>
                    <a:pt x="661098" y="86677"/>
                  </a:lnTo>
                  <a:lnTo>
                    <a:pt x="660450" y="85001"/>
                  </a:lnTo>
                  <a:lnTo>
                    <a:pt x="660374" y="84797"/>
                  </a:lnTo>
                  <a:lnTo>
                    <a:pt x="626402" y="58699"/>
                  </a:lnTo>
                  <a:lnTo>
                    <a:pt x="618045" y="58699"/>
                  </a:lnTo>
                  <a:lnTo>
                    <a:pt x="611365" y="61010"/>
                  </a:lnTo>
                  <a:lnTo>
                    <a:pt x="610514" y="61569"/>
                  </a:lnTo>
                  <a:lnTo>
                    <a:pt x="599694" y="70827"/>
                  </a:lnTo>
                  <a:lnTo>
                    <a:pt x="599389" y="71767"/>
                  </a:lnTo>
                  <a:lnTo>
                    <a:pt x="598830" y="70192"/>
                  </a:lnTo>
                  <a:lnTo>
                    <a:pt x="597941" y="69456"/>
                  </a:lnTo>
                  <a:lnTo>
                    <a:pt x="597941" y="78765"/>
                  </a:lnTo>
                  <a:lnTo>
                    <a:pt x="597687" y="77025"/>
                  </a:lnTo>
                  <a:lnTo>
                    <a:pt x="597814" y="76657"/>
                  </a:lnTo>
                  <a:lnTo>
                    <a:pt x="597839" y="77025"/>
                  </a:lnTo>
                  <a:lnTo>
                    <a:pt x="597941" y="78765"/>
                  </a:lnTo>
                  <a:lnTo>
                    <a:pt x="597941" y="69456"/>
                  </a:lnTo>
                  <a:lnTo>
                    <a:pt x="593369" y="65620"/>
                  </a:lnTo>
                  <a:lnTo>
                    <a:pt x="587959" y="61010"/>
                  </a:lnTo>
                  <a:lnTo>
                    <a:pt x="581291" y="58699"/>
                  </a:lnTo>
                  <a:lnTo>
                    <a:pt x="565010" y="58699"/>
                  </a:lnTo>
                  <a:lnTo>
                    <a:pt x="558431" y="61010"/>
                  </a:lnTo>
                  <a:lnTo>
                    <a:pt x="558203" y="61010"/>
                  </a:lnTo>
                  <a:lnTo>
                    <a:pt x="551053" y="67233"/>
                  </a:lnTo>
                  <a:lnTo>
                    <a:pt x="552094" y="61569"/>
                  </a:lnTo>
                  <a:lnTo>
                    <a:pt x="546138" y="61569"/>
                  </a:lnTo>
                  <a:lnTo>
                    <a:pt x="546138" y="84442"/>
                  </a:lnTo>
                  <a:lnTo>
                    <a:pt x="544741" y="77025"/>
                  </a:lnTo>
                  <a:lnTo>
                    <a:pt x="544868" y="76657"/>
                  </a:lnTo>
                  <a:lnTo>
                    <a:pt x="544906" y="77025"/>
                  </a:lnTo>
                  <a:lnTo>
                    <a:pt x="545071" y="78765"/>
                  </a:lnTo>
                  <a:lnTo>
                    <a:pt x="546138" y="84442"/>
                  </a:lnTo>
                  <a:lnTo>
                    <a:pt x="546138" y="61569"/>
                  </a:lnTo>
                  <a:lnTo>
                    <a:pt x="517525" y="61569"/>
                  </a:lnTo>
                  <a:lnTo>
                    <a:pt x="517525" y="231101"/>
                  </a:lnTo>
                  <a:lnTo>
                    <a:pt x="553212" y="231101"/>
                  </a:lnTo>
                  <a:lnTo>
                    <a:pt x="553212" y="99631"/>
                  </a:lnTo>
                  <a:lnTo>
                    <a:pt x="554075" y="95948"/>
                  </a:lnTo>
                  <a:lnTo>
                    <a:pt x="557568" y="91516"/>
                  </a:lnTo>
                  <a:lnTo>
                    <a:pt x="560095" y="90385"/>
                  </a:lnTo>
                  <a:lnTo>
                    <a:pt x="566813" y="90385"/>
                  </a:lnTo>
                  <a:lnTo>
                    <a:pt x="569328" y="91516"/>
                  </a:lnTo>
                  <a:lnTo>
                    <a:pt x="573024" y="95948"/>
                  </a:lnTo>
                  <a:lnTo>
                    <a:pt x="574179" y="99631"/>
                  </a:lnTo>
                  <a:lnTo>
                    <a:pt x="574268" y="231101"/>
                  </a:lnTo>
                  <a:lnTo>
                    <a:pt x="606806" y="231101"/>
                  </a:lnTo>
                  <a:lnTo>
                    <a:pt x="606831" y="99631"/>
                  </a:lnTo>
                  <a:lnTo>
                    <a:pt x="607860" y="95948"/>
                  </a:lnTo>
                  <a:lnTo>
                    <a:pt x="611644" y="91516"/>
                  </a:lnTo>
                  <a:lnTo>
                    <a:pt x="614197" y="90385"/>
                  </a:lnTo>
                  <a:lnTo>
                    <a:pt x="620915" y="90385"/>
                  </a:lnTo>
                  <a:lnTo>
                    <a:pt x="623379" y="91516"/>
                  </a:lnTo>
                  <a:lnTo>
                    <a:pt x="626770" y="95948"/>
                  </a:lnTo>
                  <a:lnTo>
                    <a:pt x="627786" y="99631"/>
                  </a:lnTo>
                  <a:lnTo>
                    <a:pt x="627862" y="231101"/>
                  </a:lnTo>
                  <a:lnTo>
                    <a:pt x="663549" y="231101"/>
                  </a:lnTo>
                  <a:lnTo>
                    <a:pt x="663549" y="105359"/>
                  </a:lnTo>
                  <a:close/>
                </a:path>
                <a:path w="5989955" h="283210">
                  <a:moveTo>
                    <a:pt x="5091150" y="16510"/>
                  </a:moveTo>
                  <a:lnTo>
                    <a:pt x="5088852" y="10909"/>
                  </a:lnTo>
                  <a:lnTo>
                    <a:pt x="5079606" y="2184"/>
                  </a:lnTo>
                  <a:lnTo>
                    <a:pt x="5073739" y="0"/>
                  </a:lnTo>
                  <a:lnTo>
                    <a:pt x="5053723" y="0"/>
                  </a:lnTo>
                  <a:lnTo>
                    <a:pt x="5047843" y="2184"/>
                  </a:lnTo>
                  <a:lnTo>
                    <a:pt x="5038610" y="10909"/>
                  </a:lnTo>
                  <a:lnTo>
                    <a:pt x="5036299" y="16510"/>
                  </a:lnTo>
                  <a:lnTo>
                    <a:pt x="5036299" y="30264"/>
                  </a:lnTo>
                  <a:lnTo>
                    <a:pt x="5038560" y="35814"/>
                  </a:lnTo>
                  <a:lnTo>
                    <a:pt x="5043094" y="40017"/>
                  </a:lnTo>
                  <a:lnTo>
                    <a:pt x="5047666" y="44170"/>
                  </a:lnTo>
                  <a:lnTo>
                    <a:pt x="5053584" y="46240"/>
                  </a:lnTo>
                  <a:lnTo>
                    <a:pt x="5073637" y="46240"/>
                  </a:lnTo>
                  <a:lnTo>
                    <a:pt x="5079492" y="44170"/>
                  </a:lnTo>
                  <a:lnTo>
                    <a:pt x="5088839" y="35814"/>
                  </a:lnTo>
                  <a:lnTo>
                    <a:pt x="5091150" y="30264"/>
                  </a:lnTo>
                  <a:lnTo>
                    <a:pt x="5091150" y="16510"/>
                  </a:lnTo>
                  <a:close/>
                </a:path>
                <a:path w="5989955" h="283210">
                  <a:moveTo>
                    <a:pt x="5138458" y="195694"/>
                  </a:moveTo>
                  <a:lnTo>
                    <a:pt x="5085423" y="195694"/>
                  </a:lnTo>
                  <a:lnTo>
                    <a:pt x="5085423" y="61569"/>
                  </a:lnTo>
                  <a:lnTo>
                    <a:pt x="4999012" y="61569"/>
                  </a:lnTo>
                  <a:lnTo>
                    <a:pt x="4999012" y="96964"/>
                  </a:lnTo>
                  <a:lnTo>
                    <a:pt x="5047704" y="96964"/>
                  </a:lnTo>
                  <a:lnTo>
                    <a:pt x="5047704" y="195694"/>
                  </a:lnTo>
                  <a:lnTo>
                    <a:pt x="4991874" y="195694"/>
                  </a:lnTo>
                  <a:lnTo>
                    <a:pt x="4991874" y="231101"/>
                  </a:lnTo>
                  <a:lnTo>
                    <a:pt x="5138458" y="231101"/>
                  </a:lnTo>
                  <a:lnTo>
                    <a:pt x="5138458" y="195694"/>
                  </a:lnTo>
                  <a:close/>
                </a:path>
                <a:path w="5989955" h="283210">
                  <a:moveTo>
                    <a:pt x="5305793" y="105359"/>
                  </a:moveTo>
                  <a:lnTo>
                    <a:pt x="5305171" y="95554"/>
                  </a:lnTo>
                  <a:lnTo>
                    <a:pt x="5304104" y="90385"/>
                  </a:lnTo>
                  <a:lnTo>
                    <a:pt x="5303342" y="86677"/>
                  </a:lnTo>
                  <a:lnTo>
                    <a:pt x="5302694" y="85001"/>
                  </a:lnTo>
                  <a:lnTo>
                    <a:pt x="5302605" y="84797"/>
                  </a:lnTo>
                  <a:lnTo>
                    <a:pt x="5300281" y="78765"/>
                  </a:lnTo>
                  <a:lnTo>
                    <a:pt x="5268633" y="58699"/>
                  </a:lnTo>
                  <a:lnTo>
                    <a:pt x="5260289" y="58699"/>
                  </a:lnTo>
                  <a:lnTo>
                    <a:pt x="5253609" y="61010"/>
                  </a:lnTo>
                  <a:lnTo>
                    <a:pt x="5252745" y="61569"/>
                  </a:lnTo>
                  <a:lnTo>
                    <a:pt x="5241925" y="70827"/>
                  </a:lnTo>
                  <a:lnTo>
                    <a:pt x="5241633" y="71767"/>
                  </a:lnTo>
                  <a:lnTo>
                    <a:pt x="5241074" y="70192"/>
                  </a:lnTo>
                  <a:lnTo>
                    <a:pt x="5240185" y="69456"/>
                  </a:lnTo>
                  <a:lnTo>
                    <a:pt x="5240185" y="78765"/>
                  </a:lnTo>
                  <a:lnTo>
                    <a:pt x="5239931" y="77025"/>
                  </a:lnTo>
                  <a:lnTo>
                    <a:pt x="5240045" y="76657"/>
                  </a:lnTo>
                  <a:lnTo>
                    <a:pt x="5240071" y="77025"/>
                  </a:lnTo>
                  <a:lnTo>
                    <a:pt x="5240185" y="78765"/>
                  </a:lnTo>
                  <a:lnTo>
                    <a:pt x="5240185" y="69456"/>
                  </a:lnTo>
                  <a:lnTo>
                    <a:pt x="5235613" y="65620"/>
                  </a:lnTo>
                  <a:lnTo>
                    <a:pt x="5230203" y="61010"/>
                  </a:lnTo>
                  <a:lnTo>
                    <a:pt x="5223535" y="58699"/>
                  </a:lnTo>
                  <a:lnTo>
                    <a:pt x="5207254" y="58699"/>
                  </a:lnTo>
                  <a:lnTo>
                    <a:pt x="5200675" y="61010"/>
                  </a:lnTo>
                  <a:lnTo>
                    <a:pt x="5200434" y="61010"/>
                  </a:lnTo>
                  <a:lnTo>
                    <a:pt x="5193284" y="67233"/>
                  </a:lnTo>
                  <a:lnTo>
                    <a:pt x="5194325" y="61569"/>
                  </a:lnTo>
                  <a:lnTo>
                    <a:pt x="5188382" y="61569"/>
                  </a:lnTo>
                  <a:lnTo>
                    <a:pt x="5188382" y="84442"/>
                  </a:lnTo>
                  <a:lnTo>
                    <a:pt x="5186985" y="77025"/>
                  </a:lnTo>
                  <a:lnTo>
                    <a:pt x="5187112" y="76657"/>
                  </a:lnTo>
                  <a:lnTo>
                    <a:pt x="5187150" y="77025"/>
                  </a:lnTo>
                  <a:lnTo>
                    <a:pt x="5187315" y="78765"/>
                  </a:lnTo>
                  <a:lnTo>
                    <a:pt x="5188382" y="84442"/>
                  </a:lnTo>
                  <a:lnTo>
                    <a:pt x="5188382" y="61569"/>
                  </a:lnTo>
                  <a:lnTo>
                    <a:pt x="5159768" y="61569"/>
                  </a:lnTo>
                  <a:lnTo>
                    <a:pt x="5159768" y="231101"/>
                  </a:lnTo>
                  <a:lnTo>
                    <a:pt x="5195443" y="231101"/>
                  </a:lnTo>
                  <a:lnTo>
                    <a:pt x="5195443" y="99631"/>
                  </a:lnTo>
                  <a:lnTo>
                    <a:pt x="5196306" y="95948"/>
                  </a:lnTo>
                  <a:lnTo>
                    <a:pt x="5199812" y="91516"/>
                  </a:lnTo>
                  <a:lnTo>
                    <a:pt x="5202326" y="90385"/>
                  </a:lnTo>
                  <a:lnTo>
                    <a:pt x="5209044" y="90385"/>
                  </a:lnTo>
                  <a:lnTo>
                    <a:pt x="5211572" y="91516"/>
                  </a:lnTo>
                  <a:lnTo>
                    <a:pt x="5215267" y="95948"/>
                  </a:lnTo>
                  <a:lnTo>
                    <a:pt x="5216410" y="99631"/>
                  </a:lnTo>
                  <a:lnTo>
                    <a:pt x="5216512" y="231101"/>
                  </a:lnTo>
                  <a:lnTo>
                    <a:pt x="5249049" y="231101"/>
                  </a:lnTo>
                  <a:lnTo>
                    <a:pt x="5249062" y="99631"/>
                  </a:lnTo>
                  <a:lnTo>
                    <a:pt x="5250104" y="95948"/>
                  </a:lnTo>
                  <a:lnTo>
                    <a:pt x="5253875" y="91516"/>
                  </a:lnTo>
                  <a:lnTo>
                    <a:pt x="5256441" y="90385"/>
                  </a:lnTo>
                  <a:lnTo>
                    <a:pt x="5263159" y="90385"/>
                  </a:lnTo>
                  <a:lnTo>
                    <a:pt x="5265610" y="91516"/>
                  </a:lnTo>
                  <a:lnTo>
                    <a:pt x="5269001" y="95948"/>
                  </a:lnTo>
                  <a:lnTo>
                    <a:pt x="5270030" y="99631"/>
                  </a:lnTo>
                  <a:lnTo>
                    <a:pt x="5270106" y="231101"/>
                  </a:lnTo>
                  <a:lnTo>
                    <a:pt x="5305793" y="231101"/>
                  </a:lnTo>
                  <a:lnTo>
                    <a:pt x="5305793" y="105359"/>
                  </a:lnTo>
                  <a:close/>
                </a:path>
                <a:path w="5989955" h="283210">
                  <a:moveTo>
                    <a:pt x="5471439" y="123139"/>
                  </a:moveTo>
                  <a:lnTo>
                    <a:pt x="5462778" y="85864"/>
                  </a:lnTo>
                  <a:lnTo>
                    <a:pt x="5433796" y="61887"/>
                  </a:lnTo>
                  <a:lnTo>
                    <a:pt x="5433796" y="114134"/>
                  </a:lnTo>
                  <a:lnTo>
                    <a:pt x="5433796" y="178523"/>
                  </a:lnTo>
                  <a:lnTo>
                    <a:pt x="5431396" y="186499"/>
                  </a:lnTo>
                  <a:lnTo>
                    <a:pt x="5421871" y="196951"/>
                  </a:lnTo>
                  <a:lnTo>
                    <a:pt x="5414784" y="199682"/>
                  </a:lnTo>
                  <a:lnTo>
                    <a:pt x="5396649" y="199682"/>
                  </a:lnTo>
                  <a:lnTo>
                    <a:pt x="5389600" y="196951"/>
                  </a:lnTo>
                  <a:lnTo>
                    <a:pt x="5388686" y="195973"/>
                  </a:lnTo>
                  <a:lnTo>
                    <a:pt x="5384470" y="191490"/>
                  </a:lnTo>
                  <a:lnTo>
                    <a:pt x="5379390" y="185991"/>
                  </a:lnTo>
                  <a:lnTo>
                    <a:pt x="5376977" y="178523"/>
                  </a:lnTo>
                  <a:lnTo>
                    <a:pt x="5376977" y="114134"/>
                  </a:lnTo>
                  <a:lnTo>
                    <a:pt x="5379390" y="106692"/>
                  </a:lnTo>
                  <a:lnTo>
                    <a:pt x="5388254" y="97180"/>
                  </a:lnTo>
                  <a:lnTo>
                    <a:pt x="5388559" y="96850"/>
                  </a:lnTo>
                  <a:lnTo>
                    <a:pt x="5389905" y="95618"/>
                  </a:lnTo>
                  <a:lnTo>
                    <a:pt x="5396649" y="92976"/>
                  </a:lnTo>
                  <a:lnTo>
                    <a:pt x="5414784" y="92976"/>
                  </a:lnTo>
                  <a:lnTo>
                    <a:pt x="5421782" y="95618"/>
                  </a:lnTo>
                  <a:lnTo>
                    <a:pt x="5431396" y="106159"/>
                  </a:lnTo>
                  <a:lnTo>
                    <a:pt x="5433796" y="114134"/>
                  </a:lnTo>
                  <a:lnTo>
                    <a:pt x="5433796" y="61887"/>
                  </a:lnTo>
                  <a:lnTo>
                    <a:pt x="5426761" y="59804"/>
                  </a:lnTo>
                  <a:lnTo>
                    <a:pt x="5414213" y="58699"/>
                  </a:lnTo>
                  <a:lnTo>
                    <a:pt x="5404739" y="59334"/>
                  </a:lnTo>
                  <a:lnTo>
                    <a:pt x="5374614" y="75780"/>
                  </a:lnTo>
                  <a:lnTo>
                    <a:pt x="5376850" y="61569"/>
                  </a:lnTo>
                  <a:lnTo>
                    <a:pt x="5339207" y="61569"/>
                  </a:lnTo>
                  <a:lnTo>
                    <a:pt x="5339207" y="282663"/>
                  </a:lnTo>
                  <a:lnTo>
                    <a:pt x="5376850" y="282663"/>
                  </a:lnTo>
                  <a:lnTo>
                    <a:pt x="5376646" y="229552"/>
                  </a:lnTo>
                  <a:lnTo>
                    <a:pt x="5374627" y="216966"/>
                  </a:lnTo>
                  <a:lnTo>
                    <a:pt x="5375300" y="218160"/>
                  </a:lnTo>
                  <a:lnTo>
                    <a:pt x="5414213" y="233959"/>
                  </a:lnTo>
                  <a:lnTo>
                    <a:pt x="5426761" y="232867"/>
                  </a:lnTo>
                  <a:lnTo>
                    <a:pt x="5462778" y="206781"/>
                  </a:lnTo>
                  <a:lnTo>
                    <a:pt x="5471439" y="169240"/>
                  </a:lnTo>
                  <a:lnTo>
                    <a:pt x="5471439" y="123139"/>
                  </a:lnTo>
                  <a:close/>
                </a:path>
                <a:path w="5989955" h="283210">
                  <a:moveTo>
                    <a:pt x="5643397" y="124536"/>
                  </a:moveTo>
                  <a:lnTo>
                    <a:pt x="5633199" y="86131"/>
                  </a:lnTo>
                  <a:lnTo>
                    <a:pt x="5605754" y="63957"/>
                  </a:lnTo>
                  <a:lnTo>
                    <a:pt x="5605754" y="114363"/>
                  </a:lnTo>
                  <a:lnTo>
                    <a:pt x="5605754" y="178295"/>
                  </a:lnTo>
                  <a:lnTo>
                    <a:pt x="5603278" y="186131"/>
                  </a:lnTo>
                  <a:lnTo>
                    <a:pt x="5593435" y="196532"/>
                  </a:lnTo>
                  <a:lnTo>
                    <a:pt x="5586222" y="199123"/>
                  </a:lnTo>
                  <a:lnTo>
                    <a:pt x="5567146" y="199123"/>
                  </a:lnTo>
                  <a:lnTo>
                    <a:pt x="5559920" y="196532"/>
                  </a:lnTo>
                  <a:lnTo>
                    <a:pt x="5550128" y="186131"/>
                  </a:lnTo>
                  <a:lnTo>
                    <a:pt x="5547677" y="178295"/>
                  </a:lnTo>
                  <a:lnTo>
                    <a:pt x="5547677" y="114363"/>
                  </a:lnTo>
                  <a:lnTo>
                    <a:pt x="5550128" y="106553"/>
                  </a:lnTo>
                  <a:lnTo>
                    <a:pt x="5559920" y="96151"/>
                  </a:lnTo>
                  <a:lnTo>
                    <a:pt x="5567146" y="93535"/>
                  </a:lnTo>
                  <a:lnTo>
                    <a:pt x="5586222" y="93535"/>
                  </a:lnTo>
                  <a:lnTo>
                    <a:pt x="5593435" y="96151"/>
                  </a:lnTo>
                  <a:lnTo>
                    <a:pt x="5598338" y="101371"/>
                  </a:lnTo>
                  <a:lnTo>
                    <a:pt x="5603278" y="106553"/>
                  </a:lnTo>
                  <a:lnTo>
                    <a:pt x="5605754" y="63957"/>
                  </a:lnTo>
                  <a:lnTo>
                    <a:pt x="5576709" y="58699"/>
                  </a:lnTo>
                  <a:lnTo>
                    <a:pt x="5562206" y="59804"/>
                  </a:lnTo>
                  <a:lnTo>
                    <a:pt x="5520131" y="86131"/>
                  </a:lnTo>
                  <a:lnTo>
                    <a:pt x="5509984" y="124536"/>
                  </a:lnTo>
                  <a:lnTo>
                    <a:pt x="5509958" y="167843"/>
                  </a:lnTo>
                  <a:lnTo>
                    <a:pt x="5511089" y="182333"/>
                  </a:lnTo>
                  <a:lnTo>
                    <a:pt x="5537860" y="223964"/>
                  </a:lnTo>
                  <a:lnTo>
                    <a:pt x="5576709" y="233959"/>
                  </a:lnTo>
                  <a:lnTo>
                    <a:pt x="5591187" y="232854"/>
                  </a:lnTo>
                  <a:lnTo>
                    <a:pt x="5633199" y="206502"/>
                  </a:lnTo>
                  <a:lnTo>
                    <a:pt x="5643397" y="167843"/>
                  </a:lnTo>
                  <a:lnTo>
                    <a:pt x="5643397" y="124536"/>
                  </a:lnTo>
                  <a:close/>
                </a:path>
                <a:path w="5989955" h="283210">
                  <a:moveTo>
                    <a:pt x="5821642" y="122580"/>
                  </a:moveTo>
                  <a:lnTo>
                    <a:pt x="5812396" y="85559"/>
                  </a:lnTo>
                  <a:lnTo>
                    <a:pt x="5774309" y="59791"/>
                  </a:lnTo>
                  <a:lnTo>
                    <a:pt x="5761253" y="58699"/>
                  </a:lnTo>
                  <a:lnTo>
                    <a:pt x="5744261" y="61010"/>
                  </a:lnTo>
                  <a:lnTo>
                    <a:pt x="5731662" y="67932"/>
                  </a:lnTo>
                  <a:lnTo>
                    <a:pt x="5723471" y="79476"/>
                  </a:lnTo>
                  <a:lnTo>
                    <a:pt x="5719699" y="95643"/>
                  </a:lnTo>
                  <a:lnTo>
                    <a:pt x="5719788" y="95148"/>
                  </a:lnTo>
                  <a:lnTo>
                    <a:pt x="5725642" y="61569"/>
                  </a:lnTo>
                  <a:lnTo>
                    <a:pt x="5688558" y="61569"/>
                  </a:lnTo>
                  <a:lnTo>
                    <a:pt x="5688558" y="231101"/>
                  </a:lnTo>
                  <a:lnTo>
                    <a:pt x="5726201" y="231101"/>
                  </a:lnTo>
                  <a:lnTo>
                    <a:pt x="5726265" y="114134"/>
                  </a:lnTo>
                  <a:lnTo>
                    <a:pt x="5728741" y="106299"/>
                  </a:lnTo>
                  <a:lnTo>
                    <a:pt x="5738558" y="95643"/>
                  </a:lnTo>
                  <a:lnTo>
                    <a:pt x="5739079" y="95148"/>
                  </a:lnTo>
                  <a:lnTo>
                    <a:pt x="5746102" y="92417"/>
                  </a:lnTo>
                  <a:lnTo>
                    <a:pt x="5764568" y="92417"/>
                  </a:lnTo>
                  <a:lnTo>
                    <a:pt x="5771680" y="95148"/>
                  </a:lnTo>
                  <a:lnTo>
                    <a:pt x="5781522" y="106070"/>
                  </a:lnTo>
                  <a:lnTo>
                    <a:pt x="5781599" y="106299"/>
                  </a:lnTo>
                  <a:lnTo>
                    <a:pt x="5783999" y="114134"/>
                  </a:lnTo>
                  <a:lnTo>
                    <a:pt x="5783999" y="137972"/>
                  </a:lnTo>
                  <a:lnTo>
                    <a:pt x="5821642" y="137972"/>
                  </a:lnTo>
                  <a:lnTo>
                    <a:pt x="5821642" y="122580"/>
                  </a:lnTo>
                  <a:close/>
                </a:path>
                <a:path w="5989955" h="283210">
                  <a:moveTo>
                    <a:pt x="5989599" y="61569"/>
                  </a:moveTo>
                  <a:lnTo>
                    <a:pt x="5926556" y="61569"/>
                  </a:lnTo>
                  <a:lnTo>
                    <a:pt x="5926556" y="18605"/>
                  </a:lnTo>
                  <a:lnTo>
                    <a:pt x="5888850" y="18605"/>
                  </a:lnTo>
                  <a:lnTo>
                    <a:pt x="5888850" y="61569"/>
                  </a:lnTo>
                  <a:lnTo>
                    <a:pt x="5844425" y="61569"/>
                  </a:lnTo>
                  <a:lnTo>
                    <a:pt x="5844425" y="96964"/>
                  </a:lnTo>
                  <a:lnTo>
                    <a:pt x="5888850" y="96964"/>
                  </a:lnTo>
                  <a:lnTo>
                    <a:pt x="5888850" y="183591"/>
                  </a:lnTo>
                  <a:lnTo>
                    <a:pt x="5889663" y="194144"/>
                  </a:lnTo>
                  <a:lnTo>
                    <a:pt x="5917489" y="227952"/>
                  </a:lnTo>
                  <a:lnTo>
                    <a:pt x="5937821" y="231101"/>
                  </a:lnTo>
                  <a:lnTo>
                    <a:pt x="5986729" y="231101"/>
                  </a:lnTo>
                  <a:lnTo>
                    <a:pt x="5986729" y="195694"/>
                  </a:lnTo>
                  <a:lnTo>
                    <a:pt x="5933630" y="195694"/>
                  </a:lnTo>
                  <a:lnTo>
                    <a:pt x="5930684" y="194805"/>
                  </a:lnTo>
                  <a:lnTo>
                    <a:pt x="5927382" y="191262"/>
                  </a:lnTo>
                  <a:lnTo>
                    <a:pt x="5926556" y="188112"/>
                  </a:lnTo>
                  <a:lnTo>
                    <a:pt x="5926556" y="96964"/>
                  </a:lnTo>
                  <a:lnTo>
                    <a:pt x="5989599" y="96964"/>
                  </a:lnTo>
                  <a:lnTo>
                    <a:pt x="5989599" y="61569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91289" y="5670298"/>
            <a:ext cx="14575155" cy="1310640"/>
          </a:xfrm>
          <a:custGeom>
            <a:avLst/>
            <a:gdLst/>
            <a:ahLst/>
            <a:cxnLst/>
            <a:rect l="l" t="t" r="r" b="b"/>
            <a:pathLst>
              <a:path w="14575155" h="1310640">
                <a:moveTo>
                  <a:pt x="14498413" y="1310104"/>
                </a:moveTo>
                <a:lnTo>
                  <a:pt x="76505" y="1310104"/>
                </a:lnTo>
                <a:lnTo>
                  <a:pt x="71180" y="1309579"/>
                </a:lnTo>
                <a:lnTo>
                  <a:pt x="31920" y="1293317"/>
                </a:lnTo>
                <a:lnTo>
                  <a:pt x="4175" y="1254589"/>
                </a:lnTo>
                <a:lnTo>
                  <a:pt x="0" y="1233599"/>
                </a:lnTo>
                <a:lnTo>
                  <a:pt x="0" y="1228223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5"/>
                </a:lnTo>
                <a:lnTo>
                  <a:pt x="14570742" y="55512"/>
                </a:lnTo>
                <a:lnTo>
                  <a:pt x="14574918" y="76505"/>
                </a:lnTo>
                <a:lnTo>
                  <a:pt x="14574918" y="1233599"/>
                </a:lnTo>
                <a:lnTo>
                  <a:pt x="14558132" y="1278184"/>
                </a:lnTo>
                <a:lnTo>
                  <a:pt x="14519404" y="1305928"/>
                </a:lnTo>
                <a:lnTo>
                  <a:pt x="14503737" y="1309579"/>
                </a:lnTo>
                <a:lnTo>
                  <a:pt x="14498413" y="1310104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2352" y="1231899"/>
            <a:ext cx="9137650" cy="395605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871855">
              <a:lnSpc>
                <a:spcPct val="100000"/>
              </a:lnSpc>
              <a:spcBef>
                <a:spcPts val="1265"/>
              </a:spcBef>
              <a:tabLst>
                <a:tab pos="6202045" algn="l"/>
              </a:tabLst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sklearn.model_selection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GridSearchCV</a:t>
            </a:r>
            <a:endParaRPr sz="2250" dirty="0">
              <a:latin typeface="Courier New"/>
              <a:cs typeface="Courier New"/>
            </a:endParaRPr>
          </a:p>
          <a:p>
            <a:pPr marL="12700" marR="5080">
              <a:lnSpc>
                <a:spcPct val="143300"/>
              </a:lnSpc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kf</a:t>
            </a:r>
            <a:r>
              <a:rPr sz="2250" spc="-1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KFold(n_splits=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5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shuffle=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True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random_state=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42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param_grid</a:t>
            </a:r>
            <a:r>
              <a:rPr sz="2250" spc="-1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{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"alpha"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: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np.arange(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0.0001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spc="-20" dirty="0">
                <a:solidFill>
                  <a:srgbClr val="BE2F72"/>
                </a:solidFill>
                <a:latin typeface="Courier New"/>
                <a:cs typeface="Courier New"/>
              </a:rPr>
              <a:t>10</a:t>
            </a:r>
            <a:r>
              <a:rPr sz="2250" spc="-20" dirty="0">
                <a:solidFill>
                  <a:srgbClr val="04182D"/>
                </a:solidFill>
                <a:latin typeface="Courier New"/>
                <a:cs typeface="Courier New"/>
              </a:rPr>
              <a:t>),</a:t>
            </a:r>
            <a:endParaRPr sz="2250" dirty="0">
              <a:latin typeface="Courier New"/>
              <a:cs typeface="Courier New"/>
            </a:endParaRPr>
          </a:p>
          <a:p>
            <a:pPr marL="12700" marR="2240280" indent="2406650">
              <a:lnSpc>
                <a:spcPct val="143300"/>
              </a:lnSpc>
            </a:pP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"solver"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:</a:t>
            </a:r>
            <a:r>
              <a:rPr sz="2250" spc="-2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[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"sag"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"lsqr"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]}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ridge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Ridge()</a:t>
            </a:r>
            <a:endParaRPr sz="2250" dirty="0">
              <a:latin typeface="Courier New"/>
              <a:cs typeface="Courier New"/>
            </a:endParaRPr>
          </a:p>
          <a:p>
            <a:pPr marL="12700" marR="519430">
              <a:lnSpc>
                <a:spcPct val="143300"/>
              </a:lnSpc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ridge_cv = GridSearchCV(ridge, param_grid,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cv=kf)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ridge_cv.fit(X_train,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y_train) </a:t>
            </a:r>
            <a:r>
              <a:rPr sz="225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(ridge_cv.best_params_,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ridge_cv.best_score_)</a:t>
            </a:r>
            <a:endParaRPr sz="225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2352" y="5735386"/>
            <a:ext cx="5871845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95"/>
              </a:spcBef>
            </a:pPr>
            <a:r>
              <a:rPr sz="2250" dirty="0">
                <a:solidFill>
                  <a:srgbClr val="FFFFFF"/>
                </a:solidFill>
                <a:latin typeface="Courier New"/>
                <a:cs typeface="Courier New"/>
              </a:rPr>
              <a:t>{'alpha': 0.0001, 'solver': </a:t>
            </a:r>
            <a:r>
              <a:rPr sz="2250" spc="-10" dirty="0">
                <a:solidFill>
                  <a:srgbClr val="FFFFFF"/>
                </a:solidFill>
                <a:latin typeface="Courier New"/>
                <a:cs typeface="Courier New"/>
              </a:rPr>
              <a:t>'sag'} 0.7529912278705785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291D301-4866-BCA8-741E-56DD9A3BD8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30</a:t>
            </a:fld>
            <a:endParaRPr lang="en-US" altLang="ko-KR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EEA5DC59-B785-69DE-E286-0265A02EF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842" y="7043827"/>
            <a:ext cx="1334370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solver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Specifies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optimization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minimize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solvers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Ridge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ElasticNet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sag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Stochastic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Average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Gradient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descent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solver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efficient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large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datasets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lsqr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Least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Squares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solver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suitable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dense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4" dirty="0"/>
              <a:t>Limitations</a:t>
            </a:r>
            <a:r>
              <a:rPr spc="-150" dirty="0"/>
              <a:t> and</a:t>
            </a:r>
            <a:r>
              <a:rPr spc="-145" dirty="0"/>
              <a:t> </a:t>
            </a:r>
            <a:r>
              <a:rPr spc="-135" dirty="0"/>
              <a:t>an</a:t>
            </a:r>
            <a:r>
              <a:rPr spc="-150" dirty="0"/>
              <a:t> </a:t>
            </a:r>
            <a:r>
              <a:rPr spc="-220" dirty="0"/>
              <a:t>alternative</a:t>
            </a:r>
            <a:r>
              <a:rPr spc="-145" dirty="0"/>
              <a:t> </a:t>
            </a:r>
            <a:r>
              <a:rPr spc="-75" dirty="0"/>
              <a:t>approach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10683240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3-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fold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cross-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validation,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459" dirty="0">
                <a:solidFill>
                  <a:srgbClr val="04182D"/>
                </a:solidFill>
                <a:latin typeface="Tahoma"/>
                <a:cs typeface="Tahoma"/>
              </a:rPr>
              <a:t>1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hyperparameter,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10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total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values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390" dirty="0">
                <a:solidFill>
                  <a:srgbClr val="04182D"/>
                </a:solidFill>
                <a:latin typeface="Tahoma"/>
                <a:cs typeface="Tahoma"/>
              </a:rPr>
              <a:t>=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65" dirty="0">
                <a:solidFill>
                  <a:srgbClr val="04182D"/>
                </a:solidFill>
                <a:latin typeface="Tahoma"/>
                <a:cs typeface="Tahoma"/>
              </a:rPr>
              <a:t>30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fits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10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fold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cross-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validation,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3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hyperparameters,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65" dirty="0">
                <a:solidFill>
                  <a:srgbClr val="04182D"/>
                </a:solidFill>
                <a:latin typeface="Tahoma"/>
                <a:cs typeface="Tahoma"/>
              </a:rPr>
              <a:t>30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total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Tahoma"/>
                <a:cs typeface="Tahoma"/>
              </a:rPr>
              <a:t>values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390" dirty="0">
                <a:solidFill>
                  <a:srgbClr val="04182D"/>
                </a:solidFill>
                <a:latin typeface="Tahoma"/>
                <a:cs typeface="Tahoma"/>
              </a:rPr>
              <a:t>=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245" dirty="0">
                <a:solidFill>
                  <a:srgbClr val="04182D"/>
                </a:solidFill>
                <a:latin typeface="Tahoma"/>
                <a:cs typeface="Tahoma"/>
              </a:rPr>
              <a:t>900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Tahoma"/>
                <a:cs typeface="Tahoma"/>
              </a:rPr>
              <a:t>fits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0F27490-B1D9-EB8D-F824-13582BDB0E9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31</a:t>
            </a:fld>
            <a:endParaRPr lang="en-US" altLang="ko-K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85" dirty="0"/>
              <a:t>RandomizedSearchCV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166812"/>
            <a:ext cx="14575155" cy="4258310"/>
            <a:chOff x="491289" y="1166812"/>
            <a:chExt cx="14575155" cy="4258310"/>
          </a:xfrm>
        </p:grpSpPr>
        <p:sp>
          <p:nvSpPr>
            <p:cNvPr id="4" name="object 4"/>
            <p:cNvSpPr/>
            <p:nvPr/>
          </p:nvSpPr>
          <p:spPr>
            <a:xfrm>
              <a:off x="491289" y="1166812"/>
              <a:ext cx="14575155" cy="4258310"/>
            </a:xfrm>
            <a:custGeom>
              <a:avLst/>
              <a:gdLst/>
              <a:ahLst/>
              <a:cxnLst/>
              <a:rect l="l" t="t" r="r" b="b"/>
              <a:pathLst>
                <a:path w="14575155" h="4258310">
                  <a:moveTo>
                    <a:pt x="14498413" y="4257841"/>
                  </a:moveTo>
                  <a:lnTo>
                    <a:pt x="76505" y="4257841"/>
                  </a:lnTo>
                  <a:lnTo>
                    <a:pt x="71180" y="4257316"/>
                  </a:lnTo>
                  <a:lnTo>
                    <a:pt x="31920" y="4241054"/>
                  </a:lnTo>
                  <a:lnTo>
                    <a:pt x="4175" y="4202327"/>
                  </a:lnTo>
                  <a:lnTo>
                    <a:pt x="0" y="4181335"/>
                  </a:lnTo>
                  <a:lnTo>
                    <a:pt x="0" y="4175960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5"/>
                  </a:lnTo>
                  <a:lnTo>
                    <a:pt x="14574918" y="4181335"/>
                  </a:lnTo>
                  <a:lnTo>
                    <a:pt x="14558132" y="4225920"/>
                  </a:lnTo>
                  <a:lnTo>
                    <a:pt x="14519404" y="4253665"/>
                  </a:lnTo>
                  <a:lnTo>
                    <a:pt x="14503737" y="4257316"/>
                  </a:lnTo>
                  <a:lnTo>
                    <a:pt x="14498413" y="4257841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2261" y="1447482"/>
              <a:ext cx="5989955" cy="283210"/>
            </a:xfrm>
            <a:custGeom>
              <a:avLst/>
              <a:gdLst/>
              <a:ahLst/>
              <a:cxnLst/>
              <a:rect l="l" t="t" r="r" b="b"/>
              <a:pathLst>
                <a:path w="5989955" h="283210">
                  <a:moveTo>
                    <a:pt x="147980" y="9994"/>
                  </a:moveTo>
                  <a:lnTo>
                    <a:pt x="93332" y="9994"/>
                  </a:lnTo>
                  <a:lnTo>
                    <a:pt x="83096" y="10769"/>
                  </a:lnTo>
                  <a:lnTo>
                    <a:pt x="49060" y="36728"/>
                  </a:lnTo>
                  <a:lnTo>
                    <a:pt x="45821" y="55473"/>
                  </a:lnTo>
                  <a:lnTo>
                    <a:pt x="45821" y="64719"/>
                  </a:lnTo>
                  <a:lnTo>
                    <a:pt x="0" y="64719"/>
                  </a:lnTo>
                  <a:lnTo>
                    <a:pt x="0" y="100114"/>
                  </a:lnTo>
                  <a:lnTo>
                    <a:pt x="45821" y="100114"/>
                  </a:lnTo>
                  <a:lnTo>
                    <a:pt x="45821" y="231101"/>
                  </a:lnTo>
                  <a:lnTo>
                    <a:pt x="83540" y="231101"/>
                  </a:lnTo>
                  <a:lnTo>
                    <a:pt x="83540" y="100114"/>
                  </a:lnTo>
                  <a:lnTo>
                    <a:pt x="147980" y="100114"/>
                  </a:lnTo>
                  <a:lnTo>
                    <a:pt x="147980" y="64719"/>
                  </a:lnTo>
                  <a:lnTo>
                    <a:pt x="83540" y="64719"/>
                  </a:lnTo>
                  <a:lnTo>
                    <a:pt x="83540" y="51892"/>
                  </a:lnTo>
                  <a:lnTo>
                    <a:pt x="84328" y="49441"/>
                  </a:lnTo>
                  <a:lnTo>
                    <a:pt x="87553" y="46215"/>
                  </a:lnTo>
                  <a:lnTo>
                    <a:pt x="90017" y="45402"/>
                  </a:lnTo>
                  <a:lnTo>
                    <a:pt x="147980" y="45402"/>
                  </a:lnTo>
                  <a:lnTo>
                    <a:pt x="147980" y="9994"/>
                  </a:lnTo>
                  <a:close/>
                </a:path>
                <a:path w="5989955" h="283210">
                  <a:moveTo>
                    <a:pt x="319646" y="122580"/>
                  </a:moveTo>
                  <a:lnTo>
                    <a:pt x="310400" y="85559"/>
                  </a:lnTo>
                  <a:lnTo>
                    <a:pt x="272326" y="59791"/>
                  </a:lnTo>
                  <a:lnTo>
                    <a:pt x="259270" y="58699"/>
                  </a:lnTo>
                  <a:lnTo>
                    <a:pt x="242265" y="61010"/>
                  </a:lnTo>
                  <a:lnTo>
                    <a:pt x="229666" y="67932"/>
                  </a:lnTo>
                  <a:lnTo>
                    <a:pt x="221488" y="79476"/>
                  </a:lnTo>
                  <a:lnTo>
                    <a:pt x="217703" y="95643"/>
                  </a:lnTo>
                  <a:lnTo>
                    <a:pt x="217792" y="95148"/>
                  </a:lnTo>
                  <a:lnTo>
                    <a:pt x="223647" y="61569"/>
                  </a:lnTo>
                  <a:lnTo>
                    <a:pt x="186575" y="61569"/>
                  </a:lnTo>
                  <a:lnTo>
                    <a:pt x="186575" y="231101"/>
                  </a:lnTo>
                  <a:lnTo>
                    <a:pt x="224218" y="231101"/>
                  </a:lnTo>
                  <a:lnTo>
                    <a:pt x="224269" y="114134"/>
                  </a:lnTo>
                  <a:lnTo>
                    <a:pt x="226758" y="106299"/>
                  </a:lnTo>
                  <a:lnTo>
                    <a:pt x="236562" y="95643"/>
                  </a:lnTo>
                  <a:lnTo>
                    <a:pt x="237083" y="95148"/>
                  </a:lnTo>
                  <a:lnTo>
                    <a:pt x="244106" y="92417"/>
                  </a:lnTo>
                  <a:lnTo>
                    <a:pt x="262572" y="92417"/>
                  </a:lnTo>
                  <a:lnTo>
                    <a:pt x="269697" y="95148"/>
                  </a:lnTo>
                  <a:lnTo>
                    <a:pt x="279527" y="106070"/>
                  </a:lnTo>
                  <a:lnTo>
                    <a:pt x="279603" y="106299"/>
                  </a:lnTo>
                  <a:lnTo>
                    <a:pt x="282003" y="114134"/>
                  </a:lnTo>
                  <a:lnTo>
                    <a:pt x="282003" y="137972"/>
                  </a:lnTo>
                  <a:lnTo>
                    <a:pt x="319646" y="137972"/>
                  </a:lnTo>
                  <a:lnTo>
                    <a:pt x="319646" y="122580"/>
                  </a:lnTo>
                  <a:close/>
                </a:path>
                <a:path w="5989955" h="283210">
                  <a:moveTo>
                    <a:pt x="485305" y="124536"/>
                  </a:moveTo>
                  <a:lnTo>
                    <a:pt x="475107" y="86131"/>
                  </a:lnTo>
                  <a:lnTo>
                    <a:pt x="447662" y="63957"/>
                  </a:lnTo>
                  <a:lnTo>
                    <a:pt x="447662" y="114363"/>
                  </a:lnTo>
                  <a:lnTo>
                    <a:pt x="447662" y="178295"/>
                  </a:lnTo>
                  <a:lnTo>
                    <a:pt x="445185" y="186131"/>
                  </a:lnTo>
                  <a:lnTo>
                    <a:pt x="435343" y="196532"/>
                  </a:lnTo>
                  <a:lnTo>
                    <a:pt x="428142" y="199123"/>
                  </a:lnTo>
                  <a:lnTo>
                    <a:pt x="409054" y="199123"/>
                  </a:lnTo>
                  <a:lnTo>
                    <a:pt x="401828" y="196532"/>
                  </a:lnTo>
                  <a:lnTo>
                    <a:pt x="392036" y="186131"/>
                  </a:lnTo>
                  <a:lnTo>
                    <a:pt x="389585" y="178295"/>
                  </a:lnTo>
                  <a:lnTo>
                    <a:pt x="389585" y="114363"/>
                  </a:lnTo>
                  <a:lnTo>
                    <a:pt x="392036" y="106553"/>
                  </a:lnTo>
                  <a:lnTo>
                    <a:pt x="401828" y="96151"/>
                  </a:lnTo>
                  <a:lnTo>
                    <a:pt x="409054" y="93535"/>
                  </a:lnTo>
                  <a:lnTo>
                    <a:pt x="428142" y="93535"/>
                  </a:lnTo>
                  <a:lnTo>
                    <a:pt x="435343" y="96151"/>
                  </a:lnTo>
                  <a:lnTo>
                    <a:pt x="440245" y="101371"/>
                  </a:lnTo>
                  <a:lnTo>
                    <a:pt x="445185" y="106553"/>
                  </a:lnTo>
                  <a:lnTo>
                    <a:pt x="447662" y="63957"/>
                  </a:lnTo>
                  <a:lnTo>
                    <a:pt x="418617" y="58699"/>
                  </a:lnTo>
                  <a:lnTo>
                    <a:pt x="404114" y="59804"/>
                  </a:lnTo>
                  <a:lnTo>
                    <a:pt x="362038" y="86131"/>
                  </a:lnTo>
                  <a:lnTo>
                    <a:pt x="351891" y="124536"/>
                  </a:lnTo>
                  <a:lnTo>
                    <a:pt x="351878" y="167843"/>
                  </a:lnTo>
                  <a:lnTo>
                    <a:pt x="352996" y="182333"/>
                  </a:lnTo>
                  <a:lnTo>
                    <a:pt x="379768" y="223964"/>
                  </a:lnTo>
                  <a:lnTo>
                    <a:pt x="418617" y="233959"/>
                  </a:lnTo>
                  <a:lnTo>
                    <a:pt x="433095" y="232854"/>
                  </a:lnTo>
                  <a:lnTo>
                    <a:pt x="475107" y="206502"/>
                  </a:lnTo>
                  <a:lnTo>
                    <a:pt x="485305" y="167843"/>
                  </a:lnTo>
                  <a:lnTo>
                    <a:pt x="485305" y="124536"/>
                  </a:lnTo>
                  <a:close/>
                </a:path>
                <a:path w="5989955" h="283210">
                  <a:moveTo>
                    <a:pt x="663549" y="105359"/>
                  </a:moveTo>
                  <a:lnTo>
                    <a:pt x="662940" y="95554"/>
                  </a:lnTo>
                  <a:lnTo>
                    <a:pt x="661873" y="90385"/>
                  </a:lnTo>
                  <a:lnTo>
                    <a:pt x="661098" y="86677"/>
                  </a:lnTo>
                  <a:lnTo>
                    <a:pt x="660450" y="85001"/>
                  </a:lnTo>
                  <a:lnTo>
                    <a:pt x="660374" y="84797"/>
                  </a:lnTo>
                  <a:lnTo>
                    <a:pt x="626402" y="58699"/>
                  </a:lnTo>
                  <a:lnTo>
                    <a:pt x="618045" y="58699"/>
                  </a:lnTo>
                  <a:lnTo>
                    <a:pt x="611365" y="61010"/>
                  </a:lnTo>
                  <a:lnTo>
                    <a:pt x="610514" y="61569"/>
                  </a:lnTo>
                  <a:lnTo>
                    <a:pt x="599694" y="70827"/>
                  </a:lnTo>
                  <a:lnTo>
                    <a:pt x="599389" y="71767"/>
                  </a:lnTo>
                  <a:lnTo>
                    <a:pt x="598830" y="70192"/>
                  </a:lnTo>
                  <a:lnTo>
                    <a:pt x="597941" y="69456"/>
                  </a:lnTo>
                  <a:lnTo>
                    <a:pt x="597941" y="78765"/>
                  </a:lnTo>
                  <a:lnTo>
                    <a:pt x="597687" y="77025"/>
                  </a:lnTo>
                  <a:lnTo>
                    <a:pt x="597814" y="76657"/>
                  </a:lnTo>
                  <a:lnTo>
                    <a:pt x="597839" y="77025"/>
                  </a:lnTo>
                  <a:lnTo>
                    <a:pt x="597941" y="78765"/>
                  </a:lnTo>
                  <a:lnTo>
                    <a:pt x="597941" y="69456"/>
                  </a:lnTo>
                  <a:lnTo>
                    <a:pt x="593369" y="65620"/>
                  </a:lnTo>
                  <a:lnTo>
                    <a:pt x="587959" y="61010"/>
                  </a:lnTo>
                  <a:lnTo>
                    <a:pt x="581291" y="58699"/>
                  </a:lnTo>
                  <a:lnTo>
                    <a:pt x="565010" y="58699"/>
                  </a:lnTo>
                  <a:lnTo>
                    <a:pt x="558431" y="61010"/>
                  </a:lnTo>
                  <a:lnTo>
                    <a:pt x="558203" y="61010"/>
                  </a:lnTo>
                  <a:lnTo>
                    <a:pt x="551053" y="67233"/>
                  </a:lnTo>
                  <a:lnTo>
                    <a:pt x="552094" y="61569"/>
                  </a:lnTo>
                  <a:lnTo>
                    <a:pt x="546138" y="61569"/>
                  </a:lnTo>
                  <a:lnTo>
                    <a:pt x="546138" y="84442"/>
                  </a:lnTo>
                  <a:lnTo>
                    <a:pt x="544741" y="77025"/>
                  </a:lnTo>
                  <a:lnTo>
                    <a:pt x="544868" y="76657"/>
                  </a:lnTo>
                  <a:lnTo>
                    <a:pt x="544906" y="77025"/>
                  </a:lnTo>
                  <a:lnTo>
                    <a:pt x="545071" y="78765"/>
                  </a:lnTo>
                  <a:lnTo>
                    <a:pt x="546138" y="84442"/>
                  </a:lnTo>
                  <a:lnTo>
                    <a:pt x="546138" y="61569"/>
                  </a:lnTo>
                  <a:lnTo>
                    <a:pt x="517525" y="61569"/>
                  </a:lnTo>
                  <a:lnTo>
                    <a:pt x="517525" y="231101"/>
                  </a:lnTo>
                  <a:lnTo>
                    <a:pt x="553212" y="231101"/>
                  </a:lnTo>
                  <a:lnTo>
                    <a:pt x="553212" y="99631"/>
                  </a:lnTo>
                  <a:lnTo>
                    <a:pt x="554075" y="95948"/>
                  </a:lnTo>
                  <a:lnTo>
                    <a:pt x="557568" y="91516"/>
                  </a:lnTo>
                  <a:lnTo>
                    <a:pt x="560095" y="90385"/>
                  </a:lnTo>
                  <a:lnTo>
                    <a:pt x="566813" y="90385"/>
                  </a:lnTo>
                  <a:lnTo>
                    <a:pt x="569328" y="91516"/>
                  </a:lnTo>
                  <a:lnTo>
                    <a:pt x="573024" y="95948"/>
                  </a:lnTo>
                  <a:lnTo>
                    <a:pt x="574179" y="99631"/>
                  </a:lnTo>
                  <a:lnTo>
                    <a:pt x="574268" y="231101"/>
                  </a:lnTo>
                  <a:lnTo>
                    <a:pt x="606806" y="231101"/>
                  </a:lnTo>
                  <a:lnTo>
                    <a:pt x="606831" y="99631"/>
                  </a:lnTo>
                  <a:lnTo>
                    <a:pt x="607860" y="95948"/>
                  </a:lnTo>
                  <a:lnTo>
                    <a:pt x="611644" y="91516"/>
                  </a:lnTo>
                  <a:lnTo>
                    <a:pt x="614197" y="90385"/>
                  </a:lnTo>
                  <a:lnTo>
                    <a:pt x="620915" y="90385"/>
                  </a:lnTo>
                  <a:lnTo>
                    <a:pt x="623379" y="91516"/>
                  </a:lnTo>
                  <a:lnTo>
                    <a:pt x="626770" y="95948"/>
                  </a:lnTo>
                  <a:lnTo>
                    <a:pt x="627786" y="99631"/>
                  </a:lnTo>
                  <a:lnTo>
                    <a:pt x="627862" y="231101"/>
                  </a:lnTo>
                  <a:lnTo>
                    <a:pt x="663549" y="231101"/>
                  </a:lnTo>
                  <a:lnTo>
                    <a:pt x="663549" y="105359"/>
                  </a:lnTo>
                  <a:close/>
                </a:path>
                <a:path w="5989955" h="283210">
                  <a:moveTo>
                    <a:pt x="5091150" y="16510"/>
                  </a:moveTo>
                  <a:lnTo>
                    <a:pt x="5088852" y="10909"/>
                  </a:lnTo>
                  <a:lnTo>
                    <a:pt x="5079606" y="2184"/>
                  </a:lnTo>
                  <a:lnTo>
                    <a:pt x="5073739" y="0"/>
                  </a:lnTo>
                  <a:lnTo>
                    <a:pt x="5053723" y="0"/>
                  </a:lnTo>
                  <a:lnTo>
                    <a:pt x="5047843" y="2184"/>
                  </a:lnTo>
                  <a:lnTo>
                    <a:pt x="5038610" y="10909"/>
                  </a:lnTo>
                  <a:lnTo>
                    <a:pt x="5036299" y="16510"/>
                  </a:lnTo>
                  <a:lnTo>
                    <a:pt x="5036299" y="30264"/>
                  </a:lnTo>
                  <a:lnTo>
                    <a:pt x="5038560" y="35814"/>
                  </a:lnTo>
                  <a:lnTo>
                    <a:pt x="5043094" y="40017"/>
                  </a:lnTo>
                  <a:lnTo>
                    <a:pt x="5047666" y="44170"/>
                  </a:lnTo>
                  <a:lnTo>
                    <a:pt x="5053584" y="46240"/>
                  </a:lnTo>
                  <a:lnTo>
                    <a:pt x="5073637" y="46240"/>
                  </a:lnTo>
                  <a:lnTo>
                    <a:pt x="5079492" y="44170"/>
                  </a:lnTo>
                  <a:lnTo>
                    <a:pt x="5088839" y="35814"/>
                  </a:lnTo>
                  <a:lnTo>
                    <a:pt x="5091150" y="30264"/>
                  </a:lnTo>
                  <a:lnTo>
                    <a:pt x="5091150" y="16510"/>
                  </a:lnTo>
                  <a:close/>
                </a:path>
                <a:path w="5989955" h="283210">
                  <a:moveTo>
                    <a:pt x="5138458" y="195694"/>
                  </a:moveTo>
                  <a:lnTo>
                    <a:pt x="5085423" y="195694"/>
                  </a:lnTo>
                  <a:lnTo>
                    <a:pt x="5085423" y="61569"/>
                  </a:lnTo>
                  <a:lnTo>
                    <a:pt x="4999012" y="61569"/>
                  </a:lnTo>
                  <a:lnTo>
                    <a:pt x="4999012" y="96964"/>
                  </a:lnTo>
                  <a:lnTo>
                    <a:pt x="5047704" y="96964"/>
                  </a:lnTo>
                  <a:lnTo>
                    <a:pt x="5047704" y="195694"/>
                  </a:lnTo>
                  <a:lnTo>
                    <a:pt x="4991874" y="195694"/>
                  </a:lnTo>
                  <a:lnTo>
                    <a:pt x="4991874" y="231101"/>
                  </a:lnTo>
                  <a:lnTo>
                    <a:pt x="5138458" y="231101"/>
                  </a:lnTo>
                  <a:lnTo>
                    <a:pt x="5138458" y="195694"/>
                  </a:lnTo>
                  <a:close/>
                </a:path>
                <a:path w="5989955" h="283210">
                  <a:moveTo>
                    <a:pt x="5305793" y="105359"/>
                  </a:moveTo>
                  <a:lnTo>
                    <a:pt x="5305171" y="95554"/>
                  </a:lnTo>
                  <a:lnTo>
                    <a:pt x="5304104" y="90385"/>
                  </a:lnTo>
                  <a:lnTo>
                    <a:pt x="5303342" y="86677"/>
                  </a:lnTo>
                  <a:lnTo>
                    <a:pt x="5302694" y="85001"/>
                  </a:lnTo>
                  <a:lnTo>
                    <a:pt x="5302605" y="84797"/>
                  </a:lnTo>
                  <a:lnTo>
                    <a:pt x="5300281" y="78765"/>
                  </a:lnTo>
                  <a:lnTo>
                    <a:pt x="5268633" y="58699"/>
                  </a:lnTo>
                  <a:lnTo>
                    <a:pt x="5260289" y="58699"/>
                  </a:lnTo>
                  <a:lnTo>
                    <a:pt x="5253609" y="61010"/>
                  </a:lnTo>
                  <a:lnTo>
                    <a:pt x="5252745" y="61569"/>
                  </a:lnTo>
                  <a:lnTo>
                    <a:pt x="5241925" y="70827"/>
                  </a:lnTo>
                  <a:lnTo>
                    <a:pt x="5241633" y="71767"/>
                  </a:lnTo>
                  <a:lnTo>
                    <a:pt x="5241074" y="70192"/>
                  </a:lnTo>
                  <a:lnTo>
                    <a:pt x="5240185" y="69456"/>
                  </a:lnTo>
                  <a:lnTo>
                    <a:pt x="5240185" y="78765"/>
                  </a:lnTo>
                  <a:lnTo>
                    <a:pt x="5239931" y="77025"/>
                  </a:lnTo>
                  <a:lnTo>
                    <a:pt x="5240045" y="76657"/>
                  </a:lnTo>
                  <a:lnTo>
                    <a:pt x="5240071" y="77025"/>
                  </a:lnTo>
                  <a:lnTo>
                    <a:pt x="5240185" y="78765"/>
                  </a:lnTo>
                  <a:lnTo>
                    <a:pt x="5240185" y="69456"/>
                  </a:lnTo>
                  <a:lnTo>
                    <a:pt x="5235613" y="65620"/>
                  </a:lnTo>
                  <a:lnTo>
                    <a:pt x="5230203" y="61010"/>
                  </a:lnTo>
                  <a:lnTo>
                    <a:pt x="5223535" y="58699"/>
                  </a:lnTo>
                  <a:lnTo>
                    <a:pt x="5207254" y="58699"/>
                  </a:lnTo>
                  <a:lnTo>
                    <a:pt x="5200675" y="61010"/>
                  </a:lnTo>
                  <a:lnTo>
                    <a:pt x="5200434" y="61010"/>
                  </a:lnTo>
                  <a:lnTo>
                    <a:pt x="5193284" y="67233"/>
                  </a:lnTo>
                  <a:lnTo>
                    <a:pt x="5194325" y="61569"/>
                  </a:lnTo>
                  <a:lnTo>
                    <a:pt x="5188382" y="61569"/>
                  </a:lnTo>
                  <a:lnTo>
                    <a:pt x="5188382" y="84442"/>
                  </a:lnTo>
                  <a:lnTo>
                    <a:pt x="5186985" y="77025"/>
                  </a:lnTo>
                  <a:lnTo>
                    <a:pt x="5187112" y="76657"/>
                  </a:lnTo>
                  <a:lnTo>
                    <a:pt x="5187150" y="77025"/>
                  </a:lnTo>
                  <a:lnTo>
                    <a:pt x="5187315" y="78765"/>
                  </a:lnTo>
                  <a:lnTo>
                    <a:pt x="5188382" y="84442"/>
                  </a:lnTo>
                  <a:lnTo>
                    <a:pt x="5188382" y="61569"/>
                  </a:lnTo>
                  <a:lnTo>
                    <a:pt x="5159768" y="61569"/>
                  </a:lnTo>
                  <a:lnTo>
                    <a:pt x="5159768" y="231101"/>
                  </a:lnTo>
                  <a:lnTo>
                    <a:pt x="5195443" y="231101"/>
                  </a:lnTo>
                  <a:lnTo>
                    <a:pt x="5195443" y="99631"/>
                  </a:lnTo>
                  <a:lnTo>
                    <a:pt x="5196306" y="95948"/>
                  </a:lnTo>
                  <a:lnTo>
                    <a:pt x="5199812" y="91516"/>
                  </a:lnTo>
                  <a:lnTo>
                    <a:pt x="5202326" y="90385"/>
                  </a:lnTo>
                  <a:lnTo>
                    <a:pt x="5209044" y="90385"/>
                  </a:lnTo>
                  <a:lnTo>
                    <a:pt x="5211572" y="91516"/>
                  </a:lnTo>
                  <a:lnTo>
                    <a:pt x="5215267" y="95948"/>
                  </a:lnTo>
                  <a:lnTo>
                    <a:pt x="5216410" y="99631"/>
                  </a:lnTo>
                  <a:lnTo>
                    <a:pt x="5216512" y="231101"/>
                  </a:lnTo>
                  <a:lnTo>
                    <a:pt x="5249049" y="231101"/>
                  </a:lnTo>
                  <a:lnTo>
                    <a:pt x="5249062" y="99631"/>
                  </a:lnTo>
                  <a:lnTo>
                    <a:pt x="5250104" y="95948"/>
                  </a:lnTo>
                  <a:lnTo>
                    <a:pt x="5253875" y="91516"/>
                  </a:lnTo>
                  <a:lnTo>
                    <a:pt x="5256441" y="90385"/>
                  </a:lnTo>
                  <a:lnTo>
                    <a:pt x="5263159" y="90385"/>
                  </a:lnTo>
                  <a:lnTo>
                    <a:pt x="5265610" y="91516"/>
                  </a:lnTo>
                  <a:lnTo>
                    <a:pt x="5269001" y="95948"/>
                  </a:lnTo>
                  <a:lnTo>
                    <a:pt x="5270030" y="99631"/>
                  </a:lnTo>
                  <a:lnTo>
                    <a:pt x="5270106" y="231101"/>
                  </a:lnTo>
                  <a:lnTo>
                    <a:pt x="5305793" y="231101"/>
                  </a:lnTo>
                  <a:lnTo>
                    <a:pt x="5305793" y="105359"/>
                  </a:lnTo>
                  <a:close/>
                </a:path>
                <a:path w="5989955" h="283210">
                  <a:moveTo>
                    <a:pt x="5471439" y="123139"/>
                  </a:moveTo>
                  <a:lnTo>
                    <a:pt x="5462778" y="85864"/>
                  </a:lnTo>
                  <a:lnTo>
                    <a:pt x="5433796" y="61887"/>
                  </a:lnTo>
                  <a:lnTo>
                    <a:pt x="5433796" y="114134"/>
                  </a:lnTo>
                  <a:lnTo>
                    <a:pt x="5433796" y="178523"/>
                  </a:lnTo>
                  <a:lnTo>
                    <a:pt x="5431396" y="186499"/>
                  </a:lnTo>
                  <a:lnTo>
                    <a:pt x="5421871" y="196951"/>
                  </a:lnTo>
                  <a:lnTo>
                    <a:pt x="5414784" y="199682"/>
                  </a:lnTo>
                  <a:lnTo>
                    <a:pt x="5396649" y="199682"/>
                  </a:lnTo>
                  <a:lnTo>
                    <a:pt x="5389600" y="196951"/>
                  </a:lnTo>
                  <a:lnTo>
                    <a:pt x="5388686" y="195973"/>
                  </a:lnTo>
                  <a:lnTo>
                    <a:pt x="5384470" y="191490"/>
                  </a:lnTo>
                  <a:lnTo>
                    <a:pt x="5379390" y="185991"/>
                  </a:lnTo>
                  <a:lnTo>
                    <a:pt x="5376977" y="178523"/>
                  </a:lnTo>
                  <a:lnTo>
                    <a:pt x="5376977" y="114134"/>
                  </a:lnTo>
                  <a:lnTo>
                    <a:pt x="5379390" y="106692"/>
                  </a:lnTo>
                  <a:lnTo>
                    <a:pt x="5388254" y="97180"/>
                  </a:lnTo>
                  <a:lnTo>
                    <a:pt x="5388559" y="96850"/>
                  </a:lnTo>
                  <a:lnTo>
                    <a:pt x="5389905" y="95618"/>
                  </a:lnTo>
                  <a:lnTo>
                    <a:pt x="5396649" y="92976"/>
                  </a:lnTo>
                  <a:lnTo>
                    <a:pt x="5414784" y="92976"/>
                  </a:lnTo>
                  <a:lnTo>
                    <a:pt x="5421782" y="95618"/>
                  </a:lnTo>
                  <a:lnTo>
                    <a:pt x="5431396" y="106159"/>
                  </a:lnTo>
                  <a:lnTo>
                    <a:pt x="5433796" y="114134"/>
                  </a:lnTo>
                  <a:lnTo>
                    <a:pt x="5433796" y="61887"/>
                  </a:lnTo>
                  <a:lnTo>
                    <a:pt x="5426761" y="59804"/>
                  </a:lnTo>
                  <a:lnTo>
                    <a:pt x="5414213" y="58699"/>
                  </a:lnTo>
                  <a:lnTo>
                    <a:pt x="5404739" y="59334"/>
                  </a:lnTo>
                  <a:lnTo>
                    <a:pt x="5374614" y="75780"/>
                  </a:lnTo>
                  <a:lnTo>
                    <a:pt x="5376850" y="61569"/>
                  </a:lnTo>
                  <a:lnTo>
                    <a:pt x="5339207" y="61569"/>
                  </a:lnTo>
                  <a:lnTo>
                    <a:pt x="5339207" y="282663"/>
                  </a:lnTo>
                  <a:lnTo>
                    <a:pt x="5376850" y="282663"/>
                  </a:lnTo>
                  <a:lnTo>
                    <a:pt x="5376646" y="229552"/>
                  </a:lnTo>
                  <a:lnTo>
                    <a:pt x="5374627" y="216966"/>
                  </a:lnTo>
                  <a:lnTo>
                    <a:pt x="5375300" y="218160"/>
                  </a:lnTo>
                  <a:lnTo>
                    <a:pt x="5414213" y="233959"/>
                  </a:lnTo>
                  <a:lnTo>
                    <a:pt x="5426761" y="232867"/>
                  </a:lnTo>
                  <a:lnTo>
                    <a:pt x="5462778" y="206781"/>
                  </a:lnTo>
                  <a:lnTo>
                    <a:pt x="5471439" y="169240"/>
                  </a:lnTo>
                  <a:lnTo>
                    <a:pt x="5471439" y="123139"/>
                  </a:lnTo>
                  <a:close/>
                </a:path>
                <a:path w="5989955" h="283210">
                  <a:moveTo>
                    <a:pt x="5643397" y="124536"/>
                  </a:moveTo>
                  <a:lnTo>
                    <a:pt x="5633199" y="86131"/>
                  </a:lnTo>
                  <a:lnTo>
                    <a:pt x="5605754" y="63957"/>
                  </a:lnTo>
                  <a:lnTo>
                    <a:pt x="5605754" y="114363"/>
                  </a:lnTo>
                  <a:lnTo>
                    <a:pt x="5605754" y="178295"/>
                  </a:lnTo>
                  <a:lnTo>
                    <a:pt x="5603278" y="186131"/>
                  </a:lnTo>
                  <a:lnTo>
                    <a:pt x="5593435" y="196532"/>
                  </a:lnTo>
                  <a:lnTo>
                    <a:pt x="5586222" y="199123"/>
                  </a:lnTo>
                  <a:lnTo>
                    <a:pt x="5567146" y="199123"/>
                  </a:lnTo>
                  <a:lnTo>
                    <a:pt x="5559920" y="196532"/>
                  </a:lnTo>
                  <a:lnTo>
                    <a:pt x="5550128" y="186131"/>
                  </a:lnTo>
                  <a:lnTo>
                    <a:pt x="5547677" y="178295"/>
                  </a:lnTo>
                  <a:lnTo>
                    <a:pt x="5547677" y="114363"/>
                  </a:lnTo>
                  <a:lnTo>
                    <a:pt x="5550128" y="106553"/>
                  </a:lnTo>
                  <a:lnTo>
                    <a:pt x="5559920" y="96151"/>
                  </a:lnTo>
                  <a:lnTo>
                    <a:pt x="5567146" y="93535"/>
                  </a:lnTo>
                  <a:lnTo>
                    <a:pt x="5586222" y="93535"/>
                  </a:lnTo>
                  <a:lnTo>
                    <a:pt x="5593435" y="96151"/>
                  </a:lnTo>
                  <a:lnTo>
                    <a:pt x="5598338" y="101371"/>
                  </a:lnTo>
                  <a:lnTo>
                    <a:pt x="5603278" y="106553"/>
                  </a:lnTo>
                  <a:lnTo>
                    <a:pt x="5605754" y="63957"/>
                  </a:lnTo>
                  <a:lnTo>
                    <a:pt x="5576709" y="58699"/>
                  </a:lnTo>
                  <a:lnTo>
                    <a:pt x="5562206" y="59804"/>
                  </a:lnTo>
                  <a:lnTo>
                    <a:pt x="5520131" y="86131"/>
                  </a:lnTo>
                  <a:lnTo>
                    <a:pt x="5509984" y="124536"/>
                  </a:lnTo>
                  <a:lnTo>
                    <a:pt x="5509958" y="167843"/>
                  </a:lnTo>
                  <a:lnTo>
                    <a:pt x="5511089" y="182333"/>
                  </a:lnTo>
                  <a:lnTo>
                    <a:pt x="5537860" y="223964"/>
                  </a:lnTo>
                  <a:lnTo>
                    <a:pt x="5576709" y="233959"/>
                  </a:lnTo>
                  <a:lnTo>
                    <a:pt x="5591187" y="232854"/>
                  </a:lnTo>
                  <a:lnTo>
                    <a:pt x="5633199" y="206502"/>
                  </a:lnTo>
                  <a:lnTo>
                    <a:pt x="5643397" y="167843"/>
                  </a:lnTo>
                  <a:lnTo>
                    <a:pt x="5643397" y="124536"/>
                  </a:lnTo>
                  <a:close/>
                </a:path>
                <a:path w="5989955" h="283210">
                  <a:moveTo>
                    <a:pt x="5821642" y="122580"/>
                  </a:moveTo>
                  <a:lnTo>
                    <a:pt x="5812396" y="85559"/>
                  </a:lnTo>
                  <a:lnTo>
                    <a:pt x="5774309" y="59791"/>
                  </a:lnTo>
                  <a:lnTo>
                    <a:pt x="5761253" y="58699"/>
                  </a:lnTo>
                  <a:lnTo>
                    <a:pt x="5744261" y="61010"/>
                  </a:lnTo>
                  <a:lnTo>
                    <a:pt x="5731662" y="67932"/>
                  </a:lnTo>
                  <a:lnTo>
                    <a:pt x="5723471" y="79476"/>
                  </a:lnTo>
                  <a:lnTo>
                    <a:pt x="5719699" y="95643"/>
                  </a:lnTo>
                  <a:lnTo>
                    <a:pt x="5719788" y="95148"/>
                  </a:lnTo>
                  <a:lnTo>
                    <a:pt x="5725642" y="61569"/>
                  </a:lnTo>
                  <a:lnTo>
                    <a:pt x="5688558" y="61569"/>
                  </a:lnTo>
                  <a:lnTo>
                    <a:pt x="5688558" y="231101"/>
                  </a:lnTo>
                  <a:lnTo>
                    <a:pt x="5726201" y="231101"/>
                  </a:lnTo>
                  <a:lnTo>
                    <a:pt x="5726265" y="114134"/>
                  </a:lnTo>
                  <a:lnTo>
                    <a:pt x="5728741" y="106299"/>
                  </a:lnTo>
                  <a:lnTo>
                    <a:pt x="5738558" y="95643"/>
                  </a:lnTo>
                  <a:lnTo>
                    <a:pt x="5739079" y="95148"/>
                  </a:lnTo>
                  <a:lnTo>
                    <a:pt x="5746102" y="92417"/>
                  </a:lnTo>
                  <a:lnTo>
                    <a:pt x="5764568" y="92417"/>
                  </a:lnTo>
                  <a:lnTo>
                    <a:pt x="5771680" y="95148"/>
                  </a:lnTo>
                  <a:lnTo>
                    <a:pt x="5781522" y="106070"/>
                  </a:lnTo>
                  <a:lnTo>
                    <a:pt x="5781599" y="106299"/>
                  </a:lnTo>
                  <a:lnTo>
                    <a:pt x="5783999" y="114134"/>
                  </a:lnTo>
                  <a:lnTo>
                    <a:pt x="5783999" y="137972"/>
                  </a:lnTo>
                  <a:lnTo>
                    <a:pt x="5821642" y="137972"/>
                  </a:lnTo>
                  <a:lnTo>
                    <a:pt x="5821642" y="122580"/>
                  </a:lnTo>
                  <a:close/>
                </a:path>
                <a:path w="5989955" h="283210">
                  <a:moveTo>
                    <a:pt x="5989599" y="61569"/>
                  </a:moveTo>
                  <a:lnTo>
                    <a:pt x="5926556" y="61569"/>
                  </a:lnTo>
                  <a:lnTo>
                    <a:pt x="5926556" y="18605"/>
                  </a:lnTo>
                  <a:lnTo>
                    <a:pt x="5888850" y="18605"/>
                  </a:lnTo>
                  <a:lnTo>
                    <a:pt x="5888850" y="61569"/>
                  </a:lnTo>
                  <a:lnTo>
                    <a:pt x="5844425" y="61569"/>
                  </a:lnTo>
                  <a:lnTo>
                    <a:pt x="5844425" y="96964"/>
                  </a:lnTo>
                  <a:lnTo>
                    <a:pt x="5888850" y="96964"/>
                  </a:lnTo>
                  <a:lnTo>
                    <a:pt x="5888850" y="183591"/>
                  </a:lnTo>
                  <a:lnTo>
                    <a:pt x="5889663" y="194144"/>
                  </a:lnTo>
                  <a:lnTo>
                    <a:pt x="5917489" y="227952"/>
                  </a:lnTo>
                  <a:lnTo>
                    <a:pt x="5937821" y="231101"/>
                  </a:lnTo>
                  <a:lnTo>
                    <a:pt x="5986729" y="231101"/>
                  </a:lnTo>
                  <a:lnTo>
                    <a:pt x="5986729" y="195694"/>
                  </a:lnTo>
                  <a:lnTo>
                    <a:pt x="5933630" y="195694"/>
                  </a:lnTo>
                  <a:lnTo>
                    <a:pt x="5930684" y="194805"/>
                  </a:lnTo>
                  <a:lnTo>
                    <a:pt x="5927382" y="191262"/>
                  </a:lnTo>
                  <a:lnTo>
                    <a:pt x="5926556" y="188112"/>
                  </a:lnTo>
                  <a:lnTo>
                    <a:pt x="5926556" y="96964"/>
                  </a:lnTo>
                  <a:lnTo>
                    <a:pt x="5989599" y="96964"/>
                  </a:lnTo>
                  <a:lnTo>
                    <a:pt x="5989599" y="61569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91289" y="5670298"/>
            <a:ext cx="14575155" cy="1310640"/>
          </a:xfrm>
          <a:custGeom>
            <a:avLst/>
            <a:gdLst/>
            <a:ahLst/>
            <a:cxnLst/>
            <a:rect l="l" t="t" r="r" b="b"/>
            <a:pathLst>
              <a:path w="14575155" h="1310640">
                <a:moveTo>
                  <a:pt x="14498413" y="1310104"/>
                </a:moveTo>
                <a:lnTo>
                  <a:pt x="76505" y="1310104"/>
                </a:lnTo>
                <a:lnTo>
                  <a:pt x="71180" y="1309579"/>
                </a:lnTo>
                <a:lnTo>
                  <a:pt x="31920" y="1293317"/>
                </a:lnTo>
                <a:lnTo>
                  <a:pt x="4175" y="1254589"/>
                </a:lnTo>
                <a:lnTo>
                  <a:pt x="0" y="1233599"/>
                </a:lnTo>
                <a:lnTo>
                  <a:pt x="0" y="1228223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5"/>
                </a:lnTo>
                <a:lnTo>
                  <a:pt x="14570742" y="55512"/>
                </a:lnTo>
                <a:lnTo>
                  <a:pt x="14574918" y="76505"/>
                </a:lnTo>
                <a:lnTo>
                  <a:pt x="14574918" y="1233599"/>
                </a:lnTo>
                <a:lnTo>
                  <a:pt x="14558132" y="1278184"/>
                </a:lnTo>
                <a:lnTo>
                  <a:pt x="14519404" y="1305928"/>
                </a:lnTo>
                <a:lnTo>
                  <a:pt x="14503737" y="1309579"/>
                </a:lnTo>
                <a:lnTo>
                  <a:pt x="14498413" y="1310104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2352" y="1231899"/>
            <a:ext cx="11202035" cy="3956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896745" indent="859155">
              <a:lnSpc>
                <a:spcPct val="143300"/>
              </a:lnSpc>
              <a:spcBef>
                <a:spcPts val="95"/>
              </a:spcBef>
              <a:tabLst>
                <a:tab pos="6202045" algn="l"/>
              </a:tabLst>
            </a:pP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sklearn.model_selection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RandomizedSearchCV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kf</a:t>
            </a:r>
            <a:r>
              <a:rPr sz="2250" spc="-1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KFold(n_splits=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5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shuffle=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True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random_state=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42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param_grid</a:t>
            </a:r>
            <a:r>
              <a:rPr sz="2250" spc="-1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{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'alpha'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: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np.arange(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0.0001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spc="-20" dirty="0">
                <a:solidFill>
                  <a:srgbClr val="BE2F72"/>
                </a:solidFill>
                <a:latin typeface="Courier New"/>
                <a:cs typeface="Courier New"/>
              </a:rPr>
              <a:t>10</a:t>
            </a:r>
            <a:r>
              <a:rPr sz="2250" spc="-20" dirty="0">
                <a:solidFill>
                  <a:srgbClr val="04182D"/>
                </a:solidFill>
                <a:latin typeface="Courier New"/>
                <a:cs typeface="Courier New"/>
              </a:rPr>
              <a:t>),</a:t>
            </a:r>
            <a:endParaRPr sz="2250">
              <a:latin typeface="Courier New"/>
              <a:cs typeface="Courier New"/>
            </a:endParaRPr>
          </a:p>
          <a:p>
            <a:pPr marL="12700" marR="4304030" indent="2406650">
              <a:lnSpc>
                <a:spcPct val="143300"/>
              </a:lnSpc>
            </a:pP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"solver"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:</a:t>
            </a:r>
            <a:r>
              <a:rPr sz="2250" spc="-2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[</a:t>
            </a:r>
            <a:r>
              <a:rPr sz="2250" dirty="0">
                <a:solidFill>
                  <a:srgbClr val="BE2F72"/>
                </a:solidFill>
                <a:latin typeface="Courier New"/>
                <a:cs typeface="Courier New"/>
              </a:rPr>
              <a:t>'sag'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'lsqr'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]}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ridge =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Ridge()</a:t>
            </a:r>
            <a:endParaRPr sz="2250">
              <a:latin typeface="Courier New"/>
              <a:cs typeface="Courier New"/>
            </a:endParaRPr>
          </a:p>
          <a:p>
            <a:pPr marL="12700" marR="5080">
              <a:lnSpc>
                <a:spcPct val="143300"/>
              </a:lnSpc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ridge_cv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= RandomizedSearchCV(ridge, param_grid, cv=kf,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n_iter=</a:t>
            </a:r>
            <a:r>
              <a:rPr sz="2250" spc="-10" dirty="0">
                <a:solidFill>
                  <a:srgbClr val="BE2F72"/>
                </a:solidFill>
                <a:latin typeface="Courier New"/>
                <a:cs typeface="Courier New"/>
              </a:rPr>
              <a:t>2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ridge_cv.fit(X_train,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y_train)</a:t>
            </a:r>
            <a:endParaRPr sz="2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(ridge_cv.best_params_,</a:t>
            </a:r>
            <a:r>
              <a:rPr sz="2250" spc="-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ridge_cv.best_score_)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2352" y="5735386"/>
            <a:ext cx="5871845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95"/>
              </a:spcBef>
            </a:pPr>
            <a:r>
              <a:rPr sz="2250" dirty="0">
                <a:solidFill>
                  <a:srgbClr val="FFFFFF"/>
                </a:solidFill>
                <a:latin typeface="Courier New"/>
                <a:cs typeface="Courier New"/>
              </a:rPr>
              <a:t>{'solver': 'sag', 'alpha': </a:t>
            </a:r>
            <a:r>
              <a:rPr sz="2250" spc="-10" dirty="0">
                <a:solidFill>
                  <a:srgbClr val="FFFFFF"/>
                </a:solidFill>
                <a:latin typeface="Courier New"/>
                <a:cs typeface="Courier New"/>
              </a:rPr>
              <a:t>0.0001} 0.7529912278705785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E8FBB1B-B245-32BA-7000-B24B4953B33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32</a:t>
            </a:fld>
            <a:endParaRPr lang="en-US" altLang="ko-K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671703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15" dirty="0"/>
              <a:t>Evaluating</a:t>
            </a:r>
            <a:r>
              <a:rPr spc="-140" dirty="0"/>
              <a:t> </a:t>
            </a:r>
            <a:r>
              <a:rPr spc="-254" dirty="0"/>
              <a:t>on</a:t>
            </a:r>
            <a:r>
              <a:rPr spc="-140" dirty="0"/>
              <a:t> </a:t>
            </a:r>
            <a:r>
              <a:rPr spc="-229" dirty="0"/>
              <a:t>the</a:t>
            </a:r>
            <a:r>
              <a:rPr spc="-135" dirty="0"/>
              <a:t> </a:t>
            </a:r>
            <a:r>
              <a:rPr spc="-250" dirty="0"/>
              <a:t>test</a:t>
            </a:r>
            <a:r>
              <a:rPr spc="-140" dirty="0"/>
              <a:t> </a:t>
            </a:r>
            <a:r>
              <a:rPr spc="-85" dirty="0"/>
              <a:t>set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1310640"/>
          </a:xfrm>
          <a:custGeom>
            <a:avLst/>
            <a:gdLst/>
            <a:ahLst/>
            <a:cxnLst/>
            <a:rect l="l" t="t" r="r" b="b"/>
            <a:pathLst>
              <a:path w="14575155" h="1310639">
                <a:moveTo>
                  <a:pt x="14498413" y="1310105"/>
                </a:moveTo>
                <a:lnTo>
                  <a:pt x="76505" y="1310105"/>
                </a:lnTo>
                <a:lnTo>
                  <a:pt x="71180" y="1309580"/>
                </a:lnTo>
                <a:lnTo>
                  <a:pt x="31920" y="1293318"/>
                </a:lnTo>
                <a:lnTo>
                  <a:pt x="4175" y="1254590"/>
                </a:lnTo>
                <a:lnTo>
                  <a:pt x="0" y="1233599"/>
                </a:lnTo>
                <a:lnTo>
                  <a:pt x="0" y="1228223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1233599"/>
                </a:lnTo>
                <a:lnTo>
                  <a:pt x="14558132" y="1278184"/>
                </a:lnTo>
                <a:lnTo>
                  <a:pt x="14519404" y="1305929"/>
                </a:lnTo>
                <a:lnTo>
                  <a:pt x="14503737" y="1309580"/>
                </a:lnTo>
                <a:lnTo>
                  <a:pt x="14498413" y="131010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722562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4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231899"/>
            <a:ext cx="7419340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95"/>
              </a:spcBef>
            </a:pPr>
            <a:r>
              <a:rPr sz="2250" dirty="0">
                <a:solidFill>
                  <a:srgbClr val="04182D"/>
                </a:solidFill>
                <a:latin typeface="Courier New"/>
                <a:cs typeface="Courier New"/>
              </a:rPr>
              <a:t>test_score = ridge_cv.score(X_test, 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y_test) </a:t>
            </a:r>
            <a:r>
              <a:rPr sz="2250" spc="-10" dirty="0">
                <a:solidFill>
                  <a:srgbClr val="008600"/>
                </a:solidFill>
                <a:latin typeface="Courier New"/>
                <a:cs typeface="Courier New"/>
              </a:rPr>
              <a:t>print</a:t>
            </a:r>
            <a:r>
              <a:rPr sz="2250" spc="-10" dirty="0">
                <a:solidFill>
                  <a:srgbClr val="04182D"/>
                </a:solidFill>
                <a:latin typeface="Courier New"/>
                <a:cs typeface="Courier New"/>
              </a:rPr>
              <a:t>(test_score)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2352" y="2935036"/>
            <a:ext cx="312102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FFFFFF"/>
                </a:solidFill>
                <a:latin typeface="Courier New"/>
                <a:cs typeface="Courier New"/>
              </a:rPr>
              <a:t>0.7564731534089224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61DF08A9-D1E9-0DB7-98A8-4CBCAAB815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33</a:t>
            </a:fld>
            <a:endParaRPr lang="en-US" altLang="ko-K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1426</TotalTime>
  <Words>1393</Words>
  <Application>Microsoft Macintosh PowerPoint</Application>
  <PresentationFormat>사용자 지정</PresentationFormat>
  <Paragraphs>184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1" baseType="lpstr">
      <vt:lpstr>맑은 고딕</vt:lpstr>
      <vt:lpstr>Arial Unicode MS</vt:lpstr>
      <vt:lpstr>Arial</vt:lpstr>
      <vt:lpstr>Courier New</vt:lpstr>
      <vt:lpstr>Lucida Sans Unicode</vt:lpstr>
      <vt:lpstr>Tahoma</vt:lpstr>
      <vt:lpstr>Times New Roman</vt:lpstr>
      <vt:lpstr>Office Theme</vt:lpstr>
      <vt:lpstr>PowerPoint 프레젠테이션</vt:lpstr>
      <vt:lpstr>Classification metrics</vt:lpstr>
      <vt:lpstr>Class imbalance</vt:lpstr>
      <vt:lpstr>Confusion matrix for assessing classification performance</vt:lpstr>
      <vt:lpstr>Assessing classification performance</vt:lpstr>
      <vt:lpstr>Precision</vt:lpstr>
      <vt:lpstr>Recall</vt:lpstr>
      <vt:lpstr>PowerPoint 프레젠테이션</vt:lpstr>
      <vt:lpstr>Confusion matrix in scikit-learn</vt:lpstr>
      <vt:lpstr>Confusion matrix in scikit-learn</vt:lpstr>
      <vt:lpstr>Classification report in scikit-learn</vt:lpstr>
      <vt:lpstr>PowerPoint 프레젠테이션</vt:lpstr>
      <vt:lpstr>Logistic regression for binary classification</vt:lpstr>
      <vt:lpstr>Linear decision boundary</vt:lpstr>
      <vt:lpstr>Logistic regression in scikit-learn</vt:lpstr>
      <vt:lpstr>Predicting probabilities</vt:lpstr>
      <vt:lpstr>Probability thresholds</vt:lpstr>
      <vt:lpstr>The ROC curve</vt:lpstr>
      <vt:lpstr>The ROC curve</vt:lpstr>
      <vt:lpstr>The ROC curve</vt:lpstr>
      <vt:lpstr>The ROC curve</vt:lpstr>
      <vt:lpstr>Plotting the ROC curve</vt:lpstr>
      <vt:lpstr>Plotting the ROC curve</vt:lpstr>
      <vt:lpstr>ROC AUC</vt:lpstr>
      <vt:lpstr>ROC AUC in scikit-learn</vt:lpstr>
      <vt:lpstr>PowerPoint 프레젠테이션</vt:lpstr>
      <vt:lpstr>Hyperparameter tuning</vt:lpstr>
      <vt:lpstr>Choosing the correct hyperparameters</vt:lpstr>
      <vt:lpstr>Grid search cross-validation</vt:lpstr>
      <vt:lpstr>GridSearchCV in scikit-learn</vt:lpstr>
      <vt:lpstr>Limitations and an alternative approach</vt:lpstr>
      <vt:lpstr>RandomizedSearchCV</vt:lpstr>
      <vt:lpstr>Evaluating on the test set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백우진</cp:lastModifiedBy>
  <cp:revision>7</cp:revision>
  <dcterms:created xsi:type="dcterms:W3CDTF">2024-12-30T12:25:14Z</dcterms:created>
  <dcterms:modified xsi:type="dcterms:W3CDTF">2025-02-03T08:15:05Z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2024-08-27T00:00:00Z</vt:filetime>
  </property>
  <property fmtid="{D5CDD505-2E9C-101B-9397-08002B2CF9AE}" pid="3" name="Creator">
    <vt:lpwstr>Chromium</vt:lpwstr>
  </property>
  <property fmtid="{D5CDD505-2E9C-101B-9397-08002B2CF9AE}" pid="4" name="LastSaved">
    <vt:filetime>2024-12-30T00:00:00Z</vt:filetime>
  </property>
  <property fmtid="{D5CDD505-2E9C-101B-9397-08002B2CF9AE}" pid="5" name="Producer">
    <vt:lpwstr>Skia/PDF m89</vt:lpwstr>
  </property>
</Properties>
</file>