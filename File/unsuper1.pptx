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066"/>
    <p:restoredTop sz="94694"/>
  </p:normalViewPr>
  <p:slideViewPr>
    <p:cSldViewPr>
      <p:cViewPr>
        <p:scale>
          <a:sx n="70" d="100"/>
          <a:sy n="70" d="100"/>
        </p:scale>
        <p:origin x="328" y="8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7A9EE2-FFBA-9A4B-BBE6-4A9226BE6A5C}" type="datetimeFigureOut">
              <a:rPr kumimoji="1" lang="ko-KR" altLang="en-US" smtClean="0"/>
              <a:t>2025. 1. 10.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E8B78C-8917-9745-92BB-B4E6E0FCF6EF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649076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F0B047-BE9F-104C-ACD8-E687ADF31D6C}" type="datetime1">
              <a:rPr lang="ko-KR" altLang="en-US" smtClean="0"/>
              <a:t>2025. 1. 10.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DE11F5-1CD9-7D42-927B-8F2645F0591A}" type="datetime1">
              <a:rPr lang="ko-KR" altLang="en-US" smtClean="0"/>
              <a:t>2025. 1. 10.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72197-F837-BA47-8BAA-F89A36B95C14}" type="datetime1">
              <a:rPr lang="ko-KR" altLang="en-US" smtClean="0"/>
              <a:t>2025. 1. 10.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F06007-8A3A-7843-BCF8-BF95CFD01A89}" type="datetime1">
              <a:rPr lang="ko-KR" altLang="en-US" smtClean="0"/>
              <a:t>2025. 1. 10.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1289" y="327526"/>
            <a:ext cx="9887585" cy="614680"/>
          </a:xfrm>
          <a:custGeom>
            <a:avLst/>
            <a:gdLst/>
            <a:ahLst/>
            <a:cxnLst/>
            <a:rect l="l" t="t" r="r" b="b"/>
            <a:pathLst>
              <a:path w="9887585" h="614680">
                <a:moveTo>
                  <a:pt x="9810694" y="614111"/>
                </a:moveTo>
                <a:lnTo>
                  <a:pt x="76505" y="614111"/>
                </a:lnTo>
                <a:lnTo>
                  <a:pt x="71180" y="613587"/>
                </a:lnTo>
                <a:lnTo>
                  <a:pt x="31920" y="597325"/>
                </a:lnTo>
                <a:lnTo>
                  <a:pt x="4175" y="558597"/>
                </a:lnTo>
                <a:lnTo>
                  <a:pt x="0" y="537606"/>
                </a:lnTo>
                <a:lnTo>
                  <a:pt x="0" y="53223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37606"/>
                </a:lnTo>
                <a:lnTo>
                  <a:pt x="9870412" y="582191"/>
                </a:lnTo>
                <a:lnTo>
                  <a:pt x="9831684" y="609936"/>
                </a:lnTo>
                <a:lnTo>
                  <a:pt x="9816018" y="613587"/>
                </a:lnTo>
                <a:lnTo>
                  <a:pt x="9810694" y="614111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91289" y="1187282"/>
            <a:ext cx="9887585" cy="1617345"/>
          </a:xfrm>
          <a:custGeom>
            <a:avLst/>
            <a:gdLst/>
            <a:ahLst/>
            <a:cxnLst/>
            <a:rect l="l" t="t" r="r" b="b"/>
            <a:pathLst>
              <a:path w="9887585" h="1617345">
                <a:moveTo>
                  <a:pt x="9810694" y="1617160"/>
                </a:moveTo>
                <a:lnTo>
                  <a:pt x="76505" y="1617160"/>
                </a:lnTo>
                <a:lnTo>
                  <a:pt x="71180" y="1616636"/>
                </a:lnTo>
                <a:lnTo>
                  <a:pt x="31920" y="1600373"/>
                </a:lnTo>
                <a:lnTo>
                  <a:pt x="4175" y="1561646"/>
                </a:lnTo>
                <a:lnTo>
                  <a:pt x="0" y="1540655"/>
                </a:lnTo>
                <a:lnTo>
                  <a:pt x="0" y="1535279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540655"/>
                </a:lnTo>
                <a:lnTo>
                  <a:pt x="9870412" y="1585240"/>
                </a:lnTo>
                <a:lnTo>
                  <a:pt x="9831684" y="1612985"/>
                </a:lnTo>
                <a:lnTo>
                  <a:pt x="9816018" y="1616636"/>
                </a:lnTo>
                <a:lnTo>
                  <a:pt x="9810694" y="161716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491289" y="3050088"/>
            <a:ext cx="9887585" cy="1351280"/>
          </a:xfrm>
          <a:custGeom>
            <a:avLst/>
            <a:gdLst/>
            <a:ahLst/>
            <a:cxnLst/>
            <a:rect l="l" t="t" r="r" b="b"/>
            <a:pathLst>
              <a:path w="9887585" h="1351279">
                <a:moveTo>
                  <a:pt x="9810694" y="1351045"/>
                </a:moveTo>
                <a:lnTo>
                  <a:pt x="76505" y="1351045"/>
                </a:lnTo>
                <a:lnTo>
                  <a:pt x="71180" y="1350521"/>
                </a:lnTo>
                <a:lnTo>
                  <a:pt x="31920" y="1334259"/>
                </a:lnTo>
                <a:lnTo>
                  <a:pt x="4175" y="1295531"/>
                </a:lnTo>
                <a:lnTo>
                  <a:pt x="0" y="1274540"/>
                </a:lnTo>
                <a:lnTo>
                  <a:pt x="0" y="126916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274540"/>
                </a:lnTo>
                <a:lnTo>
                  <a:pt x="9870412" y="1319125"/>
                </a:lnTo>
                <a:lnTo>
                  <a:pt x="9831684" y="1346870"/>
                </a:lnTo>
                <a:lnTo>
                  <a:pt x="9816018" y="1350521"/>
                </a:lnTo>
                <a:lnTo>
                  <a:pt x="9810694" y="135104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623150" y="3270325"/>
            <a:ext cx="3368040" cy="206375"/>
          </a:xfrm>
          <a:custGeom>
            <a:avLst/>
            <a:gdLst/>
            <a:ahLst/>
            <a:cxnLst/>
            <a:rect l="l" t="t" r="r" b="b"/>
            <a:pathLst>
              <a:path w="3368040" h="206375">
                <a:moveTo>
                  <a:pt x="108026" y="7302"/>
                </a:moveTo>
                <a:lnTo>
                  <a:pt x="68135" y="7302"/>
                </a:lnTo>
                <a:lnTo>
                  <a:pt x="60655" y="7861"/>
                </a:lnTo>
                <a:lnTo>
                  <a:pt x="33451" y="40500"/>
                </a:lnTo>
                <a:lnTo>
                  <a:pt x="33451" y="47244"/>
                </a:lnTo>
                <a:lnTo>
                  <a:pt x="0" y="47244"/>
                </a:lnTo>
                <a:lnTo>
                  <a:pt x="0" y="73088"/>
                </a:lnTo>
                <a:lnTo>
                  <a:pt x="33451" y="73088"/>
                </a:lnTo>
                <a:lnTo>
                  <a:pt x="33451" y="168706"/>
                </a:lnTo>
                <a:lnTo>
                  <a:pt x="60985" y="168706"/>
                </a:lnTo>
                <a:lnTo>
                  <a:pt x="60985" y="73088"/>
                </a:lnTo>
                <a:lnTo>
                  <a:pt x="108026" y="73088"/>
                </a:lnTo>
                <a:lnTo>
                  <a:pt x="108026" y="47244"/>
                </a:lnTo>
                <a:lnTo>
                  <a:pt x="60985" y="47244"/>
                </a:lnTo>
                <a:lnTo>
                  <a:pt x="60985" y="37884"/>
                </a:lnTo>
                <a:lnTo>
                  <a:pt x="61569" y="36093"/>
                </a:lnTo>
                <a:lnTo>
                  <a:pt x="63919" y="33743"/>
                </a:lnTo>
                <a:lnTo>
                  <a:pt x="65722" y="33147"/>
                </a:lnTo>
                <a:lnTo>
                  <a:pt x="108026" y="33147"/>
                </a:lnTo>
                <a:lnTo>
                  <a:pt x="108026" y="7302"/>
                </a:lnTo>
                <a:close/>
              </a:path>
              <a:path w="3368040" h="206375">
                <a:moveTo>
                  <a:pt x="233337" y="89484"/>
                </a:moveTo>
                <a:lnTo>
                  <a:pt x="232587" y="79413"/>
                </a:lnTo>
                <a:lnTo>
                  <a:pt x="230327" y="70408"/>
                </a:lnTo>
                <a:lnTo>
                  <a:pt x="228942" y="67475"/>
                </a:lnTo>
                <a:lnTo>
                  <a:pt x="226580" y="62458"/>
                </a:lnTo>
                <a:lnTo>
                  <a:pt x="189255" y="42849"/>
                </a:lnTo>
                <a:lnTo>
                  <a:pt x="176847" y="44538"/>
                </a:lnTo>
                <a:lnTo>
                  <a:pt x="167652" y="49593"/>
                </a:lnTo>
                <a:lnTo>
                  <a:pt x="161671" y="58026"/>
                </a:lnTo>
                <a:lnTo>
                  <a:pt x="158915" y="69824"/>
                </a:lnTo>
                <a:lnTo>
                  <a:pt x="158978" y="69469"/>
                </a:lnTo>
                <a:lnTo>
                  <a:pt x="163258" y="44945"/>
                </a:lnTo>
                <a:lnTo>
                  <a:pt x="136182" y="44945"/>
                </a:lnTo>
                <a:lnTo>
                  <a:pt x="136182" y="168706"/>
                </a:lnTo>
                <a:lnTo>
                  <a:pt x="163664" y="168706"/>
                </a:lnTo>
                <a:lnTo>
                  <a:pt x="163703" y="83324"/>
                </a:lnTo>
                <a:lnTo>
                  <a:pt x="164947" y="79413"/>
                </a:lnTo>
                <a:lnTo>
                  <a:pt x="165671" y="77431"/>
                </a:lnTo>
                <a:lnTo>
                  <a:pt x="172681" y="69824"/>
                </a:lnTo>
                <a:lnTo>
                  <a:pt x="173062" y="69469"/>
                </a:lnTo>
                <a:lnTo>
                  <a:pt x="178193" y="67475"/>
                </a:lnTo>
                <a:lnTo>
                  <a:pt x="191668" y="67475"/>
                </a:lnTo>
                <a:lnTo>
                  <a:pt x="196862" y="69469"/>
                </a:lnTo>
                <a:lnTo>
                  <a:pt x="204050" y="77431"/>
                </a:lnTo>
                <a:lnTo>
                  <a:pt x="205854" y="83324"/>
                </a:lnTo>
                <a:lnTo>
                  <a:pt x="205854" y="100723"/>
                </a:lnTo>
                <a:lnTo>
                  <a:pt x="233337" y="100723"/>
                </a:lnTo>
                <a:lnTo>
                  <a:pt x="233337" y="89484"/>
                </a:lnTo>
                <a:close/>
              </a:path>
              <a:path w="3368040" h="206375">
                <a:moveTo>
                  <a:pt x="354241" y="90919"/>
                </a:moveTo>
                <a:lnTo>
                  <a:pt x="353415" y="80429"/>
                </a:lnTo>
                <a:lnTo>
                  <a:pt x="350939" y="71081"/>
                </a:lnTo>
                <a:lnTo>
                  <a:pt x="349529" y="68287"/>
                </a:lnTo>
                <a:lnTo>
                  <a:pt x="346811" y="62890"/>
                </a:lnTo>
                <a:lnTo>
                  <a:pt x="341020" y="55829"/>
                </a:lnTo>
                <a:lnTo>
                  <a:pt x="333857" y="50152"/>
                </a:lnTo>
                <a:lnTo>
                  <a:pt x="326771" y="46697"/>
                </a:lnTo>
                <a:lnTo>
                  <a:pt x="326771" y="83489"/>
                </a:lnTo>
                <a:lnTo>
                  <a:pt x="326771" y="130162"/>
                </a:lnTo>
                <a:lnTo>
                  <a:pt x="324967" y="135877"/>
                </a:lnTo>
                <a:lnTo>
                  <a:pt x="317779" y="143471"/>
                </a:lnTo>
                <a:lnTo>
                  <a:pt x="312521" y="145364"/>
                </a:lnTo>
                <a:lnTo>
                  <a:pt x="298589" y="145364"/>
                </a:lnTo>
                <a:lnTo>
                  <a:pt x="293306" y="143471"/>
                </a:lnTo>
                <a:lnTo>
                  <a:pt x="286156" y="135877"/>
                </a:lnTo>
                <a:lnTo>
                  <a:pt x="284378" y="130162"/>
                </a:lnTo>
                <a:lnTo>
                  <a:pt x="284378" y="83489"/>
                </a:lnTo>
                <a:lnTo>
                  <a:pt x="286156" y="77787"/>
                </a:lnTo>
                <a:lnTo>
                  <a:pt x="293306" y="70192"/>
                </a:lnTo>
                <a:lnTo>
                  <a:pt x="298589" y="68287"/>
                </a:lnTo>
                <a:lnTo>
                  <a:pt x="312521" y="68287"/>
                </a:lnTo>
                <a:lnTo>
                  <a:pt x="317779" y="70192"/>
                </a:lnTo>
                <a:lnTo>
                  <a:pt x="321348" y="74015"/>
                </a:lnTo>
                <a:lnTo>
                  <a:pt x="324967" y="77787"/>
                </a:lnTo>
                <a:lnTo>
                  <a:pt x="305574" y="42849"/>
                </a:lnTo>
                <a:lnTo>
                  <a:pt x="294982" y="43662"/>
                </a:lnTo>
                <a:lnTo>
                  <a:pt x="260159" y="71081"/>
                </a:lnTo>
                <a:lnTo>
                  <a:pt x="256844" y="122529"/>
                </a:lnTo>
                <a:lnTo>
                  <a:pt x="257670" y="133108"/>
                </a:lnTo>
                <a:lnTo>
                  <a:pt x="285521" y="167551"/>
                </a:lnTo>
                <a:lnTo>
                  <a:pt x="305574" y="170802"/>
                </a:lnTo>
                <a:lnTo>
                  <a:pt x="316141" y="169989"/>
                </a:lnTo>
                <a:lnTo>
                  <a:pt x="349516" y="145364"/>
                </a:lnTo>
                <a:lnTo>
                  <a:pt x="354241" y="122529"/>
                </a:lnTo>
                <a:lnTo>
                  <a:pt x="354241" y="90919"/>
                </a:lnTo>
                <a:close/>
              </a:path>
              <a:path w="3368040" h="206375">
                <a:moveTo>
                  <a:pt x="484352" y="76923"/>
                </a:moveTo>
                <a:lnTo>
                  <a:pt x="483908" y="69761"/>
                </a:lnTo>
                <a:lnTo>
                  <a:pt x="483120" y="65989"/>
                </a:lnTo>
                <a:lnTo>
                  <a:pt x="482561" y="63284"/>
                </a:lnTo>
                <a:lnTo>
                  <a:pt x="482028" y="61899"/>
                </a:lnTo>
                <a:lnTo>
                  <a:pt x="481939" y="61645"/>
                </a:lnTo>
                <a:lnTo>
                  <a:pt x="480326" y="57505"/>
                </a:lnTo>
                <a:lnTo>
                  <a:pt x="477189" y="52387"/>
                </a:lnTo>
                <a:lnTo>
                  <a:pt x="472465" y="46037"/>
                </a:lnTo>
                <a:lnTo>
                  <a:pt x="465810" y="42849"/>
                </a:lnTo>
                <a:lnTo>
                  <a:pt x="451142" y="42849"/>
                </a:lnTo>
                <a:lnTo>
                  <a:pt x="446265" y="44538"/>
                </a:lnTo>
                <a:lnTo>
                  <a:pt x="445630" y="44945"/>
                </a:lnTo>
                <a:lnTo>
                  <a:pt x="438797" y="50800"/>
                </a:lnTo>
                <a:lnTo>
                  <a:pt x="438797" y="55968"/>
                </a:lnTo>
                <a:lnTo>
                  <a:pt x="438772" y="56235"/>
                </a:lnTo>
                <a:lnTo>
                  <a:pt x="438226" y="61645"/>
                </a:lnTo>
                <a:lnTo>
                  <a:pt x="438797" y="55968"/>
                </a:lnTo>
                <a:lnTo>
                  <a:pt x="438797" y="50800"/>
                </a:lnTo>
                <a:lnTo>
                  <a:pt x="437743" y="51701"/>
                </a:lnTo>
                <a:lnTo>
                  <a:pt x="437515" y="52387"/>
                </a:lnTo>
                <a:lnTo>
                  <a:pt x="437108" y="51244"/>
                </a:lnTo>
                <a:lnTo>
                  <a:pt x="433120" y="47917"/>
                </a:lnTo>
                <a:lnTo>
                  <a:pt x="429171" y="44538"/>
                </a:lnTo>
                <a:lnTo>
                  <a:pt x="424307" y="42849"/>
                </a:lnTo>
                <a:lnTo>
                  <a:pt x="412419" y="42849"/>
                </a:lnTo>
                <a:lnTo>
                  <a:pt x="407619" y="44538"/>
                </a:lnTo>
                <a:lnTo>
                  <a:pt x="406984" y="44945"/>
                </a:lnTo>
                <a:lnTo>
                  <a:pt x="402234" y="49085"/>
                </a:lnTo>
                <a:lnTo>
                  <a:pt x="402983" y="44945"/>
                </a:lnTo>
                <a:lnTo>
                  <a:pt x="397852" y="44945"/>
                </a:lnTo>
                <a:lnTo>
                  <a:pt x="397852" y="57505"/>
                </a:lnTo>
                <a:lnTo>
                  <a:pt x="397624" y="56235"/>
                </a:lnTo>
                <a:lnTo>
                  <a:pt x="397725" y="55968"/>
                </a:lnTo>
                <a:lnTo>
                  <a:pt x="397751" y="56235"/>
                </a:lnTo>
                <a:lnTo>
                  <a:pt x="397852" y="57505"/>
                </a:lnTo>
                <a:lnTo>
                  <a:pt x="397852" y="44945"/>
                </a:lnTo>
                <a:lnTo>
                  <a:pt x="377761" y="44945"/>
                </a:lnTo>
                <a:lnTo>
                  <a:pt x="377761" y="168706"/>
                </a:lnTo>
                <a:lnTo>
                  <a:pt x="403809" y="168706"/>
                </a:lnTo>
                <a:lnTo>
                  <a:pt x="403809" y="72732"/>
                </a:lnTo>
                <a:lnTo>
                  <a:pt x="404431" y="70040"/>
                </a:lnTo>
                <a:lnTo>
                  <a:pt x="406996" y="66814"/>
                </a:lnTo>
                <a:lnTo>
                  <a:pt x="408825" y="65989"/>
                </a:lnTo>
                <a:lnTo>
                  <a:pt x="413727" y="65989"/>
                </a:lnTo>
                <a:lnTo>
                  <a:pt x="415569" y="66814"/>
                </a:lnTo>
                <a:lnTo>
                  <a:pt x="418274" y="70040"/>
                </a:lnTo>
                <a:lnTo>
                  <a:pt x="419112" y="72732"/>
                </a:lnTo>
                <a:lnTo>
                  <a:pt x="419176" y="168706"/>
                </a:lnTo>
                <a:lnTo>
                  <a:pt x="442925" y="168706"/>
                </a:lnTo>
                <a:lnTo>
                  <a:pt x="442950" y="72732"/>
                </a:lnTo>
                <a:lnTo>
                  <a:pt x="443699" y="70040"/>
                </a:lnTo>
                <a:lnTo>
                  <a:pt x="446455" y="66814"/>
                </a:lnTo>
                <a:lnTo>
                  <a:pt x="448322" y="65989"/>
                </a:lnTo>
                <a:lnTo>
                  <a:pt x="453237" y="65989"/>
                </a:lnTo>
                <a:lnTo>
                  <a:pt x="455028" y="66814"/>
                </a:lnTo>
                <a:lnTo>
                  <a:pt x="457504" y="70040"/>
                </a:lnTo>
                <a:lnTo>
                  <a:pt x="458254" y="72732"/>
                </a:lnTo>
                <a:lnTo>
                  <a:pt x="458304" y="168706"/>
                </a:lnTo>
                <a:lnTo>
                  <a:pt x="484352" y="168706"/>
                </a:lnTo>
                <a:lnTo>
                  <a:pt x="484352" y="76923"/>
                </a:lnTo>
                <a:close/>
              </a:path>
              <a:path w="3368040" h="206375">
                <a:moveTo>
                  <a:pt x="2711907" y="12052"/>
                </a:moveTo>
                <a:lnTo>
                  <a:pt x="2710218" y="7975"/>
                </a:lnTo>
                <a:lnTo>
                  <a:pt x="2703487" y="1600"/>
                </a:lnTo>
                <a:lnTo>
                  <a:pt x="2699194" y="0"/>
                </a:lnTo>
                <a:lnTo>
                  <a:pt x="2684589" y="0"/>
                </a:lnTo>
                <a:lnTo>
                  <a:pt x="2680297" y="1600"/>
                </a:lnTo>
                <a:lnTo>
                  <a:pt x="2673553" y="7975"/>
                </a:lnTo>
                <a:lnTo>
                  <a:pt x="2671864" y="12052"/>
                </a:lnTo>
                <a:lnTo>
                  <a:pt x="2671864" y="22098"/>
                </a:lnTo>
                <a:lnTo>
                  <a:pt x="2673515" y="26149"/>
                </a:lnTo>
                <a:lnTo>
                  <a:pt x="2676817" y="29222"/>
                </a:lnTo>
                <a:lnTo>
                  <a:pt x="2680157" y="32245"/>
                </a:lnTo>
                <a:lnTo>
                  <a:pt x="2684475" y="33756"/>
                </a:lnTo>
                <a:lnTo>
                  <a:pt x="2699118" y="33756"/>
                </a:lnTo>
                <a:lnTo>
                  <a:pt x="2703398" y="32245"/>
                </a:lnTo>
                <a:lnTo>
                  <a:pt x="2710218" y="26149"/>
                </a:lnTo>
                <a:lnTo>
                  <a:pt x="2711907" y="22098"/>
                </a:lnTo>
                <a:lnTo>
                  <a:pt x="2711907" y="12052"/>
                </a:lnTo>
                <a:close/>
              </a:path>
              <a:path w="3368040" h="206375">
                <a:moveTo>
                  <a:pt x="2746438" y="142862"/>
                </a:moveTo>
                <a:lnTo>
                  <a:pt x="2707716" y="142862"/>
                </a:lnTo>
                <a:lnTo>
                  <a:pt x="2707716" y="44945"/>
                </a:lnTo>
                <a:lnTo>
                  <a:pt x="2644648" y="44945"/>
                </a:lnTo>
                <a:lnTo>
                  <a:pt x="2644648" y="70789"/>
                </a:lnTo>
                <a:lnTo>
                  <a:pt x="2680195" y="70789"/>
                </a:lnTo>
                <a:lnTo>
                  <a:pt x="2680195" y="142862"/>
                </a:lnTo>
                <a:lnTo>
                  <a:pt x="2639428" y="142862"/>
                </a:lnTo>
                <a:lnTo>
                  <a:pt x="2639428" y="168706"/>
                </a:lnTo>
                <a:lnTo>
                  <a:pt x="2746438" y="168706"/>
                </a:lnTo>
                <a:lnTo>
                  <a:pt x="2746438" y="142862"/>
                </a:lnTo>
                <a:close/>
              </a:path>
              <a:path w="3368040" h="206375">
                <a:moveTo>
                  <a:pt x="2868574" y="76923"/>
                </a:moveTo>
                <a:lnTo>
                  <a:pt x="2868130" y="69761"/>
                </a:lnTo>
                <a:lnTo>
                  <a:pt x="2867355" y="65989"/>
                </a:lnTo>
                <a:lnTo>
                  <a:pt x="2866783" y="63284"/>
                </a:lnTo>
                <a:lnTo>
                  <a:pt x="2866250" y="61899"/>
                </a:lnTo>
                <a:lnTo>
                  <a:pt x="2866161" y="61645"/>
                </a:lnTo>
                <a:lnTo>
                  <a:pt x="2864548" y="57505"/>
                </a:lnTo>
                <a:lnTo>
                  <a:pt x="2861411" y="52387"/>
                </a:lnTo>
                <a:lnTo>
                  <a:pt x="2856687" y="46037"/>
                </a:lnTo>
                <a:lnTo>
                  <a:pt x="2850032" y="42849"/>
                </a:lnTo>
                <a:lnTo>
                  <a:pt x="2835364" y="42849"/>
                </a:lnTo>
                <a:lnTo>
                  <a:pt x="2830487" y="44538"/>
                </a:lnTo>
                <a:lnTo>
                  <a:pt x="2829852" y="44945"/>
                </a:lnTo>
                <a:lnTo>
                  <a:pt x="2823019" y="50800"/>
                </a:lnTo>
                <a:lnTo>
                  <a:pt x="2823019" y="55968"/>
                </a:lnTo>
                <a:lnTo>
                  <a:pt x="2822994" y="56235"/>
                </a:lnTo>
                <a:lnTo>
                  <a:pt x="2822448" y="61645"/>
                </a:lnTo>
                <a:lnTo>
                  <a:pt x="2823019" y="55968"/>
                </a:lnTo>
                <a:lnTo>
                  <a:pt x="2823019" y="50800"/>
                </a:lnTo>
                <a:lnTo>
                  <a:pt x="2821965" y="51701"/>
                </a:lnTo>
                <a:lnTo>
                  <a:pt x="2821736" y="52387"/>
                </a:lnTo>
                <a:lnTo>
                  <a:pt x="2821330" y="51244"/>
                </a:lnTo>
                <a:lnTo>
                  <a:pt x="2817342" y="47917"/>
                </a:lnTo>
                <a:lnTo>
                  <a:pt x="2813393" y="44538"/>
                </a:lnTo>
                <a:lnTo>
                  <a:pt x="2808528" y="42849"/>
                </a:lnTo>
                <a:lnTo>
                  <a:pt x="2796641" y="42849"/>
                </a:lnTo>
                <a:lnTo>
                  <a:pt x="2791841" y="44538"/>
                </a:lnTo>
                <a:lnTo>
                  <a:pt x="2791206" y="44945"/>
                </a:lnTo>
                <a:lnTo>
                  <a:pt x="2786456" y="49085"/>
                </a:lnTo>
                <a:lnTo>
                  <a:pt x="2787205" y="44945"/>
                </a:lnTo>
                <a:lnTo>
                  <a:pt x="2782074" y="44945"/>
                </a:lnTo>
                <a:lnTo>
                  <a:pt x="2782074" y="57505"/>
                </a:lnTo>
                <a:lnTo>
                  <a:pt x="2781846" y="56235"/>
                </a:lnTo>
                <a:lnTo>
                  <a:pt x="2781947" y="55968"/>
                </a:lnTo>
                <a:lnTo>
                  <a:pt x="2781973" y="56235"/>
                </a:lnTo>
                <a:lnTo>
                  <a:pt x="2782074" y="57505"/>
                </a:lnTo>
                <a:lnTo>
                  <a:pt x="2782074" y="44945"/>
                </a:lnTo>
                <a:lnTo>
                  <a:pt x="2761983" y="44945"/>
                </a:lnTo>
                <a:lnTo>
                  <a:pt x="2761983" y="168706"/>
                </a:lnTo>
                <a:lnTo>
                  <a:pt x="2788031" y="168706"/>
                </a:lnTo>
                <a:lnTo>
                  <a:pt x="2788031" y="72732"/>
                </a:lnTo>
                <a:lnTo>
                  <a:pt x="2788653" y="70040"/>
                </a:lnTo>
                <a:lnTo>
                  <a:pt x="2791218" y="66814"/>
                </a:lnTo>
                <a:lnTo>
                  <a:pt x="2793047" y="65989"/>
                </a:lnTo>
                <a:lnTo>
                  <a:pt x="2797949" y="65989"/>
                </a:lnTo>
                <a:lnTo>
                  <a:pt x="2799791" y="66814"/>
                </a:lnTo>
                <a:lnTo>
                  <a:pt x="2802496" y="70040"/>
                </a:lnTo>
                <a:lnTo>
                  <a:pt x="2803334" y="72732"/>
                </a:lnTo>
                <a:lnTo>
                  <a:pt x="2803398" y="168706"/>
                </a:lnTo>
                <a:lnTo>
                  <a:pt x="2827159" y="168706"/>
                </a:lnTo>
                <a:lnTo>
                  <a:pt x="2827172" y="72732"/>
                </a:lnTo>
                <a:lnTo>
                  <a:pt x="2827921" y="70040"/>
                </a:lnTo>
                <a:lnTo>
                  <a:pt x="2830677" y="66814"/>
                </a:lnTo>
                <a:lnTo>
                  <a:pt x="2832544" y="65989"/>
                </a:lnTo>
                <a:lnTo>
                  <a:pt x="2837459" y="65989"/>
                </a:lnTo>
                <a:lnTo>
                  <a:pt x="2839250" y="66814"/>
                </a:lnTo>
                <a:lnTo>
                  <a:pt x="2841726" y="70040"/>
                </a:lnTo>
                <a:lnTo>
                  <a:pt x="2842476" y="72732"/>
                </a:lnTo>
                <a:lnTo>
                  <a:pt x="2842526" y="168706"/>
                </a:lnTo>
                <a:lnTo>
                  <a:pt x="2868574" y="168706"/>
                </a:lnTo>
                <a:lnTo>
                  <a:pt x="2868574" y="76923"/>
                </a:lnTo>
                <a:close/>
              </a:path>
              <a:path w="3368040" h="206375">
                <a:moveTo>
                  <a:pt x="2989491" y="89890"/>
                </a:moveTo>
                <a:lnTo>
                  <a:pt x="2988792" y="79768"/>
                </a:lnTo>
                <a:lnTo>
                  <a:pt x="2986684" y="70700"/>
                </a:lnTo>
                <a:lnTo>
                  <a:pt x="2985439" y="67881"/>
                </a:lnTo>
                <a:lnTo>
                  <a:pt x="2983166" y="62687"/>
                </a:lnTo>
                <a:lnTo>
                  <a:pt x="2978251" y="55727"/>
                </a:lnTo>
                <a:lnTo>
                  <a:pt x="2972155" y="50088"/>
                </a:lnTo>
                <a:lnTo>
                  <a:pt x="2965018" y="46075"/>
                </a:lnTo>
                <a:lnTo>
                  <a:pt x="2962008" y="45186"/>
                </a:lnTo>
                <a:lnTo>
                  <a:pt x="2962008" y="83324"/>
                </a:lnTo>
                <a:lnTo>
                  <a:pt x="2962008" y="130327"/>
                </a:lnTo>
                <a:lnTo>
                  <a:pt x="2960255" y="136156"/>
                </a:lnTo>
                <a:lnTo>
                  <a:pt x="2953308" y="143776"/>
                </a:lnTo>
                <a:lnTo>
                  <a:pt x="2948140" y="145770"/>
                </a:lnTo>
                <a:lnTo>
                  <a:pt x="2934893" y="145770"/>
                </a:lnTo>
                <a:lnTo>
                  <a:pt x="2929750" y="143776"/>
                </a:lnTo>
                <a:lnTo>
                  <a:pt x="2928924" y="142900"/>
                </a:lnTo>
                <a:lnTo>
                  <a:pt x="2926003" y="139801"/>
                </a:lnTo>
                <a:lnTo>
                  <a:pt x="2922295" y="135775"/>
                </a:lnTo>
                <a:lnTo>
                  <a:pt x="2920530" y="130327"/>
                </a:lnTo>
                <a:lnTo>
                  <a:pt x="2920530" y="83324"/>
                </a:lnTo>
                <a:lnTo>
                  <a:pt x="2922295" y="77889"/>
                </a:lnTo>
                <a:lnTo>
                  <a:pt x="2928759" y="70942"/>
                </a:lnTo>
                <a:lnTo>
                  <a:pt x="2929966" y="69811"/>
                </a:lnTo>
                <a:lnTo>
                  <a:pt x="2934893" y="67881"/>
                </a:lnTo>
                <a:lnTo>
                  <a:pt x="2948140" y="67881"/>
                </a:lnTo>
                <a:lnTo>
                  <a:pt x="2953245" y="69811"/>
                </a:lnTo>
                <a:lnTo>
                  <a:pt x="2960255" y="77495"/>
                </a:lnTo>
                <a:lnTo>
                  <a:pt x="2960370" y="77889"/>
                </a:lnTo>
                <a:lnTo>
                  <a:pt x="2962008" y="83324"/>
                </a:lnTo>
                <a:lnTo>
                  <a:pt x="2962008" y="45186"/>
                </a:lnTo>
                <a:lnTo>
                  <a:pt x="2956877" y="43662"/>
                </a:lnTo>
                <a:lnTo>
                  <a:pt x="2947708" y="42849"/>
                </a:lnTo>
                <a:lnTo>
                  <a:pt x="2938107" y="42849"/>
                </a:lnTo>
                <a:lnTo>
                  <a:pt x="2930042" y="45326"/>
                </a:lnTo>
                <a:lnTo>
                  <a:pt x="2919082" y="53568"/>
                </a:lnTo>
                <a:lnTo>
                  <a:pt x="2920441" y="44945"/>
                </a:lnTo>
                <a:lnTo>
                  <a:pt x="2916047" y="44945"/>
                </a:lnTo>
                <a:lnTo>
                  <a:pt x="2916047" y="70700"/>
                </a:lnTo>
                <a:lnTo>
                  <a:pt x="2914497" y="62064"/>
                </a:lnTo>
                <a:lnTo>
                  <a:pt x="2914612" y="62687"/>
                </a:lnTo>
                <a:lnTo>
                  <a:pt x="2916047" y="70700"/>
                </a:lnTo>
                <a:lnTo>
                  <a:pt x="2916047" y="44945"/>
                </a:lnTo>
                <a:lnTo>
                  <a:pt x="2892958" y="44945"/>
                </a:lnTo>
                <a:lnTo>
                  <a:pt x="2892958" y="206349"/>
                </a:lnTo>
                <a:lnTo>
                  <a:pt x="2920441" y="206349"/>
                </a:lnTo>
                <a:lnTo>
                  <a:pt x="2920288" y="167576"/>
                </a:lnTo>
                <a:lnTo>
                  <a:pt x="2919069" y="159969"/>
                </a:lnTo>
                <a:lnTo>
                  <a:pt x="2929991" y="168313"/>
                </a:lnTo>
                <a:lnTo>
                  <a:pt x="2938068" y="170802"/>
                </a:lnTo>
                <a:lnTo>
                  <a:pt x="2947708" y="170802"/>
                </a:lnTo>
                <a:lnTo>
                  <a:pt x="2983166" y="150952"/>
                </a:lnTo>
                <a:lnTo>
                  <a:pt x="2985427" y="145770"/>
                </a:lnTo>
                <a:lnTo>
                  <a:pt x="2986684" y="142900"/>
                </a:lnTo>
                <a:lnTo>
                  <a:pt x="2988792" y="133769"/>
                </a:lnTo>
                <a:lnTo>
                  <a:pt x="2989491" y="123558"/>
                </a:lnTo>
                <a:lnTo>
                  <a:pt x="2989491" y="89890"/>
                </a:lnTo>
                <a:close/>
              </a:path>
              <a:path w="3368040" h="206375">
                <a:moveTo>
                  <a:pt x="3115005" y="90919"/>
                </a:moveTo>
                <a:lnTo>
                  <a:pt x="3114167" y="80429"/>
                </a:lnTo>
                <a:lnTo>
                  <a:pt x="3111690" y="71081"/>
                </a:lnTo>
                <a:lnTo>
                  <a:pt x="3110280" y="68287"/>
                </a:lnTo>
                <a:lnTo>
                  <a:pt x="3107563" y="62890"/>
                </a:lnTo>
                <a:lnTo>
                  <a:pt x="3101771" y="55829"/>
                </a:lnTo>
                <a:lnTo>
                  <a:pt x="3094609" y="50152"/>
                </a:lnTo>
                <a:lnTo>
                  <a:pt x="3087522" y="46697"/>
                </a:lnTo>
                <a:lnTo>
                  <a:pt x="3087522" y="83489"/>
                </a:lnTo>
                <a:lnTo>
                  <a:pt x="3087522" y="130162"/>
                </a:lnTo>
                <a:lnTo>
                  <a:pt x="3085719" y="135877"/>
                </a:lnTo>
                <a:lnTo>
                  <a:pt x="3078530" y="143471"/>
                </a:lnTo>
                <a:lnTo>
                  <a:pt x="3073273" y="145364"/>
                </a:lnTo>
                <a:lnTo>
                  <a:pt x="3059341" y="145364"/>
                </a:lnTo>
                <a:lnTo>
                  <a:pt x="3054070" y="143471"/>
                </a:lnTo>
                <a:lnTo>
                  <a:pt x="3046920" y="135877"/>
                </a:lnTo>
                <a:lnTo>
                  <a:pt x="3045129" y="130162"/>
                </a:lnTo>
                <a:lnTo>
                  <a:pt x="3045129" y="83489"/>
                </a:lnTo>
                <a:lnTo>
                  <a:pt x="3046920" y="77787"/>
                </a:lnTo>
                <a:lnTo>
                  <a:pt x="3054070" y="70192"/>
                </a:lnTo>
                <a:lnTo>
                  <a:pt x="3059341" y="68287"/>
                </a:lnTo>
                <a:lnTo>
                  <a:pt x="3073273" y="68287"/>
                </a:lnTo>
                <a:lnTo>
                  <a:pt x="3078530" y="70192"/>
                </a:lnTo>
                <a:lnTo>
                  <a:pt x="3082112" y="74015"/>
                </a:lnTo>
                <a:lnTo>
                  <a:pt x="3085719" y="77787"/>
                </a:lnTo>
                <a:lnTo>
                  <a:pt x="3066326" y="42849"/>
                </a:lnTo>
                <a:lnTo>
                  <a:pt x="3055734" y="43662"/>
                </a:lnTo>
                <a:lnTo>
                  <a:pt x="3020923" y="71081"/>
                </a:lnTo>
                <a:lnTo>
                  <a:pt x="3017596" y="122529"/>
                </a:lnTo>
                <a:lnTo>
                  <a:pt x="3018421" y="133108"/>
                </a:lnTo>
                <a:lnTo>
                  <a:pt x="3046272" y="167551"/>
                </a:lnTo>
                <a:lnTo>
                  <a:pt x="3066326" y="170802"/>
                </a:lnTo>
                <a:lnTo>
                  <a:pt x="3076892" y="169989"/>
                </a:lnTo>
                <a:lnTo>
                  <a:pt x="3110268" y="145364"/>
                </a:lnTo>
                <a:lnTo>
                  <a:pt x="3115005" y="122529"/>
                </a:lnTo>
                <a:lnTo>
                  <a:pt x="3115005" y="90919"/>
                </a:lnTo>
                <a:close/>
              </a:path>
              <a:path w="3368040" h="206375">
                <a:moveTo>
                  <a:pt x="3245104" y="89484"/>
                </a:moveTo>
                <a:lnTo>
                  <a:pt x="3244354" y="79413"/>
                </a:lnTo>
                <a:lnTo>
                  <a:pt x="3242106" y="70408"/>
                </a:lnTo>
                <a:lnTo>
                  <a:pt x="3240722" y="67475"/>
                </a:lnTo>
                <a:lnTo>
                  <a:pt x="3238360" y="62458"/>
                </a:lnTo>
                <a:lnTo>
                  <a:pt x="3201035" y="42849"/>
                </a:lnTo>
                <a:lnTo>
                  <a:pt x="3188614" y="44538"/>
                </a:lnTo>
                <a:lnTo>
                  <a:pt x="3179419" y="49593"/>
                </a:lnTo>
                <a:lnTo>
                  <a:pt x="3173450" y="58026"/>
                </a:lnTo>
                <a:lnTo>
                  <a:pt x="3170694" y="69824"/>
                </a:lnTo>
                <a:lnTo>
                  <a:pt x="3170758" y="69469"/>
                </a:lnTo>
                <a:lnTo>
                  <a:pt x="3175025" y="44945"/>
                </a:lnTo>
                <a:lnTo>
                  <a:pt x="3147961" y="44945"/>
                </a:lnTo>
                <a:lnTo>
                  <a:pt x="3147961" y="168706"/>
                </a:lnTo>
                <a:lnTo>
                  <a:pt x="3175444" y="168706"/>
                </a:lnTo>
                <a:lnTo>
                  <a:pt x="3175482" y="83324"/>
                </a:lnTo>
                <a:lnTo>
                  <a:pt x="3176714" y="79413"/>
                </a:lnTo>
                <a:lnTo>
                  <a:pt x="3177451" y="77431"/>
                </a:lnTo>
                <a:lnTo>
                  <a:pt x="3184448" y="69824"/>
                </a:lnTo>
                <a:lnTo>
                  <a:pt x="3184842" y="69469"/>
                </a:lnTo>
                <a:lnTo>
                  <a:pt x="3189960" y="67475"/>
                </a:lnTo>
                <a:lnTo>
                  <a:pt x="3203448" y="67475"/>
                </a:lnTo>
                <a:lnTo>
                  <a:pt x="3208642" y="69469"/>
                </a:lnTo>
                <a:lnTo>
                  <a:pt x="3215817" y="77431"/>
                </a:lnTo>
                <a:lnTo>
                  <a:pt x="3217634" y="83324"/>
                </a:lnTo>
                <a:lnTo>
                  <a:pt x="3217634" y="100723"/>
                </a:lnTo>
                <a:lnTo>
                  <a:pt x="3245104" y="100723"/>
                </a:lnTo>
                <a:lnTo>
                  <a:pt x="3245104" y="89484"/>
                </a:lnTo>
                <a:close/>
              </a:path>
              <a:path w="3368040" h="206375">
                <a:moveTo>
                  <a:pt x="3367709" y="44945"/>
                </a:moveTo>
                <a:lnTo>
                  <a:pt x="3321685" y="44945"/>
                </a:lnTo>
                <a:lnTo>
                  <a:pt x="3321685" y="13589"/>
                </a:lnTo>
                <a:lnTo>
                  <a:pt x="3294151" y="13589"/>
                </a:lnTo>
                <a:lnTo>
                  <a:pt x="3294151" y="44945"/>
                </a:lnTo>
                <a:lnTo>
                  <a:pt x="3261728" y="44945"/>
                </a:lnTo>
                <a:lnTo>
                  <a:pt x="3261728" y="70789"/>
                </a:lnTo>
                <a:lnTo>
                  <a:pt x="3294151" y="70789"/>
                </a:lnTo>
                <a:lnTo>
                  <a:pt x="3294151" y="134023"/>
                </a:lnTo>
                <a:lnTo>
                  <a:pt x="3294748" y="141732"/>
                </a:lnTo>
                <a:lnTo>
                  <a:pt x="3329914" y="168706"/>
                </a:lnTo>
                <a:lnTo>
                  <a:pt x="3365614" y="168706"/>
                </a:lnTo>
                <a:lnTo>
                  <a:pt x="3365614" y="142862"/>
                </a:lnTo>
                <a:lnTo>
                  <a:pt x="3326841" y="142862"/>
                </a:lnTo>
                <a:lnTo>
                  <a:pt x="3324695" y="142214"/>
                </a:lnTo>
                <a:lnTo>
                  <a:pt x="3322282" y="139623"/>
                </a:lnTo>
                <a:lnTo>
                  <a:pt x="3321685" y="137325"/>
                </a:lnTo>
                <a:lnTo>
                  <a:pt x="3321685" y="70789"/>
                </a:lnTo>
                <a:lnTo>
                  <a:pt x="3367709" y="70789"/>
                </a:lnTo>
                <a:lnTo>
                  <a:pt x="3367709" y="44945"/>
                </a:lnTo>
                <a:close/>
              </a:path>
            </a:pathLst>
          </a:custGeom>
          <a:solidFill>
            <a:srgbClr val="007BB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bg object 21"/>
          <p:cNvSpPr/>
          <p:nvPr/>
        </p:nvSpPr>
        <p:spPr>
          <a:xfrm>
            <a:off x="491289" y="4646779"/>
            <a:ext cx="9887585" cy="614680"/>
          </a:xfrm>
          <a:custGeom>
            <a:avLst/>
            <a:gdLst/>
            <a:ahLst/>
            <a:cxnLst/>
            <a:rect l="l" t="t" r="r" b="b"/>
            <a:pathLst>
              <a:path w="9887585" h="614679">
                <a:moveTo>
                  <a:pt x="9810694" y="614111"/>
                </a:moveTo>
                <a:lnTo>
                  <a:pt x="76505" y="614111"/>
                </a:lnTo>
                <a:lnTo>
                  <a:pt x="71180" y="613587"/>
                </a:lnTo>
                <a:lnTo>
                  <a:pt x="31920" y="597324"/>
                </a:lnTo>
                <a:lnTo>
                  <a:pt x="4175" y="558597"/>
                </a:lnTo>
                <a:lnTo>
                  <a:pt x="0" y="537606"/>
                </a:lnTo>
                <a:lnTo>
                  <a:pt x="0" y="532230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537606"/>
                </a:lnTo>
                <a:lnTo>
                  <a:pt x="9870412" y="582191"/>
                </a:lnTo>
                <a:lnTo>
                  <a:pt x="9831684" y="609935"/>
                </a:lnTo>
                <a:lnTo>
                  <a:pt x="9816018" y="613587"/>
                </a:lnTo>
                <a:lnTo>
                  <a:pt x="9810694" y="61411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bg object 22"/>
          <p:cNvSpPr/>
          <p:nvPr/>
        </p:nvSpPr>
        <p:spPr>
          <a:xfrm>
            <a:off x="491289" y="5506535"/>
            <a:ext cx="9887585" cy="962660"/>
          </a:xfrm>
          <a:custGeom>
            <a:avLst/>
            <a:gdLst/>
            <a:ahLst/>
            <a:cxnLst/>
            <a:rect l="l" t="t" r="r" b="b"/>
            <a:pathLst>
              <a:path w="9887585" h="962660">
                <a:moveTo>
                  <a:pt x="9810694" y="962107"/>
                </a:moveTo>
                <a:lnTo>
                  <a:pt x="76505" y="962107"/>
                </a:lnTo>
                <a:lnTo>
                  <a:pt x="71180" y="961583"/>
                </a:lnTo>
                <a:lnTo>
                  <a:pt x="31920" y="945320"/>
                </a:lnTo>
                <a:lnTo>
                  <a:pt x="4175" y="906593"/>
                </a:lnTo>
                <a:lnTo>
                  <a:pt x="0" y="885603"/>
                </a:lnTo>
                <a:lnTo>
                  <a:pt x="0" y="880226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885603"/>
                </a:lnTo>
                <a:lnTo>
                  <a:pt x="9870412" y="930187"/>
                </a:lnTo>
                <a:lnTo>
                  <a:pt x="9831684" y="957932"/>
                </a:lnTo>
                <a:lnTo>
                  <a:pt x="9816018" y="961583"/>
                </a:lnTo>
                <a:lnTo>
                  <a:pt x="9810694" y="962107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bg object 23"/>
          <p:cNvSpPr/>
          <p:nvPr/>
        </p:nvSpPr>
        <p:spPr>
          <a:xfrm>
            <a:off x="491289" y="6714288"/>
            <a:ext cx="9887585" cy="614680"/>
          </a:xfrm>
          <a:custGeom>
            <a:avLst/>
            <a:gdLst/>
            <a:ahLst/>
            <a:cxnLst/>
            <a:rect l="l" t="t" r="r" b="b"/>
            <a:pathLst>
              <a:path w="9887585" h="614679">
                <a:moveTo>
                  <a:pt x="9810694" y="614111"/>
                </a:moveTo>
                <a:lnTo>
                  <a:pt x="76505" y="614111"/>
                </a:lnTo>
                <a:lnTo>
                  <a:pt x="71180" y="613587"/>
                </a:lnTo>
                <a:lnTo>
                  <a:pt x="31920" y="597324"/>
                </a:lnTo>
                <a:lnTo>
                  <a:pt x="4175" y="558597"/>
                </a:lnTo>
                <a:lnTo>
                  <a:pt x="0" y="537606"/>
                </a:lnTo>
                <a:lnTo>
                  <a:pt x="0" y="532230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537606"/>
                </a:lnTo>
                <a:lnTo>
                  <a:pt x="9870412" y="582191"/>
                </a:lnTo>
                <a:lnTo>
                  <a:pt x="9831684" y="609936"/>
                </a:lnTo>
                <a:lnTo>
                  <a:pt x="9816018" y="613587"/>
                </a:lnTo>
                <a:lnTo>
                  <a:pt x="9810694" y="61411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2DE37C-63D3-3847-82CE-263FF4853DB4}" type="datetime1">
              <a:rPr lang="ko-KR" altLang="en-US" smtClean="0"/>
              <a:t>2025. 1. 10.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69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61"/>
            <a:ext cx="11593195" cy="7137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470955" y="2157161"/>
            <a:ext cx="6574155" cy="23348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64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9896568" y="8207389"/>
            <a:ext cx="5346065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80" dirty="0"/>
              <a:t>UNSUPERVISED</a:t>
            </a:r>
            <a:r>
              <a:rPr spc="-25" dirty="0"/>
              <a:t> </a:t>
            </a:r>
            <a:r>
              <a:rPr spc="-35" dirty="0"/>
              <a:t>LEARNING</a:t>
            </a:r>
            <a:r>
              <a:rPr spc="-25" dirty="0"/>
              <a:t> </a:t>
            </a:r>
            <a:r>
              <a:rPr dirty="0"/>
              <a:t>IN</a:t>
            </a:r>
            <a:r>
              <a:rPr spc="-25" dirty="0"/>
              <a:t> </a:t>
            </a:r>
            <a:r>
              <a:rPr spc="-10" dirty="0"/>
              <a:t>PYTHON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825C41-DB8C-B04A-9BB4-DDAE33C6856F}" type="datetime1">
              <a:rPr lang="ko-KR" altLang="en-US" smtClean="0"/>
              <a:t>2025. 1. 10.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jpg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jp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pn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831215" marR="761365" algn="ctr">
              <a:lnSpc>
                <a:spcPts val="6770"/>
              </a:lnSpc>
              <a:spcBef>
                <a:spcPts val="1130"/>
              </a:spcBef>
            </a:pPr>
            <a:r>
              <a:rPr spc="-330" dirty="0"/>
              <a:t>Unsupervised </a:t>
            </a:r>
            <a:r>
              <a:rPr spc="-95" dirty="0"/>
              <a:t>Learning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09BB338-3AA9-AB40-0759-802D5489529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85" dirty="0"/>
              <a:t>Unsupervised</a:t>
            </a:r>
            <a:r>
              <a:rPr spc="-60" dirty="0"/>
              <a:t> </a:t>
            </a:r>
            <a:r>
              <a:rPr spc="-35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9010650" cy="22218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Unsupervised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finds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patterns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E.g.,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clustering</a:t>
            </a:r>
            <a:r>
              <a:rPr sz="2650" i="1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customers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Arial"/>
                <a:cs typeface="Arial"/>
              </a:rPr>
              <a:t>by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their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purchases</a:t>
            </a:r>
            <a:endParaRPr sz="2550" dirty="0">
              <a:latin typeface="Arial"/>
              <a:cs typeface="Arial"/>
            </a:endParaRPr>
          </a:p>
          <a:p>
            <a:pPr marL="12700" marR="5080">
              <a:lnSpc>
                <a:spcPct val="121600"/>
              </a:lnSpc>
              <a:spcBef>
                <a:spcPts val="129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Compressing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using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purchase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patterns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(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dimension reduction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)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F36BE380-FDFF-831F-23F6-1E39C66507C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F250842-D6C1-8338-6CBD-22A11ABAF970}"/>
              </a:ext>
            </a:extLst>
          </p:cNvPr>
          <p:cNvSpPr txBox="1"/>
          <p:nvPr/>
        </p:nvSpPr>
        <p:spPr>
          <a:xfrm>
            <a:off x="847056" y="3687825"/>
            <a:ext cx="132588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/>
              <a:t>Purchase Patterns:</a:t>
            </a:r>
            <a:r>
              <a:rPr lang="en" altLang="ko-KR" dirty="0"/>
              <a:t> In the context of purchase patterns, the data typically involves customer behaviors, such as products bought, quantities, and frequencies. Dimension reduction could help: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Identify key factors or patterns that explain the majority of purchase behaviors (e.g., grouping similar products or customers based on purchasing habits).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" altLang="ko-KR" dirty="0"/>
              <a:t>Simplify data for visualization or downstream analysis (e.g., clustering).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" altLang="ko-KR" dirty="0"/>
          </a:p>
          <a:p>
            <a:r>
              <a:rPr lang="en" altLang="ko-KR" b="1" dirty="0"/>
              <a:t>Why It’s Unsupervised:</a:t>
            </a:r>
          </a:p>
          <a:p>
            <a:endParaRPr lang="en" altLang="ko-KR" b="1" dirty="0"/>
          </a:p>
          <a:p>
            <a:r>
              <a:rPr lang="en" altLang="ko-KR" b="1" dirty="0"/>
              <a:t>No Explicit Labels:</a:t>
            </a:r>
            <a:r>
              <a:rPr lang="en" altLang="ko-KR" dirty="0"/>
              <a:t> The data consists of raw purchase information without predefined labels (e.g., categories of customers or product groups).</a:t>
            </a:r>
          </a:p>
          <a:p>
            <a:r>
              <a:rPr lang="en" altLang="ko-KR" b="1" dirty="0"/>
              <a:t>Discovering Structure:</a:t>
            </a:r>
            <a:r>
              <a:rPr lang="en" altLang="ko-KR" dirty="0"/>
              <a:t> The algorithm identifies patterns or underlying factors (e.g., principal components or clusters) without supervision or external guidance.</a:t>
            </a:r>
          </a:p>
          <a:p>
            <a:endParaRPr lang="en" altLang="ko-KR" dirty="0"/>
          </a:p>
          <a:p>
            <a:r>
              <a:rPr lang="en" altLang="ko-KR" b="1" dirty="0"/>
              <a:t>Examples of Unsupervised Learning for Purchase Patterns:</a:t>
            </a:r>
          </a:p>
          <a:p>
            <a:r>
              <a:rPr lang="en" altLang="ko-KR" b="1" dirty="0"/>
              <a:t>PCA</a:t>
            </a:r>
            <a:r>
              <a:rPr lang="en" altLang="ko-KR" dirty="0"/>
              <a:t>: Reducing dimensions by identifying combinations of products frequently purchased together.</a:t>
            </a:r>
          </a:p>
          <a:p>
            <a:r>
              <a:rPr lang="en" altLang="ko-KR" b="1" dirty="0"/>
              <a:t>Clustering</a:t>
            </a:r>
            <a:r>
              <a:rPr lang="en" altLang="ko-KR" dirty="0"/>
              <a:t>: Grouping customers or products based on similarity in purchasing behavior (e.g., k-means clustering).</a:t>
            </a:r>
          </a:p>
          <a:p>
            <a:pPr marL="742950" indent="-285750">
              <a:buFont typeface="+mj-lt"/>
              <a:buAutoNum type="arabicPeriod"/>
            </a:pPr>
            <a:endParaRPr lang="en" altLang="ko-KR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4"/>
            <a:ext cx="955040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Supervised</a:t>
            </a:r>
            <a:r>
              <a:rPr spc="-110" dirty="0"/>
              <a:t> </a:t>
            </a:r>
            <a:r>
              <a:rPr spc="-270" dirty="0"/>
              <a:t>vs</a:t>
            </a:r>
            <a:r>
              <a:rPr spc="-95" dirty="0"/>
              <a:t> </a:t>
            </a:r>
            <a:r>
              <a:rPr spc="-175" dirty="0"/>
              <a:t>unsupervised</a:t>
            </a:r>
            <a:r>
              <a:rPr spc="-95" dirty="0"/>
              <a:t> </a:t>
            </a:r>
            <a:r>
              <a:rPr spc="-10" dirty="0"/>
              <a:t>learning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4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64501"/>
            <a:ext cx="8453755" cy="23958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Supervised</a:t>
            </a:r>
            <a:r>
              <a:rPr sz="2650" i="1" spc="-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finds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patterns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prediction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task</a:t>
            </a:r>
            <a:endParaRPr sz="2550">
              <a:latin typeface="Arial"/>
              <a:cs typeface="Arial"/>
            </a:endParaRPr>
          </a:p>
          <a:p>
            <a:pPr marL="12700" marR="473709">
              <a:lnSpc>
                <a:spcPts val="5160"/>
              </a:lnSpc>
              <a:spcBef>
                <a:spcPts val="50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E.g.,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classify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tumors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benign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or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cancerous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(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labels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)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Unsupervised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finds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patterns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47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but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75" dirty="0">
                <a:solidFill>
                  <a:srgbClr val="04182D"/>
                </a:solidFill>
                <a:latin typeface="Arial"/>
                <a:cs typeface="Arial"/>
              </a:rPr>
              <a:t>without</a:t>
            </a:r>
            <a:r>
              <a:rPr sz="2650" i="1" spc="-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specific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prediction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task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mind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6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9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2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849AFE17-6A43-0098-C1FB-F13DB9C6BEF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Iris</a:t>
            </a:r>
            <a:r>
              <a:rPr spc="-125" dirty="0"/>
              <a:t> </a:t>
            </a:r>
            <a:r>
              <a:rPr lang="en-US" spc="-125" dirty="0"/>
              <a:t>(</a:t>
            </a:r>
            <a:r>
              <a:rPr lang="ko-KR" altLang="en-US" spc="-125" dirty="0"/>
              <a:t>붓꽃</a:t>
            </a:r>
            <a:r>
              <a:rPr lang="en-US" altLang="ko-KR" spc="-125" dirty="0"/>
              <a:t>)</a:t>
            </a:r>
            <a:r>
              <a:rPr lang="ko-KR" altLang="en-US" spc="-125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869991" y="2978442"/>
            <a:ext cx="122822" cy="122822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869991" y="3633494"/>
            <a:ext cx="122822" cy="122822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869991" y="4288547"/>
            <a:ext cx="122822" cy="12282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847056" y="1076324"/>
            <a:ext cx="4368165" cy="508902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8435">
              <a:lnSpc>
                <a:spcPct val="126400"/>
              </a:lnSpc>
              <a:spcBef>
                <a:spcPts val="95"/>
              </a:spcBef>
            </a:pP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Measurements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many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iris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plants</a:t>
            </a:r>
            <a:endParaRPr sz="25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Three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iris:</a:t>
            </a:r>
            <a:endParaRPr sz="2550" dirty="0">
              <a:latin typeface="Arial"/>
              <a:cs typeface="Arial"/>
            </a:endParaRPr>
          </a:p>
          <a:p>
            <a:pPr marL="381000">
              <a:lnSpc>
                <a:spcPct val="100000"/>
              </a:lnSpc>
              <a:spcBef>
                <a:spcPts val="710"/>
              </a:spcBef>
            </a:pP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setosa</a:t>
            </a:r>
            <a:endParaRPr sz="2650" dirty="0">
              <a:latin typeface="Arial"/>
              <a:cs typeface="Arial"/>
            </a:endParaRPr>
          </a:p>
          <a:p>
            <a:pPr marL="381000" marR="2510155">
              <a:lnSpc>
                <a:spcPct val="162200"/>
              </a:lnSpc>
            </a:pP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versicolor </a:t>
            </a:r>
            <a:r>
              <a:rPr sz="2650" i="1" spc="35" dirty="0">
                <a:solidFill>
                  <a:srgbClr val="04182D"/>
                </a:solidFill>
                <a:latin typeface="Arial"/>
                <a:cs typeface="Arial"/>
              </a:rPr>
              <a:t>virginica</a:t>
            </a:r>
            <a:endParaRPr sz="2650" dirty="0">
              <a:latin typeface="Arial"/>
              <a:cs typeface="Arial"/>
            </a:endParaRPr>
          </a:p>
          <a:p>
            <a:pPr marL="12700" marR="5080">
              <a:lnSpc>
                <a:spcPct val="124800"/>
              </a:lnSpc>
              <a:spcBef>
                <a:spcPts val="132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Petal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length,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petal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width,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sepal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length,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sepal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width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(the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650" i="1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dataset)</a:t>
            </a:r>
            <a:endParaRPr sz="2550" dirty="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953834"/>
            <a:ext cx="102352" cy="102351"/>
          </a:xfrm>
          <a:prstGeom prst="rect">
            <a:avLst/>
          </a:prstGeom>
        </p:spPr>
      </p:pic>
      <p:sp>
        <p:nvSpPr>
          <p:cNvPr id="11" name="object 11"/>
          <p:cNvSpPr txBox="1"/>
          <p:nvPr/>
        </p:nvSpPr>
        <p:spPr>
          <a:xfrm>
            <a:off x="125663" y="7172407"/>
            <a:ext cx="9191625" cy="697230"/>
          </a:xfrm>
          <a:prstGeom prst="rect">
            <a:avLst/>
          </a:prstGeom>
        </p:spPr>
        <p:txBody>
          <a:bodyPr vert="horz" wrap="square" lIns="0" tIns="36830" rIns="0" bIns="0" rtlCol="0">
            <a:spAutoFit/>
          </a:bodyPr>
          <a:lstStyle/>
          <a:p>
            <a:pPr marL="38100" marR="30480">
              <a:lnSpc>
                <a:spcPts val="2580"/>
              </a:lnSpc>
              <a:spcBef>
                <a:spcPts val="290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270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04182D"/>
                </a:solidFill>
                <a:latin typeface="Arial"/>
                <a:cs typeface="Arial"/>
              </a:rPr>
              <a:t>https://scikit- </a:t>
            </a:r>
            <a:r>
              <a:rPr sz="2250" spc="65" dirty="0">
                <a:solidFill>
                  <a:srgbClr val="04182D"/>
                </a:solidFill>
                <a:latin typeface="Arial"/>
                <a:cs typeface="Arial"/>
              </a:rPr>
              <a:t>learn.org/stable/modules/generated/sklearn.datasets.load_iris.html</a:t>
            </a:r>
            <a:endParaRPr sz="2250">
              <a:latin typeface="Arial"/>
              <a:cs typeface="Arial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C8889C97-CC49-F166-76AC-89EDB98717A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  <p:pic>
        <p:nvPicPr>
          <p:cNvPr id="1026" name="Picture 2" descr="Classification: 붓꽃(Iris) 데이터 분석하기">
            <a:extLst>
              <a:ext uri="{FF2B5EF4-FFF2-40B4-BE49-F238E27FC236}">
                <a16:creationId xmlns:a16="http://schemas.microsoft.com/office/drawing/2014/main" id="{56A6D233-6D3D-3865-E9CD-99D98A4397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09906" y="1822810"/>
            <a:ext cx="8977603" cy="45188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Arrays,</a:t>
            </a:r>
            <a:r>
              <a:rPr spc="-240" dirty="0"/>
              <a:t> </a:t>
            </a:r>
            <a:r>
              <a:rPr spc="-35" dirty="0"/>
              <a:t>features</a:t>
            </a:r>
            <a:r>
              <a:rPr spc="-215" dirty="0"/>
              <a:t> </a:t>
            </a:r>
            <a:r>
              <a:rPr spc="-425" dirty="0"/>
              <a:t>&amp;</a:t>
            </a:r>
            <a:r>
              <a:rPr spc="-95" dirty="0"/>
              <a:t> </a:t>
            </a:r>
            <a:r>
              <a:rPr spc="-90" dirty="0"/>
              <a:t>samples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79"/>
            <a:ext cx="6492240" cy="173101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2D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NumPy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array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62200"/>
              </a:lnSpc>
              <a:spcBef>
                <a:spcPts val="2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Columns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measurements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(the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)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Rows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represent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iris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plants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(the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)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5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48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B3F1B31-D627-E61F-A457-8081E714E05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70" dirty="0"/>
              <a:t>Iris</a:t>
            </a:r>
            <a:r>
              <a:rPr spc="-75" dirty="0"/>
              <a:t> </a:t>
            </a:r>
            <a:r>
              <a:rPr spc="95" dirty="0"/>
              <a:t>data</a:t>
            </a:r>
            <a:r>
              <a:rPr spc="-70" dirty="0"/>
              <a:t> </a:t>
            </a:r>
            <a:r>
              <a:rPr spc="-280" dirty="0"/>
              <a:t>is</a:t>
            </a:r>
            <a:r>
              <a:rPr spc="-70" dirty="0"/>
              <a:t> </a:t>
            </a:r>
            <a:r>
              <a:rPr dirty="0"/>
              <a:t>4-</a:t>
            </a:r>
            <a:r>
              <a:rPr spc="-105" dirty="0"/>
              <a:t>dimensional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7069455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Iris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points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4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dimensional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space</a:t>
            </a:r>
            <a:endParaRPr sz="2550">
              <a:latin typeface="Arial"/>
              <a:cs typeface="Arial"/>
            </a:endParaRPr>
          </a:p>
          <a:p>
            <a:pPr marL="12700" marR="2121535">
              <a:lnSpc>
                <a:spcPts val="5160"/>
              </a:lnSpc>
              <a:spcBef>
                <a:spcPts val="520"/>
              </a:spcBef>
            </a:pP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Dimension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features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Dimension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too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high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visualize!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but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unsupervised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learning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gives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insight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10FF9945-D0E7-AF1B-8D51-B95ED4CEE6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" dirty="0"/>
              <a:t>k-</a:t>
            </a:r>
            <a:r>
              <a:rPr spc="-75" dirty="0"/>
              <a:t>means</a:t>
            </a:r>
            <a:r>
              <a:rPr spc="-215" dirty="0"/>
              <a:t> </a:t>
            </a:r>
            <a:r>
              <a:rPr spc="-105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3377614" y="2517858"/>
            <a:ext cx="1269365" cy="429895"/>
          </a:xfrm>
          <a:custGeom>
            <a:avLst/>
            <a:gdLst/>
            <a:ahLst/>
            <a:cxnLst/>
            <a:rect l="l" t="t" r="r" b="b"/>
            <a:pathLst>
              <a:path w="1269364" h="429894">
                <a:moveTo>
                  <a:pt x="1192659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192659" y="0"/>
                </a:lnTo>
                <a:lnTo>
                  <a:pt x="1237243" y="16786"/>
                </a:lnTo>
                <a:lnTo>
                  <a:pt x="1264988" y="55513"/>
                </a:lnTo>
                <a:lnTo>
                  <a:pt x="1269164" y="76505"/>
                </a:lnTo>
                <a:lnTo>
                  <a:pt x="1269164" y="353373"/>
                </a:lnTo>
                <a:lnTo>
                  <a:pt x="1252377" y="397957"/>
                </a:lnTo>
                <a:lnTo>
                  <a:pt x="1213649" y="425702"/>
                </a:lnTo>
                <a:lnTo>
                  <a:pt x="1197983" y="429353"/>
                </a:lnTo>
                <a:lnTo>
                  <a:pt x="119265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847056" y="1174582"/>
            <a:ext cx="6099810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Finds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  <a:tabLst>
                <a:tab pos="2561590" algn="l"/>
              </a:tabLst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must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specified Implemented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sklearn</a:t>
            </a:r>
            <a:r>
              <a:rPr sz="2250" spc="40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("scikit-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learn")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75EC3194-CEE6-7CC9-96F5-719CF584FBF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6255C15-85B6-B3E7-E971-1CD509330BC6}"/>
              </a:ext>
            </a:extLst>
          </p:cNvPr>
          <p:cNvSpPr txBox="1"/>
          <p:nvPr/>
        </p:nvSpPr>
        <p:spPr>
          <a:xfrm>
            <a:off x="750816" y="3261085"/>
            <a:ext cx="1340869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dirty="0"/>
              <a:t>K-Means clustering is a </a:t>
            </a:r>
            <a:r>
              <a:rPr lang="en" altLang="ko-KR" b="1" dirty="0"/>
              <a:t>popular unsupervised machine learning algorithm</a:t>
            </a:r>
            <a:r>
              <a:rPr lang="en" altLang="ko-KR" dirty="0"/>
              <a:t> used to partition a dataset into a predefined number of groups (clusters).</a:t>
            </a:r>
          </a:p>
          <a:p>
            <a:r>
              <a:rPr lang="en" altLang="ko-KR" dirty="0"/>
              <a:t>Each cluster consists of data points that are more similar to each other than to those in other clusters, based on a chosen distance metric (e.g., Euclidean distance).</a:t>
            </a:r>
          </a:p>
          <a:p>
            <a:endParaRPr lang="en" altLang="ko-KR" dirty="0"/>
          </a:p>
          <a:p>
            <a:r>
              <a:rPr lang="en" altLang="ko-KR" dirty="0"/>
              <a:t>How K-Means Clustering Works</a:t>
            </a:r>
          </a:p>
          <a:p>
            <a:r>
              <a:rPr lang="en" altLang="ko-KR" dirty="0"/>
              <a:t>1. Initialization:</a:t>
            </a:r>
          </a:p>
          <a:p>
            <a:r>
              <a:rPr lang="en" altLang="ko-KR" dirty="0"/>
              <a:t>Choose the number of clusters, 𝑘</a:t>
            </a:r>
          </a:p>
          <a:p>
            <a:r>
              <a:rPr lang="en" altLang="ko-KR" dirty="0"/>
              <a:t>Randomly initialize 𝑘 cluster centroids (points representing the center of each cluster).</a:t>
            </a:r>
          </a:p>
          <a:p>
            <a:r>
              <a:rPr lang="en" altLang="ko-KR" dirty="0"/>
              <a:t>2. Assignment Step:</a:t>
            </a:r>
          </a:p>
          <a:p>
            <a:r>
              <a:rPr lang="en" altLang="ko-KR" dirty="0"/>
              <a:t>Assign each data point to the nearest cluster centroid, typically using the Euclidean distance as the similarity measure.</a:t>
            </a:r>
          </a:p>
          <a:p>
            <a:r>
              <a:rPr lang="en" altLang="ko-KR" dirty="0"/>
              <a:t>3. Update Step:</a:t>
            </a:r>
          </a:p>
          <a:p>
            <a:r>
              <a:rPr lang="en" altLang="ko-KR" dirty="0"/>
              <a:t>Recalculate the centroid of each cluster by averaging the data points assigned to it.</a:t>
            </a:r>
          </a:p>
          <a:p>
            <a:r>
              <a:rPr lang="en" altLang="ko-KR" dirty="0"/>
              <a:t>4. Iteration:</a:t>
            </a:r>
          </a:p>
          <a:p>
            <a:r>
              <a:rPr lang="en" altLang="ko-KR" dirty="0"/>
              <a:t>Repeat the assignment and update steps until the cluster assignments no longer change significantly or a maximum number of iterations is reached.</a:t>
            </a:r>
            <a:endParaRPr lang="ko-KR" alt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97893" y="494556"/>
            <a:ext cx="178308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-10" dirty="0">
                <a:solidFill>
                  <a:srgbClr val="04182D"/>
                </a:solidFill>
                <a:latin typeface="Monaco"/>
                <a:cs typeface="Monaco"/>
              </a:rPr>
              <a:t>print(samples)</a:t>
            </a:r>
            <a:endParaRPr sz="1650">
              <a:latin typeface="Monaco"/>
              <a:cs typeface="Monaco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/>
        </p:nvGraphicFramePr>
        <p:xfrm>
          <a:off x="578843" y="1332348"/>
          <a:ext cx="2952114" cy="130302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1059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280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54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3530">
                <a:tc>
                  <a:txBody>
                    <a:bodyPr/>
                    <a:lstStyle/>
                    <a:p>
                      <a:pPr marL="31750">
                        <a:lnSpc>
                          <a:spcPts val="1930"/>
                        </a:lnSpc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[[</a:t>
                      </a:r>
                      <a:r>
                        <a:rPr sz="16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930"/>
                        </a:lnSpc>
                      </a:pP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3.3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930"/>
                        </a:lnSpc>
                      </a:pP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1.4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ts val="1930"/>
                        </a:lnSpc>
                      </a:pPr>
                      <a:r>
                        <a:rPr sz="16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0.2]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r>
                        <a:rPr sz="1650" spc="-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3.5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1.3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0.3]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980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7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3530">
                <a:tc>
                  <a:txBody>
                    <a:bodyPr/>
                    <a:lstStyle/>
                    <a:p>
                      <a:pPr marL="15684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r>
                        <a:rPr sz="1650" spc="-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7.2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3.2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6.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tc>
                  <a:txBody>
                    <a:bodyPr/>
                    <a:lstStyle/>
                    <a:p>
                      <a:pPr marL="125095">
                        <a:lnSpc>
                          <a:spcPct val="100000"/>
                        </a:lnSpc>
                        <a:spcBef>
                          <a:spcPts val="295"/>
                        </a:spcBef>
                      </a:pPr>
                      <a:r>
                        <a:rPr sz="16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1.8]]</a:t>
                      </a:r>
                      <a:endParaRPr sz="1650">
                        <a:latin typeface="Monaco"/>
                        <a:cs typeface="Monaco"/>
                      </a:endParaRPr>
                    </a:p>
                  </a:txBody>
                  <a:tcPr marL="0" marR="0" marT="3746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object 4"/>
          <p:cNvSpPr txBox="1"/>
          <p:nvPr/>
        </p:nvSpPr>
        <p:spPr>
          <a:xfrm>
            <a:off x="597893" y="3099700"/>
            <a:ext cx="4292600" cy="11309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626745">
              <a:lnSpc>
                <a:spcPct val="146500"/>
              </a:lnSpc>
              <a:spcBef>
                <a:spcPts val="100"/>
              </a:spcBef>
              <a:tabLst>
                <a:tab pos="3526154" algn="l"/>
              </a:tabLst>
            </a:pPr>
            <a:r>
              <a:rPr sz="1650" spc="-10" dirty="0">
                <a:solidFill>
                  <a:srgbClr val="04182D"/>
                </a:solidFill>
                <a:latin typeface="Monaco"/>
                <a:cs typeface="Monaco"/>
              </a:rPr>
              <a:t>sklearn.cluster</a:t>
            </a:r>
            <a:r>
              <a:rPr sz="16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1650" spc="-10" dirty="0">
                <a:solidFill>
                  <a:srgbClr val="04182D"/>
                </a:solidFill>
                <a:latin typeface="Monaco"/>
                <a:cs typeface="Monaco"/>
              </a:rPr>
              <a:t>KMeans </a:t>
            </a:r>
            <a:r>
              <a:rPr sz="1650" dirty="0">
                <a:solidFill>
                  <a:srgbClr val="04182D"/>
                </a:solidFill>
                <a:latin typeface="Monaco"/>
                <a:cs typeface="Monaco"/>
              </a:rPr>
              <a:t>model</a:t>
            </a:r>
            <a:r>
              <a:rPr sz="1650" spc="-2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6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650" spc="-10" dirty="0">
                <a:solidFill>
                  <a:srgbClr val="04182D"/>
                </a:solidFill>
                <a:latin typeface="Monaco"/>
                <a:cs typeface="Monaco"/>
              </a:rPr>
              <a:t>KMeans(n_clusters=</a:t>
            </a:r>
            <a:r>
              <a:rPr sz="1650" spc="-10" dirty="0">
                <a:solidFill>
                  <a:srgbClr val="BE2F72"/>
                </a:solidFill>
                <a:latin typeface="Monaco"/>
                <a:cs typeface="Monaco"/>
              </a:rPr>
              <a:t>3</a:t>
            </a:r>
            <a:r>
              <a:rPr sz="1650" spc="-10" dirty="0">
                <a:solidFill>
                  <a:srgbClr val="04182D"/>
                </a:solidFill>
                <a:latin typeface="Monaco"/>
                <a:cs typeface="Monaco"/>
              </a:rPr>
              <a:t>) model.fit(samples)</a:t>
            </a:r>
            <a:endParaRPr sz="1650">
              <a:latin typeface="Monaco"/>
              <a:cs typeface="Monaco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97893" y="4813809"/>
            <a:ext cx="253619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spc="-10" dirty="0">
                <a:solidFill>
                  <a:srgbClr val="FFFFFF"/>
                </a:solidFill>
                <a:latin typeface="Monaco"/>
                <a:cs typeface="Monaco"/>
              </a:rPr>
              <a:t>KMeans(n_clusters=3)</a:t>
            </a:r>
            <a:endParaRPr sz="16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97893" y="5535677"/>
            <a:ext cx="3916679" cy="7626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46500"/>
              </a:lnSpc>
              <a:spcBef>
                <a:spcPts val="100"/>
              </a:spcBef>
            </a:pPr>
            <a:r>
              <a:rPr sz="1650" dirty="0">
                <a:solidFill>
                  <a:srgbClr val="04182D"/>
                </a:solidFill>
                <a:latin typeface="Monaco"/>
                <a:cs typeface="Monaco"/>
              </a:rPr>
              <a:t>labels</a:t>
            </a:r>
            <a:r>
              <a:rPr sz="1650" spc="-2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16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650" spc="-10" dirty="0">
                <a:solidFill>
                  <a:srgbClr val="04182D"/>
                </a:solidFill>
                <a:latin typeface="Monaco"/>
                <a:cs typeface="Monaco"/>
              </a:rPr>
              <a:t>model.predict(samples) </a:t>
            </a:r>
            <a:r>
              <a:rPr sz="16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650" spc="-10" dirty="0">
                <a:solidFill>
                  <a:srgbClr val="04182D"/>
                </a:solidFill>
                <a:latin typeface="Monaco"/>
                <a:cs typeface="Monaco"/>
              </a:rPr>
              <a:t>(labels)</a:t>
            </a:r>
            <a:endParaRPr sz="16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97893" y="6881318"/>
            <a:ext cx="3163570" cy="2768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[0</a:t>
            </a:r>
            <a:r>
              <a:rPr sz="1650" spc="-1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16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650" spc="-20" dirty="0">
                <a:solidFill>
                  <a:srgbClr val="FFFFFF"/>
                </a:solidFill>
                <a:latin typeface="Monaco"/>
                <a:cs typeface="Monaco"/>
              </a:rPr>
              <a:t>...]</a:t>
            </a:r>
            <a:endParaRPr sz="1650">
              <a:latin typeface="Monaco"/>
              <a:cs typeface="Monaco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311CAE7-7BE8-3443-AD8D-61B4DBBEF6E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Cluster</a:t>
            </a:r>
            <a:r>
              <a:rPr spc="-215" dirty="0"/>
              <a:t> </a:t>
            </a:r>
            <a:r>
              <a:rPr spc="-95" dirty="0"/>
              <a:t>labels</a:t>
            </a:r>
            <a:r>
              <a:rPr spc="-215" dirty="0"/>
              <a:t> </a:t>
            </a:r>
            <a:r>
              <a:rPr dirty="0"/>
              <a:t>for</a:t>
            </a:r>
            <a:r>
              <a:rPr spc="-225" dirty="0"/>
              <a:t> </a:t>
            </a:r>
            <a:r>
              <a:rPr dirty="0"/>
              <a:t>new</a:t>
            </a:r>
            <a:r>
              <a:rPr spc="-215" dirty="0"/>
              <a:t> </a:t>
            </a:r>
            <a:r>
              <a:rPr spc="-85" dirty="0"/>
              <a:t>samples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9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76"/>
            <a:ext cx="7804150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New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assigned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existing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k-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means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remembers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mean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cluster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(the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"centroids")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Finds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nearest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centroid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new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sample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2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34"/>
            <a:ext cx="102352" cy="102351"/>
          </a:xfrm>
          <a:prstGeom prst="rect">
            <a:avLst/>
          </a:prstGeom>
        </p:spPr>
      </p:pic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1AF6E1E0-02C6-A54C-1E6F-46323DFD247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Cluster</a:t>
            </a:r>
            <a:r>
              <a:rPr spc="-215" dirty="0"/>
              <a:t> </a:t>
            </a:r>
            <a:r>
              <a:rPr spc="-95" dirty="0"/>
              <a:t>labels</a:t>
            </a:r>
            <a:r>
              <a:rPr spc="-215" dirty="0"/>
              <a:t> </a:t>
            </a:r>
            <a:r>
              <a:rPr dirty="0"/>
              <a:t>for</a:t>
            </a:r>
            <a:r>
              <a:rPr spc="-225" dirty="0"/>
              <a:t> </a:t>
            </a:r>
            <a:r>
              <a:rPr dirty="0"/>
              <a:t>new</a:t>
            </a:r>
            <a:r>
              <a:rPr spc="-215" dirty="0"/>
              <a:t> </a:t>
            </a:r>
            <a:r>
              <a:rPr spc="-85" dirty="0"/>
              <a:t>samples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6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42310"/>
                </a:lnTo>
                <a:lnTo>
                  <a:pt x="9870412" y="786895"/>
                </a:lnTo>
                <a:lnTo>
                  <a:pt x="9831684" y="814639"/>
                </a:lnTo>
                <a:lnTo>
                  <a:pt x="9816018" y="818291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6"/>
            <a:ext cx="9887585" cy="1801495"/>
          </a:xfrm>
          <a:custGeom>
            <a:avLst/>
            <a:gdLst/>
            <a:ahLst/>
            <a:cxnLst/>
            <a:rect l="l" t="t" r="r" b="b"/>
            <a:pathLst>
              <a:path w="9887585" h="1801495">
                <a:moveTo>
                  <a:pt x="9810694" y="1801393"/>
                </a:moveTo>
                <a:lnTo>
                  <a:pt x="76505" y="1801393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79"/>
                </a:lnTo>
                <a:lnTo>
                  <a:pt x="0" y="1724888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724888"/>
                </a:lnTo>
                <a:lnTo>
                  <a:pt x="9870412" y="1769473"/>
                </a:lnTo>
                <a:lnTo>
                  <a:pt x="9831684" y="1797218"/>
                </a:lnTo>
                <a:lnTo>
                  <a:pt x="9816018" y="1800869"/>
                </a:lnTo>
                <a:lnTo>
                  <a:pt x="9810694" y="180139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4278305"/>
            <a:ext cx="9887585" cy="1310640"/>
          </a:xfrm>
          <a:custGeom>
            <a:avLst/>
            <a:gdLst/>
            <a:ahLst/>
            <a:cxnLst/>
            <a:rect l="l" t="t" r="r" b="b"/>
            <a:pathLst>
              <a:path w="9887585" h="1310639">
                <a:moveTo>
                  <a:pt x="9810694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233599"/>
                </a:lnTo>
                <a:lnTo>
                  <a:pt x="9870412" y="1278184"/>
                </a:lnTo>
                <a:lnTo>
                  <a:pt x="9831684" y="1305928"/>
                </a:lnTo>
                <a:lnTo>
                  <a:pt x="9816018" y="1309580"/>
                </a:lnTo>
                <a:lnTo>
                  <a:pt x="9810694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5834055"/>
            <a:ext cx="9887585" cy="819150"/>
          </a:xfrm>
          <a:custGeom>
            <a:avLst/>
            <a:gdLst/>
            <a:ahLst/>
            <a:cxnLst/>
            <a:rect l="l" t="t" r="r" b="b"/>
            <a:pathLst>
              <a:path w="9887585" h="819150">
                <a:moveTo>
                  <a:pt x="9810694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4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742310"/>
                </a:lnTo>
                <a:lnTo>
                  <a:pt x="9870412" y="786894"/>
                </a:lnTo>
                <a:lnTo>
                  <a:pt x="9831684" y="814639"/>
                </a:lnTo>
                <a:lnTo>
                  <a:pt x="9816018" y="818290"/>
                </a:lnTo>
                <a:lnTo>
                  <a:pt x="9810694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379281"/>
            <a:ext cx="31210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print(new_samples)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23302" y="2465038"/>
          <a:ext cx="4018913" cy="1336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616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63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[[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4.4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0.4]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6.5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3.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1.8]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[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1.9]]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42352" y="4343393"/>
            <a:ext cx="6731634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new_labels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model.predict(new_samples) print(new_labels)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352" y="6046530"/>
            <a:ext cx="122936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[0 2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FADE5A6-0CD4-F25A-6741-8C00DD9B46E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367404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Scatter</a:t>
            </a:r>
            <a:r>
              <a:rPr spc="-254" dirty="0"/>
              <a:t> </a:t>
            </a:r>
            <a:r>
              <a:rPr spc="-120" dirty="0"/>
              <a:t>plots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643729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4790072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087980" y="4646779"/>
            <a:ext cx="2988945" cy="429895"/>
          </a:xfrm>
          <a:custGeom>
            <a:avLst/>
            <a:gdLst/>
            <a:ahLst/>
            <a:cxnLst/>
            <a:rect l="l" t="t" r="r" b="b"/>
            <a:pathLst>
              <a:path w="2988945" h="429895">
                <a:moveTo>
                  <a:pt x="2912171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2912171" y="0"/>
                </a:lnTo>
                <a:lnTo>
                  <a:pt x="2956756" y="16785"/>
                </a:lnTo>
                <a:lnTo>
                  <a:pt x="2984501" y="55513"/>
                </a:lnTo>
                <a:lnTo>
                  <a:pt x="2988676" y="76505"/>
                </a:lnTo>
                <a:lnTo>
                  <a:pt x="2988676" y="353372"/>
                </a:lnTo>
                <a:lnTo>
                  <a:pt x="2971890" y="397957"/>
                </a:lnTo>
                <a:lnTo>
                  <a:pt x="2933163" y="425702"/>
                </a:lnTo>
                <a:lnTo>
                  <a:pt x="2917496" y="429353"/>
                </a:lnTo>
                <a:lnTo>
                  <a:pt x="2912171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7056" y="1076324"/>
            <a:ext cx="4383405" cy="4447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89865">
              <a:lnSpc>
                <a:spcPct val="126400"/>
              </a:lnSpc>
              <a:spcBef>
                <a:spcPts val="9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Scatter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plot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sepal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length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vs.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petal</a:t>
            </a:r>
            <a:r>
              <a:rPr sz="2550" spc="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length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point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represents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an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iris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sample</a:t>
            </a:r>
            <a:endParaRPr sz="2550">
              <a:latin typeface="Arial"/>
              <a:cs typeface="Arial"/>
            </a:endParaRPr>
          </a:p>
          <a:p>
            <a:pPr marL="12700" marR="901065">
              <a:lnSpc>
                <a:spcPct val="126400"/>
              </a:lnSpc>
              <a:spcBef>
                <a:spcPts val="1290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Color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points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80" dirty="0">
                <a:solidFill>
                  <a:srgbClr val="04182D"/>
                </a:solidFill>
                <a:latin typeface="Arial"/>
                <a:cs typeface="Arial"/>
              </a:rPr>
              <a:t>by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cluster labels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PyPlot</a:t>
            </a:r>
            <a:r>
              <a:rPr sz="2550" spc="1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(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matplotlib.pyplot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)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608887" y="1166812"/>
            <a:ext cx="4769601" cy="3336673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9518F513-737E-2FAC-27FE-7F3A2A24921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3367404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Scatter</a:t>
            </a:r>
            <a:r>
              <a:rPr spc="-254" dirty="0"/>
              <a:t> </a:t>
            </a:r>
            <a:r>
              <a:rPr spc="-120" dirty="0"/>
              <a:t>plots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9887585" cy="2784475"/>
            <a:chOff x="491289" y="1166812"/>
            <a:chExt cx="9887585" cy="278447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9887585" cy="2784475"/>
            </a:xfrm>
            <a:custGeom>
              <a:avLst/>
              <a:gdLst/>
              <a:ahLst/>
              <a:cxnLst/>
              <a:rect l="l" t="t" r="r" b="b"/>
              <a:pathLst>
                <a:path w="9887585" h="2784475">
                  <a:moveTo>
                    <a:pt x="9810694" y="2783973"/>
                  </a:moveTo>
                  <a:lnTo>
                    <a:pt x="76505" y="2783973"/>
                  </a:lnTo>
                  <a:lnTo>
                    <a:pt x="71180" y="2783448"/>
                  </a:lnTo>
                  <a:lnTo>
                    <a:pt x="31920" y="2767186"/>
                  </a:lnTo>
                  <a:lnTo>
                    <a:pt x="4175" y="2728459"/>
                  </a:lnTo>
                  <a:lnTo>
                    <a:pt x="0" y="2707467"/>
                  </a:lnTo>
                  <a:lnTo>
                    <a:pt x="0" y="270209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2707467"/>
                  </a:lnTo>
                  <a:lnTo>
                    <a:pt x="9870412" y="2752052"/>
                  </a:lnTo>
                  <a:lnTo>
                    <a:pt x="9831684" y="2779797"/>
                  </a:lnTo>
                  <a:lnTo>
                    <a:pt x="9816018" y="2783448"/>
                  </a:lnTo>
                  <a:lnTo>
                    <a:pt x="9810694" y="2783973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7989" y="1447482"/>
              <a:ext cx="4606925" cy="283210"/>
            </a:xfrm>
            <a:custGeom>
              <a:avLst/>
              <a:gdLst/>
              <a:ahLst/>
              <a:cxnLst/>
              <a:rect l="l" t="t" r="r" b="b"/>
              <a:pathLst>
                <a:path w="4606925" h="283210">
                  <a:moveTo>
                    <a:pt x="99288" y="16510"/>
                  </a:moveTo>
                  <a:lnTo>
                    <a:pt x="96977" y="10909"/>
                  </a:lnTo>
                  <a:lnTo>
                    <a:pt x="87744" y="2184"/>
                  </a:lnTo>
                  <a:lnTo>
                    <a:pt x="81864" y="0"/>
                  </a:lnTo>
                  <a:lnTo>
                    <a:pt x="61861" y="0"/>
                  </a:lnTo>
                  <a:lnTo>
                    <a:pt x="55981" y="2184"/>
                  </a:lnTo>
                  <a:lnTo>
                    <a:pt x="46748" y="10909"/>
                  </a:lnTo>
                  <a:lnTo>
                    <a:pt x="44437" y="16510"/>
                  </a:lnTo>
                  <a:lnTo>
                    <a:pt x="44437" y="30264"/>
                  </a:lnTo>
                  <a:lnTo>
                    <a:pt x="46697" y="35814"/>
                  </a:lnTo>
                  <a:lnTo>
                    <a:pt x="51219" y="40017"/>
                  </a:lnTo>
                  <a:lnTo>
                    <a:pt x="55791" y="44170"/>
                  </a:lnTo>
                  <a:lnTo>
                    <a:pt x="61722" y="46240"/>
                  </a:lnTo>
                  <a:lnTo>
                    <a:pt x="81775" y="46240"/>
                  </a:lnTo>
                  <a:lnTo>
                    <a:pt x="87630" y="44170"/>
                  </a:lnTo>
                  <a:lnTo>
                    <a:pt x="96977" y="35814"/>
                  </a:lnTo>
                  <a:lnTo>
                    <a:pt x="99288" y="30264"/>
                  </a:lnTo>
                  <a:lnTo>
                    <a:pt x="99288" y="16510"/>
                  </a:lnTo>
                  <a:close/>
                </a:path>
                <a:path w="4606925" h="283210">
                  <a:moveTo>
                    <a:pt x="146583" y="195694"/>
                  </a:moveTo>
                  <a:lnTo>
                    <a:pt x="93548" y="195694"/>
                  </a:lnTo>
                  <a:lnTo>
                    <a:pt x="93548" y="61569"/>
                  </a:lnTo>
                  <a:lnTo>
                    <a:pt x="7137" y="61569"/>
                  </a:lnTo>
                  <a:lnTo>
                    <a:pt x="7137" y="96964"/>
                  </a:lnTo>
                  <a:lnTo>
                    <a:pt x="55841" y="96964"/>
                  </a:lnTo>
                  <a:lnTo>
                    <a:pt x="55841" y="195694"/>
                  </a:lnTo>
                  <a:lnTo>
                    <a:pt x="0" y="195694"/>
                  </a:lnTo>
                  <a:lnTo>
                    <a:pt x="0" y="231101"/>
                  </a:lnTo>
                  <a:lnTo>
                    <a:pt x="146583" y="231101"/>
                  </a:lnTo>
                  <a:lnTo>
                    <a:pt x="146583" y="195694"/>
                  </a:lnTo>
                  <a:close/>
                </a:path>
                <a:path w="4606925" h="283210">
                  <a:moveTo>
                    <a:pt x="313918" y="105359"/>
                  </a:moveTo>
                  <a:lnTo>
                    <a:pt x="313309" y="95554"/>
                  </a:lnTo>
                  <a:lnTo>
                    <a:pt x="312242" y="90385"/>
                  </a:lnTo>
                  <a:lnTo>
                    <a:pt x="311467" y="86677"/>
                  </a:lnTo>
                  <a:lnTo>
                    <a:pt x="310819" y="85001"/>
                  </a:lnTo>
                  <a:lnTo>
                    <a:pt x="310743" y="84797"/>
                  </a:lnTo>
                  <a:lnTo>
                    <a:pt x="276771" y="58699"/>
                  </a:lnTo>
                  <a:lnTo>
                    <a:pt x="268414" y="58699"/>
                  </a:lnTo>
                  <a:lnTo>
                    <a:pt x="261734" y="61010"/>
                  </a:lnTo>
                  <a:lnTo>
                    <a:pt x="260883" y="61569"/>
                  </a:lnTo>
                  <a:lnTo>
                    <a:pt x="250063" y="70827"/>
                  </a:lnTo>
                  <a:lnTo>
                    <a:pt x="249758" y="71767"/>
                  </a:lnTo>
                  <a:lnTo>
                    <a:pt x="249199" y="70192"/>
                  </a:lnTo>
                  <a:lnTo>
                    <a:pt x="248323" y="69469"/>
                  </a:lnTo>
                  <a:lnTo>
                    <a:pt x="248323" y="78765"/>
                  </a:lnTo>
                  <a:lnTo>
                    <a:pt x="248069" y="77025"/>
                  </a:lnTo>
                  <a:lnTo>
                    <a:pt x="248183" y="76657"/>
                  </a:lnTo>
                  <a:lnTo>
                    <a:pt x="248208" y="77025"/>
                  </a:lnTo>
                  <a:lnTo>
                    <a:pt x="248323" y="78765"/>
                  </a:lnTo>
                  <a:lnTo>
                    <a:pt x="248323" y="69469"/>
                  </a:lnTo>
                  <a:lnTo>
                    <a:pt x="243738" y="65620"/>
                  </a:lnTo>
                  <a:lnTo>
                    <a:pt x="238328" y="61010"/>
                  </a:lnTo>
                  <a:lnTo>
                    <a:pt x="231660" y="58699"/>
                  </a:lnTo>
                  <a:lnTo>
                    <a:pt x="215379" y="58699"/>
                  </a:lnTo>
                  <a:lnTo>
                    <a:pt x="208813" y="61010"/>
                  </a:lnTo>
                  <a:lnTo>
                    <a:pt x="208572" y="61010"/>
                  </a:lnTo>
                  <a:lnTo>
                    <a:pt x="201422" y="67233"/>
                  </a:lnTo>
                  <a:lnTo>
                    <a:pt x="202463" y="61569"/>
                  </a:lnTo>
                  <a:lnTo>
                    <a:pt x="195427" y="61569"/>
                  </a:lnTo>
                  <a:lnTo>
                    <a:pt x="195427" y="78765"/>
                  </a:lnTo>
                  <a:lnTo>
                    <a:pt x="195110" y="77025"/>
                  </a:lnTo>
                  <a:lnTo>
                    <a:pt x="195237" y="76657"/>
                  </a:lnTo>
                  <a:lnTo>
                    <a:pt x="195275" y="77025"/>
                  </a:lnTo>
                  <a:lnTo>
                    <a:pt x="195427" y="78765"/>
                  </a:lnTo>
                  <a:lnTo>
                    <a:pt x="195427" y="61569"/>
                  </a:lnTo>
                  <a:lnTo>
                    <a:pt x="167894" y="61569"/>
                  </a:lnTo>
                  <a:lnTo>
                    <a:pt x="167894" y="231101"/>
                  </a:lnTo>
                  <a:lnTo>
                    <a:pt x="203581" y="231101"/>
                  </a:lnTo>
                  <a:lnTo>
                    <a:pt x="203581" y="99631"/>
                  </a:lnTo>
                  <a:lnTo>
                    <a:pt x="204444" y="95948"/>
                  </a:lnTo>
                  <a:lnTo>
                    <a:pt x="207937" y="91516"/>
                  </a:lnTo>
                  <a:lnTo>
                    <a:pt x="210464" y="90385"/>
                  </a:lnTo>
                  <a:lnTo>
                    <a:pt x="217182" y="90385"/>
                  </a:lnTo>
                  <a:lnTo>
                    <a:pt x="219697" y="91516"/>
                  </a:lnTo>
                  <a:lnTo>
                    <a:pt x="223405" y="95948"/>
                  </a:lnTo>
                  <a:lnTo>
                    <a:pt x="224548" y="99631"/>
                  </a:lnTo>
                  <a:lnTo>
                    <a:pt x="224637" y="231101"/>
                  </a:lnTo>
                  <a:lnTo>
                    <a:pt x="257175" y="231101"/>
                  </a:lnTo>
                  <a:lnTo>
                    <a:pt x="257200" y="99631"/>
                  </a:lnTo>
                  <a:lnTo>
                    <a:pt x="258229" y="95948"/>
                  </a:lnTo>
                  <a:lnTo>
                    <a:pt x="262013" y="91516"/>
                  </a:lnTo>
                  <a:lnTo>
                    <a:pt x="264566" y="90385"/>
                  </a:lnTo>
                  <a:lnTo>
                    <a:pt x="271284" y="90385"/>
                  </a:lnTo>
                  <a:lnTo>
                    <a:pt x="273748" y="91516"/>
                  </a:lnTo>
                  <a:lnTo>
                    <a:pt x="277139" y="95948"/>
                  </a:lnTo>
                  <a:lnTo>
                    <a:pt x="278155" y="99631"/>
                  </a:lnTo>
                  <a:lnTo>
                    <a:pt x="278231" y="231101"/>
                  </a:lnTo>
                  <a:lnTo>
                    <a:pt x="313918" y="231101"/>
                  </a:lnTo>
                  <a:lnTo>
                    <a:pt x="313918" y="105359"/>
                  </a:lnTo>
                  <a:close/>
                </a:path>
                <a:path w="4606925" h="283210">
                  <a:moveTo>
                    <a:pt x="479577" y="123139"/>
                  </a:moveTo>
                  <a:lnTo>
                    <a:pt x="478612" y="109270"/>
                  </a:lnTo>
                  <a:lnTo>
                    <a:pt x="475729" y="96850"/>
                  </a:lnTo>
                  <a:lnTo>
                    <a:pt x="474027" y="92976"/>
                  </a:lnTo>
                  <a:lnTo>
                    <a:pt x="470916" y="85864"/>
                  </a:lnTo>
                  <a:lnTo>
                    <a:pt x="464185" y="76327"/>
                  </a:lnTo>
                  <a:lnTo>
                    <a:pt x="455815" y="68618"/>
                  </a:lnTo>
                  <a:lnTo>
                    <a:pt x="446062" y="63106"/>
                  </a:lnTo>
                  <a:lnTo>
                    <a:pt x="441934" y="61887"/>
                  </a:lnTo>
                  <a:lnTo>
                    <a:pt x="441934" y="114134"/>
                  </a:lnTo>
                  <a:lnTo>
                    <a:pt x="441934" y="178523"/>
                  </a:lnTo>
                  <a:lnTo>
                    <a:pt x="439534" y="186499"/>
                  </a:lnTo>
                  <a:lnTo>
                    <a:pt x="430009" y="196951"/>
                  </a:lnTo>
                  <a:lnTo>
                    <a:pt x="422922" y="199682"/>
                  </a:lnTo>
                  <a:lnTo>
                    <a:pt x="404774" y="199682"/>
                  </a:lnTo>
                  <a:lnTo>
                    <a:pt x="385114" y="178523"/>
                  </a:lnTo>
                  <a:lnTo>
                    <a:pt x="385114" y="114134"/>
                  </a:lnTo>
                  <a:lnTo>
                    <a:pt x="387515" y="106692"/>
                  </a:lnTo>
                  <a:lnTo>
                    <a:pt x="396392" y="97180"/>
                  </a:lnTo>
                  <a:lnTo>
                    <a:pt x="396697" y="96850"/>
                  </a:lnTo>
                  <a:lnTo>
                    <a:pt x="398030" y="95618"/>
                  </a:lnTo>
                  <a:lnTo>
                    <a:pt x="404774" y="92976"/>
                  </a:lnTo>
                  <a:lnTo>
                    <a:pt x="422922" y="92976"/>
                  </a:lnTo>
                  <a:lnTo>
                    <a:pt x="429920" y="95618"/>
                  </a:lnTo>
                  <a:lnTo>
                    <a:pt x="439534" y="106159"/>
                  </a:lnTo>
                  <a:lnTo>
                    <a:pt x="441934" y="114134"/>
                  </a:lnTo>
                  <a:lnTo>
                    <a:pt x="441934" y="61887"/>
                  </a:lnTo>
                  <a:lnTo>
                    <a:pt x="434898" y="59804"/>
                  </a:lnTo>
                  <a:lnTo>
                    <a:pt x="422338" y="58699"/>
                  </a:lnTo>
                  <a:lnTo>
                    <a:pt x="412864" y="59334"/>
                  </a:lnTo>
                  <a:lnTo>
                    <a:pt x="382752" y="75780"/>
                  </a:lnTo>
                  <a:lnTo>
                    <a:pt x="384975" y="61569"/>
                  </a:lnTo>
                  <a:lnTo>
                    <a:pt x="378472" y="61569"/>
                  </a:lnTo>
                  <a:lnTo>
                    <a:pt x="378472" y="195973"/>
                  </a:lnTo>
                  <a:lnTo>
                    <a:pt x="378434" y="196951"/>
                  </a:lnTo>
                  <a:lnTo>
                    <a:pt x="378320" y="199682"/>
                  </a:lnTo>
                  <a:lnTo>
                    <a:pt x="378117" y="204343"/>
                  </a:lnTo>
                  <a:lnTo>
                    <a:pt x="378472" y="195973"/>
                  </a:lnTo>
                  <a:lnTo>
                    <a:pt x="378472" y="61569"/>
                  </a:lnTo>
                  <a:lnTo>
                    <a:pt x="347332" y="61569"/>
                  </a:lnTo>
                  <a:lnTo>
                    <a:pt x="347332" y="282663"/>
                  </a:lnTo>
                  <a:lnTo>
                    <a:pt x="384975" y="282663"/>
                  </a:lnTo>
                  <a:lnTo>
                    <a:pt x="384771" y="229552"/>
                  </a:lnTo>
                  <a:lnTo>
                    <a:pt x="382752" y="216966"/>
                  </a:lnTo>
                  <a:lnTo>
                    <a:pt x="383425" y="218160"/>
                  </a:lnTo>
                  <a:lnTo>
                    <a:pt x="422338" y="233959"/>
                  </a:lnTo>
                  <a:lnTo>
                    <a:pt x="434898" y="232867"/>
                  </a:lnTo>
                  <a:lnTo>
                    <a:pt x="470916" y="206781"/>
                  </a:lnTo>
                  <a:lnTo>
                    <a:pt x="479577" y="169240"/>
                  </a:lnTo>
                  <a:lnTo>
                    <a:pt x="479577" y="123139"/>
                  </a:lnTo>
                  <a:close/>
                </a:path>
                <a:path w="4606925" h="283210">
                  <a:moveTo>
                    <a:pt x="651522" y="124536"/>
                  </a:moveTo>
                  <a:lnTo>
                    <a:pt x="641324" y="86131"/>
                  </a:lnTo>
                  <a:lnTo>
                    <a:pt x="613879" y="63957"/>
                  </a:lnTo>
                  <a:lnTo>
                    <a:pt x="613879" y="114363"/>
                  </a:lnTo>
                  <a:lnTo>
                    <a:pt x="613879" y="178295"/>
                  </a:lnTo>
                  <a:lnTo>
                    <a:pt x="611403" y="186131"/>
                  </a:lnTo>
                  <a:lnTo>
                    <a:pt x="601573" y="196532"/>
                  </a:lnTo>
                  <a:lnTo>
                    <a:pt x="594360" y="199123"/>
                  </a:lnTo>
                  <a:lnTo>
                    <a:pt x="575284" y="199123"/>
                  </a:lnTo>
                  <a:lnTo>
                    <a:pt x="568058" y="196532"/>
                  </a:lnTo>
                  <a:lnTo>
                    <a:pt x="558253" y="186131"/>
                  </a:lnTo>
                  <a:lnTo>
                    <a:pt x="555802" y="178295"/>
                  </a:lnTo>
                  <a:lnTo>
                    <a:pt x="555802" y="114363"/>
                  </a:lnTo>
                  <a:lnTo>
                    <a:pt x="558253" y="106553"/>
                  </a:lnTo>
                  <a:lnTo>
                    <a:pt x="568058" y="96151"/>
                  </a:lnTo>
                  <a:lnTo>
                    <a:pt x="575284" y="93535"/>
                  </a:lnTo>
                  <a:lnTo>
                    <a:pt x="594360" y="93535"/>
                  </a:lnTo>
                  <a:lnTo>
                    <a:pt x="601573" y="96151"/>
                  </a:lnTo>
                  <a:lnTo>
                    <a:pt x="606463" y="101371"/>
                  </a:lnTo>
                  <a:lnTo>
                    <a:pt x="611403" y="106553"/>
                  </a:lnTo>
                  <a:lnTo>
                    <a:pt x="613879" y="63957"/>
                  </a:lnTo>
                  <a:lnTo>
                    <a:pt x="584847" y="58699"/>
                  </a:lnTo>
                  <a:lnTo>
                    <a:pt x="570331" y="59804"/>
                  </a:lnTo>
                  <a:lnTo>
                    <a:pt x="528269" y="86131"/>
                  </a:lnTo>
                  <a:lnTo>
                    <a:pt x="518121" y="124536"/>
                  </a:lnTo>
                  <a:lnTo>
                    <a:pt x="518096" y="167843"/>
                  </a:lnTo>
                  <a:lnTo>
                    <a:pt x="519226" y="182333"/>
                  </a:lnTo>
                  <a:lnTo>
                    <a:pt x="545985" y="223964"/>
                  </a:lnTo>
                  <a:lnTo>
                    <a:pt x="584847" y="233959"/>
                  </a:lnTo>
                  <a:lnTo>
                    <a:pt x="599325" y="232854"/>
                  </a:lnTo>
                  <a:lnTo>
                    <a:pt x="641324" y="206502"/>
                  </a:lnTo>
                  <a:lnTo>
                    <a:pt x="651522" y="167843"/>
                  </a:lnTo>
                  <a:lnTo>
                    <a:pt x="651522" y="124536"/>
                  </a:lnTo>
                  <a:close/>
                </a:path>
                <a:path w="4606925" h="283210">
                  <a:moveTo>
                    <a:pt x="829767" y="122580"/>
                  </a:moveTo>
                  <a:lnTo>
                    <a:pt x="828738" y="108788"/>
                  </a:lnTo>
                  <a:lnTo>
                    <a:pt x="825665" y="96443"/>
                  </a:lnTo>
                  <a:lnTo>
                    <a:pt x="823760" y="92417"/>
                  </a:lnTo>
                  <a:lnTo>
                    <a:pt x="820521" y="85559"/>
                  </a:lnTo>
                  <a:lnTo>
                    <a:pt x="782447" y="59791"/>
                  </a:lnTo>
                  <a:lnTo>
                    <a:pt x="769391" y="58699"/>
                  </a:lnTo>
                  <a:lnTo>
                    <a:pt x="752386" y="61010"/>
                  </a:lnTo>
                  <a:lnTo>
                    <a:pt x="739787" y="67932"/>
                  </a:lnTo>
                  <a:lnTo>
                    <a:pt x="731608" y="79476"/>
                  </a:lnTo>
                  <a:lnTo>
                    <a:pt x="727824" y="95643"/>
                  </a:lnTo>
                  <a:lnTo>
                    <a:pt x="727913" y="95148"/>
                  </a:lnTo>
                  <a:lnTo>
                    <a:pt x="733780" y="61569"/>
                  </a:lnTo>
                  <a:lnTo>
                    <a:pt x="696696" y="61569"/>
                  </a:lnTo>
                  <a:lnTo>
                    <a:pt x="696696" y="231101"/>
                  </a:lnTo>
                  <a:lnTo>
                    <a:pt x="734339" y="231101"/>
                  </a:lnTo>
                  <a:lnTo>
                    <a:pt x="734390" y="114134"/>
                  </a:lnTo>
                  <a:lnTo>
                    <a:pt x="736879" y="106299"/>
                  </a:lnTo>
                  <a:lnTo>
                    <a:pt x="746683" y="95643"/>
                  </a:lnTo>
                  <a:lnTo>
                    <a:pt x="747217" y="95148"/>
                  </a:lnTo>
                  <a:lnTo>
                    <a:pt x="754227" y="92417"/>
                  </a:lnTo>
                  <a:lnTo>
                    <a:pt x="772706" y="92417"/>
                  </a:lnTo>
                  <a:lnTo>
                    <a:pt x="779818" y="95148"/>
                  </a:lnTo>
                  <a:lnTo>
                    <a:pt x="789660" y="106070"/>
                  </a:lnTo>
                  <a:lnTo>
                    <a:pt x="789724" y="106299"/>
                  </a:lnTo>
                  <a:lnTo>
                    <a:pt x="792124" y="114134"/>
                  </a:lnTo>
                  <a:lnTo>
                    <a:pt x="792124" y="137972"/>
                  </a:lnTo>
                  <a:lnTo>
                    <a:pt x="829767" y="137972"/>
                  </a:lnTo>
                  <a:lnTo>
                    <a:pt x="829767" y="122580"/>
                  </a:lnTo>
                  <a:close/>
                </a:path>
                <a:path w="4606925" h="283210">
                  <a:moveTo>
                    <a:pt x="997737" y="61569"/>
                  </a:moveTo>
                  <a:lnTo>
                    <a:pt x="934694" y="61569"/>
                  </a:lnTo>
                  <a:lnTo>
                    <a:pt x="934694" y="18605"/>
                  </a:lnTo>
                  <a:lnTo>
                    <a:pt x="896975" y="18605"/>
                  </a:lnTo>
                  <a:lnTo>
                    <a:pt x="896975" y="61569"/>
                  </a:lnTo>
                  <a:lnTo>
                    <a:pt x="852551" y="61569"/>
                  </a:lnTo>
                  <a:lnTo>
                    <a:pt x="852551" y="96964"/>
                  </a:lnTo>
                  <a:lnTo>
                    <a:pt x="896975" y="96964"/>
                  </a:lnTo>
                  <a:lnTo>
                    <a:pt x="896975" y="183591"/>
                  </a:lnTo>
                  <a:lnTo>
                    <a:pt x="897801" y="194144"/>
                  </a:lnTo>
                  <a:lnTo>
                    <a:pt x="925614" y="227952"/>
                  </a:lnTo>
                  <a:lnTo>
                    <a:pt x="945959" y="231101"/>
                  </a:lnTo>
                  <a:lnTo>
                    <a:pt x="994867" y="231101"/>
                  </a:lnTo>
                  <a:lnTo>
                    <a:pt x="994867" y="195694"/>
                  </a:lnTo>
                  <a:lnTo>
                    <a:pt x="941755" y="195694"/>
                  </a:lnTo>
                  <a:lnTo>
                    <a:pt x="938822" y="194805"/>
                  </a:lnTo>
                  <a:lnTo>
                    <a:pt x="935507" y="191262"/>
                  </a:lnTo>
                  <a:lnTo>
                    <a:pt x="934694" y="188112"/>
                  </a:lnTo>
                  <a:lnTo>
                    <a:pt x="934694" y="96964"/>
                  </a:lnTo>
                  <a:lnTo>
                    <a:pt x="997737" y="96964"/>
                  </a:lnTo>
                  <a:lnTo>
                    <a:pt x="997737" y="61569"/>
                  </a:lnTo>
                  <a:close/>
                </a:path>
                <a:path w="4606925" h="283210">
                  <a:moveTo>
                    <a:pt x="4433570" y="158610"/>
                  </a:moveTo>
                  <a:lnTo>
                    <a:pt x="4433417" y="115023"/>
                  </a:lnTo>
                  <a:lnTo>
                    <a:pt x="4415663" y="74510"/>
                  </a:lnTo>
                  <a:lnTo>
                    <a:pt x="4381551" y="59817"/>
                  </a:lnTo>
                  <a:lnTo>
                    <a:pt x="4380166" y="59817"/>
                  </a:lnTo>
                  <a:lnTo>
                    <a:pt x="4368012" y="58978"/>
                  </a:lnTo>
                  <a:lnTo>
                    <a:pt x="4323232" y="72339"/>
                  </a:lnTo>
                  <a:lnTo>
                    <a:pt x="4301337" y="115023"/>
                  </a:lnTo>
                  <a:lnTo>
                    <a:pt x="4339120" y="115023"/>
                  </a:lnTo>
                  <a:lnTo>
                    <a:pt x="4340288" y="106768"/>
                  </a:lnTo>
                  <a:lnTo>
                    <a:pt x="4343273" y="101117"/>
                  </a:lnTo>
                  <a:lnTo>
                    <a:pt x="4352925" y="95059"/>
                  </a:lnTo>
                  <a:lnTo>
                    <a:pt x="4359478" y="93535"/>
                  </a:lnTo>
                  <a:lnTo>
                    <a:pt x="4376928" y="93535"/>
                  </a:lnTo>
                  <a:lnTo>
                    <a:pt x="4383900" y="95643"/>
                  </a:lnTo>
                  <a:lnTo>
                    <a:pt x="4388650" y="99834"/>
                  </a:lnTo>
                  <a:lnTo>
                    <a:pt x="4393463" y="103987"/>
                  </a:lnTo>
                  <a:lnTo>
                    <a:pt x="4395863" y="109931"/>
                  </a:lnTo>
                  <a:lnTo>
                    <a:pt x="4395863" y="126911"/>
                  </a:lnTo>
                  <a:lnTo>
                    <a:pt x="4395863" y="158610"/>
                  </a:lnTo>
                  <a:lnTo>
                    <a:pt x="4395863" y="182727"/>
                  </a:lnTo>
                  <a:lnTo>
                    <a:pt x="4392498" y="189115"/>
                  </a:lnTo>
                  <a:lnTo>
                    <a:pt x="4358856" y="201714"/>
                  </a:lnTo>
                  <a:lnTo>
                    <a:pt x="4350169" y="201714"/>
                  </a:lnTo>
                  <a:lnTo>
                    <a:pt x="4343501" y="199745"/>
                  </a:lnTo>
                  <a:lnTo>
                    <a:pt x="4334180" y="191909"/>
                  </a:lnTo>
                  <a:lnTo>
                    <a:pt x="4331843" y="186499"/>
                  </a:lnTo>
                  <a:lnTo>
                    <a:pt x="4331843" y="172885"/>
                  </a:lnTo>
                  <a:lnTo>
                    <a:pt x="4333735" y="167703"/>
                  </a:lnTo>
                  <a:lnTo>
                    <a:pt x="4341292" y="160426"/>
                  </a:lnTo>
                  <a:lnTo>
                    <a:pt x="4346676" y="158610"/>
                  </a:lnTo>
                  <a:lnTo>
                    <a:pt x="4395863" y="158610"/>
                  </a:lnTo>
                  <a:lnTo>
                    <a:pt x="4395863" y="126911"/>
                  </a:lnTo>
                  <a:lnTo>
                    <a:pt x="4353115" y="126911"/>
                  </a:lnTo>
                  <a:lnTo>
                    <a:pt x="4340326" y="127825"/>
                  </a:lnTo>
                  <a:lnTo>
                    <a:pt x="4303141" y="149415"/>
                  </a:lnTo>
                  <a:lnTo>
                    <a:pt x="4294136" y="181279"/>
                  </a:lnTo>
                  <a:lnTo>
                    <a:pt x="4295140" y="192760"/>
                  </a:lnTo>
                  <a:lnTo>
                    <a:pt x="4319041" y="225971"/>
                  </a:lnTo>
                  <a:lnTo>
                    <a:pt x="4352836" y="233959"/>
                  </a:lnTo>
                  <a:lnTo>
                    <a:pt x="4363618" y="233324"/>
                  </a:lnTo>
                  <a:lnTo>
                    <a:pt x="4398861" y="215988"/>
                  </a:lnTo>
                  <a:lnTo>
                    <a:pt x="4396498" y="231101"/>
                  </a:lnTo>
                  <a:lnTo>
                    <a:pt x="4433570" y="231101"/>
                  </a:lnTo>
                  <a:lnTo>
                    <a:pt x="4433570" y="195414"/>
                  </a:lnTo>
                  <a:lnTo>
                    <a:pt x="4433570" y="158610"/>
                  </a:lnTo>
                  <a:close/>
                </a:path>
                <a:path w="4606925" h="283210">
                  <a:moveTo>
                    <a:pt x="4606912" y="180505"/>
                  </a:moveTo>
                  <a:lnTo>
                    <a:pt x="4586236" y="139420"/>
                  </a:lnTo>
                  <a:lnTo>
                    <a:pt x="4531995" y="124955"/>
                  </a:lnTo>
                  <a:lnTo>
                    <a:pt x="4524718" y="123837"/>
                  </a:lnTo>
                  <a:lnTo>
                    <a:pt x="4519765" y="122174"/>
                  </a:lnTo>
                  <a:lnTo>
                    <a:pt x="4514545" y="117792"/>
                  </a:lnTo>
                  <a:lnTo>
                    <a:pt x="4513237" y="114439"/>
                  </a:lnTo>
                  <a:lnTo>
                    <a:pt x="4513288" y="109639"/>
                  </a:lnTo>
                  <a:lnTo>
                    <a:pt x="4514621" y="102755"/>
                  </a:lnTo>
                  <a:lnTo>
                    <a:pt x="4518774" y="97624"/>
                  </a:lnTo>
                  <a:lnTo>
                    <a:pt x="4525670" y="94564"/>
                  </a:lnTo>
                  <a:lnTo>
                    <a:pt x="4535348" y="93535"/>
                  </a:lnTo>
                  <a:lnTo>
                    <a:pt x="4552556" y="93535"/>
                  </a:lnTo>
                  <a:lnTo>
                    <a:pt x="4556899" y="94564"/>
                  </a:lnTo>
                  <a:lnTo>
                    <a:pt x="4557280" y="94564"/>
                  </a:lnTo>
                  <a:lnTo>
                    <a:pt x="4564685" y="99326"/>
                  </a:lnTo>
                  <a:lnTo>
                    <a:pt x="4567212" y="103797"/>
                  </a:lnTo>
                  <a:lnTo>
                    <a:pt x="4568647" y="110477"/>
                  </a:lnTo>
                  <a:lnTo>
                    <a:pt x="4606226" y="110477"/>
                  </a:lnTo>
                  <a:lnTo>
                    <a:pt x="4603381" y="97624"/>
                  </a:lnTo>
                  <a:lnTo>
                    <a:pt x="4601769" y="93535"/>
                  </a:lnTo>
                  <a:lnTo>
                    <a:pt x="4599102" y="86741"/>
                  </a:lnTo>
                  <a:lnTo>
                    <a:pt x="4568482" y="61722"/>
                  </a:lnTo>
                  <a:lnTo>
                    <a:pt x="4546257" y="58699"/>
                  </a:lnTo>
                  <a:lnTo>
                    <a:pt x="4535348" y="58699"/>
                  </a:lnTo>
                  <a:lnTo>
                    <a:pt x="4523181" y="59448"/>
                  </a:lnTo>
                  <a:lnTo>
                    <a:pt x="4522279" y="59448"/>
                  </a:lnTo>
                  <a:lnTo>
                    <a:pt x="4484344" y="79425"/>
                  </a:lnTo>
                  <a:lnTo>
                    <a:pt x="4475531" y="109639"/>
                  </a:lnTo>
                  <a:lnTo>
                    <a:pt x="4475594" y="110477"/>
                  </a:lnTo>
                  <a:lnTo>
                    <a:pt x="4476318" y="120167"/>
                  </a:lnTo>
                  <a:lnTo>
                    <a:pt x="4504194" y="154444"/>
                  </a:lnTo>
                  <a:lnTo>
                    <a:pt x="4547590" y="163995"/>
                  </a:lnTo>
                  <a:lnTo>
                    <a:pt x="4557077" y="166408"/>
                  </a:lnTo>
                  <a:lnTo>
                    <a:pt x="4563859" y="170192"/>
                  </a:lnTo>
                  <a:lnTo>
                    <a:pt x="4567923" y="175361"/>
                  </a:lnTo>
                  <a:lnTo>
                    <a:pt x="4569282" y="181914"/>
                  </a:lnTo>
                  <a:lnTo>
                    <a:pt x="4569282" y="187083"/>
                  </a:lnTo>
                  <a:lnTo>
                    <a:pt x="4567364" y="191262"/>
                  </a:lnTo>
                  <a:lnTo>
                    <a:pt x="4559770" y="197561"/>
                  </a:lnTo>
                  <a:lnTo>
                    <a:pt x="4553636" y="199123"/>
                  </a:lnTo>
                  <a:lnTo>
                    <a:pt x="4526064" y="199123"/>
                  </a:lnTo>
                  <a:lnTo>
                    <a:pt x="4508487" y="180505"/>
                  </a:lnTo>
                  <a:lnTo>
                    <a:pt x="4471047" y="180505"/>
                  </a:lnTo>
                  <a:lnTo>
                    <a:pt x="4490707" y="221373"/>
                  </a:lnTo>
                  <a:lnTo>
                    <a:pt x="4520235" y="233083"/>
                  </a:lnTo>
                  <a:lnTo>
                    <a:pt x="4519219" y="233083"/>
                  </a:lnTo>
                  <a:lnTo>
                    <a:pt x="4533112" y="233959"/>
                  </a:lnTo>
                  <a:lnTo>
                    <a:pt x="4545139" y="233959"/>
                  </a:lnTo>
                  <a:lnTo>
                    <a:pt x="4590897" y="219900"/>
                  </a:lnTo>
                  <a:lnTo>
                    <a:pt x="4604042" y="199123"/>
                  </a:lnTo>
                  <a:lnTo>
                    <a:pt x="4605921" y="192557"/>
                  </a:lnTo>
                  <a:lnTo>
                    <a:pt x="4606036" y="191262"/>
                  </a:lnTo>
                  <a:lnTo>
                    <a:pt x="4606823" y="181914"/>
                  </a:lnTo>
                  <a:lnTo>
                    <a:pt x="4606912" y="18050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5456604" y="1379286"/>
            <a:ext cx="54165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25" dirty="0">
                <a:solidFill>
                  <a:srgbClr val="04182D"/>
                </a:solidFill>
                <a:latin typeface="Monaco"/>
                <a:cs typeface="Monaco"/>
              </a:rPr>
              <a:t>plt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52" y="1231899"/>
            <a:ext cx="4152265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03325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matplotlib.pyplot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xs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samples[:,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0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ys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samples[:,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2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2705768"/>
            <a:ext cx="501205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plt.scatter(xs, ys,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c=labels) plt.show()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BC2C2F7-C14C-E622-2635-80275A0DBC8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994410" marR="925194" algn="ctr">
              <a:lnSpc>
                <a:spcPts val="6770"/>
              </a:lnSpc>
              <a:spcBef>
                <a:spcPts val="1130"/>
              </a:spcBef>
            </a:pPr>
            <a:r>
              <a:rPr spc="-175" dirty="0"/>
              <a:t>Evaluating</a:t>
            </a:r>
            <a:r>
              <a:rPr spc="-220" dirty="0"/>
              <a:t> </a:t>
            </a:r>
            <a:r>
              <a:rPr spc="305" dirty="0"/>
              <a:t>a </a:t>
            </a:r>
            <a:r>
              <a:rPr spc="-130" dirty="0"/>
              <a:t>clustering</a:t>
            </a:r>
          </a:p>
          <a:p>
            <a:pPr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0CE94BF-2116-FBC8-D18D-0246392AAB4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0" dirty="0"/>
              <a:t>Evaluating</a:t>
            </a:r>
            <a:r>
              <a:rPr spc="-130" dirty="0"/>
              <a:t> </a:t>
            </a:r>
            <a:r>
              <a:rPr spc="250" dirty="0"/>
              <a:t>a</a:t>
            </a:r>
            <a:r>
              <a:rPr spc="-125" dirty="0"/>
              <a:t> </a:t>
            </a:r>
            <a:r>
              <a:rPr spc="-100" dirty="0"/>
              <a:t>clustering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174582"/>
            <a:ext cx="8062595" cy="23837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Can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check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correspondence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iris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520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but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what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if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there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no</a:t>
            </a:r>
            <a:r>
              <a:rPr sz="2550" spc="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check</a:t>
            </a:r>
            <a:r>
              <a:rPr sz="2550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against?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Measure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quality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clustering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75"/>
              </a:spcBef>
            </a:pP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Informs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choice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how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many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look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D3BFB29D-2019-B6D0-97E7-EA775FE8C6B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91289" y="2476917"/>
            <a:ext cx="9887585" cy="2784475"/>
          </a:xfrm>
          <a:custGeom>
            <a:avLst/>
            <a:gdLst/>
            <a:ahLst/>
            <a:cxnLst/>
            <a:rect l="l" t="t" r="r" b="b"/>
            <a:pathLst>
              <a:path w="9887585" h="2784475">
                <a:moveTo>
                  <a:pt x="9810694" y="2783973"/>
                </a:moveTo>
                <a:lnTo>
                  <a:pt x="76505" y="2783973"/>
                </a:lnTo>
                <a:lnTo>
                  <a:pt x="71180" y="2783448"/>
                </a:lnTo>
                <a:lnTo>
                  <a:pt x="31920" y="2767186"/>
                </a:lnTo>
                <a:lnTo>
                  <a:pt x="4175" y="2728458"/>
                </a:lnTo>
                <a:lnTo>
                  <a:pt x="0" y="2707468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707468"/>
                </a:lnTo>
                <a:lnTo>
                  <a:pt x="9870412" y="2752052"/>
                </a:lnTo>
                <a:lnTo>
                  <a:pt x="9831684" y="2779797"/>
                </a:lnTo>
                <a:lnTo>
                  <a:pt x="9816018" y="2783448"/>
                </a:lnTo>
                <a:lnTo>
                  <a:pt x="9810694" y="278397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8159115" cy="234696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220" dirty="0"/>
              <a:t>Iris:</a:t>
            </a:r>
            <a:r>
              <a:rPr spc="-95" dirty="0"/>
              <a:t> </a:t>
            </a:r>
            <a:r>
              <a:rPr spc="-180" dirty="0"/>
              <a:t>clusters</a:t>
            </a:r>
            <a:r>
              <a:rPr spc="-90" dirty="0"/>
              <a:t> </a:t>
            </a:r>
            <a:r>
              <a:rPr spc="-270" dirty="0"/>
              <a:t>vs</a:t>
            </a:r>
            <a:r>
              <a:rPr spc="-95" dirty="0"/>
              <a:t> </a:t>
            </a:r>
            <a:r>
              <a:rPr spc="-10" dirty="0"/>
              <a:t>species</a:t>
            </a:r>
          </a:p>
          <a:p>
            <a:pPr marL="381000" marR="5080">
              <a:lnSpc>
                <a:spcPts val="5160"/>
              </a:lnSpc>
            </a:pPr>
            <a:r>
              <a:rPr sz="2550" b="0" spc="80" dirty="0">
                <a:latin typeface="Arial"/>
                <a:cs typeface="Arial"/>
              </a:rPr>
              <a:t>k-</a:t>
            </a:r>
            <a:r>
              <a:rPr sz="2550" b="0" spc="75" dirty="0">
                <a:latin typeface="Arial"/>
                <a:cs typeface="Arial"/>
              </a:rPr>
              <a:t>means</a:t>
            </a:r>
            <a:r>
              <a:rPr sz="2550" b="0" spc="65" dirty="0">
                <a:latin typeface="Arial"/>
                <a:cs typeface="Arial"/>
              </a:rPr>
              <a:t> </a:t>
            </a:r>
            <a:r>
              <a:rPr sz="2550" b="0" spc="105" dirty="0">
                <a:latin typeface="Arial"/>
                <a:cs typeface="Arial"/>
              </a:rPr>
              <a:t>found</a:t>
            </a:r>
            <a:r>
              <a:rPr sz="2550" b="0" spc="8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3</a:t>
            </a:r>
            <a:r>
              <a:rPr sz="2550" b="0" spc="85" dirty="0">
                <a:latin typeface="Arial"/>
                <a:cs typeface="Arial"/>
              </a:rPr>
              <a:t> </a:t>
            </a:r>
            <a:r>
              <a:rPr sz="2550" b="0" spc="45" dirty="0">
                <a:latin typeface="Arial"/>
                <a:cs typeface="Arial"/>
              </a:rPr>
              <a:t>clusters</a:t>
            </a:r>
            <a:r>
              <a:rPr sz="2550" b="0" spc="75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amongst</a:t>
            </a:r>
            <a:r>
              <a:rPr sz="2550" b="0" spc="80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80" dirty="0">
                <a:latin typeface="Arial"/>
                <a:cs typeface="Arial"/>
              </a:rPr>
              <a:t> </a:t>
            </a:r>
            <a:r>
              <a:rPr sz="2550" b="0" dirty="0">
                <a:latin typeface="Arial"/>
                <a:cs typeface="Arial"/>
              </a:rPr>
              <a:t>iris</a:t>
            </a:r>
            <a:r>
              <a:rPr sz="2550" b="0" spc="80" dirty="0">
                <a:latin typeface="Arial"/>
                <a:cs typeface="Arial"/>
              </a:rPr>
              <a:t> </a:t>
            </a:r>
            <a:r>
              <a:rPr sz="2550" b="0" spc="55" dirty="0">
                <a:latin typeface="Arial"/>
                <a:cs typeface="Arial"/>
              </a:rPr>
              <a:t>samples </a:t>
            </a:r>
            <a:r>
              <a:rPr sz="2550" b="0" spc="70" dirty="0">
                <a:latin typeface="Arial"/>
                <a:cs typeface="Arial"/>
              </a:rPr>
              <a:t>Do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45" dirty="0">
                <a:latin typeface="Arial"/>
                <a:cs typeface="Arial"/>
              </a:rPr>
              <a:t>clusters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85" dirty="0">
                <a:latin typeface="Arial"/>
                <a:cs typeface="Arial"/>
              </a:rPr>
              <a:t>correspond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40" dirty="0">
                <a:latin typeface="Arial"/>
                <a:cs typeface="Arial"/>
              </a:rPr>
              <a:t>to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20" dirty="0">
                <a:latin typeface="Arial"/>
                <a:cs typeface="Arial"/>
              </a:rPr>
              <a:t>the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-10" dirty="0">
                <a:latin typeface="Arial"/>
                <a:cs typeface="Arial"/>
              </a:rPr>
              <a:t>species?</a:t>
            </a:r>
            <a:endParaRPr sz="25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710689"/>
          <a:ext cx="6596379" cy="2319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species</a:t>
                      </a:r>
                      <a:endParaRPr sz="2250">
                        <a:latin typeface="Monaco"/>
                        <a:cs typeface="Monac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labels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setosa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versicolor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virginica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423130DB-D690-37D0-EC73-AEB1AE4071C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220" dirty="0"/>
              <a:t>Cross</a:t>
            </a:r>
            <a:r>
              <a:rPr spc="-105" dirty="0"/>
              <a:t> </a:t>
            </a:r>
            <a:r>
              <a:rPr spc="-30" dirty="0"/>
              <a:t>tabulation</a:t>
            </a:r>
            <a:r>
              <a:rPr spc="-285" dirty="0"/>
              <a:t> </a:t>
            </a:r>
            <a:r>
              <a:rPr spc="-10" dirty="0"/>
              <a:t>with</a:t>
            </a:r>
            <a:r>
              <a:rPr spc="-225" dirty="0"/>
              <a:t> </a:t>
            </a:r>
            <a:r>
              <a:rPr spc="-10" dirty="0"/>
              <a:t>pandas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3131958"/>
            <a:ext cx="9887585" cy="716915"/>
          </a:xfrm>
          <a:custGeom>
            <a:avLst/>
            <a:gdLst/>
            <a:ahLst/>
            <a:cxnLst/>
            <a:rect l="l" t="t" r="r" b="b"/>
            <a:pathLst>
              <a:path w="9887585" h="716914">
                <a:moveTo>
                  <a:pt x="9810694" y="716463"/>
                </a:moveTo>
                <a:lnTo>
                  <a:pt x="76505" y="716463"/>
                </a:lnTo>
                <a:lnTo>
                  <a:pt x="71180" y="715939"/>
                </a:lnTo>
                <a:lnTo>
                  <a:pt x="31920" y="699676"/>
                </a:lnTo>
                <a:lnTo>
                  <a:pt x="4175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639958"/>
                </a:lnTo>
                <a:lnTo>
                  <a:pt x="9870412" y="684543"/>
                </a:lnTo>
                <a:lnTo>
                  <a:pt x="9831684" y="712287"/>
                </a:lnTo>
                <a:lnTo>
                  <a:pt x="9816018" y="715939"/>
                </a:lnTo>
                <a:lnTo>
                  <a:pt x="9810694" y="7164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4094066"/>
            <a:ext cx="9887585" cy="696595"/>
          </a:xfrm>
          <a:custGeom>
            <a:avLst/>
            <a:gdLst/>
            <a:ahLst/>
            <a:cxnLst/>
            <a:rect l="l" t="t" r="r" b="b"/>
            <a:pathLst>
              <a:path w="9887585" h="696595">
                <a:moveTo>
                  <a:pt x="9810694" y="695992"/>
                </a:moveTo>
                <a:lnTo>
                  <a:pt x="76505" y="695992"/>
                </a:lnTo>
                <a:lnTo>
                  <a:pt x="71180" y="695468"/>
                </a:lnTo>
                <a:lnTo>
                  <a:pt x="31920" y="679206"/>
                </a:lnTo>
                <a:lnTo>
                  <a:pt x="4175" y="640478"/>
                </a:lnTo>
                <a:lnTo>
                  <a:pt x="0" y="619487"/>
                </a:lnTo>
                <a:lnTo>
                  <a:pt x="0" y="61411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619487"/>
                </a:lnTo>
                <a:lnTo>
                  <a:pt x="9870412" y="664072"/>
                </a:lnTo>
                <a:lnTo>
                  <a:pt x="9831684" y="691817"/>
                </a:lnTo>
                <a:lnTo>
                  <a:pt x="9816018" y="695468"/>
                </a:lnTo>
                <a:lnTo>
                  <a:pt x="9810694" y="69599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34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86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2149391" y="1862793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5" h="429894">
                <a:moveTo>
                  <a:pt x="1028895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028895" y="0"/>
                </a:lnTo>
                <a:lnTo>
                  <a:pt x="1073480" y="16786"/>
                </a:lnTo>
                <a:lnTo>
                  <a:pt x="1101225" y="55513"/>
                </a:lnTo>
                <a:lnTo>
                  <a:pt x="1105401" y="76505"/>
                </a:lnTo>
                <a:lnTo>
                  <a:pt x="1105401" y="353373"/>
                </a:lnTo>
                <a:lnTo>
                  <a:pt x="1088614" y="397957"/>
                </a:lnTo>
                <a:lnTo>
                  <a:pt x="1049887" y="425702"/>
                </a:lnTo>
                <a:lnTo>
                  <a:pt x="1034220" y="429353"/>
                </a:lnTo>
                <a:lnTo>
                  <a:pt x="102889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2661139"/>
            <a:ext cx="102352" cy="102351"/>
          </a:xfrm>
          <a:prstGeom prst="rect">
            <a:avLst/>
          </a:prstGeom>
        </p:spPr>
      </p:pic>
      <p:sp>
        <p:nvSpPr>
          <p:cNvPr id="9" name="object 9"/>
          <p:cNvSpPr/>
          <p:nvPr/>
        </p:nvSpPr>
        <p:spPr>
          <a:xfrm>
            <a:off x="7471693" y="2517846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4" h="429894">
                <a:moveTo>
                  <a:pt x="1213129" y="429877"/>
                </a:moveTo>
                <a:lnTo>
                  <a:pt x="76504" y="429877"/>
                </a:lnTo>
                <a:lnTo>
                  <a:pt x="71179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4" y="0"/>
                </a:lnTo>
                <a:lnTo>
                  <a:pt x="1213129" y="0"/>
                </a:lnTo>
                <a:lnTo>
                  <a:pt x="1257713" y="16786"/>
                </a:lnTo>
                <a:lnTo>
                  <a:pt x="1285458" y="55513"/>
                </a:lnTo>
                <a:lnTo>
                  <a:pt x="1289634" y="76505"/>
                </a:lnTo>
                <a:lnTo>
                  <a:pt x="1289634" y="353373"/>
                </a:lnTo>
                <a:lnTo>
                  <a:pt x="1272847" y="397957"/>
                </a:lnTo>
                <a:lnTo>
                  <a:pt x="1234119" y="425702"/>
                </a:lnTo>
                <a:lnTo>
                  <a:pt x="1218453" y="429353"/>
                </a:lnTo>
                <a:lnTo>
                  <a:pt x="121312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17724" y="1174571"/>
            <a:ext cx="8108315" cy="246951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241935">
              <a:lnSpc>
                <a:spcPct val="100000"/>
              </a:lnSpc>
              <a:spcBef>
                <a:spcPts val="125"/>
              </a:spcBef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vs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"cross-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tabulation"</a:t>
            </a:r>
            <a:endParaRPr sz="255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2100"/>
              </a:spcBef>
              <a:tabLst>
                <a:tab pos="1572260" algn="l"/>
              </a:tabLst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spc="-11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pandas</a:t>
            </a:r>
            <a:r>
              <a:rPr sz="2250" spc="3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library</a:t>
            </a:r>
            <a:endParaRPr sz="2550">
              <a:latin typeface="Arial"/>
              <a:cs typeface="Arial"/>
            </a:endParaRPr>
          </a:p>
          <a:p>
            <a:pPr marL="241935">
              <a:lnSpc>
                <a:spcPct val="100000"/>
              </a:lnSpc>
              <a:spcBef>
                <a:spcPts val="2100"/>
              </a:spcBef>
              <a:tabLst>
                <a:tab pos="6891020" algn="l"/>
              </a:tabLst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Given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species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sample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list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species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5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</a:pPr>
            <a:r>
              <a:rPr sz="190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900" spc="-10" dirty="0">
                <a:solidFill>
                  <a:srgbClr val="04182D"/>
                </a:solidFill>
                <a:latin typeface="Monaco"/>
                <a:cs typeface="Monaco"/>
              </a:rPr>
              <a:t>(species)</a:t>
            </a:r>
            <a:endParaRPr sz="190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17724" y="4267647"/>
            <a:ext cx="7766050" cy="31813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900" dirty="0">
                <a:solidFill>
                  <a:srgbClr val="FFFFFF"/>
                </a:solidFill>
                <a:latin typeface="Monaco"/>
                <a:cs typeface="Monaco"/>
              </a:rPr>
              <a:t>['setosa',</a:t>
            </a:r>
            <a:r>
              <a:rPr sz="1900" spc="6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FFFFFF"/>
                </a:solidFill>
                <a:latin typeface="Monaco"/>
                <a:cs typeface="Monaco"/>
              </a:rPr>
              <a:t>'setosa',</a:t>
            </a:r>
            <a:r>
              <a:rPr sz="1900" spc="7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FFFFFF"/>
                </a:solidFill>
                <a:latin typeface="Monaco"/>
                <a:cs typeface="Monaco"/>
              </a:rPr>
              <a:t>'versicolor',</a:t>
            </a:r>
            <a:r>
              <a:rPr sz="1900" spc="7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FFFFFF"/>
                </a:solidFill>
                <a:latin typeface="Monaco"/>
                <a:cs typeface="Monaco"/>
              </a:rPr>
              <a:t>'virginica',</a:t>
            </a:r>
            <a:r>
              <a:rPr sz="1900" spc="7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900" dirty="0">
                <a:solidFill>
                  <a:srgbClr val="FFFFFF"/>
                </a:solidFill>
                <a:latin typeface="Monaco"/>
                <a:cs typeface="Monaco"/>
              </a:rPr>
              <a:t>...</a:t>
            </a:r>
            <a:r>
              <a:rPr sz="1900" spc="70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1900" spc="-50" dirty="0">
                <a:solidFill>
                  <a:srgbClr val="FFFFFF"/>
                </a:solidFill>
                <a:latin typeface="Monaco"/>
                <a:cs typeface="Monaco"/>
              </a:rPr>
              <a:t>]</a:t>
            </a:r>
            <a:endParaRPr sz="190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E3DFB2CE-0018-EF5E-8444-AABD6D6B2EB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4" dirty="0"/>
              <a:t>Aligning</a:t>
            </a:r>
            <a:r>
              <a:rPr spc="-150" dirty="0"/>
              <a:t> </a:t>
            </a:r>
            <a:r>
              <a:rPr spc="-95" dirty="0"/>
              <a:t>labels</a:t>
            </a:r>
            <a:r>
              <a:rPr spc="-145" dirty="0"/>
              <a:t> </a:t>
            </a:r>
            <a:r>
              <a:rPr dirty="0"/>
              <a:t>and</a:t>
            </a:r>
            <a:r>
              <a:rPr spc="-145" dirty="0"/>
              <a:t> </a:t>
            </a:r>
            <a:r>
              <a:rPr spc="-114" dirty="0"/>
              <a:t>species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00"/>
            <a:ext cx="9887585" cy="1740535"/>
            <a:chOff x="491289" y="1166800"/>
            <a:chExt cx="9887585" cy="1740535"/>
          </a:xfrm>
        </p:grpSpPr>
        <p:sp>
          <p:nvSpPr>
            <p:cNvPr id="4" name="object 4"/>
            <p:cNvSpPr/>
            <p:nvPr/>
          </p:nvSpPr>
          <p:spPr>
            <a:xfrm>
              <a:off x="491289" y="1166800"/>
              <a:ext cx="9887585" cy="1740535"/>
            </a:xfrm>
            <a:custGeom>
              <a:avLst/>
              <a:gdLst/>
              <a:ahLst/>
              <a:cxnLst/>
              <a:rect l="l" t="t" r="r" b="b"/>
              <a:pathLst>
                <a:path w="9887585" h="1740535">
                  <a:moveTo>
                    <a:pt x="9810694" y="1739983"/>
                  </a:moveTo>
                  <a:lnTo>
                    <a:pt x="76505" y="1739983"/>
                  </a:lnTo>
                  <a:lnTo>
                    <a:pt x="71180" y="1739458"/>
                  </a:lnTo>
                  <a:lnTo>
                    <a:pt x="31920" y="1723196"/>
                  </a:lnTo>
                  <a:lnTo>
                    <a:pt x="4175" y="1684468"/>
                  </a:lnTo>
                  <a:lnTo>
                    <a:pt x="0" y="1663478"/>
                  </a:lnTo>
                  <a:lnTo>
                    <a:pt x="0" y="1658101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663478"/>
                  </a:lnTo>
                  <a:lnTo>
                    <a:pt x="9870412" y="1708062"/>
                  </a:lnTo>
                  <a:lnTo>
                    <a:pt x="9831684" y="1735807"/>
                  </a:lnTo>
                  <a:lnTo>
                    <a:pt x="9816018" y="1739458"/>
                  </a:lnTo>
                  <a:lnTo>
                    <a:pt x="9810694" y="1739983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185" y="1433931"/>
              <a:ext cx="2633980" cy="274320"/>
            </a:xfrm>
            <a:custGeom>
              <a:avLst/>
              <a:gdLst/>
              <a:ahLst/>
              <a:cxnLst/>
              <a:rect l="l" t="t" r="r" b="b"/>
              <a:pathLst>
                <a:path w="2633979" h="274319">
                  <a:moveTo>
                    <a:pt x="96304" y="16014"/>
                  </a:moveTo>
                  <a:lnTo>
                    <a:pt x="94068" y="10579"/>
                  </a:lnTo>
                  <a:lnTo>
                    <a:pt x="85115" y="2120"/>
                  </a:lnTo>
                  <a:lnTo>
                    <a:pt x="79413" y="0"/>
                  </a:lnTo>
                  <a:lnTo>
                    <a:pt x="59994" y="0"/>
                  </a:lnTo>
                  <a:lnTo>
                    <a:pt x="54292" y="2120"/>
                  </a:lnTo>
                  <a:lnTo>
                    <a:pt x="45339" y="10579"/>
                  </a:lnTo>
                  <a:lnTo>
                    <a:pt x="43103" y="16014"/>
                  </a:lnTo>
                  <a:lnTo>
                    <a:pt x="43103" y="29362"/>
                  </a:lnTo>
                  <a:lnTo>
                    <a:pt x="45288" y="34747"/>
                  </a:lnTo>
                  <a:lnTo>
                    <a:pt x="49682" y="38811"/>
                  </a:lnTo>
                  <a:lnTo>
                    <a:pt x="54114" y="42837"/>
                  </a:lnTo>
                  <a:lnTo>
                    <a:pt x="59867" y="44856"/>
                  </a:lnTo>
                  <a:lnTo>
                    <a:pt x="79324" y="44856"/>
                  </a:lnTo>
                  <a:lnTo>
                    <a:pt x="85001" y="42837"/>
                  </a:lnTo>
                  <a:lnTo>
                    <a:pt x="94068" y="34747"/>
                  </a:lnTo>
                  <a:lnTo>
                    <a:pt x="96304" y="29362"/>
                  </a:lnTo>
                  <a:lnTo>
                    <a:pt x="96304" y="16014"/>
                  </a:lnTo>
                  <a:close/>
                </a:path>
                <a:path w="2633979" h="274319">
                  <a:moveTo>
                    <a:pt x="142189" y="189826"/>
                  </a:moveTo>
                  <a:lnTo>
                    <a:pt x="90741" y="189826"/>
                  </a:lnTo>
                  <a:lnTo>
                    <a:pt x="90741" y="59715"/>
                  </a:lnTo>
                  <a:lnTo>
                    <a:pt x="6921" y="59715"/>
                  </a:lnTo>
                  <a:lnTo>
                    <a:pt x="6921" y="94056"/>
                  </a:lnTo>
                  <a:lnTo>
                    <a:pt x="54165" y="94056"/>
                  </a:lnTo>
                  <a:lnTo>
                    <a:pt x="54165" y="189826"/>
                  </a:lnTo>
                  <a:lnTo>
                    <a:pt x="0" y="189826"/>
                  </a:lnTo>
                  <a:lnTo>
                    <a:pt x="0" y="224167"/>
                  </a:lnTo>
                  <a:lnTo>
                    <a:pt x="142189" y="224167"/>
                  </a:lnTo>
                  <a:lnTo>
                    <a:pt x="142189" y="189826"/>
                  </a:lnTo>
                  <a:close/>
                </a:path>
                <a:path w="2633979" h="274319">
                  <a:moveTo>
                    <a:pt x="304482" y="102209"/>
                  </a:moveTo>
                  <a:lnTo>
                    <a:pt x="303885" y="92684"/>
                  </a:lnTo>
                  <a:lnTo>
                    <a:pt x="302844" y="87680"/>
                  </a:lnTo>
                  <a:lnTo>
                    <a:pt x="302107" y="84086"/>
                  </a:lnTo>
                  <a:lnTo>
                    <a:pt x="301396" y="82257"/>
                  </a:lnTo>
                  <a:lnTo>
                    <a:pt x="299135" y="76403"/>
                  </a:lnTo>
                  <a:lnTo>
                    <a:pt x="294957" y="69608"/>
                  </a:lnTo>
                  <a:lnTo>
                    <a:pt x="289775" y="64071"/>
                  </a:lnTo>
                  <a:lnTo>
                    <a:pt x="283629" y="60109"/>
                  </a:lnTo>
                  <a:lnTo>
                    <a:pt x="276517" y="57734"/>
                  </a:lnTo>
                  <a:lnTo>
                    <a:pt x="268439" y="56934"/>
                  </a:lnTo>
                  <a:lnTo>
                    <a:pt x="260337" y="56934"/>
                  </a:lnTo>
                  <a:lnTo>
                    <a:pt x="253860" y="59182"/>
                  </a:lnTo>
                  <a:lnTo>
                    <a:pt x="253034" y="59715"/>
                  </a:lnTo>
                  <a:lnTo>
                    <a:pt x="242531" y="68707"/>
                  </a:lnTo>
                  <a:lnTo>
                    <a:pt x="242239" y="69608"/>
                  </a:lnTo>
                  <a:lnTo>
                    <a:pt x="241706" y="68084"/>
                  </a:lnTo>
                  <a:lnTo>
                    <a:pt x="240842" y="67373"/>
                  </a:lnTo>
                  <a:lnTo>
                    <a:pt x="240842" y="76403"/>
                  </a:lnTo>
                  <a:lnTo>
                    <a:pt x="240601" y="74714"/>
                  </a:lnTo>
                  <a:lnTo>
                    <a:pt x="240715" y="74358"/>
                  </a:lnTo>
                  <a:lnTo>
                    <a:pt x="240741" y="74714"/>
                  </a:lnTo>
                  <a:lnTo>
                    <a:pt x="240842" y="76403"/>
                  </a:lnTo>
                  <a:lnTo>
                    <a:pt x="240842" y="67373"/>
                  </a:lnTo>
                  <a:lnTo>
                    <a:pt x="236410" y="63652"/>
                  </a:lnTo>
                  <a:lnTo>
                    <a:pt x="231152" y="59182"/>
                  </a:lnTo>
                  <a:lnTo>
                    <a:pt x="224688" y="56934"/>
                  </a:lnTo>
                  <a:lnTo>
                    <a:pt x="208902" y="56934"/>
                  </a:lnTo>
                  <a:lnTo>
                    <a:pt x="202514" y="59182"/>
                  </a:lnTo>
                  <a:lnTo>
                    <a:pt x="202285" y="59182"/>
                  </a:lnTo>
                  <a:lnTo>
                    <a:pt x="195351" y="65214"/>
                  </a:lnTo>
                  <a:lnTo>
                    <a:pt x="196367" y="59715"/>
                  </a:lnTo>
                  <a:lnTo>
                    <a:pt x="189547" y="59715"/>
                  </a:lnTo>
                  <a:lnTo>
                    <a:pt x="189547" y="76390"/>
                  </a:lnTo>
                  <a:lnTo>
                    <a:pt x="189242" y="74714"/>
                  </a:lnTo>
                  <a:lnTo>
                    <a:pt x="189357" y="74358"/>
                  </a:lnTo>
                  <a:lnTo>
                    <a:pt x="189395" y="74714"/>
                  </a:lnTo>
                  <a:lnTo>
                    <a:pt x="189547" y="76390"/>
                  </a:lnTo>
                  <a:lnTo>
                    <a:pt x="189547" y="59715"/>
                  </a:lnTo>
                  <a:lnTo>
                    <a:pt x="162839" y="59715"/>
                  </a:lnTo>
                  <a:lnTo>
                    <a:pt x="162839" y="224167"/>
                  </a:lnTo>
                  <a:lnTo>
                    <a:pt x="197446" y="224167"/>
                  </a:lnTo>
                  <a:lnTo>
                    <a:pt x="197446" y="96634"/>
                  </a:lnTo>
                  <a:lnTo>
                    <a:pt x="198285" y="93065"/>
                  </a:lnTo>
                  <a:lnTo>
                    <a:pt x="201676" y="88773"/>
                  </a:lnTo>
                  <a:lnTo>
                    <a:pt x="204127" y="87680"/>
                  </a:lnTo>
                  <a:lnTo>
                    <a:pt x="210642" y="87680"/>
                  </a:lnTo>
                  <a:lnTo>
                    <a:pt x="213093" y="88773"/>
                  </a:lnTo>
                  <a:lnTo>
                    <a:pt x="216674" y="93065"/>
                  </a:lnTo>
                  <a:lnTo>
                    <a:pt x="217779" y="96634"/>
                  </a:lnTo>
                  <a:lnTo>
                    <a:pt x="217881" y="224167"/>
                  </a:lnTo>
                  <a:lnTo>
                    <a:pt x="249440" y="224167"/>
                  </a:lnTo>
                  <a:lnTo>
                    <a:pt x="249466" y="96634"/>
                  </a:lnTo>
                  <a:lnTo>
                    <a:pt x="250456" y="93065"/>
                  </a:lnTo>
                  <a:lnTo>
                    <a:pt x="254127" y="88773"/>
                  </a:lnTo>
                  <a:lnTo>
                    <a:pt x="256603" y="87680"/>
                  </a:lnTo>
                  <a:lnTo>
                    <a:pt x="263118" y="87680"/>
                  </a:lnTo>
                  <a:lnTo>
                    <a:pt x="265518" y="88773"/>
                  </a:lnTo>
                  <a:lnTo>
                    <a:pt x="268808" y="93065"/>
                  </a:lnTo>
                  <a:lnTo>
                    <a:pt x="269786" y="96634"/>
                  </a:lnTo>
                  <a:lnTo>
                    <a:pt x="269862" y="224167"/>
                  </a:lnTo>
                  <a:lnTo>
                    <a:pt x="304482" y="224167"/>
                  </a:lnTo>
                  <a:lnTo>
                    <a:pt x="304482" y="102209"/>
                  </a:lnTo>
                  <a:close/>
                </a:path>
                <a:path w="2633979" h="274319">
                  <a:moveTo>
                    <a:pt x="465137" y="119443"/>
                  </a:moveTo>
                  <a:lnTo>
                    <a:pt x="450215" y="74041"/>
                  </a:lnTo>
                  <a:lnTo>
                    <a:pt x="428625" y="60032"/>
                  </a:lnTo>
                  <a:lnTo>
                    <a:pt x="428625" y="110705"/>
                  </a:lnTo>
                  <a:lnTo>
                    <a:pt x="428625" y="173177"/>
                  </a:lnTo>
                  <a:lnTo>
                    <a:pt x="426300" y="180911"/>
                  </a:lnTo>
                  <a:lnTo>
                    <a:pt x="417055" y="191046"/>
                  </a:lnTo>
                  <a:lnTo>
                    <a:pt x="410184" y="193687"/>
                  </a:lnTo>
                  <a:lnTo>
                    <a:pt x="392595" y="193687"/>
                  </a:lnTo>
                  <a:lnTo>
                    <a:pt x="373519" y="173177"/>
                  </a:lnTo>
                  <a:lnTo>
                    <a:pt x="373519" y="110705"/>
                  </a:lnTo>
                  <a:lnTo>
                    <a:pt x="375843" y="103492"/>
                  </a:lnTo>
                  <a:lnTo>
                    <a:pt x="384454" y="94259"/>
                  </a:lnTo>
                  <a:lnTo>
                    <a:pt x="384746" y="93941"/>
                  </a:lnTo>
                  <a:lnTo>
                    <a:pt x="386041" y="92748"/>
                  </a:lnTo>
                  <a:lnTo>
                    <a:pt x="392595" y="90195"/>
                  </a:lnTo>
                  <a:lnTo>
                    <a:pt x="410184" y="90195"/>
                  </a:lnTo>
                  <a:lnTo>
                    <a:pt x="416979" y="92748"/>
                  </a:lnTo>
                  <a:lnTo>
                    <a:pt x="426300" y="102971"/>
                  </a:lnTo>
                  <a:lnTo>
                    <a:pt x="428625" y="110705"/>
                  </a:lnTo>
                  <a:lnTo>
                    <a:pt x="428625" y="60032"/>
                  </a:lnTo>
                  <a:lnTo>
                    <a:pt x="421805" y="58000"/>
                  </a:lnTo>
                  <a:lnTo>
                    <a:pt x="409625" y="56934"/>
                  </a:lnTo>
                  <a:lnTo>
                    <a:pt x="400431" y="57556"/>
                  </a:lnTo>
                  <a:lnTo>
                    <a:pt x="371221" y="73507"/>
                  </a:lnTo>
                  <a:lnTo>
                    <a:pt x="373380" y="59715"/>
                  </a:lnTo>
                  <a:lnTo>
                    <a:pt x="336867" y="59715"/>
                  </a:lnTo>
                  <a:lnTo>
                    <a:pt x="336867" y="274180"/>
                  </a:lnTo>
                  <a:lnTo>
                    <a:pt x="373380" y="274180"/>
                  </a:lnTo>
                  <a:lnTo>
                    <a:pt x="373189" y="222669"/>
                  </a:lnTo>
                  <a:lnTo>
                    <a:pt x="371221" y="210464"/>
                  </a:lnTo>
                  <a:lnTo>
                    <a:pt x="371881" y="211620"/>
                  </a:lnTo>
                  <a:lnTo>
                    <a:pt x="409625" y="226949"/>
                  </a:lnTo>
                  <a:lnTo>
                    <a:pt x="421805" y="225882"/>
                  </a:lnTo>
                  <a:lnTo>
                    <a:pt x="456742" y="200571"/>
                  </a:lnTo>
                  <a:lnTo>
                    <a:pt x="459740" y="193687"/>
                  </a:lnTo>
                  <a:lnTo>
                    <a:pt x="461403" y="189877"/>
                  </a:lnTo>
                  <a:lnTo>
                    <a:pt x="464210" y="177736"/>
                  </a:lnTo>
                  <a:lnTo>
                    <a:pt x="465137" y="164172"/>
                  </a:lnTo>
                  <a:lnTo>
                    <a:pt x="465137" y="119443"/>
                  </a:lnTo>
                  <a:close/>
                </a:path>
                <a:path w="2633979" h="274319">
                  <a:moveTo>
                    <a:pt x="631913" y="120802"/>
                  </a:moveTo>
                  <a:lnTo>
                    <a:pt x="630809" y="106870"/>
                  </a:lnTo>
                  <a:lnTo>
                    <a:pt x="627519" y="94449"/>
                  </a:lnTo>
                  <a:lnTo>
                    <a:pt x="625640" y="90741"/>
                  </a:lnTo>
                  <a:lnTo>
                    <a:pt x="622020" y="83553"/>
                  </a:lnTo>
                  <a:lnTo>
                    <a:pt x="614337" y="74180"/>
                  </a:lnTo>
                  <a:lnTo>
                    <a:pt x="604824" y="66636"/>
                  </a:lnTo>
                  <a:lnTo>
                    <a:pt x="595401" y="62039"/>
                  </a:lnTo>
                  <a:lnTo>
                    <a:pt x="595401" y="110934"/>
                  </a:lnTo>
                  <a:lnTo>
                    <a:pt x="595401" y="172948"/>
                  </a:lnTo>
                  <a:lnTo>
                    <a:pt x="593001" y="180543"/>
                  </a:lnTo>
                  <a:lnTo>
                    <a:pt x="583450" y="190639"/>
                  </a:lnTo>
                  <a:lnTo>
                    <a:pt x="576465" y="193154"/>
                  </a:lnTo>
                  <a:lnTo>
                    <a:pt x="557961" y="193154"/>
                  </a:lnTo>
                  <a:lnTo>
                    <a:pt x="550938" y="190639"/>
                  </a:lnTo>
                  <a:lnTo>
                    <a:pt x="541439" y="180543"/>
                  </a:lnTo>
                  <a:lnTo>
                    <a:pt x="539064" y="172948"/>
                  </a:lnTo>
                  <a:lnTo>
                    <a:pt x="539064" y="110934"/>
                  </a:lnTo>
                  <a:lnTo>
                    <a:pt x="541439" y="103352"/>
                  </a:lnTo>
                  <a:lnTo>
                    <a:pt x="550938" y="93268"/>
                  </a:lnTo>
                  <a:lnTo>
                    <a:pt x="557961" y="90741"/>
                  </a:lnTo>
                  <a:lnTo>
                    <a:pt x="576465" y="90741"/>
                  </a:lnTo>
                  <a:lnTo>
                    <a:pt x="583450" y="93268"/>
                  </a:lnTo>
                  <a:lnTo>
                    <a:pt x="588200" y="98336"/>
                  </a:lnTo>
                  <a:lnTo>
                    <a:pt x="593001" y="103352"/>
                  </a:lnTo>
                  <a:lnTo>
                    <a:pt x="595401" y="62039"/>
                  </a:lnTo>
                  <a:lnTo>
                    <a:pt x="567232" y="56934"/>
                  </a:lnTo>
                  <a:lnTo>
                    <a:pt x="553161" y="58013"/>
                  </a:lnTo>
                  <a:lnTo>
                    <a:pt x="512356" y="83553"/>
                  </a:lnTo>
                  <a:lnTo>
                    <a:pt x="502513" y="120802"/>
                  </a:lnTo>
                  <a:lnTo>
                    <a:pt x="502488" y="162814"/>
                  </a:lnTo>
                  <a:lnTo>
                    <a:pt x="503580" y="176860"/>
                  </a:lnTo>
                  <a:lnTo>
                    <a:pt x="529539" y="217246"/>
                  </a:lnTo>
                  <a:lnTo>
                    <a:pt x="567232" y="226949"/>
                  </a:lnTo>
                  <a:lnTo>
                    <a:pt x="581279" y="225869"/>
                  </a:lnTo>
                  <a:lnTo>
                    <a:pt x="622020" y="200317"/>
                  </a:lnTo>
                  <a:lnTo>
                    <a:pt x="625614" y="193154"/>
                  </a:lnTo>
                  <a:lnTo>
                    <a:pt x="627519" y="189369"/>
                  </a:lnTo>
                  <a:lnTo>
                    <a:pt x="630809" y="176860"/>
                  </a:lnTo>
                  <a:lnTo>
                    <a:pt x="631913" y="162814"/>
                  </a:lnTo>
                  <a:lnTo>
                    <a:pt x="631913" y="120802"/>
                  </a:lnTo>
                  <a:close/>
                </a:path>
                <a:path w="2633979" h="274319">
                  <a:moveTo>
                    <a:pt x="804786" y="118897"/>
                  </a:moveTo>
                  <a:lnTo>
                    <a:pt x="803795" y="105524"/>
                  </a:lnTo>
                  <a:lnTo>
                    <a:pt x="800798" y="93548"/>
                  </a:lnTo>
                  <a:lnTo>
                    <a:pt x="798957" y="89649"/>
                  </a:lnTo>
                  <a:lnTo>
                    <a:pt x="795820" y="82994"/>
                  </a:lnTo>
                  <a:lnTo>
                    <a:pt x="758888" y="57988"/>
                  </a:lnTo>
                  <a:lnTo>
                    <a:pt x="746213" y="56934"/>
                  </a:lnTo>
                  <a:lnTo>
                    <a:pt x="729729" y="59182"/>
                  </a:lnTo>
                  <a:lnTo>
                    <a:pt x="717511" y="65900"/>
                  </a:lnTo>
                  <a:lnTo>
                    <a:pt x="709574" y="77089"/>
                  </a:lnTo>
                  <a:lnTo>
                    <a:pt x="705904" y="92773"/>
                  </a:lnTo>
                  <a:lnTo>
                    <a:pt x="705993" y="92290"/>
                  </a:lnTo>
                  <a:lnTo>
                    <a:pt x="711669" y="59715"/>
                  </a:lnTo>
                  <a:lnTo>
                    <a:pt x="675703" y="59715"/>
                  </a:lnTo>
                  <a:lnTo>
                    <a:pt x="675703" y="224167"/>
                  </a:lnTo>
                  <a:lnTo>
                    <a:pt x="712216" y="224167"/>
                  </a:lnTo>
                  <a:lnTo>
                    <a:pt x="712279" y="110705"/>
                  </a:lnTo>
                  <a:lnTo>
                    <a:pt x="714679" y="103111"/>
                  </a:lnTo>
                  <a:lnTo>
                    <a:pt x="724192" y="92773"/>
                  </a:lnTo>
                  <a:lnTo>
                    <a:pt x="724712" y="92290"/>
                  </a:lnTo>
                  <a:lnTo>
                    <a:pt x="731520" y="89649"/>
                  </a:lnTo>
                  <a:lnTo>
                    <a:pt x="749427" y="89649"/>
                  </a:lnTo>
                  <a:lnTo>
                    <a:pt x="756335" y="92290"/>
                  </a:lnTo>
                  <a:lnTo>
                    <a:pt x="765873" y="102882"/>
                  </a:lnTo>
                  <a:lnTo>
                    <a:pt x="765949" y="103111"/>
                  </a:lnTo>
                  <a:lnTo>
                    <a:pt x="768273" y="110705"/>
                  </a:lnTo>
                  <a:lnTo>
                    <a:pt x="768273" y="133832"/>
                  </a:lnTo>
                  <a:lnTo>
                    <a:pt x="804786" y="133832"/>
                  </a:lnTo>
                  <a:lnTo>
                    <a:pt x="804786" y="118897"/>
                  </a:lnTo>
                  <a:close/>
                </a:path>
                <a:path w="2633979" h="274319">
                  <a:moveTo>
                    <a:pt x="967689" y="59715"/>
                  </a:moveTo>
                  <a:lnTo>
                    <a:pt x="906538" y="59715"/>
                  </a:lnTo>
                  <a:lnTo>
                    <a:pt x="906538" y="18046"/>
                  </a:lnTo>
                  <a:lnTo>
                    <a:pt x="869962" y="18046"/>
                  </a:lnTo>
                  <a:lnTo>
                    <a:pt x="869962" y="59715"/>
                  </a:lnTo>
                  <a:lnTo>
                    <a:pt x="826871" y="59715"/>
                  </a:lnTo>
                  <a:lnTo>
                    <a:pt x="826871" y="94056"/>
                  </a:lnTo>
                  <a:lnTo>
                    <a:pt x="869962" y="94056"/>
                  </a:lnTo>
                  <a:lnTo>
                    <a:pt x="869962" y="178079"/>
                  </a:lnTo>
                  <a:lnTo>
                    <a:pt x="870750" y="188315"/>
                  </a:lnTo>
                  <a:lnTo>
                    <a:pt x="897737" y="221107"/>
                  </a:lnTo>
                  <a:lnTo>
                    <a:pt x="917473" y="224167"/>
                  </a:lnTo>
                  <a:lnTo>
                    <a:pt x="964907" y="224167"/>
                  </a:lnTo>
                  <a:lnTo>
                    <a:pt x="964907" y="189826"/>
                  </a:lnTo>
                  <a:lnTo>
                    <a:pt x="913396" y="189826"/>
                  </a:lnTo>
                  <a:lnTo>
                    <a:pt x="910551" y="188963"/>
                  </a:lnTo>
                  <a:lnTo>
                    <a:pt x="907338" y="185521"/>
                  </a:lnTo>
                  <a:lnTo>
                    <a:pt x="906538" y="182473"/>
                  </a:lnTo>
                  <a:lnTo>
                    <a:pt x="906538" y="94056"/>
                  </a:lnTo>
                  <a:lnTo>
                    <a:pt x="967689" y="94056"/>
                  </a:lnTo>
                  <a:lnTo>
                    <a:pt x="967689" y="59715"/>
                  </a:lnTo>
                  <a:close/>
                </a:path>
                <a:path w="2633979" h="274319">
                  <a:moveTo>
                    <a:pt x="2465641" y="153847"/>
                  </a:moveTo>
                  <a:lnTo>
                    <a:pt x="2465603" y="144932"/>
                  </a:lnTo>
                  <a:lnTo>
                    <a:pt x="2465489" y="111569"/>
                  </a:lnTo>
                  <a:lnTo>
                    <a:pt x="2464778" y="103568"/>
                  </a:lnTo>
                  <a:lnTo>
                    <a:pt x="2464511" y="100876"/>
                  </a:lnTo>
                  <a:lnTo>
                    <a:pt x="2461488" y="90741"/>
                  </a:lnTo>
                  <a:lnTo>
                    <a:pt x="2461298" y="90068"/>
                  </a:lnTo>
                  <a:lnTo>
                    <a:pt x="2428024" y="60972"/>
                  </a:lnTo>
                  <a:lnTo>
                    <a:pt x="2415184" y="58013"/>
                  </a:lnTo>
                  <a:lnTo>
                    <a:pt x="2413838" y="58013"/>
                  </a:lnTo>
                  <a:lnTo>
                    <a:pt x="2402052" y="57213"/>
                  </a:lnTo>
                  <a:lnTo>
                    <a:pt x="2358618" y="70167"/>
                  </a:lnTo>
                  <a:lnTo>
                    <a:pt x="2337371" y="111569"/>
                  </a:lnTo>
                  <a:lnTo>
                    <a:pt x="2374023" y="111569"/>
                  </a:lnTo>
                  <a:lnTo>
                    <a:pt x="2375154" y="103568"/>
                  </a:lnTo>
                  <a:lnTo>
                    <a:pt x="2378049" y="98082"/>
                  </a:lnTo>
                  <a:lnTo>
                    <a:pt x="2387409" y="92202"/>
                  </a:lnTo>
                  <a:lnTo>
                    <a:pt x="2393772" y="90741"/>
                  </a:lnTo>
                  <a:lnTo>
                    <a:pt x="2410688" y="90741"/>
                  </a:lnTo>
                  <a:lnTo>
                    <a:pt x="2417457" y="92773"/>
                  </a:lnTo>
                  <a:lnTo>
                    <a:pt x="2422067" y="96837"/>
                  </a:lnTo>
                  <a:lnTo>
                    <a:pt x="2426728" y="100876"/>
                  </a:lnTo>
                  <a:lnTo>
                    <a:pt x="2429065" y="106641"/>
                  </a:lnTo>
                  <a:lnTo>
                    <a:pt x="2429065" y="123113"/>
                  </a:lnTo>
                  <a:lnTo>
                    <a:pt x="2429065" y="153847"/>
                  </a:lnTo>
                  <a:lnTo>
                    <a:pt x="2429065" y="177241"/>
                  </a:lnTo>
                  <a:lnTo>
                    <a:pt x="2425801" y="183438"/>
                  </a:lnTo>
                  <a:lnTo>
                    <a:pt x="2393162" y="195656"/>
                  </a:lnTo>
                  <a:lnTo>
                    <a:pt x="2384742" y="195656"/>
                  </a:lnTo>
                  <a:lnTo>
                    <a:pt x="2378278" y="193763"/>
                  </a:lnTo>
                  <a:lnTo>
                    <a:pt x="2369223" y="186156"/>
                  </a:lnTo>
                  <a:lnTo>
                    <a:pt x="2366962" y="180911"/>
                  </a:lnTo>
                  <a:lnTo>
                    <a:pt x="2366962" y="167703"/>
                  </a:lnTo>
                  <a:lnTo>
                    <a:pt x="2368791" y="162674"/>
                  </a:lnTo>
                  <a:lnTo>
                    <a:pt x="2376119" y="155613"/>
                  </a:lnTo>
                  <a:lnTo>
                    <a:pt x="2381351" y="153847"/>
                  </a:lnTo>
                  <a:lnTo>
                    <a:pt x="2429065" y="153847"/>
                  </a:lnTo>
                  <a:lnTo>
                    <a:pt x="2429065" y="123113"/>
                  </a:lnTo>
                  <a:lnTo>
                    <a:pt x="2387587" y="123113"/>
                  </a:lnTo>
                  <a:lnTo>
                    <a:pt x="2375192" y="123990"/>
                  </a:lnTo>
                  <a:lnTo>
                    <a:pt x="2339124" y="144932"/>
                  </a:lnTo>
                  <a:lnTo>
                    <a:pt x="2330373" y="175844"/>
                  </a:lnTo>
                  <a:lnTo>
                    <a:pt x="2330500" y="177241"/>
                  </a:lnTo>
                  <a:lnTo>
                    <a:pt x="2331364" y="186982"/>
                  </a:lnTo>
                  <a:lnTo>
                    <a:pt x="2354542" y="219202"/>
                  </a:lnTo>
                  <a:lnTo>
                    <a:pt x="2387320" y="226949"/>
                  </a:lnTo>
                  <a:lnTo>
                    <a:pt x="2397772" y="226326"/>
                  </a:lnTo>
                  <a:lnTo>
                    <a:pt x="2431973" y="209511"/>
                  </a:lnTo>
                  <a:lnTo>
                    <a:pt x="2429675" y="224167"/>
                  </a:lnTo>
                  <a:lnTo>
                    <a:pt x="2465641" y="224167"/>
                  </a:lnTo>
                  <a:lnTo>
                    <a:pt x="2465641" y="189547"/>
                  </a:lnTo>
                  <a:lnTo>
                    <a:pt x="2465641" y="153847"/>
                  </a:lnTo>
                  <a:close/>
                </a:path>
                <a:path w="2633979" h="274319">
                  <a:moveTo>
                    <a:pt x="2633751" y="175094"/>
                  </a:moveTo>
                  <a:lnTo>
                    <a:pt x="2613698" y="135242"/>
                  </a:lnTo>
                  <a:lnTo>
                    <a:pt x="2561082" y="121208"/>
                  </a:lnTo>
                  <a:lnTo>
                    <a:pt x="2554020" y="120116"/>
                  </a:lnTo>
                  <a:lnTo>
                    <a:pt x="2549233" y="118516"/>
                  </a:lnTo>
                  <a:lnTo>
                    <a:pt x="2544165" y="114261"/>
                  </a:lnTo>
                  <a:lnTo>
                    <a:pt x="2542895" y="111010"/>
                  </a:lnTo>
                  <a:lnTo>
                    <a:pt x="2542946" y="106349"/>
                  </a:lnTo>
                  <a:lnTo>
                    <a:pt x="2544229" y="99669"/>
                  </a:lnTo>
                  <a:lnTo>
                    <a:pt x="2548267" y="94703"/>
                  </a:lnTo>
                  <a:lnTo>
                    <a:pt x="2554960" y="91732"/>
                  </a:lnTo>
                  <a:lnTo>
                    <a:pt x="2564346" y="90741"/>
                  </a:lnTo>
                  <a:lnTo>
                    <a:pt x="2581033" y="90741"/>
                  </a:lnTo>
                  <a:lnTo>
                    <a:pt x="2585250" y="91732"/>
                  </a:lnTo>
                  <a:lnTo>
                    <a:pt x="2585618" y="91732"/>
                  </a:lnTo>
                  <a:lnTo>
                    <a:pt x="2592794" y="96342"/>
                  </a:lnTo>
                  <a:lnTo>
                    <a:pt x="2595245" y="100685"/>
                  </a:lnTo>
                  <a:lnTo>
                    <a:pt x="2596642" y="107162"/>
                  </a:lnTo>
                  <a:lnTo>
                    <a:pt x="2633091" y="107162"/>
                  </a:lnTo>
                  <a:lnTo>
                    <a:pt x="2630335" y="94703"/>
                  </a:lnTo>
                  <a:lnTo>
                    <a:pt x="2628773" y="90741"/>
                  </a:lnTo>
                  <a:lnTo>
                    <a:pt x="2626182" y="84137"/>
                  </a:lnTo>
                  <a:lnTo>
                    <a:pt x="2596477" y="59867"/>
                  </a:lnTo>
                  <a:lnTo>
                    <a:pt x="2574925" y="56934"/>
                  </a:lnTo>
                  <a:lnTo>
                    <a:pt x="2564346" y="56934"/>
                  </a:lnTo>
                  <a:lnTo>
                    <a:pt x="2552535" y="57670"/>
                  </a:lnTo>
                  <a:lnTo>
                    <a:pt x="2551671" y="57670"/>
                  </a:lnTo>
                  <a:lnTo>
                    <a:pt x="2514866" y="77038"/>
                  </a:lnTo>
                  <a:lnTo>
                    <a:pt x="2507170" y="96342"/>
                  </a:lnTo>
                  <a:lnTo>
                    <a:pt x="2506307" y="106349"/>
                  </a:lnTo>
                  <a:lnTo>
                    <a:pt x="2506370" y="107162"/>
                  </a:lnTo>
                  <a:lnTo>
                    <a:pt x="2507081" y="116560"/>
                  </a:lnTo>
                  <a:lnTo>
                    <a:pt x="2509405" y="125564"/>
                  </a:lnTo>
                  <a:lnTo>
                    <a:pt x="2544127" y="153250"/>
                  </a:lnTo>
                  <a:lnTo>
                    <a:pt x="2576220" y="159080"/>
                  </a:lnTo>
                  <a:lnTo>
                    <a:pt x="2585428" y="161417"/>
                  </a:lnTo>
                  <a:lnTo>
                    <a:pt x="2591993" y="165087"/>
                  </a:lnTo>
                  <a:lnTo>
                    <a:pt x="2595943" y="170103"/>
                  </a:lnTo>
                  <a:lnTo>
                    <a:pt x="2597251" y="176453"/>
                  </a:lnTo>
                  <a:lnTo>
                    <a:pt x="2597251" y="181470"/>
                  </a:lnTo>
                  <a:lnTo>
                    <a:pt x="2595397" y="185521"/>
                  </a:lnTo>
                  <a:lnTo>
                    <a:pt x="2588031" y="191630"/>
                  </a:lnTo>
                  <a:lnTo>
                    <a:pt x="2582075" y="193154"/>
                  </a:lnTo>
                  <a:lnTo>
                    <a:pt x="2555341" y="193154"/>
                  </a:lnTo>
                  <a:lnTo>
                    <a:pt x="2538272" y="175094"/>
                  </a:lnTo>
                  <a:lnTo>
                    <a:pt x="2501963" y="175094"/>
                  </a:lnTo>
                  <a:lnTo>
                    <a:pt x="2521039" y="214731"/>
                  </a:lnTo>
                  <a:lnTo>
                    <a:pt x="2549677" y="226098"/>
                  </a:lnTo>
                  <a:lnTo>
                    <a:pt x="2548699" y="226098"/>
                  </a:lnTo>
                  <a:lnTo>
                    <a:pt x="2562174" y="226949"/>
                  </a:lnTo>
                  <a:lnTo>
                    <a:pt x="2573845" y="226949"/>
                  </a:lnTo>
                  <a:lnTo>
                    <a:pt x="2618232" y="213309"/>
                  </a:lnTo>
                  <a:lnTo>
                    <a:pt x="2632900" y="185521"/>
                  </a:lnTo>
                  <a:lnTo>
                    <a:pt x="2633675" y="176453"/>
                  </a:lnTo>
                  <a:lnTo>
                    <a:pt x="2633751" y="175094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3152428"/>
            <a:ext cx="9887585" cy="3602990"/>
          </a:xfrm>
          <a:custGeom>
            <a:avLst/>
            <a:gdLst/>
            <a:ahLst/>
            <a:cxnLst/>
            <a:rect l="l" t="t" r="r" b="b"/>
            <a:pathLst>
              <a:path w="9887585" h="3602990">
                <a:moveTo>
                  <a:pt x="9810694" y="3602788"/>
                </a:moveTo>
                <a:lnTo>
                  <a:pt x="76505" y="3602788"/>
                </a:lnTo>
                <a:lnTo>
                  <a:pt x="71180" y="3602263"/>
                </a:lnTo>
                <a:lnTo>
                  <a:pt x="31920" y="3586001"/>
                </a:lnTo>
                <a:lnTo>
                  <a:pt x="4175" y="3547274"/>
                </a:lnTo>
                <a:lnTo>
                  <a:pt x="0" y="3526283"/>
                </a:lnTo>
                <a:lnTo>
                  <a:pt x="0" y="3520907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3"/>
                </a:lnTo>
                <a:lnTo>
                  <a:pt x="9887199" y="76504"/>
                </a:lnTo>
                <a:lnTo>
                  <a:pt x="9887199" y="3526283"/>
                </a:lnTo>
                <a:lnTo>
                  <a:pt x="9870412" y="3570867"/>
                </a:lnTo>
                <a:lnTo>
                  <a:pt x="9831684" y="3598612"/>
                </a:lnTo>
                <a:lnTo>
                  <a:pt x="9816018" y="3602263"/>
                </a:lnTo>
                <a:lnTo>
                  <a:pt x="9810694" y="3602788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37234" y="1230167"/>
            <a:ext cx="9531350" cy="143827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179830">
              <a:lnSpc>
                <a:spcPct val="100000"/>
              </a:lnSpc>
              <a:spcBef>
                <a:spcPts val="1220"/>
              </a:spcBef>
              <a:tabLst>
                <a:tab pos="2846705" algn="l"/>
              </a:tabLst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pandas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04182D"/>
                </a:solidFill>
                <a:latin typeface="Monaco"/>
                <a:cs typeface="Monaco"/>
              </a:rPr>
              <a:t>pd</a:t>
            </a:r>
            <a:endParaRPr sz="2150">
              <a:latin typeface="Monaco"/>
              <a:cs typeface="Monaco"/>
            </a:endParaRPr>
          </a:p>
          <a:p>
            <a:pPr marL="12700" marR="5080">
              <a:lnSpc>
                <a:spcPct val="143700"/>
              </a:lnSpc>
            </a:pP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df</a:t>
            </a:r>
            <a:r>
              <a:rPr sz="2150" spc="204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20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pd.DataFrame({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'labels'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2150" spc="204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labels,</a:t>
            </a:r>
            <a:r>
              <a:rPr sz="2150" spc="204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'species'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:</a:t>
            </a:r>
            <a:r>
              <a:rPr sz="2150" spc="20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species}) </a:t>
            </a:r>
            <a:r>
              <a:rPr sz="21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(df)</a:t>
            </a:r>
            <a:endParaRPr sz="2150">
              <a:latin typeface="Monaco"/>
              <a:cs typeface="Monac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18184" y="3353599"/>
          <a:ext cx="3900804" cy="316801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991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3476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669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076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ts val="2555"/>
                        </a:lnSpc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labels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555"/>
                        </a:lnSpc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species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53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setosa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53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setosa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53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versicolor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53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virginica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534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15875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setosa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0767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sz="21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5969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FF5F1B0D-025E-B4B2-4F7E-103EEF7E4C7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4" dirty="0"/>
              <a:t>Crosstab</a:t>
            </a:r>
            <a:r>
              <a:rPr spc="-145" dirty="0"/>
              <a:t> </a:t>
            </a:r>
            <a:r>
              <a:rPr dirty="0"/>
              <a:t>of</a:t>
            </a:r>
            <a:r>
              <a:rPr spc="-135" dirty="0"/>
              <a:t> </a:t>
            </a:r>
            <a:r>
              <a:rPr spc="-95" dirty="0"/>
              <a:t>labels</a:t>
            </a:r>
            <a:r>
              <a:rPr spc="-135" dirty="0"/>
              <a:t> </a:t>
            </a:r>
            <a:r>
              <a:rPr dirty="0"/>
              <a:t>and</a:t>
            </a:r>
            <a:r>
              <a:rPr spc="-130" dirty="0"/>
              <a:t> </a:t>
            </a:r>
            <a:r>
              <a:rPr spc="-110" dirty="0"/>
              <a:t>species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9887585" cy="1310640"/>
          </a:xfrm>
          <a:custGeom>
            <a:avLst/>
            <a:gdLst/>
            <a:ahLst/>
            <a:cxnLst/>
            <a:rect l="l" t="t" r="r" b="b"/>
            <a:pathLst>
              <a:path w="9887585" h="1310639">
                <a:moveTo>
                  <a:pt x="9810694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1233599"/>
                </a:lnTo>
                <a:lnTo>
                  <a:pt x="9870412" y="1278184"/>
                </a:lnTo>
                <a:lnTo>
                  <a:pt x="9831684" y="1305929"/>
                </a:lnTo>
                <a:lnTo>
                  <a:pt x="9816018" y="1309580"/>
                </a:lnTo>
                <a:lnTo>
                  <a:pt x="9810694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22550"/>
            <a:ext cx="9887585" cy="2784475"/>
          </a:xfrm>
          <a:custGeom>
            <a:avLst/>
            <a:gdLst/>
            <a:ahLst/>
            <a:cxnLst/>
            <a:rect l="l" t="t" r="r" b="b"/>
            <a:pathLst>
              <a:path w="9887585" h="2784475">
                <a:moveTo>
                  <a:pt x="9810694" y="2783973"/>
                </a:moveTo>
                <a:lnTo>
                  <a:pt x="76505" y="2783973"/>
                </a:lnTo>
                <a:lnTo>
                  <a:pt x="71180" y="2783449"/>
                </a:lnTo>
                <a:lnTo>
                  <a:pt x="31920" y="2767186"/>
                </a:lnTo>
                <a:lnTo>
                  <a:pt x="4175" y="2728458"/>
                </a:lnTo>
                <a:lnTo>
                  <a:pt x="0" y="2707468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707468"/>
                </a:lnTo>
                <a:lnTo>
                  <a:pt x="9870412" y="2752052"/>
                </a:lnTo>
                <a:lnTo>
                  <a:pt x="9831684" y="2779797"/>
                </a:lnTo>
                <a:lnTo>
                  <a:pt x="9816018" y="2783448"/>
                </a:lnTo>
                <a:lnTo>
                  <a:pt x="9810694" y="278397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88"/>
            <a:ext cx="7763509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ct = pd.crosstab(df['labels'],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df['species']) print(ct)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956322"/>
          <a:ext cx="6596379" cy="23190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07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631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069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species</a:t>
                      </a:r>
                      <a:endParaRPr sz="2250">
                        <a:latin typeface="Monaco"/>
                        <a:cs typeface="Monac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labels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setosa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versicolor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virginica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78589" y="5661680"/>
            <a:ext cx="825817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How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evaluate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clustering,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if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there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were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no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species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information?</a:t>
            </a:r>
            <a:endParaRPr sz="2550">
              <a:latin typeface="Arial"/>
              <a:cs typeface="Arial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A0820C8C-B962-A2E6-3499-8C27B2DD9C7D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78589" y="-98674"/>
            <a:ext cx="7539990" cy="3002280"/>
          </a:xfrm>
          <a:prstGeom prst="rect">
            <a:avLst/>
          </a:prstGeom>
        </p:spPr>
        <p:txBody>
          <a:bodyPr vert="horz" wrap="square" lIns="0" tIns="3867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045"/>
              </a:spcBef>
            </a:pPr>
            <a:r>
              <a:rPr spc="-50" dirty="0"/>
              <a:t>Measuring</a:t>
            </a:r>
            <a:r>
              <a:rPr spc="-185" dirty="0"/>
              <a:t> </a:t>
            </a:r>
            <a:r>
              <a:rPr spc="-130" dirty="0"/>
              <a:t>clustering</a:t>
            </a:r>
            <a:r>
              <a:rPr spc="-185" dirty="0"/>
              <a:t> </a:t>
            </a:r>
            <a:r>
              <a:rPr spc="-10" dirty="0"/>
              <a:t>quality</a:t>
            </a:r>
          </a:p>
          <a:p>
            <a:pPr marL="381000" marR="608330">
              <a:lnSpc>
                <a:spcPts val="5160"/>
              </a:lnSpc>
            </a:pPr>
            <a:r>
              <a:rPr sz="2550" b="0" dirty="0">
                <a:latin typeface="Arial"/>
                <a:cs typeface="Arial"/>
              </a:rPr>
              <a:t>Using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100" dirty="0">
                <a:latin typeface="Arial"/>
                <a:cs typeface="Arial"/>
              </a:rPr>
              <a:t>only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65" dirty="0">
                <a:latin typeface="Arial"/>
                <a:cs typeface="Arial"/>
              </a:rPr>
              <a:t>samples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30" dirty="0">
                <a:latin typeface="Arial"/>
                <a:cs typeface="Arial"/>
              </a:rPr>
              <a:t>and</a:t>
            </a:r>
            <a:r>
              <a:rPr sz="2550" b="0" spc="60" dirty="0">
                <a:latin typeface="Arial"/>
                <a:cs typeface="Arial"/>
              </a:rPr>
              <a:t> </a:t>
            </a:r>
            <a:r>
              <a:rPr sz="2550" b="0" spc="105" dirty="0">
                <a:latin typeface="Arial"/>
                <a:cs typeface="Arial"/>
              </a:rPr>
              <a:t>their</a:t>
            </a:r>
            <a:r>
              <a:rPr sz="2550" b="0" spc="55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cluster</a:t>
            </a:r>
            <a:r>
              <a:rPr sz="2550" b="0" spc="60" dirty="0">
                <a:latin typeface="Arial"/>
                <a:cs typeface="Arial"/>
              </a:rPr>
              <a:t> labels </a:t>
            </a:r>
            <a:r>
              <a:rPr sz="2550" b="0" spc="85" dirty="0">
                <a:latin typeface="Arial"/>
                <a:cs typeface="Arial"/>
              </a:rPr>
              <a:t>A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35" dirty="0">
                <a:latin typeface="Arial"/>
                <a:cs typeface="Arial"/>
              </a:rPr>
              <a:t>good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80" dirty="0">
                <a:latin typeface="Arial"/>
                <a:cs typeface="Arial"/>
              </a:rPr>
              <a:t>clustering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55" dirty="0">
                <a:latin typeface="Arial"/>
                <a:cs typeface="Arial"/>
              </a:rPr>
              <a:t>has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150" dirty="0">
                <a:latin typeface="Arial"/>
                <a:cs typeface="Arial"/>
              </a:rPr>
              <a:t>tight</a:t>
            </a:r>
            <a:r>
              <a:rPr sz="2550" b="0" spc="50" dirty="0">
                <a:latin typeface="Arial"/>
                <a:cs typeface="Arial"/>
              </a:rPr>
              <a:t> </a:t>
            </a:r>
            <a:r>
              <a:rPr sz="2550" b="0" spc="35" dirty="0">
                <a:latin typeface="Arial"/>
                <a:cs typeface="Arial"/>
              </a:rPr>
              <a:t>clusters </a:t>
            </a:r>
            <a:r>
              <a:rPr sz="2550" b="0" dirty="0">
                <a:latin typeface="Arial"/>
                <a:cs typeface="Arial"/>
              </a:rPr>
              <a:t>Samples</a:t>
            </a:r>
            <a:r>
              <a:rPr sz="2550" b="0" spc="95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in</a:t>
            </a:r>
            <a:r>
              <a:rPr sz="2550" b="0" spc="95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each</a:t>
            </a:r>
            <a:r>
              <a:rPr sz="2550" b="0" spc="100" dirty="0">
                <a:latin typeface="Arial"/>
                <a:cs typeface="Arial"/>
              </a:rPr>
              <a:t> </a:t>
            </a:r>
            <a:r>
              <a:rPr sz="2550" b="0" spc="70" dirty="0">
                <a:latin typeface="Arial"/>
                <a:cs typeface="Arial"/>
              </a:rPr>
              <a:t>cluster</a:t>
            </a:r>
            <a:r>
              <a:rPr sz="2550" b="0" spc="95" dirty="0">
                <a:latin typeface="Arial"/>
                <a:cs typeface="Arial"/>
              </a:rPr>
              <a:t> </a:t>
            </a:r>
            <a:r>
              <a:rPr sz="2550" b="0" spc="110" dirty="0">
                <a:latin typeface="Arial"/>
                <a:cs typeface="Arial"/>
              </a:rPr>
              <a:t>bunched</a:t>
            </a:r>
            <a:r>
              <a:rPr sz="2550" b="0" spc="100" dirty="0">
                <a:latin typeface="Arial"/>
                <a:cs typeface="Arial"/>
              </a:rPr>
              <a:t> together</a:t>
            </a:r>
            <a:endParaRPr sz="25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6187D10-CB00-B0DF-4457-BAA8CA9E3D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3CC3DA1-8B30-B106-A9D3-C931E15EA630}"/>
              </a:ext>
            </a:extLst>
          </p:cNvPr>
          <p:cNvSpPr txBox="1"/>
          <p:nvPr/>
        </p:nvSpPr>
        <p:spPr>
          <a:xfrm>
            <a:off x="614110" y="3663506"/>
            <a:ext cx="13489239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In clustering, </a:t>
            </a:r>
            <a:r>
              <a:rPr lang="en" altLang="ko-KR" b="1" dirty="0"/>
              <a:t>inertia</a:t>
            </a:r>
            <a:r>
              <a:rPr lang="en" altLang="ko-KR" dirty="0"/>
              <a:t> measures the quality of clusters by calculating the sum of squared distances (SSD) between each data point and its assigned cluster's centroid.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" altLang="ko-KR" dirty="0"/>
              <a:t>It reflects how tightly the data points in a cluster are grouped around the centroid.</a:t>
            </a:r>
          </a:p>
          <a:p>
            <a:endParaRPr lang="en" altLang="ko-KR" dirty="0"/>
          </a:p>
          <a:p>
            <a:r>
              <a:rPr lang="en" altLang="ko-KR" dirty="0"/>
              <a:t>Lower Inertia Indicates Better Clustering:</a:t>
            </a:r>
          </a:p>
          <a:p>
            <a:endParaRPr lang="en" altLang="ko-KR" dirty="0"/>
          </a:p>
          <a:p>
            <a:pPr marL="342900" indent="-342900">
              <a:buFont typeface="+mj-lt"/>
              <a:buAutoNum type="arabicPeriod"/>
            </a:pPr>
            <a:r>
              <a:rPr lang="en" altLang="ko-KR" dirty="0"/>
              <a:t>A lower inertia value suggests that the data points within each cluster are closer to their centroids, indicating tighter and more cohesive clusters.</a:t>
            </a:r>
          </a:p>
          <a:p>
            <a:pPr marL="342900" indent="-342900">
              <a:buFont typeface="+mj-lt"/>
              <a:buAutoNum type="arabicPeriod"/>
            </a:pPr>
            <a:endParaRPr lang="en" altLang="ko-KR" dirty="0"/>
          </a:p>
          <a:p>
            <a:pPr marL="342900" indent="-342900">
              <a:buFont typeface="+mj-lt"/>
              <a:buAutoNum type="arabicPeriod"/>
            </a:pPr>
            <a:endParaRPr lang="en" altLang="ko-KR" dirty="0"/>
          </a:p>
          <a:p>
            <a:pPr marL="342900" indent="-342900">
              <a:buFont typeface="+mj-lt"/>
              <a:buAutoNum type="arabicPeriod"/>
            </a:pPr>
            <a:r>
              <a:rPr lang="en" altLang="ko-KR" dirty="0"/>
              <a:t>Minimizing Inertia: The goal of algorithms like K-Means is to minimize inertia. It adjusts the centroids and reassigns points to clusters iteratively to achieve this.</a:t>
            </a:r>
          </a:p>
          <a:p>
            <a:endParaRPr lang="ko-KR" altLang="en-US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Inertia</a:t>
            </a:r>
            <a:r>
              <a:rPr spc="-220" dirty="0"/>
              <a:t> </a:t>
            </a:r>
            <a:r>
              <a:rPr spc="-130" dirty="0"/>
              <a:t>measures</a:t>
            </a:r>
            <a:r>
              <a:rPr spc="-180" dirty="0"/>
              <a:t> </a:t>
            </a:r>
            <a:r>
              <a:rPr spc="-130" dirty="0"/>
              <a:t>clustering</a:t>
            </a:r>
            <a:r>
              <a:rPr spc="-185" dirty="0"/>
              <a:t> </a:t>
            </a:r>
            <a:r>
              <a:rPr spc="-10" dirty="0"/>
              <a:t>quality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4278312"/>
            <a:ext cx="9887585" cy="2436495"/>
            <a:chOff x="491289" y="4278312"/>
            <a:chExt cx="9887585" cy="2436495"/>
          </a:xfrm>
        </p:grpSpPr>
        <p:sp>
          <p:nvSpPr>
            <p:cNvPr id="4" name="object 4"/>
            <p:cNvSpPr/>
            <p:nvPr/>
          </p:nvSpPr>
          <p:spPr>
            <a:xfrm>
              <a:off x="491289" y="4278312"/>
              <a:ext cx="9887585" cy="2436495"/>
            </a:xfrm>
            <a:custGeom>
              <a:avLst/>
              <a:gdLst/>
              <a:ahLst/>
              <a:cxnLst/>
              <a:rect l="l" t="t" r="r" b="b"/>
              <a:pathLst>
                <a:path w="9887585" h="2436495">
                  <a:moveTo>
                    <a:pt x="9810694" y="2435976"/>
                  </a:moveTo>
                  <a:lnTo>
                    <a:pt x="76505" y="2435976"/>
                  </a:lnTo>
                  <a:lnTo>
                    <a:pt x="71180" y="2435452"/>
                  </a:lnTo>
                  <a:lnTo>
                    <a:pt x="31920" y="2419189"/>
                  </a:lnTo>
                  <a:lnTo>
                    <a:pt x="4175" y="2380461"/>
                  </a:lnTo>
                  <a:lnTo>
                    <a:pt x="0" y="2359471"/>
                  </a:lnTo>
                  <a:lnTo>
                    <a:pt x="0" y="2354095"/>
                  </a:lnTo>
                  <a:lnTo>
                    <a:pt x="0" y="76505"/>
                  </a:lnTo>
                  <a:lnTo>
                    <a:pt x="16786" y="31919"/>
                  </a:lnTo>
                  <a:lnTo>
                    <a:pt x="55513" y="4174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2359471"/>
                  </a:lnTo>
                  <a:lnTo>
                    <a:pt x="9870412" y="2404055"/>
                  </a:lnTo>
                  <a:lnTo>
                    <a:pt x="9831684" y="2431799"/>
                  </a:lnTo>
                  <a:lnTo>
                    <a:pt x="9816018" y="2435452"/>
                  </a:lnTo>
                  <a:lnTo>
                    <a:pt x="9810694" y="2435976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53910" y="4520679"/>
              <a:ext cx="4150995" cy="254635"/>
            </a:xfrm>
            <a:custGeom>
              <a:avLst/>
              <a:gdLst/>
              <a:ahLst/>
              <a:cxnLst/>
              <a:rect l="l" t="t" r="r" b="b"/>
              <a:pathLst>
                <a:path w="4150995" h="254635">
                  <a:moveTo>
                    <a:pt x="133172" y="9004"/>
                  </a:moveTo>
                  <a:lnTo>
                    <a:pt x="83997" y="9004"/>
                  </a:lnTo>
                  <a:lnTo>
                    <a:pt x="74777" y="9690"/>
                  </a:lnTo>
                  <a:lnTo>
                    <a:pt x="44157" y="33058"/>
                  </a:lnTo>
                  <a:lnTo>
                    <a:pt x="41236" y="49936"/>
                  </a:lnTo>
                  <a:lnTo>
                    <a:pt x="41236" y="58242"/>
                  </a:lnTo>
                  <a:lnTo>
                    <a:pt x="0" y="58242"/>
                  </a:lnTo>
                  <a:lnTo>
                    <a:pt x="0" y="90106"/>
                  </a:lnTo>
                  <a:lnTo>
                    <a:pt x="41236" y="90106"/>
                  </a:lnTo>
                  <a:lnTo>
                    <a:pt x="41236" y="207987"/>
                  </a:lnTo>
                  <a:lnTo>
                    <a:pt x="75184" y="207987"/>
                  </a:lnTo>
                  <a:lnTo>
                    <a:pt x="75184" y="90106"/>
                  </a:lnTo>
                  <a:lnTo>
                    <a:pt x="133172" y="90106"/>
                  </a:lnTo>
                  <a:lnTo>
                    <a:pt x="133172" y="58242"/>
                  </a:lnTo>
                  <a:lnTo>
                    <a:pt x="75184" y="58242"/>
                  </a:lnTo>
                  <a:lnTo>
                    <a:pt x="75184" y="46697"/>
                  </a:lnTo>
                  <a:lnTo>
                    <a:pt x="75895" y="44500"/>
                  </a:lnTo>
                  <a:lnTo>
                    <a:pt x="78790" y="41592"/>
                  </a:lnTo>
                  <a:lnTo>
                    <a:pt x="81013" y="40868"/>
                  </a:lnTo>
                  <a:lnTo>
                    <a:pt x="133172" y="40868"/>
                  </a:lnTo>
                  <a:lnTo>
                    <a:pt x="133172" y="9004"/>
                  </a:lnTo>
                  <a:close/>
                </a:path>
                <a:path w="4150995" h="254635">
                  <a:moveTo>
                    <a:pt x="287604" y="110324"/>
                  </a:moveTo>
                  <a:lnTo>
                    <a:pt x="286677" y="97904"/>
                  </a:lnTo>
                  <a:lnTo>
                    <a:pt x="283908" y="86804"/>
                  </a:lnTo>
                  <a:lnTo>
                    <a:pt x="282194" y="83185"/>
                  </a:lnTo>
                  <a:lnTo>
                    <a:pt x="279285" y="77000"/>
                  </a:lnTo>
                  <a:lnTo>
                    <a:pt x="245008" y="53809"/>
                  </a:lnTo>
                  <a:lnTo>
                    <a:pt x="233260" y="52832"/>
                  </a:lnTo>
                  <a:lnTo>
                    <a:pt x="217957" y="54902"/>
                  </a:lnTo>
                  <a:lnTo>
                    <a:pt x="206629" y="61137"/>
                  </a:lnTo>
                  <a:lnTo>
                    <a:pt x="199263" y="71526"/>
                  </a:lnTo>
                  <a:lnTo>
                    <a:pt x="195859" y="86080"/>
                  </a:lnTo>
                  <a:lnTo>
                    <a:pt x="195935" y="85636"/>
                  </a:lnTo>
                  <a:lnTo>
                    <a:pt x="201206" y="55410"/>
                  </a:lnTo>
                  <a:lnTo>
                    <a:pt x="167830" y="55410"/>
                  </a:lnTo>
                  <a:lnTo>
                    <a:pt x="167830" y="207987"/>
                  </a:lnTo>
                  <a:lnTo>
                    <a:pt x="201714" y="207987"/>
                  </a:lnTo>
                  <a:lnTo>
                    <a:pt x="201764" y="102717"/>
                  </a:lnTo>
                  <a:lnTo>
                    <a:pt x="204000" y="95669"/>
                  </a:lnTo>
                  <a:lnTo>
                    <a:pt x="212826" y="86080"/>
                  </a:lnTo>
                  <a:lnTo>
                    <a:pt x="213296" y="85636"/>
                  </a:lnTo>
                  <a:lnTo>
                    <a:pt x="219621" y="83185"/>
                  </a:lnTo>
                  <a:lnTo>
                    <a:pt x="236245" y="83185"/>
                  </a:lnTo>
                  <a:lnTo>
                    <a:pt x="242646" y="85636"/>
                  </a:lnTo>
                  <a:lnTo>
                    <a:pt x="251498" y="95453"/>
                  </a:lnTo>
                  <a:lnTo>
                    <a:pt x="251561" y="95669"/>
                  </a:lnTo>
                  <a:lnTo>
                    <a:pt x="253720" y="102717"/>
                  </a:lnTo>
                  <a:lnTo>
                    <a:pt x="253720" y="124167"/>
                  </a:lnTo>
                  <a:lnTo>
                    <a:pt x="287604" y="124167"/>
                  </a:lnTo>
                  <a:lnTo>
                    <a:pt x="287604" y="110324"/>
                  </a:lnTo>
                  <a:close/>
                </a:path>
                <a:path w="4150995" h="254635">
                  <a:moveTo>
                    <a:pt x="436613" y="112077"/>
                  </a:moveTo>
                  <a:lnTo>
                    <a:pt x="435597" y="99148"/>
                  </a:lnTo>
                  <a:lnTo>
                    <a:pt x="432536" y="87630"/>
                  </a:lnTo>
                  <a:lnTo>
                    <a:pt x="430796" y="84188"/>
                  </a:lnTo>
                  <a:lnTo>
                    <a:pt x="427443" y="77520"/>
                  </a:lnTo>
                  <a:lnTo>
                    <a:pt x="420306" y="68821"/>
                  </a:lnTo>
                  <a:lnTo>
                    <a:pt x="411480" y="61823"/>
                  </a:lnTo>
                  <a:lnTo>
                    <a:pt x="402742" y="57569"/>
                  </a:lnTo>
                  <a:lnTo>
                    <a:pt x="402742" y="102933"/>
                  </a:lnTo>
                  <a:lnTo>
                    <a:pt x="402742" y="160464"/>
                  </a:lnTo>
                  <a:lnTo>
                    <a:pt x="400507" y="167513"/>
                  </a:lnTo>
                  <a:lnTo>
                    <a:pt x="391655" y="176885"/>
                  </a:lnTo>
                  <a:lnTo>
                    <a:pt x="385165" y="179209"/>
                  </a:lnTo>
                  <a:lnTo>
                    <a:pt x="367995" y="179209"/>
                  </a:lnTo>
                  <a:lnTo>
                    <a:pt x="361492" y="176885"/>
                  </a:lnTo>
                  <a:lnTo>
                    <a:pt x="352679" y="167513"/>
                  </a:lnTo>
                  <a:lnTo>
                    <a:pt x="350469" y="160464"/>
                  </a:lnTo>
                  <a:lnTo>
                    <a:pt x="350469" y="102933"/>
                  </a:lnTo>
                  <a:lnTo>
                    <a:pt x="352679" y="95897"/>
                  </a:lnTo>
                  <a:lnTo>
                    <a:pt x="361492" y="86537"/>
                  </a:lnTo>
                  <a:lnTo>
                    <a:pt x="367995" y="84188"/>
                  </a:lnTo>
                  <a:lnTo>
                    <a:pt x="385165" y="84188"/>
                  </a:lnTo>
                  <a:lnTo>
                    <a:pt x="391655" y="86537"/>
                  </a:lnTo>
                  <a:lnTo>
                    <a:pt x="396062" y="91236"/>
                  </a:lnTo>
                  <a:lnTo>
                    <a:pt x="400507" y="95897"/>
                  </a:lnTo>
                  <a:lnTo>
                    <a:pt x="402742" y="57569"/>
                  </a:lnTo>
                  <a:lnTo>
                    <a:pt x="376605" y="52832"/>
                  </a:lnTo>
                  <a:lnTo>
                    <a:pt x="363550" y="53822"/>
                  </a:lnTo>
                  <a:lnTo>
                    <a:pt x="325678" y="77520"/>
                  </a:lnTo>
                  <a:lnTo>
                    <a:pt x="316534" y="151066"/>
                  </a:lnTo>
                  <a:lnTo>
                    <a:pt x="317550" y="164096"/>
                  </a:lnTo>
                  <a:lnTo>
                    <a:pt x="341630" y="201574"/>
                  </a:lnTo>
                  <a:lnTo>
                    <a:pt x="376605" y="210566"/>
                  </a:lnTo>
                  <a:lnTo>
                    <a:pt x="389636" y="209575"/>
                  </a:lnTo>
                  <a:lnTo>
                    <a:pt x="427443" y="185851"/>
                  </a:lnTo>
                  <a:lnTo>
                    <a:pt x="430771" y="179209"/>
                  </a:lnTo>
                  <a:lnTo>
                    <a:pt x="432536" y="175704"/>
                  </a:lnTo>
                  <a:lnTo>
                    <a:pt x="435597" y="164096"/>
                  </a:lnTo>
                  <a:lnTo>
                    <a:pt x="436613" y="151066"/>
                  </a:lnTo>
                  <a:lnTo>
                    <a:pt x="436613" y="112077"/>
                  </a:lnTo>
                  <a:close/>
                </a:path>
                <a:path w="4150995" h="254635">
                  <a:moveTo>
                    <a:pt x="596963" y="94830"/>
                  </a:moveTo>
                  <a:lnTo>
                    <a:pt x="593979" y="75996"/>
                  </a:lnTo>
                  <a:lnTo>
                    <a:pt x="591997" y="70891"/>
                  </a:lnTo>
                  <a:lnTo>
                    <a:pt x="563524" y="52832"/>
                  </a:lnTo>
                  <a:lnTo>
                    <a:pt x="556006" y="52832"/>
                  </a:lnTo>
                  <a:lnTo>
                    <a:pt x="549998" y="54902"/>
                  </a:lnTo>
                  <a:lnTo>
                    <a:pt x="549224" y="55410"/>
                  </a:lnTo>
                  <a:lnTo>
                    <a:pt x="539496" y="63741"/>
                  </a:lnTo>
                  <a:lnTo>
                    <a:pt x="539216" y="64592"/>
                  </a:lnTo>
                  <a:lnTo>
                    <a:pt x="538721" y="63182"/>
                  </a:lnTo>
                  <a:lnTo>
                    <a:pt x="537921" y="62522"/>
                  </a:lnTo>
                  <a:lnTo>
                    <a:pt x="537921" y="70891"/>
                  </a:lnTo>
                  <a:lnTo>
                    <a:pt x="537692" y="69329"/>
                  </a:lnTo>
                  <a:lnTo>
                    <a:pt x="537794" y="68986"/>
                  </a:lnTo>
                  <a:lnTo>
                    <a:pt x="537921" y="70891"/>
                  </a:lnTo>
                  <a:lnTo>
                    <a:pt x="537921" y="62522"/>
                  </a:lnTo>
                  <a:lnTo>
                    <a:pt x="533806" y="59067"/>
                  </a:lnTo>
                  <a:lnTo>
                    <a:pt x="528929" y="54902"/>
                  </a:lnTo>
                  <a:lnTo>
                    <a:pt x="522935" y="52832"/>
                  </a:lnTo>
                  <a:lnTo>
                    <a:pt x="508279" y="52832"/>
                  </a:lnTo>
                  <a:lnTo>
                    <a:pt x="502361" y="54902"/>
                  </a:lnTo>
                  <a:lnTo>
                    <a:pt x="502145" y="54902"/>
                  </a:lnTo>
                  <a:lnTo>
                    <a:pt x="495719" y="60515"/>
                  </a:lnTo>
                  <a:lnTo>
                    <a:pt x="496646" y="55410"/>
                  </a:lnTo>
                  <a:lnTo>
                    <a:pt x="490321" y="55410"/>
                  </a:lnTo>
                  <a:lnTo>
                    <a:pt x="490321" y="70866"/>
                  </a:lnTo>
                  <a:lnTo>
                    <a:pt x="490042" y="69329"/>
                  </a:lnTo>
                  <a:lnTo>
                    <a:pt x="490156" y="68986"/>
                  </a:lnTo>
                  <a:lnTo>
                    <a:pt x="490181" y="69329"/>
                  </a:lnTo>
                  <a:lnTo>
                    <a:pt x="490321" y="70866"/>
                  </a:lnTo>
                  <a:lnTo>
                    <a:pt x="490321" y="55410"/>
                  </a:lnTo>
                  <a:lnTo>
                    <a:pt x="465543" y="55410"/>
                  </a:lnTo>
                  <a:lnTo>
                    <a:pt x="465543" y="207987"/>
                  </a:lnTo>
                  <a:lnTo>
                    <a:pt x="497662" y="207987"/>
                  </a:lnTo>
                  <a:lnTo>
                    <a:pt x="497662" y="89662"/>
                  </a:lnTo>
                  <a:lnTo>
                    <a:pt x="498436" y="86347"/>
                  </a:lnTo>
                  <a:lnTo>
                    <a:pt x="501586" y="82359"/>
                  </a:lnTo>
                  <a:lnTo>
                    <a:pt x="503847" y="81356"/>
                  </a:lnTo>
                  <a:lnTo>
                    <a:pt x="509892" y="81356"/>
                  </a:lnTo>
                  <a:lnTo>
                    <a:pt x="512165" y="82359"/>
                  </a:lnTo>
                  <a:lnTo>
                    <a:pt x="515493" y="86347"/>
                  </a:lnTo>
                  <a:lnTo>
                    <a:pt x="516521" y="89662"/>
                  </a:lnTo>
                  <a:lnTo>
                    <a:pt x="516610" y="207987"/>
                  </a:lnTo>
                  <a:lnTo>
                    <a:pt x="545896" y="207987"/>
                  </a:lnTo>
                  <a:lnTo>
                    <a:pt x="545922" y="89662"/>
                  </a:lnTo>
                  <a:lnTo>
                    <a:pt x="546849" y="86347"/>
                  </a:lnTo>
                  <a:lnTo>
                    <a:pt x="550240" y="82359"/>
                  </a:lnTo>
                  <a:lnTo>
                    <a:pt x="552551" y="81356"/>
                  </a:lnTo>
                  <a:lnTo>
                    <a:pt x="558596" y="81356"/>
                  </a:lnTo>
                  <a:lnTo>
                    <a:pt x="560806" y="82359"/>
                  </a:lnTo>
                  <a:lnTo>
                    <a:pt x="563867" y="86347"/>
                  </a:lnTo>
                  <a:lnTo>
                    <a:pt x="564781" y="89662"/>
                  </a:lnTo>
                  <a:lnTo>
                    <a:pt x="564845" y="207987"/>
                  </a:lnTo>
                  <a:lnTo>
                    <a:pt x="596963" y="207987"/>
                  </a:lnTo>
                  <a:lnTo>
                    <a:pt x="596963" y="94830"/>
                  </a:lnTo>
                  <a:close/>
                </a:path>
                <a:path w="4150995" h="254635">
                  <a:moveTo>
                    <a:pt x="3342589" y="14859"/>
                  </a:moveTo>
                  <a:lnTo>
                    <a:pt x="3340506" y="9817"/>
                  </a:lnTo>
                  <a:lnTo>
                    <a:pt x="3332200" y="1968"/>
                  </a:lnTo>
                  <a:lnTo>
                    <a:pt x="3326904" y="0"/>
                  </a:lnTo>
                  <a:lnTo>
                    <a:pt x="3308896" y="0"/>
                  </a:lnTo>
                  <a:lnTo>
                    <a:pt x="3303613" y="1968"/>
                  </a:lnTo>
                  <a:lnTo>
                    <a:pt x="3295294" y="9817"/>
                  </a:lnTo>
                  <a:lnTo>
                    <a:pt x="3293224" y="14859"/>
                  </a:lnTo>
                  <a:lnTo>
                    <a:pt x="3293224" y="27241"/>
                  </a:lnTo>
                  <a:lnTo>
                    <a:pt x="3295256" y="32232"/>
                  </a:lnTo>
                  <a:lnTo>
                    <a:pt x="3299333" y="36017"/>
                  </a:lnTo>
                  <a:lnTo>
                    <a:pt x="3303447" y="39751"/>
                  </a:lnTo>
                  <a:lnTo>
                    <a:pt x="3308769" y="41617"/>
                  </a:lnTo>
                  <a:lnTo>
                    <a:pt x="3326828" y="41617"/>
                  </a:lnTo>
                  <a:lnTo>
                    <a:pt x="3332099" y="39751"/>
                  </a:lnTo>
                  <a:lnTo>
                    <a:pt x="3340506" y="32232"/>
                  </a:lnTo>
                  <a:lnTo>
                    <a:pt x="3342589" y="27241"/>
                  </a:lnTo>
                  <a:lnTo>
                    <a:pt x="3342589" y="14859"/>
                  </a:lnTo>
                  <a:close/>
                </a:path>
                <a:path w="4150995" h="254635">
                  <a:moveTo>
                    <a:pt x="3385159" y="176123"/>
                  </a:moveTo>
                  <a:lnTo>
                    <a:pt x="3337420" y="176123"/>
                  </a:lnTo>
                  <a:lnTo>
                    <a:pt x="3337420" y="55410"/>
                  </a:lnTo>
                  <a:lnTo>
                    <a:pt x="3259658" y="55410"/>
                  </a:lnTo>
                  <a:lnTo>
                    <a:pt x="3259658" y="87274"/>
                  </a:lnTo>
                  <a:lnTo>
                    <a:pt x="3303486" y="87274"/>
                  </a:lnTo>
                  <a:lnTo>
                    <a:pt x="3303486" y="176123"/>
                  </a:lnTo>
                  <a:lnTo>
                    <a:pt x="3253232" y="176123"/>
                  </a:lnTo>
                  <a:lnTo>
                    <a:pt x="3253232" y="207987"/>
                  </a:lnTo>
                  <a:lnTo>
                    <a:pt x="3385159" y="207987"/>
                  </a:lnTo>
                  <a:lnTo>
                    <a:pt x="3385159" y="176123"/>
                  </a:lnTo>
                  <a:close/>
                </a:path>
                <a:path w="4150995" h="254635">
                  <a:moveTo>
                    <a:pt x="3535680" y="94830"/>
                  </a:moveTo>
                  <a:lnTo>
                    <a:pt x="3532695" y="75996"/>
                  </a:lnTo>
                  <a:lnTo>
                    <a:pt x="3530727" y="70891"/>
                  </a:lnTo>
                  <a:lnTo>
                    <a:pt x="3502241" y="52832"/>
                  </a:lnTo>
                  <a:lnTo>
                    <a:pt x="3494722" y="52832"/>
                  </a:lnTo>
                  <a:lnTo>
                    <a:pt x="3488715" y="54902"/>
                  </a:lnTo>
                  <a:lnTo>
                    <a:pt x="3487940" y="55410"/>
                  </a:lnTo>
                  <a:lnTo>
                    <a:pt x="3479508" y="62636"/>
                  </a:lnTo>
                  <a:lnTo>
                    <a:pt x="3479508" y="68986"/>
                  </a:lnTo>
                  <a:lnTo>
                    <a:pt x="3479482" y="69329"/>
                  </a:lnTo>
                  <a:lnTo>
                    <a:pt x="3479063" y="73355"/>
                  </a:lnTo>
                  <a:lnTo>
                    <a:pt x="3479508" y="68986"/>
                  </a:lnTo>
                  <a:lnTo>
                    <a:pt x="3479508" y="62636"/>
                  </a:lnTo>
                  <a:lnTo>
                    <a:pt x="3478212" y="63741"/>
                  </a:lnTo>
                  <a:lnTo>
                    <a:pt x="3477933" y="64592"/>
                  </a:lnTo>
                  <a:lnTo>
                    <a:pt x="3477437" y="63182"/>
                  </a:lnTo>
                  <a:lnTo>
                    <a:pt x="3476637" y="62522"/>
                  </a:lnTo>
                  <a:lnTo>
                    <a:pt x="3476637" y="70891"/>
                  </a:lnTo>
                  <a:lnTo>
                    <a:pt x="3476409" y="69329"/>
                  </a:lnTo>
                  <a:lnTo>
                    <a:pt x="3476523" y="68986"/>
                  </a:lnTo>
                  <a:lnTo>
                    <a:pt x="3476637" y="70891"/>
                  </a:lnTo>
                  <a:lnTo>
                    <a:pt x="3476637" y="62522"/>
                  </a:lnTo>
                  <a:lnTo>
                    <a:pt x="3472523" y="59067"/>
                  </a:lnTo>
                  <a:lnTo>
                    <a:pt x="3467646" y="54902"/>
                  </a:lnTo>
                  <a:lnTo>
                    <a:pt x="3461651" y="52832"/>
                  </a:lnTo>
                  <a:lnTo>
                    <a:pt x="3446996" y="52832"/>
                  </a:lnTo>
                  <a:lnTo>
                    <a:pt x="3441077" y="54902"/>
                  </a:lnTo>
                  <a:lnTo>
                    <a:pt x="3440861" y="54902"/>
                  </a:lnTo>
                  <a:lnTo>
                    <a:pt x="3434435" y="60515"/>
                  </a:lnTo>
                  <a:lnTo>
                    <a:pt x="3435362" y="55410"/>
                  </a:lnTo>
                  <a:lnTo>
                    <a:pt x="3429038" y="55410"/>
                  </a:lnTo>
                  <a:lnTo>
                    <a:pt x="3429038" y="70866"/>
                  </a:lnTo>
                  <a:lnTo>
                    <a:pt x="3428758" y="69329"/>
                  </a:lnTo>
                  <a:lnTo>
                    <a:pt x="3428873" y="68986"/>
                  </a:lnTo>
                  <a:lnTo>
                    <a:pt x="3428898" y="69329"/>
                  </a:lnTo>
                  <a:lnTo>
                    <a:pt x="3429038" y="70866"/>
                  </a:lnTo>
                  <a:lnTo>
                    <a:pt x="3429038" y="55410"/>
                  </a:lnTo>
                  <a:lnTo>
                    <a:pt x="3404260" y="55410"/>
                  </a:lnTo>
                  <a:lnTo>
                    <a:pt x="3404260" y="207987"/>
                  </a:lnTo>
                  <a:lnTo>
                    <a:pt x="3436378" y="207987"/>
                  </a:lnTo>
                  <a:lnTo>
                    <a:pt x="3436378" y="89662"/>
                  </a:lnTo>
                  <a:lnTo>
                    <a:pt x="3437153" y="86347"/>
                  </a:lnTo>
                  <a:lnTo>
                    <a:pt x="3440303" y="82359"/>
                  </a:lnTo>
                  <a:lnTo>
                    <a:pt x="3442563" y="81356"/>
                  </a:lnTo>
                  <a:lnTo>
                    <a:pt x="3448608" y="81356"/>
                  </a:lnTo>
                  <a:lnTo>
                    <a:pt x="3450882" y="82359"/>
                  </a:lnTo>
                  <a:lnTo>
                    <a:pt x="3454209" y="86347"/>
                  </a:lnTo>
                  <a:lnTo>
                    <a:pt x="3455238" y="89662"/>
                  </a:lnTo>
                  <a:lnTo>
                    <a:pt x="3455327" y="207987"/>
                  </a:lnTo>
                  <a:lnTo>
                    <a:pt x="3484613" y="207987"/>
                  </a:lnTo>
                  <a:lnTo>
                    <a:pt x="3484638" y="89662"/>
                  </a:lnTo>
                  <a:lnTo>
                    <a:pt x="3485565" y="86347"/>
                  </a:lnTo>
                  <a:lnTo>
                    <a:pt x="3488956" y="82359"/>
                  </a:lnTo>
                  <a:lnTo>
                    <a:pt x="3491268" y="81356"/>
                  </a:lnTo>
                  <a:lnTo>
                    <a:pt x="3497313" y="81356"/>
                  </a:lnTo>
                  <a:lnTo>
                    <a:pt x="3499523" y="82359"/>
                  </a:lnTo>
                  <a:lnTo>
                    <a:pt x="3502583" y="86347"/>
                  </a:lnTo>
                  <a:lnTo>
                    <a:pt x="3503498" y="89662"/>
                  </a:lnTo>
                  <a:lnTo>
                    <a:pt x="3503561" y="207987"/>
                  </a:lnTo>
                  <a:lnTo>
                    <a:pt x="3535680" y="207987"/>
                  </a:lnTo>
                  <a:lnTo>
                    <a:pt x="3535680" y="94830"/>
                  </a:lnTo>
                  <a:close/>
                </a:path>
                <a:path w="4150995" h="254635">
                  <a:moveTo>
                    <a:pt x="3684689" y="110820"/>
                  </a:moveTo>
                  <a:lnTo>
                    <a:pt x="3683825" y="98348"/>
                  </a:lnTo>
                  <a:lnTo>
                    <a:pt x="3681234" y="87160"/>
                  </a:lnTo>
                  <a:lnTo>
                    <a:pt x="3679698" y="83680"/>
                  </a:lnTo>
                  <a:lnTo>
                    <a:pt x="3676904" y="77279"/>
                  </a:lnTo>
                  <a:lnTo>
                    <a:pt x="3670833" y="68694"/>
                  </a:lnTo>
                  <a:lnTo>
                    <a:pt x="3663315" y="61760"/>
                  </a:lnTo>
                  <a:lnTo>
                    <a:pt x="3654526" y="56794"/>
                  </a:lnTo>
                  <a:lnTo>
                    <a:pt x="3650818" y="55702"/>
                  </a:lnTo>
                  <a:lnTo>
                    <a:pt x="3650818" y="102717"/>
                  </a:lnTo>
                  <a:lnTo>
                    <a:pt x="3650818" y="160680"/>
                  </a:lnTo>
                  <a:lnTo>
                    <a:pt x="3648646" y="167855"/>
                  </a:lnTo>
                  <a:lnTo>
                    <a:pt x="3640086" y="177253"/>
                  </a:lnTo>
                  <a:lnTo>
                    <a:pt x="3633711" y="179717"/>
                  </a:lnTo>
                  <a:lnTo>
                    <a:pt x="3617379" y="179717"/>
                  </a:lnTo>
                  <a:lnTo>
                    <a:pt x="3599675" y="160680"/>
                  </a:lnTo>
                  <a:lnTo>
                    <a:pt x="3599675" y="102717"/>
                  </a:lnTo>
                  <a:lnTo>
                    <a:pt x="3601847" y="96024"/>
                  </a:lnTo>
                  <a:lnTo>
                    <a:pt x="3609822" y="87464"/>
                  </a:lnTo>
                  <a:lnTo>
                    <a:pt x="3610102" y="87160"/>
                  </a:lnTo>
                  <a:lnTo>
                    <a:pt x="3611308" y="86055"/>
                  </a:lnTo>
                  <a:lnTo>
                    <a:pt x="3617379" y="83680"/>
                  </a:lnTo>
                  <a:lnTo>
                    <a:pt x="3633711" y="83680"/>
                  </a:lnTo>
                  <a:lnTo>
                    <a:pt x="3639997" y="86055"/>
                  </a:lnTo>
                  <a:lnTo>
                    <a:pt x="3648646" y="95542"/>
                  </a:lnTo>
                  <a:lnTo>
                    <a:pt x="3650818" y="102717"/>
                  </a:lnTo>
                  <a:lnTo>
                    <a:pt x="3650818" y="55702"/>
                  </a:lnTo>
                  <a:lnTo>
                    <a:pt x="3644481" y="53822"/>
                  </a:lnTo>
                  <a:lnTo>
                    <a:pt x="3633178" y="52832"/>
                  </a:lnTo>
                  <a:lnTo>
                    <a:pt x="3624656" y="53403"/>
                  </a:lnTo>
                  <a:lnTo>
                    <a:pt x="3597554" y="68199"/>
                  </a:lnTo>
                  <a:lnTo>
                    <a:pt x="3599561" y="55410"/>
                  </a:lnTo>
                  <a:lnTo>
                    <a:pt x="3565677" y="55410"/>
                  </a:lnTo>
                  <a:lnTo>
                    <a:pt x="3565677" y="254393"/>
                  </a:lnTo>
                  <a:lnTo>
                    <a:pt x="3599561" y="254393"/>
                  </a:lnTo>
                  <a:lnTo>
                    <a:pt x="3599370" y="206603"/>
                  </a:lnTo>
                  <a:lnTo>
                    <a:pt x="3597554" y="195275"/>
                  </a:lnTo>
                  <a:lnTo>
                    <a:pt x="3598164" y="196354"/>
                  </a:lnTo>
                  <a:lnTo>
                    <a:pt x="3633178" y="210566"/>
                  </a:lnTo>
                  <a:lnTo>
                    <a:pt x="3644481" y="209575"/>
                  </a:lnTo>
                  <a:lnTo>
                    <a:pt x="3676904" y="186105"/>
                  </a:lnTo>
                  <a:lnTo>
                    <a:pt x="3679685" y="179717"/>
                  </a:lnTo>
                  <a:lnTo>
                    <a:pt x="3681234" y="176174"/>
                  </a:lnTo>
                  <a:lnTo>
                    <a:pt x="3683825" y="164909"/>
                  </a:lnTo>
                  <a:lnTo>
                    <a:pt x="3684689" y="152323"/>
                  </a:lnTo>
                  <a:lnTo>
                    <a:pt x="3684689" y="110820"/>
                  </a:lnTo>
                  <a:close/>
                </a:path>
                <a:path w="4150995" h="254635">
                  <a:moveTo>
                    <a:pt x="3839375" y="112077"/>
                  </a:moveTo>
                  <a:lnTo>
                    <a:pt x="3838346" y="99148"/>
                  </a:lnTo>
                  <a:lnTo>
                    <a:pt x="3835298" y="87630"/>
                  </a:lnTo>
                  <a:lnTo>
                    <a:pt x="3833558" y="84188"/>
                  </a:lnTo>
                  <a:lnTo>
                    <a:pt x="3830193" y="77520"/>
                  </a:lnTo>
                  <a:lnTo>
                    <a:pt x="3823055" y="68821"/>
                  </a:lnTo>
                  <a:lnTo>
                    <a:pt x="3814241" y="61823"/>
                  </a:lnTo>
                  <a:lnTo>
                    <a:pt x="3805491" y="57556"/>
                  </a:lnTo>
                  <a:lnTo>
                    <a:pt x="3805491" y="102933"/>
                  </a:lnTo>
                  <a:lnTo>
                    <a:pt x="3805491" y="160464"/>
                  </a:lnTo>
                  <a:lnTo>
                    <a:pt x="3803269" y="167513"/>
                  </a:lnTo>
                  <a:lnTo>
                    <a:pt x="3794404" y="176885"/>
                  </a:lnTo>
                  <a:lnTo>
                    <a:pt x="3787927" y="179209"/>
                  </a:lnTo>
                  <a:lnTo>
                    <a:pt x="3770757" y="179209"/>
                  </a:lnTo>
                  <a:lnTo>
                    <a:pt x="3764242" y="176885"/>
                  </a:lnTo>
                  <a:lnTo>
                    <a:pt x="3755428" y="167513"/>
                  </a:lnTo>
                  <a:lnTo>
                    <a:pt x="3753231" y="160464"/>
                  </a:lnTo>
                  <a:lnTo>
                    <a:pt x="3753231" y="102933"/>
                  </a:lnTo>
                  <a:lnTo>
                    <a:pt x="3755428" y="95897"/>
                  </a:lnTo>
                  <a:lnTo>
                    <a:pt x="3764242" y="86537"/>
                  </a:lnTo>
                  <a:lnTo>
                    <a:pt x="3770757" y="84188"/>
                  </a:lnTo>
                  <a:lnTo>
                    <a:pt x="3787927" y="84188"/>
                  </a:lnTo>
                  <a:lnTo>
                    <a:pt x="3794404" y="86537"/>
                  </a:lnTo>
                  <a:lnTo>
                    <a:pt x="3798824" y="91236"/>
                  </a:lnTo>
                  <a:lnTo>
                    <a:pt x="3803269" y="95897"/>
                  </a:lnTo>
                  <a:lnTo>
                    <a:pt x="3805491" y="57556"/>
                  </a:lnTo>
                  <a:lnTo>
                    <a:pt x="3779355" y="52832"/>
                  </a:lnTo>
                  <a:lnTo>
                    <a:pt x="3766299" y="53822"/>
                  </a:lnTo>
                  <a:lnTo>
                    <a:pt x="3728440" y="77520"/>
                  </a:lnTo>
                  <a:lnTo>
                    <a:pt x="3719284" y="151066"/>
                  </a:lnTo>
                  <a:lnTo>
                    <a:pt x="3720300" y="164096"/>
                  </a:lnTo>
                  <a:lnTo>
                    <a:pt x="3744391" y="201574"/>
                  </a:lnTo>
                  <a:lnTo>
                    <a:pt x="3779355" y="210566"/>
                  </a:lnTo>
                  <a:lnTo>
                    <a:pt x="3792385" y="209575"/>
                  </a:lnTo>
                  <a:lnTo>
                    <a:pt x="3830193" y="185851"/>
                  </a:lnTo>
                  <a:lnTo>
                    <a:pt x="3833533" y="179209"/>
                  </a:lnTo>
                  <a:lnTo>
                    <a:pt x="3835298" y="175704"/>
                  </a:lnTo>
                  <a:lnTo>
                    <a:pt x="3838346" y="164096"/>
                  </a:lnTo>
                  <a:lnTo>
                    <a:pt x="3839375" y="151066"/>
                  </a:lnTo>
                  <a:lnTo>
                    <a:pt x="3839375" y="112077"/>
                  </a:lnTo>
                  <a:close/>
                </a:path>
                <a:path w="4150995" h="254635">
                  <a:moveTo>
                    <a:pt x="3999712" y="110324"/>
                  </a:moveTo>
                  <a:lnTo>
                    <a:pt x="3984917" y="68503"/>
                  </a:lnTo>
                  <a:lnTo>
                    <a:pt x="3945369" y="52832"/>
                  </a:lnTo>
                  <a:lnTo>
                    <a:pt x="3930078" y="54902"/>
                  </a:lnTo>
                  <a:lnTo>
                    <a:pt x="3918737" y="61137"/>
                  </a:lnTo>
                  <a:lnTo>
                    <a:pt x="3911371" y="71526"/>
                  </a:lnTo>
                  <a:lnTo>
                    <a:pt x="3907967" y="86080"/>
                  </a:lnTo>
                  <a:lnTo>
                    <a:pt x="3908044" y="85636"/>
                  </a:lnTo>
                  <a:lnTo>
                    <a:pt x="3913327" y="55410"/>
                  </a:lnTo>
                  <a:lnTo>
                    <a:pt x="3879951" y="55410"/>
                  </a:lnTo>
                  <a:lnTo>
                    <a:pt x="3879951" y="207987"/>
                  </a:lnTo>
                  <a:lnTo>
                    <a:pt x="3913822" y="207987"/>
                  </a:lnTo>
                  <a:lnTo>
                    <a:pt x="3913873" y="102717"/>
                  </a:lnTo>
                  <a:lnTo>
                    <a:pt x="3916108" y="95669"/>
                  </a:lnTo>
                  <a:lnTo>
                    <a:pt x="3924935" y="86080"/>
                  </a:lnTo>
                  <a:lnTo>
                    <a:pt x="3925417" y="85636"/>
                  </a:lnTo>
                  <a:lnTo>
                    <a:pt x="3931729" y="83185"/>
                  </a:lnTo>
                  <a:lnTo>
                    <a:pt x="3948353" y="83185"/>
                  </a:lnTo>
                  <a:lnTo>
                    <a:pt x="3954754" y="85636"/>
                  </a:lnTo>
                  <a:lnTo>
                    <a:pt x="3963619" y="95453"/>
                  </a:lnTo>
                  <a:lnTo>
                    <a:pt x="3963682" y="95669"/>
                  </a:lnTo>
                  <a:lnTo>
                    <a:pt x="3965841" y="102717"/>
                  </a:lnTo>
                  <a:lnTo>
                    <a:pt x="3965841" y="124167"/>
                  </a:lnTo>
                  <a:lnTo>
                    <a:pt x="3999712" y="124167"/>
                  </a:lnTo>
                  <a:lnTo>
                    <a:pt x="3999712" y="110324"/>
                  </a:lnTo>
                  <a:close/>
                </a:path>
                <a:path w="4150995" h="254635">
                  <a:moveTo>
                    <a:pt x="4150804" y="55410"/>
                  </a:moveTo>
                  <a:lnTo>
                    <a:pt x="4094073" y="55410"/>
                  </a:lnTo>
                  <a:lnTo>
                    <a:pt x="4094073" y="16751"/>
                  </a:lnTo>
                  <a:lnTo>
                    <a:pt x="4060126" y="16751"/>
                  </a:lnTo>
                  <a:lnTo>
                    <a:pt x="4060126" y="55410"/>
                  </a:lnTo>
                  <a:lnTo>
                    <a:pt x="4020147" y="55410"/>
                  </a:lnTo>
                  <a:lnTo>
                    <a:pt x="4020147" y="87274"/>
                  </a:lnTo>
                  <a:lnTo>
                    <a:pt x="4060126" y="87274"/>
                  </a:lnTo>
                  <a:lnTo>
                    <a:pt x="4060126" y="165227"/>
                  </a:lnTo>
                  <a:lnTo>
                    <a:pt x="4060863" y="174726"/>
                  </a:lnTo>
                  <a:lnTo>
                    <a:pt x="4085894" y="205155"/>
                  </a:lnTo>
                  <a:lnTo>
                    <a:pt x="4104208" y="207987"/>
                  </a:lnTo>
                  <a:lnTo>
                    <a:pt x="4148226" y="207987"/>
                  </a:lnTo>
                  <a:lnTo>
                    <a:pt x="4148226" y="176123"/>
                  </a:lnTo>
                  <a:lnTo>
                    <a:pt x="4100436" y="176123"/>
                  </a:lnTo>
                  <a:lnTo>
                    <a:pt x="4097782" y="175323"/>
                  </a:lnTo>
                  <a:lnTo>
                    <a:pt x="4094810" y="172135"/>
                  </a:lnTo>
                  <a:lnTo>
                    <a:pt x="4094073" y="169303"/>
                  </a:lnTo>
                  <a:lnTo>
                    <a:pt x="4094073" y="87274"/>
                  </a:lnTo>
                  <a:lnTo>
                    <a:pt x="4150804" y="87274"/>
                  </a:lnTo>
                  <a:lnTo>
                    <a:pt x="4150804" y="55410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6959934"/>
            <a:ext cx="9887585" cy="737235"/>
          </a:xfrm>
          <a:custGeom>
            <a:avLst/>
            <a:gdLst/>
            <a:ahLst/>
            <a:cxnLst/>
            <a:rect l="l" t="t" r="r" b="b"/>
            <a:pathLst>
              <a:path w="9887585" h="737234">
                <a:moveTo>
                  <a:pt x="9810694" y="736932"/>
                </a:moveTo>
                <a:lnTo>
                  <a:pt x="76505" y="736932"/>
                </a:lnTo>
                <a:lnTo>
                  <a:pt x="71180" y="736408"/>
                </a:lnTo>
                <a:lnTo>
                  <a:pt x="31920" y="720146"/>
                </a:lnTo>
                <a:lnTo>
                  <a:pt x="4175" y="681419"/>
                </a:lnTo>
                <a:lnTo>
                  <a:pt x="0" y="660428"/>
                </a:lnTo>
                <a:lnTo>
                  <a:pt x="0" y="655051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2"/>
                </a:lnTo>
                <a:lnTo>
                  <a:pt x="9887199" y="76504"/>
                </a:lnTo>
                <a:lnTo>
                  <a:pt x="9887199" y="660428"/>
                </a:lnTo>
                <a:lnTo>
                  <a:pt x="9870412" y="705011"/>
                </a:lnTo>
                <a:lnTo>
                  <a:pt x="9831684" y="732757"/>
                </a:lnTo>
                <a:lnTo>
                  <a:pt x="9816018" y="736408"/>
                </a:lnTo>
                <a:lnTo>
                  <a:pt x="9810694" y="73693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760453" y="2517858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2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6366291" y="2517858"/>
            <a:ext cx="1474470" cy="429895"/>
          </a:xfrm>
          <a:custGeom>
            <a:avLst/>
            <a:gdLst/>
            <a:ahLst/>
            <a:cxnLst/>
            <a:rect l="l" t="t" r="r" b="b"/>
            <a:pathLst>
              <a:path w="1474470" h="429894">
                <a:moveTo>
                  <a:pt x="139736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7" y="31920"/>
                </a:lnTo>
                <a:lnTo>
                  <a:pt x="55514" y="4175"/>
                </a:lnTo>
                <a:lnTo>
                  <a:pt x="76505" y="0"/>
                </a:lnTo>
                <a:lnTo>
                  <a:pt x="1397362" y="0"/>
                </a:lnTo>
                <a:lnTo>
                  <a:pt x="1441948" y="16786"/>
                </a:lnTo>
                <a:lnTo>
                  <a:pt x="1469692" y="55513"/>
                </a:lnTo>
                <a:lnTo>
                  <a:pt x="1473868" y="76505"/>
                </a:lnTo>
                <a:lnTo>
                  <a:pt x="1473868" y="353373"/>
                </a:lnTo>
                <a:lnTo>
                  <a:pt x="1457081" y="397957"/>
                </a:lnTo>
                <a:lnTo>
                  <a:pt x="1418354" y="425702"/>
                </a:lnTo>
                <a:lnTo>
                  <a:pt x="1402687" y="429353"/>
                </a:lnTo>
                <a:lnTo>
                  <a:pt x="139736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625720" y="1164502"/>
            <a:ext cx="9163685" cy="53479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33679">
              <a:lnSpc>
                <a:spcPct val="100000"/>
              </a:lnSpc>
              <a:spcBef>
                <a:spcPts val="105"/>
              </a:spcBef>
            </a:pP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Measures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how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spread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out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(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lower</a:t>
            </a:r>
            <a:r>
              <a:rPr sz="2650" i="1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better)</a:t>
            </a:r>
            <a:endParaRPr sz="2550">
              <a:latin typeface="Arial"/>
              <a:cs typeface="Arial"/>
            </a:endParaRPr>
          </a:p>
          <a:p>
            <a:pPr marL="233679" marR="958850">
              <a:lnSpc>
                <a:spcPts val="5160"/>
              </a:lnSpc>
              <a:spcBef>
                <a:spcPts val="500"/>
              </a:spcBef>
              <a:tabLst>
                <a:tab pos="1178560" algn="l"/>
                <a:tab pos="5788660" algn="l"/>
              </a:tabLst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Distance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sample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centroid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its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cluster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After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fit()</a:t>
            </a:r>
            <a:r>
              <a:rPr sz="2250" spc="-38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available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as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attribute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inertia_</a:t>
            </a:r>
            <a:endParaRPr sz="2250">
              <a:latin typeface="Monaco"/>
              <a:cs typeface="Monaco"/>
            </a:endParaRPr>
          </a:p>
          <a:p>
            <a:pPr marL="233679" marR="204470">
              <a:lnSpc>
                <a:spcPct val="126400"/>
              </a:lnSpc>
              <a:spcBef>
                <a:spcPts val="770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k-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means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attempts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minimize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inertia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when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choosing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550">
              <a:latin typeface="Arial"/>
              <a:cs typeface="Arial"/>
            </a:endParaRPr>
          </a:p>
          <a:p>
            <a:pPr marL="785495">
              <a:lnSpc>
                <a:spcPct val="100000"/>
              </a:lnSpc>
              <a:tabLst>
                <a:tab pos="4342765" algn="l"/>
              </a:tabLst>
            </a:pP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sklearn.cluster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KMeans</a:t>
            </a:r>
            <a:endParaRPr sz="200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715"/>
              </a:spcBef>
            </a:pPr>
            <a:endParaRPr sz="2000">
              <a:latin typeface="Monaco"/>
              <a:cs typeface="Monaco"/>
            </a:endParaRPr>
          </a:p>
          <a:p>
            <a:pPr marL="12700" marR="4812030">
              <a:lnSpc>
                <a:spcPct val="141000"/>
              </a:lnSpc>
              <a:spcBef>
                <a:spcPts val="5"/>
              </a:spcBef>
            </a:pP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model</a:t>
            </a:r>
            <a:r>
              <a:rPr sz="2000" spc="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000" spc="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KMeans(n_clusters=</a:t>
            </a:r>
            <a:r>
              <a:rPr sz="2000" spc="-10" dirty="0">
                <a:solidFill>
                  <a:srgbClr val="BE2F72"/>
                </a:solidFill>
                <a:latin typeface="Monaco"/>
                <a:cs typeface="Monaco"/>
              </a:rPr>
              <a:t>3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) model.fit(samples) </a:t>
            </a:r>
            <a:r>
              <a:rPr sz="200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(model.inertia_)</a:t>
            </a:r>
            <a:endParaRPr sz="2000">
              <a:latin typeface="Monaco"/>
              <a:cs typeface="Monaco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3316203"/>
            <a:ext cx="102352" cy="102351"/>
          </a:xfrm>
          <a:prstGeom prst="rect">
            <a:avLst/>
          </a:prstGeom>
        </p:spPr>
      </p:pic>
      <p:sp>
        <p:nvSpPr>
          <p:cNvPr id="14" name="object 14"/>
          <p:cNvSpPr txBox="1"/>
          <p:nvPr/>
        </p:nvSpPr>
        <p:spPr>
          <a:xfrm>
            <a:off x="625720" y="7160125"/>
            <a:ext cx="2036445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solidFill>
                  <a:srgbClr val="FFFFFF"/>
                </a:solidFill>
                <a:latin typeface="Monaco"/>
                <a:cs typeface="Monaco"/>
              </a:rPr>
              <a:t>78.9408414261</a:t>
            </a:r>
            <a:endParaRPr sz="2000">
              <a:latin typeface="Monaco"/>
              <a:cs typeface="Monaco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08C26DC8-8EA1-BE82-FAF4-138853F0B18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The</a:t>
            </a:r>
            <a:r>
              <a:rPr spc="-170" dirty="0"/>
              <a:t> </a:t>
            </a:r>
            <a:r>
              <a:rPr spc="-70" dirty="0"/>
              <a:t>number</a:t>
            </a:r>
            <a:r>
              <a:rPr spc="-170" dirty="0"/>
              <a:t> </a:t>
            </a:r>
            <a:r>
              <a:rPr dirty="0"/>
              <a:t>of</a:t>
            </a:r>
            <a:r>
              <a:rPr spc="-165" dirty="0"/>
              <a:t> </a:t>
            </a:r>
            <a:r>
              <a:rPr spc="-140" dirty="0"/>
              <a:t>clusters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4199255" cy="37922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868044" algn="just">
              <a:lnSpc>
                <a:spcPct val="126400"/>
              </a:lnSpc>
              <a:spcBef>
                <a:spcPts val="95"/>
              </a:spcBef>
            </a:pP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Clusterings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20" dirty="0">
                <a:solidFill>
                  <a:srgbClr val="04182D"/>
                </a:solidFill>
                <a:latin typeface="Arial"/>
                <a:cs typeface="Arial"/>
              </a:rPr>
              <a:t>iris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dataset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different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numbers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3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endParaRPr sz="2550">
              <a:latin typeface="Arial"/>
              <a:cs typeface="Arial"/>
            </a:endParaRPr>
          </a:p>
          <a:p>
            <a:pPr marL="12700" marR="78105" algn="just">
              <a:lnSpc>
                <a:spcPct val="126400"/>
              </a:lnSpc>
              <a:spcBef>
                <a:spcPts val="1290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More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means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lower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inertia</a:t>
            </a:r>
            <a:endParaRPr sz="2550">
              <a:latin typeface="Arial"/>
              <a:cs typeface="Arial"/>
            </a:endParaRPr>
          </a:p>
          <a:p>
            <a:pPr marL="12700" marR="5080" algn="just">
              <a:lnSpc>
                <a:spcPct val="126400"/>
              </a:lnSpc>
              <a:spcBef>
                <a:spcPts val="1290"/>
              </a:spcBef>
            </a:pP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What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best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number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of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clusters?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98867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4135019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759423" y="1435952"/>
            <a:ext cx="6743727" cy="5079148"/>
          </a:xfrm>
          <a:prstGeom prst="rect">
            <a:avLst/>
          </a:prstGeom>
        </p:spPr>
      </p:pic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BA01E18D-AF65-C234-751D-5D1B5F4FC63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/>
              <a:t>How</a:t>
            </a:r>
            <a:r>
              <a:rPr spc="-110" dirty="0"/>
              <a:t> </a:t>
            </a:r>
            <a:r>
              <a:rPr dirty="0"/>
              <a:t>many</a:t>
            </a:r>
            <a:r>
              <a:rPr spc="-105" dirty="0"/>
              <a:t> </a:t>
            </a:r>
            <a:r>
              <a:rPr spc="-180" dirty="0"/>
              <a:t>clusters</a:t>
            </a:r>
            <a:r>
              <a:rPr spc="-105" dirty="0"/>
              <a:t> </a:t>
            </a:r>
            <a:r>
              <a:rPr dirty="0"/>
              <a:t>to</a:t>
            </a:r>
            <a:r>
              <a:rPr spc="-105" dirty="0"/>
              <a:t> </a:t>
            </a:r>
            <a:r>
              <a:rPr spc="-150" dirty="0"/>
              <a:t>choose?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4378960" cy="510222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207010">
              <a:lnSpc>
                <a:spcPct val="126400"/>
              </a:lnSpc>
              <a:spcBef>
                <a:spcPts val="95"/>
              </a:spcBef>
            </a:pP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good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clustering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has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tight 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clusters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(so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low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inertia)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095"/>
              </a:spcBef>
            </a:pP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...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but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not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too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5" dirty="0">
                <a:solidFill>
                  <a:srgbClr val="04182D"/>
                </a:solidFill>
                <a:latin typeface="Arial"/>
                <a:cs typeface="Arial"/>
              </a:rPr>
              <a:t>many</a:t>
            </a:r>
            <a:r>
              <a:rPr sz="2550" spc="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clusters!</a:t>
            </a:r>
            <a:endParaRPr sz="2550">
              <a:latin typeface="Arial"/>
              <a:cs typeface="Arial"/>
            </a:endParaRPr>
          </a:p>
          <a:p>
            <a:pPr marL="12700" marR="498475">
              <a:lnSpc>
                <a:spcPct val="126400"/>
              </a:lnSpc>
              <a:spcBef>
                <a:spcPts val="1290"/>
              </a:spcBef>
            </a:pP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Choose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an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"elbow"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the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inertia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plot</a:t>
            </a:r>
            <a:endParaRPr sz="2550">
              <a:latin typeface="Arial"/>
              <a:cs typeface="Arial"/>
            </a:endParaRPr>
          </a:p>
          <a:p>
            <a:pPr marL="12700" marR="793115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Where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inertia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begins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to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decrease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more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slowly</a:t>
            </a:r>
            <a:endParaRPr sz="2550">
              <a:latin typeface="Arial"/>
              <a:cs typeface="Arial"/>
            </a:endParaRPr>
          </a:p>
          <a:p>
            <a:pPr marL="12700" marR="407670">
              <a:lnSpc>
                <a:spcPct val="126400"/>
              </a:lnSpc>
              <a:spcBef>
                <a:spcPts val="1290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E.g.,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for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iris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dataset,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3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 </a:t>
            </a:r>
            <a:r>
              <a:rPr sz="2550" spc="135" dirty="0">
                <a:solidFill>
                  <a:srgbClr val="04182D"/>
                </a:solidFill>
                <a:latin typeface="Arial"/>
                <a:cs typeface="Arial"/>
              </a:rPr>
              <a:t>good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choice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4298782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11759" y="5445124"/>
            <a:ext cx="102352" cy="102351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759423" y="1435952"/>
            <a:ext cx="7124727" cy="5102224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2AF237DE-AB07-9176-DFF6-4F0DBB6B9BE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385875" y="1727283"/>
            <a:ext cx="6806565" cy="319468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575" dirty="0"/>
              <a:t>T</a:t>
            </a:r>
            <a:r>
              <a:rPr sz="6450" spc="-325" dirty="0"/>
              <a:t>r</a:t>
            </a:r>
            <a:r>
              <a:rPr sz="6450" spc="-204" dirty="0"/>
              <a:t>a</a:t>
            </a:r>
            <a:r>
              <a:rPr sz="6450" spc="-254" dirty="0"/>
              <a:t>ns</a:t>
            </a:r>
            <a:r>
              <a:rPr sz="6450" spc="-370" dirty="0"/>
              <a:t>f</a:t>
            </a:r>
            <a:r>
              <a:rPr sz="6450" spc="-295" dirty="0"/>
              <a:t>o</a:t>
            </a:r>
            <a:r>
              <a:rPr sz="6450" spc="-220" dirty="0"/>
              <a:t>rm</a:t>
            </a:r>
            <a:r>
              <a:rPr sz="6450" spc="-235" dirty="0"/>
              <a:t>i</a:t>
            </a:r>
            <a:r>
              <a:rPr sz="6450" spc="-290" dirty="0"/>
              <a:t>n</a:t>
            </a:r>
            <a:r>
              <a:rPr sz="6450" spc="-55" dirty="0"/>
              <a:t>g</a:t>
            </a:r>
            <a:r>
              <a:rPr sz="6450" spc="-275" dirty="0"/>
              <a:t> </a:t>
            </a:r>
            <a:r>
              <a:rPr sz="6450" spc="-120" dirty="0"/>
              <a:t>features</a:t>
            </a:r>
            <a:r>
              <a:rPr sz="6450" spc="-315" dirty="0"/>
              <a:t> </a:t>
            </a:r>
            <a:r>
              <a:rPr sz="6450" spc="-105" dirty="0"/>
              <a:t>for</a:t>
            </a:r>
            <a:r>
              <a:rPr sz="6450" spc="-315" dirty="0"/>
              <a:t> </a:t>
            </a:r>
            <a:r>
              <a:rPr sz="6450" spc="-10" dirty="0"/>
              <a:t>better </a:t>
            </a:r>
            <a:r>
              <a:rPr sz="6450" spc="-300" dirty="0"/>
              <a:t>clusterings</a:t>
            </a:r>
            <a:endParaRPr sz="6450"/>
          </a:p>
          <a:p>
            <a:pPr marR="53975" algn="ctr">
              <a:lnSpc>
                <a:spcPct val="100000"/>
              </a:lnSpc>
              <a:spcBef>
                <a:spcPts val="910"/>
              </a:spcBef>
              <a:tabLst>
                <a:tab pos="2747645" algn="l"/>
                <a:tab pos="4648200" algn="l"/>
                <a:tab pos="5149850" algn="l"/>
              </a:tabLst>
            </a:pPr>
            <a:r>
              <a:rPr sz="2250" spc="-90" dirty="0"/>
              <a:t>U</a:t>
            </a:r>
            <a:r>
              <a:rPr sz="2250" spc="-305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210" dirty="0"/>
              <a:t>S</a:t>
            </a:r>
            <a:r>
              <a:rPr sz="2250" spc="-305" dirty="0"/>
              <a:t> </a:t>
            </a:r>
            <a:r>
              <a:rPr sz="2250" spc="-90" dirty="0"/>
              <a:t>U</a:t>
            </a:r>
            <a:r>
              <a:rPr sz="2250" spc="-300" dirty="0"/>
              <a:t> </a:t>
            </a:r>
            <a:r>
              <a:rPr sz="2250" spc="-120" dirty="0"/>
              <a:t>P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5" dirty="0"/>
              <a:t> </a:t>
            </a:r>
            <a:r>
              <a:rPr sz="2250" spc="-30" dirty="0"/>
              <a:t>V</a:t>
            </a:r>
            <a:r>
              <a:rPr sz="2250" spc="-300" dirty="0"/>
              <a:t> 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-210" dirty="0"/>
              <a:t>S</a:t>
            </a:r>
            <a:r>
              <a:rPr sz="2250" spc="-300" dirty="0"/>
              <a:t> </a:t>
            </a:r>
            <a:r>
              <a:rPr sz="2250" spc="-105" dirty="0"/>
              <a:t>E</a:t>
            </a:r>
            <a:r>
              <a:rPr sz="2250" spc="-305" dirty="0"/>
              <a:t> </a:t>
            </a:r>
            <a:r>
              <a:rPr sz="2250" spc="15" dirty="0"/>
              <a:t>D</a:t>
            </a:r>
            <a:r>
              <a:rPr sz="2250" dirty="0"/>
              <a:t>	</a:t>
            </a:r>
            <a:r>
              <a:rPr sz="2250" spc="-185" dirty="0"/>
              <a:t>L</a:t>
            </a:r>
            <a:r>
              <a:rPr sz="2250" spc="-305" dirty="0"/>
              <a:t> </a:t>
            </a:r>
            <a:r>
              <a:rPr sz="2250" spc="-105" dirty="0"/>
              <a:t>E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300" dirty="0"/>
              <a:t> </a:t>
            </a:r>
            <a:r>
              <a:rPr sz="2250" spc="-235" dirty="0"/>
              <a:t>R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65" dirty="0"/>
              <a:t>N</a:t>
            </a:r>
            <a:r>
              <a:rPr sz="2250" spc="-300" dirty="0"/>
              <a:t> </a:t>
            </a:r>
            <a:r>
              <a:rPr sz="2250" spc="-50" dirty="0"/>
              <a:t>G</a:t>
            </a:r>
            <a:r>
              <a:rPr sz="2250" dirty="0"/>
              <a:t>	</a:t>
            </a:r>
            <a:r>
              <a:rPr sz="2250" spc="-10" dirty="0"/>
              <a:t>I</a:t>
            </a:r>
            <a:r>
              <a:rPr sz="2250" spc="-305" dirty="0"/>
              <a:t> </a:t>
            </a:r>
            <a:r>
              <a:rPr sz="2250" spc="15" dirty="0"/>
              <a:t>N</a:t>
            </a:r>
            <a:r>
              <a:rPr sz="2250" dirty="0"/>
              <a:t>	</a:t>
            </a:r>
            <a:r>
              <a:rPr sz="2250" spc="-120" dirty="0"/>
              <a:t>P</a:t>
            </a:r>
            <a:r>
              <a:rPr sz="2250" spc="-295" dirty="0"/>
              <a:t> </a:t>
            </a:r>
            <a:r>
              <a:rPr sz="2250" dirty="0"/>
              <a:t>Y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dirty="0"/>
              <a:t>H</a:t>
            </a:r>
            <a:r>
              <a:rPr sz="2250" spc="-29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439420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dirty="0">
                <a:solidFill>
                  <a:srgbClr val="FFFFFF"/>
                </a:solidFill>
                <a:latin typeface="Arial"/>
                <a:cs typeface="Arial"/>
              </a:rPr>
              <a:t>Benjamin</a:t>
            </a:r>
            <a:r>
              <a:rPr sz="2550" b="1" spc="-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Wilson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spc="70" dirty="0">
                <a:solidFill>
                  <a:srgbClr val="FFFFFF"/>
                </a:solidFill>
                <a:latin typeface="Arial"/>
                <a:cs typeface="Arial"/>
              </a:rPr>
              <a:t>Director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25" dirty="0">
                <a:solidFill>
                  <a:srgbClr val="FFFFFF"/>
                </a:solidFill>
                <a:latin typeface="Arial"/>
                <a:cs typeface="Arial"/>
              </a:rPr>
              <a:t>of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Research</a:t>
            </a:r>
            <a:r>
              <a:rPr sz="2250" spc="6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lateral.io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8C055CA-C30D-33C2-5112-B64D9A4DEBE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0" dirty="0"/>
              <a:t>Piedmont</a:t>
            </a:r>
            <a:r>
              <a:rPr spc="-195" dirty="0"/>
              <a:t> </a:t>
            </a:r>
            <a:r>
              <a:rPr spc="-145" dirty="0"/>
              <a:t>wines</a:t>
            </a:r>
            <a:r>
              <a:rPr spc="-165" dirty="0"/>
              <a:t> </a:t>
            </a:r>
            <a:r>
              <a:rPr spc="-10" dirty="0"/>
              <a:t>dataset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847056" y="1076324"/>
            <a:ext cx="9367520" cy="23183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757555">
              <a:lnSpc>
                <a:spcPct val="126400"/>
              </a:lnSpc>
              <a:spcBef>
                <a:spcPts val="95"/>
              </a:spcBef>
            </a:pPr>
            <a:r>
              <a:rPr sz="2550" spc="-195" dirty="0">
                <a:solidFill>
                  <a:srgbClr val="04182D"/>
                </a:solidFill>
                <a:latin typeface="Arial"/>
                <a:cs typeface="Arial"/>
              </a:rPr>
              <a:t>178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samples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3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distinct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varieties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red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wine: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Barolo,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Grignolino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Barbera</a:t>
            </a:r>
            <a:endParaRPr sz="2550">
              <a:latin typeface="Arial"/>
              <a:cs typeface="Arial"/>
            </a:endParaRPr>
          </a:p>
          <a:p>
            <a:pPr marL="12700" marR="5080">
              <a:lnSpc>
                <a:spcPts val="5160"/>
              </a:lnSpc>
              <a:spcBef>
                <a:spcPts val="320"/>
              </a:spcBef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measure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chemical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composition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e.g.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alcohol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content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Visual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properties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like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"color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intensity"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663" y="7499933"/>
            <a:ext cx="73291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550" spc="-517" baseline="26143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r>
              <a:rPr sz="2550" spc="270" baseline="26143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dirty="0">
                <a:solidFill>
                  <a:srgbClr val="04182D"/>
                </a:solidFill>
                <a:latin typeface="Arial"/>
                <a:cs typeface="Arial"/>
              </a:rPr>
              <a:t>Source:</a:t>
            </a:r>
            <a:r>
              <a:rPr sz="2250" spc="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250" spc="80" dirty="0">
                <a:solidFill>
                  <a:srgbClr val="04182D"/>
                </a:solidFill>
                <a:latin typeface="Arial"/>
                <a:cs typeface="Arial"/>
              </a:rPr>
              <a:t>https://archive.ics.uci.edu/ml/datasets/Wine</a:t>
            </a:r>
            <a:endParaRPr sz="2250">
              <a:latin typeface="Arial"/>
              <a:cs typeface="Arial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34CE68F8-6EDF-177C-9908-F0F6DA8309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37654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4" dirty="0"/>
              <a:t>Clustering</a:t>
            </a:r>
            <a:r>
              <a:rPr spc="-135" dirty="0"/>
              <a:t> </a:t>
            </a:r>
            <a:r>
              <a:rPr dirty="0"/>
              <a:t>the</a:t>
            </a:r>
            <a:r>
              <a:rPr spc="-135" dirty="0"/>
              <a:t> </a:t>
            </a:r>
            <a:r>
              <a:rPr spc="-85" dirty="0"/>
              <a:t>wines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9887585" cy="1801495"/>
            <a:chOff x="491289" y="1166812"/>
            <a:chExt cx="9887585" cy="1801495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9887585" cy="1801495"/>
            </a:xfrm>
            <a:custGeom>
              <a:avLst/>
              <a:gdLst/>
              <a:ahLst/>
              <a:cxnLst/>
              <a:rect l="l" t="t" r="r" b="b"/>
              <a:pathLst>
                <a:path w="9887585" h="1801495">
                  <a:moveTo>
                    <a:pt x="9810694" y="1801394"/>
                  </a:moveTo>
                  <a:lnTo>
                    <a:pt x="76505" y="1801394"/>
                  </a:lnTo>
                  <a:lnTo>
                    <a:pt x="71180" y="1800869"/>
                  </a:lnTo>
                  <a:lnTo>
                    <a:pt x="31920" y="1784607"/>
                  </a:lnTo>
                  <a:lnTo>
                    <a:pt x="4175" y="1745879"/>
                  </a:lnTo>
                  <a:lnTo>
                    <a:pt x="0" y="1724888"/>
                  </a:lnTo>
                  <a:lnTo>
                    <a:pt x="0" y="1719512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1724888"/>
                  </a:lnTo>
                  <a:lnTo>
                    <a:pt x="9870412" y="1769473"/>
                  </a:lnTo>
                  <a:lnTo>
                    <a:pt x="9831684" y="1797218"/>
                  </a:lnTo>
                  <a:lnTo>
                    <a:pt x="9816018" y="1800869"/>
                  </a:lnTo>
                  <a:lnTo>
                    <a:pt x="9810694" y="1801394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2261" y="1447482"/>
              <a:ext cx="4614545" cy="283210"/>
            </a:xfrm>
            <a:custGeom>
              <a:avLst/>
              <a:gdLst/>
              <a:ahLst/>
              <a:cxnLst/>
              <a:rect l="l" t="t" r="r" b="b"/>
              <a:pathLst>
                <a:path w="4614545" h="283210">
                  <a:moveTo>
                    <a:pt x="147980" y="9994"/>
                  </a:moveTo>
                  <a:lnTo>
                    <a:pt x="93332" y="9994"/>
                  </a:lnTo>
                  <a:lnTo>
                    <a:pt x="83096" y="10769"/>
                  </a:lnTo>
                  <a:lnTo>
                    <a:pt x="49060" y="36728"/>
                  </a:lnTo>
                  <a:lnTo>
                    <a:pt x="45821" y="55473"/>
                  </a:lnTo>
                  <a:lnTo>
                    <a:pt x="45821" y="64719"/>
                  </a:lnTo>
                  <a:lnTo>
                    <a:pt x="0" y="64719"/>
                  </a:lnTo>
                  <a:lnTo>
                    <a:pt x="0" y="100114"/>
                  </a:lnTo>
                  <a:lnTo>
                    <a:pt x="45821" y="100114"/>
                  </a:lnTo>
                  <a:lnTo>
                    <a:pt x="45821" y="231101"/>
                  </a:lnTo>
                  <a:lnTo>
                    <a:pt x="83540" y="231101"/>
                  </a:lnTo>
                  <a:lnTo>
                    <a:pt x="83540" y="100114"/>
                  </a:lnTo>
                  <a:lnTo>
                    <a:pt x="147980" y="100114"/>
                  </a:lnTo>
                  <a:lnTo>
                    <a:pt x="147980" y="64719"/>
                  </a:lnTo>
                  <a:lnTo>
                    <a:pt x="83540" y="64719"/>
                  </a:lnTo>
                  <a:lnTo>
                    <a:pt x="83540" y="51892"/>
                  </a:lnTo>
                  <a:lnTo>
                    <a:pt x="84328" y="49441"/>
                  </a:lnTo>
                  <a:lnTo>
                    <a:pt x="87553" y="46215"/>
                  </a:lnTo>
                  <a:lnTo>
                    <a:pt x="90017" y="45402"/>
                  </a:lnTo>
                  <a:lnTo>
                    <a:pt x="147980" y="45402"/>
                  </a:lnTo>
                  <a:lnTo>
                    <a:pt x="147980" y="9994"/>
                  </a:lnTo>
                  <a:close/>
                </a:path>
                <a:path w="4614545" h="283210">
                  <a:moveTo>
                    <a:pt x="319646" y="122580"/>
                  </a:moveTo>
                  <a:lnTo>
                    <a:pt x="310400" y="85559"/>
                  </a:lnTo>
                  <a:lnTo>
                    <a:pt x="272326" y="59791"/>
                  </a:lnTo>
                  <a:lnTo>
                    <a:pt x="259270" y="58699"/>
                  </a:lnTo>
                  <a:lnTo>
                    <a:pt x="242265" y="61010"/>
                  </a:lnTo>
                  <a:lnTo>
                    <a:pt x="229666" y="67932"/>
                  </a:lnTo>
                  <a:lnTo>
                    <a:pt x="221488" y="79476"/>
                  </a:lnTo>
                  <a:lnTo>
                    <a:pt x="217703" y="95643"/>
                  </a:lnTo>
                  <a:lnTo>
                    <a:pt x="217792" y="95148"/>
                  </a:lnTo>
                  <a:lnTo>
                    <a:pt x="223647" y="61569"/>
                  </a:lnTo>
                  <a:lnTo>
                    <a:pt x="186575" y="61569"/>
                  </a:lnTo>
                  <a:lnTo>
                    <a:pt x="186575" y="231101"/>
                  </a:lnTo>
                  <a:lnTo>
                    <a:pt x="224218" y="231101"/>
                  </a:lnTo>
                  <a:lnTo>
                    <a:pt x="224269" y="114134"/>
                  </a:lnTo>
                  <a:lnTo>
                    <a:pt x="226758" y="106299"/>
                  </a:lnTo>
                  <a:lnTo>
                    <a:pt x="236562" y="95643"/>
                  </a:lnTo>
                  <a:lnTo>
                    <a:pt x="237083" y="95148"/>
                  </a:lnTo>
                  <a:lnTo>
                    <a:pt x="244106" y="92417"/>
                  </a:lnTo>
                  <a:lnTo>
                    <a:pt x="262572" y="92417"/>
                  </a:lnTo>
                  <a:lnTo>
                    <a:pt x="269697" y="95148"/>
                  </a:lnTo>
                  <a:lnTo>
                    <a:pt x="279527" y="106070"/>
                  </a:lnTo>
                  <a:lnTo>
                    <a:pt x="279603" y="106299"/>
                  </a:lnTo>
                  <a:lnTo>
                    <a:pt x="282003" y="114134"/>
                  </a:lnTo>
                  <a:lnTo>
                    <a:pt x="282003" y="137972"/>
                  </a:lnTo>
                  <a:lnTo>
                    <a:pt x="319646" y="137972"/>
                  </a:lnTo>
                  <a:lnTo>
                    <a:pt x="319646" y="122580"/>
                  </a:lnTo>
                  <a:close/>
                </a:path>
                <a:path w="4614545" h="283210">
                  <a:moveTo>
                    <a:pt x="485305" y="124536"/>
                  </a:moveTo>
                  <a:lnTo>
                    <a:pt x="475107" y="86131"/>
                  </a:lnTo>
                  <a:lnTo>
                    <a:pt x="447662" y="63957"/>
                  </a:lnTo>
                  <a:lnTo>
                    <a:pt x="447662" y="114363"/>
                  </a:lnTo>
                  <a:lnTo>
                    <a:pt x="447662" y="178295"/>
                  </a:lnTo>
                  <a:lnTo>
                    <a:pt x="445185" y="186131"/>
                  </a:lnTo>
                  <a:lnTo>
                    <a:pt x="435343" y="196532"/>
                  </a:lnTo>
                  <a:lnTo>
                    <a:pt x="428142" y="199123"/>
                  </a:lnTo>
                  <a:lnTo>
                    <a:pt x="409054" y="199123"/>
                  </a:lnTo>
                  <a:lnTo>
                    <a:pt x="401828" y="196532"/>
                  </a:lnTo>
                  <a:lnTo>
                    <a:pt x="392036" y="186131"/>
                  </a:lnTo>
                  <a:lnTo>
                    <a:pt x="389585" y="178295"/>
                  </a:lnTo>
                  <a:lnTo>
                    <a:pt x="389585" y="114363"/>
                  </a:lnTo>
                  <a:lnTo>
                    <a:pt x="392036" y="106553"/>
                  </a:lnTo>
                  <a:lnTo>
                    <a:pt x="401828" y="96151"/>
                  </a:lnTo>
                  <a:lnTo>
                    <a:pt x="409054" y="93535"/>
                  </a:lnTo>
                  <a:lnTo>
                    <a:pt x="428142" y="93535"/>
                  </a:lnTo>
                  <a:lnTo>
                    <a:pt x="435343" y="96151"/>
                  </a:lnTo>
                  <a:lnTo>
                    <a:pt x="440245" y="101371"/>
                  </a:lnTo>
                  <a:lnTo>
                    <a:pt x="445185" y="106553"/>
                  </a:lnTo>
                  <a:lnTo>
                    <a:pt x="447662" y="63957"/>
                  </a:lnTo>
                  <a:lnTo>
                    <a:pt x="418617" y="58699"/>
                  </a:lnTo>
                  <a:lnTo>
                    <a:pt x="404114" y="59804"/>
                  </a:lnTo>
                  <a:lnTo>
                    <a:pt x="362038" y="86131"/>
                  </a:lnTo>
                  <a:lnTo>
                    <a:pt x="351891" y="124536"/>
                  </a:lnTo>
                  <a:lnTo>
                    <a:pt x="351878" y="167843"/>
                  </a:lnTo>
                  <a:lnTo>
                    <a:pt x="352996" y="182333"/>
                  </a:lnTo>
                  <a:lnTo>
                    <a:pt x="379768" y="223964"/>
                  </a:lnTo>
                  <a:lnTo>
                    <a:pt x="418617" y="233959"/>
                  </a:lnTo>
                  <a:lnTo>
                    <a:pt x="433095" y="232854"/>
                  </a:lnTo>
                  <a:lnTo>
                    <a:pt x="475107" y="206502"/>
                  </a:lnTo>
                  <a:lnTo>
                    <a:pt x="485305" y="167843"/>
                  </a:lnTo>
                  <a:lnTo>
                    <a:pt x="485305" y="124536"/>
                  </a:lnTo>
                  <a:close/>
                </a:path>
                <a:path w="4614545" h="283210">
                  <a:moveTo>
                    <a:pt x="663549" y="105359"/>
                  </a:moveTo>
                  <a:lnTo>
                    <a:pt x="662940" y="95554"/>
                  </a:lnTo>
                  <a:lnTo>
                    <a:pt x="661873" y="90385"/>
                  </a:lnTo>
                  <a:lnTo>
                    <a:pt x="661098" y="86677"/>
                  </a:lnTo>
                  <a:lnTo>
                    <a:pt x="660450" y="85001"/>
                  </a:lnTo>
                  <a:lnTo>
                    <a:pt x="660374" y="84797"/>
                  </a:lnTo>
                  <a:lnTo>
                    <a:pt x="626402" y="58699"/>
                  </a:lnTo>
                  <a:lnTo>
                    <a:pt x="618045" y="58699"/>
                  </a:lnTo>
                  <a:lnTo>
                    <a:pt x="611365" y="61010"/>
                  </a:lnTo>
                  <a:lnTo>
                    <a:pt x="610514" y="61569"/>
                  </a:lnTo>
                  <a:lnTo>
                    <a:pt x="599694" y="70827"/>
                  </a:lnTo>
                  <a:lnTo>
                    <a:pt x="599389" y="71767"/>
                  </a:lnTo>
                  <a:lnTo>
                    <a:pt x="598830" y="70192"/>
                  </a:lnTo>
                  <a:lnTo>
                    <a:pt x="597941" y="69456"/>
                  </a:lnTo>
                  <a:lnTo>
                    <a:pt x="597941" y="78765"/>
                  </a:lnTo>
                  <a:lnTo>
                    <a:pt x="597687" y="77025"/>
                  </a:lnTo>
                  <a:lnTo>
                    <a:pt x="597814" y="76657"/>
                  </a:lnTo>
                  <a:lnTo>
                    <a:pt x="597839" y="77025"/>
                  </a:lnTo>
                  <a:lnTo>
                    <a:pt x="597941" y="78765"/>
                  </a:lnTo>
                  <a:lnTo>
                    <a:pt x="597941" y="69456"/>
                  </a:lnTo>
                  <a:lnTo>
                    <a:pt x="593369" y="65620"/>
                  </a:lnTo>
                  <a:lnTo>
                    <a:pt x="587959" y="61010"/>
                  </a:lnTo>
                  <a:lnTo>
                    <a:pt x="581291" y="58699"/>
                  </a:lnTo>
                  <a:lnTo>
                    <a:pt x="565010" y="58699"/>
                  </a:lnTo>
                  <a:lnTo>
                    <a:pt x="558431" y="61010"/>
                  </a:lnTo>
                  <a:lnTo>
                    <a:pt x="558203" y="61010"/>
                  </a:lnTo>
                  <a:lnTo>
                    <a:pt x="551053" y="67233"/>
                  </a:lnTo>
                  <a:lnTo>
                    <a:pt x="552094" y="61569"/>
                  </a:lnTo>
                  <a:lnTo>
                    <a:pt x="546138" y="61569"/>
                  </a:lnTo>
                  <a:lnTo>
                    <a:pt x="546138" y="84442"/>
                  </a:lnTo>
                  <a:lnTo>
                    <a:pt x="544741" y="77025"/>
                  </a:lnTo>
                  <a:lnTo>
                    <a:pt x="544868" y="76657"/>
                  </a:lnTo>
                  <a:lnTo>
                    <a:pt x="544906" y="77025"/>
                  </a:lnTo>
                  <a:lnTo>
                    <a:pt x="545071" y="78765"/>
                  </a:lnTo>
                  <a:lnTo>
                    <a:pt x="546138" y="84442"/>
                  </a:lnTo>
                  <a:lnTo>
                    <a:pt x="546138" y="61569"/>
                  </a:lnTo>
                  <a:lnTo>
                    <a:pt x="517525" y="61569"/>
                  </a:lnTo>
                  <a:lnTo>
                    <a:pt x="517525" y="231101"/>
                  </a:lnTo>
                  <a:lnTo>
                    <a:pt x="553212" y="231101"/>
                  </a:lnTo>
                  <a:lnTo>
                    <a:pt x="553212" y="99631"/>
                  </a:lnTo>
                  <a:lnTo>
                    <a:pt x="554075" y="95948"/>
                  </a:lnTo>
                  <a:lnTo>
                    <a:pt x="557568" y="91516"/>
                  </a:lnTo>
                  <a:lnTo>
                    <a:pt x="560095" y="90385"/>
                  </a:lnTo>
                  <a:lnTo>
                    <a:pt x="566813" y="90385"/>
                  </a:lnTo>
                  <a:lnTo>
                    <a:pt x="569328" y="91516"/>
                  </a:lnTo>
                  <a:lnTo>
                    <a:pt x="573024" y="95948"/>
                  </a:lnTo>
                  <a:lnTo>
                    <a:pt x="574179" y="99631"/>
                  </a:lnTo>
                  <a:lnTo>
                    <a:pt x="574268" y="231101"/>
                  </a:lnTo>
                  <a:lnTo>
                    <a:pt x="606806" y="231101"/>
                  </a:lnTo>
                  <a:lnTo>
                    <a:pt x="606831" y="99631"/>
                  </a:lnTo>
                  <a:lnTo>
                    <a:pt x="607860" y="95948"/>
                  </a:lnTo>
                  <a:lnTo>
                    <a:pt x="611644" y="91516"/>
                  </a:lnTo>
                  <a:lnTo>
                    <a:pt x="614197" y="90385"/>
                  </a:lnTo>
                  <a:lnTo>
                    <a:pt x="620915" y="90385"/>
                  </a:lnTo>
                  <a:lnTo>
                    <a:pt x="623379" y="91516"/>
                  </a:lnTo>
                  <a:lnTo>
                    <a:pt x="626770" y="95948"/>
                  </a:lnTo>
                  <a:lnTo>
                    <a:pt x="627786" y="99631"/>
                  </a:lnTo>
                  <a:lnTo>
                    <a:pt x="627862" y="231101"/>
                  </a:lnTo>
                  <a:lnTo>
                    <a:pt x="663549" y="231101"/>
                  </a:lnTo>
                  <a:lnTo>
                    <a:pt x="663549" y="105359"/>
                  </a:lnTo>
                  <a:close/>
                </a:path>
                <a:path w="4614545" h="283210">
                  <a:moveTo>
                    <a:pt x="3715804" y="16510"/>
                  </a:moveTo>
                  <a:lnTo>
                    <a:pt x="3713492" y="10909"/>
                  </a:lnTo>
                  <a:lnTo>
                    <a:pt x="3704259" y="2184"/>
                  </a:lnTo>
                  <a:lnTo>
                    <a:pt x="3698379" y="0"/>
                  </a:lnTo>
                  <a:lnTo>
                    <a:pt x="3678364" y="0"/>
                  </a:lnTo>
                  <a:lnTo>
                    <a:pt x="3672497" y="2184"/>
                  </a:lnTo>
                  <a:lnTo>
                    <a:pt x="3663251" y="10909"/>
                  </a:lnTo>
                  <a:lnTo>
                    <a:pt x="3660952" y="16510"/>
                  </a:lnTo>
                  <a:lnTo>
                    <a:pt x="3660952" y="30264"/>
                  </a:lnTo>
                  <a:lnTo>
                    <a:pt x="3663213" y="35814"/>
                  </a:lnTo>
                  <a:lnTo>
                    <a:pt x="3667734" y="40017"/>
                  </a:lnTo>
                  <a:lnTo>
                    <a:pt x="3672306" y="44170"/>
                  </a:lnTo>
                  <a:lnTo>
                    <a:pt x="3678224" y="46240"/>
                  </a:lnTo>
                  <a:lnTo>
                    <a:pt x="3698290" y="46240"/>
                  </a:lnTo>
                  <a:lnTo>
                    <a:pt x="3704145" y="44170"/>
                  </a:lnTo>
                  <a:lnTo>
                    <a:pt x="3713492" y="35814"/>
                  </a:lnTo>
                  <a:lnTo>
                    <a:pt x="3715804" y="30264"/>
                  </a:lnTo>
                  <a:lnTo>
                    <a:pt x="3715804" y="16510"/>
                  </a:lnTo>
                  <a:close/>
                </a:path>
                <a:path w="4614545" h="283210">
                  <a:moveTo>
                    <a:pt x="3763099" y="195694"/>
                  </a:moveTo>
                  <a:lnTo>
                    <a:pt x="3710063" y="195694"/>
                  </a:lnTo>
                  <a:lnTo>
                    <a:pt x="3710063" y="61569"/>
                  </a:lnTo>
                  <a:lnTo>
                    <a:pt x="3623653" y="61569"/>
                  </a:lnTo>
                  <a:lnTo>
                    <a:pt x="3623653" y="96964"/>
                  </a:lnTo>
                  <a:lnTo>
                    <a:pt x="3672357" y="96964"/>
                  </a:lnTo>
                  <a:lnTo>
                    <a:pt x="3672357" y="195694"/>
                  </a:lnTo>
                  <a:lnTo>
                    <a:pt x="3616515" y="195694"/>
                  </a:lnTo>
                  <a:lnTo>
                    <a:pt x="3616515" y="231101"/>
                  </a:lnTo>
                  <a:lnTo>
                    <a:pt x="3763099" y="231101"/>
                  </a:lnTo>
                  <a:lnTo>
                    <a:pt x="3763099" y="195694"/>
                  </a:lnTo>
                  <a:close/>
                </a:path>
                <a:path w="4614545" h="283210">
                  <a:moveTo>
                    <a:pt x="3930434" y="105359"/>
                  </a:moveTo>
                  <a:lnTo>
                    <a:pt x="3929824" y="95554"/>
                  </a:lnTo>
                  <a:lnTo>
                    <a:pt x="3928757" y="90385"/>
                  </a:lnTo>
                  <a:lnTo>
                    <a:pt x="3927983" y="86677"/>
                  </a:lnTo>
                  <a:lnTo>
                    <a:pt x="3927335" y="85001"/>
                  </a:lnTo>
                  <a:lnTo>
                    <a:pt x="3927259" y="84797"/>
                  </a:lnTo>
                  <a:lnTo>
                    <a:pt x="3893286" y="58699"/>
                  </a:lnTo>
                  <a:lnTo>
                    <a:pt x="3884930" y="58699"/>
                  </a:lnTo>
                  <a:lnTo>
                    <a:pt x="3878249" y="61010"/>
                  </a:lnTo>
                  <a:lnTo>
                    <a:pt x="3877399" y="61569"/>
                  </a:lnTo>
                  <a:lnTo>
                    <a:pt x="3866578" y="70827"/>
                  </a:lnTo>
                  <a:lnTo>
                    <a:pt x="3866273" y="71767"/>
                  </a:lnTo>
                  <a:lnTo>
                    <a:pt x="3865715" y="70192"/>
                  </a:lnTo>
                  <a:lnTo>
                    <a:pt x="3864826" y="69456"/>
                  </a:lnTo>
                  <a:lnTo>
                    <a:pt x="3864826" y="78765"/>
                  </a:lnTo>
                  <a:lnTo>
                    <a:pt x="3864572" y="77025"/>
                  </a:lnTo>
                  <a:lnTo>
                    <a:pt x="3864699" y="76657"/>
                  </a:lnTo>
                  <a:lnTo>
                    <a:pt x="3864724" y="77025"/>
                  </a:lnTo>
                  <a:lnTo>
                    <a:pt x="3864826" y="78765"/>
                  </a:lnTo>
                  <a:lnTo>
                    <a:pt x="3864826" y="69456"/>
                  </a:lnTo>
                  <a:lnTo>
                    <a:pt x="3860254" y="65620"/>
                  </a:lnTo>
                  <a:lnTo>
                    <a:pt x="3854843" y="61010"/>
                  </a:lnTo>
                  <a:lnTo>
                    <a:pt x="3848176" y="58699"/>
                  </a:lnTo>
                  <a:lnTo>
                    <a:pt x="3831894" y="58699"/>
                  </a:lnTo>
                  <a:lnTo>
                    <a:pt x="3825316" y="61010"/>
                  </a:lnTo>
                  <a:lnTo>
                    <a:pt x="3825087" y="61010"/>
                  </a:lnTo>
                  <a:lnTo>
                    <a:pt x="3817937" y="67233"/>
                  </a:lnTo>
                  <a:lnTo>
                    <a:pt x="3818979" y="61569"/>
                  </a:lnTo>
                  <a:lnTo>
                    <a:pt x="3813022" y="61569"/>
                  </a:lnTo>
                  <a:lnTo>
                    <a:pt x="3813022" y="84442"/>
                  </a:lnTo>
                  <a:lnTo>
                    <a:pt x="3811625" y="77025"/>
                  </a:lnTo>
                  <a:lnTo>
                    <a:pt x="3811752" y="76657"/>
                  </a:lnTo>
                  <a:lnTo>
                    <a:pt x="3811790" y="77025"/>
                  </a:lnTo>
                  <a:lnTo>
                    <a:pt x="3811955" y="78765"/>
                  </a:lnTo>
                  <a:lnTo>
                    <a:pt x="3813022" y="84442"/>
                  </a:lnTo>
                  <a:lnTo>
                    <a:pt x="3813022" y="61569"/>
                  </a:lnTo>
                  <a:lnTo>
                    <a:pt x="3784409" y="61569"/>
                  </a:lnTo>
                  <a:lnTo>
                    <a:pt x="3784409" y="231101"/>
                  </a:lnTo>
                  <a:lnTo>
                    <a:pt x="3820096" y="231101"/>
                  </a:lnTo>
                  <a:lnTo>
                    <a:pt x="3820096" y="99631"/>
                  </a:lnTo>
                  <a:lnTo>
                    <a:pt x="3820960" y="95948"/>
                  </a:lnTo>
                  <a:lnTo>
                    <a:pt x="3824452" y="91516"/>
                  </a:lnTo>
                  <a:lnTo>
                    <a:pt x="3826980" y="90385"/>
                  </a:lnTo>
                  <a:lnTo>
                    <a:pt x="3833685" y="90385"/>
                  </a:lnTo>
                  <a:lnTo>
                    <a:pt x="3836212" y="91516"/>
                  </a:lnTo>
                  <a:lnTo>
                    <a:pt x="3839908" y="95948"/>
                  </a:lnTo>
                  <a:lnTo>
                    <a:pt x="3841064" y="99631"/>
                  </a:lnTo>
                  <a:lnTo>
                    <a:pt x="3841153" y="231101"/>
                  </a:lnTo>
                  <a:lnTo>
                    <a:pt x="3873690" y="231101"/>
                  </a:lnTo>
                  <a:lnTo>
                    <a:pt x="3873716" y="99631"/>
                  </a:lnTo>
                  <a:lnTo>
                    <a:pt x="3874744" y="95948"/>
                  </a:lnTo>
                  <a:lnTo>
                    <a:pt x="3878529" y="91516"/>
                  </a:lnTo>
                  <a:lnTo>
                    <a:pt x="3881082" y="90385"/>
                  </a:lnTo>
                  <a:lnTo>
                    <a:pt x="3887800" y="90385"/>
                  </a:lnTo>
                  <a:lnTo>
                    <a:pt x="3890264" y="91516"/>
                  </a:lnTo>
                  <a:lnTo>
                    <a:pt x="3893655" y="95948"/>
                  </a:lnTo>
                  <a:lnTo>
                    <a:pt x="3894671" y="99631"/>
                  </a:lnTo>
                  <a:lnTo>
                    <a:pt x="3894747" y="231101"/>
                  </a:lnTo>
                  <a:lnTo>
                    <a:pt x="3930434" y="231101"/>
                  </a:lnTo>
                  <a:lnTo>
                    <a:pt x="3930434" y="105359"/>
                  </a:lnTo>
                  <a:close/>
                </a:path>
                <a:path w="4614545" h="283210">
                  <a:moveTo>
                    <a:pt x="4096080" y="123139"/>
                  </a:moveTo>
                  <a:lnTo>
                    <a:pt x="4087431" y="85864"/>
                  </a:lnTo>
                  <a:lnTo>
                    <a:pt x="4058450" y="61887"/>
                  </a:lnTo>
                  <a:lnTo>
                    <a:pt x="4058450" y="114134"/>
                  </a:lnTo>
                  <a:lnTo>
                    <a:pt x="4058450" y="178523"/>
                  </a:lnTo>
                  <a:lnTo>
                    <a:pt x="4056037" y="186499"/>
                  </a:lnTo>
                  <a:lnTo>
                    <a:pt x="4046512" y="196951"/>
                  </a:lnTo>
                  <a:lnTo>
                    <a:pt x="4039438" y="199682"/>
                  </a:lnTo>
                  <a:lnTo>
                    <a:pt x="4021290" y="199682"/>
                  </a:lnTo>
                  <a:lnTo>
                    <a:pt x="4001630" y="178523"/>
                  </a:lnTo>
                  <a:lnTo>
                    <a:pt x="4001630" y="114134"/>
                  </a:lnTo>
                  <a:lnTo>
                    <a:pt x="4021290" y="92976"/>
                  </a:lnTo>
                  <a:lnTo>
                    <a:pt x="4039438" y="92976"/>
                  </a:lnTo>
                  <a:lnTo>
                    <a:pt x="4046436" y="95618"/>
                  </a:lnTo>
                  <a:lnTo>
                    <a:pt x="4056037" y="106159"/>
                  </a:lnTo>
                  <a:lnTo>
                    <a:pt x="4058450" y="114134"/>
                  </a:lnTo>
                  <a:lnTo>
                    <a:pt x="4058450" y="61887"/>
                  </a:lnTo>
                  <a:lnTo>
                    <a:pt x="4051414" y="59804"/>
                  </a:lnTo>
                  <a:lnTo>
                    <a:pt x="4038854" y="58699"/>
                  </a:lnTo>
                  <a:lnTo>
                    <a:pt x="4029379" y="59334"/>
                  </a:lnTo>
                  <a:lnTo>
                    <a:pt x="3999179" y="76327"/>
                  </a:lnTo>
                  <a:lnTo>
                    <a:pt x="3995953" y="96850"/>
                  </a:lnTo>
                  <a:lnTo>
                    <a:pt x="3999255" y="75780"/>
                  </a:lnTo>
                  <a:lnTo>
                    <a:pt x="4001490" y="61569"/>
                  </a:lnTo>
                  <a:lnTo>
                    <a:pt x="3994988" y="61569"/>
                  </a:lnTo>
                  <a:lnTo>
                    <a:pt x="3994988" y="195973"/>
                  </a:lnTo>
                  <a:lnTo>
                    <a:pt x="3994950" y="196951"/>
                  </a:lnTo>
                  <a:lnTo>
                    <a:pt x="3994848" y="198932"/>
                  </a:lnTo>
                  <a:lnTo>
                    <a:pt x="3994988" y="195973"/>
                  </a:lnTo>
                  <a:lnTo>
                    <a:pt x="3994988" y="61569"/>
                  </a:lnTo>
                  <a:lnTo>
                    <a:pt x="3963847" y="61569"/>
                  </a:lnTo>
                  <a:lnTo>
                    <a:pt x="3963847" y="282663"/>
                  </a:lnTo>
                  <a:lnTo>
                    <a:pt x="4001490" y="282663"/>
                  </a:lnTo>
                  <a:lnTo>
                    <a:pt x="4001287" y="229552"/>
                  </a:lnTo>
                  <a:lnTo>
                    <a:pt x="3999268" y="216966"/>
                  </a:lnTo>
                  <a:lnTo>
                    <a:pt x="3999941" y="218160"/>
                  </a:lnTo>
                  <a:lnTo>
                    <a:pt x="4038854" y="233959"/>
                  </a:lnTo>
                  <a:lnTo>
                    <a:pt x="4051414" y="232867"/>
                  </a:lnTo>
                  <a:lnTo>
                    <a:pt x="4087431" y="206781"/>
                  </a:lnTo>
                  <a:lnTo>
                    <a:pt x="4090517" y="199682"/>
                  </a:lnTo>
                  <a:lnTo>
                    <a:pt x="4092232" y="195745"/>
                  </a:lnTo>
                  <a:lnTo>
                    <a:pt x="4095127" y="183235"/>
                  </a:lnTo>
                  <a:lnTo>
                    <a:pt x="4096080" y="169240"/>
                  </a:lnTo>
                  <a:lnTo>
                    <a:pt x="4096080" y="123139"/>
                  </a:lnTo>
                  <a:close/>
                </a:path>
                <a:path w="4614545" h="283210">
                  <a:moveTo>
                    <a:pt x="4268038" y="124536"/>
                  </a:moveTo>
                  <a:lnTo>
                    <a:pt x="4257840" y="86131"/>
                  </a:lnTo>
                  <a:lnTo>
                    <a:pt x="4230395" y="63957"/>
                  </a:lnTo>
                  <a:lnTo>
                    <a:pt x="4230395" y="114363"/>
                  </a:lnTo>
                  <a:lnTo>
                    <a:pt x="4230395" y="178295"/>
                  </a:lnTo>
                  <a:lnTo>
                    <a:pt x="4227919" y="186131"/>
                  </a:lnTo>
                  <a:lnTo>
                    <a:pt x="4218076" y="196532"/>
                  </a:lnTo>
                  <a:lnTo>
                    <a:pt x="4210875" y="199123"/>
                  </a:lnTo>
                  <a:lnTo>
                    <a:pt x="4191800" y="199123"/>
                  </a:lnTo>
                  <a:lnTo>
                    <a:pt x="4184561" y="196532"/>
                  </a:lnTo>
                  <a:lnTo>
                    <a:pt x="4174769" y="186131"/>
                  </a:lnTo>
                  <a:lnTo>
                    <a:pt x="4172318" y="178295"/>
                  </a:lnTo>
                  <a:lnTo>
                    <a:pt x="4172318" y="114363"/>
                  </a:lnTo>
                  <a:lnTo>
                    <a:pt x="4174769" y="106553"/>
                  </a:lnTo>
                  <a:lnTo>
                    <a:pt x="4184561" y="96151"/>
                  </a:lnTo>
                  <a:lnTo>
                    <a:pt x="4191800" y="93535"/>
                  </a:lnTo>
                  <a:lnTo>
                    <a:pt x="4210875" y="93535"/>
                  </a:lnTo>
                  <a:lnTo>
                    <a:pt x="4218076" y="96151"/>
                  </a:lnTo>
                  <a:lnTo>
                    <a:pt x="4222978" y="101371"/>
                  </a:lnTo>
                  <a:lnTo>
                    <a:pt x="4227919" y="106553"/>
                  </a:lnTo>
                  <a:lnTo>
                    <a:pt x="4230395" y="63957"/>
                  </a:lnTo>
                  <a:lnTo>
                    <a:pt x="4201363" y="58699"/>
                  </a:lnTo>
                  <a:lnTo>
                    <a:pt x="4186847" y="59804"/>
                  </a:lnTo>
                  <a:lnTo>
                    <a:pt x="4144772" y="86131"/>
                  </a:lnTo>
                  <a:lnTo>
                    <a:pt x="4134637" y="124536"/>
                  </a:lnTo>
                  <a:lnTo>
                    <a:pt x="4134612" y="167843"/>
                  </a:lnTo>
                  <a:lnTo>
                    <a:pt x="4135742" y="182333"/>
                  </a:lnTo>
                  <a:lnTo>
                    <a:pt x="4162501" y="223964"/>
                  </a:lnTo>
                  <a:lnTo>
                    <a:pt x="4201363" y="233959"/>
                  </a:lnTo>
                  <a:lnTo>
                    <a:pt x="4215828" y="232854"/>
                  </a:lnTo>
                  <a:lnTo>
                    <a:pt x="4257840" y="206502"/>
                  </a:lnTo>
                  <a:lnTo>
                    <a:pt x="4268038" y="167843"/>
                  </a:lnTo>
                  <a:lnTo>
                    <a:pt x="4268038" y="124536"/>
                  </a:lnTo>
                  <a:close/>
                </a:path>
                <a:path w="4614545" h="283210">
                  <a:moveTo>
                    <a:pt x="4446282" y="122580"/>
                  </a:moveTo>
                  <a:lnTo>
                    <a:pt x="4437037" y="85559"/>
                  </a:lnTo>
                  <a:lnTo>
                    <a:pt x="4398962" y="59791"/>
                  </a:lnTo>
                  <a:lnTo>
                    <a:pt x="4385907" y="58699"/>
                  </a:lnTo>
                  <a:lnTo>
                    <a:pt x="4368901" y="61010"/>
                  </a:lnTo>
                  <a:lnTo>
                    <a:pt x="4356303" y="67932"/>
                  </a:lnTo>
                  <a:lnTo>
                    <a:pt x="4348124" y="79476"/>
                  </a:lnTo>
                  <a:lnTo>
                    <a:pt x="4344340" y="95643"/>
                  </a:lnTo>
                  <a:lnTo>
                    <a:pt x="4344428" y="95148"/>
                  </a:lnTo>
                  <a:lnTo>
                    <a:pt x="4350283" y="61569"/>
                  </a:lnTo>
                  <a:lnTo>
                    <a:pt x="4313212" y="61569"/>
                  </a:lnTo>
                  <a:lnTo>
                    <a:pt x="4313212" y="231101"/>
                  </a:lnTo>
                  <a:lnTo>
                    <a:pt x="4350855" y="231101"/>
                  </a:lnTo>
                  <a:lnTo>
                    <a:pt x="4350905" y="114134"/>
                  </a:lnTo>
                  <a:lnTo>
                    <a:pt x="4353395" y="106299"/>
                  </a:lnTo>
                  <a:lnTo>
                    <a:pt x="4363199" y="95643"/>
                  </a:lnTo>
                  <a:lnTo>
                    <a:pt x="4363732" y="95148"/>
                  </a:lnTo>
                  <a:lnTo>
                    <a:pt x="4370743" y="92417"/>
                  </a:lnTo>
                  <a:lnTo>
                    <a:pt x="4389209" y="92417"/>
                  </a:lnTo>
                  <a:lnTo>
                    <a:pt x="4396333" y="95148"/>
                  </a:lnTo>
                  <a:lnTo>
                    <a:pt x="4406176" y="106070"/>
                  </a:lnTo>
                  <a:lnTo>
                    <a:pt x="4406239" y="106299"/>
                  </a:lnTo>
                  <a:lnTo>
                    <a:pt x="4408640" y="114134"/>
                  </a:lnTo>
                  <a:lnTo>
                    <a:pt x="4408640" y="137972"/>
                  </a:lnTo>
                  <a:lnTo>
                    <a:pt x="4446282" y="137972"/>
                  </a:lnTo>
                  <a:lnTo>
                    <a:pt x="4446282" y="122580"/>
                  </a:lnTo>
                  <a:close/>
                </a:path>
                <a:path w="4614545" h="283210">
                  <a:moveTo>
                    <a:pt x="4614253" y="61569"/>
                  </a:moveTo>
                  <a:lnTo>
                    <a:pt x="4551210" y="61569"/>
                  </a:lnTo>
                  <a:lnTo>
                    <a:pt x="4551210" y="18605"/>
                  </a:lnTo>
                  <a:lnTo>
                    <a:pt x="4513491" y="18605"/>
                  </a:lnTo>
                  <a:lnTo>
                    <a:pt x="4513491" y="61569"/>
                  </a:lnTo>
                  <a:lnTo>
                    <a:pt x="4469066" y="61569"/>
                  </a:lnTo>
                  <a:lnTo>
                    <a:pt x="4469066" y="96964"/>
                  </a:lnTo>
                  <a:lnTo>
                    <a:pt x="4513491" y="96964"/>
                  </a:lnTo>
                  <a:lnTo>
                    <a:pt x="4513491" y="183591"/>
                  </a:lnTo>
                  <a:lnTo>
                    <a:pt x="4514316" y="194144"/>
                  </a:lnTo>
                  <a:lnTo>
                    <a:pt x="4542129" y="227952"/>
                  </a:lnTo>
                  <a:lnTo>
                    <a:pt x="4562475" y="231101"/>
                  </a:lnTo>
                  <a:lnTo>
                    <a:pt x="4611382" y="231101"/>
                  </a:lnTo>
                  <a:lnTo>
                    <a:pt x="4611382" y="195694"/>
                  </a:lnTo>
                  <a:lnTo>
                    <a:pt x="4558271" y="195694"/>
                  </a:lnTo>
                  <a:lnTo>
                    <a:pt x="4555337" y="194805"/>
                  </a:lnTo>
                  <a:lnTo>
                    <a:pt x="4552023" y="191262"/>
                  </a:lnTo>
                  <a:lnTo>
                    <a:pt x="4551210" y="188112"/>
                  </a:lnTo>
                  <a:lnTo>
                    <a:pt x="4551210" y="96964"/>
                  </a:lnTo>
                  <a:lnTo>
                    <a:pt x="4614253" y="96964"/>
                  </a:lnTo>
                  <a:lnTo>
                    <a:pt x="4614253" y="61569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42352" y="1231899"/>
            <a:ext cx="6043930" cy="14998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177165" indent="859155">
              <a:lnSpc>
                <a:spcPct val="143300"/>
              </a:lnSpc>
              <a:spcBef>
                <a:spcPts val="95"/>
              </a:spcBef>
              <a:tabLst>
                <a:tab pos="4826635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sklearn.cluster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KMeans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model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KMeans(n_clusters=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3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labels =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model.fit_predict(samples)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F70092A-06DA-B3F7-D48D-26B8490BBB5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Clusters</a:t>
            </a:r>
            <a:r>
              <a:rPr spc="-105" dirty="0"/>
              <a:t> </a:t>
            </a:r>
            <a:r>
              <a:rPr spc="-225" dirty="0"/>
              <a:t>vs.</a:t>
            </a:r>
            <a:r>
              <a:rPr spc="-95" dirty="0"/>
              <a:t> </a:t>
            </a:r>
            <a:r>
              <a:rPr spc="-55" dirty="0"/>
              <a:t>varieties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9887585" cy="2292985"/>
          </a:xfrm>
          <a:custGeom>
            <a:avLst/>
            <a:gdLst/>
            <a:ahLst/>
            <a:cxnLst/>
            <a:rect l="l" t="t" r="r" b="b"/>
            <a:pathLst>
              <a:path w="9887585" h="2292985">
                <a:moveTo>
                  <a:pt x="9810694" y="2292683"/>
                </a:moveTo>
                <a:lnTo>
                  <a:pt x="76505" y="2292683"/>
                </a:lnTo>
                <a:lnTo>
                  <a:pt x="71180" y="2292159"/>
                </a:lnTo>
                <a:lnTo>
                  <a:pt x="31920" y="2275896"/>
                </a:lnTo>
                <a:lnTo>
                  <a:pt x="4175" y="2237169"/>
                </a:lnTo>
                <a:lnTo>
                  <a:pt x="0" y="2216178"/>
                </a:lnTo>
                <a:lnTo>
                  <a:pt x="0" y="221080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216178"/>
                </a:lnTo>
                <a:lnTo>
                  <a:pt x="9870412" y="2260763"/>
                </a:lnTo>
                <a:lnTo>
                  <a:pt x="9831684" y="2288508"/>
                </a:lnTo>
                <a:lnTo>
                  <a:pt x="9816018" y="2292159"/>
                </a:lnTo>
                <a:lnTo>
                  <a:pt x="9810694" y="229268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705140"/>
            <a:ext cx="9887585" cy="2784475"/>
          </a:xfrm>
          <a:custGeom>
            <a:avLst/>
            <a:gdLst/>
            <a:ahLst/>
            <a:cxnLst/>
            <a:rect l="l" t="t" r="r" b="b"/>
            <a:pathLst>
              <a:path w="9887585" h="2784475">
                <a:moveTo>
                  <a:pt x="9810694" y="2783972"/>
                </a:moveTo>
                <a:lnTo>
                  <a:pt x="76505" y="2783972"/>
                </a:lnTo>
                <a:lnTo>
                  <a:pt x="71180" y="2783447"/>
                </a:lnTo>
                <a:lnTo>
                  <a:pt x="31920" y="2767186"/>
                </a:lnTo>
                <a:lnTo>
                  <a:pt x="4175" y="2728458"/>
                </a:lnTo>
                <a:lnTo>
                  <a:pt x="0" y="2707467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707467"/>
                </a:lnTo>
                <a:lnTo>
                  <a:pt x="9870412" y="2752052"/>
                </a:lnTo>
                <a:lnTo>
                  <a:pt x="9831684" y="2779796"/>
                </a:lnTo>
                <a:lnTo>
                  <a:pt x="9816018" y="2783447"/>
                </a:lnTo>
                <a:lnTo>
                  <a:pt x="9810694" y="278397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8107680" cy="199072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 algn="just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df = pd.DataFrame({'labels':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labels,</a:t>
            </a:r>
            <a:endParaRPr sz="2250">
              <a:latin typeface="Monaco"/>
              <a:cs typeface="Monaco"/>
            </a:endParaRPr>
          </a:p>
          <a:p>
            <a:pPr marL="12700" marR="5080" indent="3954779" algn="just">
              <a:lnSpc>
                <a:spcPct val="143300"/>
              </a:lnSpc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'varieties':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varieties})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ct = pd.crosstab(df['labels'],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df['varieties']) print(ct)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3584365"/>
          <a:ext cx="6597015" cy="267271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513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74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54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27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772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varieties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R="163830" algn="r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Barbera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R="163830" algn="r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Barolo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778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Grignolino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778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labels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409D37F-70D4-8DFD-333B-87DA9C3807A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75" dirty="0"/>
              <a:t> </a:t>
            </a:r>
            <a:r>
              <a:rPr spc="-55" dirty="0"/>
              <a:t>variances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3950785"/>
            <a:ext cx="4790440" cy="3275329"/>
          </a:xfrm>
          <a:custGeom>
            <a:avLst/>
            <a:gdLst/>
            <a:ahLst/>
            <a:cxnLst/>
            <a:rect l="l" t="t" r="r" b="b"/>
            <a:pathLst>
              <a:path w="4790440" h="3275329">
                <a:moveTo>
                  <a:pt x="4713566" y="3275262"/>
                </a:moveTo>
                <a:lnTo>
                  <a:pt x="76505" y="3275262"/>
                </a:lnTo>
                <a:lnTo>
                  <a:pt x="71180" y="3274737"/>
                </a:lnTo>
                <a:lnTo>
                  <a:pt x="31920" y="3258475"/>
                </a:lnTo>
                <a:lnTo>
                  <a:pt x="4175" y="3219748"/>
                </a:lnTo>
                <a:lnTo>
                  <a:pt x="0" y="3198757"/>
                </a:lnTo>
                <a:lnTo>
                  <a:pt x="0" y="319338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4713566" y="0"/>
                </a:lnTo>
                <a:lnTo>
                  <a:pt x="4758150" y="16786"/>
                </a:lnTo>
                <a:lnTo>
                  <a:pt x="4785895" y="55513"/>
                </a:lnTo>
                <a:lnTo>
                  <a:pt x="4790071" y="76505"/>
                </a:lnTo>
                <a:lnTo>
                  <a:pt x="4790071" y="3198757"/>
                </a:lnTo>
                <a:lnTo>
                  <a:pt x="4773284" y="3243342"/>
                </a:lnTo>
                <a:lnTo>
                  <a:pt x="4734556" y="3271086"/>
                </a:lnTo>
                <a:lnTo>
                  <a:pt x="4718890" y="3274738"/>
                </a:lnTo>
                <a:lnTo>
                  <a:pt x="4713566" y="327526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1076324"/>
            <a:ext cx="4364355" cy="2646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wine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very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variances!</a:t>
            </a:r>
            <a:endParaRPr sz="2550">
              <a:latin typeface="Arial"/>
              <a:cs typeface="Arial"/>
            </a:endParaRPr>
          </a:p>
          <a:p>
            <a:pPr marL="12700" marR="853440">
              <a:lnSpc>
                <a:spcPct val="126400"/>
              </a:lnSpc>
              <a:spcBef>
                <a:spcPts val="129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Variance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feature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measures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spread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its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05759" y="4015873"/>
            <a:ext cx="1401445" cy="149987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variance</a:t>
            </a:r>
            <a:endParaRPr sz="22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0.65</a:t>
            </a:r>
            <a:endParaRPr sz="22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11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1.24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4015873"/>
            <a:ext cx="1744980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feature alcohol malic_acid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...</a:t>
            </a:r>
            <a:endParaRPr sz="2250">
              <a:latin typeface="Monaco"/>
              <a:cs typeface="Monaco"/>
            </a:endParaRPr>
          </a:p>
          <a:p>
            <a:pPr marL="12700" marR="520700">
              <a:lnSpc>
                <a:spcPct val="143300"/>
              </a:lnSpc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od280 proline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5759" y="5981031"/>
            <a:ext cx="1401445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0.50</a:t>
            </a:r>
            <a:endParaRPr sz="22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99166.71</a:t>
            </a:r>
            <a:endParaRPr sz="2250">
              <a:latin typeface="Monaco"/>
              <a:cs typeface="Monac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627410" y="1324992"/>
            <a:ext cx="8018740" cy="6485508"/>
          </a:xfrm>
          <a:prstGeom prst="rect">
            <a:avLst/>
          </a:prstGeom>
        </p:spPr>
      </p:pic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C22DA129-0912-A67B-C708-1E8C65A11C4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E96074D-A89F-4B9F-794F-02D67257D0F4}"/>
              </a:ext>
            </a:extLst>
          </p:cNvPr>
          <p:cNvSpPr txBox="1"/>
          <p:nvPr/>
        </p:nvSpPr>
        <p:spPr>
          <a:xfrm>
            <a:off x="590528" y="7610713"/>
            <a:ext cx="126746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p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roline: 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단백질생성성 아미노산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단백질의 생합성에 사용됨</a:t>
            </a:r>
            <a:r>
              <a:rPr lang="en-US" altLang="ko-KR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r>
              <a:rPr lang="ko-KR" altLang="en-US" b="0" i="0" dirty="0" err="1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으로</a:t>
            </a:r>
            <a:r>
              <a:rPr lang="ko-KR" altLang="en-US" b="0" i="0" dirty="0"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분류되는 유기산</a:t>
            </a:r>
            <a:endParaRPr lang="en-US" altLang="ko-KR" b="0" i="0" dirty="0"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od280: method for calculating protein concentration</a:t>
            </a:r>
          </a:p>
          <a:p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malic acid: </a:t>
            </a:r>
            <a:r>
              <a:rPr lang="ko-KR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말산은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</a:rPr>
              <a:t> 모든 생물에서 만들어지고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</a:rPr>
              <a:t>과일의 유쾌한 신맛에 기여하며</a:t>
            </a:r>
            <a:r>
              <a:rPr lang="en-US" altLang="ko-KR" dirty="0">
                <a:solidFill>
                  <a:schemeClr val="tx1"/>
                </a:solidFill>
                <a:latin typeface="Arial" panose="020B0604020202020204" pitchFamily="34" charset="0"/>
              </a:rPr>
              <a:t>, </a:t>
            </a:r>
            <a:r>
              <a:rPr lang="ko-KR" altLang="en-US" dirty="0">
                <a:solidFill>
                  <a:schemeClr val="tx1"/>
                </a:solidFill>
                <a:latin typeface="Arial" panose="020B0604020202020204" pitchFamily="34" charset="0"/>
              </a:rPr>
              <a:t>식품 첨가물로 사용되는 </a:t>
            </a:r>
            <a:r>
              <a:rPr lang="ko-KR" altLang="en-US" dirty="0" err="1">
                <a:solidFill>
                  <a:schemeClr val="tx1"/>
                </a:solidFill>
                <a:latin typeface="Arial" panose="020B0604020202020204" pitchFamily="34" charset="0"/>
              </a:rPr>
              <a:t>다이카복실산</a:t>
            </a:r>
            <a:endParaRPr lang="ko-KR" alt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75" dirty="0"/>
              <a:t> </a:t>
            </a:r>
            <a:r>
              <a:rPr spc="-55" dirty="0"/>
              <a:t>variances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3950785"/>
            <a:ext cx="4790440" cy="3275329"/>
          </a:xfrm>
          <a:custGeom>
            <a:avLst/>
            <a:gdLst/>
            <a:ahLst/>
            <a:cxnLst/>
            <a:rect l="l" t="t" r="r" b="b"/>
            <a:pathLst>
              <a:path w="4790440" h="3275329">
                <a:moveTo>
                  <a:pt x="4713566" y="3275262"/>
                </a:moveTo>
                <a:lnTo>
                  <a:pt x="76505" y="3275262"/>
                </a:lnTo>
                <a:lnTo>
                  <a:pt x="71180" y="3274737"/>
                </a:lnTo>
                <a:lnTo>
                  <a:pt x="31920" y="3258475"/>
                </a:lnTo>
                <a:lnTo>
                  <a:pt x="4175" y="3219748"/>
                </a:lnTo>
                <a:lnTo>
                  <a:pt x="0" y="3198757"/>
                </a:lnTo>
                <a:lnTo>
                  <a:pt x="0" y="319338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4713566" y="0"/>
                </a:lnTo>
                <a:lnTo>
                  <a:pt x="4758150" y="16786"/>
                </a:lnTo>
                <a:lnTo>
                  <a:pt x="4785895" y="55513"/>
                </a:lnTo>
                <a:lnTo>
                  <a:pt x="4790071" y="76505"/>
                </a:lnTo>
                <a:lnTo>
                  <a:pt x="4790071" y="3198757"/>
                </a:lnTo>
                <a:lnTo>
                  <a:pt x="4773284" y="3243342"/>
                </a:lnTo>
                <a:lnTo>
                  <a:pt x="4734556" y="3271086"/>
                </a:lnTo>
                <a:lnTo>
                  <a:pt x="4718890" y="3274738"/>
                </a:lnTo>
                <a:lnTo>
                  <a:pt x="4713566" y="327526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847056" y="1076324"/>
            <a:ext cx="4364355" cy="26460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400"/>
              </a:lnSpc>
              <a:spcBef>
                <a:spcPts val="9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wine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very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different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variances!</a:t>
            </a:r>
            <a:endParaRPr sz="2550">
              <a:latin typeface="Arial"/>
              <a:cs typeface="Arial"/>
            </a:endParaRPr>
          </a:p>
          <a:p>
            <a:pPr marL="12700" marR="853440">
              <a:lnSpc>
                <a:spcPct val="126400"/>
              </a:lnSpc>
              <a:spcBef>
                <a:spcPts val="1290"/>
              </a:spcBef>
            </a:pP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Variance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feature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measures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spread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0" dirty="0">
                <a:solidFill>
                  <a:srgbClr val="04182D"/>
                </a:solidFill>
                <a:latin typeface="Arial"/>
                <a:cs typeface="Arial"/>
              </a:rPr>
              <a:t>of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its 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values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497387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705759" y="4015873"/>
            <a:ext cx="1401445" cy="149987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variance</a:t>
            </a:r>
            <a:endParaRPr sz="22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0.65</a:t>
            </a:r>
            <a:endParaRPr sz="22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11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1.24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4015873"/>
            <a:ext cx="1744980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feature alcohol malic_acid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...</a:t>
            </a:r>
            <a:endParaRPr sz="2250">
              <a:latin typeface="Monaco"/>
              <a:cs typeface="Monaco"/>
            </a:endParaRPr>
          </a:p>
          <a:p>
            <a:pPr marL="12700" marR="520700">
              <a:lnSpc>
                <a:spcPct val="143300"/>
              </a:lnSpc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od280 proline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705759" y="5981031"/>
            <a:ext cx="1401445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0.50</a:t>
            </a:r>
            <a:endParaRPr sz="22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99166.71</a:t>
            </a:r>
            <a:endParaRPr sz="2250">
              <a:latin typeface="Monaco"/>
              <a:cs typeface="Monaco"/>
            </a:endParaRPr>
          </a:p>
        </p:txBody>
      </p:sp>
      <p:pic>
        <p:nvPicPr>
          <p:cNvPr id="10" name="object 1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16750" y="1324594"/>
            <a:ext cx="7476079" cy="6113812"/>
          </a:xfrm>
          <a:prstGeom prst="rect">
            <a:avLst/>
          </a:prstGeom>
        </p:spPr>
      </p:pic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9C7D3DE8-A838-0BBB-6BD7-22FFF79737D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8F02EC9-4D3A-5ABA-BC3E-318B67C69EEA}"/>
              </a:ext>
            </a:extLst>
          </p:cNvPr>
          <p:cNvSpPr txBox="1"/>
          <p:nvPr/>
        </p:nvSpPr>
        <p:spPr>
          <a:xfrm>
            <a:off x="6146332" y="3627619"/>
            <a:ext cx="16002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dirty="0"/>
              <a:t>proline</a:t>
            </a:r>
          </a:p>
          <a:p>
            <a:endParaRPr kumimoji="1" lang="ko-KR" altLang="en-US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5" dirty="0"/>
              <a:t>StandardScaler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900697" y="1862805"/>
            <a:ext cx="2497455" cy="429895"/>
          </a:xfrm>
          <a:custGeom>
            <a:avLst/>
            <a:gdLst/>
            <a:ahLst/>
            <a:cxnLst/>
            <a:rect l="l" t="t" r="r" b="b"/>
            <a:pathLst>
              <a:path w="2497454" h="429894">
                <a:moveTo>
                  <a:pt x="242088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420882" y="0"/>
                </a:lnTo>
                <a:lnTo>
                  <a:pt x="2465467" y="16786"/>
                </a:lnTo>
                <a:lnTo>
                  <a:pt x="2493212" y="55513"/>
                </a:lnTo>
                <a:lnTo>
                  <a:pt x="2497387" y="76505"/>
                </a:lnTo>
                <a:lnTo>
                  <a:pt x="2497387" y="353373"/>
                </a:lnTo>
                <a:lnTo>
                  <a:pt x="2480601" y="397957"/>
                </a:lnTo>
                <a:lnTo>
                  <a:pt x="2441873" y="425702"/>
                </a:lnTo>
                <a:lnTo>
                  <a:pt x="2426207" y="429353"/>
                </a:lnTo>
                <a:lnTo>
                  <a:pt x="242088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847056" y="1174582"/>
            <a:ext cx="8969375" cy="22199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kmeans: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variance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=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influence</a:t>
            </a:r>
            <a:endParaRPr sz="2550">
              <a:latin typeface="Arial"/>
              <a:cs typeface="Arial"/>
            </a:endParaRPr>
          </a:p>
          <a:p>
            <a:pPr marL="12700" marR="5080" indent="81280">
              <a:lnSpc>
                <a:spcPct val="126400"/>
              </a:lnSpc>
              <a:spcBef>
                <a:spcPts val="129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StandardScaler</a:t>
            </a:r>
            <a:r>
              <a:rPr sz="2250" spc="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transforms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each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4" dirty="0">
                <a:solidFill>
                  <a:srgbClr val="04182D"/>
                </a:solidFill>
                <a:latin typeface="Arial"/>
                <a:cs typeface="Arial"/>
              </a:rPr>
              <a:t>mean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260" dirty="0">
                <a:solidFill>
                  <a:srgbClr val="04182D"/>
                </a:solidFill>
                <a:latin typeface="Arial"/>
                <a:cs typeface="Arial"/>
              </a:rPr>
              <a:t>0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variance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535" dirty="0">
                <a:solidFill>
                  <a:srgbClr val="04182D"/>
                </a:solidFill>
                <a:latin typeface="Arial"/>
                <a:cs typeface="Arial"/>
              </a:rPr>
              <a:t>1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</a:pP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Features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said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be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0" dirty="0">
                <a:solidFill>
                  <a:srgbClr val="04182D"/>
                </a:solidFill>
                <a:latin typeface="Arial"/>
                <a:cs typeface="Arial"/>
              </a:rPr>
              <a:t>"standardized"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3152440"/>
            <a:ext cx="102352" cy="102351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38243" y="3623259"/>
            <a:ext cx="9417657" cy="3131969"/>
          </a:xfrm>
          <a:prstGeom prst="rect">
            <a:avLst/>
          </a:prstGeom>
        </p:spPr>
      </p:pic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B02C5E40-F1F6-DB07-4DAD-C900F69472D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0" dirty="0"/>
              <a:t>sklearn</a:t>
            </a:r>
            <a:r>
              <a:rPr spc="-195" dirty="0"/>
              <a:t> </a:t>
            </a:r>
            <a:r>
              <a:rPr spc="-65" dirty="0"/>
              <a:t>StandardScaler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788"/>
            <a:ext cx="9887585" cy="2682240"/>
            <a:chOff x="491289" y="1166788"/>
            <a:chExt cx="9887585" cy="2682240"/>
          </a:xfrm>
        </p:grpSpPr>
        <p:sp>
          <p:nvSpPr>
            <p:cNvPr id="4" name="object 4"/>
            <p:cNvSpPr/>
            <p:nvPr/>
          </p:nvSpPr>
          <p:spPr>
            <a:xfrm>
              <a:off x="491289" y="1166788"/>
              <a:ext cx="9887585" cy="2682240"/>
            </a:xfrm>
            <a:custGeom>
              <a:avLst/>
              <a:gdLst/>
              <a:ahLst/>
              <a:cxnLst/>
              <a:rect l="l" t="t" r="r" b="b"/>
              <a:pathLst>
                <a:path w="9887585" h="2682240">
                  <a:moveTo>
                    <a:pt x="9810694" y="2681620"/>
                  </a:moveTo>
                  <a:lnTo>
                    <a:pt x="76505" y="2681620"/>
                  </a:lnTo>
                  <a:lnTo>
                    <a:pt x="71180" y="2681096"/>
                  </a:lnTo>
                  <a:lnTo>
                    <a:pt x="31920" y="2664834"/>
                  </a:lnTo>
                  <a:lnTo>
                    <a:pt x="4175" y="2626107"/>
                  </a:lnTo>
                  <a:lnTo>
                    <a:pt x="0" y="2605115"/>
                  </a:lnTo>
                  <a:lnTo>
                    <a:pt x="0" y="2599739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9810694" y="0"/>
                  </a:lnTo>
                  <a:lnTo>
                    <a:pt x="9855278" y="16786"/>
                  </a:lnTo>
                  <a:lnTo>
                    <a:pt x="9883023" y="55513"/>
                  </a:lnTo>
                  <a:lnTo>
                    <a:pt x="9887199" y="76505"/>
                  </a:lnTo>
                  <a:lnTo>
                    <a:pt x="9887199" y="2605115"/>
                  </a:lnTo>
                  <a:lnTo>
                    <a:pt x="9870412" y="2649700"/>
                  </a:lnTo>
                  <a:lnTo>
                    <a:pt x="9831684" y="2677445"/>
                  </a:lnTo>
                  <a:lnTo>
                    <a:pt x="9816018" y="2681096"/>
                  </a:lnTo>
                  <a:lnTo>
                    <a:pt x="9810694" y="2681620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66623" y="1433918"/>
              <a:ext cx="5476240" cy="274320"/>
            </a:xfrm>
            <a:custGeom>
              <a:avLst/>
              <a:gdLst/>
              <a:ahLst/>
              <a:cxnLst/>
              <a:rect l="l" t="t" r="r" b="b"/>
              <a:pathLst>
                <a:path w="5476240" h="274319">
                  <a:moveTo>
                    <a:pt x="143548" y="9702"/>
                  </a:moveTo>
                  <a:lnTo>
                    <a:pt x="90538" y="9702"/>
                  </a:lnTo>
                  <a:lnTo>
                    <a:pt x="80606" y="10452"/>
                  </a:lnTo>
                  <a:lnTo>
                    <a:pt x="47599" y="35623"/>
                  </a:lnTo>
                  <a:lnTo>
                    <a:pt x="44450" y="53822"/>
                  </a:lnTo>
                  <a:lnTo>
                    <a:pt x="44450" y="62776"/>
                  </a:lnTo>
                  <a:lnTo>
                    <a:pt x="0" y="62776"/>
                  </a:lnTo>
                  <a:lnTo>
                    <a:pt x="0" y="97116"/>
                  </a:lnTo>
                  <a:lnTo>
                    <a:pt x="44450" y="97116"/>
                  </a:lnTo>
                  <a:lnTo>
                    <a:pt x="44450" y="224167"/>
                  </a:lnTo>
                  <a:lnTo>
                    <a:pt x="81038" y="224167"/>
                  </a:lnTo>
                  <a:lnTo>
                    <a:pt x="81038" y="97116"/>
                  </a:lnTo>
                  <a:lnTo>
                    <a:pt x="143548" y="97116"/>
                  </a:lnTo>
                  <a:lnTo>
                    <a:pt x="143548" y="62776"/>
                  </a:lnTo>
                  <a:lnTo>
                    <a:pt x="81038" y="62776"/>
                  </a:lnTo>
                  <a:lnTo>
                    <a:pt x="81038" y="50330"/>
                  </a:lnTo>
                  <a:lnTo>
                    <a:pt x="81800" y="47955"/>
                  </a:lnTo>
                  <a:lnTo>
                    <a:pt x="84924" y="44831"/>
                  </a:lnTo>
                  <a:lnTo>
                    <a:pt x="87325" y="44043"/>
                  </a:lnTo>
                  <a:lnTo>
                    <a:pt x="143548" y="44043"/>
                  </a:lnTo>
                  <a:lnTo>
                    <a:pt x="143548" y="9702"/>
                  </a:lnTo>
                  <a:close/>
                </a:path>
                <a:path w="5476240" h="274319">
                  <a:moveTo>
                    <a:pt x="310045" y="118897"/>
                  </a:moveTo>
                  <a:lnTo>
                    <a:pt x="294093" y="73837"/>
                  </a:lnTo>
                  <a:lnTo>
                    <a:pt x="251472" y="56934"/>
                  </a:lnTo>
                  <a:lnTo>
                    <a:pt x="234975" y="59182"/>
                  </a:lnTo>
                  <a:lnTo>
                    <a:pt x="222758" y="65900"/>
                  </a:lnTo>
                  <a:lnTo>
                    <a:pt x="214820" y="77089"/>
                  </a:lnTo>
                  <a:lnTo>
                    <a:pt x="211162" y="92773"/>
                  </a:lnTo>
                  <a:lnTo>
                    <a:pt x="211239" y="92303"/>
                  </a:lnTo>
                  <a:lnTo>
                    <a:pt x="216928" y="59715"/>
                  </a:lnTo>
                  <a:lnTo>
                    <a:pt x="180962" y="59715"/>
                  </a:lnTo>
                  <a:lnTo>
                    <a:pt x="180962" y="224167"/>
                  </a:lnTo>
                  <a:lnTo>
                    <a:pt x="217474" y="224167"/>
                  </a:lnTo>
                  <a:lnTo>
                    <a:pt x="217525" y="110718"/>
                  </a:lnTo>
                  <a:lnTo>
                    <a:pt x="219938" y="103111"/>
                  </a:lnTo>
                  <a:lnTo>
                    <a:pt x="229450" y="92773"/>
                  </a:lnTo>
                  <a:lnTo>
                    <a:pt x="229958" y="92303"/>
                  </a:lnTo>
                  <a:lnTo>
                    <a:pt x="236766" y="89649"/>
                  </a:lnTo>
                  <a:lnTo>
                    <a:pt x="254685" y="89649"/>
                  </a:lnTo>
                  <a:lnTo>
                    <a:pt x="261581" y="92303"/>
                  </a:lnTo>
                  <a:lnTo>
                    <a:pt x="271132" y="102882"/>
                  </a:lnTo>
                  <a:lnTo>
                    <a:pt x="271195" y="103111"/>
                  </a:lnTo>
                  <a:lnTo>
                    <a:pt x="273532" y="110718"/>
                  </a:lnTo>
                  <a:lnTo>
                    <a:pt x="273532" y="133832"/>
                  </a:lnTo>
                  <a:lnTo>
                    <a:pt x="310045" y="133832"/>
                  </a:lnTo>
                  <a:lnTo>
                    <a:pt x="310045" y="118897"/>
                  </a:lnTo>
                  <a:close/>
                </a:path>
                <a:path w="5476240" h="274319">
                  <a:moveTo>
                    <a:pt x="470700" y="120802"/>
                  </a:moveTo>
                  <a:lnTo>
                    <a:pt x="460819" y="83553"/>
                  </a:lnTo>
                  <a:lnTo>
                    <a:pt x="434187" y="62039"/>
                  </a:lnTo>
                  <a:lnTo>
                    <a:pt x="434187" y="110934"/>
                  </a:lnTo>
                  <a:lnTo>
                    <a:pt x="434187" y="172948"/>
                  </a:lnTo>
                  <a:lnTo>
                    <a:pt x="431787" y="180543"/>
                  </a:lnTo>
                  <a:lnTo>
                    <a:pt x="422249" y="190639"/>
                  </a:lnTo>
                  <a:lnTo>
                    <a:pt x="415251" y="193154"/>
                  </a:lnTo>
                  <a:lnTo>
                    <a:pt x="396748" y="193154"/>
                  </a:lnTo>
                  <a:lnTo>
                    <a:pt x="389737" y="190639"/>
                  </a:lnTo>
                  <a:lnTo>
                    <a:pt x="380238" y="180543"/>
                  </a:lnTo>
                  <a:lnTo>
                    <a:pt x="377863" y="172948"/>
                  </a:lnTo>
                  <a:lnTo>
                    <a:pt x="377863" y="110934"/>
                  </a:lnTo>
                  <a:lnTo>
                    <a:pt x="380238" y="103365"/>
                  </a:lnTo>
                  <a:lnTo>
                    <a:pt x="389737" y="93268"/>
                  </a:lnTo>
                  <a:lnTo>
                    <a:pt x="396748" y="90741"/>
                  </a:lnTo>
                  <a:lnTo>
                    <a:pt x="415251" y="90741"/>
                  </a:lnTo>
                  <a:lnTo>
                    <a:pt x="422249" y="93268"/>
                  </a:lnTo>
                  <a:lnTo>
                    <a:pt x="426999" y="98336"/>
                  </a:lnTo>
                  <a:lnTo>
                    <a:pt x="431787" y="103365"/>
                  </a:lnTo>
                  <a:lnTo>
                    <a:pt x="434187" y="62039"/>
                  </a:lnTo>
                  <a:lnTo>
                    <a:pt x="406019" y="56934"/>
                  </a:lnTo>
                  <a:lnTo>
                    <a:pt x="391947" y="58013"/>
                  </a:lnTo>
                  <a:lnTo>
                    <a:pt x="351142" y="83553"/>
                  </a:lnTo>
                  <a:lnTo>
                    <a:pt x="341299" y="120802"/>
                  </a:lnTo>
                  <a:lnTo>
                    <a:pt x="341274" y="162814"/>
                  </a:lnTo>
                  <a:lnTo>
                    <a:pt x="342379" y="176860"/>
                  </a:lnTo>
                  <a:lnTo>
                    <a:pt x="368338" y="217246"/>
                  </a:lnTo>
                  <a:lnTo>
                    <a:pt x="406019" y="226949"/>
                  </a:lnTo>
                  <a:lnTo>
                    <a:pt x="420065" y="225869"/>
                  </a:lnTo>
                  <a:lnTo>
                    <a:pt x="460819" y="200317"/>
                  </a:lnTo>
                  <a:lnTo>
                    <a:pt x="470700" y="162814"/>
                  </a:lnTo>
                  <a:lnTo>
                    <a:pt x="470700" y="120802"/>
                  </a:lnTo>
                  <a:close/>
                </a:path>
                <a:path w="5476240" h="274319">
                  <a:moveTo>
                    <a:pt x="643585" y="102209"/>
                  </a:moveTo>
                  <a:lnTo>
                    <a:pt x="642988" y="92684"/>
                  </a:lnTo>
                  <a:lnTo>
                    <a:pt x="641946" y="87680"/>
                  </a:lnTo>
                  <a:lnTo>
                    <a:pt x="641210" y="84086"/>
                  </a:lnTo>
                  <a:lnTo>
                    <a:pt x="640499" y="82257"/>
                  </a:lnTo>
                  <a:lnTo>
                    <a:pt x="638238" y="76403"/>
                  </a:lnTo>
                  <a:lnTo>
                    <a:pt x="634060" y="69608"/>
                  </a:lnTo>
                  <a:lnTo>
                    <a:pt x="628878" y="64071"/>
                  </a:lnTo>
                  <a:lnTo>
                    <a:pt x="622731" y="60109"/>
                  </a:lnTo>
                  <a:lnTo>
                    <a:pt x="615619" y="57734"/>
                  </a:lnTo>
                  <a:lnTo>
                    <a:pt x="607542" y="56934"/>
                  </a:lnTo>
                  <a:lnTo>
                    <a:pt x="599440" y="56934"/>
                  </a:lnTo>
                  <a:lnTo>
                    <a:pt x="592963" y="59182"/>
                  </a:lnTo>
                  <a:lnTo>
                    <a:pt x="592137" y="59715"/>
                  </a:lnTo>
                  <a:lnTo>
                    <a:pt x="581647" y="68707"/>
                  </a:lnTo>
                  <a:lnTo>
                    <a:pt x="581342" y="69608"/>
                  </a:lnTo>
                  <a:lnTo>
                    <a:pt x="580809" y="68097"/>
                  </a:lnTo>
                  <a:lnTo>
                    <a:pt x="579945" y="67373"/>
                  </a:lnTo>
                  <a:lnTo>
                    <a:pt x="579945" y="76403"/>
                  </a:lnTo>
                  <a:lnTo>
                    <a:pt x="579704" y="74714"/>
                  </a:lnTo>
                  <a:lnTo>
                    <a:pt x="579818" y="74358"/>
                  </a:lnTo>
                  <a:lnTo>
                    <a:pt x="579843" y="74714"/>
                  </a:lnTo>
                  <a:lnTo>
                    <a:pt x="579945" y="76403"/>
                  </a:lnTo>
                  <a:lnTo>
                    <a:pt x="579945" y="67373"/>
                  </a:lnTo>
                  <a:lnTo>
                    <a:pt x="575513" y="63652"/>
                  </a:lnTo>
                  <a:lnTo>
                    <a:pt x="570268" y="59182"/>
                  </a:lnTo>
                  <a:lnTo>
                    <a:pt x="563791" y="56934"/>
                  </a:lnTo>
                  <a:lnTo>
                    <a:pt x="548005" y="56934"/>
                  </a:lnTo>
                  <a:lnTo>
                    <a:pt x="541629" y="59182"/>
                  </a:lnTo>
                  <a:lnTo>
                    <a:pt x="541388" y="59182"/>
                  </a:lnTo>
                  <a:lnTo>
                    <a:pt x="534454" y="65214"/>
                  </a:lnTo>
                  <a:lnTo>
                    <a:pt x="535470" y="59715"/>
                  </a:lnTo>
                  <a:lnTo>
                    <a:pt x="528650" y="59715"/>
                  </a:lnTo>
                  <a:lnTo>
                    <a:pt x="528650" y="76390"/>
                  </a:lnTo>
                  <a:lnTo>
                    <a:pt x="528345" y="74714"/>
                  </a:lnTo>
                  <a:lnTo>
                    <a:pt x="528459" y="74358"/>
                  </a:lnTo>
                  <a:lnTo>
                    <a:pt x="528497" y="74714"/>
                  </a:lnTo>
                  <a:lnTo>
                    <a:pt x="528650" y="76390"/>
                  </a:lnTo>
                  <a:lnTo>
                    <a:pt x="528650" y="59715"/>
                  </a:lnTo>
                  <a:lnTo>
                    <a:pt x="501942" y="59715"/>
                  </a:lnTo>
                  <a:lnTo>
                    <a:pt x="501942" y="224167"/>
                  </a:lnTo>
                  <a:lnTo>
                    <a:pt x="536549" y="224167"/>
                  </a:lnTo>
                  <a:lnTo>
                    <a:pt x="536549" y="96647"/>
                  </a:lnTo>
                  <a:lnTo>
                    <a:pt x="537387" y="93065"/>
                  </a:lnTo>
                  <a:lnTo>
                    <a:pt x="540778" y="88773"/>
                  </a:lnTo>
                  <a:lnTo>
                    <a:pt x="543229" y="87680"/>
                  </a:lnTo>
                  <a:lnTo>
                    <a:pt x="549744" y="87680"/>
                  </a:lnTo>
                  <a:lnTo>
                    <a:pt x="552196" y="88773"/>
                  </a:lnTo>
                  <a:lnTo>
                    <a:pt x="555777" y="93065"/>
                  </a:lnTo>
                  <a:lnTo>
                    <a:pt x="556895" y="96647"/>
                  </a:lnTo>
                  <a:lnTo>
                    <a:pt x="556983" y="224167"/>
                  </a:lnTo>
                  <a:lnTo>
                    <a:pt x="588543" y="224167"/>
                  </a:lnTo>
                  <a:lnTo>
                    <a:pt x="588568" y="96647"/>
                  </a:lnTo>
                  <a:lnTo>
                    <a:pt x="589559" y="93065"/>
                  </a:lnTo>
                  <a:lnTo>
                    <a:pt x="593229" y="88773"/>
                  </a:lnTo>
                  <a:lnTo>
                    <a:pt x="595718" y="87680"/>
                  </a:lnTo>
                  <a:lnTo>
                    <a:pt x="602234" y="87680"/>
                  </a:lnTo>
                  <a:lnTo>
                    <a:pt x="604621" y="88773"/>
                  </a:lnTo>
                  <a:lnTo>
                    <a:pt x="607910" y="93065"/>
                  </a:lnTo>
                  <a:lnTo>
                    <a:pt x="608888" y="96647"/>
                  </a:lnTo>
                  <a:lnTo>
                    <a:pt x="608965" y="224167"/>
                  </a:lnTo>
                  <a:lnTo>
                    <a:pt x="643585" y="224167"/>
                  </a:lnTo>
                  <a:lnTo>
                    <a:pt x="643585" y="102209"/>
                  </a:lnTo>
                  <a:close/>
                </a:path>
                <a:path w="5476240" h="274319">
                  <a:moveTo>
                    <a:pt x="4604397" y="16014"/>
                  </a:moveTo>
                  <a:lnTo>
                    <a:pt x="4602162" y="10579"/>
                  </a:lnTo>
                  <a:lnTo>
                    <a:pt x="4593196" y="2120"/>
                  </a:lnTo>
                  <a:lnTo>
                    <a:pt x="4587494" y="0"/>
                  </a:lnTo>
                  <a:lnTo>
                    <a:pt x="4568088" y="0"/>
                  </a:lnTo>
                  <a:lnTo>
                    <a:pt x="4562386" y="2120"/>
                  </a:lnTo>
                  <a:lnTo>
                    <a:pt x="4553432" y="10579"/>
                  </a:lnTo>
                  <a:lnTo>
                    <a:pt x="4551184" y="16014"/>
                  </a:lnTo>
                  <a:lnTo>
                    <a:pt x="4551184" y="29362"/>
                  </a:lnTo>
                  <a:lnTo>
                    <a:pt x="4553382" y="34747"/>
                  </a:lnTo>
                  <a:lnTo>
                    <a:pt x="4557776" y="38811"/>
                  </a:lnTo>
                  <a:lnTo>
                    <a:pt x="4562208" y="42849"/>
                  </a:lnTo>
                  <a:lnTo>
                    <a:pt x="4567948" y="44856"/>
                  </a:lnTo>
                  <a:lnTo>
                    <a:pt x="4587405" y="44856"/>
                  </a:lnTo>
                  <a:lnTo>
                    <a:pt x="4593082" y="42849"/>
                  </a:lnTo>
                  <a:lnTo>
                    <a:pt x="4602150" y="34747"/>
                  </a:lnTo>
                  <a:lnTo>
                    <a:pt x="4604397" y="29362"/>
                  </a:lnTo>
                  <a:lnTo>
                    <a:pt x="4604397" y="16014"/>
                  </a:lnTo>
                  <a:close/>
                </a:path>
                <a:path w="5476240" h="274319">
                  <a:moveTo>
                    <a:pt x="4650283" y="189826"/>
                  </a:moveTo>
                  <a:lnTo>
                    <a:pt x="4598835" y="189826"/>
                  </a:lnTo>
                  <a:lnTo>
                    <a:pt x="4598835" y="59715"/>
                  </a:lnTo>
                  <a:lnTo>
                    <a:pt x="4515015" y="59715"/>
                  </a:lnTo>
                  <a:lnTo>
                    <a:pt x="4515015" y="94056"/>
                  </a:lnTo>
                  <a:lnTo>
                    <a:pt x="4562246" y="94056"/>
                  </a:lnTo>
                  <a:lnTo>
                    <a:pt x="4562246" y="189826"/>
                  </a:lnTo>
                  <a:lnTo>
                    <a:pt x="4508093" y="189826"/>
                  </a:lnTo>
                  <a:lnTo>
                    <a:pt x="4508093" y="224167"/>
                  </a:lnTo>
                  <a:lnTo>
                    <a:pt x="4650283" y="224167"/>
                  </a:lnTo>
                  <a:lnTo>
                    <a:pt x="4650283" y="189826"/>
                  </a:lnTo>
                  <a:close/>
                </a:path>
                <a:path w="5476240" h="274319">
                  <a:moveTo>
                    <a:pt x="4812563" y="102209"/>
                  </a:moveTo>
                  <a:lnTo>
                    <a:pt x="4797869" y="64071"/>
                  </a:lnTo>
                  <a:lnTo>
                    <a:pt x="4776533" y="56934"/>
                  </a:lnTo>
                  <a:lnTo>
                    <a:pt x="4768431" y="56934"/>
                  </a:lnTo>
                  <a:lnTo>
                    <a:pt x="4761954" y="59182"/>
                  </a:lnTo>
                  <a:lnTo>
                    <a:pt x="4761115" y="59715"/>
                  </a:lnTo>
                  <a:lnTo>
                    <a:pt x="4750625" y="68707"/>
                  </a:lnTo>
                  <a:lnTo>
                    <a:pt x="4750333" y="69608"/>
                  </a:lnTo>
                  <a:lnTo>
                    <a:pt x="4749787" y="68097"/>
                  </a:lnTo>
                  <a:lnTo>
                    <a:pt x="4748936" y="67386"/>
                  </a:lnTo>
                  <a:lnTo>
                    <a:pt x="4748936" y="76403"/>
                  </a:lnTo>
                  <a:lnTo>
                    <a:pt x="4748682" y="74714"/>
                  </a:lnTo>
                  <a:lnTo>
                    <a:pt x="4748809" y="74358"/>
                  </a:lnTo>
                  <a:lnTo>
                    <a:pt x="4748822" y="74714"/>
                  </a:lnTo>
                  <a:lnTo>
                    <a:pt x="4748936" y="76403"/>
                  </a:lnTo>
                  <a:lnTo>
                    <a:pt x="4748936" y="67386"/>
                  </a:lnTo>
                  <a:lnTo>
                    <a:pt x="4744491" y="63652"/>
                  </a:lnTo>
                  <a:lnTo>
                    <a:pt x="4739246" y="59182"/>
                  </a:lnTo>
                  <a:lnTo>
                    <a:pt x="4732782" y="56934"/>
                  </a:lnTo>
                  <a:lnTo>
                    <a:pt x="4716983" y="56934"/>
                  </a:lnTo>
                  <a:lnTo>
                    <a:pt x="4710608" y="59182"/>
                  </a:lnTo>
                  <a:lnTo>
                    <a:pt x="4710379" y="59182"/>
                  </a:lnTo>
                  <a:lnTo>
                    <a:pt x="4703445" y="65214"/>
                  </a:lnTo>
                  <a:lnTo>
                    <a:pt x="4704448" y="59715"/>
                  </a:lnTo>
                  <a:lnTo>
                    <a:pt x="4697628" y="59715"/>
                  </a:lnTo>
                  <a:lnTo>
                    <a:pt x="4697628" y="76390"/>
                  </a:lnTo>
                  <a:lnTo>
                    <a:pt x="4697323" y="74714"/>
                  </a:lnTo>
                  <a:lnTo>
                    <a:pt x="4697450" y="74358"/>
                  </a:lnTo>
                  <a:lnTo>
                    <a:pt x="4697488" y="74714"/>
                  </a:lnTo>
                  <a:lnTo>
                    <a:pt x="4697628" y="76390"/>
                  </a:lnTo>
                  <a:lnTo>
                    <a:pt x="4697628" y="59715"/>
                  </a:lnTo>
                  <a:lnTo>
                    <a:pt x="4670933" y="59715"/>
                  </a:lnTo>
                  <a:lnTo>
                    <a:pt x="4670933" y="224167"/>
                  </a:lnTo>
                  <a:lnTo>
                    <a:pt x="4705540" y="224167"/>
                  </a:lnTo>
                  <a:lnTo>
                    <a:pt x="4705540" y="96647"/>
                  </a:lnTo>
                  <a:lnTo>
                    <a:pt x="4706378" y="93065"/>
                  </a:lnTo>
                  <a:lnTo>
                    <a:pt x="4709769" y="88773"/>
                  </a:lnTo>
                  <a:lnTo>
                    <a:pt x="4712208" y="87680"/>
                  </a:lnTo>
                  <a:lnTo>
                    <a:pt x="4718723" y="87680"/>
                  </a:lnTo>
                  <a:lnTo>
                    <a:pt x="4721174" y="88773"/>
                  </a:lnTo>
                  <a:lnTo>
                    <a:pt x="4724768" y="93065"/>
                  </a:lnTo>
                  <a:lnTo>
                    <a:pt x="4725873" y="96647"/>
                  </a:lnTo>
                  <a:lnTo>
                    <a:pt x="4725962" y="224167"/>
                  </a:lnTo>
                  <a:lnTo>
                    <a:pt x="4757521" y="224167"/>
                  </a:lnTo>
                  <a:lnTo>
                    <a:pt x="4757547" y="96647"/>
                  </a:lnTo>
                  <a:lnTo>
                    <a:pt x="4758550" y="93065"/>
                  </a:lnTo>
                  <a:lnTo>
                    <a:pt x="4762220" y="88773"/>
                  </a:lnTo>
                  <a:lnTo>
                    <a:pt x="4764697" y="87680"/>
                  </a:lnTo>
                  <a:lnTo>
                    <a:pt x="4771212" y="87680"/>
                  </a:lnTo>
                  <a:lnTo>
                    <a:pt x="4773600" y="88773"/>
                  </a:lnTo>
                  <a:lnTo>
                    <a:pt x="4776889" y="93065"/>
                  </a:lnTo>
                  <a:lnTo>
                    <a:pt x="4777879" y="96647"/>
                  </a:lnTo>
                  <a:lnTo>
                    <a:pt x="4777956" y="224167"/>
                  </a:lnTo>
                  <a:lnTo>
                    <a:pt x="4812563" y="224167"/>
                  </a:lnTo>
                  <a:lnTo>
                    <a:pt x="4812563" y="102209"/>
                  </a:lnTo>
                  <a:close/>
                </a:path>
                <a:path w="5476240" h="274319">
                  <a:moveTo>
                    <a:pt x="4973231" y="119443"/>
                  </a:moveTo>
                  <a:lnTo>
                    <a:pt x="4958296" y="74041"/>
                  </a:lnTo>
                  <a:lnTo>
                    <a:pt x="4936718" y="60032"/>
                  </a:lnTo>
                  <a:lnTo>
                    <a:pt x="4936718" y="110718"/>
                  </a:lnTo>
                  <a:lnTo>
                    <a:pt x="4936718" y="173177"/>
                  </a:lnTo>
                  <a:lnTo>
                    <a:pt x="4934382" y="180911"/>
                  </a:lnTo>
                  <a:lnTo>
                    <a:pt x="4925149" y="191046"/>
                  </a:lnTo>
                  <a:lnTo>
                    <a:pt x="4918278" y="193687"/>
                  </a:lnTo>
                  <a:lnTo>
                    <a:pt x="4900676" y="193687"/>
                  </a:lnTo>
                  <a:lnTo>
                    <a:pt x="4893843" y="191046"/>
                  </a:lnTo>
                  <a:lnTo>
                    <a:pt x="4892954" y="190093"/>
                  </a:lnTo>
                  <a:lnTo>
                    <a:pt x="4888865" y="185750"/>
                  </a:lnTo>
                  <a:lnTo>
                    <a:pt x="4883937" y="180416"/>
                  </a:lnTo>
                  <a:lnTo>
                    <a:pt x="4881600" y="173177"/>
                  </a:lnTo>
                  <a:lnTo>
                    <a:pt x="4881600" y="110718"/>
                  </a:lnTo>
                  <a:lnTo>
                    <a:pt x="4900676" y="90195"/>
                  </a:lnTo>
                  <a:lnTo>
                    <a:pt x="4918278" y="90195"/>
                  </a:lnTo>
                  <a:lnTo>
                    <a:pt x="4925072" y="92748"/>
                  </a:lnTo>
                  <a:lnTo>
                    <a:pt x="4934382" y="102971"/>
                  </a:lnTo>
                  <a:lnTo>
                    <a:pt x="4936718" y="110718"/>
                  </a:lnTo>
                  <a:lnTo>
                    <a:pt x="4936718" y="60032"/>
                  </a:lnTo>
                  <a:lnTo>
                    <a:pt x="4929898" y="58000"/>
                  </a:lnTo>
                  <a:lnTo>
                    <a:pt x="4917719" y="56934"/>
                  </a:lnTo>
                  <a:lnTo>
                    <a:pt x="4908524" y="57556"/>
                  </a:lnTo>
                  <a:lnTo>
                    <a:pt x="4879314" y="73507"/>
                  </a:lnTo>
                  <a:lnTo>
                    <a:pt x="4881473" y="59715"/>
                  </a:lnTo>
                  <a:lnTo>
                    <a:pt x="4875161" y="59715"/>
                  </a:lnTo>
                  <a:lnTo>
                    <a:pt x="4875161" y="190093"/>
                  </a:lnTo>
                  <a:lnTo>
                    <a:pt x="4875123" y="191046"/>
                  </a:lnTo>
                  <a:lnTo>
                    <a:pt x="4875034" y="192976"/>
                  </a:lnTo>
                  <a:lnTo>
                    <a:pt x="4875161" y="190093"/>
                  </a:lnTo>
                  <a:lnTo>
                    <a:pt x="4875161" y="59715"/>
                  </a:lnTo>
                  <a:lnTo>
                    <a:pt x="4844961" y="59715"/>
                  </a:lnTo>
                  <a:lnTo>
                    <a:pt x="4844961" y="274180"/>
                  </a:lnTo>
                  <a:lnTo>
                    <a:pt x="4881473" y="274180"/>
                  </a:lnTo>
                  <a:lnTo>
                    <a:pt x="4881270" y="222669"/>
                  </a:lnTo>
                  <a:lnTo>
                    <a:pt x="4879314" y="210464"/>
                  </a:lnTo>
                  <a:lnTo>
                    <a:pt x="4879975" y="211620"/>
                  </a:lnTo>
                  <a:lnTo>
                    <a:pt x="4917719" y="226949"/>
                  </a:lnTo>
                  <a:lnTo>
                    <a:pt x="4929898" y="225882"/>
                  </a:lnTo>
                  <a:lnTo>
                    <a:pt x="4964836" y="200571"/>
                  </a:lnTo>
                  <a:lnTo>
                    <a:pt x="4967833" y="193687"/>
                  </a:lnTo>
                  <a:lnTo>
                    <a:pt x="4969497" y="189877"/>
                  </a:lnTo>
                  <a:lnTo>
                    <a:pt x="4972291" y="177736"/>
                  </a:lnTo>
                  <a:lnTo>
                    <a:pt x="4973231" y="164172"/>
                  </a:lnTo>
                  <a:lnTo>
                    <a:pt x="4973231" y="119443"/>
                  </a:lnTo>
                  <a:close/>
                </a:path>
                <a:path w="5476240" h="274319">
                  <a:moveTo>
                    <a:pt x="5139995" y="120802"/>
                  </a:moveTo>
                  <a:lnTo>
                    <a:pt x="5130114" y="83553"/>
                  </a:lnTo>
                  <a:lnTo>
                    <a:pt x="5103482" y="62039"/>
                  </a:lnTo>
                  <a:lnTo>
                    <a:pt x="5103482" y="110934"/>
                  </a:lnTo>
                  <a:lnTo>
                    <a:pt x="5103482" y="172948"/>
                  </a:lnTo>
                  <a:lnTo>
                    <a:pt x="5101094" y="180543"/>
                  </a:lnTo>
                  <a:lnTo>
                    <a:pt x="5091544" y="190639"/>
                  </a:lnTo>
                  <a:lnTo>
                    <a:pt x="5084546" y="193154"/>
                  </a:lnTo>
                  <a:lnTo>
                    <a:pt x="5066042" y="193154"/>
                  </a:lnTo>
                  <a:lnTo>
                    <a:pt x="5059032" y="190639"/>
                  </a:lnTo>
                  <a:lnTo>
                    <a:pt x="5049532" y="180543"/>
                  </a:lnTo>
                  <a:lnTo>
                    <a:pt x="5047158" y="172948"/>
                  </a:lnTo>
                  <a:lnTo>
                    <a:pt x="5047158" y="110934"/>
                  </a:lnTo>
                  <a:lnTo>
                    <a:pt x="5049532" y="103365"/>
                  </a:lnTo>
                  <a:lnTo>
                    <a:pt x="5059032" y="93268"/>
                  </a:lnTo>
                  <a:lnTo>
                    <a:pt x="5066042" y="90741"/>
                  </a:lnTo>
                  <a:lnTo>
                    <a:pt x="5084546" y="90741"/>
                  </a:lnTo>
                  <a:lnTo>
                    <a:pt x="5091544" y="93268"/>
                  </a:lnTo>
                  <a:lnTo>
                    <a:pt x="5096294" y="98336"/>
                  </a:lnTo>
                  <a:lnTo>
                    <a:pt x="5101094" y="103365"/>
                  </a:lnTo>
                  <a:lnTo>
                    <a:pt x="5103482" y="62039"/>
                  </a:lnTo>
                  <a:lnTo>
                    <a:pt x="5075326" y="56934"/>
                  </a:lnTo>
                  <a:lnTo>
                    <a:pt x="5061242" y="58013"/>
                  </a:lnTo>
                  <a:lnTo>
                    <a:pt x="5020437" y="83553"/>
                  </a:lnTo>
                  <a:lnTo>
                    <a:pt x="5010594" y="120802"/>
                  </a:lnTo>
                  <a:lnTo>
                    <a:pt x="5010582" y="162814"/>
                  </a:lnTo>
                  <a:lnTo>
                    <a:pt x="5011674" y="176860"/>
                  </a:lnTo>
                  <a:lnTo>
                    <a:pt x="5037633" y="217246"/>
                  </a:lnTo>
                  <a:lnTo>
                    <a:pt x="5075326" y="226949"/>
                  </a:lnTo>
                  <a:lnTo>
                    <a:pt x="5089360" y="225869"/>
                  </a:lnTo>
                  <a:lnTo>
                    <a:pt x="5130114" y="200317"/>
                  </a:lnTo>
                  <a:lnTo>
                    <a:pt x="5139995" y="162814"/>
                  </a:lnTo>
                  <a:lnTo>
                    <a:pt x="5139995" y="120802"/>
                  </a:lnTo>
                  <a:close/>
                </a:path>
                <a:path w="5476240" h="274319">
                  <a:moveTo>
                    <a:pt x="5312880" y="118897"/>
                  </a:moveTo>
                  <a:lnTo>
                    <a:pt x="5311876" y="105524"/>
                  </a:lnTo>
                  <a:lnTo>
                    <a:pt x="5308892" y="93548"/>
                  </a:lnTo>
                  <a:lnTo>
                    <a:pt x="5307050" y="89649"/>
                  </a:lnTo>
                  <a:lnTo>
                    <a:pt x="5303913" y="82994"/>
                  </a:lnTo>
                  <a:lnTo>
                    <a:pt x="5266969" y="57988"/>
                  </a:lnTo>
                  <a:lnTo>
                    <a:pt x="5254307" y="56934"/>
                  </a:lnTo>
                  <a:lnTo>
                    <a:pt x="5237823" y="59182"/>
                  </a:lnTo>
                  <a:lnTo>
                    <a:pt x="5225605" y="65900"/>
                  </a:lnTo>
                  <a:lnTo>
                    <a:pt x="5217655" y="77089"/>
                  </a:lnTo>
                  <a:lnTo>
                    <a:pt x="5213997" y="92773"/>
                  </a:lnTo>
                  <a:lnTo>
                    <a:pt x="5214074" y="92303"/>
                  </a:lnTo>
                  <a:lnTo>
                    <a:pt x="5219763" y="59715"/>
                  </a:lnTo>
                  <a:lnTo>
                    <a:pt x="5183797" y="59715"/>
                  </a:lnTo>
                  <a:lnTo>
                    <a:pt x="5183797" y="224167"/>
                  </a:lnTo>
                  <a:lnTo>
                    <a:pt x="5220309" y="224167"/>
                  </a:lnTo>
                  <a:lnTo>
                    <a:pt x="5220360" y="110718"/>
                  </a:lnTo>
                  <a:lnTo>
                    <a:pt x="5222773" y="103111"/>
                  </a:lnTo>
                  <a:lnTo>
                    <a:pt x="5232285" y="92773"/>
                  </a:lnTo>
                  <a:lnTo>
                    <a:pt x="5232793" y="92303"/>
                  </a:lnTo>
                  <a:lnTo>
                    <a:pt x="5239601" y="89649"/>
                  </a:lnTo>
                  <a:lnTo>
                    <a:pt x="5257520" y="89649"/>
                  </a:lnTo>
                  <a:lnTo>
                    <a:pt x="5264416" y="92303"/>
                  </a:lnTo>
                  <a:lnTo>
                    <a:pt x="5273967" y="102882"/>
                  </a:lnTo>
                  <a:lnTo>
                    <a:pt x="5274043" y="103111"/>
                  </a:lnTo>
                  <a:lnTo>
                    <a:pt x="5276367" y="110718"/>
                  </a:lnTo>
                  <a:lnTo>
                    <a:pt x="5276367" y="133832"/>
                  </a:lnTo>
                  <a:lnTo>
                    <a:pt x="5312880" y="133832"/>
                  </a:lnTo>
                  <a:lnTo>
                    <a:pt x="5312880" y="118897"/>
                  </a:lnTo>
                  <a:close/>
                </a:path>
                <a:path w="5476240" h="274319">
                  <a:moveTo>
                    <a:pt x="5475783" y="59715"/>
                  </a:moveTo>
                  <a:lnTo>
                    <a:pt x="5414632" y="59715"/>
                  </a:lnTo>
                  <a:lnTo>
                    <a:pt x="5414632" y="18046"/>
                  </a:lnTo>
                  <a:lnTo>
                    <a:pt x="5378056" y="18046"/>
                  </a:lnTo>
                  <a:lnTo>
                    <a:pt x="5378056" y="59715"/>
                  </a:lnTo>
                  <a:lnTo>
                    <a:pt x="5334952" y="59715"/>
                  </a:lnTo>
                  <a:lnTo>
                    <a:pt x="5334952" y="94056"/>
                  </a:lnTo>
                  <a:lnTo>
                    <a:pt x="5378056" y="94056"/>
                  </a:lnTo>
                  <a:lnTo>
                    <a:pt x="5378056" y="178079"/>
                  </a:lnTo>
                  <a:lnTo>
                    <a:pt x="5378843" y="188315"/>
                  </a:lnTo>
                  <a:lnTo>
                    <a:pt x="5405831" y="221107"/>
                  </a:lnTo>
                  <a:lnTo>
                    <a:pt x="5425554" y="224167"/>
                  </a:lnTo>
                  <a:lnTo>
                    <a:pt x="5473001" y="224167"/>
                  </a:lnTo>
                  <a:lnTo>
                    <a:pt x="5473001" y="189826"/>
                  </a:lnTo>
                  <a:lnTo>
                    <a:pt x="5421490" y="189826"/>
                  </a:lnTo>
                  <a:lnTo>
                    <a:pt x="5418633" y="188963"/>
                  </a:lnTo>
                  <a:lnTo>
                    <a:pt x="5415419" y="185521"/>
                  </a:lnTo>
                  <a:lnTo>
                    <a:pt x="5414632" y="182473"/>
                  </a:lnTo>
                  <a:lnTo>
                    <a:pt x="5414632" y="94056"/>
                  </a:lnTo>
                  <a:lnTo>
                    <a:pt x="5475783" y="94056"/>
                  </a:lnTo>
                  <a:lnTo>
                    <a:pt x="5475783" y="5971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6307022" y="1367389"/>
            <a:ext cx="2360295" cy="35941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StandardScaler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7234" y="1230156"/>
            <a:ext cx="4361815" cy="143827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 indent="833119">
              <a:lnSpc>
                <a:spcPct val="143700"/>
              </a:lnSpc>
              <a:spcBef>
                <a:spcPts val="90"/>
              </a:spcBef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sklearn.preprocessing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scaler</a:t>
            </a:r>
            <a:r>
              <a:rPr sz="2150" spc="10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9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StandardScaler() scaler.fit(samples)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7234" y="2642613"/>
            <a:ext cx="9363710" cy="96710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0"/>
              </a:spcBef>
            </a:pP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StandardScaler(copy=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True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150" spc="4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with_mean=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True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150" spc="4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with_std=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True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)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samples_scaled</a:t>
            </a:r>
            <a:r>
              <a:rPr sz="2150" spc="18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18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scaler.transform(samples)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177387CC-0DAE-F22D-B14E-1F88DE33B2E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30</a:t>
            </a:fld>
            <a:endParaRPr lang="en-US" altLang="ko-KR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0" dirty="0"/>
              <a:t>Similar</a:t>
            </a:r>
            <a:r>
              <a:rPr spc="-185" dirty="0"/>
              <a:t> </a:t>
            </a:r>
            <a:r>
              <a:rPr spc="-80" dirty="0"/>
              <a:t>methods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00697" y="1207729"/>
            <a:ext cx="2497455" cy="429895"/>
          </a:xfrm>
          <a:custGeom>
            <a:avLst/>
            <a:gdLst/>
            <a:ahLst/>
            <a:cxnLst/>
            <a:rect l="l" t="t" r="r" b="b"/>
            <a:pathLst>
              <a:path w="2497454" h="429894">
                <a:moveTo>
                  <a:pt x="242088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420882" y="0"/>
                </a:lnTo>
                <a:lnTo>
                  <a:pt x="2465467" y="16786"/>
                </a:lnTo>
                <a:lnTo>
                  <a:pt x="2493212" y="55513"/>
                </a:lnTo>
                <a:lnTo>
                  <a:pt x="2497387" y="76505"/>
                </a:lnTo>
                <a:lnTo>
                  <a:pt x="2497387" y="353373"/>
                </a:lnTo>
                <a:lnTo>
                  <a:pt x="2480601" y="397957"/>
                </a:lnTo>
                <a:lnTo>
                  <a:pt x="2441873" y="425702"/>
                </a:lnTo>
                <a:lnTo>
                  <a:pt x="2426207" y="429353"/>
                </a:lnTo>
                <a:lnTo>
                  <a:pt x="242088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298782" y="1207729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5" h="429894">
                <a:moveTo>
                  <a:pt x="1028895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028895" y="0"/>
                </a:lnTo>
                <a:lnTo>
                  <a:pt x="1073480" y="16786"/>
                </a:lnTo>
                <a:lnTo>
                  <a:pt x="1101225" y="55513"/>
                </a:lnTo>
                <a:lnTo>
                  <a:pt x="1105401" y="76505"/>
                </a:lnTo>
                <a:lnTo>
                  <a:pt x="1105401" y="353373"/>
                </a:lnTo>
                <a:lnTo>
                  <a:pt x="1088614" y="397957"/>
                </a:lnTo>
                <a:lnTo>
                  <a:pt x="1049886" y="425702"/>
                </a:lnTo>
                <a:lnTo>
                  <a:pt x="1034220" y="429353"/>
                </a:lnTo>
                <a:lnTo>
                  <a:pt x="102889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55749" y="1862781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3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2968206" y="1862781"/>
            <a:ext cx="1965325" cy="429895"/>
          </a:xfrm>
          <a:custGeom>
            <a:avLst/>
            <a:gdLst/>
            <a:ahLst/>
            <a:cxnLst/>
            <a:rect l="l" t="t" r="r" b="b"/>
            <a:pathLst>
              <a:path w="1965325" h="429894">
                <a:moveTo>
                  <a:pt x="188865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888652" y="0"/>
                </a:lnTo>
                <a:lnTo>
                  <a:pt x="1933236" y="16786"/>
                </a:lnTo>
                <a:lnTo>
                  <a:pt x="1960981" y="55513"/>
                </a:lnTo>
                <a:lnTo>
                  <a:pt x="1965157" y="76505"/>
                </a:lnTo>
                <a:lnTo>
                  <a:pt x="1965157" y="353373"/>
                </a:lnTo>
                <a:lnTo>
                  <a:pt x="1948370" y="397957"/>
                </a:lnTo>
                <a:lnTo>
                  <a:pt x="1909642" y="425702"/>
                </a:lnTo>
                <a:lnTo>
                  <a:pt x="1893976" y="429353"/>
                </a:lnTo>
                <a:lnTo>
                  <a:pt x="188865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895472" y="1862781"/>
            <a:ext cx="2477135" cy="429895"/>
          </a:xfrm>
          <a:custGeom>
            <a:avLst/>
            <a:gdLst/>
            <a:ahLst/>
            <a:cxnLst/>
            <a:rect l="l" t="t" r="r" b="b"/>
            <a:pathLst>
              <a:path w="2477134" h="429894">
                <a:moveTo>
                  <a:pt x="240041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400412" y="0"/>
                </a:lnTo>
                <a:lnTo>
                  <a:pt x="2444996" y="16786"/>
                </a:lnTo>
                <a:lnTo>
                  <a:pt x="2472741" y="55513"/>
                </a:lnTo>
                <a:lnTo>
                  <a:pt x="2476917" y="76505"/>
                </a:lnTo>
                <a:lnTo>
                  <a:pt x="2476917" y="353373"/>
                </a:lnTo>
                <a:lnTo>
                  <a:pt x="2460130" y="397957"/>
                </a:lnTo>
                <a:lnTo>
                  <a:pt x="2421403" y="425702"/>
                </a:lnTo>
                <a:lnTo>
                  <a:pt x="2405736" y="429353"/>
                </a:lnTo>
                <a:lnTo>
                  <a:pt x="240041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27"/>
            <a:ext cx="102352" cy="10235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1555749" y="2517834"/>
            <a:ext cx="941705" cy="429895"/>
          </a:xfrm>
          <a:custGeom>
            <a:avLst/>
            <a:gdLst/>
            <a:ahLst/>
            <a:cxnLst/>
            <a:rect l="l" t="t" r="r" b="b"/>
            <a:pathLst>
              <a:path w="941705" h="429894">
                <a:moveTo>
                  <a:pt x="865133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865133" y="0"/>
                </a:lnTo>
                <a:lnTo>
                  <a:pt x="909717" y="16786"/>
                </a:lnTo>
                <a:lnTo>
                  <a:pt x="937462" y="55513"/>
                </a:lnTo>
                <a:lnTo>
                  <a:pt x="941638" y="76505"/>
                </a:lnTo>
                <a:lnTo>
                  <a:pt x="941638" y="353373"/>
                </a:lnTo>
                <a:lnTo>
                  <a:pt x="924851" y="397957"/>
                </a:lnTo>
                <a:lnTo>
                  <a:pt x="886123" y="425702"/>
                </a:lnTo>
                <a:lnTo>
                  <a:pt x="870457" y="429353"/>
                </a:lnTo>
                <a:lnTo>
                  <a:pt x="865133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2968206" y="2517834"/>
            <a:ext cx="1617345" cy="429895"/>
          </a:xfrm>
          <a:custGeom>
            <a:avLst/>
            <a:gdLst/>
            <a:ahLst/>
            <a:cxnLst/>
            <a:rect l="l" t="t" r="r" b="b"/>
            <a:pathLst>
              <a:path w="1617345" h="429894">
                <a:moveTo>
                  <a:pt x="1540655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540655" y="0"/>
                </a:lnTo>
                <a:lnTo>
                  <a:pt x="1585240" y="16786"/>
                </a:lnTo>
                <a:lnTo>
                  <a:pt x="1612985" y="55513"/>
                </a:lnTo>
                <a:lnTo>
                  <a:pt x="1617160" y="76505"/>
                </a:lnTo>
                <a:lnTo>
                  <a:pt x="1617160" y="353373"/>
                </a:lnTo>
                <a:lnTo>
                  <a:pt x="1600373" y="397957"/>
                </a:lnTo>
                <a:lnTo>
                  <a:pt x="1561646" y="425702"/>
                </a:lnTo>
                <a:lnTo>
                  <a:pt x="1545980" y="429353"/>
                </a:lnTo>
                <a:lnTo>
                  <a:pt x="1540655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5547475" y="2517834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4" h="429894">
                <a:moveTo>
                  <a:pt x="1028896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028896" y="0"/>
                </a:lnTo>
                <a:lnTo>
                  <a:pt x="1073480" y="16786"/>
                </a:lnTo>
                <a:lnTo>
                  <a:pt x="1101225" y="55513"/>
                </a:lnTo>
                <a:lnTo>
                  <a:pt x="1105401" y="76505"/>
                </a:lnTo>
                <a:lnTo>
                  <a:pt x="1105401" y="353373"/>
                </a:lnTo>
                <a:lnTo>
                  <a:pt x="1088614" y="397957"/>
                </a:lnTo>
                <a:lnTo>
                  <a:pt x="1049887" y="425702"/>
                </a:lnTo>
                <a:lnTo>
                  <a:pt x="1034221" y="429353"/>
                </a:lnTo>
                <a:lnTo>
                  <a:pt x="1028896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 txBox="1"/>
          <p:nvPr/>
        </p:nvSpPr>
        <p:spPr>
          <a:xfrm>
            <a:off x="847056" y="1174558"/>
            <a:ext cx="8036559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93980">
              <a:lnSpc>
                <a:spcPct val="100000"/>
              </a:lnSpc>
              <a:spcBef>
                <a:spcPts val="125"/>
              </a:spcBef>
              <a:tabLst>
                <a:tab pos="3488054" algn="l"/>
              </a:tabLst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StandardScaler</a:t>
            </a:r>
            <a:r>
              <a:rPr sz="2250" spc="3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KMeans</a:t>
            </a:r>
            <a:r>
              <a:rPr sz="2250" spc="39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have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similar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methods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748665" algn="l"/>
                <a:tab pos="2151380" algn="l"/>
                <a:tab pos="5080635" algn="l"/>
              </a:tabLst>
            </a:pP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fit()</a:t>
            </a:r>
            <a:r>
              <a:rPr sz="2250" spc="3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395" dirty="0">
                <a:solidFill>
                  <a:srgbClr val="04182D"/>
                </a:solidFill>
                <a:latin typeface="Arial"/>
                <a:cs typeface="Arial"/>
              </a:rPr>
              <a:t>/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transform()</a:t>
            </a:r>
            <a:r>
              <a:rPr sz="2250" spc="3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StandardScaler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748665" algn="l"/>
                <a:tab pos="2151380" algn="l"/>
                <a:tab pos="4737100" algn="l"/>
              </a:tabLst>
            </a:pP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fit()</a:t>
            </a:r>
            <a:r>
              <a:rPr sz="2250" spc="3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395" dirty="0">
                <a:solidFill>
                  <a:srgbClr val="04182D"/>
                </a:solidFill>
                <a:latin typeface="Arial"/>
                <a:cs typeface="Arial"/>
              </a:rPr>
              <a:t>/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predict()</a:t>
            </a:r>
            <a:r>
              <a:rPr sz="2250" spc="35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KMeans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8" name="슬라이드 번호 개체 틀 17">
            <a:extLst>
              <a:ext uri="{FF2B5EF4-FFF2-40B4-BE49-F238E27FC236}">
                <a16:creationId xmlns:a16="http://schemas.microsoft.com/office/drawing/2014/main" id="{F23B2ADF-6590-8F87-2B78-7E0010A09EA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31</a:t>
            </a:fld>
            <a:endParaRPr lang="en-US" altLang="ko-KR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5" dirty="0"/>
              <a:t>StandardScaler,</a:t>
            </a:r>
            <a:r>
              <a:rPr spc="-220" dirty="0"/>
              <a:t> </a:t>
            </a:r>
            <a:r>
              <a:rPr spc="-20" dirty="0"/>
              <a:t>then</a:t>
            </a:r>
            <a:r>
              <a:rPr spc="-254" dirty="0"/>
              <a:t> </a:t>
            </a:r>
            <a:r>
              <a:rPr spc="-10" dirty="0"/>
              <a:t>KMeans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5179009" y="1207729"/>
            <a:ext cx="2497455" cy="429895"/>
          </a:xfrm>
          <a:custGeom>
            <a:avLst/>
            <a:gdLst/>
            <a:ahLst/>
            <a:cxnLst/>
            <a:rect l="l" t="t" r="r" b="b"/>
            <a:pathLst>
              <a:path w="2497454" h="429894">
                <a:moveTo>
                  <a:pt x="2420882" y="429878"/>
                </a:moveTo>
                <a:lnTo>
                  <a:pt x="76504" y="429878"/>
                </a:lnTo>
                <a:lnTo>
                  <a:pt x="71180" y="429353"/>
                </a:lnTo>
                <a:lnTo>
                  <a:pt x="31919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4" y="0"/>
                </a:lnTo>
                <a:lnTo>
                  <a:pt x="2420882" y="0"/>
                </a:lnTo>
                <a:lnTo>
                  <a:pt x="2465466" y="16786"/>
                </a:lnTo>
                <a:lnTo>
                  <a:pt x="2493211" y="55513"/>
                </a:lnTo>
                <a:lnTo>
                  <a:pt x="2497387" y="76505"/>
                </a:lnTo>
                <a:lnTo>
                  <a:pt x="2497387" y="353373"/>
                </a:lnTo>
                <a:lnTo>
                  <a:pt x="2480600" y="397957"/>
                </a:lnTo>
                <a:lnTo>
                  <a:pt x="2441873" y="425702"/>
                </a:lnTo>
                <a:lnTo>
                  <a:pt x="2426206" y="429353"/>
                </a:lnTo>
                <a:lnTo>
                  <a:pt x="242088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761327" y="1207729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4" h="429894">
                <a:moveTo>
                  <a:pt x="102889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1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028896" y="0"/>
                </a:lnTo>
                <a:lnTo>
                  <a:pt x="1073479" y="16786"/>
                </a:lnTo>
                <a:lnTo>
                  <a:pt x="1101225" y="55513"/>
                </a:lnTo>
                <a:lnTo>
                  <a:pt x="1105401" y="76505"/>
                </a:lnTo>
                <a:lnTo>
                  <a:pt x="1105401" y="353373"/>
                </a:lnTo>
                <a:lnTo>
                  <a:pt x="1088614" y="397957"/>
                </a:lnTo>
                <a:lnTo>
                  <a:pt x="1049886" y="425702"/>
                </a:lnTo>
                <a:lnTo>
                  <a:pt x="1034220" y="429353"/>
                </a:lnTo>
                <a:lnTo>
                  <a:pt x="102889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555749" y="1862781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5" h="429894">
                <a:moveTo>
                  <a:pt x="121312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213129" y="0"/>
                </a:lnTo>
                <a:lnTo>
                  <a:pt x="1257714" y="16786"/>
                </a:lnTo>
                <a:lnTo>
                  <a:pt x="1285459" y="55513"/>
                </a:lnTo>
                <a:lnTo>
                  <a:pt x="1289634" y="76505"/>
                </a:lnTo>
                <a:lnTo>
                  <a:pt x="1289634" y="353373"/>
                </a:lnTo>
                <a:lnTo>
                  <a:pt x="1272848" y="397957"/>
                </a:lnTo>
                <a:lnTo>
                  <a:pt x="1234120" y="425702"/>
                </a:lnTo>
                <a:lnTo>
                  <a:pt x="1218454" y="429353"/>
                </a:lnTo>
                <a:lnTo>
                  <a:pt x="121312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847056" y="1174558"/>
            <a:ext cx="8992235" cy="172910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4377055" algn="l"/>
                <a:tab pos="7947025" algn="l"/>
              </a:tabLst>
            </a:pP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Need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perform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65" dirty="0">
                <a:solidFill>
                  <a:srgbClr val="04182D"/>
                </a:solidFill>
                <a:latin typeface="Arial"/>
                <a:cs typeface="Arial"/>
              </a:rPr>
              <a:t>two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steps: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StandardScaler</a:t>
            </a:r>
            <a:r>
              <a:rPr sz="2250" spc="-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spc="-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then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KMeans</a:t>
            </a:r>
            <a:endParaRPr sz="2250">
              <a:latin typeface="Monaco"/>
              <a:cs typeface="Monaco"/>
            </a:endParaRPr>
          </a:p>
          <a:p>
            <a:pPr marL="12700" marR="1551940">
              <a:lnSpc>
                <a:spcPts val="5160"/>
              </a:lnSpc>
              <a:spcBef>
                <a:spcPts val="320"/>
              </a:spcBef>
              <a:tabLst>
                <a:tab pos="748665" algn="l"/>
              </a:tabLst>
            </a:pPr>
            <a:r>
              <a:rPr sz="2550" spc="-25" dirty="0">
                <a:solidFill>
                  <a:srgbClr val="04182D"/>
                </a:solidFill>
                <a:latin typeface="Arial"/>
                <a:cs typeface="Arial"/>
              </a:rPr>
              <a:t>Use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sklearn</a:t>
            </a:r>
            <a:r>
              <a:rPr sz="2250" spc="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90" dirty="0">
                <a:solidFill>
                  <a:srgbClr val="04182D"/>
                </a:solidFill>
                <a:latin typeface="Arial"/>
                <a:cs typeface="Arial"/>
              </a:rPr>
              <a:t>pipeline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40" dirty="0">
                <a:solidFill>
                  <a:srgbClr val="04182D"/>
                </a:solidFill>
                <a:latin typeface="Arial"/>
                <a:cs typeface="Arial"/>
              </a:rPr>
              <a:t>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10" dirty="0">
                <a:solidFill>
                  <a:srgbClr val="04182D"/>
                </a:solidFill>
                <a:latin typeface="Arial"/>
                <a:cs typeface="Arial"/>
              </a:rPr>
              <a:t>combine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multiple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04182D"/>
                </a:solidFill>
                <a:latin typeface="Arial"/>
                <a:cs typeface="Arial"/>
              </a:rPr>
              <a:t>steps </a:t>
            </a:r>
            <a:r>
              <a:rPr sz="2550" spc="130" dirty="0">
                <a:solidFill>
                  <a:srgbClr val="04182D"/>
                </a:solidFill>
                <a:latin typeface="Arial"/>
                <a:cs typeface="Arial"/>
              </a:rPr>
              <a:t>Data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flows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5" dirty="0">
                <a:solidFill>
                  <a:srgbClr val="04182D"/>
                </a:solidFill>
                <a:latin typeface="Arial"/>
                <a:cs typeface="Arial"/>
              </a:rPr>
              <a:t>from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0" dirty="0">
                <a:solidFill>
                  <a:srgbClr val="04182D"/>
                </a:solidFill>
                <a:latin typeface="Arial"/>
                <a:cs typeface="Arial"/>
              </a:rPr>
              <a:t>one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04182D"/>
                </a:solidFill>
                <a:latin typeface="Arial"/>
                <a:cs typeface="Arial"/>
              </a:rPr>
              <a:t>step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95" dirty="0">
                <a:solidFill>
                  <a:srgbClr val="04182D"/>
                </a:solidFill>
                <a:latin typeface="Arial"/>
                <a:cs typeface="Arial"/>
              </a:rPr>
              <a:t>into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20" dirty="0">
                <a:solidFill>
                  <a:srgbClr val="04182D"/>
                </a:solidFill>
                <a:latin typeface="Arial"/>
                <a:cs typeface="Arial"/>
              </a:rPr>
              <a:t>the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next</a:t>
            </a:r>
            <a:endParaRPr sz="255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27"/>
            <a:ext cx="102352" cy="102351"/>
          </a:xfrm>
          <a:prstGeom prst="rect">
            <a:avLst/>
          </a:prstGeom>
        </p:spPr>
      </p:pic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599C2E9B-D167-03E6-5860-CE3866CAD92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32</a:t>
            </a:fld>
            <a:endParaRPr lang="en-US" altLang="ko-KR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859155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5" dirty="0"/>
              <a:t>Pipelines</a:t>
            </a:r>
            <a:r>
              <a:rPr spc="-150" dirty="0"/>
              <a:t> </a:t>
            </a:r>
            <a:r>
              <a:rPr spc="-80" dirty="0"/>
              <a:t>combine</a:t>
            </a:r>
            <a:r>
              <a:rPr spc="-220" dirty="0"/>
              <a:t> </a:t>
            </a:r>
            <a:r>
              <a:rPr spc="-60" dirty="0"/>
              <a:t>multiple</a:t>
            </a:r>
            <a:r>
              <a:rPr spc="-185" dirty="0"/>
              <a:t> </a:t>
            </a:r>
            <a:r>
              <a:rPr spc="-90" dirty="0"/>
              <a:t>steps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4933340"/>
            <a:ext cx="9887585" cy="777875"/>
          </a:xfrm>
          <a:custGeom>
            <a:avLst/>
            <a:gdLst/>
            <a:ahLst/>
            <a:cxnLst/>
            <a:rect l="l" t="t" r="r" b="b"/>
            <a:pathLst>
              <a:path w="9887585" h="777875">
                <a:moveTo>
                  <a:pt x="9810694" y="777874"/>
                </a:moveTo>
                <a:lnTo>
                  <a:pt x="76505" y="777874"/>
                </a:lnTo>
                <a:lnTo>
                  <a:pt x="71180" y="777349"/>
                </a:lnTo>
                <a:lnTo>
                  <a:pt x="31920" y="761087"/>
                </a:lnTo>
                <a:lnTo>
                  <a:pt x="4175" y="722360"/>
                </a:lnTo>
                <a:lnTo>
                  <a:pt x="0" y="701370"/>
                </a:lnTo>
                <a:lnTo>
                  <a:pt x="0" y="69599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701370"/>
                </a:lnTo>
                <a:lnTo>
                  <a:pt x="9870412" y="745953"/>
                </a:lnTo>
                <a:lnTo>
                  <a:pt x="9831684" y="773698"/>
                </a:lnTo>
                <a:lnTo>
                  <a:pt x="9816018" y="777349"/>
                </a:lnTo>
                <a:lnTo>
                  <a:pt x="9810694" y="77787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5956860"/>
            <a:ext cx="9887585" cy="798830"/>
          </a:xfrm>
          <a:custGeom>
            <a:avLst/>
            <a:gdLst/>
            <a:ahLst/>
            <a:cxnLst/>
            <a:rect l="l" t="t" r="r" b="b"/>
            <a:pathLst>
              <a:path w="9887585" h="798829">
                <a:moveTo>
                  <a:pt x="9810694" y="798344"/>
                </a:moveTo>
                <a:lnTo>
                  <a:pt x="76505" y="798344"/>
                </a:lnTo>
                <a:lnTo>
                  <a:pt x="71180" y="797819"/>
                </a:lnTo>
                <a:lnTo>
                  <a:pt x="31920" y="781557"/>
                </a:lnTo>
                <a:lnTo>
                  <a:pt x="4175" y="742830"/>
                </a:lnTo>
                <a:lnTo>
                  <a:pt x="0" y="721839"/>
                </a:lnTo>
                <a:lnTo>
                  <a:pt x="0" y="716463"/>
                </a:lnTo>
                <a:lnTo>
                  <a:pt x="0" y="76504"/>
                </a:lnTo>
                <a:lnTo>
                  <a:pt x="16786" y="31918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5"/>
                </a:lnTo>
                <a:lnTo>
                  <a:pt x="9883023" y="55512"/>
                </a:lnTo>
                <a:lnTo>
                  <a:pt x="9887199" y="76504"/>
                </a:lnTo>
                <a:lnTo>
                  <a:pt x="9887199" y="721839"/>
                </a:lnTo>
                <a:lnTo>
                  <a:pt x="9870412" y="766423"/>
                </a:lnTo>
                <a:lnTo>
                  <a:pt x="9831684" y="794168"/>
                </a:lnTo>
                <a:lnTo>
                  <a:pt x="9816018" y="797819"/>
                </a:lnTo>
                <a:lnTo>
                  <a:pt x="9810694" y="79834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788"/>
            <a:ext cx="9887199" cy="3520907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450484" y="1229010"/>
            <a:ext cx="3455670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sklearn.preprocessing sklearn.cluster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5206482" y="1229010"/>
            <a:ext cx="3291840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979169">
              <a:lnSpc>
                <a:spcPct val="137400"/>
              </a:lnSpc>
              <a:spcBef>
                <a:spcPts val="100"/>
              </a:spcBef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StandardScaler KMeans</a:t>
            </a:r>
            <a:endParaRPr sz="2150">
              <a:latin typeface="Monaco"/>
              <a:cs typeface="Monaco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14986" y="2274216"/>
          <a:ext cx="4800599" cy="7874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9347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7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801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93700">
                <a:tc>
                  <a:txBody>
                    <a:bodyPr/>
                    <a:lstStyle/>
                    <a:p>
                      <a:pPr marR="41910" algn="ctr">
                        <a:lnSpc>
                          <a:spcPts val="2510"/>
                        </a:lnSpc>
                      </a:pPr>
                      <a:r>
                        <a:rPr sz="2150" spc="-10" dirty="0">
                          <a:solidFill>
                            <a:srgbClr val="04182D"/>
                          </a:solidFill>
                          <a:latin typeface="Monaco"/>
                          <a:cs typeface="Monaco"/>
                        </a:rPr>
                        <a:t>scaler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510"/>
                        </a:lnSpc>
                      </a:pPr>
                      <a:r>
                        <a:rPr sz="2150" spc="-50" dirty="0">
                          <a:solidFill>
                            <a:srgbClr val="04182D"/>
                          </a:solidFill>
                          <a:latin typeface="Monaco"/>
                          <a:cs typeface="Monaco"/>
                        </a:rPr>
                        <a:t>=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ts val="2510"/>
                        </a:lnSpc>
                      </a:pPr>
                      <a:r>
                        <a:rPr sz="2150" spc="-10" dirty="0">
                          <a:solidFill>
                            <a:srgbClr val="04182D"/>
                          </a:solidFill>
                          <a:latin typeface="Monaco"/>
                          <a:cs typeface="Monaco"/>
                        </a:rPr>
                        <a:t>StandardScaler()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3700">
                <a:tc>
                  <a:txBody>
                    <a:bodyPr/>
                    <a:lstStyle/>
                    <a:p>
                      <a:pPr marR="41910"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150" spc="-10" dirty="0">
                          <a:solidFill>
                            <a:srgbClr val="04182D"/>
                          </a:solidFill>
                          <a:latin typeface="Monaco"/>
                          <a:cs typeface="Monaco"/>
                        </a:rPr>
                        <a:t>kmeans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150" spc="-50" dirty="0">
                          <a:solidFill>
                            <a:srgbClr val="04182D"/>
                          </a:solidFill>
                          <a:latin typeface="Monaco"/>
                          <a:cs typeface="Monaco"/>
                        </a:rPr>
                        <a:t>=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46990" marB="0"/>
                </a:tc>
                <a:tc>
                  <a:txBody>
                    <a:bodyPr/>
                    <a:lstStyle/>
                    <a:p>
                      <a:pPr marL="81280">
                        <a:lnSpc>
                          <a:spcPct val="100000"/>
                        </a:lnSpc>
                        <a:spcBef>
                          <a:spcPts val="370"/>
                        </a:spcBef>
                      </a:pPr>
                      <a:r>
                        <a:rPr sz="2150" spc="-10" dirty="0">
                          <a:solidFill>
                            <a:srgbClr val="04182D"/>
                          </a:solidFill>
                          <a:latin typeface="Monaco"/>
                          <a:cs typeface="Monaco"/>
                        </a:rPr>
                        <a:t>KMeans(n_clusters=</a:t>
                      </a:r>
                      <a:r>
                        <a:rPr sz="2150" spc="-10" dirty="0">
                          <a:solidFill>
                            <a:srgbClr val="BE2F72"/>
                          </a:solidFill>
                          <a:latin typeface="Monaco"/>
                          <a:cs typeface="Monaco"/>
                        </a:rPr>
                        <a:t>3</a:t>
                      </a:r>
                      <a:r>
                        <a:rPr sz="2150" spc="-10" dirty="0">
                          <a:solidFill>
                            <a:srgbClr val="04182D"/>
                          </a:solidFill>
                          <a:latin typeface="Monaco"/>
                          <a:cs typeface="Monaco"/>
                        </a:rPr>
                        <a:t>)</a:t>
                      </a:r>
                      <a:endParaRPr sz="2150">
                        <a:latin typeface="Monaco"/>
                        <a:cs typeface="Monaco"/>
                      </a:endParaRPr>
                    </a:p>
                  </a:txBody>
                  <a:tcPr marL="0" marR="0" marT="4699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634036" y="3030404"/>
            <a:ext cx="6884670" cy="14382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815975">
              <a:lnSpc>
                <a:spcPct val="143700"/>
              </a:lnSpc>
              <a:spcBef>
                <a:spcPts val="100"/>
              </a:spcBef>
              <a:tabLst>
                <a:tab pos="4747895" algn="l"/>
              </a:tabLst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sklearn.pipeline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make_pipeline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pipeline</a:t>
            </a:r>
            <a:r>
              <a:rPr sz="2150" spc="-1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-1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make_pipeline(scaler,</a:t>
            </a:r>
            <a:r>
              <a:rPr sz="2150" spc="-1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kmeans) pipeline.fit(samples)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34036" y="5139673"/>
            <a:ext cx="3128645" cy="35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Pipeline(steps=...)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4036" y="6163193"/>
            <a:ext cx="5578475" cy="35242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labels</a:t>
            </a:r>
            <a:r>
              <a:rPr sz="2150" spc="-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-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pipeline.predict(samples)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277E0AF1-2E6B-7F11-2734-CF242538C79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33</a:t>
            </a:fld>
            <a:endParaRPr lang="en-US" altLang="ko-KR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Feature</a:t>
            </a:r>
            <a:r>
              <a:rPr spc="-260" dirty="0"/>
              <a:t> </a:t>
            </a:r>
            <a:r>
              <a:rPr spc="-70" dirty="0"/>
              <a:t>standardization</a:t>
            </a:r>
            <a:r>
              <a:rPr spc="-204" dirty="0"/>
              <a:t> </a:t>
            </a:r>
            <a:r>
              <a:rPr spc="-155" dirty="0"/>
              <a:t>improves</a:t>
            </a:r>
            <a:r>
              <a:rPr spc="-160" dirty="0"/>
              <a:t> </a:t>
            </a:r>
            <a:r>
              <a:rPr spc="-70" dirty="0"/>
              <a:t>clustering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985604"/>
            <a:ext cx="9887585" cy="2088514"/>
          </a:xfrm>
          <a:custGeom>
            <a:avLst/>
            <a:gdLst/>
            <a:ahLst/>
            <a:cxnLst/>
            <a:rect l="l" t="t" r="r" b="b"/>
            <a:pathLst>
              <a:path w="9887585" h="2088514">
                <a:moveTo>
                  <a:pt x="9810694" y="2087980"/>
                </a:moveTo>
                <a:lnTo>
                  <a:pt x="76505" y="2087980"/>
                </a:lnTo>
                <a:lnTo>
                  <a:pt x="71180" y="2087455"/>
                </a:lnTo>
                <a:lnTo>
                  <a:pt x="31920" y="2071192"/>
                </a:lnTo>
                <a:lnTo>
                  <a:pt x="4175" y="2032465"/>
                </a:lnTo>
                <a:lnTo>
                  <a:pt x="0" y="2011474"/>
                </a:lnTo>
                <a:lnTo>
                  <a:pt x="0" y="200609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011474"/>
                </a:lnTo>
                <a:lnTo>
                  <a:pt x="9870412" y="2056059"/>
                </a:lnTo>
                <a:lnTo>
                  <a:pt x="9831684" y="2083804"/>
                </a:lnTo>
                <a:lnTo>
                  <a:pt x="9816018" y="2087455"/>
                </a:lnTo>
                <a:lnTo>
                  <a:pt x="9810694" y="208798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5138044"/>
            <a:ext cx="9887585" cy="2108835"/>
          </a:xfrm>
          <a:custGeom>
            <a:avLst/>
            <a:gdLst/>
            <a:ahLst/>
            <a:cxnLst/>
            <a:rect l="l" t="t" r="r" b="b"/>
            <a:pathLst>
              <a:path w="9887585" h="2108834">
                <a:moveTo>
                  <a:pt x="9810694" y="2108450"/>
                </a:moveTo>
                <a:lnTo>
                  <a:pt x="76505" y="2108450"/>
                </a:lnTo>
                <a:lnTo>
                  <a:pt x="71180" y="2107925"/>
                </a:lnTo>
                <a:lnTo>
                  <a:pt x="31920" y="2091663"/>
                </a:lnTo>
                <a:lnTo>
                  <a:pt x="4175" y="2052935"/>
                </a:lnTo>
                <a:lnTo>
                  <a:pt x="0" y="2031944"/>
                </a:lnTo>
                <a:lnTo>
                  <a:pt x="0" y="2026568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9810694" y="0"/>
                </a:lnTo>
                <a:lnTo>
                  <a:pt x="9855278" y="16786"/>
                </a:lnTo>
                <a:lnTo>
                  <a:pt x="9883023" y="55513"/>
                </a:lnTo>
                <a:lnTo>
                  <a:pt x="9887199" y="76505"/>
                </a:lnTo>
                <a:lnTo>
                  <a:pt x="9887199" y="2031944"/>
                </a:lnTo>
                <a:lnTo>
                  <a:pt x="9870412" y="2076528"/>
                </a:lnTo>
                <a:lnTo>
                  <a:pt x="9831684" y="2104274"/>
                </a:lnTo>
                <a:lnTo>
                  <a:pt x="9816018" y="2107925"/>
                </a:lnTo>
                <a:lnTo>
                  <a:pt x="9810694" y="210845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78589" y="1164478"/>
            <a:ext cx="4489450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With</a:t>
            </a:r>
            <a:r>
              <a:rPr sz="2650" i="1" spc="5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6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650" i="1" spc="7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-10" dirty="0">
                <a:solidFill>
                  <a:srgbClr val="04182D"/>
                </a:solidFill>
                <a:latin typeface="Arial"/>
                <a:cs typeface="Arial"/>
              </a:rPr>
              <a:t>standardization:</a:t>
            </a:r>
            <a:endParaRPr sz="2650">
              <a:latin typeface="Arial"/>
              <a:cs typeface="Arial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587159" y="2157711"/>
          <a:ext cx="5154929" cy="175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varieties</a:t>
                      </a:r>
                      <a:endParaRPr sz="1750">
                        <a:latin typeface="Monaco"/>
                        <a:cs typeface="Monac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labels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Barbera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Barolo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Grignolino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48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65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478589" y="4316919"/>
            <a:ext cx="7153909" cy="430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650" i="1" spc="45" dirty="0">
                <a:solidFill>
                  <a:srgbClr val="04182D"/>
                </a:solidFill>
                <a:latin typeface="Arial"/>
                <a:cs typeface="Arial"/>
              </a:rPr>
              <a:t>Without</a:t>
            </a:r>
            <a:r>
              <a:rPr sz="2650" i="1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60" dirty="0">
                <a:solidFill>
                  <a:srgbClr val="04182D"/>
                </a:solidFill>
                <a:latin typeface="Arial"/>
                <a:cs typeface="Arial"/>
              </a:rPr>
              <a:t>feature</a:t>
            </a:r>
            <a:r>
              <a:rPr sz="2650" i="1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45" dirty="0">
                <a:solidFill>
                  <a:srgbClr val="04182D"/>
                </a:solidFill>
                <a:latin typeface="Arial"/>
                <a:cs typeface="Arial"/>
              </a:rPr>
              <a:t>standardization</a:t>
            </a:r>
            <a:r>
              <a:rPr sz="2650" i="1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dirty="0">
                <a:solidFill>
                  <a:srgbClr val="04182D"/>
                </a:solidFill>
                <a:latin typeface="Arial"/>
                <a:cs typeface="Arial"/>
              </a:rPr>
              <a:t>was</a:t>
            </a:r>
            <a:r>
              <a:rPr sz="2650" i="1" spc="3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50" dirty="0">
                <a:solidFill>
                  <a:srgbClr val="04182D"/>
                </a:solidFill>
                <a:latin typeface="Arial"/>
                <a:cs typeface="Arial"/>
              </a:rPr>
              <a:t>very</a:t>
            </a:r>
            <a:r>
              <a:rPr sz="2650" i="1" spc="3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650" i="1" spc="-20" dirty="0">
                <a:solidFill>
                  <a:srgbClr val="04182D"/>
                </a:solidFill>
                <a:latin typeface="Arial"/>
                <a:cs typeface="Arial"/>
              </a:rPr>
              <a:t>bad:</a:t>
            </a:r>
            <a:endParaRPr sz="2650">
              <a:latin typeface="Arial"/>
              <a:cs typeface="Arial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587159" y="5330621"/>
          <a:ext cx="5154929" cy="17500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58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71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558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0880">
                <a:tc>
                  <a:txBody>
                    <a:bodyPr/>
                    <a:lstStyle/>
                    <a:p>
                      <a:pPr marL="31750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varieties</a:t>
                      </a:r>
                      <a:endParaRPr sz="1750">
                        <a:latin typeface="Monaco"/>
                        <a:cs typeface="Monac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800"/>
                        </a:spcBef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labels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Barbera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Barolo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055"/>
                        </a:lnSpc>
                      </a:pPr>
                      <a:r>
                        <a:rPr sz="17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Grignolino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13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830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258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19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1257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15"/>
                        </a:spcBef>
                      </a:pPr>
                      <a:r>
                        <a:rPr sz="17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50</a:t>
                      </a:r>
                      <a:endParaRPr sz="1750">
                        <a:latin typeface="Monaco"/>
                        <a:cs typeface="Monaco"/>
                      </a:endParaRPr>
                    </a:p>
                  </a:txBody>
                  <a:tcPr marL="0" marR="0" marT="4000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A2A1C1CD-B5F4-F327-87FA-1B992B7A4E71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34</a:t>
            </a:fld>
            <a:endParaRPr lang="en-US" altLang="ko-KR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61"/>
            <a:ext cx="732663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0" dirty="0"/>
              <a:t>sklearn</a:t>
            </a:r>
            <a:r>
              <a:rPr spc="-125" dirty="0"/>
              <a:t> </a:t>
            </a:r>
            <a:r>
              <a:rPr spc="-160" dirty="0"/>
              <a:t>preprocessing</a:t>
            </a:r>
            <a:r>
              <a:rPr spc="-120" dirty="0"/>
              <a:t> </a:t>
            </a:r>
            <a:r>
              <a:rPr spc="-110" dirty="0"/>
              <a:t>steps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22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00697" y="1207729"/>
            <a:ext cx="2497455" cy="429895"/>
          </a:xfrm>
          <a:custGeom>
            <a:avLst/>
            <a:gdLst/>
            <a:ahLst/>
            <a:cxnLst/>
            <a:rect l="l" t="t" r="r" b="b"/>
            <a:pathLst>
              <a:path w="2497454" h="429894">
                <a:moveTo>
                  <a:pt x="2420882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420882" y="0"/>
                </a:lnTo>
                <a:lnTo>
                  <a:pt x="2465467" y="16786"/>
                </a:lnTo>
                <a:lnTo>
                  <a:pt x="2493212" y="55513"/>
                </a:lnTo>
                <a:lnTo>
                  <a:pt x="2497387" y="76505"/>
                </a:lnTo>
                <a:lnTo>
                  <a:pt x="2497387" y="353373"/>
                </a:lnTo>
                <a:lnTo>
                  <a:pt x="2480601" y="397957"/>
                </a:lnTo>
                <a:lnTo>
                  <a:pt x="2441873" y="425702"/>
                </a:lnTo>
                <a:lnTo>
                  <a:pt x="2426207" y="429353"/>
                </a:lnTo>
                <a:lnTo>
                  <a:pt x="2420882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74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00697" y="1862781"/>
            <a:ext cx="2149475" cy="429895"/>
          </a:xfrm>
          <a:custGeom>
            <a:avLst/>
            <a:gdLst/>
            <a:ahLst/>
            <a:cxnLst/>
            <a:rect l="l" t="t" r="r" b="b"/>
            <a:pathLst>
              <a:path w="2149475" h="429894">
                <a:moveTo>
                  <a:pt x="2072885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2072885" y="0"/>
                </a:lnTo>
                <a:lnTo>
                  <a:pt x="2117470" y="16786"/>
                </a:lnTo>
                <a:lnTo>
                  <a:pt x="2145215" y="55513"/>
                </a:lnTo>
                <a:lnTo>
                  <a:pt x="2149390" y="76505"/>
                </a:lnTo>
                <a:lnTo>
                  <a:pt x="2149390" y="353373"/>
                </a:lnTo>
                <a:lnTo>
                  <a:pt x="2132604" y="397957"/>
                </a:lnTo>
                <a:lnTo>
                  <a:pt x="2093876" y="425702"/>
                </a:lnTo>
                <a:lnTo>
                  <a:pt x="2078210" y="429353"/>
                </a:lnTo>
                <a:lnTo>
                  <a:pt x="207288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950785" y="1862781"/>
            <a:ext cx="1801495" cy="429895"/>
          </a:xfrm>
          <a:custGeom>
            <a:avLst/>
            <a:gdLst/>
            <a:ahLst/>
            <a:cxnLst/>
            <a:rect l="l" t="t" r="r" b="b"/>
            <a:pathLst>
              <a:path w="1801495" h="429894">
                <a:moveTo>
                  <a:pt x="172488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724889" y="0"/>
                </a:lnTo>
                <a:lnTo>
                  <a:pt x="1769474" y="16786"/>
                </a:lnTo>
                <a:lnTo>
                  <a:pt x="1797218" y="55513"/>
                </a:lnTo>
                <a:lnTo>
                  <a:pt x="1801395" y="76505"/>
                </a:lnTo>
                <a:lnTo>
                  <a:pt x="1801395" y="353373"/>
                </a:lnTo>
                <a:lnTo>
                  <a:pt x="1784607" y="397957"/>
                </a:lnTo>
                <a:lnTo>
                  <a:pt x="1745880" y="425702"/>
                </a:lnTo>
                <a:lnTo>
                  <a:pt x="1730213" y="429353"/>
                </a:lnTo>
                <a:lnTo>
                  <a:pt x="172488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/>
          <p:nvPr/>
        </p:nvSpPr>
        <p:spPr>
          <a:xfrm>
            <a:off x="928938" y="1174558"/>
            <a:ext cx="7972425" cy="107378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StandardScaler</a:t>
            </a:r>
            <a:r>
              <a:rPr sz="2250" spc="38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is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55" dirty="0">
                <a:solidFill>
                  <a:srgbClr val="04182D"/>
                </a:solidFill>
                <a:latin typeface="Arial"/>
                <a:cs typeface="Arial"/>
              </a:rPr>
              <a:t>a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"preprocessing"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step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3062605" algn="l"/>
              </a:tabLst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MaxAbsScaler</a:t>
            </a:r>
            <a:r>
              <a:rPr sz="2250" spc="36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105" dirty="0">
                <a:solidFill>
                  <a:srgbClr val="04182D"/>
                </a:solidFill>
                <a:latin typeface="Arial"/>
                <a:cs typeface="Arial"/>
              </a:rPr>
              <a:t>and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Normalizer</a:t>
            </a:r>
            <a:r>
              <a:rPr sz="2250" spc="37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85" dirty="0">
                <a:solidFill>
                  <a:srgbClr val="04182D"/>
                </a:solidFill>
                <a:latin typeface="Arial"/>
                <a:cs typeface="Arial"/>
              </a:rPr>
              <a:t>are</a:t>
            </a:r>
            <a:r>
              <a:rPr sz="2550" spc="40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100" dirty="0">
                <a:solidFill>
                  <a:srgbClr val="04182D"/>
                </a:solidFill>
                <a:latin typeface="Arial"/>
                <a:cs typeface="Arial"/>
              </a:rPr>
              <a:t>other</a:t>
            </a:r>
            <a:r>
              <a:rPr sz="2550" spc="4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04182D"/>
                </a:solidFill>
                <a:latin typeface="Arial"/>
                <a:cs typeface="Arial"/>
              </a:rPr>
              <a:t>examples</a:t>
            </a:r>
            <a:endParaRPr sz="2550">
              <a:latin typeface="Arial"/>
              <a:cs typeface="Arial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094D6A04-5CD6-F857-C1A3-820FC741C46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35</a:t>
            </a:fld>
            <a:endParaRPr lang="en-US" altLang="ko-KR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0DACE5D-0856-CA8E-257E-B9C179FFDA5B}"/>
              </a:ext>
            </a:extLst>
          </p:cNvPr>
          <p:cNvSpPr txBox="1"/>
          <p:nvPr/>
        </p:nvSpPr>
        <p:spPr>
          <a:xfrm>
            <a:off x="442267" y="2661126"/>
            <a:ext cx="13912202" cy="53553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altLang="ko-KR" b="1" dirty="0" err="1"/>
              <a:t>MaxAbsScaler</a:t>
            </a:r>
            <a:r>
              <a:rPr lang="en" altLang="ko-KR" dirty="0"/>
              <a:t> is a feature scaling technique provided by the </a:t>
            </a:r>
            <a:r>
              <a:rPr lang="en" altLang="ko-KR" dirty="0" err="1"/>
              <a:t>sklearn.preprocessing</a:t>
            </a:r>
            <a:r>
              <a:rPr lang="en" altLang="ko-KR" dirty="0"/>
              <a:t> module in scikit-learn.</a:t>
            </a:r>
          </a:p>
          <a:p>
            <a:r>
              <a:rPr lang="en" altLang="ko-KR" dirty="0"/>
              <a:t>It scales each feature individually such that the </a:t>
            </a:r>
            <a:r>
              <a:rPr lang="en" altLang="ko-KR" b="1" dirty="0"/>
              <a:t>maximum absolute value of each feature becomes 1</a:t>
            </a:r>
            <a:r>
              <a:rPr lang="en" altLang="ko-KR" dirty="0"/>
              <a:t>, while preserving the sparsity of the data.</a:t>
            </a:r>
          </a:p>
          <a:p>
            <a:r>
              <a:rPr lang="en" altLang="ko-KR" dirty="0"/>
              <a:t>It is particularly useful for data that contains both positive and negative values and does not center the data at zero.</a:t>
            </a:r>
          </a:p>
          <a:p>
            <a:endParaRPr lang="en" altLang="ko-KR" dirty="0"/>
          </a:p>
          <a:p>
            <a:r>
              <a:rPr lang="en" altLang="ko-KR" dirty="0"/>
              <a:t>The </a:t>
            </a:r>
            <a:r>
              <a:rPr lang="en" altLang="ko-KR" b="1" dirty="0"/>
              <a:t>Normalizer</a:t>
            </a:r>
            <a:r>
              <a:rPr lang="en" altLang="ko-KR" dirty="0"/>
              <a:t> in </a:t>
            </a:r>
            <a:r>
              <a:rPr lang="en" altLang="ko-KR" dirty="0" err="1"/>
              <a:t>sklearn.preprocessing</a:t>
            </a:r>
            <a:r>
              <a:rPr lang="en" altLang="ko-KR" dirty="0"/>
              <a:t> is a preprocessing technique that </a:t>
            </a:r>
            <a:r>
              <a:rPr lang="en" altLang="ko-KR" b="1" dirty="0"/>
              <a:t>scales each data sample individually</a:t>
            </a:r>
            <a:r>
              <a:rPr lang="en" altLang="ko-KR" dirty="0"/>
              <a:t> to have a unit norm.</a:t>
            </a:r>
          </a:p>
          <a:p>
            <a:r>
              <a:rPr lang="en" altLang="ko-KR" dirty="0"/>
              <a:t>This is done by dividing each element in a sample by the norm of the sample vector.</a:t>
            </a:r>
          </a:p>
          <a:p>
            <a:r>
              <a:rPr lang="en" altLang="ko-KR" dirty="0"/>
              <a:t>It is commonly used when the direction of the data is more important than its magnitude, such as in text classification, clustering, or machine learning models sensitive to cosine similarity.</a:t>
            </a:r>
          </a:p>
          <a:p>
            <a:endParaRPr lang="en" altLang="ko-KR" dirty="0"/>
          </a:p>
          <a:p>
            <a:r>
              <a:rPr lang="en" altLang="ko-KR" dirty="0"/>
              <a:t>The norm ∥x∥ can be calculated using one of the following:</a:t>
            </a:r>
          </a:p>
          <a:p>
            <a:r>
              <a:rPr lang="en" altLang="ko-KR" b="1" dirty="0"/>
              <a:t>L1 Norm</a:t>
            </a:r>
          </a:p>
          <a:p>
            <a:r>
              <a:rPr lang="en" altLang="ko-KR" dirty="0"/>
              <a:t>Scales the sample so that the sum of absolute values of its components equals 1.</a:t>
            </a:r>
          </a:p>
          <a:p>
            <a:endParaRPr lang="en" altLang="ko-KR" dirty="0"/>
          </a:p>
          <a:p>
            <a:r>
              <a:rPr lang="en" altLang="ko-KR" b="1" dirty="0"/>
              <a:t>L2 Norm</a:t>
            </a:r>
            <a:r>
              <a:rPr lang="en" altLang="ko-KR" dirty="0"/>
              <a:t>:</a:t>
            </a:r>
          </a:p>
          <a:p>
            <a:r>
              <a:rPr lang="en" altLang="ko-KR" dirty="0"/>
              <a:t>Scales the sample so that the Euclidean norm (vector magnitude) equals 1. This is the default.</a:t>
            </a:r>
          </a:p>
          <a:p>
            <a:endParaRPr lang="en" altLang="ko-KR" dirty="0"/>
          </a:p>
          <a:p>
            <a:r>
              <a:rPr lang="en" altLang="ko-KR" b="1" dirty="0"/>
              <a:t>L∞ Norm</a:t>
            </a:r>
            <a:r>
              <a:rPr lang="en" altLang="ko-KR" dirty="0"/>
              <a:t>:</a:t>
            </a:r>
          </a:p>
          <a:p>
            <a:r>
              <a:rPr lang="en" altLang="ko-KR"/>
              <a:t>Scales the sample so that the maximum absolute value equals 1.</a:t>
            </a:r>
            <a:endParaRPr lang="en" altLang="ko-KR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1267</TotalTime>
  <Words>2117</Words>
  <Application>Microsoft Macintosh PowerPoint</Application>
  <PresentationFormat>사용자 지정</PresentationFormat>
  <Paragraphs>391</Paragraphs>
  <Slides>35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35</vt:i4>
      </vt:variant>
    </vt:vector>
  </HeadingPairs>
  <TitlesOfParts>
    <vt:vector size="40" baseType="lpstr">
      <vt:lpstr>맑은 고딕</vt:lpstr>
      <vt:lpstr>Arial</vt:lpstr>
      <vt:lpstr>Monaco</vt:lpstr>
      <vt:lpstr>Times New Roman</vt:lpstr>
      <vt:lpstr>Office Theme</vt:lpstr>
      <vt:lpstr>PowerPoint 프레젠테이션</vt:lpstr>
      <vt:lpstr>Unsupervised learning</vt:lpstr>
      <vt:lpstr>Supervised vs unsupervised learning</vt:lpstr>
      <vt:lpstr>Iris (붓꽃) dataset</vt:lpstr>
      <vt:lpstr>Arrays, features &amp; samples</vt:lpstr>
      <vt:lpstr>Iris data is 4-dimensional</vt:lpstr>
      <vt:lpstr>k-means clustering</vt:lpstr>
      <vt:lpstr>PowerPoint 프레젠테이션</vt:lpstr>
      <vt:lpstr>Cluster labels for new samples</vt:lpstr>
      <vt:lpstr>Cluster labels for new samples</vt:lpstr>
      <vt:lpstr>Scatter plots</vt:lpstr>
      <vt:lpstr>Scatter plots</vt:lpstr>
      <vt:lpstr>PowerPoint 프레젠테이션</vt:lpstr>
      <vt:lpstr>Evaluating a clustering</vt:lpstr>
      <vt:lpstr>Iris: clusters vs species k-means found 3 clusters amongst the iris samples Do the clusters correspond to the species?</vt:lpstr>
      <vt:lpstr>Cross tabulation with pandas</vt:lpstr>
      <vt:lpstr>Aligning labels and species</vt:lpstr>
      <vt:lpstr>Crosstab of labels and species</vt:lpstr>
      <vt:lpstr>Measuring clustering quality Using only samples and their cluster labels A good clustering has tight clusters Samples in each cluster bunched together</vt:lpstr>
      <vt:lpstr>Inertia measures clustering quality</vt:lpstr>
      <vt:lpstr>The number of clusters</vt:lpstr>
      <vt:lpstr>How many clusters to choose?</vt:lpstr>
      <vt:lpstr>Transforming features for better clusterings U N S U P E R V I S E D L E A R N I N G I N P Y T H O N</vt:lpstr>
      <vt:lpstr>Piedmont wines dataset</vt:lpstr>
      <vt:lpstr>Clustering the wines</vt:lpstr>
      <vt:lpstr>Clusters vs. varieties</vt:lpstr>
      <vt:lpstr>Feature variances</vt:lpstr>
      <vt:lpstr>Feature variances</vt:lpstr>
      <vt:lpstr>StandardScaler</vt:lpstr>
      <vt:lpstr>sklearn StandardScaler</vt:lpstr>
      <vt:lpstr>Similar methods</vt:lpstr>
      <vt:lpstr>StandardScaler, then KMeans</vt:lpstr>
      <vt:lpstr>Pipelines combine multiple steps</vt:lpstr>
      <vt:lpstr>Feature standardization improves clustering</vt:lpstr>
      <vt:lpstr>sklearn preprocessing steps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11</cp:revision>
  <dcterms:created xsi:type="dcterms:W3CDTF">2025-01-10T13:45:26Z</dcterms:created>
  <dcterms:modified xsi:type="dcterms:W3CDTF">2025-01-11T10:52:28Z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2024-07-16T00:00:00Z</vt:filetime>
  </property>
  <property fmtid="{D5CDD505-2E9C-101B-9397-08002B2CF9AE}" pid="3" name="Creator">
    <vt:lpwstr>Chromium</vt:lpwstr>
  </property>
  <property fmtid="{D5CDD505-2E9C-101B-9397-08002B2CF9AE}" pid="4" name="LastSaved">
    <vt:filetime>2025-01-10T00:00:00Z</vt:filetime>
  </property>
  <property fmtid="{D5CDD505-2E9C-101B-9397-08002B2CF9AE}" pid="5" name="Producer">
    <vt:lpwstr>Skia/PDF m89</vt:lpwstr>
  </property>
</Properties>
</file>