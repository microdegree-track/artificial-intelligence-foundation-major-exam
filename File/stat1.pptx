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37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098F8-BF07-4DD8-8D9B-2CC08C14B83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78CA-440E-4BD3-9DDC-69E68F9907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9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7"/>
            <a:ext cx="738314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3B7EB-C861-4522-9EFC-89C457025DA2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E3AE6-6B56-4805-9E0B-17AEADE4BF17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B77B9-4923-40C1-8CBB-A371006F22FD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C1217-52BE-4FBC-A589-41C1A6BA0C2A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CC25F-E0FC-4BA7-831F-FC1EB852278B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74"/>
            <a:ext cx="1449006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3189" y="3131970"/>
            <a:ext cx="11315065" cy="296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957510" y="8207396"/>
            <a:ext cx="4284980" cy="371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5182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60" dirty="0"/>
              <a:t>STATISTICS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C7778-17E6-4B74-A8D8-F6040C0E4E97}" type="datetime1">
              <a:rPr lang="en-US" altLang="ko-KR" smtClean="0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unsplash.com/%40unarchive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unsplash.com/%40andretaissin%3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splash.com/%40jesusance%3B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://www.bmj.com/content/373/bmj.n108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unsplash.com/%40mohammadmetr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splash.com/%40behy_studio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unsplash.com/%40mango_qua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nsplash.com/%40pickawood" TargetMode="Externa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unsplash.com/%40arnosenoner%3B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png"/><Relationship Id="rId9" Type="http://schemas.openxmlformats.org/officeDocument/2006/relationships/hyperlink" Target="https://unsplash.com/%40brenoassis%3B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unsplash.com/%40uyk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246" y="2236119"/>
            <a:ext cx="6682105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390" dirty="0"/>
              <a:t>What</a:t>
            </a:r>
            <a:r>
              <a:rPr sz="6450" spc="-325" dirty="0"/>
              <a:t> </a:t>
            </a:r>
            <a:r>
              <a:rPr sz="6450" spc="-370" dirty="0"/>
              <a:t>is</a:t>
            </a:r>
            <a:r>
              <a:rPr sz="6450" spc="-330" dirty="0"/>
              <a:t> </a:t>
            </a:r>
            <a:r>
              <a:rPr sz="6450" spc="-380" dirty="0"/>
              <a:t>statistics?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2806700" algn="l"/>
                <a:tab pos="3401060" algn="l"/>
              </a:tabLst>
            </a:pP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90" dirty="0"/>
              <a:t>TO</a:t>
            </a:r>
            <a:r>
              <a:rPr sz="2250" dirty="0"/>
              <a:t>	</a:t>
            </a:r>
            <a:r>
              <a:rPr sz="2250" spc="80" dirty="0"/>
              <a:t>STAT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dirty="0"/>
              <a:t>ST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5"/>
            <a:ext cx="443103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EB78369-2523-39A3-E329-7456714F20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What</a:t>
            </a:r>
            <a:r>
              <a:rPr spc="-155" dirty="0"/>
              <a:t> </a:t>
            </a:r>
            <a:r>
              <a:rPr spc="-245" dirty="0"/>
              <a:t>is</a:t>
            </a:r>
            <a:r>
              <a:rPr spc="-140" dirty="0"/>
              <a:t> </a:t>
            </a:r>
            <a:r>
              <a:rPr spc="-204" dirty="0"/>
              <a:t>statistics?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3"/>
            <a:ext cx="121342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30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b="1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35" dirty="0">
                <a:solidFill>
                  <a:srgbClr val="05182C"/>
                </a:solidFill>
                <a:latin typeface="Tahoma"/>
                <a:cs typeface="Tahoma"/>
              </a:rPr>
              <a:t>field</a:t>
            </a:r>
            <a:r>
              <a:rPr sz="2550" b="1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b="1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65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r>
              <a:rPr sz="2550" b="1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5182C"/>
                </a:solidFill>
                <a:latin typeface="Tahoma"/>
                <a:cs typeface="Tahoma"/>
              </a:rPr>
              <a:t>practice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5182C"/>
                </a:solidFill>
                <a:latin typeface="Tahoma"/>
                <a:cs typeface="Tahoma"/>
              </a:rPr>
              <a:t>and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study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collecting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5182C"/>
                </a:solidFill>
                <a:latin typeface="Tahoma"/>
                <a:cs typeface="Tahoma"/>
              </a:rPr>
              <a:t>and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analyzing</a:t>
            </a:r>
            <a:r>
              <a:rPr sz="2550" spc="-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1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305968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961021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2550193"/>
            <a:ext cx="13642340" cy="21545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Two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main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branches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5182C"/>
                </a:solidFill>
                <a:latin typeface="Tahoma"/>
                <a:cs typeface="Tahoma"/>
              </a:rPr>
              <a:t>statistics: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b="1" spc="-65" dirty="0">
                <a:solidFill>
                  <a:srgbClr val="05182C"/>
                </a:solidFill>
                <a:latin typeface="Tahoma"/>
                <a:cs typeface="Tahoma"/>
              </a:rPr>
              <a:t>Descriptive/summary</a:t>
            </a:r>
            <a:r>
              <a:rPr sz="2550" b="1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65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r>
              <a:rPr sz="2550" b="1" spc="-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6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describing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or</a:t>
            </a:r>
            <a:r>
              <a:rPr sz="2550" spc="-6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summarizing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our</a:t>
            </a:r>
            <a:r>
              <a:rPr sz="2550" spc="-6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  <a:spcBef>
                <a:spcPts val="1290"/>
              </a:spcBef>
            </a:pPr>
            <a:r>
              <a:rPr sz="2550" b="1" spc="-135" dirty="0">
                <a:solidFill>
                  <a:srgbClr val="05182C"/>
                </a:solidFill>
                <a:latin typeface="Tahoma"/>
                <a:cs typeface="Tahoma"/>
              </a:rPr>
              <a:t>Inferential</a:t>
            </a:r>
            <a:r>
              <a:rPr sz="2550" b="1" spc="-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65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r>
              <a:rPr sz="2550" b="1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collect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sample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data,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5182C"/>
                </a:solidFill>
                <a:latin typeface="Tahoma"/>
                <a:cs typeface="Tahoma"/>
              </a:rPr>
              <a:t>and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5182C"/>
                </a:solidFill>
                <a:latin typeface="Tahoma"/>
                <a:cs typeface="Tahoma"/>
              </a:rPr>
              <a:t>apply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results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population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that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sample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represents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CACC362-5478-A94E-A200-C19216A944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9" dirty="0"/>
              <a:t>Statistics</a:t>
            </a:r>
            <a:r>
              <a:rPr spc="-125" dirty="0"/>
              <a:t> </a:t>
            </a:r>
            <a:r>
              <a:rPr spc="-245" dirty="0"/>
              <a:t>is</a:t>
            </a:r>
            <a:r>
              <a:rPr spc="-120" dirty="0"/>
              <a:t> </a:t>
            </a:r>
            <a:r>
              <a:rPr spc="-270" dirty="0"/>
              <a:t>everywhere!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244348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Sports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462545"/>
            <a:ext cx="102351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4286082"/>
            <a:ext cx="27336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Personal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finances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94255" y="1166811"/>
            <a:ext cx="2620207" cy="17604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94255" y="4073607"/>
            <a:ext cx="2620207" cy="176045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660" y="7172407"/>
            <a:ext cx="11864975" cy="6972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 marR="30480">
              <a:lnSpc>
                <a:spcPts val="2580"/>
              </a:lnSpc>
              <a:spcBef>
                <a:spcPts val="290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45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</a:t>
            </a:r>
            <a:r>
              <a:rPr sz="2250" spc="7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credits:</a:t>
            </a:r>
            <a:r>
              <a:rPr sz="2250" spc="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  <a:hlinkClick r:id="rId6"/>
              </a:rPr>
              <a:t>https://unsplash.com/@jesusance;</a:t>
            </a:r>
            <a:r>
              <a:rPr sz="2250" spc="7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05182C"/>
                </a:solidFill>
                <a:latin typeface="Tahoma"/>
                <a:cs typeface="Tahoma"/>
                <a:hlinkClick r:id="rId7"/>
              </a:rPr>
              <a:t>https://unsplash.com/@andretaissin;</a:t>
            </a:r>
            <a:r>
              <a:rPr sz="2250" spc="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  <a:hlinkClick r:id="rId8"/>
              </a:rPr>
              <a:t>https://unsplash.com/@unarchive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9223457-E63A-26C1-5324-DCCBC21E44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616394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What</a:t>
            </a:r>
            <a:r>
              <a:rPr spc="-165" dirty="0"/>
              <a:t> </a:t>
            </a:r>
            <a:r>
              <a:rPr spc="-25" dirty="0"/>
              <a:t>can</a:t>
            </a:r>
            <a:r>
              <a:rPr spc="-195" dirty="0"/>
              <a:t> </a:t>
            </a:r>
            <a:r>
              <a:rPr spc="-229" dirty="0"/>
              <a:t>statistics</a:t>
            </a:r>
            <a:r>
              <a:rPr spc="-165" dirty="0"/>
              <a:t> </a:t>
            </a:r>
            <a:r>
              <a:rPr spc="-70" dirty="0"/>
              <a:t>do?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1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3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076325"/>
            <a:ext cx="12037094" cy="16627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4907280" indent="-368935">
              <a:lnSpc>
                <a:spcPct val="126400"/>
              </a:lnSpc>
              <a:spcBef>
                <a:spcPts val="95"/>
              </a:spcBef>
            </a:pP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Allows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us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answer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5182C"/>
                </a:solidFill>
                <a:latin typeface="Tahoma"/>
                <a:cs typeface="Tahoma"/>
              </a:rPr>
              <a:t>practical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35" dirty="0">
                <a:solidFill>
                  <a:srgbClr val="05182C"/>
                </a:solidFill>
                <a:latin typeface="Tahoma"/>
                <a:cs typeface="Tahoma"/>
              </a:rPr>
              <a:t>questions: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What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average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salary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0">
                <a:solidFill>
                  <a:srgbClr val="05182C"/>
                </a:solidFill>
                <a:latin typeface="Tahoma"/>
                <a:cs typeface="Tahoma"/>
              </a:rPr>
              <a:t>in</a:t>
            </a:r>
            <a:r>
              <a:rPr sz="2550" spc="-4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lang="en-US" altLang="ko-KR" sz="2550" spc="-40">
                <a:solidFill>
                  <a:srgbClr val="05182C"/>
                </a:solidFill>
                <a:latin typeface="Tahoma"/>
                <a:cs typeface="Tahoma"/>
              </a:rPr>
              <a:t>South Korea</a:t>
            </a:r>
            <a:r>
              <a:rPr sz="2550" spc="65">
                <a:solidFill>
                  <a:srgbClr val="05182C"/>
                </a:solidFill>
                <a:latin typeface="Tahoma"/>
                <a:cs typeface="Tahoma"/>
              </a:rPr>
              <a:t>?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How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5182C"/>
                </a:solidFill>
                <a:latin typeface="Tahoma"/>
                <a:cs typeface="Tahoma"/>
              </a:rPr>
              <a:t>many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customer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inquiries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5182C"/>
                </a:solidFill>
                <a:latin typeface="Tahoma"/>
                <a:cs typeface="Tahoma"/>
              </a:rPr>
              <a:t>company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likely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receive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per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week?</a:t>
            </a:r>
            <a:endParaRPr sz="255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3971257"/>
            <a:ext cx="102351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4452311"/>
            <a:ext cx="122822" cy="1228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9991" y="5107363"/>
            <a:ext cx="122822" cy="1228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7056" y="3696536"/>
            <a:ext cx="9074785" cy="166306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It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has</a:t>
            </a:r>
            <a:r>
              <a:rPr sz="2550" spc="-6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applications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across</a:t>
            </a:r>
            <a:r>
              <a:rPr sz="2550" spc="-6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society: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Developing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safer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products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such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5182C"/>
                </a:solidFill>
                <a:latin typeface="Tahoma"/>
                <a:cs typeface="Tahoma"/>
              </a:rPr>
              <a:t>as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cars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or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airplanes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Help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governments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understand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needs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population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1759" y="6591467"/>
            <a:ext cx="102351" cy="10235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2960" y="6415004"/>
            <a:ext cx="10175240" cy="1454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676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Validates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scientific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breakthroughs,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such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5182C"/>
                </a:solidFill>
                <a:latin typeface="Tahoma"/>
                <a:cs typeface="Tahoma"/>
              </a:rPr>
              <a:t>as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Covid-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19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vaccines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85"/>
              </a:spcBef>
            </a:pPr>
            <a:endParaRPr sz="25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277" baseline="26143" dirty="0">
                <a:solidFill>
                  <a:srgbClr val="05182C"/>
                </a:solidFill>
                <a:latin typeface="Tahoma"/>
                <a:cs typeface="Tahoma"/>
              </a:rPr>
              <a:t> 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source:</a:t>
            </a:r>
            <a:r>
              <a:rPr sz="2250" spc="30" dirty="0">
                <a:solidFill>
                  <a:srgbClr val="05182C"/>
                </a:solidFill>
                <a:latin typeface="Tahoma"/>
                <a:cs typeface="Tahoma"/>
              </a:rPr>
              <a:t>  </a:t>
            </a:r>
            <a:r>
              <a:rPr sz="2250" spc="-10" dirty="0">
                <a:solidFill>
                  <a:srgbClr val="05182C"/>
                </a:solidFill>
                <a:latin typeface="Tahoma"/>
                <a:cs typeface="Tahoma"/>
              </a:rPr>
              <a:t>ht</a:t>
            </a:r>
            <a:r>
              <a:rPr sz="2250" spc="-10" dirty="0">
                <a:solidFill>
                  <a:srgbClr val="05182C"/>
                </a:solidFill>
                <a:latin typeface="Tahoma"/>
                <a:cs typeface="Tahoma"/>
                <a:hlinkClick r:id="rId9"/>
              </a:rPr>
              <a:t>tps://www.bmj.com/content/373/bmj.n1088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173C6F1-0575-E1BD-25FA-25A2128815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Limitations</a:t>
            </a:r>
            <a:r>
              <a:rPr spc="-165" dirty="0"/>
              <a:t> </a:t>
            </a:r>
            <a:r>
              <a:rPr spc="-90" dirty="0"/>
              <a:t>of</a:t>
            </a:r>
            <a:r>
              <a:rPr spc="-225" dirty="0"/>
              <a:t> </a:t>
            </a:r>
            <a:r>
              <a:rPr spc="-190" dirty="0"/>
              <a:t>statistics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3"/>
            <a:ext cx="102351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323387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978440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076322"/>
            <a:ext cx="6452235" cy="379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46405">
              <a:lnSpc>
                <a:spcPct val="126400"/>
              </a:lnSpc>
              <a:spcBef>
                <a:spcPts val="95"/>
              </a:spcBef>
            </a:pP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requires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specific,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measurable </a:t>
            </a:r>
            <a:r>
              <a:rPr sz="2550" spc="35" dirty="0">
                <a:solidFill>
                  <a:srgbClr val="05182C"/>
                </a:solidFill>
                <a:latin typeface="Tahoma"/>
                <a:cs typeface="Tahoma"/>
              </a:rPr>
              <a:t>questions: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05"/>
              </a:spcBef>
            </a:pPr>
            <a:r>
              <a:rPr sz="2550" spc="-85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rock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music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more</a:t>
            </a:r>
            <a:r>
              <a:rPr sz="2550" spc="-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popular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than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jazz?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  <a:spcBef>
                <a:spcPts val="1290"/>
              </a:spcBef>
            </a:pPr>
            <a:r>
              <a:rPr sz="2550" spc="175" dirty="0">
                <a:solidFill>
                  <a:srgbClr val="05182C"/>
                </a:solidFill>
                <a:latin typeface="Tahoma"/>
                <a:cs typeface="Tahoma"/>
              </a:rPr>
              <a:t>On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average,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do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women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live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longer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than </a:t>
            </a: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men?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We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can't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use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statistics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find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out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b="1" i="1" spc="-25" dirty="0">
                <a:solidFill>
                  <a:srgbClr val="05182C"/>
                </a:solidFill>
                <a:latin typeface="Tahoma"/>
                <a:cs typeface="Tahoma"/>
              </a:rPr>
              <a:t>why</a:t>
            </a:r>
            <a:endParaRPr sz="2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relationships</a:t>
            </a:r>
            <a:r>
              <a:rPr sz="2550" spc="-1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exist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4135017"/>
            <a:ext cx="102351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42512" y="1166810"/>
            <a:ext cx="7123690" cy="47491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660" y="7499932"/>
            <a:ext cx="76346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37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credit: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05182C"/>
                </a:solidFill>
                <a:latin typeface="Tahoma"/>
                <a:cs typeface="Tahoma"/>
                <a:hlinkClick r:id="rId7"/>
              </a:rPr>
              <a:t>https://unsplash.com/@mohammadmetri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82FA5A2-EF7D-A8B4-3815-ED199F3542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1289" y="2313155"/>
          <a:ext cx="7103109" cy="302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9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6700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b="1" spc="-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Opening</a:t>
                      </a:r>
                      <a:r>
                        <a:rPr sz="2550" b="1" spc="-1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Price </a:t>
                      </a:r>
                      <a:r>
                        <a:rPr sz="2550" b="1" spc="-2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($)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282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Close</a:t>
                      </a:r>
                      <a:r>
                        <a:rPr sz="2550" b="1" spc="-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Price</a:t>
                      </a:r>
                      <a:endParaRPr sz="2550">
                        <a:latin typeface="Tahoma"/>
                        <a:cs typeface="Tahoma"/>
                      </a:endParaRPr>
                    </a:p>
                    <a:p>
                      <a:pPr marL="132715">
                        <a:lnSpc>
                          <a:spcPts val="2820"/>
                        </a:lnSpc>
                      </a:pPr>
                      <a:r>
                        <a:rPr sz="2550" b="1" spc="-58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{$}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 marR="21082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Amazon.com, </a:t>
                      </a: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Inc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2328.14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2329.00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Apple</a:t>
                      </a:r>
                      <a:r>
                        <a:rPr sz="2550" spc="-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Inc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156.77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157.04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Netflix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Inc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188.32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188.75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1"/>
            <a:ext cx="122822" cy="122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6085205" cy="218313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15" dirty="0"/>
              <a:t>Types</a:t>
            </a:r>
            <a:r>
              <a:rPr spc="-165" dirty="0"/>
              <a:t> </a:t>
            </a:r>
            <a:r>
              <a:rPr spc="-90" dirty="0"/>
              <a:t>of</a:t>
            </a:r>
            <a:r>
              <a:rPr spc="-165" dirty="0"/>
              <a:t> </a:t>
            </a:r>
            <a:r>
              <a:rPr spc="-210" dirty="0"/>
              <a:t>data:</a:t>
            </a:r>
            <a:r>
              <a:rPr spc="-160" dirty="0"/>
              <a:t> </a:t>
            </a:r>
            <a:r>
              <a:rPr spc="-180" dirty="0"/>
              <a:t>numeric</a:t>
            </a:r>
          </a:p>
          <a:p>
            <a:pPr marL="749300" marR="3068320" indent="-368935">
              <a:lnSpc>
                <a:spcPct val="126400"/>
              </a:lnSpc>
              <a:spcBef>
                <a:spcPts val="900"/>
              </a:spcBef>
            </a:pPr>
            <a:r>
              <a:rPr sz="2550" b="0" spc="100" dirty="0">
                <a:latin typeface="Tahoma"/>
                <a:cs typeface="Tahoma"/>
              </a:rPr>
              <a:t>Continuous</a:t>
            </a:r>
            <a:r>
              <a:rPr sz="2550" b="0" spc="-50" dirty="0">
                <a:latin typeface="Tahoma"/>
                <a:cs typeface="Tahoma"/>
              </a:rPr>
              <a:t> </a:t>
            </a:r>
            <a:r>
              <a:rPr sz="2550" b="0" spc="60" dirty="0">
                <a:latin typeface="Tahoma"/>
                <a:cs typeface="Tahoma"/>
              </a:rPr>
              <a:t>data: </a:t>
            </a:r>
            <a:r>
              <a:rPr sz="2550" b="0" spc="105" dirty="0">
                <a:latin typeface="Tahoma"/>
                <a:cs typeface="Tahoma"/>
              </a:rPr>
              <a:t>Stock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00" dirty="0">
                <a:latin typeface="Tahoma"/>
                <a:cs typeface="Tahoma"/>
              </a:rPr>
              <a:t>prices</a:t>
            </a:r>
            <a:endParaRPr sz="255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942512" y="2804444"/>
          <a:ext cx="5322569" cy="2372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3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Cups</a:t>
                      </a:r>
                      <a:r>
                        <a:rPr sz="2550" b="1" spc="-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coffee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day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Jessica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Andrew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Penny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1351046"/>
            <a:ext cx="102351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1214" y="1832101"/>
            <a:ext cx="122822" cy="1228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98279" y="1076325"/>
            <a:ext cx="5979795" cy="14998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Interval/count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data: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How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5182C"/>
                </a:solidFill>
                <a:latin typeface="Tahoma"/>
                <a:cs typeface="Tahoma"/>
              </a:rPr>
              <a:t>many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cups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5182C"/>
                </a:solidFill>
                <a:latin typeface="Tahoma"/>
                <a:cs typeface="Tahoma"/>
              </a:rPr>
              <a:t>coffee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do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people </a:t>
            </a: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drink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per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5182C"/>
                </a:solidFill>
                <a:latin typeface="Tahoma"/>
                <a:cs typeface="Tahoma"/>
              </a:rPr>
              <a:t>day?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660" y="7499935"/>
            <a:ext cx="80613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30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</a:t>
            </a:r>
            <a:r>
              <a:rPr sz="2250" spc="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credits: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05182C"/>
                </a:solidFill>
                <a:latin typeface="Tahoma"/>
                <a:cs typeface="Tahoma"/>
              </a:rPr>
              <a:t>Stocks</a:t>
            </a:r>
            <a:r>
              <a:rPr sz="2250" spc="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  <a:hlinkClick r:id="rId6"/>
              </a:rPr>
              <a:t>https://unsplash.com/@behy_studio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3A879E9B-5F1E-3B9F-9A2B-0146EB76FA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649795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5" dirty="0"/>
              <a:t>Visualizing</a:t>
            </a:r>
            <a:r>
              <a:rPr spc="-95" dirty="0"/>
              <a:t> </a:t>
            </a:r>
            <a:r>
              <a:rPr spc="-235" dirty="0"/>
              <a:t>numeric</a:t>
            </a:r>
            <a:r>
              <a:rPr spc="-9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9665" y="1268190"/>
            <a:ext cx="8532771" cy="5879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60" y="7499935"/>
            <a:ext cx="79806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15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r>
              <a:rPr sz="2250" spc="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source:</a:t>
            </a:r>
            <a:r>
              <a:rPr sz="2250" spc="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05182C"/>
                </a:solidFill>
                <a:latin typeface="Tahoma"/>
                <a:cs typeface="Tahoma"/>
              </a:rPr>
              <a:t>Metropolitan</a:t>
            </a:r>
            <a:r>
              <a:rPr sz="2250" spc="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05182C"/>
                </a:solidFill>
                <a:latin typeface="Tahoma"/>
                <a:cs typeface="Tahoma"/>
              </a:rPr>
              <a:t>Police</a:t>
            </a:r>
            <a:r>
              <a:rPr sz="2250" spc="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Service,</a:t>
            </a:r>
            <a:r>
              <a:rPr sz="2250" spc="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05182C"/>
                </a:solidFill>
                <a:latin typeface="Tahoma"/>
                <a:cs typeface="Tahoma"/>
              </a:rPr>
              <a:t>United</a:t>
            </a:r>
            <a:r>
              <a:rPr sz="2250" spc="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05182C"/>
                </a:solidFill>
                <a:latin typeface="Tahoma"/>
                <a:cs typeface="Tahoma"/>
              </a:rPr>
              <a:t>Kingdom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469F073-6C30-976F-2FD1-B2E9481A72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1289" y="2313155"/>
          <a:ext cx="3152140" cy="2372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Eye</a:t>
                      </a:r>
                      <a:r>
                        <a:rPr sz="2550" b="1" spc="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color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Jessica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Brown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Adam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14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Green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Sarah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Blue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1"/>
            <a:ext cx="122822" cy="122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6943725" cy="218313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15" dirty="0"/>
              <a:t>Types</a:t>
            </a:r>
            <a:r>
              <a:rPr spc="-165" dirty="0"/>
              <a:t> </a:t>
            </a:r>
            <a:r>
              <a:rPr spc="-90" dirty="0"/>
              <a:t>of</a:t>
            </a:r>
            <a:r>
              <a:rPr spc="-165" dirty="0"/>
              <a:t> </a:t>
            </a:r>
            <a:r>
              <a:rPr spc="-210" dirty="0"/>
              <a:t>data:</a:t>
            </a:r>
            <a:r>
              <a:rPr spc="-160" dirty="0"/>
              <a:t> </a:t>
            </a:r>
            <a:r>
              <a:rPr spc="-100" dirty="0"/>
              <a:t>categorical</a:t>
            </a:r>
          </a:p>
          <a:p>
            <a:pPr marL="749300" marR="4387850" indent="-368935">
              <a:lnSpc>
                <a:spcPct val="126400"/>
              </a:lnSpc>
              <a:spcBef>
                <a:spcPts val="900"/>
              </a:spcBef>
            </a:pPr>
            <a:r>
              <a:rPr sz="2550" b="0" spc="120" dirty="0">
                <a:latin typeface="Tahoma"/>
                <a:cs typeface="Tahoma"/>
              </a:rPr>
              <a:t>Nominal</a:t>
            </a:r>
            <a:r>
              <a:rPr sz="2550" b="0" spc="-50" dirty="0">
                <a:latin typeface="Tahoma"/>
                <a:cs typeface="Tahoma"/>
              </a:rPr>
              <a:t> </a:t>
            </a:r>
            <a:r>
              <a:rPr sz="2550" b="0" spc="60" dirty="0">
                <a:latin typeface="Tahoma"/>
                <a:cs typeface="Tahoma"/>
              </a:rPr>
              <a:t>data: </a:t>
            </a:r>
            <a:r>
              <a:rPr sz="2550" b="0" spc="155" dirty="0">
                <a:latin typeface="Tahoma"/>
                <a:cs typeface="Tahoma"/>
              </a:rPr>
              <a:t>Eye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80" dirty="0">
                <a:latin typeface="Tahoma"/>
                <a:cs typeface="Tahoma"/>
              </a:rPr>
              <a:t>color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1351046"/>
            <a:ext cx="102351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1214" y="1832101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98279" y="1076325"/>
            <a:ext cx="5272405" cy="14998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Ordinal</a:t>
            </a:r>
            <a:r>
              <a:rPr sz="2550" spc="-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data: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How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strongly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do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you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agree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that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basketball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best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sport?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39203" y="2804444"/>
            <a:ext cx="3866718" cy="27430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5660" y="7499935"/>
            <a:ext cx="709930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22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credit: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05182C"/>
                </a:solidFill>
                <a:latin typeface="Tahoma"/>
                <a:cs typeface="Tahoma"/>
                <a:hlinkClick r:id="rId7"/>
              </a:rPr>
              <a:t>https://unsplash.com/@mango_quan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7918863A-0DFB-7BE6-C167-E906B6349A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5" dirty="0"/>
              <a:t>Visualizing</a:t>
            </a:r>
            <a:r>
              <a:rPr spc="-110" dirty="0"/>
              <a:t> </a:t>
            </a:r>
            <a:r>
              <a:rPr spc="-135" dirty="0"/>
              <a:t>categorical</a:t>
            </a:r>
            <a:r>
              <a:rPr spc="-11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1371" y="1268246"/>
            <a:ext cx="9216770" cy="642861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D9EA35-8513-EE15-266F-6271784D57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Descriptive</a:t>
            </a:r>
            <a:r>
              <a:rPr spc="-110" dirty="0"/>
              <a:t> </a:t>
            </a:r>
            <a:r>
              <a:rPr spc="-340" dirty="0"/>
              <a:t>/</a:t>
            </a:r>
            <a:r>
              <a:rPr spc="-110" dirty="0"/>
              <a:t> </a:t>
            </a:r>
            <a:r>
              <a:rPr spc="-225" dirty="0"/>
              <a:t>Summary</a:t>
            </a:r>
            <a:r>
              <a:rPr spc="-110" dirty="0"/>
              <a:t> </a:t>
            </a:r>
            <a:r>
              <a:rPr spc="-180" dirty="0"/>
              <a:t>statistics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821859"/>
          <a:ext cx="851471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Number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b="1" spc="-8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Percentage</a:t>
                      </a:r>
                      <a:r>
                        <a:rPr sz="2550" b="1" spc="-1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b="1" spc="-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Westminster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40,278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8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36.48%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Camden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18,928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17.15%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Southwark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17,309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15.68%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Hackney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3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17,121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15.51%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Newham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16,762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15.18%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0"/>
            <a:ext cx="102351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164498"/>
            <a:ext cx="437007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i="1" spc="80" dirty="0">
                <a:solidFill>
                  <a:srgbClr val="05182C"/>
                </a:solidFill>
                <a:latin typeface="Tahoma"/>
                <a:cs typeface="Tahoma"/>
              </a:rPr>
              <a:t>Describe</a:t>
            </a:r>
            <a:r>
              <a:rPr sz="2650" i="1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or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spc="55" dirty="0">
                <a:solidFill>
                  <a:srgbClr val="05182C"/>
                </a:solidFill>
                <a:latin typeface="Tahoma"/>
                <a:cs typeface="Tahoma"/>
              </a:rPr>
              <a:t>summarize</a:t>
            </a:r>
            <a:r>
              <a:rPr sz="2650" i="1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8B59EA-6159-8949-7EFF-B9886CDBF8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30" dirty="0"/>
              <a:t>Inferential</a:t>
            </a:r>
            <a:r>
              <a:rPr spc="-114" dirty="0"/>
              <a:t> </a:t>
            </a:r>
            <a:r>
              <a:rPr spc="-195" dirty="0"/>
              <a:t>statistics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64503"/>
            <a:ext cx="11129645" cy="1083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Use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sample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spc="75" dirty="0">
                <a:solidFill>
                  <a:srgbClr val="05182C"/>
                </a:solidFill>
                <a:latin typeface="Tahoma"/>
                <a:cs typeface="Tahoma"/>
              </a:rPr>
              <a:t>draw</a:t>
            </a:r>
            <a:r>
              <a:rPr sz="2650" i="1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spc="55" dirty="0">
                <a:solidFill>
                  <a:srgbClr val="05182C"/>
                </a:solidFill>
                <a:latin typeface="Tahoma"/>
                <a:cs typeface="Tahoma"/>
              </a:rPr>
              <a:t>conclusions</a:t>
            </a:r>
            <a:r>
              <a:rPr sz="2650" i="1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about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population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How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5182C"/>
                </a:solidFill>
                <a:latin typeface="Tahoma"/>
                <a:cs typeface="Tahoma"/>
              </a:rPr>
              <a:t>many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people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purchase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clothing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following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social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media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advertising?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9"/>
            <a:ext cx="102351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3486" y="3295734"/>
            <a:ext cx="6550525" cy="40736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660" y="7499935"/>
            <a:ext cx="59670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45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source:</a:t>
            </a:r>
            <a:r>
              <a:rPr sz="2250" spc="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05182C"/>
                </a:solidFill>
                <a:latin typeface="Tahoma"/>
                <a:cs typeface="Tahoma"/>
                <a:hlinkClick r:id="rId5"/>
              </a:rPr>
              <a:t>https://unsplash.com/@pickawood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62798ED-AD94-B7F1-7AB2-F52795B792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4285" y="2236119"/>
            <a:ext cx="718947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315" dirty="0"/>
              <a:t>Measures </a:t>
            </a:r>
            <a:r>
              <a:rPr sz="6450" spc="-200" dirty="0"/>
              <a:t>of</a:t>
            </a:r>
            <a:r>
              <a:rPr sz="6450" spc="-315" dirty="0"/>
              <a:t> </a:t>
            </a:r>
            <a:r>
              <a:rPr sz="6450" spc="-345" dirty="0"/>
              <a:t>center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69"/>
              </a:spcBef>
              <a:tabLst>
                <a:tab pos="2806700" algn="l"/>
                <a:tab pos="3401060" algn="l"/>
              </a:tabLst>
            </a:pP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90" dirty="0"/>
              <a:t>TO</a:t>
            </a:r>
            <a:r>
              <a:rPr sz="2250" dirty="0"/>
              <a:t>	</a:t>
            </a:r>
            <a:r>
              <a:rPr sz="2250" spc="80" dirty="0"/>
              <a:t>STAT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dirty="0"/>
              <a:t>ST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5"/>
            <a:ext cx="443103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E720B3E-18E0-5C6D-71B4-882A7B07CB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Why</a:t>
            </a:r>
            <a:r>
              <a:rPr spc="-165" dirty="0"/>
              <a:t> </a:t>
            </a:r>
            <a:r>
              <a:rPr spc="-135" dirty="0"/>
              <a:t>are</a:t>
            </a:r>
            <a:r>
              <a:rPr spc="-160" dirty="0"/>
              <a:t> </a:t>
            </a:r>
            <a:r>
              <a:rPr spc="-23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spc="-210" dirty="0"/>
              <a:t>center</a:t>
            </a:r>
            <a:r>
              <a:rPr spc="-160" dirty="0"/>
              <a:t> </a:t>
            </a:r>
            <a:r>
              <a:rPr spc="-180" dirty="0"/>
              <a:t>useful?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4"/>
            <a:ext cx="6582409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Average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number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sales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orders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per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month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643730"/>
            <a:ext cx="102351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3467268"/>
            <a:ext cx="35814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Typical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cost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house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36414"/>
            <a:ext cx="102351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5759951"/>
            <a:ext cx="3761104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45" dirty="0">
                <a:solidFill>
                  <a:srgbClr val="05182C"/>
                </a:solidFill>
                <a:latin typeface="Tahoma"/>
                <a:cs typeface="Tahoma"/>
              </a:rPr>
              <a:t>Most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5182C"/>
                </a:solidFill>
                <a:latin typeface="Tahoma"/>
                <a:cs typeface="Tahoma"/>
              </a:rPr>
              <a:t>common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hair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5182C"/>
                </a:solidFill>
                <a:latin typeface="Tahoma"/>
                <a:cs typeface="Tahoma"/>
              </a:rPr>
              <a:t>color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5667" y="1166813"/>
            <a:ext cx="2497377" cy="18628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55667" y="3357145"/>
            <a:ext cx="2497377" cy="16785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55667" y="5363243"/>
            <a:ext cx="2497377" cy="20060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660" y="7499935"/>
            <a:ext cx="1199642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67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</a:t>
            </a:r>
            <a:r>
              <a:rPr sz="2250" spc="8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credits:</a:t>
            </a:r>
            <a:r>
              <a:rPr sz="2250" spc="9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05182C"/>
                </a:solidFill>
                <a:latin typeface="Tahoma"/>
                <a:cs typeface="Tahoma"/>
                <a:hlinkClick r:id="rId8"/>
              </a:rPr>
              <a:t>https://unsplash.com/@arnosenoner;</a:t>
            </a:r>
            <a:r>
              <a:rPr sz="2250" spc="8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05182C"/>
                </a:solidFill>
                <a:latin typeface="Tahoma"/>
                <a:cs typeface="Tahoma"/>
                <a:hlinkClick r:id="rId9"/>
              </a:rPr>
              <a:t>https://unsplash.com/@brenoassis;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4AFD1F7-2233-BD1C-0C24-29BC0ABFEA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302514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Crime</a:t>
            </a:r>
            <a:r>
              <a:rPr spc="-215" dirty="0"/>
              <a:t> </a:t>
            </a:r>
            <a:r>
              <a:rPr spc="-85" dirty="0"/>
              <a:t>data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3"/>
          <a:ext cx="11953875" cy="4151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Robbery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Vehicle</a:t>
                      </a:r>
                      <a:r>
                        <a:rPr sz="2550" b="1" spc="-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Barking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Dagenham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2318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1265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6300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4668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14551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Barnet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5067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1369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9875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9841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26152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Bexley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1583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444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4500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4216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10743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Brent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3893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1650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10026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7739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23308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Bromley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3053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844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8635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6966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19498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4D8E0E-F5B8-17D6-8B30-2C9F9E21C7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866" y="274099"/>
            <a:ext cx="302514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Crime</a:t>
            </a:r>
            <a:r>
              <a:rPr spc="-215" dirty="0"/>
              <a:t> </a:t>
            </a:r>
            <a:r>
              <a:rPr spc="-85" dirty="0"/>
              <a:t>data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2"/>
          <a:ext cx="11953875" cy="4151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Robbery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Vehicle</a:t>
                      </a:r>
                      <a:r>
                        <a:rPr sz="2550" b="1" spc="-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Barking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Dagenham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2318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1265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6300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4668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14551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Barnet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5067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1369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9875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9841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26152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Bexley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1583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444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4500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4216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10743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Brent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3893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1650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10026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7739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23308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Bromley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3053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844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8635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6966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19498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1ACBAD-9734-DD5D-658D-9B626E3C96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Histograms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9665" y="1268179"/>
            <a:ext cx="8532771" cy="587986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F797F2-803D-FE2C-E831-1E2984AC79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What</a:t>
            </a:r>
            <a:r>
              <a:rPr spc="-155" dirty="0"/>
              <a:t> </a:t>
            </a:r>
            <a:r>
              <a:rPr spc="-245" dirty="0"/>
              <a:t>is</a:t>
            </a:r>
            <a:r>
              <a:rPr spc="-155" dirty="0"/>
              <a:t> </a:t>
            </a:r>
            <a:r>
              <a:rPr spc="-229" dirty="0"/>
              <a:t>the</a:t>
            </a:r>
            <a:r>
              <a:rPr spc="-150" dirty="0"/>
              <a:t> </a:t>
            </a:r>
            <a:r>
              <a:rPr spc="-125" dirty="0"/>
              <a:t>typical</a:t>
            </a:r>
            <a:r>
              <a:rPr spc="-155" dirty="0"/>
              <a:t> </a:t>
            </a:r>
            <a:r>
              <a:rPr spc="-250" dirty="0"/>
              <a:t>amount</a:t>
            </a:r>
            <a:r>
              <a:rPr spc="-15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10" dirty="0"/>
              <a:t>vehicle</a:t>
            </a:r>
            <a:r>
              <a:rPr spc="-150" dirty="0"/>
              <a:t> </a:t>
            </a:r>
            <a:r>
              <a:rPr spc="-160" dirty="0"/>
              <a:t>crime</a:t>
            </a:r>
            <a:r>
              <a:rPr spc="-155" dirty="0"/>
              <a:t> </a:t>
            </a:r>
            <a:r>
              <a:rPr spc="-265" dirty="0"/>
              <a:t>in</a:t>
            </a:r>
            <a:r>
              <a:rPr spc="-150" dirty="0"/>
              <a:t> </a:t>
            </a:r>
            <a:r>
              <a:rPr spc="-295" dirty="0"/>
              <a:t>London?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50"/>
            <a:ext cx="102351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03"/>
            <a:ext cx="102351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55"/>
            <a:ext cx="102351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8589" y="1174572"/>
            <a:ext cx="5050155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00" dirty="0">
                <a:solidFill>
                  <a:srgbClr val="05182C"/>
                </a:solidFill>
                <a:latin typeface="Tahoma"/>
                <a:cs typeface="Tahoma"/>
              </a:rPr>
              <a:t>Where</a:t>
            </a:r>
            <a:r>
              <a:rPr sz="2550" b="1" spc="-9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b="1" spc="-1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40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b="1" spc="-1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45" dirty="0">
                <a:solidFill>
                  <a:srgbClr val="05182C"/>
                </a:solidFill>
                <a:latin typeface="Tahoma"/>
                <a:cs typeface="Tahoma"/>
              </a:rPr>
              <a:t>center</a:t>
            </a:r>
            <a:r>
              <a:rPr sz="2550" b="1" spc="-1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b="1" spc="-1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40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b="1" spc="-114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5182C"/>
                </a:solidFill>
                <a:latin typeface="Tahoma"/>
                <a:cs typeface="Tahoma"/>
              </a:rPr>
              <a:t>data?</a:t>
            </a:r>
            <a:endParaRPr sz="2550">
              <a:latin typeface="Tahoma"/>
              <a:cs typeface="Tahoma"/>
            </a:endParaRPr>
          </a:p>
          <a:p>
            <a:pPr marL="381000" marR="3507104">
              <a:lnSpc>
                <a:spcPct val="168600"/>
              </a:lnSpc>
              <a:spcBef>
                <a:spcPts val="1290"/>
              </a:spcBef>
            </a:pPr>
            <a:r>
              <a:rPr sz="2550" spc="170" dirty="0">
                <a:solidFill>
                  <a:srgbClr val="05182C"/>
                </a:solidFill>
                <a:latin typeface="Tahoma"/>
                <a:cs typeface="Tahoma"/>
              </a:rPr>
              <a:t>Mean </a:t>
            </a:r>
            <a:r>
              <a:rPr sz="2550" spc="150" dirty="0">
                <a:solidFill>
                  <a:srgbClr val="05182C"/>
                </a:solidFill>
                <a:latin typeface="Tahoma"/>
                <a:cs typeface="Tahoma"/>
              </a:rPr>
              <a:t>Median </a:t>
            </a:r>
            <a:r>
              <a:rPr sz="2550" spc="160" dirty="0">
                <a:solidFill>
                  <a:srgbClr val="05182C"/>
                </a:solidFill>
                <a:latin typeface="Tahoma"/>
                <a:cs typeface="Tahoma"/>
              </a:rPr>
              <a:t>Mode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3737" y="1268219"/>
            <a:ext cx="6984512" cy="4766573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23BB8C1-2A7F-F163-E0AC-31231BE7E7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4"/>
            <a:ext cx="690435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95" dirty="0"/>
              <a:t>mean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4029" y="2129310"/>
            <a:ext cx="142367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mean</a:t>
            </a:r>
            <a:r>
              <a:rPr sz="3100" i="1" spc="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spc="48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endParaRPr sz="3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216889"/>
            <a:ext cx="102351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4040427"/>
            <a:ext cx="578802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90" dirty="0">
                <a:solidFill>
                  <a:srgbClr val="05182C"/>
                </a:solidFill>
                <a:latin typeface="Tahoma"/>
                <a:cs typeface="Tahoma"/>
              </a:rPr>
              <a:t>Mean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burglaries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per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5182C"/>
                </a:solidFill>
                <a:latin typeface="Tahoma"/>
                <a:cs typeface="Tahoma"/>
              </a:rPr>
              <a:t>London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5182C"/>
                </a:solidFill>
                <a:latin typeface="Tahoma"/>
                <a:cs typeface="Tahoma"/>
              </a:rPr>
              <a:t>borough: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7519" y="4831401"/>
            <a:ext cx="348297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spc="65" dirty="0">
                <a:solidFill>
                  <a:srgbClr val="05182C"/>
                </a:solidFill>
                <a:latin typeface="Georgia"/>
                <a:cs typeface="Georgia"/>
              </a:rPr>
              <a:t>Mean</a:t>
            </a:r>
            <a:r>
              <a:rPr sz="3100" spc="65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spc="65" dirty="0">
                <a:solidFill>
                  <a:srgbClr val="05182C"/>
                </a:solidFill>
                <a:latin typeface="Georgia"/>
                <a:cs typeface="Georgia"/>
              </a:rPr>
              <a:t>Burglary</a:t>
            </a:r>
            <a:r>
              <a:rPr sz="3100" spc="65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1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49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29140" y="4831401"/>
            <a:ext cx="241427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9590" algn="l"/>
              </a:tabLst>
            </a:pPr>
            <a:r>
              <a:rPr sz="3100" spc="49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3,</a:t>
            </a:r>
            <a:r>
              <a:rPr sz="3100" spc="-17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10" dirty="0">
                <a:solidFill>
                  <a:srgbClr val="05182C"/>
                </a:solidFill>
                <a:latin typeface="Book Antiqua"/>
                <a:cs typeface="Book Antiqua"/>
              </a:rPr>
              <a:t>462.8125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1394" y="2395428"/>
            <a:ext cx="346138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spc="70" dirty="0">
                <a:solidFill>
                  <a:srgbClr val="05182C"/>
                </a:solidFill>
                <a:latin typeface="Georgia"/>
                <a:cs typeface="Georgia"/>
              </a:rPr>
              <a:t>Count</a:t>
            </a:r>
            <a:r>
              <a:rPr sz="3100" i="1" spc="3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180" dirty="0">
                <a:solidFill>
                  <a:srgbClr val="05182C"/>
                </a:solidFill>
                <a:latin typeface="Georgia"/>
                <a:cs typeface="Georgia"/>
              </a:rPr>
              <a:t>of</a:t>
            </a:r>
            <a:r>
              <a:rPr sz="3100" i="1" spc="37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all</a:t>
            </a:r>
            <a:r>
              <a:rPr sz="3100" i="1" spc="9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-10" dirty="0">
                <a:solidFill>
                  <a:srgbClr val="05182C"/>
                </a:solidFill>
                <a:latin typeface="Georgia"/>
                <a:cs typeface="Georgia"/>
              </a:rPr>
              <a:t>values</a:t>
            </a:r>
            <a:endParaRPr sz="3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16636" y="2415501"/>
            <a:ext cx="3439160" cy="20955"/>
          </a:xfrm>
          <a:custGeom>
            <a:avLst/>
            <a:gdLst/>
            <a:ahLst/>
            <a:cxnLst/>
            <a:rect l="l" t="t" r="r" b="b"/>
            <a:pathLst>
              <a:path w="3439159" h="20955">
                <a:moveTo>
                  <a:pt x="3439020" y="0"/>
                </a:moveTo>
                <a:lnTo>
                  <a:pt x="0" y="0"/>
                </a:lnTo>
                <a:lnTo>
                  <a:pt x="0" y="20472"/>
                </a:lnTo>
                <a:lnTo>
                  <a:pt x="3439020" y="20472"/>
                </a:lnTo>
                <a:lnTo>
                  <a:pt x="3439020" y="0"/>
                </a:lnTo>
                <a:close/>
              </a:path>
            </a:pathLst>
          </a:custGeom>
          <a:solidFill>
            <a:srgbClr val="05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36678" y="1842726"/>
            <a:ext cx="319024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spc="105" dirty="0">
                <a:solidFill>
                  <a:srgbClr val="05182C"/>
                </a:solidFill>
                <a:latin typeface="Georgia"/>
                <a:cs typeface="Georgia"/>
              </a:rPr>
              <a:t>Sum</a:t>
            </a:r>
            <a:r>
              <a:rPr sz="3100" i="1" spc="3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180" dirty="0">
                <a:solidFill>
                  <a:srgbClr val="05182C"/>
                </a:solidFill>
                <a:latin typeface="Georgia"/>
                <a:cs typeface="Georgia"/>
              </a:rPr>
              <a:t>of</a:t>
            </a:r>
            <a:r>
              <a:rPr sz="3100" i="1" spc="37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all</a:t>
            </a:r>
            <a:r>
              <a:rPr sz="3100" i="1" spc="9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-10" dirty="0">
                <a:solidFill>
                  <a:srgbClr val="05182C"/>
                </a:solidFill>
                <a:latin typeface="Georgia"/>
                <a:cs typeface="Georgia"/>
              </a:rPr>
              <a:t>values</a:t>
            </a:r>
            <a:endParaRPr sz="3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9161" y="5117984"/>
            <a:ext cx="42227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32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31003" y="5138064"/>
            <a:ext cx="6858000" cy="20955"/>
          </a:xfrm>
          <a:custGeom>
            <a:avLst/>
            <a:gdLst/>
            <a:ahLst/>
            <a:cxnLst/>
            <a:rect l="l" t="t" r="r" b="b"/>
            <a:pathLst>
              <a:path w="6858000" h="20954">
                <a:moveTo>
                  <a:pt x="6857581" y="0"/>
                </a:moveTo>
                <a:lnTo>
                  <a:pt x="0" y="0"/>
                </a:lnTo>
                <a:lnTo>
                  <a:pt x="0" y="20472"/>
                </a:lnTo>
                <a:lnTo>
                  <a:pt x="6857581" y="20472"/>
                </a:lnTo>
                <a:lnTo>
                  <a:pt x="6857581" y="0"/>
                </a:lnTo>
                <a:close/>
              </a:path>
            </a:pathLst>
          </a:custGeom>
          <a:solidFill>
            <a:srgbClr val="05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26308" y="4565288"/>
            <a:ext cx="6868159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320800" algn="l"/>
                <a:tab pos="2872105" algn="l"/>
                <a:tab pos="4422775" algn="l"/>
                <a:tab pos="5974080" algn="l"/>
              </a:tabLst>
            </a:pPr>
            <a:r>
              <a:rPr sz="3100" spc="85" dirty="0">
                <a:solidFill>
                  <a:srgbClr val="05182C"/>
                </a:solidFill>
                <a:latin typeface="Book Antiqua"/>
                <a:cs typeface="Book Antiqua"/>
              </a:rPr>
              <a:t>(2,</a:t>
            </a:r>
            <a:r>
              <a:rPr sz="3100" spc="-26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318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+</a:t>
            </a:r>
            <a:r>
              <a:rPr sz="3100" spc="-3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5,</a:t>
            </a:r>
            <a:r>
              <a:rPr sz="3100" spc="-2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067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+</a:t>
            </a:r>
            <a:r>
              <a:rPr sz="3100" spc="-3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1,</a:t>
            </a:r>
            <a:r>
              <a:rPr sz="3100" spc="-2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583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+</a:t>
            </a:r>
            <a:r>
              <a:rPr sz="3100" spc="-3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3,</a:t>
            </a:r>
            <a:r>
              <a:rPr sz="3100" spc="-2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893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+</a:t>
            </a:r>
            <a:r>
              <a:rPr sz="3100" spc="-8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85" dirty="0">
                <a:solidFill>
                  <a:srgbClr val="05182C"/>
                </a:solidFill>
                <a:latin typeface="Book Antiqua"/>
                <a:cs typeface="Book Antiqua"/>
              </a:rPr>
              <a:t>...)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F2833ADD-F5DE-7221-4F65-03F990CF2C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690435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95" dirty="0"/>
              <a:t>mean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3"/>
          <a:ext cx="438086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Type</a:t>
                      </a: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Mean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3358.06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Robbery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1450.85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10642.21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Vehicle</a:t>
                      </a: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Offenses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6227.27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Overall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47671.62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07887A-65AD-3173-CB99-7E1C71F76F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140" dirty="0"/>
              <a:t>median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4"/>
            <a:ext cx="65151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60" dirty="0">
                <a:solidFill>
                  <a:srgbClr val="05182C"/>
                </a:solidFill>
                <a:latin typeface="Tahoma"/>
                <a:cs typeface="Tahoma"/>
              </a:rPr>
              <a:t>Median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5182C"/>
                </a:solidFill>
                <a:latin typeface="Tahoma"/>
                <a:cs typeface="Tahoma"/>
              </a:rPr>
              <a:t>middle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value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5182C"/>
                </a:solidFill>
                <a:latin typeface="Tahoma"/>
                <a:cs typeface="Tahoma"/>
              </a:rPr>
              <a:t>for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5182C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given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variable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7945" y="1923536"/>
            <a:ext cx="10454296" cy="5591912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4F4FA0-ED99-01B8-7E7E-1CEB1972B4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140" dirty="0"/>
              <a:t>median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945" y="2087388"/>
            <a:ext cx="10454296" cy="559675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FC7032-4356-0043-72D4-01A219B5EA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140" dirty="0"/>
              <a:t>median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609" y="1238047"/>
            <a:ext cx="5212080" cy="124904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R="281305" algn="r">
              <a:lnSpc>
                <a:spcPct val="100000"/>
              </a:lnSpc>
              <a:spcBef>
                <a:spcPts val="1480"/>
              </a:spcBef>
            </a:pPr>
            <a:r>
              <a:rPr sz="2150" spc="-50" dirty="0">
                <a:solidFill>
                  <a:srgbClr val="05182C"/>
                </a:solidFill>
                <a:latin typeface="Book Antiqua"/>
                <a:cs typeface="Book Antiqua"/>
              </a:rPr>
              <a:t>2</a:t>
            </a:r>
            <a:endParaRPr sz="2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100" i="1" spc="55" dirty="0">
                <a:solidFill>
                  <a:srgbClr val="05182C"/>
                </a:solidFill>
                <a:latin typeface="Georgia"/>
                <a:cs typeface="Georgia"/>
              </a:rPr>
              <a:t>Median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spc="55" dirty="0">
                <a:solidFill>
                  <a:srgbClr val="05182C"/>
                </a:solidFill>
                <a:latin typeface="Georgia"/>
                <a:cs typeface="Georgia"/>
              </a:rPr>
              <a:t>Burglary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13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13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3,</a:t>
            </a:r>
            <a:r>
              <a:rPr sz="3100" spc="-229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10" dirty="0">
                <a:solidFill>
                  <a:srgbClr val="05182C"/>
                </a:solidFill>
                <a:latin typeface="Book Antiqua"/>
                <a:cs typeface="Book Antiqua"/>
              </a:rPr>
              <a:t>416.5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189" y="1167214"/>
            <a:ext cx="579818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996690" algn="l"/>
              </a:tabLst>
            </a:pPr>
            <a:r>
              <a:rPr sz="3100" i="1" spc="55" dirty="0">
                <a:solidFill>
                  <a:srgbClr val="05182C"/>
                </a:solidFill>
                <a:latin typeface="Georgia"/>
                <a:cs typeface="Georgia"/>
              </a:rPr>
              <a:t>Median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spc="55" dirty="0">
                <a:solidFill>
                  <a:srgbClr val="05182C"/>
                </a:solidFill>
                <a:latin typeface="Georgia"/>
                <a:cs typeface="Georgia"/>
              </a:rPr>
              <a:t>Burglary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1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49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</a:t>
            </a:r>
            <a:r>
              <a:rPr sz="3225" u="heavy" baseline="41343" dirty="0">
                <a:solidFill>
                  <a:srgbClr val="05182C"/>
                </a:solidFill>
                <a:uFill>
                  <a:solidFill>
                    <a:srgbClr val="05182C"/>
                  </a:solidFill>
                </a:uFill>
                <a:latin typeface="Book Antiqua"/>
                <a:cs typeface="Book Antiqua"/>
              </a:rPr>
              <a:t>(3,304</a:t>
            </a:r>
            <a:r>
              <a:rPr sz="3225" u="heavy" spc="337" baseline="41343" dirty="0">
                <a:solidFill>
                  <a:srgbClr val="05182C"/>
                </a:solidFill>
                <a:uFill>
                  <a:solidFill>
                    <a:srgbClr val="05182C"/>
                  </a:solidFill>
                </a:uFill>
                <a:latin typeface="Book Antiqua"/>
                <a:cs typeface="Book Antiqua"/>
              </a:rPr>
              <a:t> </a:t>
            </a:r>
            <a:r>
              <a:rPr sz="3225" u="heavy" spc="112" baseline="41343" dirty="0">
                <a:solidFill>
                  <a:srgbClr val="05182C"/>
                </a:solidFill>
                <a:uFill>
                  <a:solidFill>
                    <a:srgbClr val="05182C"/>
                  </a:solidFill>
                </a:uFill>
                <a:latin typeface="Book Antiqua"/>
                <a:cs typeface="Book Antiqua"/>
              </a:rPr>
              <a:t>+3,529)</a:t>
            </a:r>
            <a:endParaRPr sz="3225" baseline="41343">
              <a:latin typeface="Book Antiqua"/>
              <a:cs typeface="Book Antiqua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BF5AC47-4E64-9C98-48E9-5774670FF8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911"/>
            <a:ext cx="690372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Measures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55" dirty="0"/>
              <a:t> </a:t>
            </a:r>
            <a:r>
              <a:rPr spc="-254" dirty="0"/>
              <a:t>center:</a:t>
            </a:r>
            <a:r>
              <a:rPr spc="-155" dirty="0"/>
              <a:t> </a:t>
            </a:r>
            <a:r>
              <a:rPr spc="-105" dirty="0"/>
              <a:t>mode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821889"/>
          <a:ext cx="4360545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Type</a:t>
                      </a: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Count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110,810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Robbery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47,877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350,025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Vehicle</a:t>
                      </a: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Offenses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205,337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70"/>
            <a:ext cx="102351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164527"/>
            <a:ext cx="428498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180" dirty="0">
                <a:solidFill>
                  <a:srgbClr val="05182C"/>
                </a:solidFill>
                <a:latin typeface="Tahoma"/>
                <a:cs typeface="Tahoma"/>
              </a:rPr>
              <a:t>Mode</a:t>
            </a: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dirty="0">
                <a:solidFill>
                  <a:srgbClr val="05182C"/>
                </a:solidFill>
                <a:latin typeface="Tahoma"/>
                <a:cs typeface="Tahoma"/>
              </a:rPr>
              <a:t>most</a:t>
            </a:r>
            <a:r>
              <a:rPr sz="2650" i="1" spc="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dirty="0">
                <a:solidFill>
                  <a:srgbClr val="05182C"/>
                </a:solidFill>
                <a:latin typeface="Tahoma"/>
                <a:cs typeface="Tahoma"/>
              </a:rPr>
              <a:t>frequent</a:t>
            </a:r>
            <a:r>
              <a:rPr sz="2650" i="1" spc="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650" i="1" spc="45" dirty="0">
                <a:solidFill>
                  <a:srgbClr val="05182C"/>
                </a:solidFill>
                <a:latin typeface="Tahoma"/>
                <a:cs typeface="Tahoma"/>
              </a:rPr>
              <a:t>value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640840-DDED-B940-35C1-6B18E80462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Which</a:t>
            </a:r>
            <a:r>
              <a:rPr spc="-140" dirty="0"/>
              <a:t> </a:t>
            </a:r>
            <a:r>
              <a:rPr spc="-225" dirty="0"/>
              <a:t>measure</a:t>
            </a:r>
            <a:r>
              <a:rPr spc="-140" dirty="0"/>
              <a:t> </a:t>
            </a:r>
            <a:r>
              <a:rPr spc="-215" dirty="0"/>
              <a:t>to</a:t>
            </a:r>
            <a:r>
              <a:rPr spc="-140" dirty="0"/>
              <a:t> </a:t>
            </a:r>
            <a:r>
              <a:rPr spc="-275" dirty="0"/>
              <a:t>use?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6259" y="1268379"/>
            <a:ext cx="11376102" cy="609397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5F1563-CD3F-6448-99B0-8580939EA4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Which</a:t>
            </a:r>
            <a:r>
              <a:rPr spc="-140" dirty="0"/>
              <a:t> </a:t>
            </a:r>
            <a:r>
              <a:rPr spc="-225" dirty="0"/>
              <a:t>measure</a:t>
            </a:r>
            <a:r>
              <a:rPr spc="-140" dirty="0"/>
              <a:t> </a:t>
            </a:r>
            <a:r>
              <a:rPr spc="-215" dirty="0"/>
              <a:t>to</a:t>
            </a:r>
            <a:r>
              <a:rPr spc="-140" dirty="0"/>
              <a:t> </a:t>
            </a:r>
            <a:r>
              <a:rPr spc="-275" dirty="0"/>
              <a:t>use?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6259" y="1268379"/>
            <a:ext cx="11376102" cy="609397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39E6B7-77D9-F38B-3424-4460A1A4A0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687" y="2236119"/>
            <a:ext cx="736727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315" dirty="0"/>
              <a:t>Measures </a:t>
            </a:r>
            <a:r>
              <a:rPr sz="6450" spc="-200" dirty="0"/>
              <a:t>of</a:t>
            </a:r>
            <a:r>
              <a:rPr sz="6450" spc="-315" dirty="0"/>
              <a:t> </a:t>
            </a:r>
            <a:r>
              <a:rPr sz="6450" spc="-330" dirty="0"/>
              <a:t>spread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2806700" algn="l"/>
                <a:tab pos="3401060" algn="l"/>
              </a:tabLst>
            </a:pP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90" dirty="0"/>
              <a:t>TO</a:t>
            </a:r>
            <a:r>
              <a:rPr sz="2250" dirty="0"/>
              <a:t>	</a:t>
            </a:r>
            <a:r>
              <a:rPr sz="2250" spc="80" dirty="0"/>
              <a:t>STAT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dirty="0"/>
              <a:t>ST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2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5"/>
            <a:ext cx="443103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B75B001-151C-4AAE-77F8-A37E3F1084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424751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What</a:t>
            </a:r>
            <a:r>
              <a:rPr spc="-145" dirty="0"/>
              <a:t> </a:t>
            </a:r>
            <a:r>
              <a:rPr spc="-245" dirty="0"/>
              <a:t>is</a:t>
            </a:r>
            <a:r>
              <a:rPr spc="-140" dirty="0"/>
              <a:t> </a:t>
            </a:r>
            <a:r>
              <a:rPr spc="-170" dirty="0"/>
              <a:t>spread?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514" y="1268230"/>
            <a:ext cx="6984512" cy="47665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3737" y="1268230"/>
            <a:ext cx="6984506" cy="4868004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6A8581-F7D3-89B9-A6E8-9EEE80276E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Why</a:t>
            </a:r>
            <a:r>
              <a:rPr spc="-140" dirty="0"/>
              <a:t> </a:t>
            </a:r>
            <a:r>
              <a:rPr spc="-245" dirty="0"/>
              <a:t>is</a:t>
            </a:r>
            <a:r>
              <a:rPr spc="-135" dirty="0"/>
              <a:t> </a:t>
            </a:r>
            <a:r>
              <a:rPr spc="-200" dirty="0"/>
              <a:t>spread</a:t>
            </a:r>
            <a:r>
              <a:rPr spc="-140" dirty="0"/>
              <a:t> </a:t>
            </a:r>
            <a:r>
              <a:rPr spc="-204" dirty="0"/>
              <a:t>important?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6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4"/>
            <a:ext cx="624903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Spread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measures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variety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our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5"/>
            <a:ext cx="102351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305969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961021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4626309"/>
            <a:ext cx="102351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5107363"/>
            <a:ext cx="122822" cy="1228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7056" y="2550194"/>
            <a:ext cx="6772909" cy="3300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2242185" indent="-368935">
              <a:lnSpc>
                <a:spcPct val="126400"/>
              </a:lnSpc>
              <a:spcBef>
                <a:spcPts val="95"/>
              </a:spcBef>
            </a:pPr>
            <a:r>
              <a:rPr sz="2550" spc="-130" dirty="0">
                <a:solidFill>
                  <a:srgbClr val="05182C"/>
                </a:solidFill>
                <a:latin typeface="Tahoma"/>
                <a:cs typeface="Tahoma"/>
              </a:rPr>
              <a:t>T-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shirts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typically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cost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$30 </a:t>
            </a:r>
            <a:r>
              <a:rPr sz="2550" spc="240" dirty="0">
                <a:solidFill>
                  <a:srgbClr val="05182C"/>
                </a:solidFill>
                <a:latin typeface="Tahoma"/>
                <a:cs typeface="Tahoma"/>
              </a:rPr>
              <a:t>Can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cost</a:t>
            </a:r>
            <a:r>
              <a:rPr sz="2550" spc="-2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between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$10-</a:t>
            </a:r>
            <a:r>
              <a:rPr sz="2550" spc="155" dirty="0">
                <a:solidFill>
                  <a:srgbClr val="05182C"/>
                </a:solidFill>
                <a:latin typeface="Tahoma"/>
                <a:cs typeface="Tahoma"/>
              </a:rPr>
              <a:t>200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How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likely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it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one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will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cost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$30?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If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5182C"/>
                </a:solidFill>
                <a:latin typeface="Tahoma"/>
                <a:cs typeface="Tahoma"/>
              </a:rPr>
              <a:t>t-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shirts</a:t>
            </a:r>
            <a:r>
              <a:rPr sz="2550" spc="-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were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5182C"/>
                </a:solidFill>
                <a:latin typeface="Tahoma"/>
                <a:cs typeface="Tahoma"/>
              </a:rPr>
              <a:t>priced</a:t>
            </a:r>
            <a:r>
              <a:rPr sz="2550" spc="-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between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$20-</a:t>
            </a:r>
            <a:r>
              <a:rPr sz="2550" spc="180" dirty="0">
                <a:solidFill>
                  <a:srgbClr val="05182C"/>
                </a:solidFill>
                <a:latin typeface="Tahoma"/>
                <a:cs typeface="Tahoma"/>
              </a:rPr>
              <a:t>50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Does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5182C"/>
                </a:solidFill>
                <a:latin typeface="Tahoma"/>
                <a:cs typeface="Tahoma"/>
              </a:rPr>
              <a:t>this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5182C"/>
                </a:solidFill>
                <a:latin typeface="Tahoma"/>
                <a:cs typeface="Tahoma"/>
              </a:rPr>
              <a:t>change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likelihood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5182C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finding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one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5182C"/>
                </a:solidFill>
                <a:latin typeface="Tahoma"/>
                <a:cs typeface="Tahoma"/>
              </a:rPr>
              <a:t>for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$30?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23436" y="1166813"/>
            <a:ext cx="3561848" cy="53427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660" y="7499935"/>
            <a:ext cx="57994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5182C"/>
                </a:solidFill>
                <a:latin typeface="Tahoma"/>
                <a:cs typeface="Tahoma"/>
              </a:rPr>
              <a:t>1</a:t>
            </a:r>
            <a:r>
              <a:rPr sz="2550" spc="337" baseline="26143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Image </a:t>
            </a:r>
            <a:r>
              <a:rPr sz="2250" dirty="0">
                <a:solidFill>
                  <a:srgbClr val="05182C"/>
                </a:solidFill>
                <a:latin typeface="Tahoma"/>
                <a:cs typeface="Tahoma"/>
              </a:rPr>
              <a:t>credit:</a:t>
            </a:r>
            <a:r>
              <a:rPr sz="2250" spc="5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05182C"/>
                </a:solidFill>
                <a:latin typeface="Tahoma"/>
                <a:cs typeface="Tahoma"/>
                <a:hlinkClick r:id="rId8"/>
              </a:rPr>
              <a:t>https://unsplash.com/@uyk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6B973258-40D9-B9DF-D80C-2236A82328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75" dirty="0"/>
              <a:t>Range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589" y="1924618"/>
            <a:ext cx="6276975" cy="295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range</a:t>
            </a:r>
            <a:r>
              <a:rPr sz="3100" i="1" spc="10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maximum</a:t>
            </a:r>
            <a:r>
              <a:rPr sz="3100" i="1" spc="-6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−</a:t>
            </a:r>
            <a:r>
              <a:rPr sz="3100" spc="-9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i="1" spc="-10" dirty="0">
                <a:solidFill>
                  <a:srgbClr val="05182C"/>
                </a:solidFill>
                <a:latin typeface="Georgia"/>
                <a:cs typeface="Georgia"/>
              </a:rPr>
              <a:t>minimum</a:t>
            </a:r>
            <a:endParaRPr sz="3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3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3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range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Burglaries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26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26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5,</a:t>
            </a:r>
            <a:r>
              <a:rPr sz="3100" spc="-15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183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−</a:t>
            </a:r>
            <a:r>
              <a:rPr sz="3100" spc="6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1,</a:t>
            </a:r>
            <a:r>
              <a:rPr sz="3100" spc="-15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432</a:t>
            </a:r>
            <a:endParaRPr sz="3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range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Burglaries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3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38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3,</a:t>
            </a:r>
            <a:r>
              <a:rPr sz="3100" spc="-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751</a:t>
            </a:r>
            <a:endParaRPr sz="3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42512" y="1166813"/>
          <a:ext cx="5404484" cy="474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7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Tower</a:t>
                      </a:r>
                      <a:r>
                        <a:rPr sz="2550" spc="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Hamlets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5,183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Hackney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5,079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Barnet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5,067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Sutton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1,815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Bexley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1,583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Kingston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upon</a:t>
                      </a:r>
                      <a:r>
                        <a:rPr sz="2550" spc="-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Thames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1,432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7553EA6-8602-D0B4-D073-BCE1FC2852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27" y="1268167"/>
            <a:ext cx="10425116" cy="618400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27EA78-EB56-BC94-F21C-387CE4FC0E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28" y="1268166"/>
            <a:ext cx="10425116" cy="618400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83C099-EA64-5716-EDED-FF41BA9221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789"/>
          <a:ext cx="9333864" cy="533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Mean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Distance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Barking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Dagenham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37,939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-9,733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Barnet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52,421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4,749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Bexley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29,285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8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18,387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Brent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55,465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7,793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Bromley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42,982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550" spc="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4,690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Camden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54,806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7,134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1,525,492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1,525,492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1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5BD180-CE8A-9F8B-571D-F8EA31FDEC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788"/>
          <a:ext cx="12363448" cy="533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9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Borough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Mean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Distance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Squared</a:t>
                      </a:r>
                      <a:r>
                        <a:rPr sz="2550" b="1" spc="-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Distance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Barking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3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Dagenham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37,939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-9,733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94,731,289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Barnet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52,421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4,749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22,553,001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Bexley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29,285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8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18,387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338,081,769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Brent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55,465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7,793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60,730,849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Bromley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42,982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550" spc="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4,690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21,996,100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7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Camden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54,806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47,672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7,134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50,893,956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1,525,492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2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1,525,492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1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7,509,750,824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ECA368-E82A-75B5-0815-9CDAEC6F3B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8237" y="2108828"/>
            <a:ext cx="423799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variance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3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50" dirty="0">
                <a:solidFill>
                  <a:srgbClr val="05182C"/>
                </a:solidFill>
                <a:latin typeface="Georgia"/>
                <a:cs typeface="Georgia"/>
              </a:rPr>
              <a:t>crime</a:t>
            </a:r>
            <a:r>
              <a:rPr sz="3100" spc="5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49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3411" y="3050464"/>
            <a:ext cx="658114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433570" algn="l"/>
              </a:tabLst>
            </a:pP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variance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3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50" dirty="0">
                <a:solidFill>
                  <a:srgbClr val="05182C"/>
                </a:solidFill>
                <a:latin typeface="Georgia"/>
                <a:cs typeface="Georgia"/>
              </a:rPr>
              <a:t>crime</a:t>
            </a:r>
            <a:r>
              <a:rPr sz="3100" spc="5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2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49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	234,</a:t>
            </a:r>
            <a:r>
              <a:rPr sz="3100" spc="-1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679,</a:t>
            </a:r>
            <a:r>
              <a:rPr sz="3100" spc="-1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713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25402" y="2374942"/>
            <a:ext cx="42227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32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79434" y="2395016"/>
            <a:ext cx="2518410" cy="20955"/>
          </a:xfrm>
          <a:custGeom>
            <a:avLst/>
            <a:gdLst/>
            <a:ahLst/>
            <a:cxnLst/>
            <a:rect l="l" t="t" r="r" b="b"/>
            <a:pathLst>
              <a:path w="2518409" h="20955">
                <a:moveTo>
                  <a:pt x="2517864" y="0"/>
                </a:moveTo>
                <a:lnTo>
                  <a:pt x="0" y="0"/>
                </a:lnTo>
                <a:lnTo>
                  <a:pt x="0" y="20472"/>
                </a:lnTo>
                <a:lnTo>
                  <a:pt x="2517864" y="20472"/>
                </a:lnTo>
                <a:lnTo>
                  <a:pt x="2517864" y="0"/>
                </a:lnTo>
                <a:close/>
              </a:path>
            </a:pathLst>
          </a:custGeom>
          <a:solidFill>
            <a:srgbClr val="05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69625" y="1842714"/>
            <a:ext cx="253365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7,</a:t>
            </a:r>
            <a:r>
              <a:rPr sz="3100" spc="-17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509,</a:t>
            </a:r>
            <a:r>
              <a:rPr sz="3100" spc="-1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750,</a:t>
            </a:r>
            <a:r>
              <a:rPr sz="3100" spc="-18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5" dirty="0">
                <a:solidFill>
                  <a:srgbClr val="05182C"/>
                </a:solidFill>
                <a:latin typeface="Book Antiqua"/>
                <a:cs typeface="Book Antiqua"/>
              </a:rPr>
              <a:t>824</a:t>
            </a:r>
            <a:endParaRPr sz="3100">
              <a:latin typeface="Book Antiqua"/>
              <a:cs typeface="Book Antiqua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CC4E721A-59B1-0324-0285-16133A556D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en-US" altLang="ko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Standard</a:t>
            </a:r>
            <a:r>
              <a:rPr spc="-105" dirty="0"/>
              <a:t> </a:t>
            </a:r>
            <a:r>
              <a:rPr spc="-204" dirty="0"/>
              <a:t>deviation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848410"/>
            <a:ext cx="102351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000862" y="1187271"/>
            <a:ext cx="163830" cy="20955"/>
          </a:xfrm>
          <a:custGeom>
            <a:avLst/>
            <a:gdLst/>
            <a:ahLst/>
            <a:cxnLst/>
            <a:rect l="l" t="t" r="r" b="b"/>
            <a:pathLst>
              <a:path w="163829" h="20955">
                <a:moveTo>
                  <a:pt x="163766" y="0"/>
                </a:moveTo>
                <a:lnTo>
                  <a:pt x="0" y="0"/>
                </a:lnTo>
                <a:lnTo>
                  <a:pt x="0" y="20459"/>
                </a:lnTo>
                <a:lnTo>
                  <a:pt x="163766" y="20459"/>
                </a:lnTo>
                <a:lnTo>
                  <a:pt x="163766" y="0"/>
                </a:lnTo>
                <a:close/>
              </a:path>
            </a:pathLst>
          </a:custGeom>
          <a:solidFill>
            <a:srgbClr val="05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548" y="1126250"/>
            <a:ext cx="10680065" cy="2964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i="1" spc="-25" dirty="0">
                <a:solidFill>
                  <a:srgbClr val="05182C"/>
                </a:solidFill>
                <a:latin typeface="Georgia"/>
                <a:cs typeface="Georgia"/>
              </a:rPr>
              <a:t>standard</a:t>
            </a:r>
            <a:r>
              <a:rPr sz="3100" i="1" spc="-2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deviation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3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50" dirty="0">
                <a:solidFill>
                  <a:srgbClr val="05182C"/>
                </a:solidFill>
                <a:latin typeface="Georgia"/>
                <a:cs typeface="Georgia"/>
              </a:rPr>
              <a:t>crime</a:t>
            </a:r>
            <a:r>
              <a:rPr sz="3100" spc="5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3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3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4650" spc="135" baseline="2688" dirty="0">
                <a:solidFill>
                  <a:srgbClr val="05182C"/>
                </a:solidFill>
                <a:latin typeface="Arial"/>
                <a:cs typeface="Arial"/>
              </a:rPr>
              <a:t>√</a:t>
            </a:r>
            <a:r>
              <a:rPr sz="3100" spc="9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spc="90" dirty="0">
                <a:solidFill>
                  <a:srgbClr val="05182C"/>
                </a:solidFill>
                <a:latin typeface="Georgia"/>
                <a:cs typeface="Georgia"/>
              </a:rPr>
              <a:t>variance</a:t>
            </a:r>
            <a:r>
              <a:rPr sz="3100" spc="9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spc="90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4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55" dirty="0">
                <a:solidFill>
                  <a:srgbClr val="05182C"/>
                </a:solidFill>
                <a:latin typeface="Georgia"/>
                <a:cs typeface="Georgia"/>
              </a:rPr>
              <a:t>crime</a:t>
            </a:r>
            <a:r>
              <a:rPr sz="3100" spc="55" dirty="0">
                <a:solidFill>
                  <a:srgbClr val="05182C"/>
                </a:solidFill>
                <a:latin typeface="Book Antiqua"/>
                <a:cs typeface="Book Antiqua"/>
              </a:rPr>
              <a:t>))</a:t>
            </a:r>
            <a:endParaRPr sz="3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890"/>
              </a:spcBef>
            </a:pPr>
            <a:r>
              <a:rPr sz="3100" i="1" spc="-25" dirty="0">
                <a:solidFill>
                  <a:srgbClr val="05182C"/>
                </a:solidFill>
                <a:latin typeface="Georgia"/>
                <a:cs typeface="Georgia"/>
              </a:rPr>
              <a:t>standard</a:t>
            </a:r>
            <a:r>
              <a:rPr sz="3100" i="1" spc="-5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deviation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50" dirty="0">
                <a:solidFill>
                  <a:srgbClr val="05182C"/>
                </a:solidFill>
                <a:latin typeface="Georgia"/>
                <a:cs typeface="Georgia"/>
              </a:rPr>
              <a:t> crime</a:t>
            </a:r>
            <a:r>
              <a:rPr sz="3100" spc="50" dirty="0">
                <a:solidFill>
                  <a:srgbClr val="05182C"/>
                </a:solidFill>
                <a:latin typeface="Book Antiqua"/>
                <a:cs typeface="Book Antiqua"/>
              </a:rPr>
              <a:t>)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4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4650" spc="412" baseline="2688" dirty="0">
                <a:solidFill>
                  <a:srgbClr val="05182C"/>
                </a:solidFill>
                <a:latin typeface="Arial"/>
                <a:cs typeface="Arial"/>
              </a:rPr>
              <a:t>√</a:t>
            </a:r>
            <a:r>
              <a:rPr sz="3100" spc="275" dirty="0">
                <a:solidFill>
                  <a:srgbClr val="05182C"/>
                </a:solidFill>
                <a:latin typeface="Book Antiqua"/>
                <a:cs typeface="Book Antiqua"/>
              </a:rPr>
              <a:t>(234,</a:t>
            </a:r>
            <a:r>
              <a:rPr sz="3100" spc="-26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679,</a:t>
            </a:r>
            <a:r>
              <a:rPr sz="3100" spc="-265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20" dirty="0">
                <a:solidFill>
                  <a:srgbClr val="05182C"/>
                </a:solidFill>
                <a:latin typeface="Book Antiqua"/>
                <a:cs typeface="Book Antiqua"/>
              </a:rPr>
              <a:t>713)</a:t>
            </a:r>
            <a:endParaRPr sz="3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3100" i="1" spc="-25" dirty="0">
                <a:solidFill>
                  <a:srgbClr val="05182C"/>
                </a:solidFill>
                <a:latin typeface="Georgia"/>
                <a:cs typeface="Georgia"/>
              </a:rPr>
              <a:t>standard</a:t>
            </a:r>
            <a:r>
              <a:rPr sz="3100" i="1" spc="-40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deviation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(</a:t>
            </a:r>
            <a:r>
              <a:rPr sz="3100" i="1" dirty="0">
                <a:solidFill>
                  <a:srgbClr val="05182C"/>
                </a:solidFill>
                <a:latin typeface="Georgia"/>
                <a:cs typeface="Georgia"/>
              </a:rPr>
              <a:t>total</a:t>
            </a:r>
            <a:r>
              <a:rPr sz="3100" i="1" spc="45" dirty="0">
                <a:solidFill>
                  <a:srgbClr val="05182C"/>
                </a:solidFill>
                <a:latin typeface="Georgia"/>
                <a:cs typeface="Georgia"/>
              </a:rPr>
              <a:t> </a:t>
            </a:r>
            <a:r>
              <a:rPr sz="3100" i="1" spc="50" dirty="0">
                <a:solidFill>
                  <a:srgbClr val="05182C"/>
                </a:solidFill>
                <a:latin typeface="Georgia"/>
                <a:cs typeface="Georgia"/>
              </a:rPr>
              <a:t>crime</a:t>
            </a:r>
            <a:r>
              <a:rPr sz="3100" spc="50" dirty="0">
                <a:solidFill>
                  <a:srgbClr val="05182C"/>
                </a:solidFill>
                <a:latin typeface="Book Antiqua"/>
                <a:cs typeface="Book Antiqua"/>
              </a:rPr>
              <a:t>)</a:t>
            </a:r>
            <a:r>
              <a:rPr sz="3100" spc="4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5182C"/>
                </a:solidFill>
                <a:latin typeface="Book Antiqua"/>
                <a:cs typeface="Book Antiqua"/>
              </a:rPr>
              <a:t>=</a:t>
            </a:r>
            <a:r>
              <a:rPr sz="3100" spc="4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dirty="0">
                <a:solidFill>
                  <a:srgbClr val="05182C"/>
                </a:solidFill>
                <a:latin typeface="Book Antiqua"/>
                <a:cs typeface="Book Antiqua"/>
              </a:rPr>
              <a:t>15,</a:t>
            </a:r>
            <a:r>
              <a:rPr sz="3100" spc="-260" dirty="0">
                <a:solidFill>
                  <a:srgbClr val="05182C"/>
                </a:solidFill>
                <a:latin typeface="Book Antiqua"/>
                <a:cs typeface="Book Antiqua"/>
              </a:rPr>
              <a:t> </a:t>
            </a:r>
            <a:r>
              <a:rPr sz="3100" spc="-10" dirty="0">
                <a:solidFill>
                  <a:srgbClr val="05182C"/>
                </a:solidFill>
                <a:latin typeface="Book Antiqua"/>
                <a:cs typeface="Book Antiqua"/>
              </a:rPr>
              <a:t>319.26</a:t>
            </a:r>
            <a:endParaRPr sz="3100">
              <a:latin typeface="Book Antiqua"/>
              <a:cs typeface="Book Antiqua"/>
            </a:endParaRPr>
          </a:p>
          <a:p>
            <a:pPr marL="381000">
              <a:lnSpc>
                <a:spcPct val="100000"/>
              </a:lnSpc>
              <a:spcBef>
                <a:spcPts val="3275"/>
              </a:spcBef>
            </a:pP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Standard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deviation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close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5182C"/>
                </a:solidFill>
                <a:latin typeface="Tahoma"/>
                <a:cs typeface="Tahoma"/>
              </a:rPr>
              <a:t>zero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5182C"/>
                </a:solidFill>
                <a:latin typeface="Tahoma"/>
                <a:cs typeface="Tahoma"/>
              </a:rPr>
              <a:t>=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clustered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around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mean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00862" y="2026551"/>
            <a:ext cx="163830" cy="20955"/>
          </a:xfrm>
          <a:custGeom>
            <a:avLst/>
            <a:gdLst/>
            <a:ahLst/>
            <a:cxnLst/>
            <a:rect l="l" t="t" r="r" b="b"/>
            <a:pathLst>
              <a:path w="163829" h="20955">
                <a:moveTo>
                  <a:pt x="163766" y="0"/>
                </a:moveTo>
                <a:lnTo>
                  <a:pt x="0" y="0"/>
                </a:lnTo>
                <a:lnTo>
                  <a:pt x="0" y="20472"/>
                </a:lnTo>
                <a:lnTo>
                  <a:pt x="163766" y="20472"/>
                </a:lnTo>
                <a:lnTo>
                  <a:pt x="163766" y="0"/>
                </a:lnTo>
                <a:close/>
              </a:path>
            </a:pathLst>
          </a:custGeom>
          <a:solidFill>
            <a:srgbClr val="05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5AEA647-E4E1-2A96-B893-CAEB246EB2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35</a:t>
            </a:fld>
            <a:endParaRPr lang="en-US" altLang="ko-K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Standard</a:t>
            </a:r>
            <a:r>
              <a:rPr spc="-130" dirty="0"/>
              <a:t> </a:t>
            </a:r>
            <a:r>
              <a:rPr spc="-245" dirty="0"/>
              <a:t>deviation</a:t>
            </a:r>
            <a:r>
              <a:rPr spc="-125" dirty="0"/>
              <a:t> </a:t>
            </a:r>
            <a:r>
              <a:rPr spc="-265" dirty="0"/>
              <a:t>in</a:t>
            </a:r>
            <a:r>
              <a:rPr spc="-125" dirty="0"/>
              <a:t> </a:t>
            </a:r>
            <a:r>
              <a:rPr spc="50" dirty="0"/>
              <a:t>a</a:t>
            </a:r>
            <a:r>
              <a:rPr spc="-130" dirty="0"/>
              <a:t> </a:t>
            </a:r>
            <a:r>
              <a:rPr spc="-185" dirty="0"/>
              <a:t>histogram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4715" y="1268236"/>
            <a:ext cx="9069401" cy="618682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A89ED-FE19-6CB5-40E8-ABCEF080CA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36</a:t>
            </a:fld>
            <a:endParaRPr lang="en-US" alt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5" dirty="0"/>
              <a:t>Quartiles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89108"/>
              </p:ext>
            </p:extLst>
          </p:nvPr>
        </p:nvGraphicFramePr>
        <p:xfrm>
          <a:off x="491289" y="3131970"/>
          <a:ext cx="11219177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Crime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4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0%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4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25%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3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50%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4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75%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37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100%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EE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Burglary</a:t>
                      </a:r>
                      <a:endParaRPr sz="2550" b="0" dirty="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1,432.00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2,681.75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3,416.50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en-US" altLang="ko-KR" sz="2550" b="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4,392.00</a:t>
                      </a:r>
                      <a:endParaRPr lang="ko-KR" altLang="en-US" sz="2550" b="0" dirty="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5,183.00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Robbery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363.00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895.75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1,354.50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1,976.50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4,156.00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Theft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3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4,090.00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7,739.75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9,624.00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12,059.00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40,278.00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Vehicle</a:t>
                      </a:r>
                      <a:r>
                        <a:rPr sz="2550" spc="-2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Offenses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2,143.00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4,838.25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6,424.50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7,520.75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5182C"/>
                          </a:solidFill>
                          <a:latin typeface="Tahoma"/>
                          <a:cs typeface="Tahoma"/>
                        </a:rPr>
                        <a:t>11,292.00</a:t>
                      </a:r>
                      <a:endParaRPr sz="2550" dirty="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0DA"/>
                      </a:solidFill>
                      <a:prstDash val="solid"/>
                    </a:lnL>
                    <a:lnR w="28575">
                      <a:solidFill>
                        <a:srgbClr val="E4E0DA"/>
                      </a:solidFill>
                      <a:prstDash val="solid"/>
                    </a:lnR>
                    <a:lnT w="28575">
                      <a:solidFill>
                        <a:srgbClr val="E4E0DA"/>
                      </a:solidFill>
                      <a:prstDash val="solid"/>
                    </a:lnT>
                    <a:lnB w="28575">
                      <a:solidFill>
                        <a:srgbClr val="E4E0DA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1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076323"/>
            <a:ext cx="6245860" cy="10083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Quartiles: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splitting</a:t>
            </a:r>
            <a:r>
              <a:rPr sz="2550" spc="-4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5182C"/>
                </a:solidFill>
                <a:latin typeface="Tahoma"/>
                <a:cs typeface="Tahoma"/>
              </a:rPr>
              <a:t>data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into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5182C"/>
                </a:solidFill>
                <a:latin typeface="Tahoma"/>
                <a:cs typeface="Tahoma"/>
              </a:rPr>
              <a:t>four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5182C"/>
                </a:solidFill>
                <a:latin typeface="Tahoma"/>
                <a:cs typeface="Tahoma"/>
              </a:rPr>
              <a:t>equal</a:t>
            </a:r>
            <a:r>
              <a:rPr sz="2550" spc="-3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parts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7205578"/>
            <a:ext cx="102351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7029123"/>
            <a:ext cx="495490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Second</a:t>
            </a:r>
            <a:r>
              <a:rPr sz="2550" spc="-9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5182C"/>
                </a:solidFill>
                <a:latin typeface="Tahoma"/>
                <a:cs typeface="Tahoma"/>
              </a:rPr>
              <a:t>quartile</a:t>
            </a:r>
            <a:r>
              <a:rPr sz="2550" spc="-7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5182C"/>
                </a:solidFill>
                <a:latin typeface="Tahoma"/>
                <a:cs typeface="Tahoma"/>
              </a:rPr>
              <a:t>(50%)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5182C"/>
                </a:solidFill>
                <a:latin typeface="Tahoma"/>
                <a:cs typeface="Tahoma"/>
              </a:rPr>
              <a:t>=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5182C"/>
                </a:solidFill>
                <a:latin typeface="Tahoma"/>
                <a:cs typeface="Tahoma"/>
              </a:rPr>
              <a:t>median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6C5A82C-0459-4312-F6E6-AEDCCCEAF7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37</a:t>
            </a:fld>
            <a:endParaRPr lang="en-US" altLang="ko-K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7"/>
            <a:ext cx="242697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10" dirty="0"/>
              <a:t>Box</a:t>
            </a:r>
            <a:r>
              <a:rPr spc="-155" dirty="0"/>
              <a:t> </a:t>
            </a:r>
            <a:r>
              <a:rPr spc="-21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046" y="1471582"/>
            <a:ext cx="6603070" cy="446994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5C1CC0-19E8-17D1-8834-2FF1B67EC3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38</a:t>
            </a:fld>
            <a:endParaRPr lang="en-US" altLang="ko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5" dirty="0"/>
              <a:t>Interquartile</a:t>
            </a:r>
            <a:r>
              <a:rPr spc="-130" dirty="0"/>
              <a:t> </a:t>
            </a:r>
            <a:r>
              <a:rPr spc="-190" dirty="0"/>
              <a:t>range</a:t>
            </a:r>
            <a:r>
              <a:rPr spc="-125" dirty="0"/>
              <a:t> </a:t>
            </a:r>
            <a:r>
              <a:rPr spc="-555" dirty="0"/>
              <a:t>(IQR)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460" y="1471582"/>
            <a:ext cx="6603070" cy="44699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796170"/>
            <a:ext cx="102351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6619715"/>
            <a:ext cx="588454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IQR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is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5182C"/>
                </a:solidFill>
                <a:latin typeface="Tahoma"/>
                <a:cs typeface="Tahoma"/>
              </a:rPr>
              <a:t>less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5182C"/>
                </a:solidFill>
                <a:latin typeface="Tahoma"/>
                <a:cs typeface="Tahoma"/>
              </a:rPr>
              <a:t>affected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5182C"/>
                </a:solidFill>
                <a:latin typeface="Tahoma"/>
                <a:cs typeface="Tahoma"/>
              </a:rPr>
              <a:t>by</a:t>
            </a:r>
            <a:r>
              <a:rPr sz="2550" spc="-4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extreme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5182C"/>
                </a:solidFill>
                <a:latin typeface="Tahoma"/>
                <a:cs typeface="Tahoma"/>
              </a:rPr>
              <a:t>values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2705" y="1174732"/>
            <a:ext cx="4832985" cy="2056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IQR</a:t>
            </a:r>
            <a:r>
              <a:rPr sz="2550" spc="-7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5182C"/>
                </a:solidFill>
                <a:latin typeface="Tahoma"/>
                <a:cs typeface="Tahoma"/>
              </a:rPr>
              <a:t>=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5182C"/>
                </a:solidFill>
                <a:latin typeface="Tahoma"/>
                <a:cs typeface="Tahoma"/>
              </a:rPr>
              <a:t>3rd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5182C"/>
                </a:solidFill>
                <a:latin typeface="Tahoma"/>
                <a:cs typeface="Tahoma"/>
              </a:rPr>
              <a:t>Quartile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90" dirty="0">
                <a:solidFill>
                  <a:srgbClr val="05182C"/>
                </a:solidFill>
                <a:latin typeface="Tahoma"/>
                <a:cs typeface="Tahoma"/>
              </a:rPr>
              <a:t>1st</a:t>
            </a:r>
            <a:r>
              <a:rPr sz="2550" spc="-6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5182C"/>
                </a:solidFill>
                <a:latin typeface="Tahoma"/>
                <a:cs typeface="Tahoma"/>
              </a:rPr>
              <a:t>Quartile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550">
              <a:latin typeface="Tahoma"/>
              <a:cs typeface="Tahoma"/>
            </a:endParaRPr>
          </a:p>
          <a:p>
            <a:pPr marR="295910" algn="ctr">
              <a:lnSpc>
                <a:spcPct val="100000"/>
              </a:lnSpc>
            </a:pP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IQR</a:t>
            </a:r>
            <a:r>
              <a:rPr sz="2550" spc="-12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5182C"/>
                </a:solidFill>
                <a:latin typeface="Tahoma"/>
                <a:cs typeface="Tahoma"/>
              </a:rPr>
              <a:t>=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0" dirty="0">
                <a:solidFill>
                  <a:srgbClr val="05182C"/>
                </a:solidFill>
                <a:latin typeface="Tahoma"/>
                <a:cs typeface="Tahoma"/>
              </a:rPr>
              <a:t>1976.50</a:t>
            </a:r>
            <a:r>
              <a:rPr sz="2550" spc="-8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-</a:t>
            </a:r>
            <a:r>
              <a:rPr sz="2550" spc="-8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5182C"/>
                </a:solidFill>
                <a:latin typeface="Tahoma"/>
                <a:cs typeface="Tahoma"/>
              </a:rPr>
              <a:t>895.75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550">
              <a:latin typeface="Tahoma"/>
              <a:cs typeface="Tahoma"/>
            </a:endParaRPr>
          </a:p>
          <a:p>
            <a:pPr marR="233045" algn="ctr">
              <a:lnSpc>
                <a:spcPct val="100000"/>
              </a:lnSpc>
            </a:pPr>
            <a:r>
              <a:rPr sz="2550" dirty="0">
                <a:solidFill>
                  <a:srgbClr val="05182C"/>
                </a:solidFill>
                <a:latin typeface="Tahoma"/>
                <a:cs typeface="Tahoma"/>
              </a:rPr>
              <a:t>IQR</a:t>
            </a:r>
            <a:r>
              <a:rPr sz="2550" spc="-85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5182C"/>
                </a:solidFill>
                <a:latin typeface="Tahoma"/>
                <a:cs typeface="Tahoma"/>
              </a:rPr>
              <a:t>=</a:t>
            </a:r>
            <a:r>
              <a:rPr sz="2550" spc="-50" dirty="0">
                <a:solidFill>
                  <a:srgbClr val="05182C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5182C"/>
                </a:solidFill>
                <a:latin typeface="Tahoma"/>
                <a:cs typeface="Tahoma"/>
              </a:rPr>
              <a:t>1080.75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3DD644E-1EB1-A74F-C752-5F929DA774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39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18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1238</Words>
  <Application>Microsoft Office PowerPoint</Application>
  <PresentationFormat>사용자 지정</PresentationFormat>
  <Paragraphs>448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맑은 고딕</vt:lpstr>
      <vt:lpstr>Arial</vt:lpstr>
      <vt:lpstr>Book Antiqua</vt:lpstr>
      <vt:lpstr>Calibri</vt:lpstr>
      <vt:lpstr>Georgia</vt:lpstr>
      <vt:lpstr>Tahoma</vt:lpstr>
      <vt:lpstr>Office Theme</vt:lpstr>
      <vt:lpstr>What is statistics? I N T R O D U C T I O N TO STAT I ST I C S</vt:lpstr>
      <vt:lpstr>What is statistics?</vt:lpstr>
      <vt:lpstr>Statistics is everywhere!</vt:lpstr>
      <vt:lpstr>What can statistics do?</vt:lpstr>
      <vt:lpstr>Limitations of statistics</vt:lpstr>
      <vt:lpstr>Types of data: numeric Continuous data: Stock prices</vt:lpstr>
      <vt:lpstr>Visualizing numeric data</vt:lpstr>
      <vt:lpstr>Types of data: categorical Nominal data: Eye color</vt:lpstr>
      <vt:lpstr>Visualizing categorical data</vt:lpstr>
      <vt:lpstr>Descriptive / Summary statistics</vt:lpstr>
      <vt:lpstr>Inferential statistics</vt:lpstr>
      <vt:lpstr>Measures of center I N T R O D U C T I O N TO STAT I ST I C S</vt:lpstr>
      <vt:lpstr>Why are measures of center useful?</vt:lpstr>
      <vt:lpstr>Crime data</vt:lpstr>
      <vt:lpstr>Crime data</vt:lpstr>
      <vt:lpstr>Histograms</vt:lpstr>
      <vt:lpstr>What is the typical amount of vehicle crime in London?</vt:lpstr>
      <vt:lpstr>Measures of center: mean</vt:lpstr>
      <vt:lpstr>Measures of center: mean</vt:lpstr>
      <vt:lpstr>Measures of center: median</vt:lpstr>
      <vt:lpstr>Measures of center: median</vt:lpstr>
      <vt:lpstr>Measures of center: median</vt:lpstr>
      <vt:lpstr>Measures of center: mode</vt:lpstr>
      <vt:lpstr>Which measure to use?</vt:lpstr>
      <vt:lpstr>Which measure to use?</vt:lpstr>
      <vt:lpstr>Measures of spread I N T R O D U C T I O N TO STAT I ST I C S</vt:lpstr>
      <vt:lpstr>What is spread?</vt:lpstr>
      <vt:lpstr>Why is spread important?</vt:lpstr>
      <vt:lpstr>Range</vt:lpstr>
      <vt:lpstr>Variance</vt:lpstr>
      <vt:lpstr>Variance</vt:lpstr>
      <vt:lpstr>Variance</vt:lpstr>
      <vt:lpstr>Variance</vt:lpstr>
      <vt:lpstr>Variance</vt:lpstr>
      <vt:lpstr>Standard deviation</vt:lpstr>
      <vt:lpstr>Standard deviation in a histogram</vt:lpstr>
      <vt:lpstr>Quartiles</vt:lpstr>
      <vt:lpstr>Box plots</vt:lpstr>
      <vt:lpstr>Interquartile range (IQR)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Woojin Paik</cp:lastModifiedBy>
  <cp:revision>9</cp:revision>
  <dcterms:created xsi:type="dcterms:W3CDTF">2024-12-28T03:59:53Z</dcterms:created>
  <dcterms:modified xsi:type="dcterms:W3CDTF">2024-12-28T07:50:08Z</dcterms:modified>
</cp:coreProperties>
</file>