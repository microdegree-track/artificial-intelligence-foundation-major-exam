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9" r:id="rId4"/>
    <p:sldId id="260" r:id="rId5"/>
    <p:sldId id="262" r:id="rId6"/>
    <p:sldId id="263" r:id="rId7"/>
    <p:sldId id="265" r:id="rId8"/>
    <p:sldId id="266" r:id="rId9"/>
    <p:sldId id="268" r:id="rId10"/>
    <p:sldId id="269" r:id="rId11"/>
    <p:sldId id="270" r:id="rId12"/>
    <p:sldId id="271" r:id="rId13"/>
    <p:sldId id="272" r:id="rId14"/>
    <p:sldId id="273" r:id="rId15"/>
    <p:sldId id="275" r:id="rId16"/>
    <p:sldId id="276" r:id="rId17"/>
    <p:sldId id="277" r:id="rId18"/>
    <p:sldId id="278" r:id="rId19"/>
    <p:sldId id="279" r:id="rId20"/>
    <p:sldId id="280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1" r:id="rId30"/>
    <p:sldId id="292" r:id="rId31"/>
    <p:sldId id="293" r:id="rId32"/>
    <p:sldId id="294" r:id="rId33"/>
    <p:sldId id="295" r:id="rId34"/>
  </p:sldIdLst>
  <p:sldSz cx="15557500" cy="8763000"/>
  <p:notesSz cx="15557500" cy="8763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95" d="100"/>
          <a:sy n="95" d="100"/>
        </p:scale>
        <p:origin x="760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42113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8812213" y="0"/>
            <a:ext cx="6742112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8957A-3CE4-6E4B-B8A7-84A029697192}" type="datetimeFigureOut">
              <a:rPr kumimoji="1" lang="ko-KR" altLang="en-US" smtClean="0"/>
              <a:t>2025. 1. 14.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153025" y="1095375"/>
            <a:ext cx="5251450" cy="2957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555750" y="4217988"/>
            <a:ext cx="12446000" cy="34496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323263"/>
            <a:ext cx="6742113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8812213" y="8323263"/>
            <a:ext cx="6742112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D1FB2-097D-B24A-B2B5-B3676FD4D0E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12278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8589" y="273885"/>
            <a:ext cx="6540500" cy="713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3625" y="4907280"/>
            <a:ext cx="10890250" cy="219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1C502-F363-714F-AADE-C390BBE4C0B7}" type="datetime1">
              <a:rPr lang="ko-KR" altLang="en-US" smtClean="0"/>
              <a:t>2025. 1. 14.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978D8-B00A-9146-8705-50C810E25582}" type="datetime1">
              <a:rPr lang="ko-KR" altLang="en-US" smtClean="0"/>
              <a:t>2025. 1. 14.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7875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12112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004CA-8532-D84B-896A-F24F8499857E}" type="datetime1">
              <a:rPr lang="ko-KR" altLang="en-US" smtClean="0"/>
              <a:t>2025. 1. 14.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20D8E-1AC6-AF4E-AC24-49134A318388}" type="datetime1">
              <a:rPr lang="ko-KR" altLang="en-US" smtClean="0"/>
              <a:t>2025. 1. 14.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EC5C54-4E2E-A74F-A727-86D16D7800AB}" type="datetime1">
              <a:rPr lang="ko-KR" altLang="en-US" smtClean="0"/>
              <a:t>2025. 1. 14.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024393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8589" y="273861"/>
            <a:ext cx="13120369" cy="7137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7056" y="1727277"/>
            <a:ext cx="14227943" cy="42877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586186" y="8207366"/>
            <a:ext cx="2656840" cy="371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40" dirty="0"/>
              <a:t>MLOPS</a:t>
            </a:r>
            <a:r>
              <a:rPr spc="-80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7875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C969E-285B-FC4B-B9F7-BA7787C3D2C6}" type="datetime1">
              <a:rPr lang="ko-KR" altLang="en-US" smtClean="0"/>
              <a:t>2025. 1. 14.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01400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tacamp.com/blog/infographic-data-and-machine-learning-tools-landscape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44595" y="2157161"/>
            <a:ext cx="7489190" cy="233489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 marR="5080" algn="ctr">
              <a:lnSpc>
                <a:spcPts val="6770"/>
              </a:lnSpc>
              <a:spcBef>
                <a:spcPts val="1130"/>
              </a:spcBef>
            </a:pPr>
            <a:r>
              <a:rPr sz="6450" spc="-180" dirty="0"/>
              <a:t>Monitoring</a:t>
            </a:r>
            <a:r>
              <a:rPr sz="6450" spc="-200" dirty="0"/>
              <a:t> </a:t>
            </a:r>
            <a:r>
              <a:rPr sz="6450" spc="-80" dirty="0"/>
              <a:t>machine </a:t>
            </a:r>
            <a:r>
              <a:rPr sz="6450" spc="-155" dirty="0"/>
              <a:t>learning</a:t>
            </a:r>
            <a:r>
              <a:rPr sz="6450" spc="-250" dirty="0"/>
              <a:t> </a:t>
            </a:r>
            <a:r>
              <a:rPr sz="6450" spc="-280" dirty="0"/>
              <a:t>models</a:t>
            </a:r>
            <a:endParaRPr sz="6450"/>
          </a:p>
          <a:p>
            <a:pPr marR="53975" algn="ctr">
              <a:lnSpc>
                <a:spcPct val="100000"/>
              </a:lnSpc>
              <a:spcBef>
                <a:spcPts val="910"/>
              </a:spcBef>
              <a:tabLst>
                <a:tab pos="1309370" algn="l"/>
              </a:tabLst>
            </a:pPr>
            <a:r>
              <a:rPr sz="2250" spc="204" dirty="0"/>
              <a:t>M</a:t>
            </a:r>
            <a:r>
              <a:rPr sz="2250" spc="-305" dirty="0"/>
              <a:t> </a:t>
            </a:r>
            <a:r>
              <a:rPr sz="2250" spc="70" dirty="0"/>
              <a:t>LO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80" dirty="0"/>
              <a:t>C</a:t>
            </a:r>
            <a:r>
              <a:rPr sz="2250" spc="-315" dirty="0"/>
              <a:t> </a:t>
            </a:r>
            <a:r>
              <a:rPr sz="2250" spc="70" dirty="0"/>
              <a:t>O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80" dirty="0"/>
              <a:t>C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90" dirty="0"/>
              <a:t>T</a:t>
            </a:r>
            <a:r>
              <a:rPr sz="2250" spc="-30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256730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Folkert</a:t>
            </a:r>
            <a:r>
              <a:rPr sz="25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Stijnman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22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Engineer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BCDE8717-E133-FC2D-C657-4D105B01EBB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</a:t>
            </a:fld>
            <a:endParaRPr lang="en-US" alt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75" dirty="0"/>
              <a:t>Monitoring</a:t>
            </a:r>
            <a:r>
              <a:rPr spc="-155" dirty="0"/>
              <a:t> </a:t>
            </a:r>
            <a:r>
              <a:rPr spc="-425" dirty="0"/>
              <a:t>&amp;</a:t>
            </a:r>
            <a:r>
              <a:rPr spc="-95" dirty="0"/>
              <a:t> </a:t>
            </a:r>
            <a:r>
              <a:rPr spc="-45" dirty="0"/>
              <a:t>retraining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11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93659A-D98A-7010-0813-D4715C4F65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</a:t>
            </a:fld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65" dirty="0"/>
              <a:t>Types</a:t>
            </a:r>
            <a:r>
              <a:rPr spc="-120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spc="-90" dirty="0"/>
              <a:t>monitoring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8084" y="1166812"/>
            <a:ext cx="8761328" cy="43806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8589" y="5882773"/>
            <a:ext cx="14356080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Statistical</a:t>
            </a:r>
            <a:r>
              <a:rPr sz="2550" b="1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monitoring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focuses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input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output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data,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including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predictions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24800"/>
              </a:lnSpc>
              <a:spcBef>
                <a:spcPts val="2500"/>
              </a:spcBef>
            </a:pPr>
            <a:r>
              <a:rPr sz="2650" i="1" dirty="0">
                <a:solidFill>
                  <a:srgbClr val="04182D"/>
                </a:solidFill>
                <a:latin typeface="Arial"/>
                <a:cs typeface="Arial"/>
              </a:rPr>
              <a:t>Examples:</a:t>
            </a:r>
            <a:r>
              <a:rPr sz="2650" i="1" spc="-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customer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X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has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72%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probability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churning,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customer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Y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has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40" dirty="0">
                <a:solidFill>
                  <a:srgbClr val="04182D"/>
                </a:solidFill>
                <a:latin typeface="Arial"/>
                <a:cs typeface="Arial"/>
              </a:rPr>
              <a:t>31%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probability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of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not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churning</a:t>
            </a:r>
            <a:endParaRPr sz="2550">
              <a:latin typeface="Arial"/>
              <a:cs typeface="Arial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4054F6C-CE59-88CF-B9BD-3103CC6A377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</a:t>
            </a:fld>
            <a:endParaRPr lang="en-US" alt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65" dirty="0"/>
              <a:t>Types</a:t>
            </a:r>
            <a:r>
              <a:rPr spc="-120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spc="-90" dirty="0"/>
              <a:t>monitoring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8084" y="1166809"/>
            <a:ext cx="8761328" cy="43806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8589" y="5882769"/>
            <a:ext cx="14319250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Computational</a:t>
            </a:r>
            <a:r>
              <a:rPr sz="2550" b="1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monitoring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focuses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technical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metrics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24800"/>
              </a:lnSpc>
              <a:spcBef>
                <a:spcPts val="2500"/>
              </a:spcBef>
            </a:pPr>
            <a:r>
              <a:rPr sz="2650" i="1" dirty="0">
                <a:solidFill>
                  <a:srgbClr val="04182D"/>
                </a:solidFill>
                <a:latin typeface="Arial"/>
                <a:cs typeface="Arial"/>
              </a:rPr>
              <a:t>Examples:</a:t>
            </a:r>
            <a:r>
              <a:rPr sz="2650" i="1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server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CPU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usage,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number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incoming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requests,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number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predictions,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downtime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server</a:t>
            </a:r>
            <a:endParaRPr sz="2550">
              <a:latin typeface="Arial"/>
              <a:cs typeface="Arial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667A95B-869A-3AD9-6200-0F403A6BF99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4</a:t>
            </a:fld>
            <a:endParaRPr lang="en-US" altLang="ko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3926204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0" dirty="0"/>
              <a:t>Feedback</a:t>
            </a:r>
            <a:r>
              <a:rPr spc="-250" dirty="0"/>
              <a:t> </a:t>
            </a:r>
            <a:r>
              <a:rPr spc="-90" dirty="0"/>
              <a:t>loop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8084" y="1166812"/>
            <a:ext cx="8761328" cy="43806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8589" y="5784515"/>
            <a:ext cx="14085569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Feedback</a:t>
            </a:r>
            <a:r>
              <a:rPr sz="2550" b="1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loop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process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through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which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ground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truth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used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improve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machine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learning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model</a:t>
            </a:r>
            <a:endParaRPr sz="2550">
              <a:latin typeface="Arial"/>
              <a:cs typeface="Arial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03B7689-7E10-E611-9308-79EB55FCBE2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5</a:t>
            </a:fld>
            <a:endParaRPr lang="en-US" alt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75" dirty="0"/>
              <a:t>Monitoring</a:t>
            </a:r>
            <a:r>
              <a:rPr spc="-210" dirty="0"/>
              <a:t> </a:t>
            </a:r>
            <a:r>
              <a:rPr spc="-55" dirty="0"/>
              <a:t>in</a:t>
            </a:r>
            <a:r>
              <a:rPr spc="-204" dirty="0"/>
              <a:t> </a:t>
            </a:r>
            <a:r>
              <a:rPr spc="-90" dirty="0"/>
              <a:t>production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12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3E2482-2730-0F1F-B77A-7C399F59E5B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6</a:t>
            </a:fld>
            <a:endParaRPr lang="en-US" alt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1002" y="1727277"/>
            <a:ext cx="6496050" cy="319468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 marR="5080" algn="ctr">
              <a:lnSpc>
                <a:spcPts val="6770"/>
              </a:lnSpc>
              <a:spcBef>
                <a:spcPts val="1130"/>
              </a:spcBef>
            </a:pPr>
            <a:r>
              <a:rPr sz="6450" spc="-240" dirty="0"/>
              <a:t>Retraining</a:t>
            </a:r>
            <a:r>
              <a:rPr sz="6450" spc="-160" dirty="0"/>
              <a:t> </a:t>
            </a:r>
            <a:r>
              <a:rPr sz="6450" spc="305" dirty="0"/>
              <a:t>a </a:t>
            </a:r>
            <a:r>
              <a:rPr sz="6450" spc="-130" dirty="0"/>
              <a:t>machine</a:t>
            </a:r>
            <a:r>
              <a:rPr sz="6450" spc="-285" dirty="0"/>
              <a:t> </a:t>
            </a:r>
            <a:r>
              <a:rPr sz="6450" spc="-125" dirty="0"/>
              <a:t>learning </a:t>
            </a:r>
            <a:r>
              <a:rPr sz="6450" spc="-10" dirty="0"/>
              <a:t>model</a:t>
            </a:r>
            <a:endParaRPr sz="6450"/>
          </a:p>
          <a:p>
            <a:pPr marR="53340" algn="ctr">
              <a:lnSpc>
                <a:spcPct val="100000"/>
              </a:lnSpc>
              <a:spcBef>
                <a:spcPts val="910"/>
              </a:spcBef>
              <a:tabLst>
                <a:tab pos="1309370" algn="l"/>
              </a:tabLst>
            </a:pPr>
            <a:r>
              <a:rPr sz="2250" spc="204" dirty="0"/>
              <a:t>M</a:t>
            </a:r>
            <a:r>
              <a:rPr sz="2250" spc="-305" dirty="0"/>
              <a:t> </a:t>
            </a:r>
            <a:r>
              <a:rPr sz="2250" spc="70" dirty="0"/>
              <a:t>LO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80" dirty="0"/>
              <a:t>C</a:t>
            </a:r>
            <a:r>
              <a:rPr sz="2250" spc="-315" dirty="0"/>
              <a:t> </a:t>
            </a:r>
            <a:r>
              <a:rPr sz="2250" spc="70" dirty="0"/>
              <a:t>O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80" dirty="0"/>
              <a:t>C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90" dirty="0"/>
              <a:t>T</a:t>
            </a:r>
            <a:r>
              <a:rPr sz="2250" spc="-30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28"/>
            <a:ext cx="256730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Folkert</a:t>
            </a:r>
            <a:r>
              <a:rPr sz="25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Stijnman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22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Engineer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46F671E6-D449-3168-B8F1-F17149485F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7</a:t>
            </a:fld>
            <a:endParaRPr lang="en-US" alt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20" dirty="0"/>
              <a:t>Retraining </a:t>
            </a:r>
            <a:r>
              <a:rPr spc="65" dirty="0"/>
              <a:t>after</a:t>
            </a:r>
            <a:r>
              <a:rPr spc="-114" dirty="0"/>
              <a:t> </a:t>
            </a:r>
            <a:r>
              <a:rPr spc="-50" dirty="0"/>
              <a:t>changes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89" y="1658101"/>
            <a:ext cx="7123695" cy="474913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929812" y="1076324"/>
            <a:ext cx="6729730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Retraining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use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new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develop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fresh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version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machine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learning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model</a:t>
            </a:r>
            <a:endParaRPr sz="2550">
              <a:latin typeface="Arial"/>
              <a:cs typeface="Arial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BA302AE-3BF1-8428-B399-3380B2AF057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8</a:t>
            </a:fld>
            <a:endParaRPr lang="en-US" altLang="ko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20" dirty="0"/>
              <a:t>Data</a:t>
            </a:r>
            <a:r>
              <a:rPr spc="-90" dirty="0"/>
              <a:t> </a:t>
            </a:r>
            <a:r>
              <a:rPr spc="-20" dirty="0"/>
              <a:t>drift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621" y="1166812"/>
            <a:ext cx="10194255" cy="509712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8589" y="6599236"/>
            <a:ext cx="568325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114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r>
              <a:rPr sz="2550" b="1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drift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changes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input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endParaRPr sz="2550">
              <a:latin typeface="Arial"/>
              <a:cs typeface="Arial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46B98B3-0D23-F24D-67A9-AD15FD757C3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9</a:t>
            </a:fld>
            <a:endParaRPr lang="en-US" altLang="ko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Concept</a:t>
            </a:r>
            <a:r>
              <a:rPr spc="-250" dirty="0"/>
              <a:t> </a:t>
            </a:r>
            <a:r>
              <a:rPr spc="-10" dirty="0"/>
              <a:t>drift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621" y="1166812"/>
            <a:ext cx="10194255" cy="509712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8589" y="6599236"/>
            <a:ext cx="1133983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Concept</a:t>
            </a:r>
            <a:r>
              <a:rPr sz="2550" b="1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drift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changes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relationship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between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input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output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endParaRPr sz="2550">
              <a:latin typeface="Arial"/>
              <a:cs typeface="Arial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4F311F6-ED4D-9AEC-103E-121A58149B4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10</a:t>
            </a:fld>
            <a:endParaRPr lang="en-US" alt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How</a:t>
            </a:r>
            <a:r>
              <a:rPr spc="-185" dirty="0"/>
              <a:t> </a:t>
            </a:r>
            <a:r>
              <a:rPr dirty="0"/>
              <a:t>often</a:t>
            </a:r>
            <a:r>
              <a:rPr spc="-185" dirty="0"/>
              <a:t> </a:t>
            </a:r>
            <a:r>
              <a:rPr dirty="0"/>
              <a:t>to</a:t>
            </a:r>
            <a:r>
              <a:rPr spc="-185" dirty="0"/>
              <a:t> </a:t>
            </a:r>
            <a:r>
              <a:rPr spc="-65" dirty="0"/>
              <a:t>retrain?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10025380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spc="-105" dirty="0">
                <a:solidFill>
                  <a:srgbClr val="04182D"/>
                </a:solidFill>
                <a:latin typeface="Arial"/>
                <a:cs typeface="Arial"/>
              </a:rPr>
              <a:t>Business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environment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how</a:t>
            </a:r>
            <a:r>
              <a:rPr sz="2550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volatile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 is</a:t>
            </a:r>
            <a:r>
              <a:rPr sz="2550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data?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Cost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how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much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does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it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cost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retrain?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b="1" spc="-105" dirty="0">
                <a:solidFill>
                  <a:srgbClr val="04182D"/>
                </a:solidFill>
                <a:latin typeface="Arial"/>
                <a:cs typeface="Arial"/>
              </a:rPr>
              <a:t>Business</a:t>
            </a:r>
            <a:r>
              <a:rPr sz="2550" b="1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requirements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what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required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model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performance?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FCC83266-AB97-B542-E795-B3BD0F8CC5B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11</a:t>
            </a:fld>
            <a:endParaRPr lang="en-US" altLang="ko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515175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20" dirty="0"/>
              <a:t>Retraining</a:t>
            </a:r>
            <a:r>
              <a:rPr spc="-155" dirty="0"/>
              <a:t> </a:t>
            </a:r>
            <a:r>
              <a:rPr spc="-75" dirty="0"/>
              <a:t>methods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12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54B9F2-8CDF-99EE-1392-94D1A9000AB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12</a:t>
            </a:fld>
            <a:endParaRPr lang="en-US" alt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73"/>
            <a:ext cx="515175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20" dirty="0"/>
              <a:t>Retraining</a:t>
            </a:r>
            <a:r>
              <a:rPr spc="-155" dirty="0"/>
              <a:t> </a:t>
            </a:r>
            <a:r>
              <a:rPr spc="-75" dirty="0"/>
              <a:t>methods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00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CD41EC-6F32-4A84-A731-8116CC8C30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13</a:t>
            </a:fld>
            <a:endParaRPr lang="en-US" alt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73"/>
            <a:ext cx="550608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0" dirty="0"/>
              <a:t>Automatic</a:t>
            </a:r>
            <a:r>
              <a:rPr spc="-275" dirty="0"/>
              <a:t> </a:t>
            </a:r>
            <a:r>
              <a:rPr spc="-35" dirty="0"/>
              <a:t>retraining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00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9AC552-B5CB-7772-D374-3C9903E2F8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14</a:t>
            </a:fld>
            <a:endParaRPr lang="en-US" alt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588" y="2157161"/>
            <a:ext cx="6097270" cy="233489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 marR="5080" algn="ctr">
              <a:lnSpc>
                <a:spcPts val="6770"/>
              </a:lnSpc>
              <a:spcBef>
                <a:spcPts val="1130"/>
              </a:spcBef>
            </a:pPr>
            <a:r>
              <a:rPr sz="6450" spc="-385" dirty="0"/>
              <a:t>Levels</a:t>
            </a:r>
            <a:r>
              <a:rPr sz="6450" spc="-235" dirty="0"/>
              <a:t> </a:t>
            </a:r>
            <a:r>
              <a:rPr sz="6450" dirty="0"/>
              <a:t>of</a:t>
            </a:r>
            <a:r>
              <a:rPr sz="6450" spc="-310" dirty="0"/>
              <a:t> </a:t>
            </a:r>
            <a:r>
              <a:rPr sz="6450" spc="-200" dirty="0"/>
              <a:t>MLOps </a:t>
            </a:r>
            <a:r>
              <a:rPr sz="6450" spc="-10" dirty="0"/>
              <a:t>maturity</a:t>
            </a:r>
            <a:endParaRPr sz="6450"/>
          </a:p>
          <a:p>
            <a:pPr marR="53975" algn="ctr">
              <a:lnSpc>
                <a:spcPct val="100000"/>
              </a:lnSpc>
              <a:spcBef>
                <a:spcPts val="910"/>
              </a:spcBef>
              <a:tabLst>
                <a:tab pos="1309370" algn="l"/>
              </a:tabLst>
            </a:pPr>
            <a:r>
              <a:rPr sz="2250" spc="204" dirty="0"/>
              <a:t>M</a:t>
            </a:r>
            <a:r>
              <a:rPr sz="2250" spc="-305" dirty="0"/>
              <a:t> </a:t>
            </a:r>
            <a:r>
              <a:rPr sz="2250" spc="70" dirty="0"/>
              <a:t>LO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80" dirty="0"/>
              <a:t>C</a:t>
            </a:r>
            <a:r>
              <a:rPr sz="2250" spc="-315" dirty="0"/>
              <a:t> </a:t>
            </a:r>
            <a:r>
              <a:rPr sz="2250" spc="70" dirty="0"/>
              <a:t>O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80" dirty="0"/>
              <a:t>C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90" dirty="0"/>
              <a:t>T</a:t>
            </a:r>
            <a:r>
              <a:rPr sz="2250" spc="-30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256730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Folkert</a:t>
            </a:r>
            <a:r>
              <a:rPr sz="25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Stijnman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22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Engineer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A8D1735-C26A-865E-25B3-579E14A7A0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15</a:t>
            </a:fld>
            <a:endParaRPr lang="en-US" altLang="ko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10" dirty="0"/>
              <a:t>MLOps</a:t>
            </a:r>
            <a:r>
              <a:rPr spc="-200" dirty="0"/>
              <a:t> </a:t>
            </a:r>
            <a:r>
              <a:rPr spc="-10" dirty="0"/>
              <a:t>maturity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11696065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Level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automation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,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collaboration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,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monitoring</a:t>
            </a:r>
            <a:r>
              <a:rPr sz="2550" b="1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within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MLOps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processes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Higher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level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not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necessarily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better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Focus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development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deployment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phase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8ED421C-D953-2CE5-28D7-6EC6C7A0C1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16</a:t>
            </a:fld>
            <a:endParaRPr lang="en-US" altLang="ko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40" dirty="0"/>
              <a:t>Levels</a:t>
            </a:r>
            <a:r>
              <a:rPr spc="-95" dirty="0"/>
              <a:t> </a:t>
            </a:r>
            <a:r>
              <a:rPr dirty="0"/>
              <a:t>of</a:t>
            </a:r>
            <a:r>
              <a:rPr spc="-150" dirty="0"/>
              <a:t> </a:t>
            </a:r>
            <a:r>
              <a:rPr spc="-110" dirty="0"/>
              <a:t>MLOps</a:t>
            </a:r>
            <a:r>
              <a:rPr spc="-120" dirty="0"/>
              <a:t> </a:t>
            </a:r>
            <a:r>
              <a:rPr spc="-10" dirty="0"/>
              <a:t>maturity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12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DDD38A-553A-F174-C1CB-CD9FA833BEF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17</a:t>
            </a:fld>
            <a:endParaRPr lang="en-US" altLang="ko-K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80" dirty="0"/>
              <a:t>Level</a:t>
            </a:r>
            <a:r>
              <a:rPr spc="-45" dirty="0"/>
              <a:t> </a:t>
            </a:r>
            <a:r>
              <a:rPr spc="-595" dirty="0"/>
              <a:t>1:</a:t>
            </a:r>
            <a:r>
              <a:rPr spc="-45" dirty="0"/>
              <a:t> </a:t>
            </a:r>
            <a:r>
              <a:rPr dirty="0"/>
              <a:t>Manual</a:t>
            </a:r>
            <a:r>
              <a:rPr spc="-45" dirty="0"/>
              <a:t> </a:t>
            </a:r>
            <a:r>
              <a:rPr spc="-165" dirty="0"/>
              <a:t>processes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4216" y="1166812"/>
            <a:ext cx="4257841" cy="64686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2169861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98279" y="1993398"/>
            <a:ext cx="5249545" cy="41852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Manual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process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development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Manual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process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deployment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26400"/>
              </a:lnSpc>
              <a:spcBef>
                <a:spcPts val="1290"/>
              </a:spcBef>
            </a:pP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No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collaboration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between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ML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and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operations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Teams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work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isolation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No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tracking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development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No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monitoring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after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deployment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62982" y="2824914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62982" y="3479967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62982" y="4626308"/>
            <a:ext cx="102352" cy="1023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62982" y="5281361"/>
            <a:ext cx="102352" cy="10235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62982" y="5936413"/>
            <a:ext cx="102352" cy="102351"/>
          </a:xfrm>
          <a:prstGeom prst="rect">
            <a:avLst/>
          </a:prstGeom>
        </p:spPr>
      </p:pic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139490B5-7618-112A-2739-363CB91B7D6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18</a:t>
            </a:fld>
            <a:endParaRPr lang="en-US" altLang="ko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80" dirty="0"/>
              <a:t>Level</a:t>
            </a:r>
            <a:r>
              <a:rPr spc="-145" dirty="0"/>
              <a:t> </a:t>
            </a:r>
            <a:r>
              <a:rPr spc="-220" dirty="0"/>
              <a:t>2:</a:t>
            </a:r>
            <a:r>
              <a:rPr spc="-95" dirty="0"/>
              <a:t> </a:t>
            </a:r>
            <a:r>
              <a:rPr spc="-10" dirty="0"/>
              <a:t>Automated</a:t>
            </a:r>
            <a:r>
              <a:rPr spc="-250" dirty="0"/>
              <a:t> </a:t>
            </a:r>
            <a:r>
              <a:rPr spc="-60" dirty="0"/>
              <a:t>development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4216" y="1166836"/>
            <a:ext cx="4257841" cy="64686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2169885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9952" rIns="0" bIns="0" rtlCol="0">
            <a:spAutoFit/>
          </a:bodyPr>
          <a:lstStyle/>
          <a:p>
            <a:pPr marL="7463790" marR="1626870">
              <a:lnSpc>
                <a:spcPct val="126400"/>
              </a:lnSpc>
              <a:spcBef>
                <a:spcPts val="95"/>
              </a:spcBef>
            </a:pPr>
            <a:r>
              <a:rPr spc="125" dirty="0"/>
              <a:t>Automated</a:t>
            </a:r>
            <a:r>
              <a:rPr spc="60" dirty="0"/>
              <a:t> </a:t>
            </a:r>
            <a:r>
              <a:rPr spc="95" dirty="0"/>
              <a:t>development</a:t>
            </a:r>
            <a:r>
              <a:rPr spc="65" dirty="0"/>
              <a:t> </a:t>
            </a:r>
            <a:r>
              <a:rPr spc="80" dirty="0"/>
              <a:t>pipeline </a:t>
            </a:r>
            <a:r>
              <a:rPr spc="65" dirty="0"/>
              <a:t>(Continuous</a:t>
            </a:r>
            <a:r>
              <a:rPr spc="45" dirty="0"/>
              <a:t> </a:t>
            </a:r>
            <a:r>
              <a:rPr spc="80" dirty="0"/>
              <a:t>integration)</a:t>
            </a:r>
          </a:p>
          <a:p>
            <a:pPr marL="7463790">
              <a:lnSpc>
                <a:spcPct val="100000"/>
              </a:lnSpc>
              <a:spcBef>
                <a:spcPts val="2095"/>
              </a:spcBef>
            </a:pPr>
            <a:r>
              <a:rPr spc="110" dirty="0"/>
              <a:t>Manual</a:t>
            </a:r>
            <a:r>
              <a:rPr spc="50" dirty="0"/>
              <a:t> </a:t>
            </a:r>
            <a:r>
              <a:rPr spc="55" dirty="0"/>
              <a:t>process</a:t>
            </a:r>
            <a:r>
              <a:rPr spc="50" dirty="0"/>
              <a:t> </a:t>
            </a:r>
            <a:r>
              <a:rPr spc="100" dirty="0"/>
              <a:t>for</a:t>
            </a:r>
            <a:r>
              <a:rPr spc="55" dirty="0"/>
              <a:t> </a:t>
            </a:r>
            <a:r>
              <a:rPr spc="105" dirty="0"/>
              <a:t>deployment</a:t>
            </a:r>
          </a:p>
          <a:p>
            <a:pPr marL="7463790" marR="5080">
              <a:lnSpc>
                <a:spcPct val="126400"/>
              </a:lnSpc>
              <a:spcBef>
                <a:spcPts val="1290"/>
              </a:spcBef>
            </a:pPr>
            <a:r>
              <a:rPr spc="125" dirty="0"/>
              <a:t>After</a:t>
            </a:r>
            <a:r>
              <a:rPr spc="45" dirty="0"/>
              <a:t> </a:t>
            </a:r>
            <a:r>
              <a:rPr spc="95" dirty="0"/>
              <a:t>development</a:t>
            </a:r>
            <a:r>
              <a:rPr spc="50" dirty="0"/>
              <a:t> </a:t>
            </a:r>
            <a:r>
              <a:rPr spc="100" dirty="0"/>
              <a:t>teams</a:t>
            </a:r>
            <a:r>
              <a:rPr spc="45" dirty="0"/>
              <a:t> </a:t>
            </a:r>
            <a:r>
              <a:rPr spc="95" dirty="0"/>
              <a:t>will</a:t>
            </a:r>
            <a:r>
              <a:rPr spc="50" dirty="0"/>
              <a:t> </a:t>
            </a:r>
            <a:r>
              <a:rPr spc="110" dirty="0"/>
              <a:t>collaborate</a:t>
            </a:r>
            <a:r>
              <a:rPr spc="50" dirty="0"/>
              <a:t> </a:t>
            </a:r>
            <a:r>
              <a:rPr spc="105" dirty="0"/>
              <a:t>to </a:t>
            </a:r>
            <a:r>
              <a:rPr spc="110" dirty="0"/>
              <a:t>deploy</a:t>
            </a:r>
            <a:r>
              <a:rPr spc="45" dirty="0"/>
              <a:t> </a:t>
            </a:r>
            <a:r>
              <a:rPr spc="95" dirty="0"/>
              <a:t>model</a:t>
            </a:r>
          </a:p>
          <a:p>
            <a:pPr marL="7463790" marR="442595">
              <a:lnSpc>
                <a:spcPts val="5160"/>
              </a:lnSpc>
              <a:spcBef>
                <a:spcPts val="320"/>
              </a:spcBef>
            </a:pPr>
            <a:r>
              <a:rPr spc="55" dirty="0"/>
              <a:t>Tracking </a:t>
            </a:r>
            <a:r>
              <a:rPr spc="150" dirty="0"/>
              <a:t>of</a:t>
            </a:r>
            <a:r>
              <a:rPr spc="60" dirty="0"/>
              <a:t> ML</a:t>
            </a:r>
            <a:r>
              <a:rPr spc="55" dirty="0"/>
              <a:t> </a:t>
            </a:r>
            <a:r>
              <a:rPr spc="75" dirty="0"/>
              <a:t>experiments</a:t>
            </a:r>
            <a:r>
              <a:rPr spc="60" dirty="0"/>
              <a:t> </a:t>
            </a:r>
            <a:r>
              <a:rPr spc="130" dirty="0"/>
              <a:t>and</a:t>
            </a:r>
            <a:r>
              <a:rPr spc="60" dirty="0"/>
              <a:t> </a:t>
            </a:r>
            <a:r>
              <a:rPr spc="75" dirty="0"/>
              <a:t>features </a:t>
            </a:r>
            <a:r>
              <a:rPr spc="85" dirty="0"/>
              <a:t>Little</a:t>
            </a:r>
            <a:r>
              <a:rPr spc="60" dirty="0"/>
              <a:t> </a:t>
            </a:r>
            <a:r>
              <a:rPr spc="100" dirty="0"/>
              <a:t>monitoring</a:t>
            </a:r>
            <a:r>
              <a:rPr spc="60" dirty="0"/>
              <a:t> </a:t>
            </a:r>
            <a:r>
              <a:rPr spc="140" dirty="0"/>
              <a:t>after</a:t>
            </a:r>
            <a:r>
              <a:rPr spc="60" dirty="0"/>
              <a:t> </a:t>
            </a:r>
            <a:r>
              <a:rPr spc="105" dirty="0"/>
              <a:t>deployment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62982" y="3316227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62982" y="3971280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5117622"/>
            <a:ext cx="102352" cy="1023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62982" y="5772674"/>
            <a:ext cx="102352" cy="102351"/>
          </a:xfrm>
          <a:prstGeom prst="rect">
            <a:avLst/>
          </a:prstGeom>
        </p:spPr>
      </p:pic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B853A8EA-DB28-E208-CA91-DAC75BCAD05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19</a:t>
            </a:fld>
            <a:endParaRPr lang="en-US" altLang="ko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80" dirty="0"/>
              <a:t>Level</a:t>
            </a:r>
            <a:r>
              <a:rPr spc="-145" dirty="0"/>
              <a:t> </a:t>
            </a:r>
            <a:r>
              <a:rPr spc="-150" dirty="0"/>
              <a:t>3:</a:t>
            </a:r>
            <a:r>
              <a:rPr spc="-160" dirty="0"/>
              <a:t> </a:t>
            </a:r>
            <a:r>
              <a:rPr spc="-10" dirty="0"/>
              <a:t>Automated</a:t>
            </a:r>
            <a:r>
              <a:rPr spc="-220" dirty="0"/>
              <a:t> </a:t>
            </a:r>
            <a:r>
              <a:rPr spc="-85" dirty="0"/>
              <a:t>development</a:t>
            </a:r>
            <a:r>
              <a:rPr spc="-170" dirty="0"/>
              <a:t> </a:t>
            </a:r>
            <a:r>
              <a:rPr dirty="0"/>
              <a:t>and</a:t>
            </a:r>
            <a:r>
              <a:rPr spc="-170" dirty="0"/>
              <a:t> </a:t>
            </a:r>
            <a:r>
              <a:rPr spc="-10" dirty="0"/>
              <a:t>deployment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4216" y="1166812"/>
            <a:ext cx="4257841" cy="64686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2169861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81995" rIns="0" bIns="0" rtlCol="0">
            <a:spAutoFit/>
          </a:bodyPr>
          <a:lstStyle/>
          <a:p>
            <a:pPr marL="7463790">
              <a:lnSpc>
                <a:spcPct val="100000"/>
              </a:lnSpc>
              <a:spcBef>
                <a:spcPts val="125"/>
              </a:spcBef>
            </a:pPr>
            <a:r>
              <a:rPr spc="125" dirty="0"/>
              <a:t>Automated</a:t>
            </a:r>
            <a:r>
              <a:rPr spc="60" dirty="0"/>
              <a:t> </a:t>
            </a:r>
            <a:r>
              <a:rPr spc="95" dirty="0"/>
              <a:t>development</a:t>
            </a:r>
            <a:r>
              <a:rPr spc="65" dirty="0"/>
              <a:t> </a:t>
            </a:r>
            <a:r>
              <a:rPr spc="90" dirty="0"/>
              <a:t>pipeline</a:t>
            </a:r>
            <a:r>
              <a:rPr spc="60" dirty="0"/>
              <a:t> </a:t>
            </a:r>
            <a:r>
              <a:rPr spc="-20" dirty="0"/>
              <a:t>(CI)</a:t>
            </a:r>
          </a:p>
          <a:p>
            <a:pPr marL="7463790" marR="1010285">
              <a:lnSpc>
                <a:spcPts val="5160"/>
              </a:lnSpc>
              <a:spcBef>
                <a:spcPts val="520"/>
              </a:spcBef>
            </a:pPr>
            <a:r>
              <a:rPr spc="125" dirty="0"/>
              <a:t>Automated</a:t>
            </a:r>
            <a:r>
              <a:rPr spc="60" dirty="0"/>
              <a:t> </a:t>
            </a:r>
            <a:r>
              <a:rPr spc="114" dirty="0"/>
              <a:t>deployment</a:t>
            </a:r>
            <a:r>
              <a:rPr spc="60" dirty="0"/>
              <a:t> </a:t>
            </a:r>
            <a:r>
              <a:rPr spc="90" dirty="0"/>
              <a:t>pipeline</a:t>
            </a:r>
            <a:r>
              <a:rPr spc="60" dirty="0"/>
              <a:t> </a:t>
            </a:r>
            <a:r>
              <a:rPr spc="-20" dirty="0"/>
              <a:t>(CD) </a:t>
            </a:r>
            <a:r>
              <a:rPr spc="55" dirty="0"/>
              <a:t>Close</a:t>
            </a:r>
            <a:r>
              <a:rPr spc="65" dirty="0"/>
              <a:t> </a:t>
            </a:r>
            <a:r>
              <a:rPr spc="105" dirty="0"/>
              <a:t>collaboration</a:t>
            </a:r>
            <a:r>
              <a:rPr spc="70" dirty="0"/>
              <a:t> </a:t>
            </a:r>
            <a:r>
              <a:rPr spc="110" dirty="0"/>
              <a:t>between</a:t>
            </a:r>
            <a:r>
              <a:rPr spc="65" dirty="0"/>
              <a:t> </a:t>
            </a:r>
            <a:r>
              <a:rPr spc="90" dirty="0"/>
              <a:t>teams</a:t>
            </a:r>
          </a:p>
          <a:p>
            <a:pPr marL="7463790">
              <a:lnSpc>
                <a:spcPct val="100000"/>
              </a:lnSpc>
              <a:spcBef>
                <a:spcPts val="1575"/>
              </a:spcBef>
            </a:pPr>
            <a:r>
              <a:rPr spc="100" dirty="0"/>
              <a:t>Monitoring</a:t>
            </a:r>
            <a:r>
              <a:rPr spc="50" dirty="0"/>
              <a:t> </a:t>
            </a:r>
            <a:r>
              <a:rPr spc="150" dirty="0"/>
              <a:t>of</a:t>
            </a:r>
            <a:r>
              <a:rPr spc="55" dirty="0"/>
              <a:t> </a:t>
            </a:r>
            <a:r>
              <a:rPr spc="95" dirty="0"/>
              <a:t>development</a:t>
            </a:r>
            <a:r>
              <a:rPr spc="55" dirty="0"/>
              <a:t> </a:t>
            </a:r>
            <a:r>
              <a:rPr spc="130" dirty="0"/>
              <a:t>and</a:t>
            </a:r>
            <a:r>
              <a:rPr spc="55" dirty="0"/>
              <a:t> </a:t>
            </a:r>
            <a:r>
              <a:rPr spc="105" dirty="0"/>
              <a:t>deployment</a:t>
            </a:r>
          </a:p>
          <a:p>
            <a:pPr marL="7463790" marR="1325245">
              <a:lnSpc>
                <a:spcPct val="126400"/>
              </a:lnSpc>
              <a:spcBef>
                <a:spcPts val="1290"/>
              </a:spcBef>
            </a:pPr>
            <a:r>
              <a:rPr spc="80" dirty="0"/>
              <a:t>Potentially</a:t>
            </a:r>
            <a:r>
              <a:rPr spc="50" dirty="0"/>
              <a:t> </a:t>
            </a:r>
            <a:r>
              <a:rPr spc="135" dirty="0"/>
              <a:t>automatically</a:t>
            </a:r>
            <a:r>
              <a:rPr spc="55" dirty="0"/>
              <a:t> </a:t>
            </a:r>
            <a:r>
              <a:rPr spc="110" dirty="0"/>
              <a:t>triggering </a:t>
            </a:r>
            <a:r>
              <a:rPr spc="85" dirty="0"/>
              <a:t>retraining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62982" y="2824914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62982" y="3479967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62982" y="4135019"/>
            <a:ext cx="102352" cy="1023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4790072"/>
            <a:ext cx="102352" cy="102351"/>
          </a:xfrm>
          <a:prstGeom prst="rect">
            <a:avLst/>
          </a:prstGeom>
        </p:spPr>
      </p:pic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B3F2420A-B8B6-B964-2860-3C3E1A61766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20</a:t>
            </a:fld>
            <a:endParaRPr lang="en-US" altLang="ko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6968" y="2236119"/>
            <a:ext cx="4644390" cy="1825625"/>
          </a:xfrm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60"/>
              </a:spcBef>
            </a:pPr>
            <a:r>
              <a:rPr sz="6450" spc="-254" dirty="0"/>
              <a:t>MLOps</a:t>
            </a:r>
            <a:r>
              <a:rPr sz="6450" spc="-210" dirty="0"/>
              <a:t> </a:t>
            </a:r>
            <a:r>
              <a:rPr sz="6450" spc="-305" dirty="0"/>
              <a:t>tools</a:t>
            </a:r>
            <a:endParaRPr sz="6450"/>
          </a:p>
          <a:p>
            <a:pPr marR="53975" algn="ctr">
              <a:lnSpc>
                <a:spcPct val="100000"/>
              </a:lnSpc>
              <a:spcBef>
                <a:spcPts val="969"/>
              </a:spcBef>
              <a:tabLst>
                <a:tab pos="1309370" algn="l"/>
              </a:tabLst>
            </a:pPr>
            <a:r>
              <a:rPr sz="2250" spc="204" dirty="0"/>
              <a:t>M</a:t>
            </a:r>
            <a:r>
              <a:rPr sz="2250" spc="-305" dirty="0"/>
              <a:t> </a:t>
            </a:r>
            <a:r>
              <a:rPr sz="2250" spc="70" dirty="0"/>
              <a:t>LO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80" dirty="0"/>
              <a:t>C</a:t>
            </a:r>
            <a:r>
              <a:rPr sz="2250" spc="-315" dirty="0"/>
              <a:t> </a:t>
            </a:r>
            <a:r>
              <a:rPr sz="2250" spc="70" dirty="0"/>
              <a:t>O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80" dirty="0"/>
              <a:t>C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90" dirty="0"/>
              <a:t>T</a:t>
            </a:r>
            <a:r>
              <a:rPr sz="2250" spc="-30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256730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Folkert</a:t>
            </a:r>
            <a:r>
              <a:rPr sz="25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Stijnman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22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Engineer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BB401A01-E658-5FAA-25FA-7C538F857D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21</a:t>
            </a:fld>
            <a:endParaRPr lang="en-US" altLang="ko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330009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10" dirty="0"/>
              <a:t>MLOps</a:t>
            </a:r>
            <a:r>
              <a:rPr spc="-200" dirty="0"/>
              <a:t> </a:t>
            </a:r>
            <a:r>
              <a:rPr spc="-140" dirty="0"/>
              <a:t>tools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0088" y="1166812"/>
            <a:ext cx="9457320" cy="59978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663" y="7499933"/>
            <a:ext cx="1242187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50" spc="-517" baseline="26143" dirty="0">
                <a:solidFill>
                  <a:srgbClr val="04182D"/>
                </a:solidFill>
                <a:latin typeface="Arial"/>
                <a:cs typeface="Arial"/>
              </a:rPr>
              <a:t>1</a:t>
            </a:r>
            <a:r>
              <a:rPr sz="2550" spc="569" baseline="26143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250" spc="110" dirty="0">
                <a:solidFill>
                  <a:srgbClr val="04182D"/>
                </a:solidFill>
                <a:latin typeface="Arial"/>
                <a:cs typeface="Arial"/>
              </a:rPr>
              <a:t>https://</a:t>
            </a:r>
            <a:r>
              <a:rPr sz="2250" spc="110" dirty="0">
                <a:solidFill>
                  <a:srgbClr val="04182D"/>
                </a:solidFill>
                <a:latin typeface="Arial"/>
                <a:cs typeface="Arial"/>
                <a:hlinkClick r:id="rId3"/>
              </a:rPr>
              <a:t>www.datacamp.com/blog/infographic-data-</a:t>
            </a:r>
            <a:r>
              <a:rPr sz="2250" spc="85" dirty="0">
                <a:solidFill>
                  <a:srgbClr val="04182D"/>
                </a:solidFill>
                <a:latin typeface="Arial"/>
                <a:cs typeface="Arial"/>
                <a:hlinkClick r:id="rId3"/>
              </a:rPr>
              <a:t>and-</a:t>
            </a:r>
            <a:r>
              <a:rPr sz="2250" spc="75" dirty="0">
                <a:solidFill>
                  <a:srgbClr val="04182D"/>
                </a:solidFill>
                <a:latin typeface="Arial"/>
                <a:cs typeface="Arial"/>
                <a:hlinkClick r:id="rId3"/>
              </a:rPr>
              <a:t>machine-</a:t>
            </a:r>
            <a:r>
              <a:rPr sz="2250" spc="65" dirty="0">
                <a:solidFill>
                  <a:srgbClr val="04182D"/>
                </a:solidFill>
                <a:latin typeface="Arial"/>
                <a:cs typeface="Arial"/>
                <a:hlinkClick r:id="rId3"/>
              </a:rPr>
              <a:t>learning-</a:t>
            </a:r>
            <a:r>
              <a:rPr sz="2250" spc="50" dirty="0">
                <a:solidFill>
                  <a:srgbClr val="04182D"/>
                </a:solidFill>
                <a:latin typeface="Arial"/>
                <a:cs typeface="Arial"/>
                <a:hlinkClick r:id="rId3"/>
              </a:rPr>
              <a:t>tools-</a:t>
            </a:r>
            <a:r>
              <a:rPr sz="2250" spc="70" dirty="0">
                <a:solidFill>
                  <a:srgbClr val="04182D"/>
                </a:solidFill>
                <a:latin typeface="Arial"/>
                <a:cs typeface="Arial"/>
                <a:hlinkClick r:id="rId3"/>
              </a:rPr>
              <a:t>landscape</a:t>
            </a:r>
            <a:endParaRPr sz="2250">
              <a:latin typeface="Arial"/>
              <a:cs typeface="Arial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BF86F1D-8545-53EF-5B55-0C5D8179E76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22</a:t>
            </a:fld>
            <a:endParaRPr lang="en-US" altLang="ko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353377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Feature</a:t>
            </a:r>
            <a:r>
              <a:rPr spc="-275" dirty="0"/>
              <a:t> </a:t>
            </a:r>
            <a:r>
              <a:rPr spc="-105" dirty="0"/>
              <a:t>store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61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993398"/>
            <a:ext cx="5359400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Both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open-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source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Feast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-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self-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managed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b="1" spc="-35" dirty="0">
                <a:solidFill>
                  <a:srgbClr val="04182D"/>
                </a:solidFill>
                <a:latin typeface="Arial"/>
                <a:cs typeface="Arial"/>
              </a:rPr>
              <a:t>Hopsworks</a:t>
            </a:r>
            <a:r>
              <a:rPr sz="2550" spc="-35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60" dirty="0">
                <a:solidFill>
                  <a:srgbClr val="04182D"/>
                </a:solidFill>
                <a:latin typeface="Arial"/>
                <a:cs typeface="Arial"/>
              </a:rPr>
              <a:t>part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larger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platform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824914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3479967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42512" y="1166812"/>
            <a:ext cx="7123696" cy="6530054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BC686C0B-C4DA-BBE6-093B-204E79C3DF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23</a:t>
            </a:fld>
            <a:endParaRPr lang="en-US" altLang="ko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80" dirty="0"/>
              <a:t>Experiment</a:t>
            </a:r>
            <a:r>
              <a:rPr spc="-220" dirty="0"/>
              <a:t> </a:t>
            </a:r>
            <a:r>
              <a:rPr spc="-10" dirty="0"/>
              <a:t>tracking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61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895140"/>
            <a:ext cx="6764020" cy="2154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MLFlow</a:t>
            </a:r>
            <a:r>
              <a:rPr sz="2550" b="1" spc="10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b="1" spc="114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ClearML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 full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machine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learning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lifecycle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tools</a:t>
            </a:r>
            <a:endParaRPr sz="2550">
              <a:latin typeface="Arial"/>
              <a:cs typeface="Arial"/>
            </a:endParaRPr>
          </a:p>
          <a:p>
            <a:pPr marL="12700" marR="1602740">
              <a:lnSpc>
                <a:spcPct val="126400"/>
              </a:lnSpc>
              <a:spcBef>
                <a:spcPts val="1290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Weights</a:t>
            </a: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60" dirty="0">
                <a:solidFill>
                  <a:srgbClr val="04182D"/>
                </a:solidFill>
                <a:latin typeface="Arial"/>
                <a:cs typeface="Arial"/>
              </a:rPr>
              <a:t>Biases</a:t>
            </a:r>
            <a:r>
              <a:rPr sz="2550" spc="-6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tracking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and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visualizing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experiments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58976" y="1166812"/>
            <a:ext cx="5690769" cy="5690769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1C29A19-EFB3-9074-AB9B-2F54F42A6E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24</a:t>
            </a:fld>
            <a:endParaRPr lang="en-US" altLang="ko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65" dirty="0"/>
              <a:t>Containerization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6414770" cy="2711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Docker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containerizing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applications</a:t>
            </a:r>
            <a:endParaRPr sz="2550">
              <a:latin typeface="Arial"/>
              <a:cs typeface="Arial"/>
            </a:endParaRPr>
          </a:p>
          <a:p>
            <a:pPr marL="12700" marR="1116965">
              <a:lnSpc>
                <a:spcPct val="126400"/>
              </a:lnSpc>
              <a:spcBef>
                <a:spcPts val="1290"/>
              </a:spcBef>
            </a:pP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Kubernetes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-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running</a:t>
            </a:r>
            <a:r>
              <a:rPr sz="2550" spc="-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containerized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applications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26400"/>
              </a:lnSpc>
              <a:spcBef>
                <a:spcPts val="1295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Cloud</a:t>
            </a:r>
            <a:r>
              <a:rPr sz="2550" b="1" spc="-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35" dirty="0">
                <a:solidFill>
                  <a:srgbClr val="04182D"/>
                </a:solidFill>
                <a:latin typeface="Arial"/>
                <a:cs typeface="Arial"/>
              </a:rPr>
              <a:t>providers</a:t>
            </a:r>
            <a:r>
              <a:rPr sz="2550" spc="-35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-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provides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Kubernetes-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like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services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15244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42512" y="1166812"/>
            <a:ext cx="7123696" cy="6530054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D9055CF7-1A7A-C7A5-8869-5AC766600B2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25</a:t>
            </a:fld>
            <a:endParaRPr lang="en-US" altLang="ko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225" dirty="0"/>
              <a:t>CI/CD</a:t>
            </a:r>
            <a:r>
              <a:rPr spc="-95" dirty="0"/>
              <a:t> </a:t>
            </a:r>
            <a:r>
              <a:rPr spc="-75" dirty="0"/>
              <a:t>pipeline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22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076300"/>
            <a:ext cx="6259195" cy="2154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20470">
              <a:lnSpc>
                <a:spcPct val="126400"/>
              </a:lnSpc>
              <a:spcBef>
                <a:spcPts val="95"/>
              </a:spcBef>
            </a:pPr>
            <a:r>
              <a:rPr sz="2550" b="1" spc="-30" dirty="0">
                <a:solidFill>
                  <a:srgbClr val="04182D"/>
                </a:solidFill>
                <a:latin typeface="Arial"/>
                <a:cs typeface="Arial"/>
              </a:rPr>
              <a:t>Jenkins</a:t>
            </a:r>
            <a:r>
              <a:rPr sz="2550" spc="-3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-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open-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source</a:t>
            </a:r>
            <a:r>
              <a:rPr sz="2550" spc="-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continuous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integration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tool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26400"/>
              </a:lnSpc>
              <a:spcBef>
                <a:spcPts val="1290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GitLab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code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sharing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version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control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through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repositories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497364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42512" y="1166788"/>
            <a:ext cx="7123696" cy="6530054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ABCA1F6-0665-8507-C36E-31BA94D63E4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26</a:t>
            </a:fld>
            <a:endParaRPr lang="en-US" altLang="ko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70" dirty="0"/>
              <a:t>Monitoring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22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58"/>
            <a:ext cx="6735445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Fiddler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machine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learning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model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monitoring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b="1" spc="70" dirty="0">
                <a:solidFill>
                  <a:srgbClr val="04182D"/>
                </a:solidFill>
                <a:latin typeface="Arial"/>
                <a:cs typeface="Arial"/>
              </a:rPr>
              <a:t>Great</a:t>
            </a:r>
            <a:r>
              <a:rPr sz="2550" b="1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expectations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monitoring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74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42512" y="1166788"/>
            <a:ext cx="7123696" cy="6530054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60ED3F5E-DCEB-40EF-B089-EF45D8B7CF2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27</a:t>
            </a:fld>
            <a:endParaRPr lang="en-US" altLang="ko-K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10" dirty="0"/>
              <a:t>MLOps</a:t>
            </a:r>
            <a:r>
              <a:rPr spc="-200" dirty="0"/>
              <a:t> </a:t>
            </a:r>
            <a:r>
              <a:rPr spc="-55" dirty="0"/>
              <a:t>platforms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169837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824890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479943"/>
            <a:ext cx="102352" cy="10235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78589" y="1174558"/>
            <a:ext cx="6029325" cy="2547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Tools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full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machine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learning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lifecycle</a:t>
            </a:r>
            <a:endParaRPr sz="2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5"/>
              </a:spcBef>
            </a:pPr>
            <a:r>
              <a:rPr sz="2550" b="1" spc="-110" dirty="0">
                <a:solidFill>
                  <a:srgbClr val="04182D"/>
                </a:solidFill>
                <a:latin typeface="Arial"/>
                <a:cs typeface="Arial"/>
              </a:rPr>
              <a:t>AWS</a:t>
            </a:r>
            <a:r>
              <a:rPr sz="2550" b="1" spc="-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Sagemaker</a:t>
            </a:r>
            <a:endParaRPr sz="2550">
              <a:latin typeface="Arial"/>
              <a:cs typeface="Arial"/>
            </a:endParaRPr>
          </a:p>
          <a:p>
            <a:pPr marL="381000" marR="1649730">
              <a:lnSpc>
                <a:spcPts val="5160"/>
              </a:lnSpc>
              <a:spcBef>
                <a:spcPts val="315"/>
              </a:spcBef>
            </a:pP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Azure</a:t>
            </a:r>
            <a:r>
              <a:rPr sz="2550" b="1" spc="45" dirty="0">
                <a:solidFill>
                  <a:srgbClr val="04182D"/>
                </a:solidFill>
                <a:latin typeface="Arial"/>
                <a:cs typeface="Arial"/>
              </a:rPr>
              <a:t> Machine </a:t>
            </a: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Learning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Google</a:t>
            </a:r>
            <a:r>
              <a:rPr sz="2550" b="1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dirty="0">
                <a:solidFill>
                  <a:srgbClr val="04182D"/>
                </a:solidFill>
                <a:latin typeface="Arial"/>
                <a:cs typeface="Arial"/>
              </a:rPr>
              <a:t>Cloud AI</a:t>
            </a:r>
            <a:r>
              <a:rPr sz="2550" b="1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Arial"/>
                <a:cs typeface="Arial"/>
              </a:rPr>
              <a:t>platform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42512" y="1166788"/>
            <a:ext cx="7123696" cy="6530054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ADB3F49A-E72C-D67F-5D13-65D29D9016E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28</a:t>
            </a:fld>
            <a:endParaRPr lang="en-US" altLang="ko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6986" y="2157137"/>
            <a:ext cx="5404485" cy="233489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 marR="5080" algn="ctr">
              <a:lnSpc>
                <a:spcPts val="6770"/>
              </a:lnSpc>
              <a:spcBef>
                <a:spcPts val="1130"/>
              </a:spcBef>
            </a:pPr>
            <a:r>
              <a:rPr sz="6450" spc="-275" dirty="0"/>
              <a:t>Recap:</a:t>
            </a:r>
            <a:r>
              <a:rPr sz="6450" spc="-215" dirty="0"/>
              <a:t> </a:t>
            </a:r>
            <a:r>
              <a:rPr sz="6450" spc="-200" dirty="0"/>
              <a:t>MLOps </a:t>
            </a:r>
            <a:r>
              <a:rPr sz="6450" spc="-90" dirty="0"/>
              <a:t>concepts</a:t>
            </a:r>
            <a:endParaRPr sz="6450"/>
          </a:p>
          <a:p>
            <a:pPr marR="53975" algn="ctr">
              <a:lnSpc>
                <a:spcPct val="100000"/>
              </a:lnSpc>
              <a:spcBef>
                <a:spcPts val="910"/>
              </a:spcBef>
              <a:tabLst>
                <a:tab pos="1309370" algn="l"/>
              </a:tabLst>
            </a:pPr>
            <a:r>
              <a:rPr sz="2250" spc="204" dirty="0"/>
              <a:t>M</a:t>
            </a:r>
            <a:r>
              <a:rPr sz="2250" spc="-305" dirty="0"/>
              <a:t> </a:t>
            </a:r>
            <a:r>
              <a:rPr sz="2250" spc="70" dirty="0"/>
              <a:t>LO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50" dirty="0"/>
              <a:t>S</a:t>
            </a:r>
            <a:r>
              <a:rPr sz="2250" dirty="0"/>
              <a:t>	</a:t>
            </a:r>
            <a:r>
              <a:rPr sz="2250" spc="80" dirty="0"/>
              <a:t>C</a:t>
            </a:r>
            <a:r>
              <a:rPr sz="2250" spc="-315" dirty="0"/>
              <a:t> </a:t>
            </a:r>
            <a:r>
              <a:rPr sz="2250" spc="70" dirty="0"/>
              <a:t>O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80" dirty="0"/>
              <a:t>C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90" dirty="0"/>
              <a:t>T</a:t>
            </a:r>
            <a:r>
              <a:rPr sz="2250" spc="-30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10"/>
            <a:ext cx="2567305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Folkert</a:t>
            </a:r>
            <a:r>
              <a:rPr sz="25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Stijnman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sz="22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Arial"/>
                <a:cs typeface="Arial"/>
              </a:rPr>
              <a:t>Engineer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55EE9F85-E02B-A0C1-CD4F-1AC1E3EC8C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29</a:t>
            </a:fld>
            <a:endParaRPr lang="en-US" altLang="ko-K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What</a:t>
            </a:r>
            <a:r>
              <a:rPr spc="-65" dirty="0"/>
              <a:t> </a:t>
            </a:r>
            <a:r>
              <a:rPr spc="-280" dirty="0"/>
              <a:t>is</a:t>
            </a:r>
            <a:r>
              <a:rPr spc="-65" dirty="0"/>
              <a:t> </a:t>
            </a:r>
            <a:r>
              <a:rPr spc="-155" dirty="0"/>
              <a:t>MLOps?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788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8D8BB7-316B-5098-4B24-3C83361863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30</a:t>
            </a:fld>
            <a:endParaRPr lang="en-US" altLang="ko-K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20" dirty="0"/>
              <a:t>Design</a:t>
            </a:r>
            <a:r>
              <a:rPr spc="-135" dirty="0"/>
              <a:t> </a:t>
            </a:r>
            <a:r>
              <a:rPr dirty="0"/>
              <a:t>and</a:t>
            </a:r>
            <a:r>
              <a:rPr spc="-135" dirty="0"/>
              <a:t> </a:t>
            </a:r>
            <a:r>
              <a:rPr spc="-70" dirty="0"/>
              <a:t>development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12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DAC83F-FAFC-E5CD-0505-5BAB4526C9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31</a:t>
            </a:fld>
            <a:endParaRPr lang="en-US" altLang="ko-K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5" dirty="0"/>
              <a:t>Deployment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12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CBE08E-2B63-F099-065E-343998F84A5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32</a:t>
            </a:fld>
            <a:endParaRPr lang="en-US" altLang="ko-K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Maintaining</a:t>
            </a:r>
            <a:r>
              <a:rPr spc="-245" dirty="0"/>
              <a:t> </a:t>
            </a:r>
            <a:r>
              <a:rPr spc="-40" dirty="0"/>
              <a:t>machine</a:t>
            </a:r>
            <a:r>
              <a:rPr spc="-240" dirty="0"/>
              <a:t> </a:t>
            </a:r>
            <a:r>
              <a:rPr spc="-20"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8223" y="1166812"/>
            <a:ext cx="13101050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1B66CC-CB28-A6E8-4ECC-E28FD5F444E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33</a:t>
            </a:fld>
            <a:endParaRPr lang="en-US" alt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182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558</Words>
  <Application>Microsoft Macintosh PowerPoint</Application>
  <PresentationFormat>사용자 지정</PresentationFormat>
  <Paragraphs>126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6" baseType="lpstr">
      <vt:lpstr>맑은 고딕</vt:lpstr>
      <vt:lpstr>Arial</vt:lpstr>
      <vt:lpstr>Office Theme</vt:lpstr>
      <vt:lpstr>Monitoring machine learning models M LO P S C O N C E P T S</vt:lpstr>
      <vt:lpstr>Monitoring &amp; retraining</vt:lpstr>
      <vt:lpstr>Types of monitoring</vt:lpstr>
      <vt:lpstr>Types of monitoring</vt:lpstr>
      <vt:lpstr>Feedback loop</vt:lpstr>
      <vt:lpstr>Monitoring in production</vt:lpstr>
      <vt:lpstr>Retraining a machine learning model M LO P S C O N C E P T S</vt:lpstr>
      <vt:lpstr>Retraining after changes</vt:lpstr>
      <vt:lpstr>Data drift</vt:lpstr>
      <vt:lpstr>Concept drift</vt:lpstr>
      <vt:lpstr>How often to retrain?</vt:lpstr>
      <vt:lpstr>Retraining methods</vt:lpstr>
      <vt:lpstr>Retraining methods</vt:lpstr>
      <vt:lpstr>Automatic retraining</vt:lpstr>
      <vt:lpstr>Levels of MLOps maturity M LO P S C O N C E P T S</vt:lpstr>
      <vt:lpstr>MLOps maturity</vt:lpstr>
      <vt:lpstr>Levels of MLOps maturity</vt:lpstr>
      <vt:lpstr>Level 1: Manual processes</vt:lpstr>
      <vt:lpstr>Level 2: Automated development</vt:lpstr>
      <vt:lpstr>Level 3: Automated development and deployment</vt:lpstr>
      <vt:lpstr>MLOps tools M LO P S C O N C E P T S</vt:lpstr>
      <vt:lpstr>MLOps tools</vt:lpstr>
      <vt:lpstr>Feature store</vt:lpstr>
      <vt:lpstr>Experiment tracking</vt:lpstr>
      <vt:lpstr>Containerization</vt:lpstr>
      <vt:lpstr>CI/CD pipeline</vt:lpstr>
      <vt:lpstr>Monitoring</vt:lpstr>
      <vt:lpstr>MLOps platforms</vt:lpstr>
      <vt:lpstr>Recap: MLOps concepts M LO P S C O N C E P T S</vt:lpstr>
      <vt:lpstr>What is MLOps?</vt:lpstr>
      <vt:lpstr>Design and development</vt:lpstr>
      <vt:lpstr>Deployment</vt:lpstr>
      <vt:lpstr>Maintaining machine learning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백우진</cp:lastModifiedBy>
  <cp:revision>6</cp:revision>
  <dcterms:created xsi:type="dcterms:W3CDTF">2025-01-14T09:16:06Z</dcterms:created>
  <dcterms:modified xsi:type="dcterms:W3CDTF">2025-01-14T11:38:07Z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2025-01-08T00:00:00Z</vt:filetime>
  </property>
  <property fmtid="{D5CDD505-2E9C-101B-9397-08002B2CF9AE}" pid="3" name="Creator">
    <vt:lpwstr>Chromium</vt:lpwstr>
  </property>
  <property fmtid="{D5CDD505-2E9C-101B-9397-08002B2CF9AE}" pid="4" name="LastSaved">
    <vt:filetime>2025-01-14T00:00:00Z</vt:filetime>
  </property>
  <property fmtid="{D5CDD505-2E9C-101B-9397-08002B2CF9AE}" pid="5" name="Producer">
    <vt:lpwstr>Skia/PDF m89</vt:lpwstr>
  </property>
</Properties>
</file>