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1" r:id="rId5"/>
    <p:sldId id="264" r:id="rId6"/>
    <p:sldId id="266" r:id="rId7"/>
    <p:sldId id="291" r:id="rId8"/>
    <p:sldId id="292" r:id="rId9"/>
    <p:sldId id="293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94" r:id="rId18"/>
    <p:sldId id="295" r:id="rId19"/>
    <p:sldId id="275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0"/>
    <p:restoredTop sz="94694"/>
  </p:normalViewPr>
  <p:slideViewPr>
    <p:cSldViewPr>
      <p:cViewPr varScale="1">
        <p:scale>
          <a:sx n="74" d="100"/>
          <a:sy n="74" d="100"/>
        </p:scale>
        <p:origin x="192" y="7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6ED99-3CE2-9F40-8BDC-79FAB1CC87D6}" type="datetimeFigureOut">
              <a:rPr kumimoji="1" lang="ko-KR" altLang="en-US" smtClean="0"/>
              <a:t>2025. 1. 14.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12F8A-8973-F242-ABC1-A730AA765A0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7479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5"/>
            <a:ext cx="1029271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17393-FF7C-1043-B758-09CB6C00C802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A2211-BF37-3D4B-83D4-BCAD07E33032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7F934-928A-4749-B670-A5986FE3877C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6A1F-F8BB-E640-89D3-AFEDA854B772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BD2E0-8900-9047-860E-BB95AC79C446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69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85"/>
            <a:ext cx="1193101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95339" y="2236119"/>
            <a:ext cx="7587615" cy="182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86186" y="8207378"/>
            <a:ext cx="2656840" cy="3714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4B29C-64D8-9E4B-863D-DBDAC0D7ADC1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atacamp.com/courses/cicd-for-machine-learning" TargetMode="Externa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846" y="2236119"/>
            <a:ext cx="531876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254" dirty="0"/>
              <a:t>MLOps</a:t>
            </a:r>
            <a:r>
              <a:rPr sz="6450" spc="-210" dirty="0"/>
              <a:t> </a:t>
            </a:r>
            <a:r>
              <a:rPr sz="6450" spc="-275" dirty="0"/>
              <a:t>design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69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C893D62-EA50-0B9E-C9C2-A59850A8DD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Machine</a:t>
            </a:r>
            <a:r>
              <a:rPr spc="-180" dirty="0"/>
              <a:t> </a:t>
            </a:r>
            <a:r>
              <a:rPr spc="-65" dirty="0"/>
              <a:t>learning</a:t>
            </a:r>
            <a:r>
              <a:rPr spc="-180" dirty="0"/>
              <a:t> </a:t>
            </a:r>
            <a:r>
              <a:rPr spc="-9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1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1ABF1-6F99-5C1E-DCC7-DAA469FACB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33362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Added</a:t>
            </a:r>
            <a:r>
              <a:rPr spc="-265" dirty="0"/>
              <a:t> </a:t>
            </a:r>
            <a:r>
              <a:rPr spc="-35" dirty="0"/>
              <a:t>value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1"/>
            <a:ext cx="6276340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Estimate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expected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value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ML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experimental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uncertain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Aids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resource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allocation,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prioritization,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setting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expectations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6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58976" y="1166810"/>
            <a:ext cx="5690769" cy="2845384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C69728F-D140-48B7-4491-2EE09EF867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0" dirty="0"/>
              <a:t>Business</a:t>
            </a:r>
            <a:r>
              <a:rPr spc="-75" dirty="0"/>
              <a:t> </a:t>
            </a:r>
            <a:r>
              <a:rPr spc="-85" dirty="0"/>
              <a:t>requirements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0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7056" y="1076324"/>
            <a:ext cx="4365625" cy="4283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005455" indent="-368935">
              <a:lnSpc>
                <a:spcPct val="126400"/>
              </a:lnSpc>
              <a:spcBef>
                <a:spcPts val="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End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user Speed</a:t>
            </a:r>
            <a:endParaRPr sz="2550">
              <a:latin typeface="Arial"/>
              <a:cs typeface="Arial"/>
            </a:endParaRPr>
          </a:p>
          <a:p>
            <a:pPr marL="381000" marR="1889125">
              <a:lnSpc>
                <a:spcPts val="5160"/>
              </a:lnSpc>
              <a:spcBef>
                <a:spcPts val="520"/>
              </a:spcBef>
            </a:pP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Accuracy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Transparency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Compliance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regulations</a:t>
            </a:r>
            <a:endParaRPr sz="2550">
              <a:latin typeface="Arial"/>
              <a:cs typeface="Arial"/>
            </a:endParaRPr>
          </a:p>
          <a:p>
            <a:pPr marL="12700" marR="2829560">
              <a:lnSpc>
                <a:spcPts val="5160"/>
              </a:lnSpc>
              <a:spcBef>
                <a:spcPts val="320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Budget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Team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size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759" y="3807493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1759" y="4462545"/>
            <a:ext cx="102352" cy="1023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5117598"/>
            <a:ext cx="102352" cy="1023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58976" y="1166812"/>
            <a:ext cx="5690769" cy="5690769"/>
          </a:xfrm>
          <a:prstGeom prst="rect">
            <a:avLst/>
          </a:prstGeom>
        </p:spPr>
      </p:pic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EE22F31C-BFE0-4F11-9DD6-2768B82720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9"/>
            <a:ext cx="313880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Key</a:t>
            </a:r>
            <a:r>
              <a:rPr spc="-180" dirty="0"/>
              <a:t> </a:t>
            </a:r>
            <a:r>
              <a:rPr spc="-60" dirty="0"/>
              <a:t>metrics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06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76964-064C-EE10-518E-8C622FF9C6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358" y="2157161"/>
            <a:ext cx="6307455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130" dirty="0"/>
              <a:t>Data</a:t>
            </a:r>
            <a:r>
              <a:rPr sz="6450" spc="-310" dirty="0"/>
              <a:t> </a:t>
            </a:r>
            <a:r>
              <a:rPr sz="6450" spc="-50" dirty="0"/>
              <a:t>quality</a:t>
            </a:r>
            <a:r>
              <a:rPr sz="6450" spc="-305" dirty="0"/>
              <a:t> </a:t>
            </a:r>
            <a:r>
              <a:rPr sz="6450" spc="-25" dirty="0"/>
              <a:t>and </a:t>
            </a:r>
            <a:r>
              <a:rPr sz="6450" spc="-280" dirty="0"/>
              <a:t>ingestion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8614754-3959-098C-9DA7-D3EAC5CDD6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F4E1A-4D31-E1BD-8172-E2EE5C4B8C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22071-D9EC-B1AE-2E35-E103B75C5DFB}"/>
              </a:ext>
            </a:extLst>
          </p:cNvPr>
          <p:cNvSpPr txBox="1"/>
          <p:nvPr/>
        </p:nvSpPr>
        <p:spPr>
          <a:xfrm>
            <a:off x="501650" y="841593"/>
            <a:ext cx="14554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Ingestion</a:t>
            </a:r>
            <a:r>
              <a:rPr lang="ko-KR" altLang="en-US" dirty="0"/>
              <a:t>은 </a:t>
            </a:r>
            <a:r>
              <a:rPr lang="en" altLang="ko-KR" dirty="0" err="1"/>
              <a:t>MLOps</a:t>
            </a:r>
            <a:r>
              <a:rPr lang="ko-KR" altLang="en-US" dirty="0"/>
              <a:t>에서 </a:t>
            </a:r>
            <a:r>
              <a:rPr lang="ko-KR" altLang="en-US" b="1" dirty="0"/>
              <a:t>데이터를 외부 소스에서 수집하여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파이프라인으로 가져오는 과정</a:t>
            </a:r>
            <a:r>
              <a:rPr lang="ko-KR" altLang="en-US" dirty="0"/>
              <a:t>을 의미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이는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모델의 학습</a:t>
            </a:r>
            <a:r>
              <a:rPr lang="en-US" altLang="ko-KR" dirty="0"/>
              <a:t>, </a:t>
            </a:r>
            <a:r>
              <a:rPr lang="ko-KR" altLang="en-US" dirty="0"/>
              <a:t>평가</a:t>
            </a:r>
            <a:r>
              <a:rPr lang="en-US" altLang="ko-KR" dirty="0"/>
              <a:t>, </a:t>
            </a:r>
            <a:r>
              <a:rPr lang="ko-KR" altLang="en-US" dirty="0"/>
              <a:t>배포 및 운영을 지원하기 위한 첫 단계로</a:t>
            </a:r>
            <a:r>
              <a:rPr lang="en-US" altLang="ko-KR" dirty="0"/>
              <a:t>, </a:t>
            </a:r>
            <a:r>
              <a:rPr lang="ko-KR" altLang="en-US" dirty="0"/>
              <a:t>데이터의 품질과 신뢰성이 전체 파이프라인 성능에 큰 영향을 미침</a:t>
            </a:r>
            <a:endParaRPr lang="en-US" altLang="ko-KR" dirty="0"/>
          </a:p>
          <a:p>
            <a:endParaRPr lang="en-US" altLang="ko-KR" dirty="0"/>
          </a:p>
          <a:p>
            <a:r>
              <a:rPr lang="en" altLang="ko-KR" b="1" dirty="0"/>
              <a:t>Ingestion</a:t>
            </a:r>
            <a:r>
              <a:rPr lang="ko-KR" altLang="en-US" b="1" dirty="0"/>
              <a:t>의 주요 역할</a:t>
            </a:r>
            <a:endParaRPr lang="en-US" altLang="ko-KR" b="1" dirty="0"/>
          </a:p>
          <a:p>
            <a:endParaRPr lang="ko-KR" altLang="en-US" b="1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수집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다양한 소스</a:t>
            </a:r>
            <a:r>
              <a:rPr lang="en-US" altLang="ko-KR" dirty="0"/>
              <a:t>(</a:t>
            </a:r>
            <a:r>
              <a:rPr lang="ko-KR" altLang="en-US" dirty="0"/>
              <a:t>데이터베이스</a:t>
            </a:r>
            <a:r>
              <a:rPr lang="en-US" altLang="ko-KR" dirty="0"/>
              <a:t>, </a:t>
            </a:r>
            <a:r>
              <a:rPr lang="en" altLang="ko-KR" dirty="0"/>
              <a:t>API, </a:t>
            </a: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센서 등</a:t>
            </a:r>
            <a:r>
              <a:rPr lang="en-US" altLang="ko-KR" dirty="0"/>
              <a:t>)</a:t>
            </a:r>
            <a:r>
              <a:rPr lang="ko-KR" altLang="en-US" dirty="0"/>
              <a:t>에서 데이터를 가져오는 역할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로그 파일</a:t>
            </a:r>
            <a:r>
              <a:rPr lang="en-US" altLang="ko-KR" dirty="0"/>
              <a:t>, </a:t>
            </a:r>
            <a:r>
              <a:rPr lang="en" altLang="ko-KR" dirty="0"/>
              <a:t>IoT </a:t>
            </a:r>
            <a:r>
              <a:rPr lang="ko-KR" altLang="en-US" dirty="0"/>
              <a:t>장치에서 실시간 스트림 데이터</a:t>
            </a:r>
            <a:r>
              <a:rPr lang="en-US" altLang="ko-KR" dirty="0"/>
              <a:t>, </a:t>
            </a:r>
            <a:r>
              <a:rPr lang="ko-KR" altLang="en-US" dirty="0"/>
              <a:t>웹 </a:t>
            </a:r>
            <a:r>
              <a:rPr lang="ko-KR" altLang="en-US" dirty="0" err="1"/>
              <a:t>크롤러로</a:t>
            </a:r>
            <a:r>
              <a:rPr lang="ko-KR" altLang="en-US" dirty="0"/>
              <a:t> 수집된 데이터 등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준비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수집한 데이터를 </a:t>
            </a:r>
            <a:r>
              <a:rPr lang="ko-KR" altLang="en-US" dirty="0" err="1"/>
              <a:t>머신러닝</a:t>
            </a:r>
            <a:r>
              <a:rPr lang="ko-KR" altLang="en-US" dirty="0"/>
              <a:t> 모델에 적합한 형태로 정리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포맷 변환</a:t>
            </a:r>
            <a:r>
              <a:rPr lang="en-US" altLang="ko-KR" dirty="0"/>
              <a:t>, </a:t>
            </a:r>
            <a:r>
              <a:rPr lang="ko-KR" altLang="en-US" dirty="0"/>
              <a:t>중복 제거</a:t>
            </a:r>
            <a:r>
              <a:rPr lang="en-US" altLang="ko-KR" dirty="0"/>
              <a:t>, </a:t>
            </a:r>
            <a:r>
              <a:rPr lang="ko-KR" altLang="en-US" dirty="0" err="1"/>
              <a:t>결측값</a:t>
            </a:r>
            <a:r>
              <a:rPr lang="ko-KR" altLang="en-US" dirty="0"/>
              <a:t> 처리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전달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수집된 데이터를 파이프라인의 다음 단계</a:t>
            </a:r>
            <a:r>
              <a:rPr lang="en-US" altLang="ko-KR" dirty="0"/>
              <a:t>(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분석</a:t>
            </a:r>
            <a:r>
              <a:rPr lang="en-US" altLang="ko-KR" dirty="0"/>
              <a:t>)</a:t>
            </a:r>
            <a:r>
              <a:rPr lang="ko-KR" altLang="en-US" dirty="0"/>
              <a:t>로 전달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b="1" dirty="0"/>
              <a:t>Ingestion</a:t>
            </a:r>
            <a:r>
              <a:rPr lang="ko-KR" altLang="en-US" b="1" dirty="0"/>
              <a:t>의 유형</a:t>
            </a:r>
            <a:endParaRPr lang="en-US" altLang="ko-KR" b="1" dirty="0"/>
          </a:p>
          <a:p>
            <a:endParaRPr lang="ko-KR" altLang="en-US" b="1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배치 데이터 수집 </a:t>
            </a:r>
            <a:r>
              <a:rPr lang="en-US" altLang="ko-KR" b="1" dirty="0"/>
              <a:t>(</a:t>
            </a:r>
            <a:r>
              <a:rPr lang="en" altLang="ko-KR" b="1" dirty="0"/>
              <a:t>Batch Ingestion)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정해진 간격으로 대량의 데이터를 한 번에 수집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매일 새벽 </a:t>
            </a:r>
            <a:r>
              <a:rPr lang="en-US" altLang="ko-KR" dirty="0"/>
              <a:t>1</a:t>
            </a:r>
            <a:r>
              <a:rPr lang="ko-KR" altLang="en-US" dirty="0"/>
              <a:t>시에 로그 데이터를 데이터 </a:t>
            </a:r>
            <a:r>
              <a:rPr lang="ko-KR" altLang="en-US" dirty="0" err="1"/>
              <a:t>웨어하우스로</a:t>
            </a:r>
            <a:r>
              <a:rPr lang="ko-KR" altLang="en-US" dirty="0"/>
              <a:t> 로드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스트림 데이터 수집 </a:t>
            </a:r>
            <a:r>
              <a:rPr lang="en-US" altLang="ko-KR" b="1" dirty="0"/>
              <a:t>(</a:t>
            </a:r>
            <a:r>
              <a:rPr lang="en" altLang="ko-KR" b="1" dirty="0"/>
              <a:t>Streaming Ingestion)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실시간으로 데이터를 수집하고 처리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IoT </a:t>
            </a:r>
            <a:r>
              <a:rPr lang="ko-KR" altLang="en-US" dirty="0"/>
              <a:t>센서에서 발생하는 데이터를 실시간으로 수집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79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A78B-2EC6-6D5F-F3BB-4127DAC7B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4E9CA-E2FA-3026-E28F-8763ABA895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E0F5D-424E-4EAA-4442-8EBB2585851B}"/>
              </a:ext>
            </a:extLst>
          </p:cNvPr>
          <p:cNvSpPr txBox="1"/>
          <p:nvPr/>
        </p:nvSpPr>
        <p:spPr>
          <a:xfrm>
            <a:off x="501650" y="841593"/>
            <a:ext cx="145542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Ingestion</a:t>
            </a:r>
            <a:r>
              <a:rPr lang="ko-KR" altLang="en-US" b="1" dirty="0"/>
              <a:t>의 주요 구성 요소</a:t>
            </a:r>
            <a:endParaRPr lang="en-US" altLang="ko-KR" b="1" dirty="0"/>
          </a:p>
          <a:p>
            <a:endParaRPr lang="ko-KR" altLang="en-US" b="1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소스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데이터가 저장된 원천 </a:t>
            </a:r>
            <a:r>
              <a:rPr lang="en-US" altLang="ko-KR" dirty="0"/>
              <a:t>(source)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관계형 데이터베이스</a:t>
            </a:r>
            <a:r>
              <a:rPr lang="en-US" altLang="ko-KR" dirty="0"/>
              <a:t>, </a:t>
            </a:r>
            <a:r>
              <a:rPr lang="en" altLang="ko-KR" dirty="0"/>
              <a:t>NoSQL </a:t>
            </a:r>
            <a:r>
              <a:rPr lang="ko-KR" altLang="en-US" dirty="0"/>
              <a:t>데이터베이스</a:t>
            </a:r>
            <a:r>
              <a:rPr lang="en-US" altLang="ko-KR" dirty="0"/>
              <a:t>, </a:t>
            </a:r>
            <a:r>
              <a:rPr lang="ko-KR" altLang="en-US" dirty="0"/>
              <a:t>클라우드 스토리지</a:t>
            </a:r>
            <a:r>
              <a:rPr lang="en-US" altLang="ko-KR" dirty="0"/>
              <a:t>, </a:t>
            </a:r>
            <a:r>
              <a:rPr lang="en" altLang="ko-KR" dirty="0"/>
              <a:t>API, </a:t>
            </a:r>
            <a:r>
              <a:rPr lang="ko-KR" altLang="en-US" dirty="0"/>
              <a:t>메시징 시스템</a:t>
            </a:r>
            <a:r>
              <a:rPr lang="en-US" altLang="ko-KR" dirty="0"/>
              <a:t>(</a:t>
            </a:r>
            <a:r>
              <a:rPr lang="en" altLang="ko-KR" dirty="0"/>
              <a:t>Kafka).</a:t>
            </a:r>
          </a:p>
          <a:p>
            <a:pPr marL="457200" lvl="1"/>
            <a:endParaRPr lang="en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수집 도구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데이터를 효율적으로 수집하기 위한 도구나 플랫폼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Apache Kafka, Apache </a:t>
            </a:r>
            <a:r>
              <a:rPr lang="en" altLang="ko-KR" dirty="0" err="1"/>
              <a:t>NiFi</a:t>
            </a:r>
            <a:r>
              <a:rPr lang="en" altLang="ko-KR" dirty="0"/>
              <a:t>, AWS Kinesis, Google Cloud Pub/Sub.</a:t>
            </a:r>
          </a:p>
          <a:p>
            <a:pPr marL="457200" lvl="1"/>
            <a:endParaRPr lang="en" altLang="ko-KR" dirty="0"/>
          </a:p>
          <a:p>
            <a:pPr>
              <a:buFont typeface="+mj-lt"/>
              <a:buAutoNum type="arabicPeriod"/>
            </a:pPr>
            <a:r>
              <a:rPr lang="en" altLang="ko-KR" b="1" dirty="0"/>
              <a:t>ETL/ELT </a:t>
            </a:r>
            <a:r>
              <a:rPr lang="ko-KR" altLang="en-US" b="1" dirty="0"/>
              <a:t>프로세스</a:t>
            </a:r>
            <a:r>
              <a:rPr lang="en-US" altLang="ko-KR" dirty="0"/>
              <a:t>:</a:t>
            </a:r>
          </a:p>
          <a:p>
            <a:pPr marL="457200" lvl="1"/>
            <a:r>
              <a:rPr lang="en" altLang="ko-KR" b="1" dirty="0"/>
              <a:t>ETL(Extract, Transform, Load)</a:t>
            </a:r>
            <a:r>
              <a:rPr lang="en" altLang="ko-KR" dirty="0"/>
              <a:t>: </a:t>
            </a:r>
            <a:r>
              <a:rPr lang="ko-KR" altLang="en-US" dirty="0"/>
              <a:t>데이터를 추출하고</a:t>
            </a:r>
            <a:r>
              <a:rPr lang="en-US" altLang="ko-KR" dirty="0"/>
              <a:t>, </a:t>
            </a:r>
            <a:r>
              <a:rPr lang="ko-KR" altLang="en-US" dirty="0"/>
              <a:t>변환 후 저장</a:t>
            </a:r>
            <a:r>
              <a:rPr lang="en-US" altLang="ko-KR" dirty="0"/>
              <a:t>.</a:t>
            </a:r>
          </a:p>
          <a:p>
            <a:pPr marL="457200" lvl="1"/>
            <a:r>
              <a:rPr lang="en" altLang="ko-KR" b="1" dirty="0"/>
              <a:t>ELT(Extract, Load, Transform)</a:t>
            </a:r>
            <a:r>
              <a:rPr lang="en" altLang="ko-KR" dirty="0"/>
              <a:t>: </a:t>
            </a:r>
            <a:r>
              <a:rPr lang="ko-KR" altLang="en-US" dirty="0"/>
              <a:t>데이터를 추출 후 저장한 뒤 변환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품질 보장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수집 중 데이터의 결측</a:t>
            </a:r>
            <a:r>
              <a:rPr lang="en-US" altLang="ko-KR" dirty="0"/>
              <a:t>, </a:t>
            </a:r>
            <a:r>
              <a:rPr lang="ko-KR" altLang="en-US" dirty="0"/>
              <a:t>오류</a:t>
            </a:r>
            <a:r>
              <a:rPr lang="en-US" altLang="ko-KR" dirty="0"/>
              <a:t>, </a:t>
            </a:r>
            <a:r>
              <a:rPr lang="ko-KR" altLang="en-US" dirty="0"/>
              <a:t>중복 등을 감지하고 처리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스토리지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수집된 데이터를 저장하는 위치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데이터웨어하우스</a:t>
            </a:r>
            <a:r>
              <a:rPr lang="en-US" altLang="ko-KR" dirty="0"/>
              <a:t>, </a:t>
            </a:r>
            <a:r>
              <a:rPr lang="ko-KR" altLang="en-US" dirty="0" err="1"/>
              <a:t>데이터레이크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445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6B16-23E7-2067-7055-F02B2AF8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FAC064-DDAE-7E5F-9EB1-42F82E42F7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DA3CB-9D31-946A-4704-8EA312AFE159}"/>
              </a:ext>
            </a:extLst>
          </p:cNvPr>
          <p:cNvSpPr txBox="1"/>
          <p:nvPr/>
        </p:nvSpPr>
        <p:spPr>
          <a:xfrm>
            <a:off x="501650" y="175260"/>
            <a:ext cx="14554200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Ingestion</a:t>
            </a:r>
            <a:r>
              <a:rPr lang="ko-KR" altLang="en-US" b="1" dirty="0"/>
              <a:t>의 중요성</a:t>
            </a:r>
            <a:endParaRPr lang="en-US" altLang="ko-KR" b="1" dirty="0"/>
          </a:p>
          <a:p>
            <a:endParaRPr lang="ko-KR" altLang="en-US" b="1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품질 확보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깨끗하고 정확한 데이터를 확보해야 모델의 신뢰성과 성능을 보장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파이프라인 자동화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 err="1"/>
              <a:t>인제스천</a:t>
            </a:r>
            <a:r>
              <a:rPr lang="ko-KR" altLang="en-US" dirty="0"/>
              <a:t> 단계에서 자동화를 통해 데이터 흐름을 효율화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스케일 확장 가능성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대규모 데이터와 실시간 데이터 수집을 지원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다양한 데이터 형식 지원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구조화 데이터</a:t>
            </a:r>
            <a:r>
              <a:rPr lang="en-US" altLang="ko-KR" dirty="0"/>
              <a:t>(</a:t>
            </a:r>
            <a:r>
              <a:rPr lang="ko-KR" altLang="en-US" dirty="0"/>
              <a:t>테이블 형태</a:t>
            </a:r>
            <a:r>
              <a:rPr lang="en-US" altLang="ko-KR" dirty="0"/>
              <a:t>), </a:t>
            </a:r>
            <a:r>
              <a:rPr lang="ko-KR" altLang="en-US" dirty="0"/>
              <a:t>반구조화 데이터</a:t>
            </a:r>
            <a:r>
              <a:rPr lang="en-US" altLang="ko-KR" dirty="0"/>
              <a:t>(</a:t>
            </a:r>
            <a:r>
              <a:rPr lang="en" altLang="ko-KR" dirty="0"/>
              <a:t>JSON, XML), </a:t>
            </a:r>
            <a:r>
              <a:rPr lang="ko-KR" altLang="en-US" dirty="0"/>
              <a:t>비구조화 데이터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비디오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모두 처리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b="1" dirty="0" err="1"/>
              <a:t>MLOps</a:t>
            </a:r>
            <a:r>
              <a:rPr lang="ko-KR" altLang="en-US" b="1" dirty="0"/>
              <a:t>에서 </a:t>
            </a:r>
            <a:r>
              <a:rPr lang="en" altLang="ko-KR" b="1" dirty="0"/>
              <a:t>Ingestion</a:t>
            </a:r>
            <a:r>
              <a:rPr lang="ko-KR" altLang="en-US" b="1" dirty="0"/>
              <a:t>의 활용 사례</a:t>
            </a:r>
            <a:endParaRPr lang="en-US" altLang="ko-KR" b="1" dirty="0"/>
          </a:p>
          <a:p>
            <a:endParaRPr lang="ko-KR" altLang="en-US" b="1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모델 학습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대량의 과거 데이터를 배치 방식으로 수집하여 모델 학습에 사용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모델 운영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실시간 스트리밍 데이터를 사용하여 모델 입력 값 생성 및 예측</a:t>
            </a:r>
            <a:r>
              <a:rPr lang="en-US" altLang="ko-KR" dirty="0"/>
              <a:t>.</a:t>
            </a:r>
          </a:p>
          <a:p>
            <a:pPr marL="457200" lvl="1"/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모니터링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운영 중 발생하는 데이터를 수집하여 모델 성능 모니터링 및 </a:t>
            </a:r>
            <a:r>
              <a:rPr lang="ko-KR" altLang="en-US" dirty="0" err="1"/>
              <a:t>드리프트</a:t>
            </a:r>
            <a:r>
              <a:rPr lang="ko-KR" altLang="en-US" dirty="0"/>
              <a:t> 감지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b="1" dirty="0"/>
              <a:t>Ingestion</a:t>
            </a:r>
            <a:r>
              <a:rPr lang="ko-KR" altLang="en-US" b="1" dirty="0"/>
              <a:t>은 </a:t>
            </a:r>
            <a:r>
              <a:rPr lang="en" altLang="ko-KR" b="1" dirty="0" err="1"/>
              <a:t>MLOps</a:t>
            </a:r>
            <a:r>
              <a:rPr lang="ko-KR" altLang="en-US" b="1" dirty="0"/>
              <a:t>에서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파이프라인의 시작점이자 핵심 단계로</a:t>
            </a:r>
            <a:r>
              <a:rPr lang="en-US" altLang="ko-KR" b="1" dirty="0"/>
              <a:t>, </a:t>
            </a:r>
            <a:r>
              <a:rPr lang="ko-KR" altLang="en-US" b="1" dirty="0"/>
              <a:t>모델의 신뢰성과 성능을 결정짓는 중요한 역할을 수행</a:t>
            </a:r>
            <a:endParaRPr lang="en-US" altLang="ko-KR" b="1" dirty="0"/>
          </a:p>
          <a:p>
            <a:r>
              <a:rPr lang="ko-KR" altLang="en-US" b="1" dirty="0"/>
              <a:t>적절한 데이터 수집 전략과 도구를 사용하면</a:t>
            </a:r>
            <a:r>
              <a:rPr lang="en-US" altLang="ko-KR" b="1" dirty="0"/>
              <a:t>, </a:t>
            </a:r>
            <a:r>
              <a:rPr lang="ko-KR" altLang="en-US" b="1" dirty="0"/>
              <a:t>고품질 데이터를 효율적으로 관리하고 모델 운영을 안정적으로 지원할 수 있음</a:t>
            </a: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611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Data</a:t>
            </a:r>
            <a:r>
              <a:rPr spc="-140" dirty="0"/>
              <a:t> </a:t>
            </a:r>
            <a:r>
              <a:rPr dirty="0"/>
              <a:t>quality</a:t>
            </a:r>
            <a:r>
              <a:rPr spc="-140" dirty="0"/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spc="-114" dirty="0"/>
              <a:t>ingestion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C7D8A1-F5F3-8D16-9372-3D3D2A7AD4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75" dirty="0"/>
              <a:t> </a:t>
            </a:r>
            <a:r>
              <a:rPr spc="-280" dirty="0"/>
              <a:t>is</a:t>
            </a:r>
            <a:r>
              <a:rPr spc="-75" dirty="0"/>
              <a:t> </a:t>
            </a:r>
            <a:r>
              <a:rPr spc="95" dirty="0"/>
              <a:t>data</a:t>
            </a:r>
            <a:r>
              <a:rPr spc="-70" dirty="0"/>
              <a:t> </a:t>
            </a:r>
            <a:r>
              <a:rPr spc="-40" dirty="0"/>
              <a:t>quality?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094422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quality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measure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how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well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serves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its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intended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purpose</a:t>
            </a:r>
            <a:endParaRPr sz="2550">
              <a:latin typeface="Arial"/>
              <a:cs typeface="Arial"/>
            </a:endParaRPr>
          </a:p>
          <a:p>
            <a:pPr marL="12700" marR="5084445">
              <a:lnSpc>
                <a:spcPts val="5160"/>
              </a:lnSpc>
              <a:spcBef>
                <a:spcPts val="320"/>
              </a:spcBef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Evaluated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through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various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dimensions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Quality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ML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depends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44286B3-EB0C-AC76-BFBA-F9B25C8A40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6404610" cy="3656965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120" dirty="0"/>
              <a:t>Data</a:t>
            </a:r>
            <a:r>
              <a:rPr spc="-165" dirty="0"/>
              <a:t> </a:t>
            </a:r>
            <a:r>
              <a:rPr dirty="0"/>
              <a:t>quality</a:t>
            </a:r>
            <a:r>
              <a:rPr spc="-160" dirty="0"/>
              <a:t> </a:t>
            </a:r>
            <a:r>
              <a:rPr spc="-170" dirty="0"/>
              <a:t>dimensions</a:t>
            </a:r>
          </a:p>
          <a:p>
            <a:pPr marL="381000" marR="3819525">
              <a:lnSpc>
                <a:spcPts val="5160"/>
              </a:lnSpc>
            </a:pPr>
            <a:r>
              <a:rPr sz="2550" spc="-10" dirty="0"/>
              <a:t>Accuracy </a:t>
            </a:r>
            <a:r>
              <a:rPr sz="2550" spc="-20" dirty="0"/>
              <a:t>Completeness </a:t>
            </a:r>
            <a:r>
              <a:rPr sz="2550" spc="-10" dirty="0"/>
              <a:t>Consistency Timeliness</a:t>
            </a:r>
            <a:endParaRPr sz="255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4198C3E-882F-40AE-BD73-7EEAE6672F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Data</a:t>
            </a:r>
            <a:r>
              <a:rPr spc="-160" dirty="0"/>
              <a:t> </a:t>
            </a:r>
            <a:r>
              <a:rPr dirty="0"/>
              <a:t>quality</a:t>
            </a:r>
            <a:r>
              <a:rPr spc="-130" dirty="0"/>
              <a:t> </a:t>
            </a:r>
            <a:r>
              <a:rPr spc="-204" dirty="0"/>
              <a:t>dimensions</a:t>
            </a:r>
            <a:r>
              <a:rPr spc="-110" dirty="0"/>
              <a:t> </a:t>
            </a:r>
            <a:r>
              <a:rPr spc="-10" dirty="0"/>
              <a:t>example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812"/>
          <a:ext cx="14552930" cy="4931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Dimension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Example </a:t>
                      </a: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question</a:t>
                      </a:r>
                      <a:r>
                        <a:rPr sz="2550" b="1" spc="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550" b="1" spc="1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answer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r>
                        <a:rPr sz="2550" b="1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b="1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spc="-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dimension</a:t>
                      </a:r>
                      <a:r>
                        <a:rPr sz="2550" b="1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b="1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1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147955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correctly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describe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customer?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19748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customer's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age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1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18,</a:t>
                      </a:r>
                      <a:r>
                        <a:rPr sz="2550" spc="3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is </a:t>
                      </a:r>
                      <a:r>
                        <a:rPr sz="2550" spc="1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actually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32.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Completeness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98361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2550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there</a:t>
                      </a:r>
                      <a:r>
                        <a:rPr sz="2550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sz="2550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2550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3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data </a:t>
                      </a: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missing?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15494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80%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customers,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don't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have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last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name.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Consistency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23241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2550" spc="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definition</a:t>
                      </a:r>
                      <a:r>
                        <a:rPr sz="2550" spc="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spc="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 synchronized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throughout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 company?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702310">
                        <a:lnSpc>
                          <a:spcPts val="2580"/>
                        </a:lnSpc>
                        <a:spcBef>
                          <a:spcPts val="2365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stated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active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one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active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another.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30035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8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550" spc="-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Timeliness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429895">
                        <a:lnSpc>
                          <a:spcPts val="2580"/>
                        </a:lnSpc>
                        <a:spcBef>
                          <a:spcPts val="2365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When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ordering </a:t>
                      </a:r>
                      <a:r>
                        <a:rPr sz="2550" spc="1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available?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300355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18351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orders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synchronized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at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end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day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available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real-time.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8589" y="6210299"/>
            <a:ext cx="7153909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25" dirty="0">
                <a:solidFill>
                  <a:srgbClr val="04182D"/>
                </a:solidFill>
                <a:latin typeface="Arial"/>
                <a:cs typeface="Arial"/>
              </a:rPr>
              <a:t>Low</a:t>
            </a:r>
            <a:r>
              <a:rPr sz="2550" b="1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9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quality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3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not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end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b="1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project!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6F055C4-4279-74A1-DB1F-7F82996F08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Data</a:t>
            </a:r>
            <a:r>
              <a:rPr spc="-100" dirty="0"/>
              <a:t> </a:t>
            </a:r>
            <a:r>
              <a:rPr spc="-130" dirty="0"/>
              <a:t>ingestion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687" y="1166812"/>
            <a:ext cx="11668122" cy="5834061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DFD884-2B59-2168-8FC9-C130DBFA4F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1162" y="2236107"/>
            <a:ext cx="7516495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80" dirty="0"/>
              <a:t>Feature</a:t>
            </a:r>
            <a:r>
              <a:rPr sz="6450" spc="-340" dirty="0"/>
              <a:t> </a:t>
            </a:r>
            <a:r>
              <a:rPr sz="6450" spc="-150" dirty="0"/>
              <a:t>engineering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69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22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43EA89E-81AA-3E8A-3AA8-FF98B4BB12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75" dirty="0"/>
              <a:t>engineering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00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74CC94-8D39-4FC0-4212-5001EFA0F7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0E894B5-FA31-E35F-CB3C-58ACC1405D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268E8-A864-9611-5EDB-91394E9C81B3}"/>
              </a:ext>
            </a:extLst>
          </p:cNvPr>
          <p:cNvSpPr txBox="1"/>
          <p:nvPr/>
        </p:nvSpPr>
        <p:spPr>
          <a:xfrm>
            <a:off x="539750" y="647700"/>
            <a:ext cx="146304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Feature Engineering</a:t>
            </a:r>
            <a:r>
              <a:rPr lang="en" altLang="ko-KR" dirty="0"/>
              <a:t>(</a:t>
            </a:r>
            <a:r>
              <a:rPr lang="ko-KR" altLang="en-US" dirty="0"/>
              <a:t>특성 공학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ko-KR" altLang="en-US" b="1" dirty="0" err="1"/>
              <a:t>머신러닝</a:t>
            </a:r>
            <a:r>
              <a:rPr lang="ko-KR" altLang="en-US" b="1" dirty="0"/>
              <a:t> 모델의 성능을 높이기 위해 데이터에서 유의미한 특성</a:t>
            </a:r>
            <a:r>
              <a:rPr lang="en-US" altLang="ko-KR" b="1" dirty="0"/>
              <a:t>(</a:t>
            </a:r>
            <a:r>
              <a:rPr lang="en" altLang="ko-KR" b="1" dirty="0"/>
              <a:t>Feature)</a:t>
            </a:r>
            <a:r>
              <a:rPr lang="ko-KR" altLang="en-US" b="1" dirty="0"/>
              <a:t>을 생성</a:t>
            </a:r>
            <a:r>
              <a:rPr lang="en-US" altLang="ko-KR" b="1" dirty="0"/>
              <a:t>, </a:t>
            </a:r>
            <a:r>
              <a:rPr lang="ko-KR" altLang="en-US" b="1" dirty="0"/>
              <a:t>변환</a:t>
            </a:r>
            <a:r>
              <a:rPr lang="en-US" altLang="ko-KR" b="1" dirty="0"/>
              <a:t>, </a:t>
            </a:r>
            <a:r>
              <a:rPr lang="ko-KR" altLang="en-US" b="1" dirty="0"/>
              <a:t>선택</a:t>
            </a:r>
            <a:r>
              <a:rPr lang="en-US" altLang="ko-KR" b="1" dirty="0"/>
              <a:t>, </a:t>
            </a:r>
            <a:r>
              <a:rPr lang="ko-KR" altLang="en-US" b="1" dirty="0"/>
              <a:t>또는 조합하는 과정</a:t>
            </a:r>
            <a:r>
              <a:rPr lang="ko-KR" altLang="en-US" dirty="0"/>
              <a:t>을 의미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MLOps</a:t>
            </a:r>
            <a:r>
              <a:rPr lang="ko-KR" altLang="en-US" dirty="0"/>
              <a:t>에서는 이 과정이 데이터 처리 파이프라인의 중요한 부분으로 포함되어</a:t>
            </a:r>
            <a:r>
              <a:rPr lang="en-US" altLang="ko-KR" dirty="0"/>
              <a:t>, </a:t>
            </a:r>
            <a:r>
              <a:rPr lang="ko-KR" altLang="en-US" dirty="0"/>
              <a:t>모델의 품질과 예측 정확도를 결정하는 핵심 요소로 작용</a:t>
            </a:r>
            <a:endParaRPr lang="en-US" altLang="ko-KR" dirty="0"/>
          </a:p>
          <a:p>
            <a:endParaRPr lang="en-US" altLang="ko-KR" dirty="0"/>
          </a:p>
          <a:p>
            <a:r>
              <a:rPr lang="en" altLang="ko-KR" b="1" dirty="0"/>
              <a:t>Feature Engineering</a:t>
            </a:r>
            <a:r>
              <a:rPr lang="ko-KR" altLang="en-US" b="1" dirty="0"/>
              <a:t>의 역할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모델 성능 향상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고품질의 특성을 생성하면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모델이 데이터를 더 잘 이해하고</a:t>
            </a:r>
            <a:r>
              <a:rPr lang="en-US" altLang="ko-KR" dirty="0"/>
              <a:t>, </a:t>
            </a:r>
            <a:r>
              <a:rPr lang="ko-KR" altLang="en-US" dirty="0"/>
              <a:t>높은 정확도를 제공할 수 있음</a:t>
            </a:r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이해도 증가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데이터를 변환하거나 새 특성을 생성함으로써 데이터의 구조와 패턴을 더 명확히 파악할 수 있음</a:t>
            </a:r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효율적인 데이터 표현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복잡하거나 </a:t>
            </a:r>
            <a:r>
              <a:rPr lang="ko-KR" altLang="en-US" dirty="0" err="1"/>
              <a:t>다차원적인</a:t>
            </a:r>
            <a:r>
              <a:rPr lang="ko-KR" altLang="en-US" dirty="0"/>
              <a:t> 데이터를 간소화하여 모델의 학습 속도와 효율성을 향상시킴</a:t>
            </a:r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특성 관리의 자동화</a:t>
            </a:r>
            <a:r>
              <a:rPr lang="en-US" altLang="ko-KR" dirty="0"/>
              <a:t>:</a:t>
            </a:r>
          </a:p>
          <a:p>
            <a:pPr marL="457200" lvl="1"/>
            <a:r>
              <a:rPr lang="en" altLang="ko-KR" dirty="0" err="1"/>
              <a:t>MLOps</a:t>
            </a:r>
            <a:r>
              <a:rPr lang="en" altLang="ko-KR" dirty="0"/>
              <a:t> </a:t>
            </a:r>
            <a:r>
              <a:rPr lang="ko-KR" altLang="en-US" dirty="0"/>
              <a:t>파이프라인에서는 </a:t>
            </a:r>
            <a:r>
              <a:rPr lang="en" altLang="ko-KR" dirty="0"/>
              <a:t>Feature Engineering </a:t>
            </a:r>
            <a:r>
              <a:rPr lang="ko-KR" altLang="en-US" dirty="0"/>
              <a:t>과정이 자동화되어 재현성과 확장성을 제공</a:t>
            </a:r>
            <a:endParaRPr lang="en-US" altLang="ko-KR" dirty="0"/>
          </a:p>
          <a:p>
            <a:pPr marL="457200" lvl="1"/>
            <a:endParaRPr lang="en-US" altLang="ko-KR" dirty="0"/>
          </a:p>
          <a:p>
            <a:pPr marL="457200" lvl="1"/>
            <a:endParaRPr lang="en-US" altLang="ko-KR" dirty="0"/>
          </a:p>
          <a:p>
            <a:r>
              <a:rPr lang="en" altLang="ko-KR" b="1" dirty="0" err="1"/>
              <a:t>MLOps</a:t>
            </a:r>
            <a:r>
              <a:rPr lang="ko-KR" altLang="en-US" b="1" dirty="0"/>
              <a:t>에서 </a:t>
            </a:r>
            <a:r>
              <a:rPr lang="en" altLang="ko-KR" b="1" dirty="0"/>
              <a:t>Feature Engineering</a:t>
            </a:r>
            <a:r>
              <a:rPr lang="ko-KR" altLang="en-US" b="1" dirty="0"/>
              <a:t>의 중요성</a:t>
            </a:r>
          </a:p>
          <a:p>
            <a:r>
              <a:rPr lang="en" altLang="ko-KR" dirty="0" err="1"/>
              <a:t>MLOps</a:t>
            </a:r>
            <a:r>
              <a:rPr lang="ko-KR" altLang="en-US" dirty="0"/>
              <a:t>에서는 </a:t>
            </a:r>
            <a:r>
              <a:rPr lang="en" altLang="ko-KR" dirty="0"/>
              <a:t>Feature Engineering</a:t>
            </a:r>
            <a:r>
              <a:rPr lang="ko-KR" altLang="en-US" dirty="0"/>
              <a:t>이 단순한 데이터 전처리를 넘어</a:t>
            </a:r>
            <a:r>
              <a:rPr lang="en-US" altLang="ko-KR" dirty="0"/>
              <a:t>, </a:t>
            </a:r>
            <a:r>
              <a:rPr lang="ko-KR" altLang="en-US" b="1" dirty="0"/>
              <a:t>재현성</a:t>
            </a:r>
            <a:r>
              <a:rPr lang="ko-KR" altLang="en-US" dirty="0"/>
              <a:t>과 </a:t>
            </a:r>
            <a:r>
              <a:rPr lang="ko-KR" altLang="en-US" b="1" dirty="0"/>
              <a:t>자동화</a:t>
            </a:r>
            <a:r>
              <a:rPr lang="ko-KR" altLang="en-US" dirty="0"/>
              <a:t>가 핵심이 됨</a:t>
            </a:r>
            <a:endParaRPr lang="en-US" altLang="ko-KR" dirty="0"/>
          </a:p>
          <a:p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자동화된 파이프라인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 수집부터 특성 생성</a:t>
            </a:r>
            <a:r>
              <a:rPr lang="en-US" altLang="ko-KR" dirty="0"/>
              <a:t>, </a:t>
            </a:r>
            <a:r>
              <a:rPr lang="ko-KR" altLang="en-US" dirty="0"/>
              <a:t>모델 학습까지의 과정을 자동화하여 반복 작업을 줄이고 일관성을 유지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재현성 보장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동일한 데이터와 설정으로 항상 동일한 특성 변환 결과를 얻을 수 있도록 파이프라인을 설계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특성 관리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특성 버전 관리 및 특성 저장소</a:t>
            </a:r>
            <a:r>
              <a:rPr lang="en-US" altLang="ko-KR" dirty="0"/>
              <a:t>(</a:t>
            </a:r>
            <a:r>
              <a:rPr lang="en" altLang="ko-KR" dirty="0"/>
              <a:t>Feature Store)</a:t>
            </a:r>
            <a:r>
              <a:rPr lang="ko-KR" altLang="en-US" dirty="0" err="1"/>
              <a:t>를</a:t>
            </a:r>
            <a:r>
              <a:rPr lang="ko-KR" altLang="en-US" dirty="0"/>
              <a:t> 활용해 다양한 모델과 프로젝트 간 특성을 재사용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실시간 </a:t>
            </a:r>
            <a:r>
              <a:rPr lang="en" altLang="ko-KR" b="1" dirty="0"/>
              <a:t>Feature Engineering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스트리밍 데이터에 대해 실시간으로 특성을 생성하고 처리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40244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561B-A091-7C0C-D627-65BE6813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A864923-1126-53B8-A85A-29CBC00343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C8F96-2604-532D-7FE0-68B77FA2EEE8}"/>
              </a:ext>
            </a:extLst>
          </p:cNvPr>
          <p:cNvSpPr txBox="1"/>
          <p:nvPr/>
        </p:nvSpPr>
        <p:spPr>
          <a:xfrm>
            <a:off x="539750" y="647700"/>
            <a:ext cx="146304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Feature Engineering</a:t>
            </a:r>
            <a:r>
              <a:rPr lang="ko-KR" altLang="en-US" b="1" dirty="0"/>
              <a:t>의 주요 과정</a:t>
            </a:r>
            <a:endParaRPr lang="en-US" altLang="ko-KR" b="1" dirty="0"/>
          </a:p>
          <a:p>
            <a:endParaRPr lang="ko-KR" altLang="en-US" b="1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특성 선택 </a:t>
            </a:r>
            <a:r>
              <a:rPr lang="en-US" altLang="ko-KR" b="1" dirty="0"/>
              <a:t>(</a:t>
            </a:r>
            <a:r>
              <a:rPr lang="en" altLang="ko-KR" b="1" dirty="0"/>
              <a:t>Feature Selection)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모델 학습에 중요한 특성만 선택하여 차원을 축소하고 불필요한 노이즈를 제거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상관관계 분석</a:t>
            </a:r>
            <a:r>
              <a:rPr lang="en-US" altLang="ko-KR" dirty="0"/>
              <a:t>, </a:t>
            </a:r>
            <a:r>
              <a:rPr lang="en" altLang="ko-KR" dirty="0"/>
              <a:t>Lasso Regression, </a:t>
            </a:r>
            <a:r>
              <a:rPr lang="ko-KR" altLang="en-US" dirty="0"/>
              <a:t>중요도 순위에 따른 특성 제거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특성 변환 </a:t>
            </a:r>
            <a:r>
              <a:rPr lang="en-US" altLang="ko-KR" b="1" dirty="0"/>
              <a:t>(</a:t>
            </a:r>
            <a:r>
              <a:rPr lang="en" altLang="ko-KR" b="1" dirty="0"/>
              <a:t>Feature Transformation)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기존 특성을 변환하여 모델이 데이터를 더 잘 학습할 수 있도록 변형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로그 변환</a:t>
            </a:r>
            <a:r>
              <a:rPr lang="en-US" altLang="ko-KR" dirty="0"/>
              <a:t>, </a:t>
            </a:r>
            <a:r>
              <a:rPr lang="ko-KR" altLang="en-US" dirty="0"/>
              <a:t>정규화</a:t>
            </a:r>
            <a:r>
              <a:rPr lang="en-US" altLang="ko-KR" dirty="0"/>
              <a:t>(</a:t>
            </a:r>
            <a:r>
              <a:rPr lang="en" altLang="ko-KR" dirty="0"/>
              <a:t>Scaling), </a:t>
            </a:r>
            <a:r>
              <a:rPr lang="ko-KR" altLang="en-US" dirty="0"/>
              <a:t>표준화</a:t>
            </a:r>
            <a:r>
              <a:rPr lang="en-US" altLang="ko-KR" dirty="0"/>
              <a:t>(</a:t>
            </a:r>
            <a:r>
              <a:rPr lang="en" altLang="ko-KR" dirty="0"/>
              <a:t>Standardization), Box-Cox </a:t>
            </a:r>
            <a:r>
              <a:rPr lang="ko-KR" altLang="en-US" dirty="0"/>
              <a:t>변환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특성 생성 </a:t>
            </a:r>
            <a:r>
              <a:rPr lang="en-US" altLang="ko-KR" b="1" dirty="0"/>
              <a:t>(</a:t>
            </a:r>
            <a:r>
              <a:rPr lang="en" altLang="ko-KR" b="1" dirty="0"/>
              <a:t>Feature Creation)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기존 데이터를 조합하거나 새 변수를 만들어 추가적인 정보를 생성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날짜 데이터를 </a:t>
            </a:r>
            <a:r>
              <a:rPr lang="en-US" altLang="ko-KR" dirty="0"/>
              <a:t>"</a:t>
            </a:r>
            <a:r>
              <a:rPr lang="ko-KR" altLang="en-US" dirty="0"/>
              <a:t>요일</a:t>
            </a:r>
            <a:r>
              <a:rPr lang="en-US" altLang="ko-KR" dirty="0"/>
              <a:t>" </a:t>
            </a:r>
            <a:r>
              <a:rPr lang="ko-KR" altLang="en-US" dirty="0"/>
              <a:t>또는 </a:t>
            </a:r>
            <a:r>
              <a:rPr lang="en-US" altLang="ko-KR" dirty="0"/>
              <a:t>"</a:t>
            </a:r>
            <a:r>
              <a:rPr lang="ko-KR" altLang="en-US" dirty="0"/>
              <a:t>월</a:t>
            </a:r>
            <a:r>
              <a:rPr lang="en-US" altLang="ko-KR" dirty="0"/>
              <a:t>"</a:t>
            </a:r>
            <a:r>
              <a:rPr lang="ko-KR" altLang="en-US" dirty="0"/>
              <a:t>로 변환</a:t>
            </a:r>
            <a:r>
              <a:rPr lang="en-US" altLang="ko-KR" dirty="0"/>
              <a:t>, </a:t>
            </a:r>
            <a:r>
              <a:rPr lang="ko-KR" altLang="en-US" dirty="0"/>
              <a:t>속도 </a:t>
            </a:r>
            <a:r>
              <a:rPr lang="en-US" altLang="ko-KR" dirty="0"/>
              <a:t>= </a:t>
            </a:r>
            <a:r>
              <a:rPr lang="ko-KR" altLang="en-US" dirty="0"/>
              <a:t>거리</a:t>
            </a:r>
            <a:r>
              <a:rPr lang="en-US" altLang="ko-KR" dirty="0"/>
              <a:t>/</a:t>
            </a:r>
            <a:r>
              <a:rPr lang="ko-KR" altLang="en-US" dirty="0"/>
              <a:t>시간 계산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 err="1"/>
              <a:t>결측치</a:t>
            </a:r>
            <a:r>
              <a:rPr lang="ko-KR" altLang="en-US" b="1" dirty="0"/>
              <a:t> 처리 </a:t>
            </a:r>
            <a:r>
              <a:rPr lang="en-US" altLang="ko-KR" b="1" dirty="0"/>
              <a:t>(</a:t>
            </a:r>
            <a:r>
              <a:rPr lang="en" altLang="ko-KR" b="1" dirty="0"/>
              <a:t>Handling Missing Values)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결측 데이터를 대체하거나 제거하여 데이터의 완전성을 유지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중앙값으로 </a:t>
            </a:r>
            <a:r>
              <a:rPr lang="ko-KR" altLang="en-US" dirty="0" err="1"/>
              <a:t>결측치</a:t>
            </a:r>
            <a:r>
              <a:rPr lang="ko-KR" altLang="en-US" dirty="0"/>
              <a:t> 대체 또는 </a:t>
            </a:r>
            <a:r>
              <a:rPr lang="en" altLang="ko-KR" dirty="0"/>
              <a:t>KNN Imputation.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범주형 데이터 처리 </a:t>
            </a:r>
            <a:r>
              <a:rPr lang="en-US" altLang="ko-KR" b="1" dirty="0"/>
              <a:t>(</a:t>
            </a:r>
            <a:r>
              <a:rPr lang="en" altLang="ko-KR" b="1" dirty="0"/>
              <a:t>Categorical Feature Handling)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범주형 데이터를 모델에 적합한 형식으로 변환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원</a:t>
            </a:r>
            <a:r>
              <a:rPr lang="en-US" altLang="ko-KR" dirty="0"/>
              <a:t>-</a:t>
            </a:r>
            <a:r>
              <a:rPr lang="ko-KR" altLang="en-US" dirty="0"/>
              <a:t>핫 인코딩</a:t>
            </a:r>
            <a:r>
              <a:rPr lang="en-US" altLang="ko-KR" dirty="0"/>
              <a:t>(</a:t>
            </a:r>
            <a:r>
              <a:rPr lang="en" altLang="ko-KR" dirty="0"/>
              <a:t>One-Hot Encoding), </a:t>
            </a:r>
            <a:r>
              <a:rPr lang="ko-KR" altLang="en-US" dirty="0"/>
              <a:t>레이블 인코딩</a:t>
            </a:r>
            <a:r>
              <a:rPr lang="en-US" altLang="ko-KR" dirty="0"/>
              <a:t>(</a:t>
            </a:r>
            <a:r>
              <a:rPr lang="en" altLang="ko-KR" dirty="0"/>
              <a:t>Label Encoding).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시간 데이터 처리 </a:t>
            </a:r>
            <a:r>
              <a:rPr lang="en-US" altLang="ko-KR" b="1" dirty="0"/>
              <a:t>(</a:t>
            </a:r>
            <a:r>
              <a:rPr lang="en" altLang="ko-KR" b="1" dirty="0"/>
              <a:t>Time Series Features)</a:t>
            </a:r>
            <a:r>
              <a:rPr lang="en" altLang="ko-KR" dirty="0"/>
              <a:t>:</a:t>
            </a:r>
          </a:p>
          <a:p>
            <a:pPr marL="457200" lvl="1"/>
            <a:r>
              <a:rPr lang="ko-KR" altLang="en-US" dirty="0"/>
              <a:t>시간 데이터를 활용해 특성을 생성</a:t>
            </a:r>
            <a:r>
              <a:rPr lang="en-US" altLang="ko-KR" dirty="0"/>
              <a:t>.</a:t>
            </a:r>
          </a:p>
          <a:p>
            <a:pPr marL="457200" lvl="1"/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트렌드</a:t>
            </a:r>
            <a:r>
              <a:rPr lang="en-US" altLang="ko-KR" dirty="0"/>
              <a:t>, </a:t>
            </a:r>
            <a:r>
              <a:rPr lang="ko-KR" altLang="en-US" dirty="0"/>
              <a:t>계절성</a:t>
            </a:r>
            <a:r>
              <a:rPr lang="en-US" altLang="ko-KR" dirty="0"/>
              <a:t>, </a:t>
            </a:r>
            <a:r>
              <a:rPr lang="ko-KR" altLang="en-US" dirty="0"/>
              <a:t>이동 평균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b="1" dirty="0"/>
              <a:t>Feature Engineering</a:t>
            </a:r>
            <a:r>
              <a:rPr lang="ko-KR" altLang="en-US" b="1" dirty="0"/>
              <a:t>의 한계 및 도전 과제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고비용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고품질 특성을 생성하기 위해서는 도메인 지식과 많은 자원이 필요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복잡성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데이터가 복잡하거나 대규모일수록 </a:t>
            </a:r>
            <a:r>
              <a:rPr lang="en" altLang="ko-KR" dirty="0"/>
              <a:t>Feature Engineering </a:t>
            </a:r>
            <a:r>
              <a:rPr lang="ko-KR" altLang="en-US" dirty="0"/>
              <a:t>과정이 까다로움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b="1" dirty="0"/>
              <a:t>자동화의 어려움</a:t>
            </a:r>
            <a:r>
              <a:rPr lang="en-US" altLang="ko-KR" dirty="0"/>
              <a:t>:</a:t>
            </a:r>
          </a:p>
          <a:p>
            <a:pPr marL="457200" lvl="1"/>
            <a:r>
              <a:rPr lang="ko-KR" altLang="en-US" dirty="0"/>
              <a:t>비정형 데이터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)</a:t>
            </a:r>
            <a:r>
              <a:rPr lang="ko-KR" altLang="en-US" dirty="0"/>
              <a:t>에서는 자동화가 어렵고 수작업이 필요한 경우가 많음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1410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75" dirty="0"/>
              <a:t>engineering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589" y="1164502"/>
            <a:ext cx="12966065" cy="1902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i="1" spc="-6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650" i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650" i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7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650" i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process</a:t>
            </a:r>
            <a:r>
              <a:rPr sz="2650" i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105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650" i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selecting,</a:t>
            </a:r>
            <a:r>
              <a:rPr sz="2650" i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50" dirty="0">
                <a:solidFill>
                  <a:srgbClr val="04182D"/>
                </a:solidFill>
                <a:latin typeface="Arial"/>
                <a:cs typeface="Arial"/>
              </a:rPr>
              <a:t>manipulating,</a:t>
            </a:r>
            <a:r>
              <a:rPr sz="2650" i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65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650" i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45" dirty="0">
                <a:solidFill>
                  <a:srgbClr val="04182D"/>
                </a:solidFill>
                <a:latin typeface="Arial"/>
                <a:cs typeface="Arial"/>
              </a:rPr>
              <a:t>transforming</a:t>
            </a:r>
            <a:r>
              <a:rPr sz="2650" i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60" dirty="0">
                <a:solidFill>
                  <a:srgbClr val="04182D"/>
                </a:solidFill>
                <a:latin typeface="Arial"/>
                <a:cs typeface="Arial"/>
              </a:rPr>
              <a:t>raw</a:t>
            </a:r>
            <a:r>
              <a:rPr sz="2650" i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10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650" i="1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55" dirty="0">
                <a:solidFill>
                  <a:srgbClr val="04182D"/>
                </a:solidFill>
                <a:latin typeface="Arial"/>
                <a:cs typeface="Arial"/>
              </a:rPr>
              <a:t>into</a:t>
            </a:r>
            <a:r>
              <a:rPr sz="2650" i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features.</a:t>
            </a:r>
            <a:endParaRPr sz="2650">
              <a:latin typeface="Arial"/>
              <a:cs typeface="Arial"/>
            </a:endParaRPr>
          </a:p>
          <a:p>
            <a:pPr marL="381000" marR="4490085">
              <a:lnSpc>
                <a:spcPct val="168600"/>
              </a:lnSpc>
              <a:spcBef>
                <a:spcPts val="1270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variable,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such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column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table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raw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data,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but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also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create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our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own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B54637-B40C-E1D2-4FDD-BC4B53F300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Customer</a:t>
            </a:r>
            <a:r>
              <a:rPr spc="-180" dirty="0"/>
              <a:t> </a:t>
            </a:r>
            <a:r>
              <a:rPr spc="75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470" y="1797970"/>
            <a:ext cx="10793014" cy="5170638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515C5B-51B2-9C63-1A68-AF5D62C7A0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75" dirty="0"/>
              <a:t>engineering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3797257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1174582"/>
            <a:ext cx="10440670" cy="287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Goal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enhance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performance</a:t>
            </a:r>
            <a:endParaRPr sz="2550">
              <a:latin typeface="Arial"/>
              <a:cs typeface="Arial"/>
            </a:endParaRPr>
          </a:p>
          <a:p>
            <a:pPr marL="381000" marR="5080" indent="-368935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Tools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techniques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help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process,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select,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maintain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features: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selection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store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1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</a:t>
            </a:r>
            <a:r>
              <a:rPr sz="2550" spc="2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control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C4C255A-3308-E93A-641E-35DCC42B1D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100" dirty="0"/>
              <a:t>selection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69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606"/>
            <a:ext cx="5688965" cy="3366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Domain-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specific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knowledge</a:t>
            </a: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Correlation</a:t>
            </a:r>
            <a:endParaRPr sz="255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10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importances</a:t>
            </a:r>
            <a:endParaRPr sz="2550" dirty="0">
              <a:latin typeface="Arial"/>
              <a:cs typeface="Arial"/>
            </a:endParaRPr>
          </a:p>
          <a:p>
            <a:pPr marL="12700" marR="5080" algn="just">
              <a:lnSpc>
                <a:spcPct val="126400"/>
              </a:lnSpc>
              <a:spcBef>
                <a:spcPts val="1290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Other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methods: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univariate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selection,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Principal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Component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Analysis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(PCA),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Recursive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Elimination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(RFE)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122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661174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27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4234" y="1239551"/>
            <a:ext cx="6340250" cy="4726522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B8C3C50D-09B8-B63C-2D06-193E2984AA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54DA8-710F-D528-5959-255D9C5FB25D}"/>
              </a:ext>
            </a:extLst>
          </p:cNvPr>
          <p:cNvSpPr txBox="1"/>
          <p:nvPr/>
        </p:nvSpPr>
        <p:spPr>
          <a:xfrm>
            <a:off x="614110" y="4617472"/>
            <a:ext cx="98316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Univariate Selection</a:t>
            </a:r>
            <a:r>
              <a:rPr lang="ko-KR" altLang="en-US" dirty="0"/>
              <a:t>은 </a:t>
            </a:r>
            <a:r>
              <a:rPr lang="ko-KR" altLang="en-US" b="1" dirty="0"/>
              <a:t>특성</a:t>
            </a:r>
            <a:r>
              <a:rPr lang="en-US" altLang="ko-KR" b="1" dirty="0"/>
              <a:t>(</a:t>
            </a:r>
            <a:r>
              <a:rPr lang="en" altLang="ko-KR" b="1" dirty="0"/>
              <a:t>Feature) </a:t>
            </a:r>
            <a:r>
              <a:rPr lang="ko-KR" altLang="en-US" b="1" dirty="0"/>
              <a:t>선택 기법</a:t>
            </a:r>
            <a:r>
              <a:rPr lang="ko-KR" altLang="en-US" dirty="0"/>
              <a:t> 중 하나로</a:t>
            </a:r>
            <a:r>
              <a:rPr lang="en-US" altLang="ko-KR" dirty="0"/>
              <a:t>, </a:t>
            </a:r>
            <a:r>
              <a:rPr lang="ko-KR" altLang="en-US" dirty="0"/>
              <a:t>데이터셋의 각 독립 변수</a:t>
            </a:r>
            <a:r>
              <a:rPr lang="en-US" altLang="ko-KR" dirty="0"/>
              <a:t>(</a:t>
            </a:r>
            <a:r>
              <a:rPr lang="en" altLang="ko-KR" dirty="0"/>
              <a:t>Feature)</a:t>
            </a:r>
            <a:r>
              <a:rPr lang="ko-KR" altLang="en-US" dirty="0"/>
              <a:t>와 종속 변수</a:t>
            </a:r>
            <a:r>
              <a:rPr lang="en-US" altLang="ko-KR" dirty="0"/>
              <a:t>(</a:t>
            </a:r>
            <a:r>
              <a:rPr lang="en" altLang="ko-KR" dirty="0"/>
              <a:t>Target) </a:t>
            </a:r>
            <a:r>
              <a:rPr lang="ko-KR" altLang="en-US" dirty="0"/>
              <a:t>간의 </a:t>
            </a:r>
            <a:r>
              <a:rPr lang="ko-KR" altLang="en-US" b="1" dirty="0"/>
              <a:t>통계적 관계</a:t>
            </a:r>
            <a:r>
              <a:rPr lang="ko-KR" altLang="en-US" dirty="0"/>
              <a:t>를 개별적으로 평가하여 가장 관련성이 높은 특성을 선택하는 방법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b="1" dirty="0"/>
              <a:t>Univariate</a:t>
            </a:r>
            <a:r>
              <a:rPr lang="ko-KR" altLang="en-US" dirty="0"/>
              <a:t>라는 용어는 하나의 변수</a:t>
            </a:r>
            <a:r>
              <a:rPr lang="en-US" altLang="ko-KR" dirty="0"/>
              <a:t>(</a:t>
            </a:r>
            <a:r>
              <a:rPr lang="ko-KR" altLang="en-US" dirty="0"/>
              <a:t>특성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한 번에 평가한다는 것을 의미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이는 각 특성을 독립적으로 검토하며</a:t>
            </a:r>
            <a:r>
              <a:rPr lang="en-US" altLang="ko-KR" dirty="0"/>
              <a:t>, </a:t>
            </a:r>
            <a:r>
              <a:rPr lang="ko-KR" altLang="en-US" dirty="0"/>
              <a:t>다른 특성 간의 상관관계나 상호작용은 고려하지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en" altLang="ko-KR" dirty="0"/>
              <a:t>Recursive Feature Elimination (RFE)</a:t>
            </a:r>
            <a:r>
              <a:rPr lang="ko-KR" altLang="en-US" dirty="0"/>
              <a:t>은 </a:t>
            </a:r>
            <a:r>
              <a:rPr lang="ko-KR" altLang="en-US" b="1" dirty="0"/>
              <a:t>특성 선택 기법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모델의 성능을 기준으로 불필요하거나 덜 중요한 특성을 점진적으로 제거하여 </a:t>
            </a:r>
            <a:r>
              <a:rPr lang="ko-KR" altLang="en-US" b="1" dirty="0"/>
              <a:t>가장 유용한 특성만 선택</a:t>
            </a:r>
            <a:r>
              <a:rPr lang="ko-KR" altLang="en-US" dirty="0"/>
              <a:t>하는 방법</a:t>
            </a:r>
            <a:endParaRPr lang="en-US" altLang="ko-KR" dirty="0"/>
          </a:p>
          <a:p>
            <a:r>
              <a:rPr lang="en" altLang="ko-KR" dirty="0"/>
              <a:t>RFE</a:t>
            </a:r>
            <a:r>
              <a:rPr lang="ko-KR" altLang="en-US" dirty="0"/>
              <a:t>는 다음과 같은 과정을 반복하여 특정 개수의 중요한 특성을 선택</a:t>
            </a:r>
            <a:r>
              <a:rPr lang="en-US" altLang="ko-KR" dirty="0"/>
              <a:t>: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모델을 학습시킨 후 각 특성의 중요도를 평가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가장 중요도가 낮은 특성을 제거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남은 특성으로 모델을 다시 학습</a:t>
            </a:r>
            <a:r>
              <a:rPr lang="en-US" altLang="ko-KR" dirty="0"/>
              <a:t>.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 원하는 특성 개수가 남을 때까지 반복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53517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The</a:t>
            </a:r>
            <a:r>
              <a:rPr spc="-140" dirty="0"/>
              <a:t> </a:t>
            </a:r>
            <a:r>
              <a:rPr dirty="0"/>
              <a:t>feature</a:t>
            </a:r>
            <a:r>
              <a:rPr spc="-135" dirty="0"/>
              <a:t> </a:t>
            </a:r>
            <a:r>
              <a:rPr spc="-90" dirty="0"/>
              <a:t>store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5305" y="1166812"/>
            <a:ext cx="8967693" cy="52974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6803940"/>
            <a:ext cx="13415644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Only</a:t>
            </a:r>
            <a:r>
              <a:rPr sz="2550" b="1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relevant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large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teams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working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multiple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projects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85" dirty="0">
                <a:solidFill>
                  <a:srgbClr val="04182D"/>
                </a:solidFill>
                <a:latin typeface="Arial"/>
                <a:cs typeface="Arial"/>
              </a:rPr>
              <a:t>that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b="1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same</a:t>
            </a:r>
            <a:r>
              <a:rPr sz="2550" b="1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AFDAAA8-4334-0997-141A-F93F3E4166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Data</a:t>
            </a:r>
            <a:r>
              <a:rPr spc="-90" dirty="0"/>
              <a:t> </a:t>
            </a:r>
            <a:r>
              <a:rPr spc="-195" dirty="0"/>
              <a:t>version</a:t>
            </a:r>
            <a:r>
              <a:rPr spc="-90" dirty="0"/>
              <a:t> </a:t>
            </a:r>
            <a:r>
              <a:rPr spc="-75" dirty="0"/>
              <a:t>control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6136005" cy="1565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Tracking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dataset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changes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Maintaining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consistency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throughout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the development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lifecycle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812"/>
            <a:ext cx="7123696" cy="290679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663" y="7499933"/>
            <a:ext cx="87991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592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105" dirty="0">
                <a:solidFill>
                  <a:srgbClr val="04182D"/>
                </a:solidFill>
                <a:latin typeface="Arial"/>
                <a:cs typeface="Arial"/>
              </a:rPr>
              <a:t>https://</a:t>
            </a:r>
            <a:r>
              <a:rPr sz="2250" spc="105" dirty="0">
                <a:solidFill>
                  <a:srgbClr val="04182D"/>
                </a:solidFill>
                <a:latin typeface="Arial"/>
                <a:cs typeface="Arial"/>
                <a:hlinkClick r:id="rId5"/>
              </a:rPr>
              <a:t>www.datacamp.com/courses/cicd-</a:t>
            </a:r>
            <a:r>
              <a:rPr sz="2250" spc="70" dirty="0">
                <a:solidFill>
                  <a:srgbClr val="04182D"/>
                </a:solidFill>
                <a:latin typeface="Arial"/>
                <a:cs typeface="Arial"/>
                <a:hlinkClick r:id="rId5"/>
              </a:rPr>
              <a:t>for-</a:t>
            </a:r>
            <a:r>
              <a:rPr sz="2250" spc="75" dirty="0">
                <a:solidFill>
                  <a:srgbClr val="04182D"/>
                </a:solidFill>
                <a:latin typeface="Arial"/>
                <a:cs typeface="Arial"/>
                <a:hlinkClick r:id="rId5"/>
              </a:rPr>
              <a:t>machine-</a:t>
            </a:r>
            <a:r>
              <a:rPr sz="2250" spc="55" dirty="0">
                <a:solidFill>
                  <a:srgbClr val="04182D"/>
                </a:solidFill>
                <a:latin typeface="Arial"/>
                <a:cs typeface="Arial"/>
                <a:hlinkClick r:id="rId5"/>
              </a:rPr>
              <a:t>learning</a:t>
            </a:r>
            <a:endParaRPr sz="2250">
              <a:latin typeface="Arial"/>
              <a:cs typeface="Arial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75A9BB3-04DE-B5BD-BA06-3325A84D43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pc="-180" dirty="0"/>
              <a:t>Experiment</a:t>
            </a:r>
            <a:r>
              <a:rPr spc="-229" dirty="0"/>
              <a:t> </a:t>
            </a:r>
            <a:r>
              <a:rPr spc="-40" dirty="0"/>
              <a:t>tracking</a:t>
            </a:r>
          </a:p>
          <a:p>
            <a:pPr marR="53340" algn="ctr">
              <a:lnSpc>
                <a:spcPct val="100000"/>
              </a:lnSpc>
              <a:spcBef>
                <a:spcPts val="969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813A606-73C9-5714-358E-56EC043321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The</a:t>
            </a:r>
            <a:r>
              <a:rPr spc="-225" dirty="0"/>
              <a:t> </a:t>
            </a:r>
            <a:r>
              <a:rPr spc="-40" dirty="0"/>
              <a:t>machine</a:t>
            </a:r>
            <a:r>
              <a:rPr spc="-215" dirty="0"/>
              <a:t> </a:t>
            </a:r>
            <a:r>
              <a:rPr spc="-65" dirty="0"/>
              <a:t>learning</a:t>
            </a:r>
            <a:r>
              <a:rPr spc="-215" dirty="0"/>
              <a:t> </a:t>
            </a:r>
            <a:r>
              <a:rPr spc="-20" dirty="0"/>
              <a:t>experiment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D110F1-2697-FDBC-35B8-713FD1ABB5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Why</a:t>
            </a:r>
            <a:r>
              <a:rPr spc="-325" dirty="0"/>
              <a:t> </a:t>
            </a:r>
            <a:r>
              <a:rPr spc="-280" dirty="0"/>
              <a:t>is</a:t>
            </a:r>
            <a:r>
              <a:rPr spc="-95" dirty="0"/>
              <a:t> </a:t>
            </a:r>
            <a:r>
              <a:rPr spc="-60" dirty="0"/>
              <a:t>experiment</a:t>
            </a:r>
            <a:r>
              <a:rPr spc="-245" dirty="0"/>
              <a:t> </a:t>
            </a:r>
            <a:r>
              <a:rPr spc="-20" dirty="0"/>
              <a:t>tracking</a:t>
            </a:r>
            <a:r>
              <a:rPr spc="-215" dirty="0"/>
              <a:t> </a:t>
            </a:r>
            <a:r>
              <a:rPr spc="-25" dirty="0"/>
              <a:t>important?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589" y="1174582"/>
            <a:ext cx="926211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experiment,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following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factors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configured: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985628"/>
            <a:ext cx="14377670" cy="369745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57913" y="8248713"/>
            <a:ext cx="1739900" cy="368300"/>
          </a:xfrm>
          <a:custGeom>
            <a:avLst/>
            <a:gdLst/>
            <a:ahLst/>
            <a:cxnLst/>
            <a:rect l="l" t="t" r="r" b="b"/>
            <a:pathLst>
              <a:path w="1739900" h="368300">
                <a:moveTo>
                  <a:pt x="209676" y="110742"/>
                </a:moveTo>
                <a:lnTo>
                  <a:pt x="176576" y="110742"/>
                </a:lnTo>
                <a:lnTo>
                  <a:pt x="176576" y="0"/>
                </a:lnTo>
                <a:lnTo>
                  <a:pt x="209676" y="0"/>
                </a:lnTo>
                <a:lnTo>
                  <a:pt x="209676" y="110742"/>
                </a:lnTo>
                <a:close/>
              </a:path>
              <a:path w="1739900" h="368300">
                <a:moveTo>
                  <a:pt x="102631" y="290963"/>
                </a:moveTo>
                <a:lnTo>
                  <a:pt x="63835" y="282714"/>
                </a:lnTo>
                <a:lnTo>
                  <a:pt x="29931" y="259678"/>
                </a:lnTo>
                <a:lnTo>
                  <a:pt x="7482" y="225481"/>
                </a:lnTo>
                <a:lnTo>
                  <a:pt x="0" y="186728"/>
                </a:lnTo>
                <a:lnTo>
                  <a:pt x="7482" y="147975"/>
                </a:lnTo>
                <a:lnTo>
                  <a:pt x="29931" y="113778"/>
                </a:lnTo>
                <a:lnTo>
                  <a:pt x="63835" y="90741"/>
                </a:lnTo>
                <a:lnTo>
                  <a:pt x="102631" y="82493"/>
                </a:lnTo>
                <a:lnTo>
                  <a:pt x="141738" y="89128"/>
                </a:lnTo>
                <a:lnTo>
                  <a:pt x="176576" y="110742"/>
                </a:lnTo>
                <a:lnTo>
                  <a:pt x="209676" y="110742"/>
                </a:lnTo>
                <a:lnTo>
                  <a:pt x="209676" y="115505"/>
                </a:lnTo>
                <a:lnTo>
                  <a:pt x="104843" y="115505"/>
                </a:lnTo>
                <a:lnTo>
                  <a:pt x="76969" y="121103"/>
                </a:lnTo>
                <a:lnTo>
                  <a:pt x="54206" y="136369"/>
                </a:lnTo>
                <a:lnTo>
                  <a:pt x="38859" y="159011"/>
                </a:lnTo>
                <a:lnTo>
                  <a:pt x="33233" y="186728"/>
                </a:lnTo>
                <a:lnTo>
                  <a:pt x="38764" y="213998"/>
                </a:lnTo>
                <a:lnTo>
                  <a:pt x="38859" y="214465"/>
                </a:lnTo>
                <a:lnTo>
                  <a:pt x="54206" y="237107"/>
                </a:lnTo>
                <a:lnTo>
                  <a:pt x="76969" y="252373"/>
                </a:lnTo>
                <a:lnTo>
                  <a:pt x="104843" y="257971"/>
                </a:lnTo>
                <a:lnTo>
                  <a:pt x="209676" y="257971"/>
                </a:lnTo>
                <a:lnTo>
                  <a:pt x="209676" y="262714"/>
                </a:lnTo>
                <a:lnTo>
                  <a:pt x="176576" y="262714"/>
                </a:lnTo>
                <a:lnTo>
                  <a:pt x="141738" y="284327"/>
                </a:lnTo>
                <a:lnTo>
                  <a:pt x="102631" y="290963"/>
                </a:lnTo>
                <a:close/>
              </a:path>
              <a:path w="1739900" h="368300">
                <a:moveTo>
                  <a:pt x="209676" y="257971"/>
                </a:moveTo>
                <a:lnTo>
                  <a:pt x="104843" y="257971"/>
                </a:lnTo>
                <a:lnTo>
                  <a:pt x="118880" y="256589"/>
                </a:lnTo>
                <a:lnTo>
                  <a:pt x="132248" y="252548"/>
                </a:lnTo>
                <a:lnTo>
                  <a:pt x="164424" y="226258"/>
                </a:lnTo>
                <a:lnTo>
                  <a:pt x="176454" y="186728"/>
                </a:lnTo>
                <a:lnTo>
                  <a:pt x="170828" y="159011"/>
                </a:lnTo>
                <a:lnTo>
                  <a:pt x="155481" y="136369"/>
                </a:lnTo>
                <a:lnTo>
                  <a:pt x="132718" y="121103"/>
                </a:lnTo>
                <a:lnTo>
                  <a:pt x="104843" y="115505"/>
                </a:lnTo>
                <a:lnTo>
                  <a:pt x="209676" y="115505"/>
                </a:lnTo>
                <a:lnTo>
                  <a:pt x="209676" y="257971"/>
                </a:lnTo>
                <a:close/>
              </a:path>
              <a:path w="1739900" h="368300">
                <a:moveTo>
                  <a:pt x="209676" y="285671"/>
                </a:moveTo>
                <a:lnTo>
                  <a:pt x="176576" y="285671"/>
                </a:lnTo>
                <a:lnTo>
                  <a:pt x="176576" y="262714"/>
                </a:lnTo>
                <a:lnTo>
                  <a:pt x="209676" y="262714"/>
                </a:lnTo>
                <a:lnTo>
                  <a:pt x="209676" y="285671"/>
                </a:lnTo>
                <a:close/>
              </a:path>
              <a:path w="1739900" h="368300">
                <a:moveTo>
                  <a:pt x="1095907" y="290963"/>
                </a:moveTo>
                <a:lnTo>
                  <a:pt x="1057112" y="282714"/>
                </a:lnTo>
                <a:lnTo>
                  <a:pt x="1023208" y="259678"/>
                </a:lnTo>
                <a:lnTo>
                  <a:pt x="1000759" y="225481"/>
                </a:lnTo>
                <a:lnTo>
                  <a:pt x="993276" y="186728"/>
                </a:lnTo>
                <a:lnTo>
                  <a:pt x="1000759" y="147975"/>
                </a:lnTo>
                <a:lnTo>
                  <a:pt x="1023208" y="113778"/>
                </a:lnTo>
                <a:lnTo>
                  <a:pt x="1057112" y="90741"/>
                </a:lnTo>
                <a:lnTo>
                  <a:pt x="1095907" y="82493"/>
                </a:lnTo>
                <a:lnTo>
                  <a:pt x="1135014" y="89128"/>
                </a:lnTo>
                <a:lnTo>
                  <a:pt x="1169853" y="110742"/>
                </a:lnTo>
                <a:lnTo>
                  <a:pt x="1202932" y="110742"/>
                </a:lnTo>
                <a:lnTo>
                  <a:pt x="1202932" y="115505"/>
                </a:lnTo>
                <a:lnTo>
                  <a:pt x="1098140" y="115505"/>
                </a:lnTo>
                <a:lnTo>
                  <a:pt x="1070265" y="121103"/>
                </a:lnTo>
                <a:lnTo>
                  <a:pt x="1047502" y="136369"/>
                </a:lnTo>
                <a:lnTo>
                  <a:pt x="1032155" y="159011"/>
                </a:lnTo>
                <a:lnTo>
                  <a:pt x="1026530" y="186728"/>
                </a:lnTo>
                <a:lnTo>
                  <a:pt x="1032060" y="213998"/>
                </a:lnTo>
                <a:lnTo>
                  <a:pt x="1032155" y="214465"/>
                </a:lnTo>
                <a:lnTo>
                  <a:pt x="1047502" y="237107"/>
                </a:lnTo>
                <a:lnTo>
                  <a:pt x="1070265" y="252373"/>
                </a:lnTo>
                <a:lnTo>
                  <a:pt x="1098140" y="257971"/>
                </a:lnTo>
                <a:lnTo>
                  <a:pt x="1202953" y="257971"/>
                </a:lnTo>
                <a:lnTo>
                  <a:pt x="1202953" y="262714"/>
                </a:lnTo>
                <a:lnTo>
                  <a:pt x="1169853" y="262714"/>
                </a:lnTo>
                <a:lnTo>
                  <a:pt x="1135014" y="284327"/>
                </a:lnTo>
                <a:lnTo>
                  <a:pt x="1095907" y="290963"/>
                </a:lnTo>
                <a:close/>
              </a:path>
              <a:path w="1739900" h="368300">
                <a:moveTo>
                  <a:pt x="1202932" y="110742"/>
                </a:moveTo>
                <a:lnTo>
                  <a:pt x="1169853" y="110742"/>
                </a:lnTo>
                <a:lnTo>
                  <a:pt x="1169853" y="83581"/>
                </a:lnTo>
                <a:lnTo>
                  <a:pt x="1202932" y="83581"/>
                </a:lnTo>
                <a:lnTo>
                  <a:pt x="1202932" y="110742"/>
                </a:lnTo>
                <a:close/>
              </a:path>
              <a:path w="1739900" h="368300">
                <a:moveTo>
                  <a:pt x="1202953" y="257971"/>
                </a:moveTo>
                <a:lnTo>
                  <a:pt x="1098140" y="257971"/>
                </a:lnTo>
                <a:lnTo>
                  <a:pt x="1112176" y="256589"/>
                </a:lnTo>
                <a:lnTo>
                  <a:pt x="1125545" y="252548"/>
                </a:lnTo>
                <a:lnTo>
                  <a:pt x="1157720" y="226258"/>
                </a:lnTo>
                <a:lnTo>
                  <a:pt x="1169750" y="186728"/>
                </a:lnTo>
                <a:lnTo>
                  <a:pt x="1164125" y="159011"/>
                </a:lnTo>
                <a:lnTo>
                  <a:pt x="1148777" y="136369"/>
                </a:lnTo>
                <a:lnTo>
                  <a:pt x="1126015" y="121103"/>
                </a:lnTo>
                <a:lnTo>
                  <a:pt x="1098140" y="115505"/>
                </a:lnTo>
                <a:lnTo>
                  <a:pt x="1202932" y="115505"/>
                </a:lnTo>
                <a:lnTo>
                  <a:pt x="1202953" y="257971"/>
                </a:lnTo>
                <a:close/>
              </a:path>
              <a:path w="1739900" h="368300">
                <a:moveTo>
                  <a:pt x="1202953" y="285671"/>
                </a:moveTo>
                <a:lnTo>
                  <a:pt x="1169853" y="285671"/>
                </a:lnTo>
                <a:lnTo>
                  <a:pt x="1169853" y="262714"/>
                </a:lnTo>
                <a:lnTo>
                  <a:pt x="1202953" y="262714"/>
                </a:lnTo>
                <a:lnTo>
                  <a:pt x="1202953" y="285671"/>
                </a:lnTo>
                <a:close/>
              </a:path>
              <a:path w="1739900" h="368300">
                <a:moveTo>
                  <a:pt x="1259816" y="285671"/>
                </a:moveTo>
                <a:lnTo>
                  <a:pt x="1227441" y="285671"/>
                </a:lnTo>
                <a:lnTo>
                  <a:pt x="1227441" y="83454"/>
                </a:lnTo>
                <a:lnTo>
                  <a:pt x="1261205" y="83454"/>
                </a:lnTo>
                <a:lnTo>
                  <a:pt x="1260519" y="205634"/>
                </a:lnTo>
                <a:lnTo>
                  <a:pt x="1260420" y="223385"/>
                </a:lnTo>
                <a:lnTo>
                  <a:pt x="1297925" y="223385"/>
                </a:lnTo>
                <a:lnTo>
                  <a:pt x="1279985" y="252612"/>
                </a:lnTo>
                <a:lnTo>
                  <a:pt x="1259816" y="285671"/>
                </a:lnTo>
                <a:close/>
              </a:path>
              <a:path w="1739900" h="368300">
                <a:moveTo>
                  <a:pt x="1297925" y="223385"/>
                </a:moveTo>
                <a:lnTo>
                  <a:pt x="1260420" y="223385"/>
                </a:lnTo>
                <a:lnTo>
                  <a:pt x="1341815" y="90596"/>
                </a:lnTo>
                <a:lnTo>
                  <a:pt x="1344437" y="86406"/>
                </a:lnTo>
                <a:lnTo>
                  <a:pt x="1349724" y="83454"/>
                </a:lnTo>
                <a:lnTo>
                  <a:pt x="1361517" y="83454"/>
                </a:lnTo>
                <a:lnTo>
                  <a:pt x="1386275" y="134619"/>
                </a:lnTo>
                <a:lnTo>
                  <a:pt x="1352677" y="134619"/>
                </a:lnTo>
                <a:lnTo>
                  <a:pt x="1297925" y="223385"/>
                </a:lnTo>
                <a:close/>
              </a:path>
              <a:path w="1739900" h="368300">
                <a:moveTo>
                  <a:pt x="1423909" y="222504"/>
                </a:moveTo>
                <a:lnTo>
                  <a:pt x="1386420" y="222504"/>
                </a:lnTo>
                <a:lnTo>
                  <a:pt x="1469827" y="86406"/>
                </a:lnTo>
                <a:lnTo>
                  <a:pt x="1475114" y="83454"/>
                </a:lnTo>
                <a:lnTo>
                  <a:pt x="1487154" y="83454"/>
                </a:lnTo>
                <a:lnTo>
                  <a:pt x="1511676" y="135000"/>
                </a:lnTo>
                <a:lnTo>
                  <a:pt x="1477892" y="135000"/>
                </a:lnTo>
                <a:lnTo>
                  <a:pt x="1423909" y="222504"/>
                </a:lnTo>
                <a:close/>
              </a:path>
              <a:path w="1739900" h="368300">
                <a:moveTo>
                  <a:pt x="1381590" y="285671"/>
                </a:moveTo>
                <a:lnTo>
                  <a:pt x="1359983" y="285671"/>
                </a:lnTo>
                <a:lnTo>
                  <a:pt x="1352677" y="278404"/>
                </a:lnTo>
                <a:lnTo>
                  <a:pt x="1352677" y="134619"/>
                </a:lnTo>
                <a:lnTo>
                  <a:pt x="1386275" y="134619"/>
                </a:lnTo>
                <a:lnTo>
                  <a:pt x="1386395" y="209445"/>
                </a:lnTo>
                <a:lnTo>
                  <a:pt x="1386420" y="222504"/>
                </a:lnTo>
                <a:lnTo>
                  <a:pt x="1423909" y="222504"/>
                </a:lnTo>
                <a:lnTo>
                  <a:pt x="1386859" y="282733"/>
                </a:lnTo>
                <a:lnTo>
                  <a:pt x="1381590" y="285671"/>
                </a:lnTo>
                <a:close/>
              </a:path>
              <a:path w="1739900" h="368300">
                <a:moveTo>
                  <a:pt x="1511676" y="285671"/>
                </a:moveTo>
                <a:lnTo>
                  <a:pt x="1477892" y="285671"/>
                </a:lnTo>
                <a:lnTo>
                  <a:pt x="1477892" y="135000"/>
                </a:lnTo>
                <a:lnTo>
                  <a:pt x="1511676" y="135000"/>
                </a:lnTo>
                <a:lnTo>
                  <a:pt x="1511676" y="285671"/>
                </a:lnTo>
                <a:close/>
              </a:path>
              <a:path w="1739900" h="368300">
                <a:moveTo>
                  <a:pt x="904751" y="291025"/>
                </a:moveTo>
                <a:lnTo>
                  <a:pt x="842180" y="270014"/>
                </a:lnTo>
                <a:lnTo>
                  <a:pt x="805126" y="217457"/>
                </a:lnTo>
                <a:lnTo>
                  <a:pt x="800524" y="184503"/>
                </a:lnTo>
                <a:lnTo>
                  <a:pt x="806583" y="151783"/>
                </a:lnTo>
                <a:lnTo>
                  <a:pt x="822226" y="123259"/>
                </a:lnTo>
                <a:lnTo>
                  <a:pt x="845930" y="100903"/>
                </a:lnTo>
                <a:lnTo>
                  <a:pt x="876170" y="86685"/>
                </a:lnTo>
                <a:lnTo>
                  <a:pt x="909371" y="82657"/>
                </a:lnTo>
                <a:lnTo>
                  <a:pt x="941412" y="88981"/>
                </a:lnTo>
                <a:lnTo>
                  <a:pt x="969945" y="104800"/>
                </a:lnTo>
                <a:lnTo>
                  <a:pt x="980829" y="116537"/>
                </a:lnTo>
                <a:lnTo>
                  <a:pt x="906313" y="116537"/>
                </a:lnTo>
                <a:lnTo>
                  <a:pt x="884848" y="119223"/>
                </a:lnTo>
                <a:lnTo>
                  <a:pt x="865246" y="128329"/>
                </a:lnTo>
                <a:lnTo>
                  <a:pt x="849711" y="142609"/>
                </a:lnTo>
                <a:lnTo>
                  <a:pt x="839201" y="160868"/>
                </a:lnTo>
                <a:lnTo>
                  <a:pt x="834671" y="181910"/>
                </a:lnTo>
                <a:lnTo>
                  <a:pt x="836848" y="203320"/>
                </a:lnTo>
                <a:lnTo>
                  <a:pt x="845278" y="222618"/>
                </a:lnTo>
                <a:lnTo>
                  <a:pt x="859141" y="238509"/>
                </a:lnTo>
                <a:lnTo>
                  <a:pt x="877618" y="249703"/>
                </a:lnTo>
                <a:lnTo>
                  <a:pt x="898656" y="254719"/>
                </a:lnTo>
                <a:lnTo>
                  <a:pt x="983306" y="254719"/>
                </a:lnTo>
                <a:lnTo>
                  <a:pt x="966247" y="271560"/>
                </a:lnTo>
                <a:lnTo>
                  <a:pt x="937041" y="286112"/>
                </a:lnTo>
                <a:lnTo>
                  <a:pt x="904751" y="291025"/>
                </a:lnTo>
                <a:close/>
              </a:path>
              <a:path w="1739900" h="368300">
                <a:moveTo>
                  <a:pt x="960891" y="145667"/>
                </a:moveTo>
                <a:lnTo>
                  <a:pt x="945784" y="130264"/>
                </a:lnTo>
                <a:lnTo>
                  <a:pt x="927108" y="120385"/>
                </a:lnTo>
                <a:lnTo>
                  <a:pt x="906313" y="116537"/>
                </a:lnTo>
                <a:lnTo>
                  <a:pt x="980829" y="116537"/>
                </a:lnTo>
                <a:lnTo>
                  <a:pt x="992623" y="129255"/>
                </a:lnTo>
                <a:lnTo>
                  <a:pt x="960891" y="145667"/>
                </a:lnTo>
                <a:close/>
              </a:path>
              <a:path w="1739900" h="368300">
                <a:moveTo>
                  <a:pt x="983306" y="254719"/>
                </a:moveTo>
                <a:lnTo>
                  <a:pt x="898656" y="254719"/>
                </a:lnTo>
                <a:lnTo>
                  <a:pt x="919751" y="253167"/>
                </a:lnTo>
                <a:lnTo>
                  <a:pt x="939405" y="245390"/>
                </a:lnTo>
                <a:lnTo>
                  <a:pt x="956123" y="231731"/>
                </a:lnTo>
                <a:lnTo>
                  <a:pt x="989987" y="248123"/>
                </a:lnTo>
                <a:lnTo>
                  <a:pt x="983306" y="254719"/>
                </a:lnTo>
                <a:close/>
              </a:path>
              <a:path w="1739900" h="368300">
                <a:moveTo>
                  <a:pt x="1708136" y="110702"/>
                </a:moveTo>
                <a:lnTo>
                  <a:pt x="1566749" y="110702"/>
                </a:lnTo>
                <a:lnTo>
                  <a:pt x="1582358" y="98707"/>
                </a:lnTo>
                <a:lnTo>
                  <a:pt x="1599798" y="89911"/>
                </a:lnTo>
                <a:lnTo>
                  <a:pt x="1618581" y="84505"/>
                </a:lnTo>
                <a:lnTo>
                  <a:pt x="1638220" y="82661"/>
                </a:lnTo>
                <a:lnTo>
                  <a:pt x="1672025" y="88219"/>
                </a:lnTo>
                <a:lnTo>
                  <a:pt x="1701538" y="103828"/>
                </a:lnTo>
                <a:lnTo>
                  <a:pt x="1708136" y="110702"/>
                </a:lnTo>
                <a:close/>
              </a:path>
              <a:path w="1739900" h="368300">
                <a:moveTo>
                  <a:pt x="1566749" y="368192"/>
                </a:moveTo>
                <a:lnTo>
                  <a:pt x="1533649" y="368192"/>
                </a:lnTo>
                <a:lnTo>
                  <a:pt x="1533649" y="83581"/>
                </a:lnTo>
                <a:lnTo>
                  <a:pt x="1566749" y="83581"/>
                </a:lnTo>
                <a:lnTo>
                  <a:pt x="1566749" y="110702"/>
                </a:lnTo>
                <a:lnTo>
                  <a:pt x="1708136" y="110702"/>
                </a:lnTo>
                <a:lnTo>
                  <a:pt x="1712975" y="115742"/>
                </a:lnTo>
                <a:lnTo>
                  <a:pt x="1641095" y="115742"/>
                </a:lnTo>
                <a:lnTo>
                  <a:pt x="1613369" y="120098"/>
                </a:lnTo>
                <a:lnTo>
                  <a:pt x="1590186" y="134098"/>
                </a:lnTo>
                <a:lnTo>
                  <a:pt x="1573871" y="155647"/>
                </a:lnTo>
                <a:lnTo>
                  <a:pt x="1566749" y="182655"/>
                </a:lnTo>
                <a:lnTo>
                  <a:pt x="1566749" y="191181"/>
                </a:lnTo>
                <a:lnTo>
                  <a:pt x="1573542" y="217500"/>
                </a:lnTo>
                <a:lnTo>
                  <a:pt x="1589116" y="238747"/>
                </a:lnTo>
                <a:lnTo>
                  <a:pt x="1611365" y="252949"/>
                </a:lnTo>
                <a:lnTo>
                  <a:pt x="1638180" y="258131"/>
                </a:lnTo>
                <a:lnTo>
                  <a:pt x="1713519" y="258131"/>
                </a:lnTo>
                <a:lnTo>
                  <a:pt x="1707698" y="263115"/>
                </a:lnTo>
                <a:lnTo>
                  <a:pt x="1566749" y="263115"/>
                </a:lnTo>
                <a:lnTo>
                  <a:pt x="1566749" y="368192"/>
                </a:lnTo>
                <a:close/>
              </a:path>
              <a:path w="1739900" h="368300">
                <a:moveTo>
                  <a:pt x="1713519" y="258131"/>
                </a:moveTo>
                <a:lnTo>
                  <a:pt x="1638322" y="258131"/>
                </a:lnTo>
                <a:lnTo>
                  <a:pt x="1665750" y="252701"/>
                </a:lnTo>
                <a:lnTo>
                  <a:pt x="1688355" y="237795"/>
                </a:lnTo>
                <a:lnTo>
                  <a:pt x="1703795" y="215616"/>
                </a:lnTo>
                <a:lnTo>
                  <a:pt x="1709831" y="188348"/>
                </a:lnTo>
                <a:lnTo>
                  <a:pt x="1704900" y="160861"/>
                </a:lnTo>
                <a:lnTo>
                  <a:pt x="1690368" y="138084"/>
                </a:lnTo>
                <a:lnTo>
                  <a:pt x="1668383" y="122287"/>
                </a:lnTo>
                <a:lnTo>
                  <a:pt x="1641095" y="115742"/>
                </a:lnTo>
                <a:lnTo>
                  <a:pt x="1712975" y="115742"/>
                </a:lnTo>
                <a:lnTo>
                  <a:pt x="1724622" y="127875"/>
                </a:lnTo>
                <a:lnTo>
                  <a:pt x="1739135" y="158748"/>
                </a:lnTo>
                <a:lnTo>
                  <a:pt x="1739369" y="160861"/>
                </a:lnTo>
                <a:lnTo>
                  <a:pt x="1739474" y="208108"/>
                </a:lnTo>
                <a:lnTo>
                  <a:pt x="1735735" y="225106"/>
                </a:lnTo>
                <a:lnTo>
                  <a:pt x="1718688" y="253705"/>
                </a:lnTo>
                <a:lnTo>
                  <a:pt x="1713519" y="258131"/>
                </a:lnTo>
                <a:close/>
              </a:path>
              <a:path w="1739900" h="368300">
                <a:moveTo>
                  <a:pt x="1627567" y="290594"/>
                </a:moveTo>
                <a:lnTo>
                  <a:pt x="1595281" y="281985"/>
                </a:lnTo>
                <a:lnTo>
                  <a:pt x="1566749" y="263115"/>
                </a:lnTo>
                <a:lnTo>
                  <a:pt x="1707698" y="263115"/>
                </a:lnTo>
                <a:lnTo>
                  <a:pt x="1692720" y="275939"/>
                </a:lnTo>
                <a:lnTo>
                  <a:pt x="1660937" y="288669"/>
                </a:lnTo>
                <a:lnTo>
                  <a:pt x="1627567" y="290594"/>
                </a:lnTo>
                <a:close/>
              </a:path>
              <a:path w="1739900" h="368300">
                <a:moveTo>
                  <a:pt x="516267" y="83101"/>
                </a:moveTo>
                <a:lnTo>
                  <a:pt x="483127" y="83101"/>
                </a:lnTo>
                <a:lnTo>
                  <a:pt x="483127" y="27840"/>
                </a:lnTo>
                <a:lnTo>
                  <a:pt x="516267" y="27840"/>
                </a:lnTo>
                <a:lnTo>
                  <a:pt x="516267" y="83101"/>
                </a:lnTo>
                <a:close/>
              </a:path>
              <a:path w="1739900" h="368300">
                <a:moveTo>
                  <a:pt x="674483" y="290963"/>
                </a:moveTo>
                <a:lnTo>
                  <a:pt x="635688" y="282714"/>
                </a:lnTo>
                <a:lnTo>
                  <a:pt x="601783" y="259678"/>
                </a:lnTo>
                <a:lnTo>
                  <a:pt x="579335" y="225481"/>
                </a:lnTo>
                <a:lnTo>
                  <a:pt x="571854" y="186718"/>
                </a:lnTo>
                <a:lnTo>
                  <a:pt x="579335" y="147975"/>
                </a:lnTo>
                <a:lnTo>
                  <a:pt x="601783" y="113778"/>
                </a:lnTo>
                <a:lnTo>
                  <a:pt x="635688" y="90741"/>
                </a:lnTo>
                <a:lnTo>
                  <a:pt x="674483" y="82493"/>
                </a:lnTo>
                <a:lnTo>
                  <a:pt x="713590" y="89128"/>
                </a:lnTo>
                <a:lnTo>
                  <a:pt x="748429" y="110742"/>
                </a:lnTo>
                <a:lnTo>
                  <a:pt x="781529" y="110742"/>
                </a:lnTo>
                <a:lnTo>
                  <a:pt x="781529" y="115485"/>
                </a:lnTo>
                <a:lnTo>
                  <a:pt x="676716" y="115485"/>
                </a:lnTo>
                <a:lnTo>
                  <a:pt x="648841" y="121083"/>
                </a:lnTo>
                <a:lnTo>
                  <a:pt x="626078" y="136349"/>
                </a:lnTo>
                <a:lnTo>
                  <a:pt x="610731" y="158991"/>
                </a:lnTo>
                <a:lnTo>
                  <a:pt x="605103" y="186718"/>
                </a:lnTo>
                <a:lnTo>
                  <a:pt x="610636" y="213978"/>
                </a:lnTo>
                <a:lnTo>
                  <a:pt x="610731" y="214445"/>
                </a:lnTo>
                <a:lnTo>
                  <a:pt x="626078" y="237087"/>
                </a:lnTo>
                <a:lnTo>
                  <a:pt x="648841" y="252353"/>
                </a:lnTo>
                <a:lnTo>
                  <a:pt x="676716" y="257951"/>
                </a:lnTo>
                <a:lnTo>
                  <a:pt x="781529" y="257951"/>
                </a:lnTo>
                <a:lnTo>
                  <a:pt x="781529" y="262714"/>
                </a:lnTo>
                <a:lnTo>
                  <a:pt x="748429" y="262714"/>
                </a:lnTo>
                <a:lnTo>
                  <a:pt x="713590" y="284327"/>
                </a:lnTo>
                <a:lnTo>
                  <a:pt x="674483" y="290963"/>
                </a:lnTo>
                <a:close/>
              </a:path>
              <a:path w="1739900" h="368300">
                <a:moveTo>
                  <a:pt x="575022" y="115125"/>
                </a:moveTo>
                <a:lnTo>
                  <a:pt x="447432" y="115125"/>
                </a:lnTo>
                <a:lnTo>
                  <a:pt x="447432" y="83101"/>
                </a:lnTo>
                <a:lnTo>
                  <a:pt x="575022" y="83101"/>
                </a:lnTo>
                <a:lnTo>
                  <a:pt x="575022" y="115125"/>
                </a:lnTo>
                <a:close/>
              </a:path>
              <a:path w="1739900" h="368300">
                <a:moveTo>
                  <a:pt x="781529" y="110742"/>
                </a:moveTo>
                <a:lnTo>
                  <a:pt x="748429" y="110742"/>
                </a:lnTo>
                <a:lnTo>
                  <a:pt x="748429" y="83521"/>
                </a:lnTo>
                <a:lnTo>
                  <a:pt x="781529" y="83521"/>
                </a:lnTo>
                <a:lnTo>
                  <a:pt x="781529" y="110742"/>
                </a:lnTo>
                <a:close/>
              </a:path>
              <a:path w="1739900" h="368300">
                <a:moveTo>
                  <a:pt x="568241" y="285671"/>
                </a:moveTo>
                <a:lnTo>
                  <a:pt x="529728" y="285671"/>
                </a:lnTo>
                <a:lnTo>
                  <a:pt x="511643" y="282027"/>
                </a:lnTo>
                <a:lnTo>
                  <a:pt x="496873" y="272118"/>
                </a:lnTo>
                <a:lnTo>
                  <a:pt x="486911" y="257426"/>
                </a:lnTo>
                <a:lnTo>
                  <a:pt x="483248" y="239437"/>
                </a:lnTo>
                <a:lnTo>
                  <a:pt x="483127" y="115125"/>
                </a:lnTo>
                <a:lnTo>
                  <a:pt x="516287" y="115125"/>
                </a:lnTo>
                <a:lnTo>
                  <a:pt x="516287" y="246810"/>
                </a:lnTo>
                <a:lnTo>
                  <a:pt x="522296" y="252787"/>
                </a:lnTo>
                <a:lnTo>
                  <a:pt x="568241" y="252787"/>
                </a:lnTo>
                <a:lnTo>
                  <a:pt x="568241" y="285671"/>
                </a:lnTo>
                <a:close/>
              </a:path>
              <a:path w="1739900" h="368300">
                <a:moveTo>
                  <a:pt x="781529" y="257951"/>
                </a:moveTo>
                <a:lnTo>
                  <a:pt x="676716" y="257951"/>
                </a:lnTo>
                <a:lnTo>
                  <a:pt x="690752" y="256569"/>
                </a:lnTo>
                <a:lnTo>
                  <a:pt x="704121" y="252528"/>
                </a:lnTo>
                <a:lnTo>
                  <a:pt x="736296" y="226238"/>
                </a:lnTo>
                <a:lnTo>
                  <a:pt x="748328" y="186718"/>
                </a:lnTo>
                <a:lnTo>
                  <a:pt x="742700" y="158991"/>
                </a:lnTo>
                <a:lnTo>
                  <a:pt x="727353" y="136349"/>
                </a:lnTo>
                <a:lnTo>
                  <a:pt x="704591" y="121083"/>
                </a:lnTo>
                <a:lnTo>
                  <a:pt x="676716" y="115485"/>
                </a:lnTo>
                <a:lnTo>
                  <a:pt x="781529" y="115485"/>
                </a:lnTo>
                <a:lnTo>
                  <a:pt x="781529" y="257951"/>
                </a:lnTo>
                <a:close/>
              </a:path>
              <a:path w="1739900" h="368300">
                <a:moveTo>
                  <a:pt x="781529" y="285671"/>
                </a:moveTo>
                <a:lnTo>
                  <a:pt x="748429" y="285671"/>
                </a:lnTo>
                <a:lnTo>
                  <a:pt x="748429" y="262714"/>
                </a:lnTo>
                <a:lnTo>
                  <a:pt x="781529" y="262714"/>
                </a:lnTo>
                <a:lnTo>
                  <a:pt x="781529" y="285671"/>
                </a:lnTo>
                <a:close/>
              </a:path>
              <a:path w="1739900" h="368300">
                <a:moveTo>
                  <a:pt x="325516" y="290963"/>
                </a:moveTo>
                <a:lnTo>
                  <a:pt x="286721" y="282714"/>
                </a:lnTo>
                <a:lnTo>
                  <a:pt x="252817" y="259678"/>
                </a:lnTo>
                <a:lnTo>
                  <a:pt x="230368" y="225481"/>
                </a:lnTo>
                <a:lnTo>
                  <a:pt x="222885" y="186728"/>
                </a:lnTo>
                <a:lnTo>
                  <a:pt x="230368" y="147975"/>
                </a:lnTo>
                <a:lnTo>
                  <a:pt x="252817" y="113778"/>
                </a:lnTo>
                <a:lnTo>
                  <a:pt x="286721" y="90741"/>
                </a:lnTo>
                <a:lnTo>
                  <a:pt x="325516" y="82493"/>
                </a:lnTo>
                <a:lnTo>
                  <a:pt x="364623" y="89128"/>
                </a:lnTo>
                <a:lnTo>
                  <a:pt x="399462" y="110742"/>
                </a:lnTo>
                <a:lnTo>
                  <a:pt x="432542" y="110742"/>
                </a:lnTo>
                <a:lnTo>
                  <a:pt x="432542" y="115505"/>
                </a:lnTo>
                <a:lnTo>
                  <a:pt x="327749" y="115505"/>
                </a:lnTo>
                <a:lnTo>
                  <a:pt x="299874" y="121103"/>
                </a:lnTo>
                <a:lnTo>
                  <a:pt x="277112" y="136369"/>
                </a:lnTo>
                <a:lnTo>
                  <a:pt x="261764" y="159011"/>
                </a:lnTo>
                <a:lnTo>
                  <a:pt x="256139" y="186728"/>
                </a:lnTo>
                <a:lnTo>
                  <a:pt x="261670" y="214001"/>
                </a:lnTo>
                <a:lnTo>
                  <a:pt x="261764" y="214465"/>
                </a:lnTo>
                <a:lnTo>
                  <a:pt x="277112" y="237107"/>
                </a:lnTo>
                <a:lnTo>
                  <a:pt x="299874" y="252373"/>
                </a:lnTo>
                <a:lnTo>
                  <a:pt x="327749" y="257971"/>
                </a:lnTo>
                <a:lnTo>
                  <a:pt x="432542" y="257971"/>
                </a:lnTo>
                <a:lnTo>
                  <a:pt x="432542" y="262714"/>
                </a:lnTo>
                <a:lnTo>
                  <a:pt x="399462" y="262714"/>
                </a:lnTo>
                <a:lnTo>
                  <a:pt x="364623" y="284327"/>
                </a:lnTo>
                <a:lnTo>
                  <a:pt x="325516" y="290963"/>
                </a:lnTo>
                <a:close/>
              </a:path>
              <a:path w="1739900" h="368300">
                <a:moveTo>
                  <a:pt x="432542" y="110742"/>
                </a:moveTo>
                <a:lnTo>
                  <a:pt x="399462" y="110742"/>
                </a:lnTo>
                <a:lnTo>
                  <a:pt x="399462" y="83521"/>
                </a:lnTo>
                <a:lnTo>
                  <a:pt x="432542" y="83521"/>
                </a:lnTo>
                <a:lnTo>
                  <a:pt x="432542" y="110742"/>
                </a:lnTo>
                <a:close/>
              </a:path>
              <a:path w="1739900" h="368300">
                <a:moveTo>
                  <a:pt x="432542" y="257971"/>
                </a:moveTo>
                <a:lnTo>
                  <a:pt x="327749" y="257971"/>
                </a:lnTo>
                <a:lnTo>
                  <a:pt x="341787" y="256593"/>
                </a:lnTo>
                <a:lnTo>
                  <a:pt x="355157" y="252554"/>
                </a:lnTo>
                <a:lnTo>
                  <a:pt x="387336" y="226263"/>
                </a:lnTo>
                <a:lnTo>
                  <a:pt x="399359" y="186728"/>
                </a:lnTo>
                <a:lnTo>
                  <a:pt x="393734" y="159011"/>
                </a:lnTo>
                <a:lnTo>
                  <a:pt x="378387" y="136369"/>
                </a:lnTo>
                <a:lnTo>
                  <a:pt x="355624" y="121103"/>
                </a:lnTo>
                <a:lnTo>
                  <a:pt x="327749" y="115505"/>
                </a:lnTo>
                <a:lnTo>
                  <a:pt x="432542" y="115505"/>
                </a:lnTo>
                <a:lnTo>
                  <a:pt x="432542" y="257971"/>
                </a:lnTo>
                <a:close/>
              </a:path>
              <a:path w="1739900" h="368300">
                <a:moveTo>
                  <a:pt x="432542" y="285671"/>
                </a:moveTo>
                <a:lnTo>
                  <a:pt x="399462" y="285671"/>
                </a:lnTo>
                <a:lnTo>
                  <a:pt x="399462" y="262714"/>
                </a:lnTo>
                <a:lnTo>
                  <a:pt x="432542" y="262714"/>
                </a:lnTo>
                <a:lnTo>
                  <a:pt x="432542" y="285671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7497" y="8167746"/>
            <a:ext cx="332105" cy="430530"/>
          </a:xfrm>
          <a:custGeom>
            <a:avLst/>
            <a:gdLst/>
            <a:ahLst/>
            <a:cxnLst/>
            <a:rect l="l" t="t" r="r" b="b"/>
            <a:pathLst>
              <a:path w="332105" h="430529">
                <a:moveTo>
                  <a:pt x="24621" y="316746"/>
                </a:moveTo>
                <a:lnTo>
                  <a:pt x="18208" y="315587"/>
                </a:lnTo>
                <a:lnTo>
                  <a:pt x="12201" y="312824"/>
                </a:lnTo>
                <a:lnTo>
                  <a:pt x="4601" y="308078"/>
                </a:lnTo>
                <a:lnTo>
                  <a:pt x="0" y="299768"/>
                </a:lnTo>
                <a:lnTo>
                  <a:pt x="13" y="16932"/>
                </a:lnTo>
                <a:lnTo>
                  <a:pt x="4618" y="8639"/>
                </a:lnTo>
                <a:lnTo>
                  <a:pt x="12211" y="3906"/>
                </a:lnTo>
                <a:lnTo>
                  <a:pt x="18214" y="1152"/>
                </a:lnTo>
                <a:lnTo>
                  <a:pt x="24618" y="0"/>
                </a:lnTo>
                <a:lnTo>
                  <a:pt x="31110" y="466"/>
                </a:lnTo>
                <a:lnTo>
                  <a:pt x="37373" y="2569"/>
                </a:lnTo>
                <a:lnTo>
                  <a:pt x="38098" y="2929"/>
                </a:lnTo>
                <a:lnTo>
                  <a:pt x="108327" y="42979"/>
                </a:lnTo>
                <a:lnTo>
                  <a:pt x="35965" y="42979"/>
                </a:lnTo>
                <a:lnTo>
                  <a:pt x="35965" y="273770"/>
                </a:lnTo>
                <a:lnTo>
                  <a:pt x="108660" y="273770"/>
                </a:lnTo>
                <a:lnTo>
                  <a:pt x="38420" y="313659"/>
                </a:lnTo>
                <a:lnTo>
                  <a:pt x="37393" y="314180"/>
                </a:lnTo>
                <a:lnTo>
                  <a:pt x="31121" y="316282"/>
                </a:lnTo>
                <a:lnTo>
                  <a:pt x="24621" y="316746"/>
                </a:lnTo>
                <a:close/>
              </a:path>
              <a:path w="332105" h="430529">
                <a:moveTo>
                  <a:pt x="108660" y="273770"/>
                </a:moveTo>
                <a:lnTo>
                  <a:pt x="35965" y="273770"/>
                </a:lnTo>
                <a:lnTo>
                  <a:pt x="147156" y="210683"/>
                </a:lnTo>
                <a:lnTo>
                  <a:pt x="147156" y="106446"/>
                </a:lnTo>
                <a:lnTo>
                  <a:pt x="35965" y="42979"/>
                </a:lnTo>
                <a:lnTo>
                  <a:pt x="108327" y="42979"/>
                </a:lnTo>
                <a:lnTo>
                  <a:pt x="179673" y="83697"/>
                </a:lnTo>
                <a:lnTo>
                  <a:pt x="183113" y="89611"/>
                </a:lnTo>
                <a:lnTo>
                  <a:pt x="183133" y="190288"/>
                </a:lnTo>
                <a:lnTo>
                  <a:pt x="255732" y="190288"/>
                </a:lnTo>
                <a:lnTo>
                  <a:pt x="183133" y="231498"/>
                </a:lnTo>
                <a:lnTo>
                  <a:pt x="183133" y="251953"/>
                </a:lnTo>
                <a:lnTo>
                  <a:pt x="147076" y="251953"/>
                </a:lnTo>
                <a:lnTo>
                  <a:pt x="108660" y="273770"/>
                </a:lnTo>
                <a:close/>
              </a:path>
              <a:path w="332105" h="430529">
                <a:moveTo>
                  <a:pt x="255732" y="190288"/>
                </a:moveTo>
                <a:lnTo>
                  <a:pt x="183133" y="190288"/>
                </a:lnTo>
                <a:lnTo>
                  <a:pt x="295814" y="126340"/>
                </a:lnTo>
                <a:lnTo>
                  <a:pt x="332032" y="146976"/>
                </a:lnTo>
                <a:lnTo>
                  <a:pt x="255732" y="190288"/>
                </a:lnTo>
                <a:close/>
              </a:path>
              <a:path w="332105" h="430529">
                <a:moveTo>
                  <a:pt x="295592" y="430266"/>
                </a:moveTo>
                <a:lnTo>
                  <a:pt x="150555" y="348363"/>
                </a:lnTo>
                <a:lnTo>
                  <a:pt x="147097" y="342438"/>
                </a:lnTo>
                <a:lnTo>
                  <a:pt x="147076" y="251953"/>
                </a:lnTo>
                <a:lnTo>
                  <a:pt x="183133" y="251953"/>
                </a:lnTo>
                <a:lnTo>
                  <a:pt x="183133" y="325448"/>
                </a:lnTo>
                <a:lnTo>
                  <a:pt x="331811" y="409610"/>
                </a:lnTo>
                <a:lnTo>
                  <a:pt x="295592" y="430266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A7DFB06-C9AC-80CB-43E3-56FE953AC6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80A78-688A-CE9F-C319-8498716F4D41}"/>
              </a:ext>
            </a:extLst>
          </p:cNvPr>
          <p:cNvSpPr txBox="1"/>
          <p:nvPr/>
        </p:nvSpPr>
        <p:spPr>
          <a:xfrm>
            <a:off x="514891" y="6388089"/>
            <a:ext cx="14264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Experiment Tracking(</a:t>
            </a:r>
            <a:r>
              <a:rPr lang="ko-KR" altLang="en-US" dirty="0"/>
              <a:t>실험 추적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ko-KR" altLang="en-US" dirty="0" err="1"/>
              <a:t>머신러닝</a:t>
            </a:r>
            <a:r>
              <a:rPr lang="ko-KR" altLang="en-US" dirty="0"/>
              <a:t> 모델 개발 과정에서 수행한 모든 실험의 </a:t>
            </a:r>
            <a:r>
              <a:rPr lang="ko-KR" altLang="en-US" b="1" dirty="0"/>
              <a:t>입력 변수</a:t>
            </a:r>
            <a:r>
              <a:rPr lang="en-US" altLang="ko-KR" b="1" dirty="0"/>
              <a:t>, </a:t>
            </a:r>
            <a:r>
              <a:rPr lang="ko-KR" altLang="en-US" b="1" dirty="0"/>
              <a:t>실행 환경</a:t>
            </a:r>
            <a:r>
              <a:rPr lang="en-US" altLang="ko-KR" b="1" dirty="0"/>
              <a:t>, </a:t>
            </a:r>
            <a:r>
              <a:rPr lang="ko-KR" altLang="en-US" b="1" dirty="0"/>
              <a:t>결과</a:t>
            </a:r>
            <a:r>
              <a:rPr lang="en-US" altLang="ko-KR" b="1" dirty="0"/>
              <a:t>, </a:t>
            </a:r>
            <a:r>
              <a:rPr lang="ko-KR" altLang="en-US" b="1" dirty="0" err="1"/>
              <a:t>메트릭</a:t>
            </a:r>
            <a:r>
              <a:rPr lang="ko-KR" altLang="en-US" b="1" dirty="0"/>
              <a:t> 등을 기록하고 관리</a:t>
            </a:r>
            <a:r>
              <a:rPr lang="ko-KR" altLang="en-US" dirty="0"/>
              <a:t>하는 프로세스를 의미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 err="1"/>
              <a:t>MLOps</a:t>
            </a:r>
            <a:r>
              <a:rPr lang="ko-KR" altLang="en-US" dirty="0"/>
              <a:t>의 중요한 부분으로</a:t>
            </a:r>
            <a:r>
              <a:rPr lang="en-US" altLang="ko-KR" dirty="0"/>
              <a:t>, </a:t>
            </a:r>
            <a:r>
              <a:rPr lang="ko-KR" altLang="en-US" dirty="0"/>
              <a:t>실험 추적은 모델 개발의 </a:t>
            </a:r>
            <a:r>
              <a:rPr lang="ko-KR" altLang="en-US" b="1" dirty="0"/>
              <a:t>재현성</a:t>
            </a:r>
            <a:r>
              <a:rPr lang="ko-KR" altLang="en-US" dirty="0"/>
              <a:t>과 </a:t>
            </a:r>
            <a:r>
              <a:rPr lang="ko-KR" altLang="en-US" b="1" dirty="0"/>
              <a:t>효율성</a:t>
            </a:r>
            <a:r>
              <a:rPr lang="ko-KR" altLang="en-US" dirty="0"/>
              <a:t>을 높이는 데 필수</a:t>
            </a:r>
            <a:endParaRPr lang="en-US" altLang="ko-K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Using</a:t>
            </a:r>
            <a:r>
              <a:rPr spc="-110" dirty="0"/>
              <a:t> </a:t>
            </a:r>
            <a:r>
              <a:rPr spc="-60" dirty="0"/>
              <a:t>experiment</a:t>
            </a:r>
            <a:r>
              <a:rPr spc="-250" dirty="0"/>
              <a:t> </a:t>
            </a:r>
            <a:r>
              <a:rPr spc="-20" dirty="0"/>
              <a:t>tracking</a:t>
            </a:r>
            <a:r>
              <a:rPr spc="-190" dirty="0"/>
              <a:t> </a:t>
            </a:r>
            <a:r>
              <a:rPr spc="-55" dirty="0"/>
              <a:t>in</a:t>
            </a:r>
            <a:r>
              <a:rPr spc="-180" dirty="0"/>
              <a:t> </a:t>
            </a:r>
            <a:r>
              <a:rPr dirty="0"/>
              <a:t>the</a:t>
            </a:r>
            <a:r>
              <a:rPr spc="-180" dirty="0"/>
              <a:t> </a:t>
            </a:r>
            <a:r>
              <a:rPr dirty="0"/>
              <a:t>ML</a:t>
            </a:r>
            <a:r>
              <a:rPr spc="-175" dirty="0"/>
              <a:t> </a:t>
            </a:r>
            <a:r>
              <a:rPr spc="-10" dirty="0"/>
              <a:t>lifecycle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47996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135019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8589" y="1174582"/>
            <a:ext cx="7419340" cy="3202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Experiment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tracking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help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to: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Compare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results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Reproduce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past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experiments</a:t>
            </a:r>
            <a:endParaRPr sz="2550">
              <a:latin typeface="Arial"/>
              <a:cs typeface="Arial"/>
            </a:endParaRPr>
          </a:p>
          <a:p>
            <a:pPr marL="381000" marR="5080">
              <a:lnSpc>
                <a:spcPts val="5160"/>
              </a:lnSpc>
              <a:spcBef>
                <a:spcPts val="320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Collaborate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developers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stakeholders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Report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results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stakeholders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E61ADAD8-8B86-8F0C-BC2C-EABDD56B34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9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track</a:t>
            </a:r>
            <a:r>
              <a:rPr spc="-85" dirty="0"/>
              <a:t> </a:t>
            </a:r>
            <a:r>
              <a:rPr spc="-114" dirty="0"/>
              <a:t>experiments?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1289" y="1166788"/>
          <a:ext cx="14553564" cy="302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1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2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Pro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b="1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Con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EFEB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Spreadsheet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Straightforward,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easy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2550" spc="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-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use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Require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lot</a:t>
                      </a:r>
                      <a:r>
                        <a:rPr sz="2550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manual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work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7493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Proprietary</a:t>
                      </a:r>
                      <a:r>
                        <a:rPr sz="2550" spc="7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63690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Custom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solution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specific</a:t>
                      </a:r>
                      <a:r>
                        <a:rPr sz="2550" spc="6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our </a:t>
                      </a:r>
                      <a:r>
                        <a:rPr sz="2550" spc="4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process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8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Require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3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sz="2550" spc="10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3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2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effort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2387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  <a:solidFill>
                      <a:srgbClr val="F6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pPr marL="132715" marR="31813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8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Experiment</a:t>
                      </a:r>
                      <a:r>
                        <a:rPr sz="2550" spc="4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tracking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1727835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spc="9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Specifically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designed</a:t>
                      </a:r>
                      <a:r>
                        <a:rPr sz="2550" spc="7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for </a:t>
                      </a:r>
                      <a:r>
                        <a:rPr sz="2550" spc="6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experiments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 marR="698500">
                        <a:lnSpc>
                          <a:spcPts val="2580"/>
                        </a:lnSpc>
                        <a:spcBef>
                          <a:spcPts val="1080"/>
                        </a:spcBef>
                      </a:pPr>
                      <a:r>
                        <a:rPr sz="25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Requires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3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getting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14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familiar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10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with </a:t>
                      </a:r>
                      <a:r>
                        <a:rPr sz="2550" spc="12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2550" spc="50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550" spc="85" dirty="0">
                          <a:solidFill>
                            <a:srgbClr val="04182D"/>
                          </a:solidFill>
                          <a:latin typeface="Arial"/>
                          <a:cs typeface="Arial"/>
                        </a:rPr>
                        <a:t>tool</a:t>
                      </a:r>
                      <a:endParaRPr sz="2550">
                        <a:latin typeface="Arial"/>
                        <a:cs typeface="Arial"/>
                      </a:endParaRPr>
                    </a:p>
                  </a:txBody>
                  <a:tcPr marL="0" marR="0" marT="137160" marB="0">
                    <a:lnL w="28575">
                      <a:solidFill>
                        <a:srgbClr val="E4E1D9"/>
                      </a:solidFill>
                      <a:prstDash val="solid"/>
                    </a:lnL>
                    <a:lnR w="28575">
                      <a:solidFill>
                        <a:srgbClr val="E4E1D9"/>
                      </a:solidFill>
                      <a:prstDash val="solid"/>
                    </a:lnR>
                    <a:lnT w="28575">
                      <a:solidFill>
                        <a:srgbClr val="E4E1D9"/>
                      </a:solidFill>
                      <a:prstDash val="solid"/>
                    </a:lnT>
                    <a:lnB w="28575">
                      <a:solidFill>
                        <a:srgbClr val="E4E1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8FB998-B979-DB50-8BC4-11225C6D80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</a:t>
            </a:r>
            <a:r>
              <a:rPr spc="-190" dirty="0"/>
              <a:t> </a:t>
            </a:r>
            <a:r>
              <a:rPr spc="-40" dirty="0"/>
              <a:t>machine</a:t>
            </a:r>
            <a:r>
              <a:rPr spc="-185" dirty="0"/>
              <a:t> </a:t>
            </a:r>
            <a:r>
              <a:rPr spc="-65" dirty="0"/>
              <a:t>learning</a:t>
            </a:r>
            <a:r>
              <a:rPr spc="-190" dirty="0"/>
              <a:t> </a:t>
            </a:r>
            <a:r>
              <a:rPr spc="-30" dirty="0"/>
              <a:t>experiment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7435" y="1166788"/>
            <a:ext cx="10454068" cy="620816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A10C3A-A1AE-4B2A-0450-6B3C579901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The</a:t>
            </a:r>
            <a:r>
              <a:rPr spc="-229" dirty="0"/>
              <a:t> </a:t>
            </a:r>
            <a:r>
              <a:rPr spc="-60" dirty="0"/>
              <a:t>experiment</a:t>
            </a:r>
            <a:r>
              <a:rPr spc="-235" dirty="0"/>
              <a:t> </a:t>
            </a:r>
            <a:r>
              <a:rPr spc="-13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589" y="1164478"/>
            <a:ext cx="7065645" cy="5996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2915" indent="-36893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62915" algn="l"/>
              </a:tabLst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Formulate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hypothesis: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-50" dirty="0">
                <a:solidFill>
                  <a:srgbClr val="04182D"/>
                </a:solidFill>
                <a:latin typeface="Arial"/>
                <a:cs typeface="Arial"/>
              </a:rPr>
              <a:t>"We</a:t>
            </a:r>
            <a:r>
              <a:rPr sz="2650" i="1" spc="-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55" dirty="0">
                <a:solidFill>
                  <a:srgbClr val="04182D"/>
                </a:solidFill>
                <a:latin typeface="Arial"/>
                <a:cs typeface="Arial"/>
              </a:rPr>
              <a:t>expect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 that..."</a:t>
            </a:r>
            <a:endParaRPr sz="2650">
              <a:latin typeface="Arial"/>
              <a:cs typeface="Arial"/>
            </a:endParaRPr>
          </a:p>
          <a:p>
            <a:pPr marL="462915" indent="-429895">
              <a:lnSpc>
                <a:spcPct val="100000"/>
              </a:lnSpc>
              <a:spcBef>
                <a:spcPts val="2080"/>
              </a:spcBef>
              <a:buAutoNum type="arabicPeriod"/>
              <a:tabLst>
                <a:tab pos="462915" algn="l"/>
              </a:tabLst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Gather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images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labels</a:t>
            </a:r>
            <a:endParaRPr sz="2550">
              <a:latin typeface="Arial"/>
              <a:cs typeface="Arial"/>
            </a:endParaRPr>
          </a:p>
          <a:p>
            <a:pPr marL="462915" marR="165735" indent="-450850">
              <a:lnSpc>
                <a:spcPct val="126400"/>
              </a:lnSpc>
              <a:spcBef>
                <a:spcPts val="1290"/>
              </a:spcBef>
              <a:buAutoNum type="arabicPeriod"/>
              <a:tabLst>
                <a:tab pos="462915" algn="l"/>
              </a:tabLst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Define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experiments,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e.g.,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types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models,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hyperparameters,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datasets</a:t>
            </a:r>
            <a:endParaRPr sz="2550">
              <a:latin typeface="Arial"/>
              <a:cs typeface="Arial"/>
            </a:endParaRPr>
          </a:p>
          <a:p>
            <a:pPr marL="462915" indent="-450215">
              <a:lnSpc>
                <a:spcPct val="100000"/>
              </a:lnSpc>
              <a:spcBef>
                <a:spcPts val="2100"/>
              </a:spcBef>
              <a:buAutoNum type="arabicPeriod"/>
              <a:tabLst>
                <a:tab pos="46291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Setup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experiment</a:t>
            </a:r>
            <a:r>
              <a:rPr sz="2550" spc="1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tracking</a:t>
            </a:r>
            <a:endParaRPr sz="2550">
              <a:latin typeface="Arial"/>
              <a:cs typeface="Arial"/>
            </a:endParaRPr>
          </a:p>
          <a:p>
            <a:pPr marL="462915" indent="-450215">
              <a:lnSpc>
                <a:spcPct val="100000"/>
              </a:lnSpc>
              <a:spcBef>
                <a:spcPts val="2095"/>
              </a:spcBef>
              <a:buAutoNum type="arabicPeriod"/>
              <a:tabLst>
                <a:tab pos="46291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Train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model(s)</a:t>
            </a:r>
            <a:endParaRPr sz="2550">
              <a:latin typeface="Arial"/>
              <a:cs typeface="Arial"/>
            </a:endParaRPr>
          </a:p>
          <a:p>
            <a:pPr marL="462915" indent="-450215">
              <a:lnSpc>
                <a:spcPct val="100000"/>
              </a:lnSpc>
              <a:spcBef>
                <a:spcPts val="2100"/>
              </a:spcBef>
              <a:buAutoNum type="arabicPeriod"/>
              <a:tabLst>
                <a:tab pos="46291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Test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models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hold-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out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test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endParaRPr sz="2550">
              <a:latin typeface="Arial"/>
              <a:cs typeface="Arial"/>
            </a:endParaRPr>
          </a:p>
          <a:p>
            <a:pPr marL="462915" indent="-429895">
              <a:lnSpc>
                <a:spcPct val="100000"/>
              </a:lnSpc>
              <a:spcBef>
                <a:spcPts val="2095"/>
              </a:spcBef>
              <a:buAutoNum type="arabicPeriod"/>
              <a:tabLst>
                <a:tab pos="46291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Register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most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suitable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endParaRPr sz="2550">
              <a:latin typeface="Arial"/>
              <a:cs typeface="Arial"/>
            </a:endParaRPr>
          </a:p>
          <a:p>
            <a:pPr marL="462915" marR="584200" indent="-450850">
              <a:lnSpc>
                <a:spcPct val="126400"/>
              </a:lnSpc>
              <a:spcBef>
                <a:spcPts val="1290"/>
              </a:spcBef>
              <a:buAutoNum type="arabicPeriod"/>
              <a:tabLst>
                <a:tab pos="46291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Visualize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report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back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team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stakeholders,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determine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next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steps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92714" y="1189433"/>
            <a:ext cx="4558474" cy="6016119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CF5A2AB-B9D6-9A45-685B-7C10F17B11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182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1674</Words>
  <Application>Microsoft Macintosh PowerPoint</Application>
  <PresentationFormat>사용자 지정</PresentationFormat>
  <Paragraphs>272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Times New Roman</vt:lpstr>
      <vt:lpstr>Office Theme</vt:lpstr>
      <vt:lpstr>MLOps design M LO P S C O N C E P T S</vt:lpstr>
      <vt:lpstr>Machine learning design</vt:lpstr>
      <vt:lpstr>Added value</vt:lpstr>
      <vt:lpstr>Business requirements</vt:lpstr>
      <vt:lpstr>Key metrics</vt:lpstr>
      <vt:lpstr>Data quality and ingestion M LO P S C O N C E P T S</vt:lpstr>
      <vt:lpstr>PowerPoint 프레젠테이션</vt:lpstr>
      <vt:lpstr>PowerPoint 프레젠테이션</vt:lpstr>
      <vt:lpstr>PowerPoint 프레젠테이션</vt:lpstr>
      <vt:lpstr>Data quality and ingestion</vt:lpstr>
      <vt:lpstr>What is data quality?</vt:lpstr>
      <vt:lpstr>Data quality dimensions Accuracy Completeness Consistency Timeliness</vt:lpstr>
      <vt:lpstr>Data quality dimensions example</vt:lpstr>
      <vt:lpstr>Data ingestion</vt:lpstr>
      <vt:lpstr>Feature engineering M LO P S C O N C E P T S</vt:lpstr>
      <vt:lpstr>Feature engineering</vt:lpstr>
      <vt:lpstr>PowerPoint 프레젠테이션</vt:lpstr>
      <vt:lpstr>PowerPoint 프레젠테이션</vt:lpstr>
      <vt:lpstr>Feature engineering</vt:lpstr>
      <vt:lpstr>Customer data</vt:lpstr>
      <vt:lpstr>Feature engineering</vt:lpstr>
      <vt:lpstr>Feature selection</vt:lpstr>
      <vt:lpstr>The feature store</vt:lpstr>
      <vt:lpstr>Data version control</vt:lpstr>
      <vt:lpstr>PowerPoint 프레젠테이션</vt:lpstr>
      <vt:lpstr>The machine learning experiment</vt:lpstr>
      <vt:lpstr>Why is experiment tracking important?</vt:lpstr>
      <vt:lpstr>Using experiment tracking in the ML lifecycle</vt:lpstr>
      <vt:lpstr>How to track experiments?</vt:lpstr>
      <vt:lpstr>A machine learning experiment</vt:lpstr>
      <vt:lpstr>The experiment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12</cp:revision>
  <dcterms:created xsi:type="dcterms:W3CDTF">2025-01-14T03:29:32Z</dcterms:created>
  <dcterms:modified xsi:type="dcterms:W3CDTF">2025-01-14T04:18:30Z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2025-01-08T00:00:00Z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2025-01-14T00:00:00Z</vt:filetime>
  </property>
  <property fmtid="{D5CDD505-2E9C-101B-9397-08002B2CF9AE}" pid="5" name="Producer">
    <vt:lpwstr>Skia/PDF m89</vt:lpwstr>
  </property>
</Properties>
</file>