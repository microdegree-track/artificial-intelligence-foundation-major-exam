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1"/>
    <p:restoredTop sz="94694"/>
  </p:normalViewPr>
  <p:slideViewPr>
    <p:cSldViewPr>
      <p:cViewPr varScale="1">
        <p:scale>
          <a:sx n="58" d="100"/>
          <a:sy n="58" d="100"/>
        </p:scale>
        <p:origin x="240" y="1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440D1A-42E6-9F45-971D-2DABA4E3A92C}" type="datetimeFigureOut">
              <a:rPr kumimoji="1" lang="ko-KR" altLang="en-US" smtClean="0"/>
              <a:t>2025. 1. 11.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7D3A67-B8F1-9340-9E94-7418B0E7CA5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13410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C7FE0-6FAB-6A4A-87B0-B9C27C8A268E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D577F-57D6-0A46-A70B-AE1B8699D897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965C6-1996-5740-A108-50E9AAFDDAF0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4C2FB-2576-A544-A08D-39EE3789F68F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A7C58-73ED-604E-8CBC-36D730132916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85"/>
            <a:ext cx="12938760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0955" y="1727271"/>
            <a:ext cx="6574155" cy="31946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96568" y="8207378"/>
            <a:ext cx="5346065" cy="3714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57743-DD46-9A4F-8C38-7BC463D0CBAC}" type="datetime1">
              <a:rPr lang="ko-KR" altLang="en-US" smtClean="0"/>
              <a:t>2025. 1. 11.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ko.wikipedia.org/wiki/%EC%9C%A0%EB%9F%BD%EB%B0%A9%EC%86%A1%EC%97%B0%EB%A7%B9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ko.wikipedia.org/wiki/%ED%94%84%EB%9E%91%EC%8A%A4%EC%96%B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ko.wikipedia.org/wiki/%EC%98%81%EC%96%B4" TargetMode="External"/><Relationship Id="rId5" Type="http://schemas.openxmlformats.org/officeDocument/2006/relationships/hyperlink" Target="http://www.eurovision.tv/page/results" TargetMode="External"/><Relationship Id="rId10" Type="http://schemas.openxmlformats.org/officeDocument/2006/relationships/hyperlink" Target="https://ko.wikipedia.org/wiki/%EC%8B%9C%EC%B2%AD%EC%9E%90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ko.wikipedia.org/wiki/%EC%9C%A0%EB%9F%BD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3400" rIns="0" bIns="0" rtlCol="0">
            <a:spAutoFit/>
          </a:bodyPr>
          <a:lstStyle/>
          <a:p>
            <a:pPr marL="1273810" marR="1204595" algn="ctr">
              <a:lnSpc>
                <a:spcPts val="6770"/>
              </a:lnSpc>
              <a:spcBef>
                <a:spcPts val="1130"/>
              </a:spcBef>
            </a:pPr>
            <a:r>
              <a:rPr spc="-275" dirty="0"/>
              <a:t>Visualizing </a:t>
            </a:r>
            <a:r>
              <a:rPr spc="-215" dirty="0"/>
              <a:t>hierarchies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3BE58BD-79DC-50D0-3DA8-917D55A763D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7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589" y="-98675"/>
            <a:ext cx="9266555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155" dirty="0"/>
              <a:t>Visualizations</a:t>
            </a:r>
            <a:r>
              <a:rPr spc="-125" dirty="0"/>
              <a:t> </a:t>
            </a:r>
            <a:r>
              <a:rPr spc="-50" dirty="0"/>
              <a:t>communicate</a:t>
            </a:r>
            <a:r>
              <a:rPr spc="-125" dirty="0"/>
              <a:t> </a:t>
            </a:r>
            <a:r>
              <a:rPr spc="-75" dirty="0"/>
              <a:t>insight</a:t>
            </a:r>
          </a:p>
          <a:p>
            <a:pPr marL="381000" marR="1721485">
              <a:lnSpc>
                <a:spcPts val="5160"/>
              </a:lnSpc>
            </a:pPr>
            <a:r>
              <a:rPr sz="2550" b="0" spc="95" dirty="0">
                <a:latin typeface="Arial"/>
                <a:cs typeface="Arial"/>
              </a:rPr>
              <a:t>"t-</a:t>
            </a:r>
            <a:r>
              <a:rPr sz="2550" b="0" spc="-30" dirty="0">
                <a:latin typeface="Arial"/>
                <a:cs typeface="Arial"/>
              </a:rPr>
              <a:t>SNE"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: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spc="80" dirty="0">
                <a:latin typeface="Arial"/>
                <a:cs typeface="Arial"/>
              </a:rPr>
              <a:t>Creates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2D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spc="165" dirty="0">
                <a:latin typeface="Arial"/>
                <a:cs typeface="Arial"/>
              </a:rPr>
              <a:t>map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spc="150" dirty="0">
                <a:latin typeface="Arial"/>
                <a:cs typeface="Arial"/>
              </a:rPr>
              <a:t>of</a:t>
            </a:r>
            <a:r>
              <a:rPr sz="2550" b="0" spc="20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2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dataset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"Hierarchical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clustering"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8625F97-F68D-0FE3-5311-6D88870B690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F84067-60E3-0670-B20B-C8242A4F5EA0}"/>
              </a:ext>
            </a:extLst>
          </p:cNvPr>
          <p:cNvSpPr txBox="1"/>
          <p:nvPr/>
        </p:nvSpPr>
        <p:spPr>
          <a:xfrm>
            <a:off x="779059" y="2448377"/>
            <a:ext cx="1425983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t-SNE (t-Distributed Stochastic Neighbor Embedding)</a:t>
            </a:r>
          </a:p>
          <a:p>
            <a:endParaRPr lang="en" altLang="ko-KR" b="1" dirty="0"/>
          </a:p>
          <a:p>
            <a:r>
              <a:rPr lang="en" altLang="ko-KR" b="1" dirty="0"/>
              <a:t>t-SNE</a:t>
            </a:r>
            <a:r>
              <a:rPr lang="en" altLang="ko-KR" dirty="0"/>
              <a:t> is a </a:t>
            </a:r>
            <a:r>
              <a:rPr lang="en" altLang="ko-KR" b="1" dirty="0"/>
              <a:t>dimensionality reduction technique</a:t>
            </a:r>
            <a:r>
              <a:rPr lang="en" altLang="ko-KR" dirty="0"/>
              <a:t> designed for visualizing high-dimensional data in a lower-dimensional space (typically 2D or 3D) while preserving the local structure of the data. It is widely used to explore patterns and clusters in complex datasets.</a:t>
            </a:r>
          </a:p>
          <a:p>
            <a:r>
              <a:rPr lang="en" altLang="ko-KR" dirty="0"/>
              <a:t>t-SNE is a powerful non-linear dimensionality reduction technique particularly suited for visualizing high-dimensional datasets. While computationally intensive and sensitive to hyperparameters, it remains a popular choice for uncovering clusters and patterns in complex data.</a:t>
            </a:r>
          </a:p>
          <a:p>
            <a:endParaRPr lang="en" altLang="ko-KR" b="1" dirty="0"/>
          </a:p>
          <a:p>
            <a:r>
              <a:rPr lang="en" altLang="ko-KR" b="1" dirty="0"/>
              <a:t>Hierarchical clustering</a:t>
            </a:r>
            <a:r>
              <a:rPr lang="en" altLang="ko-KR" dirty="0"/>
              <a:t> is an unsupervised machine learning algorithm used to group similar data points into clusters. Unlike flat clustering methods (e.g., K-Means), hierarchical clustering creates a tree-like structure called a </a:t>
            </a:r>
            <a:r>
              <a:rPr lang="en" altLang="ko-KR" b="1" dirty="0"/>
              <a:t>dendrogram</a:t>
            </a:r>
            <a:r>
              <a:rPr lang="en" altLang="ko-KR" dirty="0"/>
              <a:t>, which shows the relationships between clusters at various levels of granularity.</a:t>
            </a:r>
          </a:p>
          <a:p>
            <a:endParaRPr lang="en" altLang="ko-KR" b="1" dirty="0"/>
          </a:p>
          <a:p>
            <a:r>
              <a:rPr lang="en" altLang="ko-KR" b="1" dirty="0"/>
              <a:t>Types of Hierarchical Clustering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 Agglomerative Clustering (Bottom-Up)</a:t>
            </a:r>
            <a:r>
              <a:rPr lang="en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Starts with each data point as its own cluster.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Iteratively merges the two closest clusters until a single cluster is formed (or a stopping criterion is met).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 Divisive Clustering (Top-Down)</a:t>
            </a:r>
            <a:r>
              <a:rPr lang="en" altLang="ko-KR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Starts with all data points in one cluster.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" altLang="ko-KR" dirty="0"/>
              <a:t>Iteratively splits clusters into smaller clusters until each data point is its own cluster (or a stopping criterion is met).</a:t>
            </a:r>
            <a:endParaRPr lang="en" altLang="ko-KR" b="1" dirty="0"/>
          </a:p>
          <a:p>
            <a:endParaRPr lang="en" altLang="ko-KR" b="1" dirty="0"/>
          </a:p>
          <a:p>
            <a:endParaRPr lang="en" altLang="ko-KR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6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589" y="-98676"/>
            <a:ext cx="7528762" cy="2324419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dirty="0"/>
              <a:t>A</a:t>
            </a:r>
            <a:r>
              <a:rPr spc="-160" dirty="0"/>
              <a:t> </a:t>
            </a:r>
            <a:r>
              <a:rPr spc="-55" dirty="0"/>
              <a:t>hierarchy</a:t>
            </a:r>
            <a:r>
              <a:rPr spc="-145" dirty="0"/>
              <a:t> </a:t>
            </a:r>
            <a:r>
              <a:rPr lang="en-US" spc="-145" dirty="0"/>
              <a:t>(</a:t>
            </a:r>
            <a:r>
              <a:rPr lang="ko-KR" altLang="en-US" spc="-145" dirty="0"/>
              <a:t>계층</a:t>
            </a:r>
            <a:r>
              <a:rPr lang="en-US" altLang="ko-KR" spc="-145" dirty="0"/>
              <a:t>)</a:t>
            </a:r>
            <a:r>
              <a:rPr lang="ko-KR" altLang="en-US" spc="-145" dirty="0"/>
              <a:t> </a:t>
            </a:r>
            <a:r>
              <a:rPr dirty="0"/>
              <a:t>of</a:t>
            </a:r>
            <a:r>
              <a:rPr spc="-145" dirty="0"/>
              <a:t> </a:t>
            </a:r>
            <a:r>
              <a:rPr spc="-10" dirty="0"/>
              <a:t>groups</a:t>
            </a:r>
          </a:p>
          <a:p>
            <a:pPr marL="381000" marR="5080">
              <a:lnSpc>
                <a:spcPts val="5160"/>
              </a:lnSpc>
            </a:pPr>
            <a:r>
              <a:rPr sz="2550" b="0" spc="55" dirty="0">
                <a:latin typeface="Arial"/>
                <a:cs typeface="Arial"/>
              </a:rPr>
              <a:t>Groups </a:t>
            </a:r>
            <a:r>
              <a:rPr sz="2550" b="0" spc="150" dirty="0">
                <a:latin typeface="Arial"/>
                <a:cs typeface="Arial"/>
              </a:rPr>
              <a:t>of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75" dirty="0">
                <a:latin typeface="Arial"/>
                <a:cs typeface="Arial"/>
              </a:rPr>
              <a:t>living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things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30" dirty="0">
                <a:latin typeface="Arial"/>
                <a:cs typeface="Arial"/>
              </a:rPr>
              <a:t>can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14" dirty="0">
                <a:latin typeface="Arial"/>
                <a:cs typeface="Arial"/>
              </a:rPr>
              <a:t>form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55" dirty="0">
                <a:latin typeface="Arial"/>
                <a:cs typeface="Arial"/>
              </a:rPr>
              <a:t>a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hierarchy </a:t>
            </a:r>
            <a:r>
              <a:rPr sz="2550" b="0" spc="45" dirty="0">
                <a:latin typeface="Arial"/>
                <a:cs typeface="Arial"/>
              </a:rPr>
              <a:t>Clusters </a:t>
            </a:r>
            <a:r>
              <a:rPr sz="2550" b="0" spc="85" dirty="0">
                <a:latin typeface="Arial"/>
                <a:cs typeface="Arial"/>
              </a:rPr>
              <a:t>are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contained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in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one</a:t>
            </a:r>
            <a:r>
              <a:rPr sz="2550" b="0" spc="45" dirty="0">
                <a:latin typeface="Arial"/>
                <a:cs typeface="Arial"/>
              </a:rPr>
              <a:t> </a:t>
            </a:r>
            <a:r>
              <a:rPr sz="2550" b="0" spc="90" dirty="0">
                <a:latin typeface="Arial"/>
                <a:cs typeface="Arial"/>
              </a:rPr>
              <a:t>another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45172" y="3433907"/>
            <a:ext cx="6612129" cy="2494424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EEAA6B-345C-91D2-39C8-6F8F26C42E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9" dirty="0"/>
              <a:t>Eurovision</a:t>
            </a:r>
            <a:r>
              <a:rPr spc="-95" dirty="0"/>
              <a:t> </a:t>
            </a:r>
            <a:r>
              <a:rPr spc="-155" dirty="0"/>
              <a:t>scoring</a:t>
            </a:r>
            <a:r>
              <a:rPr spc="-9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9196705" cy="231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Countries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gave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scores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songs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performed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Eurovision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2016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scores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Rows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countries,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columns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songs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851" y="4442074"/>
            <a:ext cx="4442074" cy="280444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25663" y="7499933"/>
            <a:ext cx="548703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270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75" dirty="0">
                <a:solidFill>
                  <a:srgbClr val="04182D"/>
                </a:solidFill>
                <a:latin typeface="Arial"/>
                <a:cs typeface="Arial"/>
              </a:rPr>
              <a:t>https://</a:t>
            </a:r>
            <a:r>
              <a:rPr sz="2250" spc="75" dirty="0">
                <a:solidFill>
                  <a:srgbClr val="04182D"/>
                </a:solidFill>
                <a:latin typeface="Arial"/>
                <a:cs typeface="Arial"/>
                <a:hlinkClick r:id="rId5"/>
              </a:rPr>
              <a:t>www.eurovision.tv/page/results</a:t>
            </a:r>
            <a:endParaRPr sz="22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69FA2F4F-DAFA-3502-D762-AB1CD93F58C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303D0B-E376-FBF6-23C7-B022D2381AC9}"/>
              </a:ext>
            </a:extLst>
          </p:cNvPr>
          <p:cNvSpPr txBox="1"/>
          <p:nvPr/>
        </p:nvSpPr>
        <p:spPr>
          <a:xfrm>
            <a:off x="8997950" y="1917381"/>
            <a:ext cx="625614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유로비전 송 콘테스트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6" tooltip="영어"/>
              </a:rPr>
              <a:t>영어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Eurovision Song Contest, </a:t>
            </a:r>
            <a:r>
              <a:rPr lang="ko-KR" altLang="en-US" b="0" i="0" u="none" strike="noStrike" dirty="0">
                <a:solidFill>
                  <a:srgbClr val="202122"/>
                </a:solidFill>
                <a:effectLst/>
                <a:latin typeface="Arial" panose="020B0604020202020204" pitchFamily="34" charset="0"/>
                <a:hlinkClick r:id="rId7" tooltip="프랑스어"/>
              </a:rPr>
              <a:t>프랑스어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 </a:t>
            </a:r>
            <a:r>
              <a:rPr lang="en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Concours Eurovision de la Chanson)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는 </a:t>
            </a:r>
            <a:r>
              <a:rPr lang="ko-KR" altLang="en-US" b="0" i="0" u="none" strike="noStrike" dirty="0">
                <a:effectLst/>
                <a:latin typeface="Arial" panose="020B0604020202020204" pitchFamily="34" charset="0"/>
                <a:hlinkClick r:id="rId8" tooltip="유럽방송연맹"/>
              </a:rPr>
              <a:t>유럽방송연맹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European Broadcasting Union)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회원국 시청자 앞에서 노래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춤 등 자신의 기량을 뽐낸 뒤 순위를 가리는 </a:t>
            </a:r>
            <a:r>
              <a:rPr lang="ko-KR" altLang="en-US" b="0" i="0" u="none" strike="noStrike" dirty="0">
                <a:effectLst/>
                <a:latin typeface="Arial" panose="020B0604020202020204" pitchFamily="34" charset="0"/>
                <a:hlinkClick r:id="rId9" tooltip="유럽"/>
              </a:rPr>
              <a:t>유럽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최대의 음악 경연 대회이다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 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세계에서 가장 </a:t>
            </a:r>
            <a:r>
              <a:rPr lang="ko-KR" altLang="en-US" b="0" i="0" u="none" strike="noStrike" dirty="0">
                <a:effectLst/>
                <a:latin typeface="Arial" panose="020B0604020202020204" pitchFamily="34" charset="0"/>
                <a:hlinkClick r:id="rId10" tooltip="시청자"/>
              </a:rPr>
              <a:t>시청자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수가 많은 </a:t>
            </a:r>
            <a:r>
              <a:rPr lang="ko-KR" altLang="en-US" b="0" i="0" dirty="0" err="1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방송중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하나로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2021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년에는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1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억 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8000</a:t>
            </a:r>
            <a:r>
              <a:rPr lang="ko-KR" alt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만명 이상이 시청했다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Hierarchical</a:t>
            </a:r>
            <a:r>
              <a:rPr spc="-160" dirty="0"/>
              <a:t> </a:t>
            </a:r>
            <a:r>
              <a:rPr spc="-130" dirty="0"/>
              <a:t>clustering</a:t>
            </a:r>
            <a:r>
              <a:rPr spc="-155" dirty="0"/>
              <a:t> </a:t>
            </a:r>
            <a:r>
              <a:rPr dirty="0"/>
              <a:t>of</a:t>
            </a:r>
            <a:r>
              <a:rPr spc="-155" dirty="0"/>
              <a:t> </a:t>
            </a:r>
            <a:r>
              <a:rPr spc="-90" dirty="0"/>
              <a:t>voting</a:t>
            </a:r>
            <a:r>
              <a:rPr spc="-155" dirty="0"/>
              <a:t> </a:t>
            </a:r>
            <a:r>
              <a:rPr spc="-70" dirty="0"/>
              <a:t>countries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40984" y="1482853"/>
            <a:ext cx="10276366" cy="5946647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E3CF8D-9521-CE04-BBF1-E2225D4D39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Hierarchical</a:t>
            </a:r>
            <a:r>
              <a:rPr spc="-225" dirty="0"/>
              <a:t> </a:t>
            </a:r>
            <a:r>
              <a:rPr spc="-100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761682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Every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country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begins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separate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520"/>
              </a:spcBef>
            </a:pP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step,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Arial"/>
                <a:cs typeface="Arial"/>
              </a:rPr>
              <a:t>two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closest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merged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Continue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until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all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countries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single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This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"agglomerative"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hierarchical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clustering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CE1E138C-2070-3D83-A48F-2E34CF20F9A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8A85B2C-2D68-C1EA-14EB-455AC32C7BE3}"/>
              </a:ext>
            </a:extLst>
          </p:cNvPr>
          <p:cNvSpPr txBox="1"/>
          <p:nvPr/>
        </p:nvSpPr>
        <p:spPr>
          <a:xfrm>
            <a:off x="614111" y="3955458"/>
            <a:ext cx="1470843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병합 군집</a:t>
            </a:r>
            <a:r>
              <a:rPr lang="en" altLang="ko-KR" b="1" i="0" baseline="3000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agglomerative clustering 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알고리즘은 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시작할 때 각 포인트를 하나의 클러스터로 지정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하고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,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그다음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 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종료 조건을 만족할 때까지 가장 비슷한 두 클러스터를 합침</a:t>
            </a:r>
            <a:endParaRPr lang="en-US" altLang="ko-KR" b="1" i="0" dirty="0">
              <a:solidFill>
                <a:srgbClr val="000000"/>
              </a:solidFill>
              <a:effectLst/>
              <a:latin typeface="Ubuntu Condensed" panose="020F0502020204030204" pitchFamily="34" charset="0"/>
            </a:endParaRPr>
          </a:p>
          <a:p>
            <a:pPr algn="just"/>
            <a:endParaRPr lang="ko-KR" altLang="en-US" b="0" i="0" dirty="0">
              <a:solidFill>
                <a:srgbClr val="000000"/>
              </a:solidFill>
              <a:effectLst/>
              <a:latin typeface="Ubuntu Condensed" panose="020F0502020204030204" pitchFamily="34" charset="0"/>
            </a:endParaRPr>
          </a:p>
          <a:p>
            <a:pPr algn="l"/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종료조건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: </a:t>
            </a:r>
            <a:r>
              <a:rPr lang="ko-KR" altLang="en-US" b="1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클러스터 </a:t>
            </a:r>
            <a:r>
              <a:rPr lang="ko-KR" altLang="en-US" b="1" i="0" dirty="0" err="1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갯수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지정된 </a:t>
            </a:r>
            <a:r>
              <a:rPr lang="ko-KR" altLang="en-US" b="0" i="0" dirty="0" err="1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갯수의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Ubuntu Condensed" panose="020F0502020204030204" pitchFamily="34" charset="0"/>
              </a:rPr>
              <a:t> 클러스터가 남을 때까지 비슷한 클러스터를 합침</a:t>
            </a:r>
          </a:p>
          <a:p>
            <a:pPr algn="l"/>
            <a:endParaRPr lang="en" altLang="ko-KR" b="1" i="0" dirty="0">
              <a:solidFill>
                <a:srgbClr val="000000"/>
              </a:solidFill>
              <a:effectLst/>
              <a:latin typeface="Ubuntu Condensed" panose="020F0502020204030204" pitchFamily="34" charset="0"/>
            </a:endParaRPr>
          </a:p>
          <a:p>
            <a:r>
              <a:rPr lang="en" altLang="ko-KR" b="1" dirty="0"/>
              <a:t>Linkage Methods</a:t>
            </a:r>
          </a:p>
          <a:p>
            <a:r>
              <a:rPr lang="en" altLang="ko-KR" dirty="0"/>
              <a:t>To define the distance between clusters, different linkage methods are used: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Single Linkage</a:t>
            </a:r>
            <a:r>
              <a:rPr lang="en" altLang="ko-KR" dirty="0"/>
              <a:t>: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Distance between the closest pair of points in two clusters.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Complete Linkage</a:t>
            </a:r>
            <a:r>
              <a:rPr lang="en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Distance between the farthest pair of points in two clusters.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Average Linkage</a:t>
            </a:r>
            <a:r>
              <a:rPr lang="en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Average distance between all pairs of points in two clusters.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Centroid Linkage</a:t>
            </a:r>
            <a:r>
              <a:rPr lang="en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Distance between the centroids of two clusters.</a:t>
            </a:r>
          </a:p>
          <a:p>
            <a:pPr>
              <a:buFont typeface="+mj-lt"/>
              <a:buAutoNum type="arabicPeriod"/>
            </a:pPr>
            <a:r>
              <a:rPr lang="en" altLang="ko-KR" b="1" dirty="0"/>
              <a:t>Ward’s Linkage</a:t>
            </a:r>
            <a:r>
              <a:rPr lang="en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Minimizes the variance within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11605895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85" dirty="0"/>
              <a:t>The</a:t>
            </a:r>
            <a:r>
              <a:rPr spc="-185" dirty="0"/>
              <a:t> </a:t>
            </a:r>
            <a:r>
              <a:rPr spc="-55" dirty="0"/>
              <a:t>dendrogram</a:t>
            </a:r>
            <a:r>
              <a:rPr spc="-175" dirty="0"/>
              <a:t> </a:t>
            </a:r>
            <a:r>
              <a:rPr dirty="0"/>
              <a:t>of</a:t>
            </a:r>
            <a:r>
              <a:rPr spc="-175" dirty="0"/>
              <a:t> </a:t>
            </a:r>
            <a:r>
              <a:rPr spc="250" dirty="0"/>
              <a:t>a</a:t>
            </a:r>
            <a:r>
              <a:rPr spc="-175" dirty="0"/>
              <a:t> </a:t>
            </a:r>
            <a:r>
              <a:rPr spc="-60" dirty="0"/>
              <a:t>hierarchical</a:t>
            </a:r>
            <a:r>
              <a:rPr spc="-170" dirty="0"/>
              <a:t> </a:t>
            </a:r>
            <a:r>
              <a:rPr spc="-70" dirty="0"/>
              <a:t>clustering</a:t>
            </a:r>
          </a:p>
          <a:p>
            <a:pPr marL="381000" marR="6450330">
              <a:lnSpc>
                <a:spcPts val="5160"/>
              </a:lnSpc>
            </a:pPr>
            <a:r>
              <a:rPr sz="2550" b="0" dirty="0">
                <a:latin typeface="Arial"/>
                <a:cs typeface="Arial"/>
              </a:rPr>
              <a:t>Read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25" dirty="0">
                <a:latin typeface="Arial"/>
                <a:cs typeface="Arial"/>
              </a:rPr>
              <a:t>from</a:t>
            </a:r>
            <a:r>
              <a:rPr sz="2550" b="0" spc="6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65" dirty="0">
                <a:latin typeface="Arial"/>
                <a:cs typeface="Arial"/>
              </a:rPr>
              <a:t> </a:t>
            </a:r>
            <a:r>
              <a:rPr sz="2550" b="0" spc="140" dirty="0">
                <a:latin typeface="Arial"/>
                <a:cs typeface="Arial"/>
              </a:rPr>
              <a:t>bottom</a:t>
            </a:r>
            <a:r>
              <a:rPr sz="2550" b="0" spc="65" dirty="0">
                <a:latin typeface="Arial"/>
                <a:cs typeface="Arial"/>
              </a:rPr>
              <a:t> </a:t>
            </a:r>
            <a:r>
              <a:rPr sz="2550" b="0" spc="95" dirty="0">
                <a:latin typeface="Arial"/>
                <a:cs typeface="Arial"/>
              </a:rPr>
              <a:t>up </a:t>
            </a:r>
            <a:r>
              <a:rPr sz="2550" b="0" spc="75" dirty="0">
                <a:latin typeface="Arial"/>
                <a:cs typeface="Arial"/>
              </a:rPr>
              <a:t>Vertical</a:t>
            </a:r>
            <a:r>
              <a:rPr sz="2550" b="0" spc="135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lines</a:t>
            </a:r>
            <a:r>
              <a:rPr sz="2550" b="0" spc="135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represent</a:t>
            </a:r>
            <a:r>
              <a:rPr sz="2550" b="0" spc="130" dirty="0">
                <a:latin typeface="Arial"/>
                <a:cs typeface="Arial"/>
              </a:rPr>
              <a:t> </a:t>
            </a:r>
            <a:r>
              <a:rPr sz="2550" b="0" spc="35" dirty="0"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6934" y="2781359"/>
            <a:ext cx="9395909" cy="4465158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61807ED-C875-3678-628F-CC2F853E013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Dendrograms,</a:t>
            </a:r>
            <a:r>
              <a:rPr spc="-70" dirty="0"/>
              <a:t> </a:t>
            </a:r>
            <a:r>
              <a:rPr spc="-125" dirty="0"/>
              <a:t>step-</a:t>
            </a:r>
            <a:r>
              <a:rPr spc="-10" dirty="0"/>
              <a:t>by-</a:t>
            </a:r>
            <a:r>
              <a:rPr spc="-20" dirty="0"/>
              <a:t>step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206" y="1166806"/>
            <a:ext cx="4933364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6FAFAA-AD4B-A34D-1E8A-36861040F6B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Dendrograms,</a:t>
            </a:r>
            <a:r>
              <a:rPr spc="-70" dirty="0"/>
              <a:t> </a:t>
            </a:r>
            <a:r>
              <a:rPr spc="-125" dirty="0"/>
              <a:t>step-</a:t>
            </a:r>
            <a:r>
              <a:rPr spc="-10" dirty="0"/>
              <a:t>by-</a:t>
            </a:r>
            <a:r>
              <a:rPr spc="-20" dirty="0"/>
              <a:t>step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206" y="1166812"/>
            <a:ext cx="4933364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B52A8E-EE13-F7A4-F8C8-FF160ECE048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Dendrograms,</a:t>
            </a:r>
            <a:r>
              <a:rPr spc="-70" dirty="0"/>
              <a:t> </a:t>
            </a:r>
            <a:r>
              <a:rPr spc="-125" dirty="0"/>
              <a:t>step-</a:t>
            </a:r>
            <a:r>
              <a:rPr spc="-10" dirty="0"/>
              <a:t>by-</a:t>
            </a:r>
            <a:r>
              <a:rPr spc="-20" dirty="0"/>
              <a:t>step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206" y="1166812"/>
            <a:ext cx="4933364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25EC4-57B3-5ABC-2B26-26AFFAC847D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Dendrograms,</a:t>
            </a:r>
            <a:r>
              <a:rPr spc="-70" dirty="0"/>
              <a:t> </a:t>
            </a:r>
            <a:r>
              <a:rPr spc="-125" dirty="0"/>
              <a:t>step-</a:t>
            </a:r>
            <a:r>
              <a:rPr spc="-10" dirty="0"/>
              <a:t>by-</a:t>
            </a:r>
            <a:r>
              <a:rPr spc="-20" dirty="0"/>
              <a:t>step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206" y="1166812"/>
            <a:ext cx="4933364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052B31-9E8B-319C-C9FD-DB23364D06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Dendrograms,</a:t>
            </a:r>
            <a:r>
              <a:rPr spc="-70" dirty="0"/>
              <a:t> </a:t>
            </a:r>
            <a:r>
              <a:rPr spc="-125" dirty="0"/>
              <a:t>step-</a:t>
            </a:r>
            <a:r>
              <a:rPr spc="-10" dirty="0"/>
              <a:t>by-</a:t>
            </a:r>
            <a:r>
              <a:rPr spc="-20" dirty="0"/>
              <a:t>step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8206" y="1166812"/>
            <a:ext cx="4933364" cy="6530054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0C1896-52FA-4D40-7322-C20CA9D7D0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884110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5" dirty="0"/>
              <a:t>Hierarchical</a:t>
            </a:r>
            <a:r>
              <a:rPr spc="-229" dirty="0"/>
              <a:t> </a:t>
            </a:r>
            <a:r>
              <a:rPr spc="-130" dirty="0"/>
              <a:t>clustering</a:t>
            </a:r>
            <a:r>
              <a:rPr spc="-185" dirty="0"/>
              <a:t> </a:t>
            </a:r>
            <a:r>
              <a:rPr spc="-10" dirty="0"/>
              <a:t>with</a:t>
            </a:r>
            <a:r>
              <a:rPr spc="-204" dirty="0"/>
              <a:t> </a:t>
            </a:r>
            <a:r>
              <a:rPr spc="-65" dirty="0"/>
              <a:t>SciPy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1289" y="1821864"/>
            <a:ext cx="9887199" cy="425784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883275" y="1207753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9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8" y="397957"/>
                </a:lnTo>
                <a:lnTo>
                  <a:pt x="1234120" y="425702"/>
                </a:lnTo>
                <a:lnTo>
                  <a:pt x="1218454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369340" y="1207753"/>
            <a:ext cx="2313305" cy="429895"/>
          </a:xfrm>
          <a:custGeom>
            <a:avLst/>
            <a:gdLst/>
            <a:ahLst/>
            <a:cxnLst/>
            <a:rect l="l" t="t" r="r" b="b"/>
            <a:pathLst>
              <a:path w="2313304" h="429894">
                <a:moveTo>
                  <a:pt x="2236648" y="429878"/>
                </a:moveTo>
                <a:lnTo>
                  <a:pt x="76504" y="429878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4" y="0"/>
                </a:lnTo>
                <a:lnTo>
                  <a:pt x="2236648" y="0"/>
                </a:lnTo>
                <a:lnTo>
                  <a:pt x="2281232" y="16786"/>
                </a:lnTo>
                <a:lnTo>
                  <a:pt x="2308977" y="55513"/>
                </a:lnTo>
                <a:lnTo>
                  <a:pt x="2313153" y="76505"/>
                </a:lnTo>
                <a:lnTo>
                  <a:pt x="2313153" y="353373"/>
                </a:lnTo>
                <a:lnTo>
                  <a:pt x="2296366" y="397957"/>
                </a:lnTo>
                <a:lnTo>
                  <a:pt x="2257639" y="425702"/>
                </a:lnTo>
                <a:lnTo>
                  <a:pt x="2241972" y="429353"/>
                </a:lnTo>
                <a:lnTo>
                  <a:pt x="2236648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174582"/>
            <a:ext cx="9482455" cy="46685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7170">
              <a:lnSpc>
                <a:spcPct val="100000"/>
              </a:lnSpc>
              <a:spcBef>
                <a:spcPts val="125"/>
              </a:spcBef>
              <a:tabLst>
                <a:tab pos="1280160" algn="l"/>
                <a:tab pos="6765290" algn="l"/>
              </a:tabLst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Given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samples</a:t>
            </a:r>
            <a:r>
              <a:rPr sz="2250" spc="4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(the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scores),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country_names</a:t>
            </a:r>
            <a:endParaRPr sz="2250">
              <a:latin typeface="Monaco"/>
              <a:cs typeface="Monaco"/>
            </a:endParaRPr>
          </a:p>
          <a:p>
            <a:pPr marL="871855" marR="5080" indent="343535">
              <a:lnSpc>
                <a:spcPct val="143300"/>
              </a:lnSpc>
              <a:spcBef>
                <a:spcPts val="2520"/>
              </a:spcBef>
              <a:tabLst>
                <a:tab pos="4826635" algn="l"/>
                <a:tab pos="620204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matplotlib.pyplot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plt 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scipy.cluster.hierarchy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	linkage,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dendrogram</a:t>
            </a:r>
            <a:endParaRPr sz="2250">
              <a:latin typeface="Monaco"/>
              <a:cs typeface="Monaco"/>
            </a:endParaRPr>
          </a:p>
          <a:p>
            <a:pPr marL="12700" marR="1552575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mergings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linkage(samples,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method=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'complete'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 dendrogram(mergings,</a:t>
            </a:r>
            <a:endParaRPr sz="2250">
              <a:latin typeface="Monaco"/>
              <a:cs typeface="Monaco"/>
            </a:endParaRPr>
          </a:p>
          <a:p>
            <a:pPr marL="1903730" marR="3959225">
              <a:lnSpc>
                <a:spcPct val="143300"/>
              </a:lnSpc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labels=country_names, leaf_rotation=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90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, leaf_font_size=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6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plt.show()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6D98CE6-A68B-BFEC-E011-F348277102D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363855" marR="294005" algn="ctr">
              <a:lnSpc>
                <a:spcPts val="6770"/>
              </a:lnSpc>
              <a:spcBef>
                <a:spcPts val="1130"/>
              </a:spcBef>
            </a:pPr>
            <a:r>
              <a:rPr spc="-204" dirty="0"/>
              <a:t>Cluster</a:t>
            </a:r>
            <a:r>
              <a:rPr spc="-235" dirty="0"/>
              <a:t> </a:t>
            </a:r>
            <a:r>
              <a:rPr spc="-200" dirty="0"/>
              <a:t>labels</a:t>
            </a:r>
            <a:r>
              <a:rPr spc="-235" dirty="0"/>
              <a:t> </a:t>
            </a:r>
            <a:r>
              <a:rPr spc="-114" dirty="0"/>
              <a:t>in </a:t>
            </a:r>
            <a:r>
              <a:rPr spc="-65" dirty="0"/>
              <a:t>hierarchical </a:t>
            </a:r>
            <a:r>
              <a:rPr spc="-130" dirty="0"/>
              <a:t>clustering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22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497BB0D-CE56-DE82-A360-8D19E127409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Cluster</a:t>
            </a:r>
            <a:r>
              <a:rPr spc="-225" dirty="0"/>
              <a:t> </a:t>
            </a:r>
            <a:r>
              <a:rPr spc="-95" dirty="0"/>
              <a:t>labels</a:t>
            </a:r>
            <a:r>
              <a:rPr spc="-215" dirty="0"/>
              <a:t> </a:t>
            </a:r>
            <a:r>
              <a:rPr spc="-55" dirty="0"/>
              <a:t>in</a:t>
            </a:r>
            <a:r>
              <a:rPr spc="-229" dirty="0"/>
              <a:t> </a:t>
            </a:r>
            <a:r>
              <a:rPr spc="-60" dirty="0"/>
              <a:t>hierarchical</a:t>
            </a:r>
            <a:r>
              <a:rPr spc="-215" dirty="0"/>
              <a:t> </a:t>
            </a:r>
            <a:r>
              <a:rPr spc="-75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71"/>
            <a:ext cx="898969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only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visualization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tool!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labels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any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intermediate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stage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recovered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cross-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tabulations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3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4470" y="3432376"/>
            <a:ext cx="7481521" cy="4264478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A7319F80-25C8-66A0-7A20-A22A5B6A642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Intermediate</a:t>
            </a:r>
            <a:r>
              <a:rPr spc="-240" dirty="0"/>
              <a:t> </a:t>
            </a:r>
            <a:r>
              <a:rPr spc="-165" dirty="0"/>
              <a:t>clusterings</a:t>
            </a:r>
            <a:r>
              <a:rPr spc="-150" dirty="0"/>
              <a:t> </a:t>
            </a:r>
            <a:r>
              <a:rPr spc="-425" dirty="0"/>
              <a:t>&amp;</a:t>
            </a:r>
            <a:r>
              <a:rPr spc="-95" dirty="0"/>
              <a:t> </a:t>
            </a:r>
            <a:r>
              <a:rPr spc="-60" dirty="0"/>
              <a:t>height</a:t>
            </a:r>
            <a:r>
              <a:rPr spc="-155" dirty="0"/>
              <a:t> </a:t>
            </a:r>
            <a:r>
              <a:rPr spc="-110" dirty="0"/>
              <a:t>on</a:t>
            </a:r>
            <a:r>
              <a:rPr spc="-155" dirty="0"/>
              <a:t> </a:t>
            </a:r>
            <a:r>
              <a:rPr spc="-10" dirty="0"/>
              <a:t>dendrogram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991" y="1832100"/>
            <a:ext cx="122822" cy="12282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97844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4124783"/>
            <a:ext cx="122822" cy="12282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47056" y="1076324"/>
            <a:ext cx="4394835" cy="379222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95" dirty="0">
                <a:solidFill>
                  <a:srgbClr val="04182D"/>
                </a:solidFill>
                <a:latin typeface="Arial"/>
                <a:cs typeface="Arial"/>
              </a:rPr>
              <a:t>at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height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15:</a:t>
            </a:r>
            <a:endParaRPr sz="2550">
              <a:latin typeface="Arial"/>
              <a:cs typeface="Arial"/>
            </a:endParaRPr>
          </a:p>
          <a:p>
            <a:pPr marL="381000" marR="141605">
              <a:lnSpc>
                <a:spcPct val="126400"/>
              </a:lnSpc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Bulgaria,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Cyprus,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Greece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endParaRPr sz="2550">
              <a:latin typeface="Arial"/>
              <a:cs typeface="Arial"/>
            </a:endParaRPr>
          </a:p>
          <a:p>
            <a:pPr marL="381000" marR="323215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Russia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Moldova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are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another</a:t>
            </a:r>
            <a:endParaRPr sz="2550">
              <a:latin typeface="Arial"/>
              <a:cs typeface="Arial"/>
            </a:endParaRPr>
          </a:p>
          <a:p>
            <a:pPr marL="381000" marR="5080">
              <a:lnSpc>
                <a:spcPct val="126400"/>
              </a:lnSpc>
              <a:spcBef>
                <a:spcPts val="1290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Armenia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its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own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08887" y="1166812"/>
            <a:ext cx="4769601" cy="5383712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4C74F6-AAFB-527D-06A7-6BA6A0A5FC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DC0D51-D6B8-8D7C-7BDA-C3368B263F15}"/>
              </a:ext>
            </a:extLst>
          </p:cNvPr>
          <p:cNvSpPr txBox="1"/>
          <p:nvPr/>
        </p:nvSpPr>
        <p:spPr>
          <a:xfrm>
            <a:off x="869990" y="6550524"/>
            <a:ext cx="117855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덴드로그램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Dendrogram)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은 나무를 나타내는 다이어그램이다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ko-KR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계층적 군집화에서는 해당 분석에 의해 생성된 클러스터의 배열을 보여준다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5" dirty="0"/>
              <a:t>Dendrograms</a:t>
            </a:r>
            <a:r>
              <a:rPr spc="-135" dirty="0"/>
              <a:t> </a:t>
            </a:r>
            <a:r>
              <a:rPr spc="-190" dirty="0"/>
              <a:t>show</a:t>
            </a:r>
            <a:r>
              <a:rPr spc="-120" dirty="0"/>
              <a:t> cluster</a:t>
            </a:r>
            <a:r>
              <a:rPr spc="-130" dirty="0"/>
              <a:t> </a:t>
            </a:r>
            <a:r>
              <a:rPr spc="-70" dirty="0"/>
              <a:t>distances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4116704" cy="313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Height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dendrogram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=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merging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 marL="12700" marR="401320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only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Cyprus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Greece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had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approx.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6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98867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8887" y="1166812"/>
            <a:ext cx="4769601" cy="6427702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3F7D22C8-D460-A13A-F11D-511A6873546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5" dirty="0"/>
              <a:t>Dendrograms</a:t>
            </a:r>
            <a:r>
              <a:rPr spc="-135" dirty="0"/>
              <a:t> </a:t>
            </a:r>
            <a:r>
              <a:rPr spc="-190" dirty="0"/>
              <a:t>show</a:t>
            </a:r>
            <a:r>
              <a:rPr spc="-120" dirty="0"/>
              <a:t> cluster</a:t>
            </a:r>
            <a:r>
              <a:rPr spc="-130" dirty="0"/>
              <a:t> </a:t>
            </a:r>
            <a:r>
              <a:rPr spc="-70" dirty="0"/>
              <a:t>distances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4228465" cy="4774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6205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Height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dendrogram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=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merging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 marL="12700" marR="512445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only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Cyprus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Greece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had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approx.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6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This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distance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approx.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65" dirty="0">
                <a:solidFill>
                  <a:srgbClr val="04182D"/>
                </a:solidFill>
                <a:latin typeface="Arial"/>
                <a:cs typeface="Arial"/>
              </a:rPr>
              <a:t>12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with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only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Bulgaria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98867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62630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08887" y="1166812"/>
            <a:ext cx="4769601" cy="6427702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2DCD2D2-B34F-752D-735B-F5D7AD88F9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5" dirty="0"/>
              <a:t>Intermediate</a:t>
            </a:r>
            <a:r>
              <a:rPr spc="-240" dirty="0"/>
              <a:t> </a:t>
            </a:r>
            <a:r>
              <a:rPr spc="-165" dirty="0"/>
              <a:t>clusterings</a:t>
            </a:r>
            <a:r>
              <a:rPr spc="-150" dirty="0"/>
              <a:t> </a:t>
            </a:r>
            <a:r>
              <a:rPr spc="-425" dirty="0"/>
              <a:t>&amp;</a:t>
            </a:r>
            <a:r>
              <a:rPr spc="-95" dirty="0"/>
              <a:t> </a:t>
            </a:r>
            <a:r>
              <a:rPr spc="-60" dirty="0"/>
              <a:t>height</a:t>
            </a:r>
            <a:r>
              <a:rPr spc="-155" dirty="0"/>
              <a:t> </a:t>
            </a:r>
            <a:r>
              <a:rPr spc="-110" dirty="0"/>
              <a:t>on</a:t>
            </a:r>
            <a:r>
              <a:rPr spc="-155" dirty="0"/>
              <a:t> </a:t>
            </a:r>
            <a:r>
              <a:rPr spc="-10" dirty="0"/>
              <a:t>dendrogram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8611235" cy="166306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Height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dendrogram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specifies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max.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between merging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Don't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merge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further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apart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than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this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(e.g.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15)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13851" y="2968206"/>
            <a:ext cx="4442075" cy="4728660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6DE7245-CFA6-7767-E719-14D74AC544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5" dirty="0"/>
              <a:t>Distance</a:t>
            </a:r>
            <a:r>
              <a:rPr spc="-260" dirty="0"/>
              <a:t> </a:t>
            </a:r>
            <a:r>
              <a:rPr dirty="0"/>
              <a:t>between</a:t>
            </a:r>
            <a:r>
              <a:rPr spc="-254" dirty="0"/>
              <a:t> </a:t>
            </a:r>
            <a:r>
              <a:rPr spc="-13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69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5" y="1174606"/>
            <a:ext cx="13932569" cy="23924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Defined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Arial"/>
                <a:cs typeface="Arial"/>
              </a:rPr>
              <a:t>by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"linkage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method"</a:t>
            </a:r>
            <a:endParaRPr sz="2550" dirty="0">
              <a:latin typeface="Arial"/>
              <a:cs typeface="Arial"/>
            </a:endParaRPr>
          </a:p>
          <a:p>
            <a:pPr marL="12700" marR="327660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"complete"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linkage: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max.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between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their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endParaRPr sz="2550" dirty="0">
              <a:latin typeface="Arial"/>
              <a:cs typeface="Arial"/>
            </a:endParaRPr>
          </a:p>
          <a:p>
            <a:pPr marL="12700" marR="567690">
              <a:lnSpc>
                <a:spcPct val="126400"/>
              </a:lnSpc>
              <a:spcBef>
                <a:spcPts val="1295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Specified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via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method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parameter,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linkage(samples,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method="complete")</a:t>
            </a: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linkage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method,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hierarchical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clustering!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122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152464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E154647-20EB-F0EF-2CCA-F2AC2CD653C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91A0E6-D104-E9F3-99C5-3993E332E493}"/>
              </a:ext>
            </a:extLst>
          </p:cNvPr>
          <p:cNvSpPr txBox="1"/>
          <p:nvPr/>
        </p:nvSpPr>
        <p:spPr>
          <a:xfrm>
            <a:off x="829244" y="5600700"/>
            <a:ext cx="120549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Complete Linkage</a:t>
            </a:r>
            <a:r>
              <a:rPr lang="en" altLang="ko-KR" dirty="0"/>
              <a:t>:</a:t>
            </a:r>
            <a:r>
              <a:rPr lang="ko-KR" altLang="en-US" dirty="0"/>
              <a:t> </a:t>
            </a:r>
            <a:r>
              <a:rPr lang="en" altLang="ko-KR" dirty="0"/>
              <a:t>Distance between the farthest pair of points in two clusters.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37603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Extracting</a:t>
            </a:r>
            <a:r>
              <a:rPr spc="-190" dirty="0"/>
              <a:t> </a:t>
            </a:r>
            <a:r>
              <a:rPr spc="-120" dirty="0"/>
              <a:t>cluster</a:t>
            </a:r>
            <a:r>
              <a:rPr spc="-185" dirty="0"/>
              <a:t> </a:t>
            </a:r>
            <a:r>
              <a:rPr spc="-45" dirty="0"/>
              <a:t>labels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2149391" y="1207753"/>
            <a:ext cx="1801495" cy="429895"/>
          </a:xfrm>
          <a:custGeom>
            <a:avLst/>
            <a:gdLst/>
            <a:ahLst/>
            <a:cxnLst/>
            <a:rect l="l" t="t" r="r" b="b"/>
            <a:pathLst>
              <a:path w="1801495" h="429894">
                <a:moveTo>
                  <a:pt x="172488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724889" y="0"/>
                </a:lnTo>
                <a:lnTo>
                  <a:pt x="1769473" y="16786"/>
                </a:lnTo>
                <a:lnTo>
                  <a:pt x="1797218" y="55513"/>
                </a:lnTo>
                <a:lnTo>
                  <a:pt x="1801394" y="76505"/>
                </a:lnTo>
                <a:lnTo>
                  <a:pt x="1801394" y="353373"/>
                </a:lnTo>
                <a:lnTo>
                  <a:pt x="1784607" y="397957"/>
                </a:lnTo>
                <a:lnTo>
                  <a:pt x="1745880" y="425702"/>
                </a:lnTo>
                <a:lnTo>
                  <a:pt x="1730213" y="429353"/>
                </a:lnTo>
                <a:lnTo>
                  <a:pt x="172488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47056" y="1174582"/>
            <a:ext cx="6127750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4302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-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fcluster()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function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Returns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NumPy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labels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59496" y="2476917"/>
            <a:ext cx="3950785" cy="4462545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E2F1BD6-D53A-0898-140B-23BD9407053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50" dirty="0"/>
              <a:t>Extracting</a:t>
            </a:r>
            <a:r>
              <a:rPr spc="-215" dirty="0"/>
              <a:t> </a:t>
            </a:r>
            <a:r>
              <a:rPr spc="-120" dirty="0"/>
              <a:t>cluster</a:t>
            </a:r>
            <a:r>
              <a:rPr spc="-155" dirty="0"/>
              <a:t> </a:t>
            </a:r>
            <a:r>
              <a:rPr spc="-95" dirty="0"/>
              <a:t>labels</a:t>
            </a:r>
            <a:r>
              <a:rPr spc="-155" dirty="0"/>
              <a:t> </a:t>
            </a:r>
            <a:r>
              <a:rPr spc="-210" dirty="0"/>
              <a:t>using</a:t>
            </a:r>
            <a:r>
              <a:rPr spc="-105" dirty="0"/>
              <a:t> </a:t>
            </a:r>
            <a:r>
              <a:rPr spc="-40" dirty="0"/>
              <a:t>fcluster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4196430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9887199" cy="278397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42352" y="1231899"/>
            <a:ext cx="9138285" cy="24822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208405" indent="859155">
              <a:lnSpc>
                <a:spcPct val="143300"/>
              </a:lnSpc>
              <a:spcBef>
                <a:spcPts val="95"/>
              </a:spcBef>
              <a:tabLst>
                <a:tab pos="620204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scipy.cluster.hierarchy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linkage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mergings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linkage(samples,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method=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'complete'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 marL="871855">
              <a:lnSpc>
                <a:spcPct val="100000"/>
              </a:lnSpc>
              <a:spcBef>
                <a:spcPts val="1170"/>
              </a:spcBef>
              <a:tabLst>
                <a:tab pos="620204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scipy.cluster.hierarchy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fcluster</a:t>
            </a:r>
            <a:endParaRPr sz="2250">
              <a:latin typeface="Monaco"/>
              <a:cs typeface="Monaco"/>
            </a:endParaRPr>
          </a:p>
          <a:p>
            <a:pPr marL="12700" marR="5080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labels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250" spc="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fcluster(mergings,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15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criterion=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'distance'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(labels)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4408904"/>
            <a:ext cx="518414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71855" algn="l"/>
                <a:tab pos="2419350" algn="l"/>
                <a:tab pos="2935605" algn="l"/>
              </a:tabLst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 </a:t>
            </a: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9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8 11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1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17 14 ... </a:t>
            </a: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5586393-5889-BDBF-D01B-E19E240C04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Aligning</a:t>
            </a:r>
            <a:r>
              <a:rPr spc="-200" dirty="0"/>
              <a:t> </a:t>
            </a:r>
            <a:r>
              <a:rPr spc="-120" dirty="0"/>
              <a:t>cluster</a:t>
            </a:r>
            <a:r>
              <a:rPr spc="-190" dirty="0"/>
              <a:t> </a:t>
            </a:r>
            <a:r>
              <a:rPr spc="-95" dirty="0"/>
              <a:t>labels</a:t>
            </a:r>
            <a:r>
              <a:rPr spc="-220" dirty="0"/>
              <a:t> </a:t>
            </a:r>
            <a:r>
              <a:rPr spc="-10" dirty="0"/>
              <a:t>with</a:t>
            </a:r>
            <a:r>
              <a:rPr spc="-220" dirty="0"/>
              <a:t> </a:t>
            </a:r>
            <a:r>
              <a:rPr spc="-40" dirty="0"/>
              <a:t>country</a:t>
            </a:r>
            <a:r>
              <a:rPr spc="-210" dirty="0"/>
              <a:t> </a:t>
            </a:r>
            <a:r>
              <a:rPr spc="-10" dirty="0"/>
              <a:t>names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985628"/>
            <a:ext cx="9887585" cy="1371600"/>
            <a:chOff x="491289" y="1985628"/>
            <a:chExt cx="9887585" cy="1371600"/>
          </a:xfrm>
        </p:grpSpPr>
        <p:sp>
          <p:nvSpPr>
            <p:cNvPr id="4" name="object 4"/>
            <p:cNvSpPr/>
            <p:nvPr/>
          </p:nvSpPr>
          <p:spPr>
            <a:xfrm>
              <a:off x="491289" y="1985628"/>
              <a:ext cx="9887585" cy="1371600"/>
            </a:xfrm>
            <a:custGeom>
              <a:avLst/>
              <a:gdLst/>
              <a:ahLst/>
              <a:cxnLst/>
              <a:rect l="l" t="t" r="r" b="b"/>
              <a:pathLst>
                <a:path w="9887585" h="1371600">
                  <a:moveTo>
                    <a:pt x="9810694" y="1371515"/>
                  </a:moveTo>
                  <a:lnTo>
                    <a:pt x="76505" y="1371515"/>
                  </a:lnTo>
                  <a:lnTo>
                    <a:pt x="71180" y="1370991"/>
                  </a:lnTo>
                  <a:lnTo>
                    <a:pt x="31920" y="1354729"/>
                  </a:lnTo>
                  <a:lnTo>
                    <a:pt x="4175" y="1316001"/>
                  </a:lnTo>
                  <a:lnTo>
                    <a:pt x="0" y="1295010"/>
                  </a:lnTo>
                  <a:lnTo>
                    <a:pt x="0" y="1289634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295010"/>
                  </a:lnTo>
                  <a:lnTo>
                    <a:pt x="9870412" y="1339595"/>
                  </a:lnTo>
                  <a:lnTo>
                    <a:pt x="9831684" y="1367340"/>
                  </a:lnTo>
                  <a:lnTo>
                    <a:pt x="9816018" y="1370991"/>
                  </a:lnTo>
                  <a:lnTo>
                    <a:pt x="9810694" y="137151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38638" y="2191994"/>
              <a:ext cx="787400" cy="223520"/>
            </a:xfrm>
            <a:custGeom>
              <a:avLst/>
              <a:gdLst/>
              <a:ahLst/>
              <a:cxnLst/>
              <a:rect l="l" t="t" r="r" b="b"/>
              <a:pathLst>
                <a:path w="787400" h="223519">
                  <a:moveTo>
                    <a:pt x="64596" y="36536"/>
                  </a:moveTo>
                  <a:lnTo>
                    <a:pt x="48751" y="36536"/>
                  </a:lnTo>
                  <a:lnTo>
                    <a:pt x="44071" y="34896"/>
                  </a:lnTo>
                  <a:lnTo>
                    <a:pt x="40460" y="31616"/>
                  </a:lnTo>
                  <a:lnTo>
                    <a:pt x="36886" y="28300"/>
                  </a:lnTo>
                  <a:lnTo>
                    <a:pt x="35099" y="23915"/>
                  </a:lnTo>
                  <a:lnTo>
                    <a:pt x="35099" y="13044"/>
                  </a:lnTo>
                  <a:lnTo>
                    <a:pt x="36923" y="8622"/>
                  </a:lnTo>
                  <a:lnTo>
                    <a:pt x="44219" y="1731"/>
                  </a:lnTo>
                  <a:lnTo>
                    <a:pt x="48862" y="0"/>
                  </a:lnTo>
                  <a:lnTo>
                    <a:pt x="64670" y="0"/>
                  </a:lnTo>
                  <a:lnTo>
                    <a:pt x="69313" y="1731"/>
                  </a:lnTo>
                  <a:lnTo>
                    <a:pt x="76609" y="8622"/>
                  </a:lnTo>
                  <a:lnTo>
                    <a:pt x="78433" y="13044"/>
                  </a:lnTo>
                  <a:lnTo>
                    <a:pt x="78433" y="23915"/>
                  </a:lnTo>
                  <a:lnTo>
                    <a:pt x="76606" y="28300"/>
                  </a:lnTo>
                  <a:lnTo>
                    <a:pt x="69221" y="34896"/>
                  </a:lnTo>
                  <a:lnTo>
                    <a:pt x="64596" y="36536"/>
                  </a:lnTo>
                  <a:close/>
                </a:path>
                <a:path w="787400" h="223519">
                  <a:moveTo>
                    <a:pt x="73901" y="154601"/>
                  </a:moveTo>
                  <a:lnTo>
                    <a:pt x="44108" y="154601"/>
                  </a:lnTo>
                  <a:lnTo>
                    <a:pt x="44108" y="76609"/>
                  </a:lnTo>
                  <a:lnTo>
                    <a:pt x="5637" y="76609"/>
                  </a:lnTo>
                  <a:lnTo>
                    <a:pt x="5637" y="48641"/>
                  </a:lnTo>
                  <a:lnTo>
                    <a:pt x="73901" y="48641"/>
                  </a:lnTo>
                  <a:lnTo>
                    <a:pt x="73901" y="154601"/>
                  </a:lnTo>
                  <a:close/>
                </a:path>
                <a:path w="787400" h="223519">
                  <a:moveTo>
                    <a:pt x="115799" y="182570"/>
                  </a:moveTo>
                  <a:lnTo>
                    <a:pt x="0" y="182570"/>
                  </a:lnTo>
                  <a:lnTo>
                    <a:pt x="0" y="154601"/>
                  </a:lnTo>
                  <a:lnTo>
                    <a:pt x="115799" y="154601"/>
                  </a:lnTo>
                  <a:lnTo>
                    <a:pt x="115799" y="182570"/>
                  </a:lnTo>
                  <a:close/>
                </a:path>
                <a:path w="787400" h="223519">
                  <a:moveTo>
                    <a:pt x="196936" y="66992"/>
                  </a:moveTo>
                  <a:lnTo>
                    <a:pt x="156408" y="66992"/>
                  </a:lnTo>
                  <a:lnTo>
                    <a:pt x="158957" y="53117"/>
                  </a:lnTo>
                  <a:lnTo>
                    <a:pt x="164097" y="48641"/>
                  </a:lnTo>
                  <a:lnTo>
                    <a:pt x="164792" y="48198"/>
                  </a:lnTo>
                  <a:lnTo>
                    <a:pt x="169987" y="46374"/>
                  </a:lnTo>
                  <a:lnTo>
                    <a:pt x="182847" y="46374"/>
                  </a:lnTo>
                  <a:lnTo>
                    <a:pt x="188117" y="48198"/>
                  </a:lnTo>
                  <a:lnTo>
                    <a:pt x="192391" y="51847"/>
                  </a:lnTo>
                  <a:lnTo>
                    <a:pt x="196702" y="55458"/>
                  </a:lnTo>
                  <a:lnTo>
                    <a:pt x="197145" y="56697"/>
                  </a:lnTo>
                  <a:lnTo>
                    <a:pt x="195899" y="60561"/>
                  </a:lnTo>
                  <a:lnTo>
                    <a:pt x="196005" y="62224"/>
                  </a:lnTo>
                  <a:lnTo>
                    <a:pt x="196882" y="66715"/>
                  </a:lnTo>
                  <a:lnTo>
                    <a:pt x="196936" y="66992"/>
                  </a:lnTo>
                  <a:close/>
                </a:path>
                <a:path w="787400" h="223519">
                  <a:moveTo>
                    <a:pt x="245320" y="66992"/>
                  </a:moveTo>
                  <a:lnTo>
                    <a:pt x="197880" y="66992"/>
                  </a:lnTo>
                  <a:lnTo>
                    <a:pt x="198497" y="60856"/>
                  </a:lnTo>
                  <a:lnTo>
                    <a:pt x="198527" y="60561"/>
                  </a:lnTo>
                  <a:lnTo>
                    <a:pt x="197145" y="56697"/>
                  </a:lnTo>
                  <a:lnTo>
                    <a:pt x="197384" y="55955"/>
                  </a:lnTo>
                  <a:lnTo>
                    <a:pt x="205929" y="48641"/>
                  </a:lnTo>
                  <a:lnTo>
                    <a:pt x="206605" y="48198"/>
                  </a:lnTo>
                  <a:lnTo>
                    <a:pt x="211884" y="46374"/>
                  </a:lnTo>
                  <a:lnTo>
                    <a:pt x="227766" y="46374"/>
                  </a:lnTo>
                  <a:lnTo>
                    <a:pt x="234971" y="49820"/>
                  </a:lnTo>
                  <a:lnTo>
                    <a:pt x="240082" y="56697"/>
                  </a:lnTo>
                  <a:lnTo>
                    <a:pt x="243478" y="62224"/>
                  </a:lnTo>
                  <a:lnTo>
                    <a:pt x="245213" y="66715"/>
                  </a:lnTo>
                  <a:lnTo>
                    <a:pt x="245320" y="66992"/>
                  </a:lnTo>
                  <a:close/>
                </a:path>
                <a:path w="787400" h="223519">
                  <a:moveTo>
                    <a:pt x="160664" y="182570"/>
                  </a:moveTo>
                  <a:lnTo>
                    <a:pt x="132474" y="182570"/>
                  </a:lnTo>
                  <a:lnTo>
                    <a:pt x="132474" y="48641"/>
                  </a:lnTo>
                  <a:lnTo>
                    <a:pt x="159779" y="48641"/>
                  </a:lnTo>
                  <a:lnTo>
                    <a:pt x="158957" y="53117"/>
                  </a:lnTo>
                  <a:lnTo>
                    <a:pt x="155697" y="55955"/>
                  </a:lnTo>
                  <a:lnTo>
                    <a:pt x="155399" y="56697"/>
                  </a:lnTo>
                  <a:lnTo>
                    <a:pt x="154076" y="60561"/>
                  </a:lnTo>
                  <a:lnTo>
                    <a:pt x="153976" y="60856"/>
                  </a:lnTo>
                  <a:lnTo>
                    <a:pt x="155081" y="66715"/>
                  </a:lnTo>
                  <a:lnTo>
                    <a:pt x="156408" y="66992"/>
                  </a:lnTo>
                  <a:lnTo>
                    <a:pt x="245320" y="66992"/>
                  </a:lnTo>
                  <a:lnTo>
                    <a:pt x="245896" y="68484"/>
                  </a:lnTo>
                  <a:lnTo>
                    <a:pt x="246503" y="71414"/>
                  </a:lnTo>
                  <a:lnTo>
                    <a:pt x="166099" y="71414"/>
                  </a:lnTo>
                  <a:lnTo>
                    <a:pt x="164109" y="72298"/>
                  </a:lnTo>
                  <a:lnTo>
                    <a:pt x="161345" y="75799"/>
                  </a:lnTo>
                  <a:lnTo>
                    <a:pt x="160664" y="78710"/>
                  </a:lnTo>
                  <a:lnTo>
                    <a:pt x="160664" y="182570"/>
                  </a:lnTo>
                  <a:close/>
                </a:path>
                <a:path w="787400" h="223519">
                  <a:moveTo>
                    <a:pt x="156408" y="66992"/>
                  </a:moveTo>
                  <a:lnTo>
                    <a:pt x="155081" y="66715"/>
                  </a:lnTo>
                  <a:lnTo>
                    <a:pt x="154234" y="62224"/>
                  </a:lnTo>
                  <a:lnTo>
                    <a:pt x="154104" y="60856"/>
                  </a:lnTo>
                  <a:lnTo>
                    <a:pt x="154076" y="60561"/>
                  </a:lnTo>
                  <a:lnTo>
                    <a:pt x="155399" y="56697"/>
                  </a:lnTo>
                  <a:lnTo>
                    <a:pt x="155697" y="55955"/>
                  </a:lnTo>
                  <a:lnTo>
                    <a:pt x="158957" y="53117"/>
                  </a:lnTo>
                  <a:lnTo>
                    <a:pt x="156458" y="66715"/>
                  </a:lnTo>
                  <a:lnTo>
                    <a:pt x="156408" y="66992"/>
                  </a:lnTo>
                  <a:close/>
                </a:path>
                <a:path w="787400" h="223519">
                  <a:moveTo>
                    <a:pt x="197880" y="66992"/>
                  </a:moveTo>
                  <a:lnTo>
                    <a:pt x="196936" y="66992"/>
                  </a:lnTo>
                  <a:lnTo>
                    <a:pt x="196005" y="62224"/>
                  </a:lnTo>
                  <a:lnTo>
                    <a:pt x="195899" y="60561"/>
                  </a:lnTo>
                  <a:lnTo>
                    <a:pt x="197145" y="56697"/>
                  </a:lnTo>
                  <a:lnTo>
                    <a:pt x="198527" y="60561"/>
                  </a:lnTo>
                  <a:lnTo>
                    <a:pt x="197908" y="66715"/>
                  </a:lnTo>
                  <a:lnTo>
                    <a:pt x="197880" y="66992"/>
                  </a:lnTo>
                  <a:close/>
                </a:path>
                <a:path w="787400" h="223519">
                  <a:moveTo>
                    <a:pt x="203004" y="182570"/>
                  </a:moveTo>
                  <a:lnTo>
                    <a:pt x="177301" y="182570"/>
                  </a:lnTo>
                  <a:lnTo>
                    <a:pt x="177225" y="78710"/>
                  </a:lnTo>
                  <a:lnTo>
                    <a:pt x="176321" y="75799"/>
                  </a:lnTo>
                  <a:lnTo>
                    <a:pt x="173400" y="72298"/>
                  </a:lnTo>
                  <a:lnTo>
                    <a:pt x="171405" y="71414"/>
                  </a:lnTo>
                  <a:lnTo>
                    <a:pt x="208844" y="71414"/>
                  </a:lnTo>
                  <a:lnTo>
                    <a:pt x="206823" y="72298"/>
                  </a:lnTo>
                  <a:lnTo>
                    <a:pt x="203837" y="75799"/>
                  </a:lnTo>
                  <a:lnTo>
                    <a:pt x="203023" y="78710"/>
                  </a:lnTo>
                  <a:lnTo>
                    <a:pt x="203004" y="182570"/>
                  </a:lnTo>
                  <a:close/>
                </a:path>
                <a:path w="787400" h="223519">
                  <a:moveTo>
                    <a:pt x="247831" y="182570"/>
                  </a:moveTo>
                  <a:lnTo>
                    <a:pt x="219641" y="182570"/>
                  </a:lnTo>
                  <a:lnTo>
                    <a:pt x="219580" y="78710"/>
                  </a:lnTo>
                  <a:lnTo>
                    <a:pt x="218775" y="75799"/>
                  </a:lnTo>
                  <a:lnTo>
                    <a:pt x="216096" y="72298"/>
                  </a:lnTo>
                  <a:lnTo>
                    <a:pt x="214151" y="71414"/>
                  </a:lnTo>
                  <a:lnTo>
                    <a:pt x="246503" y="71414"/>
                  </a:lnTo>
                  <a:lnTo>
                    <a:pt x="247347" y="75490"/>
                  </a:lnTo>
                  <a:lnTo>
                    <a:pt x="247831" y="83242"/>
                  </a:lnTo>
                  <a:lnTo>
                    <a:pt x="247831" y="182570"/>
                  </a:lnTo>
                  <a:close/>
                </a:path>
                <a:path w="787400" h="223519">
                  <a:moveTo>
                    <a:pt x="312820" y="76775"/>
                  </a:moveTo>
                  <a:lnTo>
                    <a:pt x="299393" y="76775"/>
                  </a:lnTo>
                  <a:lnTo>
                    <a:pt x="302342" y="57975"/>
                  </a:lnTo>
                  <a:lnTo>
                    <a:pt x="333322" y="46374"/>
                  </a:lnTo>
                  <a:lnTo>
                    <a:pt x="343244" y="47245"/>
                  </a:lnTo>
                  <a:lnTo>
                    <a:pt x="374159" y="73459"/>
                  </a:lnTo>
                  <a:lnTo>
                    <a:pt x="319449" y="73459"/>
                  </a:lnTo>
                  <a:lnTo>
                    <a:pt x="314120" y="75541"/>
                  </a:lnTo>
                  <a:lnTo>
                    <a:pt x="313065" y="76513"/>
                  </a:lnTo>
                  <a:lnTo>
                    <a:pt x="312820" y="76775"/>
                  </a:lnTo>
                  <a:close/>
                </a:path>
                <a:path w="787400" h="223519">
                  <a:moveTo>
                    <a:pt x="303806" y="223307"/>
                  </a:moveTo>
                  <a:lnTo>
                    <a:pt x="274069" y="223307"/>
                  </a:lnTo>
                  <a:lnTo>
                    <a:pt x="274069" y="48641"/>
                  </a:lnTo>
                  <a:lnTo>
                    <a:pt x="303806" y="48641"/>
                  </a:lnTo>
                  <a:lnTo>
                    <a:pt x="302342" y="57975"/>
                  </a:lnTo>
                  <a:lnTo>
                    <a:pt x="300048" y="59696"/>
                  </a:lnTo>
                  <a:lnTo>
                    <a:pt x="297376" y="67158"/>
                  </a:lnTo>
                  <a:lnTo>
                    <a:pt x="299061" y="76513"/>
                  </a:lnTo>
                  <a:lnTo>
                    <a:pt x="299108" y="76775"/>
                  </a:lnTo>
                  <a:lnTo>
                    <a:pt x="312820" y="76775"/>
                  </a:lnTo>
                  <a:lnTo>
                    <a:pt x="305814" y="84292"/>
                  </a:lnTo>
                  <a:lnTo>
                    <a:pt x="303913" y="90170"/>
                  </a:lnTo>
                  <a:lnTo>
                    <a:pt x="303913" y="141040"/>
                  </a:lnTo>
                  <a:lnTo>
                    <a:pt x="305814" y="146936"/>
                  </a:lnTo>
                  <a:lnTo>
                    <a:pt x="309831" y="151285"/>
                  </a:lnTo>
                  <a:lnTo>
                    <a:pt x="312988" y="154643"/>
                  </a:lnTo>
                  <a:lnTo>
                    <a:pt x="298711" y="154643"/>
                  </a:lnTo>
                  <a:lnTo>
                    <a:pt x="297341" y="163359"/>
                  </a:lnTo>
                  <a:lnTo>
                    <a:pt x="297229" y="164071"/>
                  </a:lnTo>
                  <a:lnTo>
                    <a:pt x="300029" y="171349"/>
                  </a:lnTo>
                  <a:lnTo>
                    <a:pt x="302323" y="173114"/>
                  </a:lnTo>
                  <a:lnTo>
                    <a:pt x="303646" y="181354"/>
                  </a:lnTo>
                  <a:lnTo>
                    <a:pt x="303806" y="223307"/>
                  </a:lnTo>
                  <a:close/>
                </a:path>
                <a:path w="787400" h="223519">
                  <a:moveTo>
                    <a:pt x="299393" y="76775"/>
                  </a:moveTo>
                  <a:lnTo>
                    <a:pt x="299108" y="76775"/>
                  </a:lnTo>
                  <a:lnTo>
                    <a:pt x="297498" y="67838"/>
                  </a:lnTo>
                  <a:lnTo>
                    <a:pt x="297376" y="67158"/>
                  </a:lnTo>
                  <a:lnTo>
                    <a:pt x="300048" y="59696"/>
                  </a:lnTo>
                  <a:lnTo>
                    <a:pt x="302342" y="57975"/>
                  </a:lnTo>
                  <a:lnTo>
                    <a:pt x="299434" y="76513"/>
                  </a:lnTo>
                  <a:lnTo>
                    <a:pt x="299393" y="76775"/>
                  </a:lnTo>
                  <a:close/>
                </a:path>
                <a:path w="787400" h="223519">
                  <a:moveTo>
                    <a:pt x="374141" y="157752"/>
                  </a:moveTo>
                  <a:lnTo>
                    <a:pt x="333783" y="157752"/>
                  </a:lnTo>
                  <a:lnTo>
                    <a:pt x="339378" y="155596"/>
                  </a:lnTo>
                  <a:lnTo>
                    <a:pt x="346901" y="147342"/>
                  </a:lnTo>
                  <a:lnTo>
                    <a:pt x="348799" y="141040"/>
                  </a:lnTo>
                  <a:lnTo>
                    <a:pt x="348799" y="90170"/>
                  </a:lnTo>
                  <a:lnTo>
                    <a:pt x="346901" y="83869"/>
                  </a:lnTo>
                  <a:lnTo>
                    <a:pt x="339311" y="75541"/>
                  </a:lnTo>
                  <a:lnTo>
                    <a:pt x="333783" y="73459"/>
                  </a:lnTo>
                  <a:lnTo>
                    <a:pt x="374159" y="73459"/>
                  </a:lnTo>
                  <a:lnTo>
                    <a:pt x="375497" y="76513"/>
                  </a:lnTo>
                  <a:lnTo>
                    <a:pt x="377777" y="86327"/>
                  </a:lnTo>
                  <a:lnTo>
                    <a:pt x="378537" y="97282"/>
                  </a:lnTo>
                  <a:lnTo>
                    <a:pt x="378537" y="133708"/>
                  </a:lnTo>
                  <a:lnTo>
                    <a:pt x="377777" y="144759"/>
                  </a:lnTo>
                  <a:lnTo>
                    <a:pt x="375497" y="154643"/>
                  </a:lnTo>
                  <a:lnTo>
                    <a:pt x="374141" y="157752"/>
                  </a:lnTo>
                  <a:close/>
                </a:path>
                <a:path w="787400" h="223519">
                  <a:moveTo>
                    <a:pt x="302323" y="173114"/>
                  </a:moveTo>
                  <a:lnTo>
                    <a:pt x="300029" y="171349"/>
                  </a:lnTo>
                  <a:lnTo>
                    <a:pt x="297229" y="164071"/>
                  </a:lnTo>
                  <a:lnTo>
                    <a:pt x="298711" y="154643"/>
                  </a:lnTo>
                  <a:lnTo>
                    <a:pt x="299355" y="154643"/>
                  </a:lnTo>
                  <a:lnTo>
                    <a:pt x="302323" y="173114"/>
                  </a:lnTo>
                  <a:close/>
                </a:path>
                <a:path w="787400" h="223519">
                  <a:moveTo>
                    <a:pt x="333322" y="184836"/>
                  </a:moveTo>
                  <a:lnTo>
                    <a:pt x="299355" y="154643"/>
                  </a:lnTo>
                  <a:lnTo>
                    <a:pt x="312988" y="154643"/>
                  </a:lnTo>
                  <a:lnTo>
                    <a:pt x="313884" y="155596"/>
                  </a:lnTo>
                  <a:lnTo>
                    <a:pt x="319449" y="157752"/>
                  </a:lnTo>
                  <a:lnTo>
                    <a:pt x="374141" y="157752"/>
                  </a:lnTo>
                  <a:lnTo>
                    <a:pt x="371696" y="163359"/>
                  </a:lnTo>
                  <a:lnTo>
                    <a:pt x="366376" y="170907"/>
                  </a:lnTo>
                  <a:lnTo>
                    <a:pt x="359771" y="177001"/>
                  </a:lnTo>
                  <a:lnTo>
                    <a:pt x="352060" y="181354"/>
                  </a:lnTo>
                  <a:lnTo>
                    <a:pt x="343244" y="183965"/>
                  </a:lnTo>
                  <a:lnTo>
                    <a:pt x="333322" y="184836"/>
                  </a:lnTo>
                  <a:close/>
                </a:path>
                <a:path w="787400" h="223519">
                  <a:moveTo>
                    <a:pt x="461541" y="184836"/>
                  </a:moveTo>
                  <a:lnTo>
                    <a:pt x="423070" y="170796"/>
                  </a:lnTo>
                  <a:lnTo>
                    <a:pt x="408809" y="132602"/>
                  </a:lnTo>
                  <a:lnTo>
                    <a:pt x="408827" y="98387"/>
                  </a:lnTo>
                  <a:lnTo>
                    <a:pt x="423070" y="60414"/>
                  </a:lnTo>
                  <a:lnTo>
                    <a:pt x="461541" y="46374"/>
                  </a:lnTo>
                  <a:lnTo>
                    <a:pt x="472976" y="47252"/>
                  </a:lnTo>
                  <a:lnTo>
                    <a:pt x="506164" y="68052"/>
                  </a:lnTo>
                  <a:lnTo>
                    <a:pt x="509113" y="73901"/>
                  </a:lnTo>
                  <a:lnTo>
                    <a:pt x="453987" y="73901"/>
                  </a:lnTo>
                  <a:lnTo>
                    <a:pt x="448275" y="75964"/>
                  </a:lnTo>
                  <a:lnTo>
                    <a:pt x="440537" y="84182"/>
                  </a:lnTo>
                  <a:lnTo>
                    <a:pt x="438602" y="90354"/>
                  </a:lnTo>
                  <a:lnTo>
                    <a:pt x="438602" y="140856"/>
                  </a:lnTo>
                  <a:lnTo>
                    <a:pt x="440537" y="147047"/>
                  </a:lnTo>
                  <a:lnTo>
                    <a:pt x="448275" y="155264"/>
                  </a:lnTo>
                  <a:lnTo>
                    <a:pt x="453987" y="157310"/>
                  </a:lnTo>
                  <a:lnTo>
                    <a:pt x="509092" y="157310"/>
                  </a:lnTo>
                  <a:lnTo>
                    <a:pt x="506164" y="163144"/>
                  </a:lnTo>
                  <a:lnTo>
                    <a:pt x="499901" y="170796"/>
                  </a:lnTo>
                  <a:lnTo>
                    <a:pt x="492156" y="176939"/>
                  </a:lnTo>
                  <a:lnTo>
                    <a:pt x="483181" y="181326"/>
                  </a:lnTo>
                  <a:lnTo>
                    <a:pt x="472976" y="183959"/>
                  </a:lnTo>
                  <a:lnTo>
                    <a:pt x="461541" y="184836"/>
                  </a:lnTo>
                  <a:close/>
                </a:path>
                <a:path w="787400" h="223519">
                  <a:moveTo>
                    <a:pt x="509092" y="157310"/>
                  </a:moveTo>
                  <a:lnTo>
                    <a:pt x="469058" y="157310"/>
                  </a:lnTo>
                  <a:lnTo>
                    <a:pt x="474751" y="155264"/>
                  </a:lnTo>
                  <a:lnTo>
                    <a:pt x="482527" y="147047"/>
                  </a:lnTo>
                  <a:lnTo>
                    <a:pt x="484480" y="140856"/>
                  </a:lnTo>
                  <a:lnTo>
                    <a:pt x="484480" y="90354"/>
                  </a:lnTo>
                  <a:lnTo>
                    <a:pt x="482527" y="84182"/>
                  </a:lnTo>
                  <a:lnTo>
                    <a:pt x="478621" y="80092"/>
                  </a:lnTo>
                  <a:lnTo>
                    <a:pt x="474751" y="75964"/>
                  </a:lnTo>
                  <a:lnTo>
                    <a:pt x="469058" y="73901"/>
                  </a:lnTo>
                  <a:lnTo>
                    <a:pt x="509113" y="73901"/>
                  </a:lnTo>
                  <a:lnTo>
                    <a:pt x="510638" y="76927"/>
                  </a:lnTo>
                  <a:lnTo>
                    <a:pt x="513322" y="87039"/>
                  </a:lnTo>
                  <a:lnTo>
                    <a:pt x="514217" y="98387"/>
                  </a:lnTo>
                  <a:lnTo>
                    <a:pt x="514217" y="132602"/>
                  </a:lnTo>
                  <a:lnTo>
                    <a:pt x="513322" y="144047"/>
                  </a:lnTo>
                  <a:lnTo>
                    <a:pt x="510638" y="154228"/>
                  </a:lnTo>
                  <a:lnTo>
                    <a:pt x="509092" y="157310"/>
                  </a:lnTo>
                  <a:close/>
                </a:path>
                <a:path w="787400" h="223519">
                  <a:moveTo>
                    <a:pt x="589235" y="75559"/>
                  </a:moveTo>
                  <a:lnTo>
                    <a:pt x="574338" y="75559"/>
                  </a:lnTo>
                  <a:lnTo>
                    <a:pt x="577323" y="62791"/>
                  </a:lnTo>
                  <a:lnTo>
                    <a:pt x="583790" y="53671"/>
                  </a:lnTo>
                  <a:lnTo>
                    <a:pt x="593739" y="48199"/>
                  </a:lnTo>
                  <a:lnTo>
                    <a:pt x="607171" y="46374"/>
                  </a:lnTo>
                  <a:lnTo>
                    <a:pt x="617486" y="47235"/>
                  </a:lnTo>
                  <a:lnTo>
                    <a:pt x="650125" y="73017"/>
                  </a:lnTo>
                  <a:lnTo>
                    <a:pt x="595195" y="73017"/>
                  </a:lnTo>
                  <a:lnTo>
                    <a:pt x="589651" y="75172"/>
                  </a:lnTo>
                  <a:lnTo>
                    <a:pt x="589235" y="75559"/>
                  </a:lnTo>
                  <a:close/>
                </a:path>
                <a:path w="787400" h="223519">
                  <a:moveTo>
                    <a:pt x="579478" y="182570"/>
                  </a:moveTo>
                  <a:lnTo>
                    <a:pt x="549741" y="182570"/>
                  </a:lnTo>
                  <a:lnTo>
                    <a:pt x="549741" y="48641"/>
                  </a:lnTo>
                  <a:lnTo>
                    <a:pt x="579036" y="48641"/>
                  </a:lnTo>
                  <a:lnTo>
                    <a:pt x="574405" y="75172"/>
                  </a:lnTo>
                  <a:lnTo>
                    <a:pt x="574338" y="75559"/>
                  </a:lnTo>
                  <a:lnTo>
                    <a:pt x="589235" y="75559"/>
                  </a:lnTo>
                  <a:lnTo>
                    <a:pt x="581656" y="83795"/>
                  </a:lnTo>
                  <a:lnTo>
                    <a:pt x="580864" y="85944"/>
                  </a:lnTo>
                  <a:lnTo>
                    <a:pt x="579525" y="90170"/>
                  </a:lnTo>
                  <a:lnTo>
                    <a:pt x="579478" y="182570"/>
                  </a:lnTo>
                  <a:close/>
                </a:path>
                <a:path w="787400" h="223519">
                  <a:moveTo>
                    <a:pt x="654872" y="109000"/>
                  </a:moveTo>
                  <a:lnTo>
                    <a:pt x="625135" y="109000"/>
                  </a:lnTo>
                  <a:lnTo>
                    <a:pt x="625135" y="90170"/>
                  </a:lnTo>
                  <a:lnTo>
                    <a:pt x="623182" y="83795"/>
                  </a:lnTo>
                  <a:lnTo>
                    <a:pt x="615406" y="75172"/>
                  </a:lnTo>
                  <a:lnTo>
                    <a:pt x="609787" y="73017"/>
                  </a:lnTo>
                  <a:lnTo>
                    <a:pt x="650125" y="73017"/>
                  </a:lnTo>
                  <a:lnTo>
                    <a:pt x="651625" y="76195"/>
                  </a:lnTo>
                  <a:lnTo>
                    <a:pt x="654060" y="85944"/>
                  </a:lnTo>
                  <a:lnTo>
                    <a:pt x="654872" y="96840"/>
                  </a:lnTo>
                  <a:lnTo>
                    <a:pt x="654872" y="109000"/>
                  </a:lnTo>
                  <a:close/>
                </a:path>
                <a:path w="787400" h="223519">
                  <a:moveTo>
                    <a:pt x="737600" y="48641"/>
                  </a:moveTo>
                  <a:lnTo>
                    <a:pt x="707807" y="48641"/>
                  </a:lnTo>
                  <a:lnTo>
                    <a:pt x="707807" y="14702"/>
                  </a:lnTo>
                  <a:lnTo>
                    <a:pt x="737600" y="14702"/>
                  </a:lnTo>
                  <a:lnTo>
                    <a:pt x="737600" y="48641"/>
                  </a:lnTo>
                  <a:close/>
                </a:path>
                <a:path w="787400" h="223519">
                  <a:moveTo>
                    <a:pt x="787402" y="76609"/>
                  </a:moveTo>
                  <a:lnTo>
                    <a:pt x="672708" y="76609"/>
                  </a:lnTo>
                  <a:lnTo>
                    <a:pt x="672708" y="48641"/>
                  </a:lnTo>
                  <a:lnTo>
                    <a:pt x="787402" y="48641"/>
                  </a:lnTo>
                  <a:lnTo>
                    <a:pt x="787402" y="76609"/>
                  </a:lnTo>
                  <a:close/>
                </a:path>
                <a:path w="787400" h="223519">
                  <a:moveTo>
                    <a:pt x="785136" y="182570"/>
                  </a:moveTo>
                  <a:lnTo>
                    <a:pt x="746499" y="182570"/>
                  </a:lnTo>
                  <a:lnTo>
                    <a:pt x="737990" y="181948"/>
                  </a:lnTo>
                  <a:lnTo>
                    <a:pt x="708453" y="153375"/>
                  </a:lnTo>
                  <a:lnTo>
                    <a:pt x="707807" y="145039"/>
                  </a:lnTo>
                  <a:lnTo>
                    <a:pt x="707807" y="76609"/>
                  </a:lnTo>
                  <a:lnTo>
                    <a:pt x="737600" y="76609"/>
                  </a:lnTo>
                  <a:lnTo>
                    <a:pt x="737600" y="148613"/>
                  </a:lnTo>
                  <a:lnTo>
                    <a:pt x="738245" y="151100"/>
                  </a:lnTo>
                  <a:lnTo>
                    <a:pt x="740861" y="153901"/>
                  </a:lnTo>
                  <a:lnTo>
                    <a:pt x="743183" y="154601"/>
                  </a:lnTo>
                  <a:lnTo>
                    <a:pt x="785136" y="154601"/>
                  </a:lnTo>
                  <a:lnTo>
                    <a:pt x="785136" y="182570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34480" y="2238369"/>
              <a:ext cx="246934" cy="138461"/>
            </a:xfrm>
            <a:prstGeom prst="rect">
              <a:avLst/>
            </a:prstGeom>
          </p:spPr>
        </p:pic>
      </p:grpSp>
      <p:sp>
        <p:nvSpPr>
          <p:cNvPr id="7" name="object 7"/>
          <p:cNvSpPr/>
          <p:nvPr/>
        </p:nvSpPr>
        <p:spPr>
          <a:xfrm>
            <a:off x="491289" y="3602789"/>
            <a:ext cx="9887585" cy="3930650"/>
          </a:xfrm>
          <a:custGeom>
            <a:avLst/>
            <a:gdLst/>
            <a:ahLst/>
            <a:cxnLst/>
            <a:rect l="l" t="t" r="r" b="b"/>
            <a:pathLst>
              <a:path w="9887585" h="3930650">
                <a:moveTo>
                  <a:pt x="9810694" y="3930314"/>
                </a:moveTo>
                <a:lnTo>
                  <a:pt x="76505" y="3930314"/>
                </a:lnTo>
                <a:lnTo>
                  <a:pt x="71180" y="3929789"/>
                </a:lnTo>
                <a:lnTo>
                  <a:pt x="31920" y="3913528"/>
                </a:lnTo>
                <a:lnTo>
                  <a:pt x="4175" y="3874800"/>
                </a:lnTo>
                <a:lnTo>
                  <a:pt x="0" y="3853809"/>
                </a:lnTo>
                <a:lnTo>
                  <a:pt x="0" y="384843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3853809"/>
                </a:lnTo>
                <a:lnTo>
                  <a:pt x="9870412" y="3898394"/>
                </a:lnTo>
                <a:lnTo>
                  <a:pt x="9831684" y="3926138"/>
                </a:lnTo>
                <a:lnTo>
                  <a:pt x="9816018" y="3929789"/>
                </a:lnTo>
                <a:lnTo>
                  <a:pt x="9810694" y="393031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868903" y="1207753"/>
            <a:ext cx="2313305" cy="429895"/>
          </a:xfrm>
          <a:custGeom>
            <a:avLst/>
            <a:gdLst/>
            <a:ahLst/>
            <a:cxnLst/>
            <a:rect l="l" t="t" r="r" b="b"/>
            <a:pathLst>
              <a:path w="2313304" h="429894">
                <a:moveTo>
                  <a:pt x="2236648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2236648" y="0"/>
                </a:lnTo>
                <a:lnTo>
                  <a:pt x="2281234" y="16786"/>
                </a:lnTo>
                <a:lnTo>
                  <a:pt x="2308978" y="55513"/>
                </a:lnTo>
                <a:lnTo>
                  <a:pt x="2313154" y="76505"/>
                </a:lnTo>
                <a:lnTo>
                  <a:pt x="2313154" y="353373"/>
                </a:lnTo>
                <a:lnTo>
                  <a:pt x="2296368" y="397957"/>
                </a:lnTo>
                <a:lnTo>
                  <a:pt x="2257640" y="425702"/>
                </a:lnTo>
                <a:lnTo>
                  <a:pt x="2241973" y="429353"/>
                </a:lnTo>
                <a:lnTo>
                  <a:pt x="2236648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78589" y="1174582"/>
            <a:ext cx="9380855" cy="19951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420745" algn="l"/>
              </a:tabLst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Given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list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strings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country_names</a:t>
            </a:r>
            <a:r>
              <a:rPr sz="2250" spc="-39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2550">
              <a:latin typeface="Arial"/>
              <a:cs typeface="Arial"/>
            </a:endParaRPr>
          </a:p>
          <a:p>
            <a:pPr marL="1091565">
              <a:lnSpc>
                <a:spcPct val="100000"/>
              </a:lnSpc>
              <a:tabLst>
                <a:tab pos="2447925" algn="l"/>
              </a:tabLst>
            </a:pP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pandas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750" spc="-25" dirty="0">
                <a:solidFill>
                  <a:srgbClr val="04182D"/>
                </a:solidFill>
                <a:latin typeface="Monaco"/>
                <a:cs typeface="Monaco"/>
              </a:rPr>
              <a:t>pd</a:t>
            </a:r>
            <a:endParaRPr sz="1750">
              <a:latin typeface="Monaco"/>
              <a:cs typeface="Monaco"/>
            </a:endParaRPr>
          </a:p>
          <a:p>
            <a:pPr marL="141605" marR="5080">
              <a:lnSpc>
                <a:spcPct val="138200"/>
              </a:lnSpc>
            </a:pP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pairs</a:t>
            </a:r>
            <a:r>
              <a:rPr sz="1750" spc="7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5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pd.DataFrame({</a:t>
            </a:r>
            <a:r>
              <a:rPr sz="1750" dirty="0">
                <a:solidFill>
                  <a:srgbClr val="BE2F72"/>
                </a:solidFill>
                <a:latin typeface="Monaco"/>
                <a:cs typeface="Monaco"/>
              </a:rPr>
              <a:t>'labels'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750" spc="7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labels,</a:t>
            </a:r>
            <a:r>
              <a:rPr sz="1750" spc="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dirty="0">
                <a:solidFill>
                  <a:srgbClr val="BE2F72"/>
                </a:solidFill>
                <a:latin typeface="Monaco"/>
                <a:cs typeface="Monaco"/>
              </a:rPr>
              <a:t>'countries'</a:t>
            </a:r>
            <a:r>
              <a:rPr sz="175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1750" spc="7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country_names}) </a:t>
            </a:r>
            <a:r>
              <a:rPr sz="17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(pairs.sort_values(</a:t>
            </a:r>
            <a:r>
              <a:rPr sz="1750" spc="-10" dirty="0">
                <a:solidFill>
                  <a:srgbClr val="BE2F72"/>
                </a:solidFill>
                <a:latin typeface="Monaco"/>
                <a:cs typeface="Monaco"/>
              </a:rPr>
              <a:t>'labels'</a:t>
            </a:r>
            <a:r>
              <a:rPr sz="1750" spc="-10" dirty="0">
                <a:solidFill>
                  <a:srgbClr val="04182D"/>
                </a:solidFill>
                <a:latin typeface="Monaco"/>
                <a:cs typeface="Monaco"/>
              </a:rPr>
              <a:t>))</a:t>
            </a:r>
            <a:endParaRPr sz="1750">
              <a:latin typeface="Monaco"/>
              <a:cs typeface="Monaco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588758" y="3772115"/>
          <a:ext cx="4405630" cy="35953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28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1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1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4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ts val="2080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countries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80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Belarus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Ukraine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36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Spain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Bulgaria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Greece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Cyprus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28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127635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Moldova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12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EE4A9FC4-1254-454E-AB7E-474E039F5D5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09224" y="2157161"/>
            <a:ext cx="675957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065" marR="5080" algn="ctr">
              <a:lnSpc>
                <a:spcPts val="6770"/>
              </a:lnSpc>
              <a:spcBef>
                <a:spcPts val="1130"/>
              </a:spcBef>
            </a:pPr>
            <a:r>
              <a:rPr sz="6450" spc="60" dirty="0"/>
              <a:t>t-</a:t>
            </a:r>
            <a:r>
              <a:rPr sz="6450" spc="-365" dirty="0"/>
              <a:t>SNE</a:t>
            </a:r>
            <a:r>
              <a:rPr sz="6450" spc="-235" dirty="0"/>
              <a:t> </a:t>
            </a:r>
            <a:r>
              <a:rPr sz="6450" spc="-105" dirty="0"/>
              <a:t>for</a:t>
            </a:r>
            <a:r>
              <a:rPr sz="6450" spc="-330" dirty="0"/>
              <a:t> </a:t>
            </a:r>
            <a:r>
              <a:rPr sz="6450" spc="-25" dirty="0"/>
              <a:t>2- </a:t>
            </a:r>
            <a:r>
              <a:rPr sz="6450" spc="-254" dirty="0"/>
              <a:t>dimensional</a:t>
            </a:r>
            <a:r>
              <a:rPr sz="6450" spc="-175" dirty="0"/>
              <a:t> </a:t>
            </a:r>
            <a:r>
              <a:rPr sz="6450" spc="-80" dirty="0"/>
              <a:t>maps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F4EC596-C185-1A4C-D99D-DAB69B82F0D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spc="-65" dirty="0"/>
              <a:t>2-</a:t>
            </a:r>
            <a:r>
              <a:rPr spc="-135" dirty="0"/>
              <a:t>dimensional</a:t>
            </a:r>
            <a:r>
              <a:rPr spc="-160" dirty="0"/>
              <a:t> </a:t>
            </a:r>
            <a:r>
              <a:rPr spc="-20" dirty="0"/>
              <a:t>maps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344534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t-</a:t>
            </a:r>
            <a:r>
              <a:rPr sz="2550" spc="-45" dirty="0">
                <a:solidFill>
                  <a:srgbClr val="04182D"/>
                </a:solidFill>
                <a:latin typeface="Arial"/>
                <a:cs typeface="Arial"/>
              </a:rPr>
              <a:t>SNE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"t-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distributed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stochastic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neighbor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embedding"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Maps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space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(or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3D)</a:t>
            </a:r>
            <a:endParaRPr sz="2550">
              <a:latin typeface="Arial"/>
              <a:cs typeface="Arial"/>
            </a:endParaRPr>
          </a:p>
          <a:p>
            <a:pPr marL="12700" marR="506095">
              <a:lnSpc>
                <a:spcPts val="5160"/>
              </a:lnSpc>
              <a:spcBef>
                <a:spcPts val="320"/>
              </a:spcBef>
            </a:pP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Map</a:t>
            </a:r>
            <a:r>
              <a:rPr sz="2550" spc="2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approximately</a:t>
            </a:r>
            <a:r>
              <a:rPr sz="2550" spc="2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preserves</a:t>
            </a:r>
            <a:r>
              <a:rPr sz="2550" spc="2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nearness</a:t>
            </a:r>
            <a:r>
              <a:rPr sz="2550" spc="2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2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samples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Great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inspecting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datasets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4B215673-136C-A8C0-6224-524F970E68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spc="-110" dirty="0"/>
              <a:t>on</a:t>
            </a:r>
            <a:r>
              <a:rPr spc="-160" dirty="0"/>
              <a:t> </a:t>
            </a:r>
            <a:r>
              <a:rPr dirty="0"/>
              <a:t>the</a:t>
            </a:r>
            <a:r>
              <a:rPr spc="-120" dirty="0"/>
              <a:t> </a:t>
            </a:r>
            <a:r>
              <a:rPr spc="-190" dirty="0"/>
              <a:t>iris</a:t>
            </a:r>
            <a:r>
              <a:rPr spc="-12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7903845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Iris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dataset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4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measurements,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so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4-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dimensional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t-</a:t>
            </a:r>
            <a:r>
              <a:rPr sz="2550" spc="-45" dirty="0">
                <a:solidFill>
                  <a:srgbClr val="04182D"/>
                </a:solidFill>
                <a:latin typeface="Arial"/>
                <a:cs typeface="Arial"/>
              </a:rPr>
              <a:t>SNE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maps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space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t-</a:t>
            </a:r>
            <a:r>
              <a:rPr sz="2550" spc="-45" dirty="0">
                <a:solidFill>
                  <a:srgbClr val="04182D"/>
                </a:solidFill>
                <a:latin typeface="Arial"/>
                <a:cs typeface="Arial"/>
              </a:rPr>
              <a:t>SNE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didn't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know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70" dirty="0">
                <a:solidFill>
                  <a:srgbClr val="04182D"/>
                </a:solidFill>
                <a:latin typeface="Arial"/>
                <a:cs typeface="Arial"/>
              </a:rPr>
              <a:t>that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there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were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0" dirty="0">
                <a:solidFill>
                  <a:srgbClr val="04182D"/>
                </a:solidFill>
                <a:latin typeface="Arial"/>
                <a:cs typeface="Arial"/>
              </a:rPr>
              <a:t>yet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kept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mostly</a:t>
            </a:r>
            <a:r>
              <a:rPr sz="25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separate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3807493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059398" y="3543300"/>
            <a:ext cx="6586752" cy="4343400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7009560-DBA5-CE62-7A67-69DC8EA9FD8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65" dirty="0"/>
              <a:t>Interpreting</a:t>
            </a:r>
            <a:r>
              <a:rPr spc="-260" dirty="0"/>
              <a:t> </a:t>
            </a: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dirty="0"/>
              <a:t>scatter</a:t>
            </a:r>
            <a:r>
              <a:rPr spc="-280" dirty="0"/>
              <a:t> </a:t>
            </a:r>
            <a:r>
              <a:rPr spc="-6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00"/>
            <a:ext cx="12239542" cy="11185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"versicolor"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"virginica"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harder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distinguish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one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another</a:t>
            </a:r>
            <a:endParaRPr sz="2550" dirty="0">
              <a:latin typeface="Arial"/>
              <a:cs typeface="Arial"/>
            </a:endParaRPr>
          </a:p>
          <a:p>
            <a:pPr marL="12700" marR="396875">
              <a:lnSpc>
                <a:spcPct val="126400"/>
              </a:lnSpc>
              <a:spcBef>
                <a:spcPts val="129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Consistent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k-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inertia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plot: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could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argue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2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clusters,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or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3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6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68750" y="2841740"/>
            <a:ext cx="8458200" cy="4844959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90AEE8A-0608-F5B4-AEA5-302F5DCF218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spc="-55" dirty="0"/>
              <a:t>in</a:t>
            </a:r>
            <a:r>
              <a:rPr spc="-245" dirty="0"/>
              <a:t> </a:t>
            </a:r>
            <a:r>
              <a:rPr spc="-75" dirty="0"/>
              <a:t>sklearn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821841"/>
            <a:ext cx="9887585" cy="593725"/>
          </a:xfrm>
          <a:custGeom>
            <a:avLst/>
            <a:gdLst/>
            <a:ahLst/>
            <a:cxnLst/>
            <a:rect l="l" t="t" r="r" b="b"/>
            <a:pathLst>
              <a:path w="9887585" h="593725">
                <a:moveTo>
                  <a:pt x="9810694" y="593641"/>
                </a:moveTo>
                <a:lnTo>
                  <a:pt x="76505" y="593641"/>
                </a:lnTo>
                <a:lnTo>
                  <a:pt x="71180" y="593116"/>
                </a:lnTo>
                <a:lnTo>
                  <a:pt x="31920" y="576854"/>
                </a:lnTo>
                <a:lnTo>
                  <a:pt x="4175" y="538127"/>
                </a:lnTo>
                <a:lnTo>
                  <a:pt x="0" y="517136"/>
                </a:lnTo>
                <a:lnTo>
                  <a:pt x="0" y="511759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17136"/>
                </a:lnTo>
                <a:lnTo>
                  <a:pt x="9870412" y="561721"/>
                </a:lnTo>
                <a:lnTo>
                  <a:pt x="9831684" y="589465"/>
                </a:lnTo>
                <a:lnTo>
                  <a:pt x="9816018" y="593116"/>
                </a:lnTo>
                <a:lnTo>
                  <a:pt x="9810694" y="59364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661127"/>
            <a:ext cx="9887585" cy="2190750"/>
          </a:xfrm>
          <a:custGeom>
            <a:avLst/>
            <a:gdLst/>
            <a:ahLst/>
            <a:cxnLst/>
            <a:rect l="l" t="t" r="r" b="b"/>
            <a:pathLst>
              <a:path w="9887585" h="2190750">
                <a:moveTo>
                  <a:pt x="9810694" y="2190331"/>
                </a:moveTo>
                <a:lnTo>
                  <a:pt x="76505" y="2190331"/>
                </a:lnTo>
                <a:lnTo>
                  <a:pt x="71180" y="2189807"/>
                </a:lnTo>
                <a:lnTo>
                  <a:pt x="31920" y="2173544"/>
                </a:lnTo>
                <a:lnTo>
                  <a:pt x="4175" y="2134817"/>
                </a:lnTo>
                <a:lnTo>
                  <a:pt x="0" y="2113826"/>
                </a:lnTo>
                <a:lnTo>
                  <a:pt x="0" y="210845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113826"/>
                </a:lnTo>
                <a:lnTo>
                  <a:pt x="9870412" y="2158410"/>
                </a:lnTo>
                <a:lnTo>
                  <a:pt x="9831684" y="2186155"/>
                </a:lnTo>
                <a:lnTo>
                  <a:pt x="9816018" y="2189807"/>
                </a:lnTo>
                <a:lnTo>
                  <a:pt x="9810694" y="219033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5752157"/>
            <a:ext cx="9887585" cy="614680"/>
          </a:xfrm>
          <a:custGeom>
            <a:avLst/>
            <a:gdLst/>
            <a:ahLst/>
            <a:cxnLst/>
            <a:rect l="l" t="t" r="r" b="b"/>
            <a:pathLst>
              <a:path w="9887585" h="614679">
                <a:moveTo>
                  <a:pt x="9810694" y="614110"/>
                </a:moveTo>
                <a:lnTo>
                  <a:pt x="76505" y="614110"/>
                </a:lnTo>
                <a:lnTo>
                  <a:pt x="71180" y="613586"/>
                </a:lnTo>
                <a:lnTo>
                  <a:pt x="31920" y="597324"/>
                </a:lnTo>
                <a:lnTo>
                  <a:pt x="4175" y="558596"/>
                </a:lnTo>
                <a:lnTo>
                  <a:pt x="0" y="537606"/>
                </a:lnTo>
                <a:lnTo>
                  <a:pt x="0" y="532229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2"/>
                </a:lnTo>
                <a:lnTo>
                  <a:pt x="9887199" y="76504"/>
                </a:lnTo>
                <a:lnTo>
                  <a:pt x="9887199" y="537606"/>
                </a:lnTo>
                <a:lnTo>
                  <a:pt x="9870412" y="582189"/>
                </a:lnTo>
                <a:lnTo>
                  <a:pt x="9831684" y="609934"/>
                </a:lnTo>
                <a:lnTo>
                  <a:pt x="9816018" y="613586"/>
                </a:lnTo>
                <a:lnTo>
                  <a:pt x="9810694" y="614110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6611912"/>
            <a:ext cx="9887585" cy="593725"/>
          </a:xfrm>
          <a:custGeom>
            <a:avLst/>
            <a:gdLst/>
            <a:ahLst/>
            <a:cxnLst/>
            <a:rect l="l" t="t" r="r" b="b"/>
            <a:pathLst>
              <a:path w="9887585" h="593725">
                <a:moveTo>
                  <a:pt x="9810694" y="593640"/>
                </a:moveTo>
                <a:lnTo>
                  <a:pt x="76505" y="593640"/>
                </a:lnTo>
                <a:lnTo>
                  <a:pt x="71180" y="593115"/>
                </a:lnTo>
                <a:lnTo>
                  <a:pt x="31920" y="576854"/>
                </a:lnTo>
                <a:lnTo>
                  <a:pt x="4175" y="538127"/>
                </a:lnTo>
                <a:lnTo>
                  <a:pt x="0" y="517135"/>
                </a:lnTo>
                <a:lnTo>
                  <a:pt x="0" y="511759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17135"/>
                </a:lnTo>
                <a:lnTo>
                  <a:pt x="9870412" y="561721"/>
                </a:lnTo>
                <a:lnTo>
                  <a:pt x="9831684" y="589465"/>
                </a:lnTo>
                <a:lnTo>
                  <a:pt x="9816018" y="593115"/>
                </a:lnTo>
                <a:lnTo>
                  <a:pt x="9810694" y="5936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3541377" y="1207729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9" y="55513"/>
                </a:lnTo>
                <a:lnTo>
                  <a:pt x="1289635" y="76505"/>
                </a:lnTo>
                <a:lnTo>
                  <a:pt x="1289635" y="353373"/>
                </a:lnTo>
                <a:lnTo>
                  <a:pt x="1272848" y="397957"/>
                </a:lnTo>
                <a:lnTo>
                  <a:pt x="1234120" y="425702"/>
                </a:lnTo>
                <a:lnTo>
                  <a:pt x="1218454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7056" y="1174558"/>
            <a:ext cx="3956685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739390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NumPy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samples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93095" y="1997468"/>
            <a:ext cx="171005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550" spc="-10" dirty="0">
                <a:solidFill>
                  <a:srgbClr val="04182D"/>
                </a:solidFill>
                <a:latin typeface="Monaco"/>
                <a:cs typeface="Monaco"/>
              </a:rPr>
              <a:t>(samples)</a:t>
            </a:r>
            <a:endParaRPr sz="1550">
              <a:latin typeface="Monaco"/>
              <a:cs typeface="Monac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74045" y="2814532"/>
          <a:ext cx="2832734" cy="18834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2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marR="52069" algn="r">
                        <a:lnSpc>
                          <a:spcPts val="1839"/>
                        </a:lnSpc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[[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ts val="1839"/>
                        </a:lnSpc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3.3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39"/>
                        </a:lnSpc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1.4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ts val="1839"/>
                        </a:lnSpc>
                      </a:pPr>
                      <a:r>
                        <a:rPr sz="15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0.2]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3.5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1.3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0.3]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025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4.9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2.4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3.3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</a:t>
                      </a:r>
                      <a:r>
                        <a:rPr sz="155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5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]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655">
                <a:tc>
                  <a:txBody>
                    <a:bodyPr/>
                    <a:lstStyle/>
                    <a:p>
                      <a:pPr marR="52069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6.3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2.8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5.1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1.5]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395">
                <a:tc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7620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655">
                <a:tc gridSpan="2"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r>
                        <a:rPr sz="1550" spc="3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4.9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3.1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1.5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tc>
                  <a:txBody>
                    <a:bodyPr/>
                    <a:lstStyle/>
                    <a:p>
                      <a:pPr marL="120014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5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0.1]]</a:t>
                      </a:r>
                      <a:endParaRPr sz="1550">
                        <a:latin typeface="Monaco"/>
                        <a:cs typeface="Monaco"/>
                      </a:endParaRPr>
                    </a:p>
                  </a:txBody>
                  <a:tcPr marL="0" marR="0" marT="368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5281337"/>
            <a:ext cx="102352" cy="102351"/>
          </a:xfrm>
          <a:prstGeom prst="rect">
            <a:avLst/>
          </a:prstGeom>
        </p:spPr>
      </p:pic>
      <p:sp>
        <p:nvSpPr>
          <p:cNvPr id="13" name="object 13"/>
          <p:cNvSpPr/>
          <p:nvPr/>
        </p:nvSpPr>
        <p:spPr>
          <a:xfrm>
            <a:off x="1514808" y="5138044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5">
                <a:moveTo>
                  <a:pt x="1213129" y="429877"/>
                </a:moveTo>
                <a:lnTo>
                  <a:pt x="76505" y="429877"/>
                </a:lnTo>
                <a:lnTo>
                  <a:pt x="71180" y="429352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9" y="55513"/>
                </a:lnTo>
                <a:lnTo>
                  <a:pt x="1289634" y="76505"/>
                </a:lnTo>
                <a:lnTo>
                  <a:pt x="1289634" y="353372"/>
                </a:lnTo>
                <a:lnTo>
                  <a:pt x="1272847" y="397957"/>
                </a:lnTo>
                <a:lnTo>
                  <a:pt x="1234120" y="425701"/>
                </a:lnTo>
                <a:lnTo>
                  <a:pt x="1218454" y="429352"/>
                </a:lnTo>
                <a:lnTo>
                  <a:pt x="121312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7056" y="5104874"/>
            <a:ext cx="193040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13740" algn="l"/>
              </a:tabLst>
            </a:pP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List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species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0215" y="5104874"/>
            <a:ext cx="6898640" cy="4184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giving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labels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(0,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80" dirty="0">
                <a:solidFill>
                  <a:srgbClr val="04182D"/>
                </a:solidFill>
                <a:latin typeface="Arial"/>
                <a:cs typeface="Arial"/>
              </a:rPr>
              <a:t>1,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or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2)</a:t>
            </a:r>
            <a:endParaRPr sz="25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93095" y="5927783"/>
            <a:ext cx="1710055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550" spc="-10" dirty="0">
                <a:solidFill>
                  <a:srgbClr val="04182D"/>
                </a:solidFill>
                <a:latin typeface="Monaco"/>
                <a:cs typeface="Monaco"/>
              </a:rPr>
              <a:t>(species)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3095" y="6767069"/>
            <a:ext cx="2432050" cy="2667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550" dirty="0">
                <a:solidFill>
                  <a:srgbClr val="FFFFFF"/>
                </a:solidFill>
                <a:latin typeface="Monaco"/>
                <a:cs typeface="Monaco"/>
              </a:rPr>
              <a:t>[0,</a:t>
            </a:r>
            <a:r>
              <a:rPr sz="15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FFFFFF"/>
                </a:solidFill>
                <a:latin typeface="Monaco"/>
                <a:cs typeface="Monaco"/>
              </a:rPr>
              <a:t>0,</a:t>
            </a:r>
            <a:r>
              <a:rPr sz="15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FFFFFF"/>
                </a:solidFill>
                <a:latin typeface="Monaco"/>
                <a:cs typeface="Monaco"/>
              </a:rPr>
              <a:t>1,</a:t>
            </a:r>
            <a:r>
              <a:rPr sz="15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FFFFFF"/>
                </a:solidFill>
                <a:latin typeface="Monaco"/>
                <a:cs typeface="Monaco"/>
              </a:rPr>
              <a:t>2,</a:t>
            </a:r>
            <a:r>
              <a:rPr sz="15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FFFFFF"/>
                </a:solidFill>
                <a:latin typeface="Monaco"/>
                <a:cs typeface="Monaco"/>
              </a:rPr>
              <a:t>...,</a:t>
            </a:r>
            <a:r>
              <a:rPr sz="1550" spc="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550" spc="-25" dirty="0">
                <a:solidFill>
                  <a:srgbClr val="FFFFFF"/>
                </a:solidFill>
                <a:latin typeface="Monaco"/>
                <a:cs typeface="Monaco"/>
              </a:rPr>
              <a:t>0]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21" name="슬라이드 번호 개체 틀 20">
            <a:extLst>
              <a:ext uri="{FF2B5EF4-FFF2-40B4-BE49-F238E27FC236}">
                <a16:creationId xmlns:a16="http://schemas.microsoft.com/office/drawing/2014/main" id="{EA4ABF72-24AA-89BA-75CB-552558E0A56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spc="-55" dirty="0"/>
              <a:t>in</a:t>
            </a:r>
            <a:r>
              <a:rPr spc="-245" dirty="0"/>
              <a:t> </a:t>
            </a:r>
            <a:r>
              <a:rPr spc="-75" dirty="0"/>
              <a:t>sklearn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788"/>
            <a:ext cx="9887199" cy="319338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45972" y="1197077"/>
            <a:ext cx="2476500" cy="76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57810">
              <a:lnSpc>
                <a:spcPct val="142200"/>
              </a:lnSpc>
              <a:spcBef>
                <a:spcPts val="100"/>
              </a:spcBef>
            </a:pP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matplotlib.pyplot 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sklearn.manifold</a:t>
            </a:r>
            <a:endParaRPr sz="1700">
              <a:latin typeface="Monaco"/>
              <a:cs typeface="Monac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1940" y="1197077"/>
            <a:ext cx="670560" cy="76263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700" spc="-25" dirty="0">
                <a:solidFill>
                  <a:srgbClr val="04182D"/>
                </a:solidFill>
                <a:latin typeface="Monaco"/>
                <a:cs typeface="Monaco"/>
              </a:rPr>
              <a:t>plt</a:t>
            </a:r>
            <a:endParaRPr sz="1700">
              <a:latin typeface="Monaco"/>
              <a:cs typeface="Monaco"/>
            </a:endParaRPr>
          </a:p>
          <a:p>
            <a:pPr marL="140970">
              <a:lnSpc>
                <a:spcPct val="100000"/>
              </a:lnSpc>
              <a:spcBef>
                <a:spcPts val="865"/>
              </a:spcBef>
            </a:pP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TSNE</a:t>
            </a:r>
            <a:endParaRPr sz="170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1411" y="1934010"/>
            <a:ext cx="5441950" cy="2236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2200"/>
              </a:lnSpc>
              <a:spcBef>
                <a:spcPts val="100"/>
              </a:spcBef>
            </a:pP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model</a:t>
            </a:r>
            <a:r>
              <a:rPr sz="1700" spc="-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00" spc="-3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TSNE(learning_rate=</a:t>
            </a:r>
            <a:r>
              <a:rPr sz="1700" spc="-10" dirty="0">
                <a:solidFill>
                  <a:srgbClr val="BE2F72"/>
                </a:solidFill>
                <a:latin typeface="Monaco"/>
                <a:cs typeface="Monaco"/>
              </a:rPr>
              <a:t>100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transformed</a:t>
            </a:r>
            <a:r>
              <a:rPr sz="1700" spc="-7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00" spc="-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model.fit_transform(samples)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xs</a:t>
            </a:r>
            <a:r>
              <a:rPr sz="1700" spc="-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transformed[:,</a:t>
            </a:r>
            <a:r>
              <a:rPr sz="1700" spc="-10" dirty="0">
                <a:solidFill>
                  <a:srgbClr val="BE2F72"/>
                </a:solidFill>
                <a:latin typeface="Monaco"/>
                <a:cs typeface="Monaco"/>
              </a:rPr>
              <a:t>0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1700" dirty="0">
              <a:latin typeface="Monaco"/>
              <a:cs typeface="Monaco"/>
            </a:endParaRPr>
          </a:p>
          <a:p>
            <a:pPr marL="12700" marR="1552575">
              <a:lnSpc>
                <a:spcPct val="142200"/>
              </a:lnSpc>
            </a:pP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ys</a:t>
            </a:r>
            <a:r>
              <a:rPr sz="1700" spc="-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transformed[:,</a:t>
            </a:r>
            <a:r>
              <a:rPr sz="1700" spc="-10" dirty="0">
                <a:solidFill>
                  <a:srgbClr val="BE2F72"/>
                </a:solidFill>
                <a:latin typeface="Monaco"/>
                <a:cs typeface="Monaco"/>
              </a:rPr>
              <a:t>1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]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plt.scatter(xs,</a:t>
            </a:r>
            <a:r>
              <a:rPr sz="1700" spc="-10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dirty="0">
                <a:solidFill>
                  <a:srgbClr val="04182D"/>
                </a:solidFill>
                <a:latin typeface="Monaco"/>
                <a:cs typeface="Monaco"/>
              </a:rPr>
              <a:t>ys,</a:t>
            </a:r>
            <a:r>
              <a:rPr sz="1700" spc="-9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700" spc="-20" dirty="0">
                <a:solidFill>
                  <a:srgbClr val="04182D"/>
                </a:solidFill>
                <a:latin typeface="Monaco"/>
                <a:cs typeface="Monaco"/>
              </a:rPr>
              <a:t>c=species) </a:t>
            </a:r>
            <a:r>
              <a:rPr sz="1700" spc="-10" dirty="0">
                <a:solidFill>
                  <a:srgbClr val="04182D"/>
                </a:solidFill>
                <a:latin typeface="Monaco"/>
                <a:cs typeface="Monaco"/>
              </a:rPr>
              <a:t>plt.show()</a:t>
            </a:r>
            <a:endParaRPr sz="1700" dirty="0">
              <a:latin typeface="Monaco"/>
              <a:cs typeface="Monaco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59496" y="4605813"/>
            <a:ext cx="6452854" cy="4011176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EF9379EC-55AC-7C79-A7C8-43AFB7D5518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9D07DD-E42D-BE36-0310-A4F800D0AC79}"/>
              </a:ext>
            </a:extLst>
          </p:cNvPr>
          <p:cNvSpPr txBox="1"/>
          <p:nvPr/>
        </p:nvSpPr>
        <p:spPr>
          <a:xfrm>
            <a:off x="6214230" y="759383"/>
            <a:ext cx="77835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The learning rate determines how fast or slow the t-SNE algorithm adjusts the positions of points in the lower-dimensional space during optimization. A learning rate that is too low or too high may lead to suboptimal results.</a:t>
            </a:r>
          </a:p>
          <a:p>
            <a:endParaRPr lang="en" altLang="ko-KR" dirty="0"/>
          </a:p>
          <a:p>
            <a:r>
              <a:rPr lang="en" altLang="ko-KR" b="1" dirty="0"/>
              <a:t>transformed[:, 0]</a:t>
            </a:r>
            <a:r>
              <a:rPr lang="en" altLang="ko-KR" dirty="0"/>
              <a:t>:The first column of the transformed array, representing the x-coordinates of the 2D projection.</a:t>
            </a:r>
          </a:p>
          <a:p>
            <a:r>
              <a:rPr lang="en" altLang="ko-KR" b="1" dirty="0"/>
              <a:t>transformed[:, 1]</a:t>
            </a:r>
            <a:r>
              <a:rPr lang="en" altLang="ko-KR" dirty="0"/>
              <a:t>:The second column of the transformed array, representing the y-coordinates of the 2D projection.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spc="-110" dirty="0"/>
              <a:t>has</a:t>
            </a:r>
            <a:r>
              <a:rPr spc="-204" dirty="0"/>
              <a:t> </a:t>
            </a:r>
            <a:r>
              <a:rPr spc="-75" dirty="0"/>
              <a:t>only</a:t>
            </a:r>
            <a:r>
              <a:rPr spc="-204" dirty="0"/>
              <a:t> </a:t>
            </a:r>
            <a:r>
              <a:rPr spc="-35" dirty="0"/>
              <a:t>fit_transform()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883275" y="1207729"/>
            <a:ext cx="2661285" cy="429895"/>
          </a:xfrm>
          <a:custGeom>
            <a:avLst/>
            <a:gdLst/>
            <a:ahLst/>
            <a:cxnLst/>
            <a:rect l="l" t="t" r="r" b="b"/>
            <a:pathLst>
              <a:path w="2661285" h="429894">
                <a:moveTo>
                  <a:pt x="258464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2584646" y="0"/>
                </a:lnTo>
                <a:lnTo>
                  <a:pt x="2629230" y="16786"/>
                </a:lnTo>
                <a:lnTo>
                  <a:pt x="2656975" y="55513"/>
                </a:lnTo>
                <a:lnTo>
                  <a:pt x="2661150" y="76505"/>
                </a:lnTo>
                <a:lnTo>
                  <a:pt x="2661150" y="353373"/>
                </a:lnTo>
                <a:lnTo>
                  <a:pt x="2644364" y="397957"/>
                </a:lnTo>
                <a:lnTo>
                  <a:pt x="2605636" y="425702"/>
                </a:lnTo>
                <a:lnTo>
                  <a:pt x="2589970" y="429353"/>
                </a:lnTo>
                <a:lnTo>
                  <a:pt x="258464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3520907" y="2517834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4" h="429894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76656" y="2517834"/>
            <a:ext cx="1985645" cy="429895"/>
          </a:xfrm>
          <a:custGeom>
            <a:avLst/>
            <a:gdLst/>
            <a:ahLst/>
            <a:cxnLst/>
            <a:rect l="l" t="t" r="r" b="b"/>
            <a:pathLst>
              <a:path w="1985645" h="429894">
                <a:moveTo>
                  <a:pt x="190912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909122" y="0"/>
                </a:lnTo>
                <a:lnTo>
                  <a:pt x="1953707" y="16786"/>
                </a:lnTo>
                <a:lnTo>
                  <a:pt x="1981452" y="55513"/>
                </a:lnTo>
                <a:lnTo>
                  <a:pt x="1985627" y="76505"/>
                </a:lnTo>
                <a:lnTo>
                  <a:pt x="1985627" y="353373"/>
                </a:lnTo>
                <a:lnTo>
                  <a:pt x="1968841" y="397957"/>
                </a:lnTo>
                <a:lnTo>
                  <a:pt x="1930113" y="425702"/>
                </a:lnTo>
                <a:lnTo>
                  <a:pt x="1914446" y="429353"/>
                </a:lnTo>
                <a:lnTo>
                  <a:pt x="190912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47056" y="1174558"/>
            <a:ext cx="8382000" cy="30391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075055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fit_transform()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method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  <a:tabLst>
                <a:tab pos="2712720" algn="l"/>
                <a:tab pos="4277995" algn="l"/>
              </a:tabLst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Simultaneously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fits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model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transforms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separate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fit()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or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transform()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methods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Can't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extend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Arial"/>
                <a:cs typeface="Arial"/>
              </a:rPr>
              <a:t>map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include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samples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Must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start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over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time!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179"/>
            <a:ext cx="102352" cy="1023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971232"/>
            <a:ext cx="102352" cy="102351"/>
          </a:xfrm>
          <a:prstGeom prst="rect">
            <a:avLst/>
          </a:prstGeom>
        </p:spPr>
      </p:pic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782DFCE4-ACAE-9C0F-9716-51937989707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98"/>
            <a:ext cx="6060440" cy="300228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70" dirty="0"/>
              <a:t>t-</a:t>
            </a:r>
            <a:r>
              <a:rPr spc="-225" dirty="0"/>
              <a:t>SNE</a:t>
            </a:r>
            <a:r>
              <a:rPr spc="-95" dirty="0"/>
              <a:t> </a:t>
            </a:r>
            <a:r>
              <a:rPr spc="-65" dirty="0"/>
              <a:t>learning</a:t>
            </a:r>
            <a:r>
              <a:rPr spc="-175" dirty="0"/>
              <a:t> </a:t>
            </a:r>
            <a:r>
              <a:rPr spc="-20" dirty="0"/>
              <a:t>rate</a:t>
            </a:r>
          </a:p>
          <a:p>
            <a:pPr marL="381000" marR="5080" algn="just">
              <a:lnSpc>
                <a:spcPts val="5160"/>
              </a:lnSpc>
            </a:pPr>
            <a:r>
              <a:rPr sz="2550" b="0" spc="65" dirty="0">
                <a:latin typeface="Arial"/>
                <a:cs typeface="Arial"/>
              </a:rPr>
              <a:t>Choose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90" dirty="0">
                <a:latin typeface="Arial"/>
                <a:cs typeface="Arial"/>
              </a:rPr>
              <a:t>learning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rate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for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dataset </a:t>
            </a:r>
            <a:r>
              <a:rPr sz="2550" b="0" spc="50" dirty="0">
                <a:latin typeface="Arial"/>
                <a:cs typeface="Arial"/>
              </a:rPr>
              <a:t>Wrong </a:t>
            </a:r>
            <a:r>
              <a:rPr sz="2550" b="0" spc="80" dirty="0">
                <a:latin typeface="Arial"/>
                <a:cs typeface="Arial"/>
              </a:rPr>
              <a:t>choice: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points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05" dirty="0">
                <a:latin typeface="Arial"/>
                <a:cs typeface="Arial"/>
              </a:rPr>
              <a:t>bunch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together </a:t>
            </a:r>
            <a:r>
              <a:rPr sz="2550" b="0" dirty="0">
                <a:latin typeface="Arial"/>
                <a:cs typeface="Arial"/>
              </a:rPr>
              <a:t>Try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50" dirty="0">
                <a:latin typeface="Arial"/>
                <a:cs typeface="Arial"/>
              </a:rPr>
              <a:t>values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between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40" dirty="0">
                <a:latin typeface="Arial"/>
                <a:cs typeface="Arial"/>
              </a:rPr>
              <a:t>50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30" dirty="0">
                <a:latin typeface="Arial"/>
                <a:cs typeface="Arial"/>
              </a:rPr>
              <a:t>and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35" dirty="0">
                <a:latin typeface="Arial"/>
                <a:cs typeface="Arial"/>
              </a:rPr>
              <a:t>200</a:t>
            </a:r>
            <a:endParaRPr sz="2550">
              <a:latin typeface="Arial"/>
              <a:cs typeface="Arial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97915F-3A38-0A5C-52E0-5DB857B3378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Different</a:t>
            </a:r>
            <a:r>
              <a:rPr spc="-295" dirty="0"/>
              <a:t> </a:t>
            </a:r>
            <a:r>
              <a:rPr dirty="0"/>
              <a:t>every</a:t>
            </a:r>
            <a:r>
              <a:rPr spc="-295" dirty="0"/>
              <a:t> </a:t>
            </a:r>
            <a:r>
              <a:rPr spc="-20" dirty="0"/>
              <a:t>time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58"/>
            <a:ext cx="9092565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t-</a:t>
            </a:r>
            <a:r>
              <a:rPr sz="2550" spc="-45" dirty="0">
                <a:solidFill>
                  <a:srgbClr val="04182D"/>
                </a:solidFill>
                <a:latin typeface="Arial"/>
                <a:cs typeface="Arial"/>
              </a:rPr>
              <a:t>SNE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every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time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Piedmont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wines,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3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runs,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3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scatter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plots!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however: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wine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varieties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(=colors)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same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position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relative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another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1289" y="4442050"/>
            <a:ext cx="9887198" cy="2333624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A129319-E3CD-C4E9-A013-989571725C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182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192</TotalTime>
  <Words>1577</Words>
  <Application>Microsoft Macintosh PowerPoint</Application>
  <PresentationFormat>사용자 지정</PresentationFormat>
  <Paragraphs>224</Paragraphs>
  <Slides>32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8" baseType="lpstr">
      <vt:lpstr>맑은 고딕</vt:lpstr>
      <vt:lpstr>Arial</vt:lpstr>
      <vt:lpstr>Monaco</vt:lpstr>
      <vt:lpstr>Times New Roman</vt:lpstr>
      <vt:lpstr>Ubuntu Condensed</vt:lpstr>
      <vt:lpstr>Office Theme</vt:lpstr>
      <vt:lpstr>PowerPoint 프레젠테이션</vt:lpstr>
      <vt:lpstr>Visualizations communicate insight "t-SNE" : Creates a 2D map of a dataset "Hierarchical clustering"</vt:lpstr>
      <vt:lpstr>A hierarchy (계층) of groups Groups of living things can form a hierarchy Clusters are contained in one another</vt:lpstr>
      <vt:lpstr>Eurovision scoring dataset</vt:lpstr>
      <vt:lpstr>Hierarchical clustering of voting countries</vt:lpstr>
      <vt:lpstr>Hierarchical clustering</vt:lpstr>
      <vt:lpstr>The dendrogram of a hierarchical clustering Read from the bottom up Vertical lines represent clusters</vt:lpstr>
      <vt:lpstr>Dendrograms, step-by-step</vt:lpstr>
      <vt:lpstr>Dendrograms, step-by-step</vt:lpstr>
      <vt:lpstr>Dendrograms, step-by-step</vt:lpstr>
      <vt:lpstr>Dendrograms, step-by-step</vt:lpstr>
      <vt:lpstr>Dendrograms, step-by-step</vt:lpstr>
      <vt:lpstr>Hierarchical clustering with SciPy</vt:lpstr>
      <vt:lpstr>PowerPoint 프레젠테이션</vt:lpstr>
      <vt:lpstr>Cluster labels in hierarchical clustering</vt:lpstr>
      <vt:lpstr>Intermediate clusterings &amp; height on dendrogram</vt:lpstr>
      <vt:lpstr>Dendrograms show cluster distances</vt:lpstr>
      <vt:lpstr>Dendrograms show cluster distances</vt:lpstr>
      <vt:lpstr>Intermediate clusterings &amp; height on dendrogram</vt:lpstr>
      <vt:lpstr>Distance between clusters</vt:lpstr>
      <vt:lpstr>Extracting cluster labels</vt:lpstr>
      <vt:lpstr>Extracting cluster labels using fcluster</vt:lpstr>
      <vt:lpstr>Aligning cluster labels with country names</vt:lpstr>
      <vt:lpstr>t-SNE for 2- dimensional maps U N S U P E R V I S E D L E A R N I N G I N P Y T H O N</vt:lpstr>
      <vt:lpstr>t-SNE for 2-dimensional maps</vt:lpstr>
      <vt:lpstr>t-SNE on the iris dataset</vt:lpstr>
      <vt:lpstr>Interpreting t-SNE scatter plots</vt:lpstr>
      <vt:lpstr>t-SNE in sklearn</vt:lpstr>
      <vt:lpstr>t-SNE in sklearn</vt:lpstr>
      <vt:lpstr>t-SNE has only fit_transform()</vt:lpstr>
      <vt:lpstr>t-SNE learning rate Choose learning rate for the dataset Wrong choice: points bunch together Try values between 50 and 200</vt:lpstr>
      <vt:lpstr>Different every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16</cp:revision>
  <dcterms:created xsi:type="dcterms:W3CDTF">2025-01-11T10:54:45Z</dcterms:created>
  <dcterms:modified xsi:type="dcterms:W3CDTF">2025-01-11T14:06:52Z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2025-01-11T00:00:00Z</vt:filetime>
  </property>
  <property fmtid="{D5CDD505-2E9C-101B-9397-08002B2CF9AE}" pid="5" name="Producer">
    <vt:lpwstr>Skia/PDF m89</vt:lpwstr>
  </property>
</Properties>
</file>