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6" r:id="rId29"/>
    <p:sldId id="287" r:id="rId30"/>
    <p:sldId id="288" r:id="rId31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95" d="100"/>
          <a:sy n="95" d="100"/>
        </p:scale>
        <p:origin x="76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C1FE2-B381-D842-B7DE-ABE5FB302262}" type="datetimeFigureOut">
              <a:rPr kumimoji="1" lang="ko-KR" altLang="en-US" smtClean="0"/>
              <a:t>2024. 12. 8.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B9CAB-65B8-EB4D-BD33-B2F7707CA02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2854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6812" y="2716530"/>
            <a:ext cx="13223875" cy="184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EC5D0-C2D2-444C-B5A7-F11430FF20F7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A4000-D64E-184A-A0A9-8CE816291F08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6420F-9208-3948-96AA-ADFF29A6AA3F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3C5AC-8ADC-744C-9523-18EAE21982B5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3C8C-7D46-A64A-8323-4AE88C272087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69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85"/>
            <a:ext cx="13218160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5202" y="2465032"/>
            <a:ext cx="11489055" cy="3790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184114" y="8207378"/>
            <a:ext cx="5058409" cy="3714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C460B-1C03-194C-8406-130A8AFC41E1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dev/peps/pep-0020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ssets.datacamp.com/production/repositories/5386/datasets/e610c3bfb8d9ec2db08f9c7a18ce0d2da00f8c1c/sorting_multiple_columns_highlight.png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5828" y="2157161"/>
            <a:ext cx="6205220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836930" marR="767715" indent="-635" algn="ctr">
              <a:lnSpc>
                <a:spcPts val="6770"/>
              </a:lnSpc>
              <a:spcBef>
                <a:spcPts val="1130"/>
              </a:spcBef>
            </a:pPr>
            <a:r>
              <a:rPr sz="6450" spc="-110" dirty="0"/>
              <a:t>Introducing </a:t>
            </a:r>
            <a:r>
              <a:rPr sz="6450" spc="-90" dirty="0"/>
              <a:t>DataFrames</a:t>
            </a:r>
            <a:endParaRPr sz="6450"/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1024890" algn="l"/>
                <a:tab pos="3806825" algn="l"/>
                <a:tab pos="4827270" algn="l"/>
              </a:tabLst>
            </a:pPr>
            <a:r>
              <a:rPr sz="2250" spc="100" dirty="0"/>
              <a:t>DATA</a:t>
            </a:r>
            <a:r>
              <a:rPr sz="2250" dirty="0"/>
              <a:t>	</a:t>
            </a:r>
            <a:r>
              <a:rPr sz="2250" spc="204" dirty="0"/>
              <a:t>M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120" dirty="0"/>
              <a:t>P</a:t>
            </a:r>
            <a:r>
              <a:rPr sz="2250" spc="-300" dirty="0"/>
              <a:t> </a:t>
            </a:r>
            <a:r>
              <a:rPr sz="2250" spc="-90" dirty="0"/>
              <a:t>U</a:t>
            </a:r>
            <a:r>
              <a:rPr sz="2250" spc="-295" dirty="0"/>
              <a:t> </a:t>
            </a:r>
            <a:r>
              <a:rPr sz="2250" spc="-185" dirty="0"/>
              <a:t>L</a:t>
            </a:r>
            <a:r>
              <a:rPr sz="2250" spc="-295" dirty="0"/>
              <a:t> </a:t>
            </a:r>
            <a:r>
              <a:rPr sz="2250" dirty="0"/>
              <a:t>AT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r>
              <a:rPr sz="2250" dirty="0"/>
              <a:t>	W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spc="-50" dirty="0"/>
              <a:t>H</a:t>
            </a:r>
            <a:r>
              <a:rPr sz="2250" dirty="0"/>
              <a:t>	PA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135" dirty="0"/>
              <a:t>DA</a:t>
            </a:r>
            <a:r>
              <a:rPr sz="2250" spc="-32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07924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20" dirty="0">
                <a:solidFill>
                  <a:srgbClr val="FFFFFF"/>
                </a:solidFill>
                <a:latin typeface="Arial"/>
                <a:cs typeface="Arial"/>
              </a:rPr>
              <a:t>Richie</a:t>
            </a:r>
            <a:r>
              <a:rPr sz="255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Cotton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Evangelist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 at</a:t>
            </a:r>
            <a:r>
              <a:rPr sz="225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00" dirty="0">
                <a:solidFill>
                  <a:srgbClr val="FFFFFF"/>
                </a:solidFill>
                <a:latin typeface="Arial"/>
                <a:cs typeface="Arial"/>
              </a:rPr>
              <a:t>DataCamp</a:t>
            </a:r>
            <a:endParaRPr sz="22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7497" y="8167746"/>
            <a:ext cx="332105" cy="430530"/>
          </a:xfrm>
          <a:custGeom>
            <a:avLst/>
            <a:gdLst/>
            <a:ahLst/>
            <a:cxnLst/>
            <a:rect l="l" t="t" r="r" b="b"/>
            <a:pathLst>
              <a:path w="332105" h="430529">
                <a:moveTo>
                  <a:pt x="24621" y="316746"/>
                </a:moveTo>
                <a:lnTo>
                  <a:pt x="18208" y="315587"/>
                </a:lnTo>
                <a:lnTo>
                  <a:pt x="12201" y="312824"/>
                </a:lnTo>
                <a:lnTo>
                  <a:pt x="4601" y="308078"/>
                </a:lnTo>
                <a:lnTo>
                  <a:pt x="0" y="299768"/>
                </a:lnTo>
                <a:lnTo>
                  <a:pt x="13" y="16932"/>
                </a:lnTo>
                <a:lnTo>
                  <a:pt x="4618" y="8639"/>
                </a:lnTo>
                <a:lnTo>
                  <a:pt x="12211" y="3906"/>
                </a:lnTo>
                <a:lnTo>
                  <a:pt x="18214" y="1152"/>
                </a:lnTo>
                <a:lnTo>
                  <a:pt x="24618" y="0"/>
                </a:lnTo>
                <a:lnTo>
                  <a:pt x="31110" y="466"/>
                </a:lnTo>
                <a:lnTo>
                  <a:pt x="37373" y="2569"/>
                </a:lnTo>
                <a:lnTo>
                  <a:pt x="38098" y="2929"/>
                </a:lnTo>
                <a:lnTo>
                  <a:pt x="108327" y="42979"/>
                </a:lnTo>
                <a:lnTo>
                  <a:pt x="35965" y="42979"/>
                </a:lnTo>
                <a:lnTo>
                  <a:pt x="35965" y="273770"/>
                </a:lnTo>
                <a:lnTo>
                  <a:pt x="108660" y="273770"/>
                </a:lnTo>
                <a:lnTo>
                  <a:pt x="38420" y="313659"/>
                </a:lnTo>
                <a:lnTo>
                  <a:pt x="37393" y="314180"/>
                </a:lnTo>
                <a:lnTo>
                  <a:pt x="31121" y="316282"/>
                </a:lnTo>
                <a:lnTo>
                  <a:pt x="24621" y="316746"/>
                </a:lnTo>
                <a:close/>
              </a:path>
              <a:path w="332105" h="430529">
                <a:moveTo>
                  <a:pt x="108660" y="273770"/>
                </a:moveTo>
                <a:lnTo>
                  <a:pt x="35965" y="273770"/>
                </a:lnTo>
                <a:lnTo>
                  <a:pt x="147156" y="210683"/>
                </a:lnTo>
                <a:lnTo>
                  <a:pt x="147156" y="106446"/>
                </a:lnTo>
                <a:lnTo>
                  <a:pt x="35965" y="42979"/>
                </a:lnTo>
                <a:lnTo>
                  <a:pt x="108327" y="42979"/>
                </a:lnTo>
                <a:lnTo>
                  <a:pt x="179673" y="83697"/>
                </a:lnTo>
                <a:lnTo>
                  <a:pt x="183113" y="89611"/>
                </a:lnTo>
                <a:lnTo>
                  <a:pt x="183133" y="190288"/>
                </a:lnTo>
                <a:lnTo>
                  <a:pt x="255732" y="190288"/>
                </a:lnTo>
                <a:lnTo>
                  <a:pt x="183133" y="231498"/>
                </a:lnTo>
                <a:lnTo>
                  <a:pt x="183133" y="251953"/>
                </a:lnTo>
                <a:lnTo>
                  <a:pt x="147076" y="251953"/>
                </a:lnTo>
                <a:lnTo>
                  <a:pt x="108660" y="273770"/>
                </a:lnTo>
                <a:close/>
              </a:path>
              <a:path w="332105" h="430529">
                <a:moveTo>
                  <a:pt x="255732" y="190288"/>
                </a:moveTo>
                <a:lnTo>
                  <a:pt x="183133" y="190288"/>
                </a:lnTo>
                <a:lnTo>
                  <a:pt x="295814" y="126340"/>
                </a:lnTo>
                <a:lnTo>
                  <a:pt x="332032" y="146976"/>
                </a:lnTo>
                <a:lnTo>
                  <a:pt x="255732" y="190288"/>
                </a:lnTo>
                <a:close/>
              </a:path>
              <a:path w="332105" h="430529">
                <a:moveTo>
                  <a:pt x="295592" y="430266"/>
                </a:moveTo>
                <a:lnTo>
                  <a:pt x="150555" y="348363"/>
                </a:lnTo>
                <a:lnTo>
                  <a:pt x="147097" y="342438"/>
                </a:lnTo>
                <a:lnTo>
                  <a:pt x="147076" y="251953"/>
                </a:lnTo>
                <a:lnTo>
                  <a:pt x="183133" y="251953"/>
                </a:lnTo>
                <a:lnTo>
                  <a:pt x="183133" y="325448"/>
                </a:lnTo>
                <a:lnTo>
                  <a:pt x="331811" y="409610"/>
                </a:lnTo>
                <a:lnTo>
                  <a:pt x="295592" y="430266"/>
                </a:lnTo>
                <a:close/>
              </a:path>
            </a:pathLst>
          </a:custGeom>
          <a:solidFill>
            <a:srgbClr val="04182D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A86BFB1-B5F8-4C60-6697-D3EA878897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4"/>
            <a:ext cx="384492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5" dirty="0"/>
              <a:t>Course</a:t>
            </a:r>
            <a:r>
              <a:rPr spc="-175" dirty="0"/>
              <a:t> </a:t>
            </a:r>
            <a:r>
              <a:rPr spc="-7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4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098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1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39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633493"/>
            <a:ext cx="122822" cy="1228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4288545"/>
            <a:ext cx="122822" cy="1228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9991" y="4943598"/>
            <a:ext cx="122822" cy="12282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7056" y="1076323"/>
            <a:ext cx="4725670" cy="411987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b="1" spc="50" dirty="0">
                <a:solidFill>
                  <a:srgbClr val="04182D"/>
                </a:solidFill>
                <a:latin typeface="Arial"/>
                <a:cs typeface="Arial"/>
              </a:rPr>
              <a:t>Chapter</a:t>
            </a:r>
            <a:r>
              <a:rPr sz="2550" b="1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300" dirty="0">
                <a:solidFill>
                  <a:srgbClr val="04182D"/>
                </a:solidFill>
                <a:latin typeface="Arial"/>
                <a:cs typeface="Arial"/>
              </a:rPr>
              <a:t>1:</a:t>
            </a:r>
            <a:r>
              <a:rPr sz="2550" b="1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DataFrames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Sorting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subsetting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Creating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new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columns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spc="50" dirty="0">
                <a:solidFill>
                  <a:srgbClr val="04182D"/>
                </a:solidFill>
                <a:latin typeface="Arial"/>
                <a:cs typeface="Arial"/>
              </a:rPr>
              <a:t>Chapter</a:t>
            </a:r>
            <a:r>
              <a:rPr sz="2550" b="1" spc="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2:</a:t>
            </a:r>
            <a:r>
              <a:rPr sz="2550" b="1" spc="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Aggregating</a:t>
            </a:r>
            <a:r>
              <a:rPr sz="2550" b="1" spc="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9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Summary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statistics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Counting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Grouped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summary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statistics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82" y="1351044"/>
            <a:ext cx="102352" cy="10235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21213" y="1832098"/>
            <a:ext cx="122822" cy="12282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21213" y="2487151"/>
            <a:ext cx="122822" cy="12282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82" y="3152439"/>
            <a:ext cx="102352" cy="10235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21213" y="3633493"/>
            <a:ext cx="122822" cy="12282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21213" y="4288545"/>
            <a:ext cx="122822" cy="12282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21213" y="4943598"/>
            <a:ext cx="122822" cy="12282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298279" y="1076323"/>
            <a:ext cx="6447790" cy="411987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b="1" spc="50" dirty="0">
                <a:solidFill>
                  <a:srgbClr val="04182D"/>
                </a:solidFill>
                <a:latin typeface="Arial"/>
                <a:cs typeface="Arial"/>
              </a:rPr>
              <a:t>Chapter</a:t>
            </a:r>
            <a:r>
              <a:rPr sz="2550" b="1" spc="-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3:</a:t>
            </a:r>
            <a:r>
              <a:rPr sz="2550" b="1" spc="-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30" dirty="0">
                <a:solidFill>
                  <a:srgbClr val="04182D"/>
                </a:solidFill>
                <a:latin typeface="Arial"/>
                <a:cs typeface="Arial"/>
              </a:rPr>
              <a:t>Slicing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b="1" spc="-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Indexing</a:t>
            </a:r>
            <a:r>
              <a:rPr sz="2550" b="1" spc="-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9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Subsetting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using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slicing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Indexes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subsetting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using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indexes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spc="50" dirty="0">
                <a:solidFill>
                  <a:srgbClr val="04182D"/>
                </a:solidFill>
                <a:latin typeface="Arial"/>
                <a:cs typeface="Arial"/>
              </a:rPr>
              <a:t>Chapter</a:t>
            </a:r>
            <a:r>
              <a:rPr sz="2550" b="1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4:</a:t>
            </a:r>
            <a:r>
              <a:rPr sz="2550" b="1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45" dirty="0">
                <a:solidFill>
                  <a:srgbClr val="04182D"/>
                </a:solidFill>
                <a:latin typeface="Arial"/>
                <a:cs typeface="Arial"/>
              </a:rPr>
              <a:t>Creating</a:t>
            </a:r>
            <a:r>
              <a:rPr sz="2550" b="1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b="1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20" dirty="0">
                <a:solidFill>
                  <a:srgbClr val="04182D"/>
                </a:solidFill>
                <a:latin typeface="Arial"/>
                <a:cs typeface="Arial"/>
              </a:rPr>
              <a:t>Visualizing</a:t>
            </a:r>
            <a:r>
              <a:rPr sz="2550" b="1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9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Plotting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Handling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missing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Reading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into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DataFrame</a:t>
            </a:r>
            <a:endParaRPr sz="2550">
              <a:latin typeface="Arial"/>
              <a:cs typeface="Arial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C5E045B-DB1D-CE0F-965C-26BDDEF055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" dirty="0"/>
              <a:t>pandas</a:t>
            </a:r>
            <a:r>
              <a:rPr spc="-265" dirty="0"/>
              <a:t> </a:t>
            </a:r>
            <a:r>
              <a:rPr spc="-280" dirty="0"/>
              <a:t>is</a:t>
            </a:r>
            <a:r>
              <a:rPr spc="-95" dirty="0"/>
              <a:t> </a:t>
            </a:r>
            <a:r>
              <a:rPr spc="-35" dirty="0"/>
              <a:t>built</a:t>
            </a:r>
            <a:r>
              <a:rPr spc="-220" dirty="0"/>
              <a:t> </a:t>
            </a:r>
            <a:r>
              <a:rPr spc="-110" dirty="0"/>
              <a:t>on</a:t>
            </a:r>
            <a:r>
              <a:rPr spc="-190" dirty="0"/>
              <a:t> </a:t>
            </a:r>
            <a:r>
              <a:rPr spc="-40" dirty="0"/>
              <a:t>NumPy</a:t>
            </a:r>
            <a:r>
              <a:rPr spc="-195" dirty="0"/>
              <a:t> </a:t>
            </a:r>
            <a:r>
              <a:rPr dirty="0"/>
              <a:t>and</a:t>
            </a:r>
            <a:r>
              <a:rPr spc="-190" dirty="0"/>
              <a:t> </a:t>
            </a:r>
            <a:r>
              <a:rPr spc="-10" dirty="0"/>
              <a:t>Matplotlib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0239" y="1821864"/>
            <a:ext cx="6790028" cy="451258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397EB3-1B3A-16C8-D104-DED6566B8B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2"/>
            <a:ext cx="472440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" dirty="0"/>
              <a:t>pandas</a:t>
            </a:r>
            <a:r>
              <a:rPr spc="-220" dirty="0"/>
              <a:t> </a:t>
            </a:r>
            <a:r>
              <a:rPr spc="-280" dirty="0"/>
              <a:t>is</a:t>
            </a:r>
            <a:r>
              <a:rPr spc="-95" dirty="0"/>
              <a:t> </a:t>
            </a:r>
            <a:r>
              <a:rPr spc="-45" dirty="0"/>
              <a:t>popular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436" y="1183981"/>
            <a:ext cx="14557772" cy="60961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663" y="7499930"/>
            <a:ext cx="556323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517" baseline="26143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r>
              <a:rPr sz="2550" spc="270" baseline="26143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spc="95" dirty="0">
                <a:solidFill>
                  <a:srgbClr val="04182D"/>
                </a:solidFill>
                <a:latin typeface="Arial"/>
                <a:cs typeface="Arial"/>
              </a:rPr>
              <a:t>https://pypistats.org/packages/pandas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E024DB-20EE-AD9C-3BF8-AED6DDF1CD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Rectangular</a:t>
            </a:r>
            <a:r>
              <a:rPr spc="-225" dirty="0"/>
              <a:t> </a:t>
            </a:r>
            <a:r>
              <a:rPr spc="75" dirty="0"/>
              <a:t>data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812"/>
          <a:ext cx="11216637" cy="474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6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720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Breed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Color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Height</a:t>
                      </a:r>
                      <a:r>
                        <a:rPr sz="2550" b="1" spc="1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b="1" spc="-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(cm)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Weight</a:t>
                      </a:r>
                      <a:r>
                        <a:rPr sz="2550" b="1" spc="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b="1" spc="-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(kg)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Date</a:t>
                      </a:r>
                      <a:r>
                        <a:rPr sz="2550" b="1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b="1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550" b="1" spc="8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b="1" spc="-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Birth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Bella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Labrador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Brown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56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25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2013-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07-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01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Charlie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Poodle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Black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43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23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2016-</a:t>
                      </a:r>
                      <a:r>
                        <a:rPr sz="2550" spc="1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09-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Lucy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Chow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Chow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Brown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46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22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3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2014-</a:t>
                      </a:r>
                      <a:r>
                        <a:rPr sz="2550" spc="1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08-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25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Cooper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Schnauzer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Gray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3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49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3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17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2011-</a:t>
                      </a:r>
                      <a:r>
                        <a:rPr sz="2550" spc="-1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12-</a:t>
                      </a:r>
                      <a:r>
                        <a:rPr sz="2550" spc="-509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Max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Labrador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Black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59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29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2017-</a:t>
                      </a:r>
                      <a:r>
                        <a:rPr sz="2550" spc="-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01-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Stella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Chihuahua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Tan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2015-</a:t>
                      </a:r>
                      <a:r>
                        <a:rPr sz="2550" spc="13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04-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Bernie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St.</a:t>
                      </a:r>
                      <a:r>
                        <a:rPr sz="2550" spc="-8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Bernard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White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77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74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2018-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02-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27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E955A2-AB8D-F3E6-2D72-5534F3D545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" dirty="0"/>
              <a:t>pandas</a:t>
            </a:r>
            <a:r>
              <a:rPr spc="-229" dirty="0"/>
              <a:t> </a:t>
            </a:r>
            <a:r>
              <a:rPr spc="-10" dirty="0"/>
              <a:t>DataFrames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1917064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(dogs)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32"/>
          <a:ext cx="11414122" cy="3790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3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3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85915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2013-07-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51562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Charlie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2016-09-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03124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Lucy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 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2014-08-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68770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Cooper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2011-12-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20332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2017-01-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68770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2015-04-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68770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2018-02-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717EF1B-FEAC-9A82-75E7-766CA7BD7F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5" dirty="0"/>
              <a:t>Exploring</a:t>
            </a:r>
            <a:r>
              <a:rPr spc="-165" dirty="0"/>
              <a:t> </a:t>
            </a:r>
            <a:r>
              <a:rPr spc="250" dirty="0"/>
              <a:t>a</a:t>
            </a:r>
            <a:r>
              <a:rPr spc="-160" dirty="0"/>
              <a:t> </a:t>
            </a:r>
            <a:r>
              <a:rPr spc="-10" dirty="0"/>
              <a:t>DataFrame:</a:t>
            </a:r>
            <a:r>
              <a:rPr spc="-160" dirty="0"/>
              <a:t> </a:t>
            </a:r>
            <a:r>
              <a:rPr spc="-10" dirty="0"/>
              <a:t>.head()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3275329"/>
          </a:xfrm>
          <a:custGeom>
            <a:avLst/>
            <a:gdLst/>
            <a:ahLst/>
            <a:cxnLst/>
            <a:rect l="l" t="t" r="r" b="b"/>
            <a:pathLst>
              <a:path w="14575155" h="3275329">
                <a:moveTo>
                  <a:pt x="14498413" y="3275262"/>
                </a:moveTo>
                <a:lnTo>
                  <a:pt x="76505" y="3275262"/>
                </a:lnTo>
                <a:lnTo>
                  <a:pt x="71180" y="3274738"/>
                </a:lnTo>
                <a:lnTo>
                  <a:pt x="31920" y="3258476"/>
                </a:lnTo>
                <a:lnTo>
                  <a:pt x="4175" y="3219748"/>
                </a:lnTo>
                <a:lnTo>
                  <a:pt x="0" y="3198757"/>
                </a:lnTo>
                <a:lnTo>
                  <a:pt x="0" y="319338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198757"/>
                </a:lnTo>
                <a:lnTo>
                  <a:pt x="14558132" y="3243341"/>
                </a:lnTo>
                <a:lnTo>
                  <a:pt x="14519404" y="3271086"/>
                </a:lnTo>
                <a:lnTo>
                  <a:pt x="14503737" y="3274737"/>
                </a:lnTo>
                <a:lnTo>
                  <a:pt x="14498413" y="327526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312039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(dogs.head())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32"/>
          <a:ext cx="11410311" cy="2809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4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5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335915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33591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85915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2013-07-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33591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51562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Charlie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2016-09-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33591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03124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Lucy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 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2014-08-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33591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68770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Cooper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2011-12-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33591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20332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2017-01-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218922A-0113-2192-F5F9-3BF082F1C1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9"/>
            <a:ext cx="792289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5" dirty="0"/>
              <a:t>Exploring</a:t>
            </a:r>
            <a:r>
              <a:rPr spc="-165" dirty="0"/>
              <a:t> </a:t>
            </a:r>
            <a:r>
              <a:rPr spc="250" dirty="0"/>
              <a:t>a</a:t>
            </a:r>
            <a:r>
              <a:rPr spc="-160" dirty="0"/>
              <a:t> </a:t>
            </a:r>
            <a:r>
              <a:rPr spc="-10" dirty="0"/>
              <a:t>DataFrame:</a:t>
            </a:r>
            <a:r>
              <a:rPr spc="-160" dirty="0"/>
              <a:t> </a:t>
            </a:r>
            <a:r>
              <a:rPr spc="-60" dirty="0"/>
              <a:t>.info()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6"/>
            <a:ext cx="14575155" cy="675640"/>
          </a:xfrm>
          <a:custGeom>
            <a:avLst/>
            <a:gdLst/>
            <a:ahLst/>
            <a:cxnLst/>
            <a:rect l="l" t="t" r="r" b="b"/>
            <a:pathLst>
              <a:path w="14575155" h="675639">
                <a:moveTo>
                  <a:pt x="14498413" y="675522"/>
                </a:moveTo>
                <a:lnTo>
                  <a:pt x="76505" y="675522"/>
                </a:lnTo>
                <a:lnTo>
                  <a:pt x="71180" y="674998"/>
                </a:lnTo>
                <a:lnTo>
                  <a:pt x="31920" y="658736"/>
                </a:lnTo>
                <a:lnTo>
                  <a:pt x="4175" y="620008"/>
                </a:lnTo>
                <a:lnTo>
                  <a:pt x="0" y="599017"/>
                </a:lnTo>
                <a:lnTo>
                  <a:pt x="0" y="59364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599017"/>
                </a:lnTo>
                <a:lnTo>
                  <a:pt x="14558132" y="643602"/>
                </a:lnTo>
                <a:lnTo>
                  <a:pt x="14519404" y="671347"/>
                </a:lnTo>
                <a:lnTo>
                  <a:pt x="14503737" y="674998"/>
                </a:lnTo>
                <a:lnTo>
                  <a:pt x="14498413" y="67552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087974"/>
            <a:ext cx="14575155" cy="5342890"/>
          </a:xfrm>
          <a:custGeom>
            <a:avLst/>
            <a:gdLst/>
            <a:ahLst/>
            <a:cxnLst/>
            <a:rect l="l" t="t" r="r" b="b"/>
            <a:pathLst>
              <a:path w="14575155" h="5342890">
                <a:moveTo>
                  <a:pt x="14498413" y="5342771"/>
                </a:moveTo>
                <a:lnTo>
                  <a:pt x="76505" y="5342771"/>
                </a:lnTo>
                <a:lnTo>
                  <a:pt x="71180" y="5342246"/>
                </a:lnTo>
                <a:lnTo>
                  <a:pt x="31920" y="5325985"/>
                </a:lnTo>
                <a:lnTo>
                  <a:pt x="4175" y="5287257"/>
                </a:lnTo>
                <a:lnTo>
                  <a:pt x="0" y="5266266"/>
                </a:lnTo>
                <a:lnTo>
                  <a:pt x="0" y="526089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5266266"/>
                </a:lnTo>
                <a:lnTo>
                  <a:pt x="14558132" y="5310851"/>
                </a:lnTo>
                <a:lnTo>
                  <a:pt x="14519404" y="5338595"/>
                </a:lnTo>
                <a:lnTo>
                  <a:pt x="14503737" y="5342246"/>
                </a:lnTo>
                <a:lnTo>
                  <a:pt x="14498413" y="534277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4205" y="1346118"/>
            <a:ext cx="259207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850" spc="-10" dirty="0">
                <a:solidFill>
                  <a:srgbClr val="04182D"/>
                </a:solidFill>
                <a:latin typeface="Monaco"/>
                <a:cs typeface="Monaco"/>
              </a:rPr>
              <a:t>(dogs.info())</a:t>
            </a:r>
            <a:endParaRPr sz="18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205" y="2143318"/>
            <a:ext cx="5301615" cy="803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&lt;class</a:t>
            </a:r>
            <a:r>
              <a:rPr sz="1850" spc="5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Monaco"/>
                <a:cs typeface="Monaco"/>
              </a:rPr>
              <a:t>'pandas.core.frame.DataFrame'&gt; 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RangeIndex:</a:t>
            </a:r>
            <a:r>
              <a:rPr sz="1850" spc="4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7</a:t>
            </a:r>
            <a:r>
              <a:rPr sz="1850" spc="4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entries,</a:t>
            </a:r>
            <a:r>
              <a:rPr sz="1850" spc="4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1850" spc="4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to</a:t>
            </a:r>
            <a:r>
              <a:rPr sz="1850" spc="4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Monaco"/>
                <a:cs typeface="Monaco"/>
              </a:rPr>
              <a:t>6</a:t>
            </a:r>
            <a:endParaRPr sz="1850">
              <a:latin typeface="Monaco"/>
              <a:cs typeface="Monac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95155" y="3044526"/>
          <a:ext cx="6052818" cy="3404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3260">
                <a:tc>
                  <a:txBody>
                    <a:bodyPr/>
                    <a:lstStyle/>
                    <a:p>
                      <a:pPr marL="31750">
                        <a:lnSpc>
                          <a:spcPts val="2185"/>
                        </a:lnSpc>
                      </a:pPr>
                      <a:r>
                        <a:rPr sz="18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Data</a:t>
                      </a:r>
                      <a:endParaRPr sz="1850">
                        <a:latin typeface="Monaco"/>
                        <a:cs typeface="Monaco"/>
                      </a:endParaRPr>
                    </a:p>
                    <a:p>
                      <a:pPr marL="17399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#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185"/>
                        </a:lnSpc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columns</a:t>
                      </a:r>
                      <a:endParaRPr sz="1850">
                        <a:latin typeface="Monaco"/>
                        <a:cs typeface="Monaco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Column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185"/>
                        </a:lnSpc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(total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ts val="2185"/>
                        </a:lnSpc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r>
                        <a:rPr sz="1850" spc="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columns):</a:t>
                      </a:r>
                      <a:endParaRPr sz="1850">
                        <a:latin typeface="Monaco"/>
                        <a:cs typeface="Monaco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Non-Null</a:t>
                      </a:r>
                      <a:r>
                        <a:rPr sz="1850" spc="6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Count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Dtype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1143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73990">
                        <a:lnSpc>
                          <a:spcPct val="100000"/>
                        </a:lnSpc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208279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sz="18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20827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20827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non-</a:t>
                      </a:r>
                      <a:r>
                        <a:rPr sz="18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null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20827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object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20827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non-</a:t>
                      </a:r>
                      <a:r>
                        <a:rPr sz="18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null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object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non-</a:t>
                      </a:r>
                      <a:r>
                        <a:rPr sz="18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null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object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non-</a:t>
                      </a:r>
                      <a:r>
                        <a:rPr sz="18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null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int64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non-</a:t>
                      </a:r>
                      <a:r>
                        <a:rPr sz="18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null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int64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non-</a:t>
                      </a:r>
                      <a:r>
                        <a:rPr sz="18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null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object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769494" y="3974636"/>
            <a:ext cx="285750" cy="0"/>
          </a:xfrm>
          <a:custGeom>
            <a:avLst/>
            <a:gdLst/>
            <a:ahLst/>
            <a:cxnLst/>
            <a:rect l="l" t="t" r="r" b="b"/>
            <a:pathLst>
              <a:path w="285750">
                <a:moveTo>
                  <a:pt x="0" y="0"/>
                </a:moveTo>
                <a:lnTo>
                  <a:pt x="285307" y="0"/>
                </a:lnTo>
              </a:path>
            </a:pathLst>
          </a:custGeom>
          <a:ln w="19029">
            <a:solidFill>
              <a:srgbClr val="FEFEF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39847" y="3974636"/>
            <a:ext cx="855980" cy="0"/>
          </a:xfrm>
          <a:custGeom>
            <a:avLst/>
            <a:gdLst/>
            <a:ahLst/>
            <a:cxnLst/>
            <a:rect l="l" t="t" r="r" b="b"/>
            <a:pathLst>
              <a:path w="855980">
                <a:moveTo>
                  <a:pt x="0" y="0"/>
                </a:moveTo>
                <a:lnTo>
                  <a:pt x="855661" y="0"/>
                </a:lnTo>
              </a:path>
            </a:pathLst>
          </a:custGeom>
          <a:ln w="19029">
            <a:solidFill>
              <a:srgbClr val="FEFEF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78673" y="3974636"/>
            <a:ext cx="1996439" cy="0"/>
          </a:xfrm>
          <a:custGeom>
            <a:avLst/>
            <a:gdLst/>
            <a:ahLst/>
            <a:cxnLst/>
            <a:rect l="l" t="t" r="r" b="b"/>
            <a:pathLst>
              <a:path w="1996439">
                <a:moveTo>
                  <a:pt x="0" y="0"/>
                </a:moveTo>
                <a:lnTo>
                  <a:pt x="1996368" y="0"/>
                </a:lnTo>
              </a:path>
            </a:pathLst>
          </a:custGeom>
          <a:ln w="19029">
            <a:solidFill>
              <a:srgbClr val="FEFEF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60087" y="3974636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4">
                <a:moveTo>
                  <a:pt x="0" y="0"/>
                </a:moveTo>
                <a:lnTo>
                  <a:pt x="713071" y="0"/>
                </a:lnTo>
              </a:path>
            </a:pathLst>
          </a:custGeom>
          <a:ln w="19029">
            <a:solidFill>
              <a:srgbClr val="FEFEF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4205" y="6421629"/>
            <a:ext cx="3876040" cy="803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dtypes:</a:t>
            </a:r>
            <a:r>
              <a:rPr sz="1850" spc="6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int64(2),</a:t>
            </a:r>
            <a:r>
              <a:rPr sz="1850" spc="6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Monaco"/>
                <a:cs typeface="Monaco"/>
              </a:rPr>
              <a:t>object(4) 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memory</a:t>
            </a:r>
            <a:r>
              <a:rPr sz="1850" spc="5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usage:</a:t>
            </a:r>
            <a:r>
              <a:rPr sz="1850" spc="5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464.0+</a:t>
            </a:r>
            <a:r>
              <a:rPr sz="1850" spc="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Monaco"/>
                <a:cs typeface="Monaco"/>
              </a:rPr>
              <a:t>bytes</a:t>
            </a:r>
            <a:endParaRPr sz="1850">
              <a:latin typeface="Monaco"/>
              <a:cs typeface="Monaco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C922147-3D91-6394-B3B1-EBA43496C0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9"/>
            <a:ext cx="817816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5" dirty="0"/>
              <a:t>Exploring</a:t>
            </a:r>
            <a:r>
              <a:rPr spc="-165" dirty="0"/>
              <a:t> </a:t>
            </a:r>
            <a:r>
              <a:rPr spc="250" dirty="0"/>
              <a:t>a</a:t>
            </a:r>
            <a:r>
              <a:rPr spc="-160" dirty="0"/>
              <a:t> </a:t>
            </a:r>
            <a:r>
              <a:rPr spc="-10" dirty="0"/>
              <a:t>DataFrame:</a:t>
            </a:r>
            <a:r>
              <a:rPr spc="-160" dirty="0"/>
              <a:t> </a:t>
            </a:r>
            <a:r>
              <a:rPr spc="-25" dirty="0"/>
              <a:t>.shape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6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66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0"/>
                </a:lnTo>
                <a:lnTo>
                  <a:pt x="0" y="742310"/>
                </a:lnTo>
                <a:lnTo>
                  <a:pt x="0" y="73693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0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1"/>
            <a:ext cx="294830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(dogs.shape)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2443741"/>
            <a:ext cx="105727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(7, 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6)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7AA2FB7-65F4-F0EB-F99E-38EEC390A0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5" dirty="0"/>
              <a:t>Exploring</a:t>
            </a:r>
            <a:r>
              <a:rPr spc="-165" dirty="0"/>
              <a:t> </a:t>
            </a:r>
            <a:r>
              <a:rPr spc="250" dirty="0"/>
              <a:t>a</a:t>
            </a:r>
            <a:r>
              <a:rPr spc="-160" dirty="0"/>
              <a:t> </a:t>
            </a:r>
            <a:r>
              <a:rPr spc="-10" dirty="0"/>
              <a:t>DataFrame:</a:t>
            </a:r>
            <a:r>
              <a:rPr spc="-160" dirty="0"/>
              <a:t> </a:t>
            </a:r>
            <a:r>
              <a:rPr spc="-60" dirty="0"/>
              <a:t>.describe()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4749165"/>
          </a:xfrm>
          <a:custGeom>
            <a:avLst/>
            <a:gdLst/>
            <a:ahLst/>
            <a:cxnLst/>
            <a:rect l="l" t="t" r="r" b="b"/>
            <a:pathLst>
              <a:path w="14575155" h="4749165">
                <a:moveTo>
                  <a:pt x="14498413" y="4749130"/>
                </a:moveTo>
                <a:lnTo>
                  <a:pt x="76505" y="4749130"/>
                </a:lnTo>
                <a:lnTo>
                  <a:pt x="71180" y="4748605"/>
                </a:lnTo>
                <a:lnTo>
                  <a:pt x="31920" y="4732343"/>
                </a:lnTo>
                <a:lnTo>
                  <a:pt x="4175" y="4693615"/>
                </a:lnTo>
                <a:lnTo>
                  <a:pt x="0" y="4672624"/>
                </a:lnTo>
                <a:lnTo>
                  <a:pt x="0" y="466724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672624"/>
                </a:lnTo>
                <a:lnTo>
                  <a:pt x="14558132" y="4717210"/>
                </a:lnTo>
                <a:lnTo>
                  <a:pt x="14519404" y="4744954"/>
                </a:lnTo>
                <a:lnTo>
                  <a:pt x="14503737" y="4748605"/>
                </a:lnTo>
                <a:lnTo>
                  <a:pt x="14498413" y="474913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380809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(dogs.describe())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4706619" cy="42818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count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mean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49.714286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27.428571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17.960274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22.292429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min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18.000000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25%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44.500000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19.500000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50%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49.000000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23.000000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75%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57.500000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27.000000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77.000000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F92A8DEE-DA3E-6C96-EA6B-34FD371460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Components</a:t>
            </a:r>
            <a:r>
              <a:rPr spc="-155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spc="250" dirty="0"/>
              <a:t>a</a:t>
            </a:r>
            <a:r>
              <a:rPr spc="-145" dirty="0"/>
              <a:t> </a:t>
            </a:r>
            <a:r>
              <a:rPr spc="-10" dirty="0"/>
              <a:t>DataFrame:</a:t>
            </a:r>
            <a:r>
              <a:rPr spc="-140" dirty="0"/>
              <a:t> </a:t>
            </a:r>
            <a:r>
              <a:rPr spc="-100" dirty="0"/>
              <a:t>.values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312039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(dogs.values)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2296360"/>
            <a:ext cx="11202670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864235" algn="r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array([['Bella', 'Labrador', 'Brown', 56, 24, '2013-07-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01'],</a:t>
            </a:r>
            <a:endParaRPr sz="2250">
              <a:latin typeface="Monaco"/>
              <a:cs typeface="Monaco"/>
            </a:endParaRPr>
          </a:p>
          <a:p>
            <a:pPr marR="864235" algn="r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['Charlie', 'Poodle', 'Black', 43, 24, '2016-09-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16'],</a:t>
            </a:r>
            <a:endParaRPr sz="2250">
              <a:latin typeface="Monaco"/>
              <a:cs typeface="Monaco"/>
            </a:endParaRPr>
          </a:p>
          <a:p>
            <a:pPr marR="864235" algn="r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['Lucy', 'Chow Chow', 'Brown', 46, 24, '2014-08-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25'],</a:t>
            </a:r>
            <a:endParaRPr sz="2250">
              <a:latin typeface="Monaco"/>
              <a:cs typeface="Monaco"/>
            </a:endParaRPr>
          </a:p>
          <a:p>
            <a:pPr marL="1216025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['Cooper', 'Schnauzer', 'Gray', 49, 17, '2011-12-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11'],</a:t>
            </a:r>
            <a:endParaRPr sz="2250">
              <a:latin typeface="Monaco"/>
              <a:cs typeface="Monaco"/>
            </a:endParaRPr>
          </a:p>
          <a:p>
            <a:pPr marL="1216025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['Max', 'Labrador', 'Black', 59, 29, '2017-01-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20'],</a:t>
            </a:r>
            <a:endParaRPr sz="2250">
              <a:latin typeface="Monaco"/>
              <a:cs typeface="Monaco"/>
            </a:endParaRPr>
          </a:p>
          <a:p>
            <a:pPr marL="1216025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['Stella', 'Chihuahua', 'Tan', 18, 2, '2015-04-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20'],</a:t>
            </a:r>
            <a:endParaRPr sz="2250">
              <a:latin typeface="Monaco"/>
              <a:cs typeface="Monaco"/>
            </a:endParaRPr>
          </a:p>
          <a:p>
            <a:pPr marL="1043940" marR="5080" indent="171450">
              <a:lnSpc>
                <a:spcPct val="143300"/>
              </a:lnSpc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['Bernie', 'St. Bernard', 'White', 77, 74, '2018-02-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27']], dtype=object)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0CD442C-ED83-4F4F-CE51-18DB374755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Components</a:t>
            </a:r>
            <a:r>
              <a:rPr spc="-140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250" dirty="0"/>
              <a:t>a</a:t>
            </a:r>
            <a:r>
              <a:rPr spc="-125" dirty="0"/>
              <a:t> </a:t>
            </a:r>
            <a:r>
              <a:rPr spc="-10" dirty="0"/>
              <a:t>DataFrame:</a:t>
            </a:r>
            <a:r>
              <a:rPr spc="-130" dirty="0"/>
              <a:t> </a:t>
            </a:r>
            <a:r>
              <a:rPr spc="-175" dirty="0"/>
              <a:t>.columns</a:t>
            </a:r>
            <a:r>
              <a:rPr spc="-130" dirty="0"/>
              <a:t> </a:t>
            </a:r>
            <a:r>
              <a:rPr dirty="0"/>
              <a:t>and</a:t>
            </a:r>
            <a:r>
              <a:rPr spc="-125" dirty="0"/>
              <a:t> </a:t>
            </a:r>
            <a:r>
              <a:rPr spc="-25" dirty="0"/>
              <a:t>.index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39">
                <a:moveTo>
                  <a:pt x="14498413" y="1310104"/>
                </a:moveTo>
                <a:lnTo>
                  <a:pt x="76505" y="1310104"/>
                </a:lnTo>
                <a:lnTo>
                  <a:pt x="71180" y="1309580"/>
                </a:lnTo>
                <a:lnTo>
                  <a:pt x="31920" y="1293317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9"/>
                </a:lnTo>
                <a:lnTo>
                  <a:pt x="14503737" y="1309580"/>
                </a:lnTo>
                <a:lnTo>
                  <a:pt x="14498413" y="131010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378702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289" y="485148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40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1379286"/>
            <a:ext cx="329247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(dogs.columns)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2296360"/>
            <a:ext cx="1309370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Index(['name', 'breed', 'color', 'height_cm', 'weight_kg',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'date_of_birth'], dtype='object')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352" y="3999496"/>
            <a:ext cx="174498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dogs.index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2352" y="5063957"/>
            <a:ext cx="604393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RangeIndex(start=0, stop=7,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step=1)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E64A4EBC-1CF8-FDF6-9F03-41A27C2A4D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" dirty="0"/>
              <a:t>pandas</a:t>
            </a:r>
            <a:r>
              <a:rPr spc="-220" dirty="0"/>
              <a:t> </a:t>
            </a:r>
            <a:r>
              <a:rPr spc="-165" dirty="0"/>
              <a:t>Philosophy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81915" cy="491490"/>
          </a:xfrm>
          <a:custGeom>
            <a:avLst/>
            <a:gdLst/>
            <a:ahLst/>
            <a:cxnLst/>
            <a:rect l="l" t="t" r="r" b="b"/>
            <a:pathLst>
              <a:path w="81915" h="491489">
                <a:moveTo>
                  <a:pt x="81881" y="491289"/>
                </a:moveTo>
                <a:lnTo>
                  <a:pt x="0" y="491289"/>
                </a:lnTo>
                <a:lnTo>
                  <a:pt x="0" y="0"/>
                </a:lnTo>
                <a:lnTo>
                  <a:pt x="81881" y="0"/>
                </a:lnTo>
                <a:lnTo>
                  <a:pt x="81881" y="491289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7997" y="1174582"/>
            <a:ext cx="10833100" cy="1239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There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should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--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preferably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only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--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obvious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Arial"/>
                <a:cs typeface="Arial"/>
              </a:rPr>
              <a:t>way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do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it.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55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-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Zen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105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Python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Arial"/>
                <a:cs typeface="Arial"/>
              </a:rPr>
              <a:t>by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Tim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Peters,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Item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13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4835" y="3062473"/>
            <a:ext cx="4223365" cy="31931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663" y="7499933"/>
            <a:ext cx="641159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517" baseline="26143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r>
              <a:rPr sz="2550" spc="292" baseline="26143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spc="114" dirty="0">
                <a:solidFill>
                  <a:srgbClr val="04182D"/>
                </a:solidFill>
                <a:latin typeface="Arial"/>
                <a:cs typeface="Arial"/>
              </a:rPr>
              <a:t>https://</a:t>
            </a:r>
            <a:r>
              <a:rPr sz="2250" spc="114" dirty="0">
                <a:solidFill>
                  <a:srgbClr val="04182D"/>
                </a:solidFill>
                <a:latin typeface="Arial"/>
                <a:cs typeface="Arial"/>
                <a:hlinkClick r:id="rId3"/>
              </a:rPr>
              <a:t>www.python.org/dev/peps/pep-</a:t>
            </a:r>
            <a:r>
              <a:rPr sz="2250" spc="165" dirty="0">
                <a:solidFill>
                  <a:srgbClr val="04182D"/>
                </a:solidFill>
                <a:latin typeface="Arial"/>
                <a:cs typeface="Arial"/>
                <a:hlinkClick r:id="rId3"/>
              </a:rPr>
              <a:t>0020/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C091FA9-056F-FD1C-31A0-2913E0B60A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5828" y="2157161"/>
            <a:ext cx="6205220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979169" marR="909955" algn="ctr">
              <a:lnSpc>
                <a:spcPts val="6770"/>
              </a:lnSpc>
              <a:spcBef>
                <a:spcPts val="1130"/>
              </a:spcBef>
            </a:pPr>
            <a:r>
              <a:rPr sz="6450" spc="-254" dirty="0"/>
              <a:t>Sorting</a:t>
            </a:r>
            <a:r>
              <a:rPr sz="6450" spc="-225" dirty="0"/>
              <a:t> </a:t>
            </a:r>
            <a:r>
              <a:rPr sz="6450" spc="-25" dirty="0"/>
              <a:t>and </a:t>
            </a:r>
            <a:r>
              <a:rPr sz="6450" spc="-265" dirty="0"/>
              <a:t>subsetting</a:t>
            </a:r>
            <a:endParaRPr sz="6450"/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1024890" algn="l"/>
                <a:tab pos="3806825" algn="l"/>
                <a:tab pos="4827270" algn="l"/>
              </a:tabLst>
            </a:pPr>
            <a:r>
              <a:rPr sz="2250" spc="100" dirty="0"/>
              <a:t>DATA</a:t>
            </a:r>
            <a:r>
              <a:rPr sz="2250" dirty="0"/>
              <a:t>	</a:t>
            </a:r>
            <a:r>
              <a:rPr sz="2250" spc="204" dirty="0"/>
              <a:t>M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120" dirty="0"/>
              <a:t>P</a:t>
            </a:r>
            <a:r>
              <a:rPr sz="2250" spc="-300" dirty="0"/>
              <a:t> </a:t>
            </a:r>
            <a:r>
              <a:rPr sz="2250" spc="-90" dirty="0"/>
              <a:t>U</a:t>
            </a:r>
            <a:r>
              <a:rPr sz="2250" spc="-295" dirty="0"/>
              <a:t> </a:t>
            </a:r>
            <a:r>
              <a:rPr sz="2250" spc="-185" dirty="0"/>
              <a:t>L</a:t>
            </a:r>
            <a:r>
              <a:rPr sz="2250" spc="-295" dirty="0"/>
              <a:t> </a:t>
            </a:r>
            <a:r>
              <a:rPr sz="2250" dirty="0"/>
              <a:t>AT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r>
              <a:rPr sz="2250" dirty="0"/>
              <a:t>	W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spc="-50" dirty="0"/>
              <a:t>H</a:t>
            </a:r>
            <a:r>
              <a:rPr sz="2250" dirty="0"/>
              <a:t>	PA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135" dirty="0"/>
              <a:t>DA</a:t>
            </a:r>
            <a:r>
              <a:rPr sz="2250" spc="-32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EE38ABC-E121-20F9-E0E8-F60BCE2157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5" dirty="0"/>
              <a:t>Sorting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0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61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74"/>
            <a:ext cx="501205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dogs.sort_values(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36225" y="2443735"/>
            <a:ext cx="39808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weight_kg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date_of_birth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352" y="2296348"/>
            <a:ext cx="1744980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043940">
              <a:lnSpc>
                <a:spcPct val="100000"/>
              </a:lnSpc>
              <a:spcBef>
                <a:spcPts val="12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name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5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Stella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3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Cooper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87185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Bella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528320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Charlie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1043940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Lucy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121602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4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Max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6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Bernie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05759" y="2296348"/>
            <a:ext cx="1917064" cy="395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marR="5080" indent="687705" algn="r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breed Chihuahua Schnauzer Labrador Poodle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Labrador</a:t>
            </a:r>
            <a:endParaRPr sz="22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St.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Bernard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1116" y="2296348"/>
            <a:ext cx="2776855" cy="395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marR="5080" indent="-344170">
              <a:lnSpc>
                <a:spcPct val="143300"/>
              </a:lnSpc>
              <a:spcBef>
                <a:spcPts val="95"/>
              </a:spcBef>
              <a:tabLst>
                <a:tab pos="1216025" algn="l"/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color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height_cm 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Tan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18</a:t>
            </a:r>
            <a:endParaRPr sz="2250">
              <a:latin typeface="Monaco"/>
              <a:cs typeface="Monaco"/>
            </a:endParaRPr>
          </a:p>
          <a:p>
            <a:pPr marL="18415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Gray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Brown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Black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43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Brown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Black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White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77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9879" y="2787637"/>
            <a:ext cx="369570" cy="346456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265"/>
              </a:spcBef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17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74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71583" y="2787637"/>
            <a:ext cx="1744980" cy="346456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2015-04-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2011-12-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11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2013-07-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01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2016-09-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2014-08-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25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2017-01-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2018-02-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AD466F4-F0BF-2ED8-1640-59B4B69813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727646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Sorting</a:t>
            </a:r>
            <a:r>
              <a:rPr spc="-180" dirty="0"/>
              <a:t> </a:t>
            </a:r>
            <a:r>
              <a:rPr spc="-55" dirty="0"/>
              <a:t>in</a:t>
            </a:r>
            <a:r>
              <a:rPr spc="-180" dirty="0"/>
              <a:t> </a:t>
            </a:r>
            <a:r>
              <a:rPr spc="-125" dirty="0"/>
              <a:t>descending</a:t>
            </a:r>
            <a:r>
              <a:rPr spc="-180" dirty="0"/>
              <a:t> </a:t>
            </a:r>
            <a:r>
              <a:rPr spc="-10" dirty="0"/>
              <a:t>order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0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61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74"/>
            <a:ext cx="7934959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dogs.sort_values(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ascending=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False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32"/>
          <a:ext cx="11414756" cy="37909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533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2018-02-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28270" marB="0"/>
                </a:tc>
                <a:tc gridSpan="2">
                  <a:txBody>
                    <a:bodyPr/>
                    <a:lstStyle/>
                    <a:p>
                      <a:pPr marL="6877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282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2017-01-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282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gridSpan="2">
                  <a:txBody>
                    <a:bodyPr/>
                    <a:lstStyle/>
                    <a:p>
                      <a:pPr marL="68770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2013-07-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Charlie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gridSpan="2">
                  <a:txBody>
                    <a:bodyPr/>
                    <a:lstStyle/>
                    <a:p>
                      <a:pPr marL="103124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2016-09-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Lucy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gridSpan="2">
                  <a:txBody>
                    <a:bodyPr/>
                    <a:lstStyle/>
                    <a:p>
                      <a:pPr marL="5156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 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2014-08-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Cooper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gridSpan="2">
                  <a:txBody>
                    <a:bodyPr/>
                    <a:lstStyle/>
                    <a:p>
                      <a:pPr marL="5156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2011-12-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gridSpan="2">
                  <a:txBody>
                    <a:bodyPr/>
                    <a:lstStyle/>
                    <a:p>
                      <a:pPr marL="5156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2015-04-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2BA6680-3963-2711-B9A4-E1488E8587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Sorting</a:t>
            </a:r>
            <a:r>
              <a:rPr spc="-145" dirty="0"/>
              <a:t> </a:t>
            </a:r>
            <a:r>
              <a:rPr dirty="0"/>
              <a:t>by</a:t>
            </a:r>
            <a:r>
              <a:rPr spc="-140" dirty="0"/>
              <a:t> </a:t>
            </a:r>
            <a:r>
              <a:rPr spc="-60" dirty="0"/>
              <a:t>multiple</a:t>
            </a:r>
            <a:r>
              <a:rPr spc="-145" dirty="0"/>
              <a:t> </a:t>
            </a:r>
            <a:r>
              <a:rPr spc="-45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0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61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74"/>
            <a:ext cx="759079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dogs.sort_values([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2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36225" y="2443735"/>
            <a:ext cx="39808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weight_kg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date_of_birth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352" y="2296348"/>
            <a:ext cx="1744980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043940">
              <a:lnSpc>
                <a:spcPct val="100000"/>
              </a:lnSpc>
              <a:spcBef>
                <a:spcPts val="12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name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5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Stella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3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Cooper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528320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Charlie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1043940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Lucy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87185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Bella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121602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4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Max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6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Bernie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05759" y="2296348"/>
            <a:ext cx="1917064" cy="395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marR="5080" indent="687705" algn="just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breed Chihuahua Schnauzer</a:t>
            </a:r>
            <a:endParaRPr sz="2250">
              <a:latin typeface="Monaco"/>
              <a:cs typeface="Monaco"/>
            </a:endParaRPr>
          </a:p>
          <a:p>
            <a:pPr marL="12700" marR="5080" indent="859155" algn="r">
              <a:lnSpc>
                <a:spcPct val="143300"/>
              </a:lnSpc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Poodle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Labrador Labrador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St.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Bernard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1116" y="2296348"/>
            <a:ext cx="2776855" cy="395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marR="5080" indent="-344170">
              <a:lnSpc>
                <a:spcPct val="143300"/>
              </a:lnSpc>
              <a:spcBef>
                <a:spcPts val="95"/>
              </a:spcBef>
              <a:tabLst>
                <a:tab pos="1216025" algn="l"/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color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height_cm 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Tan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18</a:t>
            </a:r>
            <a:endParaRPr sz="2250">
              <a:latin typeface="Monaco"/>
              <a:cs typeface="Monaco"/>
            </a:endParaRPr>
          </a:p>
          <a:p>
            <a:pPr marL="18415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Gray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Black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43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Brown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Brown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Black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White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77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9879" y="2787637"/>
            <a:ext cx="369570" cy="346456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265"/>
              </a:spcBef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17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74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71583" y="2787637"/>
            <a:ext cx="1744980" cy="346456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2015-04-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2011-12-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11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2016-09-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2014-08-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25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2013-07-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01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2017-01-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2018-02-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9EC5E6CC-76B0-8C19-56FC-054A5E55B0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Sorting</a:t>
            </a:r>
            <a:r>
              <a:rPr spc="-145" dirty="0"/>
              <a:t> </a:t>
            </a:r>
            <a:r>
              <a:rPr dirty="0"/>
              <a:t>by</a:t>
            </a:r>
            <a:r>
              <a:rPr spc="-140" dirty="0"/>
              <a:t> </a:t>
            </a:r>
            <a:r>
              <a:rPr spc="-60" dirty="0"/>
              <a:t>multiple</a:t>
            </a:r>
            <a:r>
              <a:rPr spc="-145" dirty="0"/>
              <a:t> </a:t>
            </a:r>
            <a:r>
              <a:rPr spc="-45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1188910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dogs.sort_values([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ascending=[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True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False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36225" y="2443747"/>
            <a:ext cx="39808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weight_kg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date_of_birth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352" y="2296360"/>
            <a:ext cx="1744980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043940">
              <a:lnSpc>
                <a:spcPct val="100000"/>
              </a:lnSpc>
              <a:spcBef>
                <a:spcPts val="12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name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5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Stella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3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Cooper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87185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Bella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1043940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Lucy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528320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Charlie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121602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4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Max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6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Bernie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05759" y="2296360"/>
            <a:ext cx="1917064" cy="395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marR="5080" indent="687705" algn="r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breed Chihuahua Schnauzer Labrador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Chow</a:t>
            </a:r>
            <a:endParaRPr sz="2250">
              <a:latin typeface="Monaco"/>
              <a:cs typeface="Monaco"/>
            </a:endParaRPr>
          </a:p>
          <a:p>
            <a:pPr marL="12700" marR="5080" indent="859155" algn="r">
              <a:lnSpc>
                <a:spcPct val="143300"/>
              </a:lnSpc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Poodle Labrador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St.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Bernard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1116" y="2296360"/>
            <a:ext cx="2776855" cy="395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marR="5080" indent="-344170">
              <a:lnSpc>
                <a:spcPct val="143300"/>
              </a:lnSpc>
              <a:spcBef>
                <a:spcPts val="95"/>
              </a:spcBef>
              <a:tabLst>
                <a:tab pos="1216025" algn="l"/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color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height_cm 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Tan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18</a:t>
            </a:r>
            <a:endParaRPr sz="2250">
              <a:latin typeface="Monaco"/>
              <a:cs typeface="Monaco"/>
            </a:endParaRPr>
          </a:p>
          <a:p>
            <a:pPr marL="18415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Gray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Brown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Brown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Black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43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Black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White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77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9879" y="2787649"/>
            <a:ext cx="369570" cy="346456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265"/>
              </a:spcBef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17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74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71583" y="2787649"/>
            <a:ext cx="1744980" cy="346456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2015-04-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2011-12-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11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2013-07-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01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2014-08-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25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2016-09-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2017-01-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2018-02-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8589" y="6644271"/>
            <a:ext cx="1369758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pandas</a:t>
            </a:r>
            <a:r>
              <a:rPr sz="2550" b="1" spc="15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with</a:t>
            </a:r>
            <a:r>
              <a:rPr sz="2550" b="1" spc="10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relevant</a:t>
            </a:r>
            <a:r>
              <a:rPr sz="2550" b="1" spc="15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values</a:t>
            </a:r>
            <a:r>
              <a:rPr sz="2550" b="1" spc="10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highlighted:</a:t>
            </a:r>
            <a:r>
              <a:rPr sz="2550" b="1" spc="15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Bella,</a:t>
            </a:r>
            <a:r>
              <a:rPr sz="2550" b="1" spc="10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Lucy</a:t>
            </a:r>
            <a:r>
              <a:rPr sz="2550" b="1" spc="15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and</a:t>
            </a:r>
            <a:r>
              <a:rPr sz="2550" b="1" spc="10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Charlie</a:t>
            </a:r>
            <a:r>
              <a:rPr sz="2550" b="1" spc="15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in</a:t>
            </a:r>
            <a:r>
              <a:rPr sz="2550" b="1" spc="15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descending</a:t>
            </a:r>
            <a:r>
              <a:rPr sz="2550" b="1" spc="10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order</a:t>
            </a:r>
            <a:r>
              <a:rPr sz="2550" b="1" spc="10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 </a:t>
            </a:r>
            <a:r>
              <a:rPr sz="2550" b="1" spc="25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by </a:t>
            </a:r>
            <a:r>
              <a:rPr sz="2550" b="1" spc="-10" dirty="0">
                <a:solidFill>
                  <a:srgbClr val="007BB5"/>
                </a:solidFill>
                <a:latin typeface="Arial"/>
                <a:cs typeface="Arial"/>
                <a:hlinkClick r:id="rId2"/>
              </a:rPr>
              <a:t>height</a:t>
            </a:r>
            <a:endParaRPr sz="2550">
              <a:latin typeface="Arial"/>
              <a:cs typeface="Arial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12578C0A-BA37-BA80-7CFC-6B24C3609F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Subsetting </a:t>
            </a:r>
            <a:r>
              <a:rPr spc="-145" dirty="0"/>
              <a:t>columns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2088514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"name"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4382770" cy="3790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L="31750" marR="3175">
                        <a:lnSpc>
                          <a:spcPts val="2640"/>
                        </a:lnSpc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Charlie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Lucy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Cooper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name,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dtype: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object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BB3E0F3-6747-63EE-6C4E-62BB2FA1A3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Subsetting</a:t>
            </a:r>
            <a:r>
              <a:rPr spc="-175" dirty="0"/>
              <a:t> </a:t>
            </a:r>
            <a:r>
              <a:rPr spc="-60" dirty="0"/>
              <a:t>multiple</a:t>
            </a:r>
            <a:r>
              <a:rPr spc="-204" dirty="0"/>
              <a:t> </a:t>
            </a:r>
            <a:r>
              <a:rPr spc="-125" dirty="0"/>
              <a:t>columns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7124065" cy="819150"/>
          </a:xfrm>
          <a:custGeom>
            <a:avLst/>
            <a:gdLst/>
            <a:ahLst/>
            <a:cxnLst/>
            <a:rect l="l" t="t" r="r" b="b"/>
            <a:pathLst>
              <a:path w="7124065" h="819150">
                <a:moveTo>
                  <a:pt x="7047191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742310"/>
                </a:lnTo>
                <a:lnTo>
                  <a:pt x="7106908" y="786895"/>
                </a:lnTo>
                <a:lnTo>
                  <a:pt x="7068182" y="814639"/>
                </a:lnTo>
                <a:lnTo>
                  <a:pt x="7052515" y="818291"/>
                </a:lnTo>
                <a:lnTo>
                  <a:pt x="7047191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7124065" cy="4258310"/>
          </a:xfrm>
          <a:custGeom>
            <a:avLst/>
            <a:gdLst/>
            <a:ahLst/>
            <a:cxnLst/>
            <a:rect l="l" t="t" r="r" b="b"/>
            <a:pathLst>
              <a:path w="7124065" h="4258310">
                <a:moveTo>
                  <a:pt x="7047191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4181336"/>
                </a:lnTo>
                <a:lnTo>
                  <a:pt x="7106908" y="4225920"/>
                </a:lnTo>
                <a:lnTo>
                  <a:pt x="7068182" y="4253664"/>
                </a:lnTo>
                <a:lnTo>
                  <a:pt x="7052515" y="4257315"/>
                </a:lnTo>
                <a:lnTo>
                  <a:pt x="7047191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483997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2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2296360"/>
            <a:ext cx="4324350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560195">
              <a:lnSpc>
                <a:spcPct val="100000"/>
              </a:lnSpc>
              <a:spcBef>
                <a:spcPts val="1265"/>
              </a:spcBef>
              <a:tabLst>
                <a:tab pos="276352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breed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height_cm</a:t>
            </a:r>
            <a:endParaRPr sz="2250">
              <a:latin typeface="Monaco"/>
              <a:cs typeface="Monaco"/>
            </a:endParaRPr>
          </a:p>
          <a:p>
            <a:pPr marL="1043940" indent="-1031240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1043940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Labrador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56</a:t>
            </a:r>
            <a:endParaRPr sz="2250">
              <a:latin typeface="Monaco"/>
              <a:cs typeface="Monaco"/>
            </a:endParaRPr>
          </a:p>
          <a:p>
            <a:pPr marL="1388110" indent="-1375410">
              <a:lnSpc>
                <a:spcPct val="100000"/>
              </a:lnSpc>
              <a:spcBef>
                <a:spcPts val="1165"/>
              </a:spcBef>
              <a:buAutoNum type="arabicPlain"/>
              <a:tabLst>
                <a:tab pos="1388110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Poodle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43</a:t>
            </a:r>
            <a:endParaRPr sz="2250">
              <a:latin typeface="Monaco"/>
              <a:cs typeface="Monaco"/>
            </a:endParaRPr>
          </a:p>
          <a:p>
            <a:pPr marL="871855" indent="-859155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871855" algn="l"/>
                <a:tab pos="3967479" algn="l"/>
              </a:tabLst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Chow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46</a:t>
            </a:r>
            <a:endParaRPr sz="2250">
              <a:latin typeface="Monaco"/>
              <a:cs typeface="Monaco"/>
            </a:endParaRPr>
          </a:p>
          <a:p>
            <a:pPr marL="871855" indent="-859155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871855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Schnauzer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49</a:t>
            </a:r>
            <a:endParaRPr sz="2250">
              <a:latin typeface="Monaco"/>
              <a:cs typeface="Monaco"/>
            </a:endParaRPr>
          </a:p>
          <a:p>
            <a:pPr marL="1043940" indent="-1031240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1043940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Labrador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59</a:t>
            </a:r>
            <a:endParaRPr sz="2250">
              <a:latin typeface="Monaco"/>
              <a:cs typeface="Monaco"/>
            </a:endParaRPr>
          </a:p>
          <a:p>
            <a:pPr marL="871855" indent="-859155">
              <a:lnSpc>
                <a:spcPct val="100000"/>
              </a:lnSpc>
              <a:spcBef>
                <a:spcPts val="1165"/>
              </a:spcBef>
              <a:buAutoNum type="arabicPlain"/>
              <a:tabLst>
                <a:tab pos="871855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Chihuahua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18</a:t>
            </a:r>
            <a:endParaRPr sz="2250">
              <a:latin typeface="Monaco"/>
              <a:cs typeface="Monaco"/>
            </a:endParaRPr>
          </a:p>
          <a:p>
            <a:pPr marL="528320" indent="-515620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528320" algn="l"/>
                <a:tab pos="3967479" algn="l"/>
              </a:tabLst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St.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Bernard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77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42512" y="1166812"/>
            <a:ext cx="7124065" cy="1310640"/>
          </a:xfrm>
          <a:custGeom>
            <a:avLst/>
            <a:gdLst/>
            <a:ahLst/>
            <a:cxnLst/>
            <a:rect l="l" t="t" r="r" b="b"/>
            <a:pathLst>
              <a:path w="7124065" h="1310639">
                <a:moveTo>
                  <a:pt x="7047191" y="1310105"/>
                </a:moveTo>
                <a:lnTo>
                  <a:pt x="76504" y="1310105"/>
                </a:lnTo>
                <a:lnTo>
                  <a:pt x="71179" y="1309580"/>
                </a:lnTo>
                <a:lnTo>
                  <a:pt x="31919" y="1293318"/>
                </a:lnTo>
                <a:lnTo>
                  <a:pt x="4174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1233599"/>
                </a:lnTo>
                <a:lnTo>
                  <a:pt x="7106909" y="1278184"/>
                </a:lnTo>
                <a:lnTo>
                  <a:pt x="7068181" y="1305929"/>
                </a:lnTo>
                <a:lnTo>
                  <a:pt x="7052515" y="1309580"/>
                </a:lnTo>
                <a:lnTo>
                  <a:pt x="7047191" y="13101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42512" y="2722562"/>
            <a:ext cx="7124065" cy="4258310"/>
          </a:xfrm>
          <a:custGeom>
            <a:avLst/>
            <a:gdLst/>
            <a:ahLst/>
            <a:cxnLst/>
            <a:rect l="l" t="t" r="r" b="b"/>
            <a:pathLst>
              <a:path w="7124065" h="4258309">
                <a:moveTo>
                  <a:pt x="7047191" y="4257840"/>
                </a:moveTo>
                <a:lnTo>
                  <a:pt x="76504" y="4257840"/>
                </a:lnTo>
                <a:lnTo>
                  <a:pt x="71179" y="4257316"/>
                </a:lnTo>
                <a:lnTo>
                  <a:pt x="31919" y="4241054"/>
                </a:lnTo>
                <a:lnTo>
                  <a:pt x="4174" y="4202326"/>
                </a:lnTo>
                <a:lnTo>
                  <a:pt x="0" y="4181335"/>
                </a:lnTo>
                <a:lnTo>
                  <a:pt x="0" y="4175960"/>
                </a:lnTo>
                <a:lnTo>
                  <a:pt x="0" y="76505"/>
                </a:lnTo>
                <a:lnTo>
                  <a:pt x="16785" y="31919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4181335"/>
                </a:lnTo>
                <a:lnTo>
                  <a:pt x="7106909" y="4225920"/>
                </a:lnTo>
                <a:lnTo>
                  <a:pt x="7068181" y="4253664"/>
                </a:lnTo>
                <a:lnTo>
                  <a:pt x="7052515" y="4257316"/>
                </a:lnTo>
                <a:lnTo>
                  <a:pt x="7047191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93574" y="1231899"/>
            <a:ext cx="673100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cols_to_subset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 dogs[cols_to_subset]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3574" y="2787649"/>
            <a:ext cx="4324350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560195">
              <a:lnSpc>
                <a:spcPct val="100000"/>
              </a:lnSpc>
              <a:spcBef>
                <a:spcPts val="1265"/>
              </a:spcBef>
              <a:tabLst>
                <a:tab pos="276352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breed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height_cm</a:t>
            </a:r>
            <a:endParaRPr sz="2250">
              <a:latin typeface="Monaco"/>
              <a:cs typeface="Monaco"/>
            </a:endParaRPr>
          </a:p>
          <a:p>
            <a:pPr marL="1043940" indent="-1031240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1043940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Labrador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56</a:t>
            </a:r>
            <a:endParaRPr sz="2250">
              <a:latin typeface="Monaco"/>
              <a:cs typeface="Monaco"/>
            </a:endParaRPr>
          </a:p>
          <a:p>
            <a:pPr marL="1388110" indent="-1375410">
              <a:lnSpc>
                <a:spcPct val="100000"/>
              </a:lnSpc>
              <a:spcBef>
                <a:spcPts val="1165"/>
              </a:spcBef>
              <a:buAutoNum type="arabicPlain"/>
              <a:tabLst>
                <a:tab pos="1388110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Poodle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43</a:t>
            </a:r>
            <a:endParaRPr sz="2250">
              <a:latin typeface="Monaco"/>
              <a:cs typeface="Monaco"/>
            </a:endParaRPr>
          </a:p>
          <a:p>
            <a:pPr marL="871855" indent="-859155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871855" algn="l"/>
                <a:tab pos="3967479" algn="l"/>
              </a:tabLst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Chow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46</a:t>
            </a:r>
            <a:endParaRPr sz="2250">
              <a:latin typeface="Monaco"/>
              <a:cs typeface="Monaco"/>
            </a:endParaRPr>
          </a:p>
          <a:p>
            <a:pPr marL="871855" indent="-859155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871855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Schnauzer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49</a:t>
            </a:r>
            <a:endParaRPr sz="2250">
              <a:latin typeface="Monaco"/>
              <a:cs typeface="Monaco"/>
            </a:endParaRPr>
          </a:p>
          <a:p>
            <a:pPr marL="1043940" indent="-1031240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1043940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Labrador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59</a:t>
            </a:r>
            <a:endParaRPr sz="2250">
              <a:latin typeface="Monaco"/>
              <a:cs typeface="Monaco"/>
            </a:endParaRPr>
          </a:p>
          <a:p>
            <a:pPr marL="871855" indent="-859155">
              <a:lnSpc>
                <a:spcPct val="100000"/>
              </a:lnSpc>
              <a:spcBef>
                <a:spcPts val="1165"/>
              </a:spcBef>
              <a:buAutoNum type="arabicPlain"/>
              <a:tabLst>
                <a:tab pos="871855" algn="l"/>
                <a:tab pos="3967479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Chihuahua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18</a:t>
            </a:r>
            <a:endParaRPr sz="2250">
              <a:latin typeface="Monaco"/>
              <a:cs typeface="Monaco"/>
            </a:endParaRPr>
          </a:p>
          <a:p>
            <a:pPr marL="528320" indent="-515620">
              <a:lnSpc>
                <a:spcPct val="100000"/>
              </a:lnSpc>
              <a:spcBef>
                <a:spcPts val="1170"/>
              </a:spcBef>
              <a:buAutoNum type="arabicPlain"/>
              <a:tabLst>
                <a:tab pos="528320" algn="l"/>
                <a:tab pos="3967479" algn="l"/>
              </a:tabLst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St.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Bernard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77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41EFF351-EB57-FAA0-2776-71976415C9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421703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Subsetting </a:t>
            </a:r>
            <a:r>
              <a:rPr spc="-110" dirty="0"/>
              <a:t>rows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380809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&gt;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25" dirty="0">
                <a:solidFill>
                  <a:srgbClr val="BE2F72"/>
                </a:solidFill>
                <a:latin typeface="Monaco"/>
                <a:cs typeface="Monaco"/>
              </a:rPr>
              <a:t>50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4886958" cy="3790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7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L="31750" marR="3175">
                        <a:lnSpc>
                          <a:spcPts val="2640"/>
                        </a:lnSpc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True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False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False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False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True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False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True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height_cm,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dtype: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bool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183D2FF-D3AD-C365-C863-D18F571351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909"/>
            <a:ext cx="421703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Subsetting </a:t>
            </a:r>
            <a:r>
              <a:rPr spc="-110" dirty="0"/>
              <a:t>rows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36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96"/>
            <a:ext cx="14575155" cy="2292985"/>
          </a:xfrm>
          <a:custGeom>
            <a:avLst/>
            <a:gdLst/>
            <a:ahLst/>
            <a:cxnLst/>
            <a:rect l="l" t="t" r="r" b="b"/>
            <a:pathLst>
              <a:path w="14575155" h="2292985">
                <a:moveTo>
                  <a:pt x="14498413" y="2292683"/>
                </a:moveTo>
                <a:lnTo>
                  <a:pt x="76505" y="2292683"/>
                </a:lnTo>
                <a:lnTo>
                  <a:pt x="71180" y="2292159"/>
                </a:lnTo>
                <a:lnTo>
                  <a:pt x="31920" y="2275897"/>
                </a:lnTo>
                <a:lnTo>
                  <a:pt x="4175" y="2237169"/>
                </a:lnTo>
                <a:lnTo>
                  <a:pt x="0" y="2216178"/>
                </a:lnTo>
                <a:lnTo>
                  <a:pt x="0" y="2210802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216178"/>
                </a:lnTo>
                <a:lnTo>
                  <a:pt x="14558132" y="2260763"/>
                </a:lnTo>
                <a:lnTo>
                  <a:pt x="14519404" y="2288508"/>
                </a:lnTo>
                <a:lnTo>
                  <a:pt x="14503737" y="2292159"/>
                </a:lnTo>
                <a:lnTo>
                  <a:pt x="14498413" y="229268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310"/>
            <a:ext cx="483933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&gt;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25" dirty="0">
                <a:solidFill>
                  <a:srgbClr val="BE2F72"/>
                </a:solidFill>
                <a:latin typeface="Monaco"/>
                <a:cs typeface="Monaco"/>
              </a:rPr>
              <a:t>50</a:t>
            </a:r>
            <a:r>
              <a:rPr sz="2250" spc="-25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68"/>
          <a:ext cx="11242673" cy="18275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533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2013-07-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2017-01-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2018-02-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1CB1425-2658-2512-5FE6-FF9E48883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Subsetting</a:t>
            </a:r>
            <a:r>
              <a:rPr spc="-185" dirty="0"/>
              <a:t> </a:t>
            </a:r>
            <a:r>
              <a:rPr spc="-45" dirty="0"/>
              <a:t>based</a:t>
            </a:r>
            <a:r>
              <a:rPr spc="-170" dirty="0"/>
              <a:t> </a:t>
            </a:r>
            <a:r>
              <a:rPr spc="-110" dirty="0"/>
              <a:t>on</a:t>
            </a:r>
            <a:r>
              <a:rPr spc="-170" dirty="0"/>
              <a:t> </a:t>
            </a:r>
            <a:r>
              <a:rPr dirty="0"/>
              <a:t>text</a:t>
            </a:r>
            <a:r>
              <a:rPr spc="-170" dirty="0"/>
              <a:t> </a:t>
            </a:r>
            <a:r>
              <a:rPr spc="75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1801495"/>
          </a:xfrm>
          <a:custGeom>
            <a:avLst/>
            <a:gdLst/>
            <a:ahLst/>
            <a:cxnLst/>
            <a:rect l="l" t="t" r="r" b="b"/>
            <a:pathLst>
              <a:path w="14575155" h="1801495">
                <a:moveTo>
                  <a:pt x="14498413" y="1801393"/>
                </a:moveTo>
                <a:lnTo>
                  <a:pt x="76505" y="1801393"/>
                </a:lnTo>
                <a:lnTo>
                  <a:pt x="71180" y="1800869"/>
                </a:lnTo>
                <a:lnTo>
                  <a:pt x="31920" y="1784607"/>
                </a:lnTo>
                <a:lnTo>
                  <a:pt x="4175" y="1745879"/>
                </a:lnTo>
                <a:lnTo>
                  <a:pt x="0" y="1724888"/>
                </a:lnTo>
                <a:lnTo>
                  <a:pt x="0" y="1719512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724888"/>
                </a:lnTo>
                <a:lnTo>
                  <a:pt x="14558132" y="1769473"/>
                </a:lnTo>
                <a:lnTo>
                  <a:pt x="14519404" y="1797218"/>
                </a:lnTo>
                <a:lnTo>
                  <a:pt x="14503737" y="1800869"/>
                </a:lnTo>
                <a:lnTo>
                  <a:pt x="14498413" y="180139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56991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"Labrador"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11238862" cy="1336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5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164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42164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2013-07-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42164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2017-01-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7588892-2B77-BD4A-BD43-E87F60C5D1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Subsetting</a:t>
            </a:r>
            <a:r>
              <a:rPr spc="-185" dirty="0"/>
              <a:t> </a:t>
            </a:r>
            <a:r>
              <a:rPr spc="-45" dirty="0"/>
              <a:t>based</a:t>
            </a:r>
            <a:r>
              <a:rPr spc="-204" dirty="0"/>
              <a:t> </a:t>
            </a:r>
            <a:r>
              <a:rPr spc="-110" dirty="0"/>
              <a:t>on</a:t>
            </a:r>
            <a:r>
              <a:rPr spc="-185" dirty="0"/>
              <a:t> </a:t>
            </a:r>
            <a:r>
              <a:rPr spc="-10" dirty="0"/>
              <a:t>dates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2292985"/>
          </a:xfrm>
          <a:custGeom>
            <a:avLst/>
            <a:gdLst/>
            <a:ahLst/>
            <a:cxnLst/>
            <a:rect l="l" t="t" r="r" b="b"/>
            <a:pathLst>
              <a:path w="14575155" h="2292985">
                <a:moveTo>
                  <a:pt x="14498413" y="2292683"/>
                </a:moveTo>
                <a:lnTo>
                  <a:pt x="76505" y="2292683"/>
                </a:lnTo>
                <a:lnTo>
                  <a:pt x="71180" y="2292159"/>
                </a:lnTo>
                <a:lnTo>
                  <a:pt x="31920" y="2275897"/>
                </a:lnTo>
                <a:lnTo>
                  <a:pt x="4175" y="2237169"/>
                </a:lnTo>
                <a:lnTo>
                  <a:pt x="0" y="2216178"/>
                </a:lnTo>
                <a:lnTo>
                  <a:pt x="0" y="2210802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216178"/>
                </a:lnTo>
                <a:lnTo>
                  <a:pt x="14558132" y="2260763"/>
                </a:lnTo>
                <a:lnTo>
                  <a:pt x="14519404" y="2288508"/>
                </a:lnTo>
                <a:lnTo>
                  <a:pt x="14503737" y="2292159"/>
                </a:lnTo>
                <a:lnTo>
                  <a:pt x="14498413" y="229268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724662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"date_of_birth"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&lt;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"2015-01-</a:t>
            </a:r>
            <a:r>
              <a:rPr sz="2250" spc="-20" dirty="0">
                <a:solidFill>
                  <a:srgbClr val="BE2F72"/>
                </a:solidFill>
                <a:latin typeface="Monaco"/>
                <a:cs typeface="Monaco"/>
              </a:rPr>
              <a:t>01"</a:t>
            </a:r>
            <a:r>
              <a:rPr sz="2250" spc="-2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20374" y="2443747"/>
            <a:ext cx="39808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weight_kg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date_of_birth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352" y="2296360"/>
            <a:ext cx="1573530" cy="199072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871855">
              <a:lnSpc>
                <a:spcPct val="100000"/>
              </a:lnSpc>
              <a:spcBef>
                <a:spcPts val="12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name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Bella</a:t>
            </a:r>
            <a:endParaRPr sz="2250">
              <a:latin typeface="Monaco"/>
              <a:cs typeface="Monaco"/>
            </a:endParaRPr>
          </a:p>
          <a:p>
            <a:pPr marL="871855" indent="-859155">
              <a:lnSpc>
                <a:spcPct val="100000"/>
              </a:lnSpc>
              <a:spcBef>
                <a:spcPts val="1165"/>
              </a:spcBef>
              <a:buAutoNum type="arabicPlain" startAt="2"/>
              <a:tabLst>
                <a:tab pos="871855" algn="l"/>
              </a:tabLst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Lucy</a:t>
            </a:r>
            <a:endParaRPr sz="2250">
              <a:latin typeface="Monaco"/>
              <a:cs typeface="Monaco"/>
            </a:endParaRPr>
          </a:p>
          <a:p>
            <a:pPr marL="528320" indent="-515620">
              <a:lnSpc>
                <a:spcPct val="100000"/>
              </a:lnSpc>
              <a:spcBef>
                <a:spcPts val="1170"/>
              </a:spcBef>
              <a:buAutoNum type="arabicPlain" startAt="2"/>
              <a:tabLst>
                <a:tab pos="52832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Cooper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3808" y="2296360"/>
            <a:ext cx="1573530" cy="1990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87705" algn="r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breed Labrador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Schnauzer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5264" y="2296360"/>
            <a:ext cx="2776855" cy="1990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  <a:tabLst>
                <a:tab pos="1216025" algn="l"/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color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height_cm Brown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56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Brown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46</a:t>
            </a:r>
            <a:endParaRPr sz="2250">
              <a:latin typeface="Monaco"/>
              <a:cs typeface="Monaco"/>
            </a:endParaRPr>
          </a:p>
          <a:p>
            <a:pPr marL="184150">
              <a:lnSpc>
                <a:spcPct val="100000"/>
              </a:lnSpc>
              <a:spcBef>
                <a:spcPts val="1170"/>
              </a:spcBef>
              <a:tabLst>
                <a:tab pos="2419350" algn="l"/>
              </a:tabLst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Gray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49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24027" y="2787649"/>
            <a:ext cx="369570" cy="149987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55731" y="2787649"/>
            <a:ext cx="1744980" cy="149987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2013-07-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01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2014-08-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25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2011-12-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11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CA6139DA-73F8-4DEB-B00E-C0A550D8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Subsetting</a:t>
            </a:r>
            <a:r>
              <a:rPr spc="-175" dirty="0"/>
              <a:t> </a:t>
            </a:r>
            <a:r>
              <a:rPr spc="-45" dirty="0"/>
              <a:t>based</a:t>
            </a:r>
            <a:r>
              <a:rPr spc="-229" dirty="0"/>
              <a:t> </a:t>
            </a:r>
            <a:r>
              <a:rPr spc="-110" dirty="0"/>
              <a:t>on</a:t>
            </a:r>
            <a:r>
              <a:rPr spc="-204" dirty="0"/>
              <a:t> </a:t>
            </a:r>
            <a:r>
              <a:rPr spc="-60" dirty="0"/>
              <a:t>multiple</a:t>
            </a:r>
            <a:r>
              <a:rPr spc="-200" dirty="0"/>
              <a:t> </a:t>
            </a:r>
            <a:r>
              <a:rPr spc="-105" dirty="0"/>
              <a:t>conditions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1801495"/>
          </a:xfrm>
          <a:custGeom>
            <a:avLst/>
            <a:gdLst/>
            <a:ahLst/>
            <a:cxnLst/>
            <a:rect l="l" t="t" r="r" b="b"/>
            <a:pathLst>
              <a:path w="14575155" h="1801495">
                <a:moveTo>
                  <a:pt x="14498413" y="1801394"/>
                </a:moveTo>
                <a:lnTo>
                  <a:pt x="76505" y="1801394"/>
                </a:lnTo>
                <a:lnTo>
                  <a:pt x="71180" y="1800869"/>
                </a:lnTo>
                <a:lnTo>
                  <a:pt x="31920" y="1784607"/>
                </a:lnTo>
                <a:lnTo>
                  <a:pt x="4175" y="1745879"/>
                </a:lnTo>
                <a:lnTo>
                  <a:pt x="0" y="1724888"/>
                </a:lnTo>
                <a:lnTo>
                  <a:pt x="0" y="171951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724888"/>
                </a:lnTo>
                <a:lnTo>
                  <a:pt x="14558132" y="1769473"/>
                </a:lnTo>
                <a:lnTo>
                  <a:pt x="14519404" y="1797218"/>
                </a:lnTo>
                <a:lnTo>
                  <a:pt x="14503737" y="1800869"/>
                </a:lnTo>
                <a:lnTo>
                  <a:pt x="14498413" y="180139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3213851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39">
                <a:moveTo>
                  <a:pt x="14498413" y="1310104"/>
                </a:moveTo>
                <a:lnTo>
                  <a:pt x="76505" y="1310104"/>
                </a:lnTo>
                <a:lnTo>
                  <a:pt x="71180" y="1309580"/>
                </a:lnTo>
                <a:lnTo>
                  <a:pt x="31920" y="1293318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9"/>
                </a:lnTo>
                <a:lnTo>
                  <a:pt x="14503737" y="1309580"/>
                </a:lnTo>
                <a:lnTo>
                  <a:pt x="14498413" y="131010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4769601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9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2352" y="1231899"/>
            <a:ext cx="6215380" cy="1499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is_lab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"Labrador"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is_brown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"Brown"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dogs[is_lab &amp;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is_brown]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3302" y="3447623"/>
          <a:ext cx="11238862" cy="845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5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164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42164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2013-07-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42352" y="4982075"/>
            <a:ext cx="1137285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(dogs[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"Labrador"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) &amp;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(dogs[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"Brown"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) </a:t>
            </a:r>
            <a:r>
              <a:rPr sz="2250" spc="-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AB958FA-6BD4-D142-681A-06D831A6AF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89470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Subsetting</a:t>
            </a:r>
            <a:r>
              <a:rPr spc="-105" dirty="0"/>
              <a:t> </a:t>
            </a:r>
            <a:r>
              <a:rPr spc="-210" dirty="0"/>
              <a:t>using</a:t>
            </a:r>
            <a:r>
              <a:rPr spc="-100" dirty="0"/>
              <a:t> </a:t>
            </a:r>
            <a:r>
              <a:rPr spc="-125" dirty="0"/>
              <a:t>.isin()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39">
                <a:moveTo>
                  <a:pt x="14498413" y="1310105"/>
                </a:moveTo>
                <a:lnTo>
                  <a:pt x="76505" y="1310105"/>
                </a:lnTo>
                <a:lnTo>
                  <a:pt x="71180" y="1309580"/>
                </a:lnTo>
                <a:lnTo>
                  <a:pt x="31920" y="1293318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9"/>
                </a:lnTo>
                <a:lnTo>
                  <a:pt x="14503737" y="1309580"/>
                </a:lnTo>
                <a:lnTo>
                  <a:pt x="14498413" y="13101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722562"/>
            <a:ext cx="14575155" cy="2784475"/>
          </a:xfrm>
          <a:custGeom>
            <a:avLst/>
            <a:gdLst/>
            <a:ahLst/>
            <a:cxnLst/>
            <a:rect l="l" t="t" r="r" b="b"/>
            <a:pathLst>
              <a:path w="14575155" h="2784475">
                <a:moveTo>
                  <a:pt x="14498413" y="2783973"/>
                </a:moveTo>
                <a:lnTo>
                  <a:pt x="76505" y="2783973"/>
                </a:lnTo>
                <a:lnTo>
                  <a:pt x="71180" y="2783449"/>
                </a:lnTo>
                <a:lnTo>
                  <a:pt x="31920" y="2767186"/>
                </a:lnTo>
                <a:lnTo>
                  <a:pt x="4175" y="2728458"/>
                </a:lnTo>
                <a:lnTo>
                  <a:pt x="0" y="2707468"/>
                </a:lnTo>
                <a:lnTo>
                  <a:pt x="0" y="270209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707468"/>
                </a:lnTo>
                <a:lnTo>
                  <a:pt x="14558132" y="2752052"/>
                </a:lnTo>
                <a:lnTo>
                  <a:pt x="14519404" y="2779797"/>
                </a:lnTo>
                <a:lnTo>
                  <a:pt x="14503737" y="2783448"/>
                </a:lnTo>
                <a:lnTo>
                  <a:pt x="14498413" y="278397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999807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is_black_or_brown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].isin([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"Black"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"Brown"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]) dogs[is_black_or_brown]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956334"/>
          <a:ext cx="11069950" cy="23183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3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5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3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85915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2013-07-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51562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Charlie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2016-09-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03124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Lucy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 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2014-08-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20332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2017-01-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20A40FA-2131-378B-00AE-B324504272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5828" y="2236119"/>
            <a:ext cx="6205220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2860"/>
              </a:spcBef>
            </a:pPr>
            <a:r>
              <a:rPr sz="6450" dirty="0"/>
              <a:t>New</a:t>
            </a:r>
            <a:r>
              <a:rPr sz="6450" spc="-180" dirty="0"/>
              <a:t> </a:t>
            </a:r>
            <a:r>
              <a:rPr sz="6450" spc="-330" dirty="0"/>
              <a:t>columns</a:t>
            </a:r>
            <a:endParaRPr sz="6450"/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1024890" algn="l"/>
                <a:tab pos="3806825" algn="l"/>
                <a:tab pos="4827270" algn="l"/>
              </a:tabLst>
            </a:pPr>
            <a:r>
              <a:rPr sz="2250" spc="100" dirty="0"/>
              <a:t>DATA</a:t>
            </a:r>
            <a:r>
              <a:rPr sz="2250" dirty="0"/>
              <a:t>	</a:t>
            </a:r>
            <a:r>
              <a:rPr sz="2250" spc="204" dirty="0"/>
              <a:t>M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120" dirty="0"/>
              <a:t>P</a:t>
            </a:r>
            <a:r>
              <a:rPr sz="2250" spc="-300" dirty="0"/>
              <a:t> </a:t>
            </a:r>
            <a:r>
              <a:rPr sz="2250" spc="-90" dirty="0"/>
              <a:t>U</a:t>
            </a:r>
            <a:r>
              <a:rPr sz="2250" spc="-295" dirty="0"/>
              <a:t> </a:t>
            </a:r>
            <a:r>
              <a:rPr sz="2250" spc="-185" dirty="0"/>
              <a:t>L</a:t>
            </a:r>
            <a:r>
              <a:rPr sz="2250" spc="-295" dirty="0"/>
              <a:t> </a:t>
            </a:r>
            <a:r>
              <a:rPr sz="2250" dirty="0"/>
              <a:t>AT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r>
              <a:rPr sz="2250" dirty="0"/>
              <a:t>	W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spc="-50" dirty="0"/>
              <a:t>H</a:t>
            </a:r>
            <a:r>
              <a:rPr sz="2250" dirty="0"/>
              <a:t>	PA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135" dirty="0"/>
              <a:t>DA</a:t>
            </a:r>
            <a:r>
              <a:rPr sz="2250" spc="-32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07924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-20" dirty="0">
                <a:solidFill>
                  <a:srgbClr val="FFFFFF"/>
                </a:solidFill>
                <a:latin typeface="Arial"/>
                <a:cs typeface="Arial"/>
              </a:rPr>
              <a:t>Richie</a:t>
            </a:r>
            <a:r>
              <a:rPr sz="255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Cotton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Evangelist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 at</a:t>
            </a:r>
            <a:r>
              <a:rPr sz="225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00" dirty="0">
                <a:solidFill>
                  <a:srgbClr val="FFFFFF"/>
                </a:solidFill>
                <a:latin typeface="Arial"/>
                <a:cs typeface="Arial"/>
              </a:rPr>
              <a:t>DataCamp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F3A919B3-423E-20D2-7212-66A63A5339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75564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5" dirty="0"/>
              <a:t>Adding</a:t>
            </a:r>
            <a:r>
              <a:rPr spc="-165" dirty="0"/>
              <a:t> </a:t>
            </a:r>
            <a:r>
              <a:rPr spc="250" dirty="0"/>
              <a:t>a</a:t>
            </a:r>
            <a:r>
              <a:rPr spc="-160" dirty="0"/>
              <a:t> </a:t>
            </a:r>
            <a:r>
              <a:rPr dirty="0"/>
              <a:t>new</a:t>
            </a:r>
            <a:r>
              <a:rPr spc="-160" dirty="0"/>
              <a:t> </a:t>
            </a:r>
            <a:r>
              <a:rPr spc="-85" dirty="0"/>
              <a:t>column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39">
                <a:moveTo>
                  <a:pt x="14498413" y="1310105"/>
                </a:moveTo>
                <a:lnTo>
                  <a:pt x="76505" y="1310105"/>
                </a:lnTo>
                <a:lnTo>
                  <a:pt x="71180" y="1309580"/>
                </a:lnTo>
                <a:lnTo>
                  <a:pt x="31920" y="1293318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9"/>
                </a:lnTo>
                <a:lnTo>
                  <a:pt x="14503737" y="1309580"/>
                </a:lnTo>
                <a:lnTo>
                  <a:pt x="14498413" y="13101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722562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09">
                <a:moveTo>
                  <a:pt x="14498413" y="4257840"/>
                </a:moveTo>
                <a:lnTo>
                  <a:pt x="76505" y="4257840"/>
                </a:lnTo>
                <a:lnTo>
                  <a:pt x="71180" y="4257316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5"/>
                </a:lnTo>
                <a:lnTo>
                  <a:pt x="0" y="4175960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5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6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724662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"height_m"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/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25" dirty="0">
                <a:solidFill>
                  <a:srgbClr val="BE2F72"/>
                </a:solidFill>
                <a:latin typeface="Monaco"/>
                <a:cs typeface="Monaco"/>
              </a:rPr>
              <a:t>100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(dogs)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956334"/>
          <a:ext cx="13134337" cy="3790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3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93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9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85915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2013-07-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51562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Charlie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2016-09-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0.43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03124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Lucy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 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2014-08-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0.46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68770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Cooper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2011-12-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0.49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20332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2017-01-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68770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2015-04-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0.18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687705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Bernie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2018-02-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0.77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F8450E3-9349-A3FE-D261-3991013A43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61"/>
            <a:ext cx="489140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Doggy</a:t>
            </a:r>
            <a:r>
              <a:rPr spc="-180" dirty="0"/>
              <a:t> </a:t>
            </a:r>
            <a:r>
              <a:rPr spc="-190" dirty="0"/>
              <a:t>mass</a:t>
            </a:r>
            <a:r>
              <a:rPr spc="-125" dirty="0"/>
              <a:t> </a:t>
            </a:r>
            <a:r>
              <a:rPr spc="-70" dirty="0"/>
              <a:t>index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985604"/>
            <a:ext cx="14575155" cy="1146810"/>
          </a:xfrm>
          <a:custGeom>
            <a:avLst/>
            <a:gdLst/>
            <a:ahLst/>
            <a:cxnLst/>
            <a:rect l="l" t="t" r="r" b="b"/>
            <a:pathLst>
              <a:path w="14575155" h="1146810">
                <a:moveTo>
                  <a:pt x="14498413" y="1146341"/>
                </a:moveTo>
                <a:lnTo>
                  <a:pt x="76505" y="1146341"/>
                </a:lnTo>
                <a:lnTo>
                  <a:pt x="71180" y="1145817"/>
                </a:lnTo>
                <a:lnTo>
                  <a:pt x="31920" y="1129554"/>
                </a:lnTo>
                <a:lnTo>
                  <a:pt x="4175" y="1090827"/>
                </a:lnTo>
                <a:lnTo>
                  <a:pt x="0" y="1069836"/>
                </a:lnTo>
                <a:lnTo>
                  <a:pt x="0" y="106446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069836"/>
                </a:lnTo>
                <a:lnTo>
                  <a:pt x="14558132" y="1114421"/>
                </a:lnTo>
                <a:lnTo>
                  <a:pt x="14519404" y="1142166"/>
                </a:lnTo>
                <a:lnTo>
                  <a:pt x="14503737" y="1145817"/>
                </a:lnTo>
                <a:lnTo>
                  <a:pt x="14498413" y="114634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3377590"/>
            <a:ext cx="14575155" cy="2886710"/>
          </a:xfrm>
          <a:custGeom>
            <a:avLst/>
            <a:gdLst/>
            <a:ahLst/>
            <a:cxnLst/>
            <a:rect l="l" t="t" r="r" b="b"/>
            <a:pathLst>
              <a:path w="14575155" h="2886710">
                <a:moveTo>
                  <a:pt x="14498413" y="2886324"/>
                </a:moveTo>
                <a:lnTo>
                  <a:pt x="76505" y="2886324"/>
                </a:lnTo>
                <a:lnTo>
                  <a:pt x="71180" y="2885800"/>
                </a:lnTo>
                <a:lnTo>
                  <a:pt x="31920" y="2869538"/>
                </a:lnTo>
                <a:lnTo>
                  <a:pt x="4175" y="2830810"/>
                </a:lnTo>
                <a:lnTo>
                  <a:pt x="0" y="2809819"/>
                </a:lnTo>
                <a:lnTo>
                  <a:pt x="0" y="280444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809819"/>
                </a:lnTo>
                <a:lnTo>
                  <a:pt x="14558132" y="2854403"/>
                </a:lnTo>
                <a:lnTo>
                  <a:pt x="14519404" y="2882149"/>
                </a:lnTo>
                <a:lnTo>
                  <a:pt x="14503737" y="2885800"/>
                </a:lnTo>
                <a:lnTo>
                  <a:pt x="14498413" y="288632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3020" y="1145490"/>
            <a:ext cx="9881870" cy="1784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67860">
              <a:lnSpc>
                <a:spcPct val="100000"/>
              </a:lnSpc>
              <a:spcBef>
                <a:spcPts val="105"/>
              </a:spcBef>
            </a:pPr>
            <a:r>
              <a:rPr sz="2800" spc="80" dirty="0">
                <a:solidFill>
                  <a:srgbClr val="04182D"/>
                </a:solidFill>
                <a:latin typeface="Times New Roman"/>
                <a:cs typeface="Times New Roman"/>
              </a:rPr>
              <a:t>BMI</a:t>
            </a:r>
            <a:r>
              <a:rPr sz="2800" spc="85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2800" spc="595" dirty="0">
                <a:solidFill>
                  <a:srgbClr val="04182D"/>
                </a:solidFill>
                <a:latin typeface="Times New Roman"/>
                <a:cs typeface="Times New Roman"/>
              </a:rPr>
              <a:t>=</a:t>
            </a:r>
            <a:r>
              <a:rPr sz="2800" spc="85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solidFill>
                  <a:srgbClr val="04182D"/>
                </a:solidFill>
                <a:latin typeface="Times New Roman"/>
                <a:cs typeface="Times New Roman"/>
              </a:rPr>
              <a:t>weight</a:t>
            </a:r>
            <a:r>
              <a:rPr sz="2800" spc="10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solidFill>
                  <a:srgbClr val="04182D"/>
                </a:solidFill>
                <a:latin typeface="Times New Roman"/>
                <a:cs typeface="Times New Roman"/>
              </a:rPr>
              <a:t>in</a:t>
            </a:r>
            <a:r>
              <a:rPr sz="2800" spc="10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2800" spc="140" dirty="0">
                <a:solidFill>
                  <a:srgbClr val="04182D"/>
                </a:solidFill>
                <a:latin typeface="Times New Roman"/>
                <a:cs typeface="Times New Roman"/>
              </a:rPr>
              <a:t>kg/(height</a:t>
            </a:r>
            <a:r>
              <a:rPr sz="2800" spc="15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solidFill>
                  <a:srgbClr val="04182D"/>
                </a:solidFill>
                <a:latin typeface="Times New Roman"/>
                <a:cs typeface="Times New Roman"/>
              </a:rPr>
              <a:t>in</a:t>
            </a:r>
            <a:r>
              <a:rPr sz="2800" spc="10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solidFill>
                  <a:srgbClr val="04182D"/>
                </a:solidFill>
                <a:latin typeface="Times New Roman"/>
                <a:cs typeface="Times New Roman"/>
              </a:rPr>
              <a:t>m)</a:t>
            </a:r>
            <a:r>
              <a:rPr sz="2925" spc="104" baseline="32763" dirty="0">
                <a:solidFill>
                  <a:srgbClr val="04182D"/>
                </a:solidFill>
                <a:latin typeface="Times New Roman"/>
                <a:cs typeface="Times New Roman"/>
              </a:rPr>
              <a:t>2</a:t>
            </a:r>
            <a:endParaRPr sz="2925" baseline="3276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800">
              <a:latin typeface="Times New Roman"/>
              <a:cs typeface="Times New Roman"/>
            </a:endParaRPr>
          </a:p>
          <a:p>
            <a:pPr marL="25400" marR="1342390">
              <a:lnSpc>
                <a:spcPct val="141000"/>
              </a:lnSpc>
            </a:pP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"bmi"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000" spc="7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000" spc="7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000" spc="7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/</a:t>
            </a:r>
            <a:r>
              <a:rPr sz="2000" spc="7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"height_m"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000" spc="8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**</a:t>
            </a:r>
            <a:r>
              <a:rPr sz="2000" spc="7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spc="-50" dirty="0">
                <a:solidFill>
                  <a:srgbClr val="BE2F72"/>
                </a:solidFill>
                <a:latin typeface="Monaco"/>
                <a:cs typeface="Monaco"/>
              </a:rPr>
              <a:t>2 </a:t>
            </a:r>
            <a:r>
              <a:rPr sz="200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(dogs.head())</a:t>
            </a:r>
            <a:endParaRPr sz="200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6670" y="3598220"/>
          <a:ext cx="13368018" cy="24663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2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68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335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R="146685" algn="r">
                        <a:lnSpc>
                          <a:spcPts val="2370"/>
                        </a:lnSpc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ts val="2370"/>
                        </a:lnSpc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ts val="2370"/>
                        </a:lnSpc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ts val="2370"/>
                        </a:lnSpc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370"/>
                        </a:lnSpc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ts val="2370"/>
                        </a:lnSpc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date_of_birth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ts val="2370"/>
                        </a:lnSpc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height_m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70"/>
                        </a:lnSpc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bmi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772795" algn="l"/>
                        </a:tabLst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2013-07-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0.56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76.530612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463550" algn="l"/>
                        </a:tabLst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Charlie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43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2016-09-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16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0.43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129.799892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927735" algn="l"/>
                        </a:tabLst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Lucy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r>
                        <a:rPr sz="2000" spc="4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46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2014-08-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25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0.46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113.421550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618490" algn="l"/>
                        </a:tabLst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Cooper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49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2011-12-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0.49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70.803832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1082675" algn="l"/>
                        </a:tabLst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2017-01-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0.59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83.309394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BA01CDB-D8DF-9309-F6BE-8ECA65AF42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Multiple</a:t>
            </a:r>
            <a:r>
              <a:rPr spc="-260" dirty="0"/>
              <a:t> </a:t>
            </a:r>
            <a:r>
              <a:rPr spc="-90" dirty="0"/>
              <a:t>manipulations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788"/>
            <a:ext cx="14575155" cy="1801495"/>
          </a:xfrm>
          <a:custGeom>
            <a:avLst/>
            <a:gdLst/>
            <a:ahLst/>
            <a:cxnLst/>
            <a:rect l="l" t="t" r="r" b="b"/>
            <a:pathLst>
              <a:path w="14575155" h="1801495">
                <a:moveTo>
                  <a:pt x="14498413" y="1801394"/>
                </a:moveTo>
                <a:lnTo>
                  <a:pt x="76505" y="1801394"/>
                </a:lnTo>
                <a:lnTo>
                  <a:pt x="71180" y="1800869"/>
                </a:lnTo>
                <a:lnTo>
                  <a:pt x="31920" y="1784607"/>
                </a:lnTo>
                <a:lnTo>
                  <a:pt x="4175" y="1745879"/>
                </a:lnTo>
                <a:lnTo>
                  <a:pt x="0" y="1724888"/>
                </a:lnTo>
                <a:lnTo>
                  <a:pt x="0" y="171951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724888"/>
                </a:lnTo>
                <a:lnTo>
                  <a:pt x="14558132" y="1769473"/>
                </a:lnTo>
                <a:lnTo>
                  <a:pt x="14519404" y="1797218"/>
                </a:lnTo>
                <a:lnTo>
                  <a:pt x="14503737" y="1800869"/>
                </a:lnTo>
                <a:lnTo>
                  <a:pt x="14498413" y="180139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3213827"/>
            <a:ext cx="14575155" cy="2784475"/>
          </a:xfrm>
          <a:custGeom>
            <a:avLst/>
            <a:gdLst/>
            <a:ahLst/>
            <a:cxnLst/>
            <a:rect l="l" t="t" r="r" b="b"/>
            <a:pathLst>
              <a:path w="14575155" h="2784475">
                <a:moveTo>
                  <a:pt x="14498413" y="2783972"/>
                </a:moveTo>
                <a:lnTo>
                  <a:pt x="76505" y="2783972"/>
                </a:lnTo>
                <a:lnTo>
                  <a:pt x="71180" y="2783447"/>
                </a:lnTo>
                <a:lnTo>
                  <a:pt x="31920" y="2767186"/>
                </a:lnTo>
                <a:lnTo>
                  <a:pt x="4175" y="2728458"/>
                </a:lnTo>
                <a:lnTo>
                  <a:pt x="0" y="2707467"/>
                </a:lnTo>
                <a:lnTo>
                  <a:pt x="0" y="270209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707467"/>
                </a:lnTo>
                <a:lnTo>
                  <a:pt x="14558132" y="2752052"/>
                </a:lnTo>
                <a:lnTo>
                  <a:pt x="14519404" y="2779797"/>
                </a:lnTo>
                <a:lnTo>
                  <a:pt x="14503737" y="2783447"/>
                </a:lnTo>
                <a:lnTo>
                  <a:pt x="14498413" y="278397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76"/>
            <a:ext cx="12577445" cy="149987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bmi_lt_100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dogs[dogs[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"bmi"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&lt; </a:t>
            </a:r>
            <a:r>
              <a:rPr sz="2250" spc="-20" dirty="0">
                <a:solidFill>
                  <a:srgbClr val="BE2F72"/>
                </a:solidFill>
                <a:latin typeface="Monaco"/>
                <a:cs typeface="Monaco"/>
              </a:rPr>
              <a:t>100</a:t>
            </a:r>
            <a:r>
              <a:rPr sz="2250" spc="-2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  <a:p>
            <a:pPr marL="12700" marR="5080">
              <a:lnSpc>
                <a:spcPct val="143300"/>
              </a:lnSpc>
              <a:tabLst>
                <a:tab pos="3279140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bmi_lt_100_height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bmi_lt_100.sort_values(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ascending=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False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bmi_lt_100_height[[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"name"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"bmi"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]]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3447599"/>
          <a:ext cx="5394958" cy="23183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bmi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83.309394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76.530612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Cooper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70.803832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Stella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61.728395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6E0D1DA-D29F-3FB2-2275-86DFE8D5F1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1938</Words>
  <Application>Microsoft Macintosh PowerPoint</Application>
  <PresentationFormat>사용자 지정</PresentationFormat>
  <Paragraphs>761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맑은 고딕</vt:lpstr>
      <vt:lpstr>Arial</vt:lpstr>
      <vt:lpstr>Calibri</vt:lpstr>
      <vt:lpstr>Monaco</vt:lpstr>
      <vt:lpstr>Times New Roman</vt:lpstr>
      <vt:lpstr>Office Theme</vt:lpstr>
      <vt:lpstr>Introducing DataFrames DATA M A N I P U L AT I O N W I T H PA N DA S</vt:lpstr>
      <vt:lpstr>Course outline</vt:lpstr>
      <vt:lpstr>pandas is built on NumPy and Matplotlib</vt:lpstr>
      <vt:lpstr>pandas is popular</vt:lpstr>
      <vt:lpstr>Rectangular data</vt:lpstr>
      <vt:lpstr>pandas DataFrames</vt:lpstr>
      <vt:lpstr>Exploring a DataFrame: .head()</vt:lpstr>
      <vt:lpstr>Exploring a DataFrame: .info()</vt:lpstr>
      <vt:lpstr>Exploring a DataFrame: .shape</vt:lpstr>
      <vt:lpstr>Exploring a DataFrame: .describe()</vt:lpstr>
      <vt:lpstr>Components of a DataFrame: .values</vt:lpstr>
      <vt:lpstr>Components of a DataFrame: .columns and .index</vt:lpstr>
      <vt:lpstr>pandas Philosophy</vt:lpstr>
      <vt:lpstr>Sorting and subsetting DATA M A N I P U L AT I O N W I T H PA N DA S</vt:lpstr>
      <vt:lpstr>Sorting</vt:lpstr>
      <vt:lpstr>Sorting in descending order</vt:lpstr>
      <vt:lpstr>Sorting by multiple variables</vt:lpstr>
      <vt:lpstr>Sorting by multiple variables</vt:lpstr>
      <vt:lpstr>Subsetting columns</vt:lpstr>
      <vt:lpstr>Subsetting multiple columns</vt:lpstr>
      <vt:lpstr>Subsetting rows</vt:lpstr>
      <vt:lpstr>Subsetting rows</vt:lpstr>
      <vt:lpstr>Subsetting based on text data</vt:lpstr>
      <vt:lpstr>Subsetting based on dates</vt:lpstr>
      <vt:lpstr>Subsetting based on multiple conditions</vt:lpstr>
      <vt:lpstr>Subsetting using .isin()</vt:lpstr>
      <vt:lpstr>New columns DATA M A N I P U L AT I O N W I T H PA N DA S</vt:lpstr>
      <vt:lpstr>Adding a new column</vt:lpstr>
      <vt:lpstr>Doggy mass index</vt:lpstr>
      <vt:lpstr>Multiple manipulations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2</cp:revision>
  <dcterms:created xsi:type="dcterms:W3CDTF">2024-12-08T08:40:30Z</dcterms:created>
  <dcterms:modified xsi:type="dcterms:W3CDTF">2024-12-08T09:04:46Z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2024-08-23T00:00:00Z</vt:filetime>
  </property>
  <property fmtid="{D5CDD505-2E9C-101B-9397-08002B2CF9AE}" pid="3" name="Creator">
    <vt:lpwstr>Chromium</vt:lpwstr>
  </property>
  <property fmtid="{D5CDD505-2E9C-101B-9397-08002B2CF9AE}" pid="4" name="LastSaved">
    <vt:filetime>2024-12-08T00:00:00Z</vt:filetime>
  </property>
  <property fmtid="{D5CDD505-2E9C-101B-9397-08002B2CF9AE}" pid="5" name="Producer">
    <vt:lpwstr>Skia/PDF m89</vt:lpwstr>
  </property>
</Properties>
</file>