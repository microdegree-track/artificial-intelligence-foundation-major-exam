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80" r:id="rId24"/>
    <p:sldId id="281" r:id="rId25"/>
    <p:sldId id="291" r:id="rId26"/>
    <p:sldId id="292" r:id="rId27"/>
    <p:sldId id="293" r:id="rId28"/>
    <p:sldId id="294" r:id="rId29"/>
    <p:sldId id="296" r:id="rId30"/>
    <p:sldId id="297" r:id="rId31"/>
    <p:sldId id="298" r:id="rId32"/>
    <p:sldId id="299" r:id="rId33"/>
    <p:sldId id="300" r:id="rId34"/>
    <p:sldId id="301" r:id="rId35"/>
    <p:sldId id="302" r:id="rId36"/>
    <p:sldId id="303" r:id="rId37"/>
    <p:sldId id="304" r:id="rId38"/>
  </p:sldIdLst>
  <p:sldSz cx="15557500" cy="8763000"/>
  <p:notesSz cx="15557500" cy="8763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571" autoAdjust="0"/>
  </p:normalViewPr>
  <p:slideViewPr>
    <p:cSldViewPr>
      <p:cViewPr varScale="1">
        <p:scale>
          <a:sx n="74" d="100"/>
          <a:sy n="74" d="100"/>
        </p:scale>
        <p:origin x="474"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6742113" cy="43973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8812213" y="0"/>
            <a:ext cx="6742112" cy="439738"/>
          </a:xfrm>
          <a:prstGeom prst="rect">
            <a:avLst/>
          </a:prstGeom>
        </p:spPr>
        <p:txBody>
          <a:bodyPr vert="horz" lIns="91440" tIns="45720" rIns="91440" bIns="45720" rtlCol="0"/>
          <a:lstStyle>
            <a:lvl1pPr algn="r">
              <a:defRPr sz="1200"/>
            </a:lvl1pPr>
          </a:lstStyle>
          <a:p>
            <a:fld id="{4F1185A5-A1B4-438B-9ABE-36A2C76777A8}" type="datetimeFigureOut">
              <a:rPr lang="ko-KR" altLang="en-US" smtClean="0"/>
              <a:t>2024-12-30</a:t>
            </a:fld>
            <a:endParaRPr lang="ko-KR" altLang="en-US"/>
          </a:p>
        </p:txBody>
      </p:sp>
      <p:sp>
        <p:nvSpPr>
          <p:cNvPr id="4" name="슬라이드 이미지 개체 틀 3"/>
          <p:cNvSpPr>
            <a:spLocks noGrp="1" noRot="1" noChangeAspect="1"/>
          </p:cNvSpPr>
          <p:nvPr>
            <p:ph type="sldImg" idx="2"/>
          </p:nvPr>
        </p:nvSpPr>
        <p:spPr>
          <a:xfrm>
            <a:off x="5153025" y="1095375"/>
            <a:ext cx="5251450" cy="2957513"/>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1555750" y="4217988"/>
            <a:ext cx="12446000" cy="3449637"/>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323263"/>
            <a:ext cx="6742113" cy="43973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8812213" y="8323263"/>
            <a:ext cx="6742112" cy="439737"/>
          </a:xfrm>
          <a:prstGeom prst="rect">
            <a:avLst/>
          </a:prstGeom>
        </p:spPr>
        <p:txBody>
          <a:bodyPr vert="horz" lIns="91440" tIns="45720" rIns="91440" bIns="45720" rtlCol="0" anchor="b"/>
          <a:lstStyle>
            <a:lvl1pPr algn="r">
              <a:defRPr sz="1200"/>
            </a:lvl1pPr>
          </a:lstStyle>
          <a:p>
            <a:fld id="{E48A8D23-37F9-490D-A8F6-F602D6637F0D}" type="slidenum">
              <a:rPr lang="ko-KR" altLang="en-US" smtClean="0"/>
              <a:t>‹#›</a:t>
            </a:fld>
            <a:endParaRPr lang="ko-KR" altLang="en-US"/>
          </a:p>
        </p:txBody>
      </p:sp>
    </p:spTree>
    <p:extLst>
      <p:ext uri="{BB962C8B-B14F-4D97-AF65-F5344CB8AC3E}">
        <p14:creationId xmlns:p14="http://schemas.microsoft.com/office/powerpoint/2010/main" val="224191366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E48A8D23-37F9-490D-A8F6-F602D6637F0D}" type="slidenum">
              <a:rPr lang="ko-KR" altLang="en-US" smtClean="0"/>
              <a:t>16</a:t>
            </a:fld>
            <a:endParaRPr lang="ko-KR" altLang="en-US"/>
          </a:p>
        </p:txBody>
      </p:sp>
    </p:spTree>
    <p:extLst>
      <p:ext uri="{BB962C8B-B14F-4D97-AF65-F5344CB8AC3E}">
        <p14:creationId xmlns:p14="http://schemas.microsoft.com/office/powerpoint/2010/main" val="19006181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E48A8D23-37F9-490D-A8F6-F602D6637F0D}" type="slidenum">
              <a:rPr lang="ko-KR" altLang="en-US" smtClean="0"/>
              <a:t>22</a:t>
            </a:fld>
            <a:endParaRPr lang="ko-KR" altLang="en-US"/>
          </a:p>
        </p:txBody>
      </p:sp>
    </p:spTree>
    <p:extLst>
      <p:ext uri="{BB962C8B-B14F-4D97-AF65-F5344CB8AC3E}">
        <p14:creationId xmlns:p14="http://schemas.microsoft.com/office/powerpoint/2010/main" val="13263115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166812" y="2716530"/>
            <a:ext cx="13223875" cy="1840230"/>
          </a:xfrm>
          <a:prstGeom prst="rect">
            <a:avLst/>
          </a:prstGeom>
        </p:spPr>
        <p:txBody>
          <a:bodyPr wrap="square" lIns="0" tIns="0" rIns="0" bIns="0">
            <a:spAutoFit/>
          </a:bodyPr>
          <a:lstStyle>
            <a:lvl1pPr>
              <a:defRPr sz="4500" b="1" i="0">
                <a:solidFill>
                  <a:srgbClr val="04182D"/>
                </a:solidFill>
                <a:latin typeface="Tahoma"/>
                <a:cs typeface="Tahoma"/>
              </a:defRPr>
            </a:lvl1pPr>
          </a:lstStyle>
          <a:p>
            <a:endParaRPr/>
          </a:p>
        </p:txBody>
      </p:sp>
      <p:sp>
        <p:nvSpPr>
          <p:cNvPr id="3" name="Holder 3"/>
          <p:cNvSpPr>
            <a:spLocks noGrp="1"/>
          </p:cNvSpPr>
          <p:nvPr>
            <p:ph type="subTitle" idx="4"/>
          </p:nvPr>
        </p:nvSpPr>
        <p:spPr>
          <a:xfrm>
            <a:off x="2333625" y="4907280"/>
            <a:ext cx="10890250" cy="2190750"/>
          </a:xfrm>
          <a:prstGeom prst="rect">
            <a:avLst/>
          </a:prstGeom>
        </p:spPr>
        <p:txBody>
          <a:bodyPr wrap="square" lIns="0" tIns="0" rIns="0" bIns="0">
            <a:spAutoFit/>
          </a:bodyPr>
          <a:lstStyle>
            <a:lvl1pPr>
              <a:defRPr sz="6450" b="1" i="0">
                <a:solidFill>
                  <a:srgbClr val="04182D"/>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defRPr sz="2250" b="1" i="0">
                <a:solidFill>
                  <a:srgbClr val="04182D"/>
                </a:solidFill>
                <a:latin typeface="Tahoma"/>
                <a:cs typeface="Tahoma"/>
              </a:defRPr>
            </a:lvl1pPr>
          </a:lstStyle>
          <a:p>
            <a:pPr marL="12700">
              <a:lnSpc>
                <a:spcPct val="100000"/>
              </a:lnSpc>
              <a:spcBef>
                <a:spcPts val="15"/>
              </a:spcBef>
            </a:pPr>
            <a:r>
              <a:rPr spc="-125" dirty="0"/>
              <a:t>SUPERVISED</a:t>
            </a:r>
            <a:r>
              <a:rPr dirty="0"/>
              <a:t> </a:t>
            </a:r>
            <a:r>
              <a:rPr spc="-90" dirty="0"/>
              <a:t>LEARNING</a:t>
            </a:r>
            <a:r>
              <a:rPr spc="5" dirty="0"/>
              <a:t> </a:t>
            </a:r>
            <a:r>
              <a:rPr spc="-195" dirty="0"/>
              <a:t>WITH</a:t>
            </a:r>
            <a:r>
              <a:rPr spc="10" dirty="0"/>
              <a:t> </a:t>
            </a:r>
            <a:r>
              <a:rPr spc="-185" dirty="0"/>
              <a:t>SCIKIT-</a:t>
            </a:r>
            <a:r>
              <a:rPr spc="-10" dirty="0"/>
              <a:t>LEARN</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34D15E53-F3F7-48EF-95CB-18A75DE23E06}" type="datetime1">
              <a:rPr lang="en-US" altLang="ko-KR" smtClean="0"/>
              <a:t>12/30/2024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500" b="1" i="0">
                <a:solidFill>
                  <a:srgbClr val="04182D"/>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6450" b="1" i="0">
                <a:solidFill>
                  <a:srgbClr val="04182D"/>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defRPr sz="2250" b="1" i="0">
                <a:solidFill>
                  <a:srgbClr val="04182D"/>
                </a:solidFill>
                <a:latin typeface="Tahoma"/>
                <a:cs typeface="Tahoma"/>
              </a:defRPr>
            </a:lvl1pPr>
          </a:lstStyle>
          <a:p>
            <a:pPr marL="12700">
              <a:lnSpc>
                <a:spcPct val="100000"/>
              </a:lnSpc>
              <a:spcBef>
                <a:spcPts val="15"/>
              </a:spcBef>
            </a:pPr>
            <a:r>
              <a:rPr spc="-125" dirty="0"/>
              <a:t>SUPERVISED</a:t>
            </a:r>
            <a:r>
              <a:rPr dirty="0"/>
              <a:t> </a:t>
            </a:r>
            <a:r>
              <a:rPr spc="-90" dirty="0"/>
              <a:t>LEARNING</a:t>
            </a:r>
            <a:r>
              <a:rPr spc="5" dirty="0"/>
              <a:t> </a:t>
            </a:r>
            <a:r>
              <a:rPr spc="-195" dirty="0"/>
              <a:t>WITH</a:t>
            </a:r>
            <a:r>
              <a:rPr spc="10" dirty="0"/>
              <a:t> </a:t>
            </a:r>
            <a:r>
              <a:rPr spc="-185" dirty="0"/>
              <a:t>SCIKIT-</a:t>
            </a:r>
            <a:r>
              <a:rPr spc="-10" dirty="0"/>
              <a:t>LEARN</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6F7E5BD3-D1A4-47CE-A086-7BADFCD50435}" type="datetime1">
              <a:rPr lang="en-US" altLang="ko-KR" smtClean="0"/>
              <a:t>12/30/2024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500" b="1" i="0">
                <a:solidFill>
                  <a:srgbClr val="04182D"/>
                </a:solidFill>
                <a:latin typeface="Tahoma"/>
                <a:cs typeface="Tahoma"/>
              </a:defRPr>
            </a:lvl1pPr>
          </a:lstStyle>
          <a:p>
            <a:endParaRPr/>
          </a:p>
        </p:txBody>
      </p:sp>
      <p:sp>
        <p:nvSpPr>
          <p:cNvPr id="3" name="Holder 3"/>
          <p:cNvSpPr>
            <a:spLocks noGrp="1"/>
          </p:cNvSpPr>
          <p:nvPr>
            <p:ph sz="half" idx="2"/>
          </p:nvPr>
        </p:nvSpPr>
        <p:spPr>
          <a:xfrm>
            <a:off x="777875" y="2015490"/>
            <a:ext cx="6767512" cy="57835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8012112" y="2015490"/>
            <a:ext cx="6767512" cy="57835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2250" b="1" i="0">
                <a:solidFill>
                  <a:srgbClr val="04182D"/>
                </a:solidFill>
                <a:latin typeface="Tahoma"/>
                <a:cs typeface="Tahoma"/>
              </a:defRPr>
            </a:lvl1pPr>
          </a:lstStyle>
          <a:p>
            <a:pPr marL="12700">
              <a:lnSpc>
                <a:spcPct val="100000"/>
              </a:lnSpc>
              <a:spcBef>
                <a:spcPts val="15"/>
              </a:spcBef>
            </a:pPr>
            <a:r>
              <a:rPr spc="-125" dirty="0"/>
              <a:t>SUPERVISED</a:t>
            </a:r>
            <a:r>
              <a:rPr dirty="0"/>
              <a:t> </a:t>
            </a:r>
            <a:r>
              <a:rPr spc="-90" dirty="0"/>
              <a:t>LEARNING</a:t>
            </a:r>
            <a:r>
              <a:rPr spc="5" dirty="0"/>
              <a:t> </a:t>
            </a:r>
            <a:r>
              <a:rPr spc="-195" dirty="0"/>
              <a:t>WITH</a:t>
            </a:r>
            <a:r>
              <a:rPr spc="10" dirty="0"/>
              <a:t> </a:t>
            </a:r>
            <a:r>
              <a:rPr spc="-185" dirty="0"/>
              <a:t>SCIKIT-</a:t>
            </a:r>
            <a:r>
              <a:rPr spc="-10" dirty="0"/>
              <a:t>LEARN</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C248744-077C-4C4E-B0B0-6359648F2D99}" type="datetime1">
              <a:rPr lang="en-US" altLang="ko-KR" smtClean="0"/>
              <a:t>12/30/2024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500" b="1" i="0">
                <a:solidFill>
                  <a:srgbClr val="04182D"/>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defRPr sz="2250" b="1" i="0">
                <a:solidFill>
                  <a:srgbClr val="04182D"/>
                </a:solidFill>
                <a:latin typeface="Tahoma"/>
                <a:cs typeface="Tahoma"/>
              </a:defRPr>
            </a:lvl1pPr>
          </a:lstStyle>
          <a:p>
            <a:pPr marL="12700">
              <a:lnSpc>
                <a:spcPct val="100000"/>
              </a:lnSpc>
              <a:spcBef>
                <a:spcPts val="15"/>
              </a:spcBef>
            </a:pPr>
            <a:r>
              <a:rPr spc="-125" dirty="0"/>
              <a:t>SUPERVISED</a:t>
            </a:r>
            <a:r>
              <a:rPr dirty="0"/>
              <a:t> </a:t>
            </a:r>
            <a:r>
              <a:rPr spc="-90" dirty="0"/>
              <a:t>LEARNING</a:t>
            </a:r>
            <a:r>
              <a:rPr spc="5" dirty="0"/>
              <a:t> </a:t>
            </a:r>
            <a:r>
              <a:rPr spc="-195" dirty="0"/>
              <a:t>WITH</a:t>
            </a:r>
            <a:r>
              <a:rPr spc="10" dirty="0"/>
              <a:t> </a:t>
            </a:r>
            <a:r>
              <a:rPr spc="-185" dirty="0"/>
              <a:t>SCIKIT-</a:t>
            </a:r>
            <a:r>
              <a:rPr spc="-10" dirty="0"/>
              <a:t>LEARN</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635E99D5-E9FA-4956-B8B1-CC8DAAA61E68}" type="datetime1">
              <a:rPr lang="en-US" altLang="ko-KR" smtClean="0"/>
              <a:t>12/30/2024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2250" b="1" i="0">
                <a:solidFill>
                  <a:srgbClr val="04182D"/>
                </a:solidFill>
                <a:latin typeface="Tahoma"/>
                <a:cs typeface="Tahoma"/>
              </a:defRPr>
            </a:lvl1pPr>
          </a:lstStyle>
          <a:p>
            <a:pPr marL="12700">
              <a:lnSpc>
                <a:spcPct val="100000"/>
              </a:lnSpc>
              <a:spcBef>
                <a:spcPts val="15"/>
              </a:spcBef>
            </a:pPr>
            <a:r>
              <a:rPr spc="-125" dirty="0"/>
              <a:t>SUPERVISED</a:t>
            </a:r>
            <a:r>
              <a:rPr dirty="0"/>
              <a:t> </a:t>
            </a:r>
            <a:r>
              <a:rPr spc="-90" dirty="0"/>
              <a:t>LEARNING</a:t>
            </a:r>
            <a:r>
              <a:rPr spc="5" dirty="0"/>
              <a:t> </a:t>
            </a:r>
            <a:r>
              <a:rPr spc="-195" dirty="0"/>
              <a:t>WITH</a:t>
            </a:r>
            <a:r>
              <a:rPr spc="10" dirty="0"/>
              <a:t> </a:t>
            </a:r>
            <a:r>
              <a:rPr spc="-185" dirty="0"/>
              <a:t>SCIKIT-</a:t>
            </a:r>
            <a:r>
              <a:rPr spc="-10" dirty="0"/>
              <a:t>LEARN</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9EA7B47F-9E25-48A8-B27B-80A2C34F59E3}" type="datetime1">
              <a:rPr lang="en-US" altLang="ko-KR" smtClean="0"/>
              <a:t>12/30/2024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8024393"/>
            <a:ext cx="15557500" cy="20955"/>
          </a:xfrm>
          <a:custGeom>
            <a:avLst/>
            <a:gdLst/>
            <a:ahLst/>
            <a:cxnLst/>
            <a:rect l="l" t="t" r="r" b="b"/>
            <a:pathLst>
              <a:path w="15557500" h="20954">
                <a:moveTo>
                  <a:pt x="15557498" y="20470"/>
                </a:moveTo>
                <a:lnTo>
                  <a:pt x="0" y="20470"/>
                </a:lnTo>
                <a:lnTo>
                  <a:pt x="0" y="0"/>
                </a:lnTo>
                <a:lnTo>
                  <a:pt x="15557498" y="0"/>
                </a:lnTo>
                <a:lnTo>
                  <a:pt x="15557498" y="20470"/>
                </a:lnTo>
                <a:close/>
              </a:path>
            </a:pathLst>
          </a:custGeom>
          <a:solidFill>
            <a:srgbClr val="E4E1D9"/>
          </a:solidFill>
        </p:spPr>
        <p:txBody>
          <a:bodyPr wrap="square" lIns="0" tIns="0" rIns="0" bIns="0" rtlCol="0"/>
          <a:lstStyle/>
          <a:p>
            <a:endParaRPr/>
          </a:p>
        </p:txBody>
      </p:sp>
      <p:sp>
        <p:nvSpPr>
          <p:cNvPr id="2" name="Holder 2"/>
          <p:cNvSpPr>
            <a:spLocks noGrp="1"/>
          </p:cNvSpPr>
          <p:nvPr>
            <p:ph type="title"/>
          </p:nvPr>
        </p:nvSpPr>
        <p:spPr>
          <a:xfrm>
            <a:off x="478589" y="273861"/>
            <a:ext cx="6106795" cy="713740"/>
          </a:xfrm>
          <a:prstGeom prst="rect">
            <a:avLst/>
          </a:prstGeom>
        </p:spPr>
        <p:txBody>
          <a:bodyPr wrap="square" lIns="0" tIns="0" rIns="0" bIns="0">
            <a:spAutoFit/>
          </a:bodyPr>
          <a:lstStyle>
            <a:lvl1pPr>
              <a:defRPr sz="4500" b="1" i="0">
                <a:solidFill>
                  <a:srgbClr val="04182D"/>
                </a:solidFill>
                <a:latin typeface="Tahoma"/>
                <a:cs typeface="Tahoma"/>
              </a:defRPr>
            </a:lvl1pPr>
          </a:lstStyle>
          <a:p>
            <a:endParaRPr/>
          </a:p>
        </p:txBody>
      </p:sp>
      <p:sp>
        <p:nvSpPr>
          <p:cNvPr id="3" name="Holder 3"/>
          <p:cNvSpPr>
            <a:spLocks noGrp="1"/>
          </p:cNvSpPr>
          <p:nvPr>
            <p:ph type="body" idx="1"/>
          </p:nvPr>
        </p:nvSpPr>
        <p:spPr>
          <a:xfrm>
            <a:off x="3972949" y="2157161"/>
            <a:ext cx="7570470" cy="2334895"/>
          </a:xfrm>
          <a:prstGeom prst="rect">
            <a:avLst/>
          </a:prstGeom>
        </p:spPr>
        <p:txBody>
          <a:bodyPr wrap="square" lIns="0" tIns="0" rIns="0" bIns="0">
            <a:spAutoFit/>
          </a:bodyPr>
          <a:lstStyle>
            <a:lvl1pPr>
              <a:defRPr sz="6450" b="1" i="0">
                <a:solidFill>
                  <a:srgbClr val="04182D"/>
                </a:solidFill>
                <a:latin typeface="Tahoma"/>
                <a:cs typeface="Tahoma"/>
              </a:defRPr>
            </a:lvl1pPr>
          </a:lstStyle>
          <a:p>
            <a:endParaRPr/>
          </a:p>
        </p:txBody>
      </p:sp>
      <p:sp>
        <p:nvSpPr>
          <p:cNvPr id="4" name="Holder 4"/>
          <p:cNvSpPr>
            <a:spLocks noGrp="1"/>
          </p:cNvSpPr>
          <p:nvPr>
            <p:ph type="ftr" sz="quarter" idx="5"/>
          </p:nvPr>
        </p:nvSpPr>
        <p:spPr>
          <a:xfrm>
            <a:off x="9146201" y="8207389"/>
            <a:ext cx="6096634" cy="371475"/>
          </a:xfrm>
          <a:prstGeom prst="rect">
            <a:avLst/>
          </a:prstGeom>
        </p:spPr>
        <p:txBody>
          <a:bodyPr wrap="square" lIns="0" tIns="0" rIns="0" bIns="0">
            <a:spAutoFit/>
          </a:bodyPr>
          <a:lstStyle>
            <a:lvl1pPr>
              <a:defRPr sz="2250" b="1" i="0">
                <a:solidFill>
                  <a:srgbClr val="04182D"/>
                </a:solidFill>
                <a:latin typeface="Tahoma"/>
                <a:cs typeface="Tahoma"/>
              </a:defRPr>
            </a:lvl1pPr>
          </a:lstStyle>
          <a:p>
            <a:pPr marL="12700">
              <a:lnSpc>
                <a:spcPct val="100000"/>
              </a:lnSpc>
              <a:spcBef>
                <a:spcPts val="15"/>
              </a:spcBef>
            </a:pPr>
            <a:r>
              <a:rPr spc="-125" dirty="0"/>
              <a:t>SUPERVISED</a:t>
            </a:r>
            <a:r>
              <a:rPr dirty="0"/>
              <a:t> </a:t>
            </a:r>
            <a:r>
              <a:rPr spc="-90" dirty="0"/>
              <a:t>LEARNING</a:t>
            </a:r>
            <a:r>
              <a:rPr spc="5" dirty="0"/>
              <a:t> </a:t>
            </a:r>
            <a:r>
              <a:rPr spc="-195" dirty="0"/>
              <a:t>WITH</a:t>
            </a:r>
            <a:r>
              <a:rPr spc="10" dirty="0"/>
              <a:t> </a:t>
            </a:r>
            <a:r>
              <a:rPr spc="-185" dirty="0"/>
              <a:t>SCIKIT-</a:t>
            </a:r>
            <a:r>
              <a:rPr spc="-10" dirty="0"/>
              <a:t>LEARN</a:t>
            </a:r>
          </a:p>
        </p:txBody>
      </p:sp>
      <p:sp>
        <p:nvSpPr>
          <p:cNvPr id="5" name="Holder 5"/>
          <p:cNvSpPr>
            <a:spLocks noGrp="1"/>
          </p:cNvSpPr>
          <p:nvPr>
            <p:ph type="dt" sz="half" idx="6"/>
          </p:nvPr>
        </p:nvSpPr>
        <p:spPr>
          <a:xfrm>
            <a:off x="777875" y="8149590"/>
            <a:ext cx="3578225" cy="438150"/>
          </a:xfrm>
          <a:prstGeom prst="rect">
            <a:avLst/>
          </a:prstGeom>
        </p:spPr>
        <p:txBody>
          <a:bodyPr wrap="square" lIns="0" tIns="0" rIns="0" bIns="0">
            <a:spAutoFit/>
          </a:bodyPr>
          <a:lstStyle>
            <a:lvl1pPr algn="l">
              <a:defRPr>
                <a:solidFill>
                  <a:schemeClr val="tx1">
                    <a:tint val="75000"/>
                  </a:schemeClr>
                </a:solidFill>
              </a:defRPr>
            </a:lvl1pPr>
          </a:lstStyle>
          <a:p>
            <a:fld id="{59CB9389-F02A-46C2-8269-6426D586B2C5}" type="datetime1">
              <a:rPr lang="en-US" altLang="ko-KR" smtClean="0"/>
              <a:t>12/30/2024</a:t>
            </a:fld>
            <a:endParaRPr lang="en-US"/>
          </a:p>
        </p:txBody>
      </p:sp>
      <p:sp>
        <p:nvSpPr>
          <p:cNvPr id="6" name="Holder 6"/>
          <p:cNvSpPr>
            <a:spLocks noGrp="1"/>
          </p:cNvSpPr>
          <p:nvPr>
            <p:ph type="sldNum" sz="quarter" idx="7"/>
          </p:nvPr>
        </p:nvSpPr>
        <p:spPr>
          <a:xfrm>
            <a:off x="11201400" y="8149590"/>
            <a:ext cx="3578225" cy="4381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body" idx="1"/>
          </p:nvPr>
        </p:nvSpPr>
        <p:spPr>
          <a:prstGeom prst="rect">
            <a:avLst/>
          </a:prstGeom>
        </p:spPr>
        <p:txBody>
          <a:bodyPr vert="horz" wrap="square" lIns="0" tIns="143510" rIns="0" bIns="0" rtlCol="0">
            <a:spAutoFit/>
          </a:bodyPr>
          <a:lstStyle/>
          <a:p>
            <a:pPr marL="1087120" marR="1017905" algn="ctr">
              <a:lnSpc>
                <a:spcPts val="6770"/>
              </a:lnSpc>
              <a:spcBef>
                <a:spcPts val="1130"/>
              </a:spcBef>
            </a:pPr>
            <a:r>
              <a:rPr spc="-495" dirty="0"/>
              <a:t>Introduction</a:t>
            </a:r>
            <a:r>
              <a:rPr spc="-290" dirty="0"/>
              <a:t> </a:t>
            </a:r>
            <a:r>
              <a:rPr spc="-345" dirty="0"/>
              <a:t>to </a:t>
            </a:r>
            <a:r>
              <a:rPr spc="-415" dirty="0"/>
              <a:t>regression</a:t>
            </a:r>
          </a:p>
          <a:p>
            <a:pPr algn="ctr">
              <a:lnSpc>
                <a:spcPct val="100000"/>
              </a:lnSpc>
              <a:spcBef>
                <a:spcPts val="910"/>
              </a:spcBef>
              <a:tabLst>
                <a:tab pos="2252345" algn="l"/>
                <a:tab pos="4152900" algn="l"/>
                <a:tab pos="5172710" algn="l"/>
              </a:tabLst>
            </a:pPr>
            <a:r>
              <a:rPr sz="2250" spc="-150" dirty="0"/>
              <a:t>S</a:t>
            </a:r>
            <a:r>
              <a:rPr sz="2250" spc="-335" dirty="0"/>
              <a:t> </a:t>
            </a:r>
            <a:r>
              <a:rPr sz="2250" spc="-125" dirty="0"/>
              <a:t>U</a:t>
            </a:r>
            <a:r>
              <a:rPr sz="2250" spc="-330" dirty="0"/>
              <a:t> </a:t>
            </a:r>
            <a:r>
              <a:rPr sz="2250" spc="-95" dirty="0"/>
              <a:t>P</a:t>
            </a:r>
            <a:r>
              <a:rPr sz="2250" spc="-330" dirty="0"/>
              <a:t> </a:t>
            </a:r>
            <a:r>
              <a:rPr sz="2250" dirty="0"/>
              <a:t>E</a:t>
            </a:r>
            <a:r>
              <a:rPr sz="2250" spc="-330" dirty="0"/>
              <a:t> </a:t>
            </a:r>
            <a:r>
              <a:rPr sz="2250" spc="-254" dirty="0"/>
              <a:t>R</a:t>
            </a:r>
            <a:r>
              <a:rPr sz="2250" spc="-335" dirty="0"/>
              <a:t> </a:t>
            </a:r>
            <a:r>
              <a:rPr sz="2250" spc="-55" dirty="0"/>
              <a:t>V</a:t>
            </a:r>
            <a:r>
              <a:rPr sz="2250" spc="-330" dirty="0"/>
              <a:t> </a:t>
            </a:r>
            <a:r>
              <a:rPr sz="2250" spc="-470" dirty="0"/>
              <a:t>I</a:t>
            </a:r>
            <a:r>
              <a:rPr sz="2250" spc="-330" dirty="0"/>
              <a:t> </a:t>
            </a:r>
            <a:r>
              <a:rPr sz="2250" spc="-150" dirty="0"/>
              <a:t>S</a:t>
            </a:r>
            <a:r>
              <a:rPr sz="2250" spc="-330" dirty="0"/>
              <a:t> </a:t>
            </a:r>
            <a:r>
              <a:rPr sz="2250" dirty="0"/>
              <a:t>E</a:t>
            </a:r>
            <a:r>
              <a:rPr sz="2250" spc="-335" dirty="0"/>
              <a:t> </a:t>
            </a:r>
            <a:r>
              <a:rPr sz="2250" spc="-50" dirty="0"/>
              <a:t>D</a:t>
            </a:r>
            <a:r>
              <a:rPr sz="2250" dirty="0"/>
              <a:t>	</a:t>
            </a:r>
            <a:r>
              <a:rPr sz="2250" spc="-100" dirty="0"/>
              <a:t>L</a:t>
            </a:r>
            <a:r>
              <a:rPr sz="2250" spc="-335" dirty="0"/>
              <a:t> </a:t>
            </a:r>
            <a:r>
              <a:rPr sz="2250" dirty="0"/>
              <a:t>E</a:t>
            </a:r>
            <a:r>
              <a:rPr sz="2250" spc="-330" dirty="0"/>
              <a:t> </a:t>
            </a:r>
            <a:r>
              <a:rPr sz="2250" spc="60" dirty="0"/>
              <a:t>A</a:t>
            </a:r>
            <a:r>
              <a:rPr sz="2250" spc="-335" dirty="0"/>
              <a:t> </a:t>
            </a:r>
            <a:r>
              <a:rPr sz="2250" spc="-254" dirty="0"/>
              <a:t>R</a:t>
            </a:r>
            <a:r>
              <a:rPr sz="2250" spc="-330" dirty="0"/>
              <a:t> </a:t>
            </a:r>
            <a:r>
              <a:rPr sz="2250" spc="-60" dirty="0"/>
              <a:t>N</a:t>
            </a:r>
            <a:r>
              <a:rPr sz="2250" spc="-335" dirty="0"/>
              <a:t> </a:t>
            </a:r>
            <a:r>
              <a:rPr sz="2250" spc="-470" dirty="0"/>
              <a:t>I</a:t>
            </a:r>
            <a:r>
              <a:rPr sz="2250" spc="-330" dirty="0"/>
              <a:t> </a:t>
            </a:r>
            <a:r>
              <a:rPr sz="2250" spc="-60" dirty="0"/>
              <a:t>N</a:t>
            </a:r>
            <a:r>
              <a:rPr sz="2250" spc="-335" dirty="0"/>
              <a:t> </a:t>
            </a:r>
            <a:r>
              <a:rPr sz="2250" spc="30" dirty="0"/>
              <a:t>G</a:t>
            </a:r>
            <a:r>
              <a:rPr sz="2250" dirty="0"/>
              <a:t>	</a:t>
            </a:r>
            <a:r>
              <a:rPr sz="2250" spc="-170" dirty="0"/>
              <a:t>W</a:t>
            </a:r>
            <a:r>
              <a:rPr sz="2250" spc="-335" dirty="0"/>
              <a:t> </a:t>
            </a:r>
            <a:r>
              <a:rPr sz="2250" spc="-470" dirty="0"/>
              <a:t>I</a:t>
            </a:r>
            <a:r>
              <a:rPr sz="2250" spc="-335" dirty="0"/>
              <a:t> </a:t>
            </a:r>
            <a:r>
              <a:rPr sz="2250" spc="-90" dirty="0"/>
              <a:t>T</a:t>
            </a:r>
            <a:r>
              <a:rPr sz="2250" spc="-335" dirty="0"/>
              <a:t> </a:t>
            </a:r>
            <a:r>
              <a:rPr sz="2250" spc="-50" dirty="0"/>
              <a:t>H</a:t>
            </a:r>
            <a:r>
              <a:rPr sz="2250" dirty="0"/>
              <a:t>	</a:t>
            </a:r>
            <a:r>
              <a:rPr sz="2250" spc="-150" dirty="0"/>
              <a:t>S</a:t>
            </a:r>
            <a:r>
              <a:rPr sz="2250" spc="-335" dirty="0"/>
              <a:t> </a:t>
            </a:r>
            <a:r>
              <a:rPr sz="2250" spc="210" dirty="0"/>
              <a:t>C</a:t>
            </a:r>
            <a:r>
              <a:rPr sz="2250" spc="-335" dirty="0"/>
              <a:t> </a:t>
            </a:r>
            <a:r>
              <a:rPr sz="2250" spc="-470" dirty="0"/>
              <a:t>I</a:t>
            </a:r>
            <a:r>
              <a:rPr sz="2250" spc="-335" dirty="0"/>
              <a:t> </a:t>
            </a:r>
            <a:r>
              <a:rPr sz="2250" dirty="0"/>
              <a:t>K</a:t>
            </a:r>
            <a:r>
              <a:rPr sz="2250" spc="-335" dirty="0"/>
              <a:t> </a:t>
            </a:r>
            <a:r>
              <a:rPr sz="2250" spc="-470" dirty="0"/>
              <a:t>I</a:t>
            </a:r>
            <a:r>
              <a:rPr sz="2250" spc="-335" dirty="0"/>
              <a:t> </a:t>
            </a:r>
            <a:r>
              <a:rPr sz="2250" spc="-35" dirty="0"/>
              <a:t>T-</a:t>
            </a:r>
            <a:r>
              <a:rPr sz="2250" spc="-330" dirty="0"/>
              <a:t> </a:t>
            </a:r>
            <a:r>
              <a:rPr sz="2250" spc="-100" dirty="0"/>
              <a:t>L</a:t>
            </a:r>
            <a:r>
              <a:rPr sz="2250" spc="-335" dirty="0"/>
              <a:t> </a:t>
            </a:r>
            <a:r>
              <a:rPr sz="2250" dirty="0"/>
              <a:t>E</a:t>
            </a:r>
            <a:r>
              <a:rPr sz="2250" spc="-335" dirty="0"/>
              <a:t> </a:t>
            </a:r>
            <a:r>
              <a:rPr sz="2250" spc="60" dirty="0"/>
              <a:t>A</a:t>
            </a:r>
            <a:r>
              <a:rPr sz="2250" spc="-335" dirty="0"/>
              <a:t> </a:t>
            </a:r>
            <a:r>
              <a:rPr sz="2250" spc="-254" dirty="0"/>
              <a:t>R</a:t>
            </a:r>
            <a:r>
              <a:rPr sz="2250" spc="-335" dirty="0"/>
              <a:t> </a:t>
            </a:r>
            <a:r>
              <a:rPr sz="2250" spc="-50" dirty="0"/>
              <a:t>N</a:t>
            </a:r>
            <a:endParaRPr sz="2250"/>
          </a:p>
        </p:txBody>
      </p:sp>
      <p:sp>
        <p:nvSpPr>
          <p:cNvPr id="7" name="object 7"/>
          <p:cNvSpPr txBox="1"/>
          <p:nvPr/>
        </p:nvSpPr>
        <p:spPr>
          <a:xfrm>
            <a:off x="314826" y="6185734"/>
            <a:ext cx="5164455" cy="885190"/>
          </a:xfrm>
          <a:prstGeom prst="rect">
            <a:avLst/>
          </a:prstGeom>
        </p:spPr>
        <p:txBody>
          <a:bodyPr vert="horz" wrap="square" lIns="0" tIns="81915" rIns="0" bIns="0" rtlCol="0">
            <a:spAutoFit/>
          </a:bodyPr>
          <a:lstStyle/>
          <a:p>
            <a:pPr marL="12700">
              <a:lnSpc>
                <a:spcPct val="100000"/>
              </a:lnSpc>
              <a:spcBef>
                <a:spcPts val="645"/>
              </a:spcBef>
            </a:pPr>
            <a:r>
              <a:rPr sz="2550" b="1" dirty="0">
                <a:solidFill>
                  <a:srgbClr val="FFFFFF"/>
                </a:solidFill>
                <a:latin typeface="Tahoma"/>
                <a:cs typeface="Tahoma"/>
              </a:rPr>
              <a:t>George</a:t>
            </a:r>
            <a:r>
              <a:rPr sz="2550" b="1" spc="-180" dirty="0">
                <a:solidFill>
                  <a:srgbClr val="FFFFFF"/>
                </a:solidFill>
                <a:latin typeface="Tahoma"/>
                <a:cs typeface="Tahoma"/>
              </a:rPr>
              <a:t> </a:t>
            </a:r>
            <a:r>
              <a:rPr sz="2550" b="1" spc="-10" dirty="0">
                <a:solidFill>
                  <a:srgbClr val="FFFFFF"/>
                </a:solidFill>
                <a:latin typeface="Tahoma"/>
                <a:cs typeface="Tahoma"/>
              </a:rPr>
              <a:t>Boorman</a:t>
            </a:r>
            <a:endParaRPr sz="2550">
              <a:latin typeface="Tahoma"/>
              <a:cs typeface="Tahoma"/>
            </a:endParaRPr>
          </a:p>
          <a:p>
            <a:pPr marL="12700">
              <a:lnSpc>
                <a:spcPct val="100000"/>
              </a:lnSpc>
              <a:spcBef>
                <a:spcPts val="459"/>
              </a:spcBef>
            </a:pPr>
            <a:r>
              <a:rPr sz="2250" spc="125" dirty="0">
                <a:solidFill>
                  <a:srgbClr val="FFFFFF"/>
                </a:solidFill>
                <a:latin typeface="Tahoma"/>
                <a:cs typeface="Tahoma"/>
              </a:rPr>
              <a:t>Core</a:t>
            </a:r>
            <a:r>
              <a:rPr sz="2250" spc="-25" dirty="0">
                <a:solidFill>
                  <a:srgbClr val="FFFFFF"/>
                </a:solidFill>
                <a:latin typeface="Tahoma"/>
                <a:cs typeface="Tahoma"/>
              </a:rPr>
              <a:t> </a:t>
            </a:r>
            <a:r>
              <a:rPr sz="2250" spc="90" dirty="0">
                <a:solidFill>
                  <a:srgbClr val="FFFFFF"/>
                </a:solidFill>
                <a:latin typeface="Tahoma"/>
                <a:cs typeface="Tahoma"/>
              </a:rPr>
              <a:t>Curriculum</a:t>
            </a:r>
            <a:r>
              <a:rPr sz="2250" spc="-25" dirty="0">
                <a:solidFill>
                  <a:srgbClr val="FFFFFF"/>
                </a:solidFill>
                <a:latin typeface="Tahoma"/>
                <a:cs typeface="Tahoma"/>
              </a:rPr>
              <a:t> </a:t>
            </a:r>
            <a:r>
              <a:rPr sz="2250" spc="85" dirty="0">
                <a:solidFill>
                  <a:srgbClr val="FFFFFF"/>
                </a:solidFill>
                <a:latin typeface="Tahoma"/>
                <a:cs typeface="Tahoma"/>
              </a:rPr>
              <a:t>Manager,</a:t>
            </a:r>
            <a:r>
              <a:rPr sz="2250" spc="-25" dirty="0">
                <a:solidFill>
                  <a:srgbClr val="FFFFFF"/>
                </a:solidFill>
                <a:latin typeface="Tahoma"/>
                <a:cs typeface="Tahoma"/>
              </a:rPr>
              <a:t> </a:t>
            </a:r>
            <a:r>
              <a:rPr sz="2250" spc="160" dirty="0">
                <a:solidFill>
                  <a:srgbClr val="FFFFFF"/>
                </a:solidFill>
                <a:latin typeface="Tahoma"/>
                <a:cs typeface="Tahoma"/>
              </a:rPr>
              <a:t>DataCamp</a:t>
            </a:r>
            <a:endParaRPr sz="2250">
              <a:latin typeface="Tahoma"/>
              <a:cs typeface="Tahoma"/>
            </a:endParaRPr>
          </a:p>
        </p:txBody>
      </p:sp>
      <p:sp>
        <p:nvSpPr>
          <p:cNvPr id="10" name="슬라이드 번호 개체 틀 9">
            <a:extLst>
              <a:ext uri="{FF2B5EF4-FFF2-40B4-BE49-F238E27FC236}">
                <a16:creationId xmlns:a16="http://schemas.microsoft.com/office/drawing/2014/main" id="{C3FF6794-009F-313C-51A4-0D41DB8AD9D3}"/>
              </a:ext>
            </a:extLst>
          </p:cNvPr>
          <p:cNvSpPr>
            <a:spLocks noGrp="1"/>
          </p:cNvSpPr>
          <p:nvPr>
            <p:ph type="sldNum" sz="quarter" idx="7"/>
          </p:nvPr>
        </p:nvSpPr>
        <p:spPr/>
        <p:txBody>
          <a:bodyPr/>
          <a:lstStyle/>
          <a:p>
            <a:fld id="{B6F15528-21DE-4FAA-801E-634DDDAF4B2B}" type="slidenum">
              <a:rPr lang="en-US" altLang="ko-KR" smtClean="0"/>
              <a:t>1</a:t>
            </a:fld>
            <a:endParaRPr lang="en-US" altLang="ko-K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8589" y="273885"/>
            <a:ext cx="8157209" cy="713740"/>
          </a:xfrm>
          <a:prstGeom prst="rect">
            <a:avLst/>
          </a:prstGeom>
        </p:spPr>
        <p:txBody>
          <a:bodyPr vert="horz" wrap="square" lIns="0" tIns="13970" rIns="0" bIns="0" rtlCol="0">
            <a:spAutoFit/>
          </a:bodyPr>
          <a:lstStyle/>
          <a:p>
            <a:pPr marL="12700">
              <a:lnSpc>
                <a:spcPct val="100000"/>
              </a:lnSpc>
              <a:spcBef>
                <a:spcPts val="110"/>
              </a:spcBef>
            </a:pPr>
            <a:r>
              <a:rPr spc="-220" dirty="0"/>
              <a:t>Predicting</a:t>
            </a:r>
            <a:r>
              <a:rPr spc="-114" dirty="0"/>
              <a:t> </a:t>
            </a:r>
            <a:r>
              <a:rPr spc="-204" dirty="0"/>
              <a:t>blood</a:t>
            </a:r>
            <a:r>
              <a:rPr spc="-114" dirty="0"/>
              <a:t> </a:t>
            </a:r>
            <a:r>
              <a:rPr spc="-180" dirty="0"/>
              <a:t>glucose</a:t>
            </a:r>
            <a:r>
              <a:rPr spc="-110" dirty="0"/>
              <a:t> </a:t>
            </a:r>
            <a:r>
              <a:rPr spc="-165" dirty="0"/>
              <a:t>levels</a:t>
            </a:r>
          </a:p>
        </p:txBody>
      </p:sp>
      <p:grpSp>
        <p:nvGrpSpPr>
          <p:cNvPr id="3" name="object 3"/>
          <p:cNvGrpSpPr/>
          <p:nvPr/>
        </p:nvGrpSpPr>
        <p:grpSpPr>
          <a:xfrm>
            <a:off x="491289" y="1166811"/>
            <a:ext cx="14575155" cy="1801495"/>
            <a:chOff x="491289" y="1166811"/>
            <a:chExt cx="14575155" cy="1801495"/>
          </a:xfrm>
        </p:grpSpPr>
        <p:sp>
          <p:nvSpPr>
            <p:cNvPr id="4" name="object 4"/>
            <p:cNvSpPr/>
            <p:nvPr/>
          </p:nvSpPr>
          <p:spPr>
            <a:xfrm>
              <a:off x="491289" y="1166811"/>
              <a:ext cx="14575155" cy="1801495"/>
            </a:xfrm>
            <a:custGeom>
              <a:avLst/>
              <a:gdLst/>
              <a:ahLst/>
              <a:cxnLst/>
              <a:rect l="l" t="t" r="r" b="b"/>
              <a:pathLst>
                <a:path w="14575155" h="1801495">
                  <a:moveTo>
                    <a:pt x="14498413" y="1801394"/>
                  </a:moveTo>
                  <a:lnTo>
                    <a:pt x="76505" y="1801394"/>
                  </a:lnTo>
                  <a:lnTo>
                    <a:pt x="71180" y="1800869"/>
                  </a:lnTo>
                  <a:lnTo>
                    <a:pt x="31920" y="1784607"/>
                  </a:lnTo>
                  <a:lnTo>
                    <a:pt x="4175" y="1745879"/>
                  </a:lnTo>
                  <a:lnTo>
                    <a:pt x="0" y="1724888"/>
                  </a:lnTo>
                  <a:lnTo>
                    <a:pt x="0" y="1719512"/>
                  </a:lnTo>
                  <a:lnTo>
                    <a:pt x="0" y="76505"/>
                  </a:lnTo>
                  <a:lnTo>
                    <a:pt x="16786" y="31920"/>
                  </a:lnTo>
                  <a:lnTo>
                    <a:pt x="55513" y="4175"/>
                  </a:lnTo>
                  <a:lnTo>
                    <a:pt x="76505" y="0"/>
                  </a:lnTo>
                  <a:lnTo>
                    <a:pt x="14498413" y="0"/>
                  </a:lnTo>
                  <a:lnTo>
                    <a:pt x="14542998" y="16786"/>
                  </a:lnTo>
                  <a:lnTo>
                    <a:pt x="14570742" y="55513"/>
                  </a:lnTo>
                  <a:lnTo>
                    <a:pt x="14574918" y="76505"/>
                  </a:lnTo>
                  <a:lnTo>
                    <a:pt x="14574918" y="1724888"/>
                  </a:lnTo>
                  <a:lnTo>
                    <a:pt x="14558132" y="1769473"/>
                  </a:lnTo>
                  <a:lnTo>
                    <a:pt x="14519404" y="1797218"/>
                  </a:lnTo>
                  <a:lnTo>
                    <a:pt x="14503737" y="1800869"/>
                  </a:lnTo>
                  <a:lnTo>
                    <a:pt x="14498413" y="1801394"/>
                  </a:lnTo>
                  <a:close/>
                </a:path>
              </a:pathLst>
            </a:custGeom>
            <a:solidFill>
              <a:srgbClr val="F6F2EB"/>
            </a:solidFill>
          </p:spPr>
          <p:txBody>
            <a:bodyPr wrap="square" lIns="0" tIns="0" rIns="0" bIns="0" rtlCol="0"/>
            <a:lstStyle/>
            <a:p>
              <a:endParaRPr/>
            </a:p>
          </p:txBody>
        </p:sp>
        <p:sp>
          <p:nvSpPr>
            <p:cNvPr id="5" name="object 5"/>
            <p:cNvSpPr/>
            <p:nvPr/>
          </p:nvSpPr>
          <p:spPr>
            <a:xfrm>
              <a:off x="677989" y="1447482"/>
              <a:ext cx="2715895" cy="283210"/>
            </a:xfrm>
            <a:custGeom>
              <a:avLst/>
              <a:gdLst/>
              <a:ahLst/>
              <a:cxnLst/>
              <a:rect l="l" t="t" r="r" b="b"/>
              <a:pathLst>
                <a:path w="2715895" h="283210">
                  <a:moveTo>
                    <a:pt x="99288" y="16510"/>
                  </a:moveTo>
                  <a:lnTo>
                    <a:pt x="96977" y="10909"/>
                  </a:lnTo>
                  <a:lnTo>
                    <a:pt x="87744" y="2184"/>
                  </a:lnTo>
                  <a:lnTo>
                    <a:pt x="81864" y="0"/>
                  </a:lnTo>
                  <a:lnTo>
                    <a:pt x="61861" y="0"/>
                  </a:lnTo>
                  <a:lnTo>
                    <a:pt x="55981" y="2184"/>
                  </a:lnTo>
                  <a:lnTo>
                    <a:pt x="46748" y="10909"/>
                  </a:lnTo>
                  <a:lnTo>
                    <a:pt x="44437" y="16510"/>
                  </a:lnTo>
                  <a:lnTo>
                    <a:pt x="44437" y="30264"/>
                  </a:lnTo>
                  <a:lnTo>
                    <a:pt x="46697" y="35814"/>
                  </a:lnTo>
                  <a:lnTo>
                    <a:pt x="51219" y="40017"/>
                  </a:lnTo>
                  <a:lnTo>
                    <a:pt x="55791" y="44170"/>
                  </a:lnTo>
                  <a:lnTo>
                    <a:pt x="61722" y="46240"/>
                  </a:lnTo>
                  <a:lnTo>
                    <a:pt x="81775" y="46240"/>
                  </a:lnTo>
                  <a:lnTo>
                    <a:pt x="87630" y="44170"/>
                  </a:lnTo>
                  <a:lnTo>
                    <a:pt x="96977" y="35814"/>
                  </a:lnTo>
                  <a:lnTo>
                    <a:pt x="99288" y="30264"/>
                  </a:lnTo>
                  <a:lnTo>
                    <a:pt x="99288" y="16510"/>
                  </a:lnTo>
                  <a:close/>
                </a:path>
                <a:path w="2715895" h="283210">
                  <a:moveTo>
                    <a:pt x="146583" y="195694"/>
                  </a:moveTo>
                  <a:lnTo>
                    <a:pt x="93548" y="195694"/>
                  </a:lnTo>
                  <a:lnTo>
                    <a:pt x="93548" y="61569"/>
                  </a:lnTo>
                  <a:lnTo>
                    <a:pt x="7137" y="61569"/>
                  </a:lnTo>
                  <a:lnTo>
                    <a:pt x="7137" y="96964"/>
                  </a:lnTo>
                  <a:lnTo>
                    <a:pt x="55841" y="96964"/>
                  </a:lnTo>
                  <a:lnTo>
                    <a:pt x="55841" y="195694"/>
                  </a:lnTo>
                  <a:lnTo>
                    <a:pt x="0" y="195694"/>
                  </a:lnTo>
                  <a:lnTo>
                    <a:pt x="0" y="231089"/>
                  </a:lnTo>
                  <a:lnTo>
                    <a:pt x="146583" y="231089"/>
                  </a:lnTo>
                  <a:lnTo>
                    <a:pt x="146583" y="195694"/>
                  </a:lnTo>
                  <a:close/>
                </a:path>
                <a:path w="2715895" h="283210">
                  <a:moveTo>
                    <a:pt x="313918" y="105359"/>
                  </a:moveTo>
                  <a:lnTo>
                    <a:pt x="313309" y="95554"/>
                  </a:lnTo>
                  <a:lnTo>
                    <a:pt x="312242" y="90385"/>
                  </a:lnTo>
                  <a:lnTo>
                    <a:pt x="311467" y="86677"/>
                  </a:lnTo>
                  <a:lnTo>
                    <a:pt x="310819" y="85001"/>
                  </a:lnTo>
                  <a:lnTo>
                    <a:pt x="310743" y="84797"/>
                  </a:lnTo>
                  <a:lnTo>
                    <a:pt x="276771" y="58699"/>
                  </a:lnTo>
                  <a:lnTo>
                    <a:pt x="268414" y="58699"/>
                  </a:lnTo>
                  <a:lnTo>
                    <a:pt x="261734" y="61010"/>
                  </a:lnTo>
                  <a:lnTo>
                    <a:pt x="260883" y="61569"/>
                  </a:lnTo>
                  <a:lnTo>
                    <a:pt x="250063" y="70827"/>
                  </a:lnTo>
                  <a:lnTo>
                    <a:pt x="249758" y="71767"/>
                  </a:lnTo>
                  <a:lnTo>
                    <a:pt x="249199" y="70192"/>
                  </a:lnTo>
                  <a:lnTo>
                    <a:pt x="248323" y="69469"/>
                  </a:lnTo>
                  <a:lnTo>
                    <a:pt x="248323" y="78765"/>
                  </a:lnTo>
                  <a:lnTo>
                    <a:pt x="248069" y="77025"/>
                  </a:lnTo>
                  <a:lnTo>
                    <a:pt x="248183" y="76657"/>
                  </a:lnTo>
                  <a:lnTo>
                    <a:pt x="248208" y="77025"/>
                  </a:lnTo>
                  <a:lnTo>
                    <a:pt x="248323" y="78765"/>
                  </a:lnTo>
                  <a:lnTo>
                    <a:pt x="248323" y="69469"/>
                  </a:lnTo>
                  <a:lnTo>
                    <a:pt x="243738" y="65620"/>
                  </a:lnTo>
                  <a:lnTo>
                    <a:pt x="238328" y="61010"/>
                  </a:lnTo>
                  <a:lnTo>
                    <a:pt x="231660" y="58699"/>
                  </a:lnTo>
                  <a:lnTo>
                    <a:pt x="215379" y="58699"/>
                  </a:lnTo>
                  <a:lnTo>
                    <a:pt x="208813" y="61010"/>
                  </a:lnTo>
                  <a:lnTo>
                    <a:pt x="208572" y="61010"/>
                  </a:lnTo>
                  <a:lnTo>
                    <a:pt x="201422" y="67233"/>
                  </a:lnTo>
                  <a:lnTo>
                    <a:pt x="202463" y="61569"/>
                  </a:lnTo>
                  <a:lnTo>
                    <a:pt x="195427" y="61569"/>
                  </a:lnTo>
                  <a:lnTo>
                    <a:pt x="195427" y="78765"/>
                  </a:lnTo>
                  <a:lnTo>
                    <a:pt x="195110" y="77025"/>
                  </a:lnTo>
                  <a:lnTo>
                    <a:pt x="195237" y="76657"/>
                  </a:lnTo>
                  <a:lnTo>
                    <a:pt x="195275" y="77025"/>
                  </a:lnTo>
                  <a:lnTo>
                    <a:pt x="195427" y="78765"/>
                  </a:lnTo>
                  <a:lnTo>
                    <a:pt x="195427" y="61569"/>
                  </a:lnTo>
                  <a:lnTo>
                    <a:pt x="167894" y="61569"/>
                  </a:lnTo>
                  <a:lnTo>
                    <a:pt x="167894" y="231089"/>
                  </a:lnTo>
                  <a:lnTo>
                    <a:pt x="203581" y="231089"/>
                  </a:lnTo>
                  <a:lnTo>
                    <a:pt x="203581" y="99631"/>
                  </a:lnTo>
                  <a:lnTo>
                    <a:pt x="204444" y="95935"/>
                  </a:lnTo>
                  <a:lnTo>
                    <a:pt x="207937" y="91516"/>
                  </a:lnTo>
                  <a:lnTo>
                    <a:pt x="210464" y="90385"/>
                  </a:lnTo>
                  <a:lnTo>
                    <a:pt x="217182" y="90385"/>
                  </a:lnTo>
                  <a:lnTo>
                    <a:pt x="219697" y="91516"/>
                  </a:lnTo>
                  <a:lnTo>
                    <a:pt x="223405" y="95935"/>
                  </a:lnTo>
                  <a:lnTo>
                    <a:pt x="224548" y="99631"/>
                  </a:lnTo>
                  <a:lnTo>
                    <a:pt x="224637" y="231089"/>
                  </a:lnTo>
                  <a:lnTo>
                    <a:pt x="257175" y="231089"/>
                  </a:lnTo>
                  <a:lnTo>
                    <a:pt x="257200" y="99631"/>
                  </a:lnTo>
                  <a:lnTo>
                    <a:pt x="258229" y="95935"/>
                  </a:lnTo>
                  <a:lnTo>
                    <a:pt x="262013" y="91516"/>
                  </a:lnTo>
                  <a:lnTo>
                    <a:pt x="264566" y="90385"/>
                  </a:lnTo>
                  <a:lnTo>
                    <a:pt x="271284" y="90385"/>
                  </a:lnTo>
                  <a:lnTo>
                    <a:pt x="273748" y="91516"/>
                  </a:lnTo>
                  <a:lnTo>
                    <a:pt x="277139" y="95935"/>
                  </a:lnTo>
                  <a:lnTo>
                    <a:pt x="278155" y="99631"/>
                  </a:lnTo>
                  <a:lnTo>
                    <a:pt x="278231" y="231089"/>
                  </a:lnTo>
                  <a:lnTo>
                    <a:pt x="313918" y="231089"/>
                  </a:lnTo>
                  <a:lnTo>
                    <a:pt x="313918" y="105359"/>
                  </a:lnTo>
                  <a:close/>
                </a:path>
                <a:path w="2715895" h="283210">
                  <a:moveTo>
                    <a:pt x="479577" y="123139"/>
                  </a:moveTo>
                  <a:lnTo>
                    <a:pt x="478612" y="109270"/>
                  </a:lnTo>
                  <a:lnTo>
                    <a:pt x="475729" y="96850"/>
                  </a:lnTo>
                  <a:lnTo>
                    <a:pt x="474027" y="92976"/>
                  </a:lnTo>
                  <a:lnTo>
                    <a:pt x="470916" y="85864"/>
                  </a:lnTo>
                  <a:lnTo>
                    <a:pt x="464185" y="76327"/>
                  </a:lnTo>
                  <a:lnTo>
                    <a:pt x="455815" y="68618"/>
                  </a:lnTo>
                  <a:lnTo>
                    <a:pt x="446062" y="63106"/>
                  </a:lnTo>
                  <a:lnTo>
                    <a:pt x="441934" y="61887"/>
                  </a:lnTo>
                  <a:lnTo>
                    <a:pt x="441934" y="114134"/>
                  </a:lnTo>
                  <a:lnTo>
                    <a:pt x="441934" y="178523"/>
                  </a:lnTo>
                  <a:lnTo>
                    <a:pt x="439534" y="186499"/>
                  </a:lnTo>
                  <a:lnTo>
                    <a:pt x="430009" y="196951"/>
                  </a:lnTo>
                  <a:lnTo>
                    <a:pt x="422922" y="199682"/>
                  </a:lnTo>
                  <a:lnTo>
                    <a:pt x="404774" y="199682"/>
                  </a:lnTo>
                  <a:lnTo>
                    <a:pt x="385114" y="178523"/>
                  </a:lnTo>
                  <a:lnTo>
                    <a:pt x="385114" y="114134"/>
                  </a:lnTo>
                  <a:lnTo>
                    <a:pt x="387515" y="106692"/>
                  </a:lnTo>
                  <a:lnTo>
                    <a:pt x="396392" y="97180"/>
                  </a:lnTo>
                  <a:lnTo>
                    <a:pt x="396697" y="96850"/>
                  </a:lnTo>
                  <a:lnTo>
                    <a:pt x="398030" y="95618"/>
                  </a:lnTo>
                  <a:lnTo>
                    <a:pt x="404774" y="92976"/>
                  </a:lnTo>
                  <a:lnTo>
                    <a:pt x="422922" y="92976"/>
                  </a:lnTo>
                  <a:lnTo>
                    <a:pt x="429920" y="95618"/>
                  </a:lnTo>
                  <a:lnTo>
                    <a:pt x="439534" y="106159"/>
                  </a:lnTo>
                  <a:lnTo>
                    <a:pt x="441934" y="114134"/>
                  </a:lnTo>
                  <a:lnTo>
                    <a:pt x="441934" y="61887"/>
                  </a:lnTo>
                  <a:lnTo>
                    <a:pt x="434898" y="59804"/>
                  </a:lnTo>
                  <a:lnTo>
                    <a:pt x="422338" y="58699"/>
                  </a:lnTo>
                  <a:lnTo>
                    <a:pt x="412864" y="59334"/>
                  </a:lnTo>
                  <a:lnTo>
                    <a:pt x="382752" y="75780"/>
                  </a:lnTo>
                  <a:lnTo>
                    <a:pt x="384975" y="61569"/>
                  </a:lnTo>
                  <a:lnTo>
                    <a:pt x="378472" y="61569"/>
                  </a:lnTo>
                  <a:lnTo>
                    <a:pt x="378472" y="195973"/>
                  </a:lnTo>
                  <a:lnTo>
                    <a:pt x="378434" y="196951"/>
                  </a:lnTo>
                  <a:lnTo>
                    <a:pt x="378320" y="199682"/>
                  </a:lnTo>
                  <a:lnTo>
                    <a:pt x="378117" y="204343"/>
                  </a:lnTo>
                  <a:lnTo>
                    <a:pt x="378472" y="195973"/>
                  </a:lnTo>
                  <a:lnTo>
                    <a:pt x="378472" y="61569"/>
                  </a:lnTo>
                  <a:lnTo>
                    <a:pt x="347332" y="61569"/>
                  </a:lnTo>
                  <a:lnTo>
                    <a:pt x="347332" y="282663"/>
                  </a:lnTo>
                  <a:lnTo>
                    <a:pt x="384975" y="282663"/>
                  </a:lnTo>
                  <a:lnTo>
                    <a:pt x="384771" y="229552"/>
                  </a:lnTo>
                  <a:lnTo>
                    <a:pt x="382752" y="216966"/>
                  </a:lnTo>
                  <a:lnTo>
                    <a:pt x="383425" y="218160"/>
                  </a:lnTo>
                  <a:lnTo>
                    <a:pt x="422338" y="233959"/>
                  </a:lnTo>
                  <a:lnTo>
                    <a:pt x="434898" y="232867"/>
                  </a:lnTo>
                  <a:lnTo>
                    <a:pt x="470916" y="206781"/>
                  </a:lnTo>
                  <a:lnTo>
                    <a:pt x="479577" y="169240"/>
                  </a:lnTo>
                  <a:lnTo>
                    <a:pt x="479577" y="123139"/>
                  </a:lnTo>
                  <a:close/>
                </a:path>
                <a:path w="2715895" h="283210">
                  <a:moveTo>
                    <a:pt x="651522" y="124536"/>
                  </a:moveTo>
                  <a:lnTo>
                    <a:pt x="641324" y="86131"/>
                  </a:lnTo>
                  <a:lnTo>
                    <a:pt x="613879" y="63957"/>
                  </a:lnTo>
                  <a:lnTo>
                    <a:pt x="613879" y="114363"/>
                  </a:lnTo>
                  <a:lnTo>
                    <a:pt x="613879" y="178295"/>
                  </a:lnTo>
                  <a:lnTo>
                    <a:pt x="611403" y="186131"/>
                  </a:lnTo>
                  <a:lnTo>
                    <a:pt x="601573" y="196532"/>
                  </a:lnTo>
                  <a:lnTo>
                    <a:pt x="594360" y="199123"/>
                  </a:lnTo>
                  <a:lnTo>
                    <a:pt x="575284" y="199123"/>
                  </a:lnTo>
                  <a:lnTo>
                    <a:pt x="568058" y="196532"/>
                  </a:lnTo>
                  <a:lnTo>
                    <a:pt x="558253" y="186131"/>
                  </a:lnTo>
                  <a:lnTo>
                    <a:pt x="555802" y="178295"/>
                  </a:lnTo>
                  <a:lnTo>
                    <a:pt x="555802" y="114363"/>
                  </a:lnTo>
                  <a:lnTo>
                    <a:pt x="558253" y="106553"/>
                  </a:lnTo>
                  <a:lnTo>
                    <a:pt x="568058" y="96151"/>
                  </a:lnTo>
                  <a:lnTo>
                    <a:pt x="575284" y="93535"/>
                  </a:lnTo>
                  <a:lnTo>
                    <a:pt x="594360" y="93535"/>
                  </a:lnTo>
                  <a:lnTo>
                    <a:pt x="601573" y="96151"/>
                  </a:lnTo>
                  <a:lnTo>
                    <a:pt x="606463" y="101371"/>
                  </a:lnTo>
                  <a:lnTo>
                    <a:pt x="611403" y="106553"/>
                  </a:lnTo>
                  <a:lnTo>
                    <a:pt x="613879" y="63957"/>
                  </a:lnTo>
                  <a:lnTo>
                    <a:pt x="584847" y="58699"/>
                  </a:lnTo>
                  <a:lnTo>
                    <a:pt x="570331" y="59804"/>
                  </a:lnTo>
                  <a:lnTo>
                    <a:pt x="528269" y="86131"/>
                  </a:lnTo>
                  <a:lnTo>
                    <a:pt x="518121" y="124536"/>
                  </a:lnTo>
                  <a:lnTo>
                    <a:pt x="518096" y="167843"/>
                  </a:lnTo>
                  <a:lnTo>
                    <a:pt x="519226" y="182333"/>
                  </a:lnTo>
                  <a:lnTo>
                    <a:pt x="545985" y="223964"/>
                  </a:lnTo>
                  <a:lnTo>
                    <a:pt x="584847" y="233959"/>
                  </a:lnTo>
                  <a:lnTo>
                    <a:pt x="599325" y="232854"/>
                  </a:lnTo>
                  <a:lnTo>
                    <a:pt x="641324" y="206502"/>
                  </a:lnTo>
                  <a:lnTo>
                    <a:pt x="651522" y="167843"/>
                  </a:lnTo>
                  <a:lnTo>
                    <a:pt x="651522" y="124536"/>
                  </a:lnTo>
                  <a:close/>
                </a:path>
                <a:path w="2715895" h="283210">
                  <a:moveTo>
                    <a:pt x="829767" y="122580"/>
                  </a:moveTo>
                  <a:lnTo>
                    <a:pt x="828738" y="108788"/>
                  </a:lnTo>
                  <a:lnTo>
                    <a:pt x="825665" y="96443"/>
                  </a:lnTo>
                  <a:lnTo>
                    <a:pt x="823760" y="92417"/>
                  </a:lnTo>
                  <a:lnTo>
                    <a:pt x="820521" y="85559"/>
                  </a:lnTo>
                  <a:lnTo>
                    <a:pt x="782447" y="59778"/>
                  </a:lnTo>
                  <a:lnTo>
                    <a:pt x="769391" y="58699"/>
                  </a:lnTo>
                  <a:lnTo>
                    <a:pt x="752386" y="61010"/>
                  </a:lnTo>
                  <a:lnTo>
                    <a:pt x="739787" y="67932"/>
                  </a:lnTo>
                  <a:lnTo>
                    <a:pt x="731608" y="79476"/>
                  </a:lnTo>
                  <a:lnTo>
                    <a:pt x="727824" y="95643"/>
                  </a:lnTo>
                  <a:lnTo>
                    <a:pt x="727913" y="95148"/>
                  </a:lnTo>
                  <a:lnTo>
                    <a:pt x="733780" y="61569"/>
                  </a:lnTo>
                  <a:lnTo>
                    <a:pt x="696696" y="61569"/>
                  </a:lnTo>
                  <a:lnTo>
                    <a:pt x="696696" y="231089"/>
                  </a:lnTo>
                  <a:lnTo>
                    <a:pt x="734339" y="231089"/>
                  </a:lnTo>
                  <a:lnTo>
                    <a:pt x="734390" y="114134"/>
                  </a:lnTo>
                  <a:lnTo>
                    <a:pt x="736879" y="106299"/>
                  </a:lnTo>
                  <a:lnTo>
                    <a:pt x="746683" y="95643"/>
                  </a:lnTo>
                  <a:lnTo>
                    <a:pt x="747217" y="95148"/>
                  </a:lnTo>
                  <a:lnTo>
                    <a:pt x="754227" y="92417"/>
                  </a:lnTo>
                  <a:lnTo>
                    <a:pt x="772706" y="92417"/>
                  </a:lnTo>
                  <a:lnTo>
                    <a:pt x="779818" y="95148"/>
                  </a:lnTo>
                  <a:lnTo>
                    <a:pt x="789660" y="106057"/>
                  </a:lnTo>
                  <a:lnTo>
                    <a:pt x="789724" y="106299"/>
                  </a:lnTo>
                  <a:lnTo>
                    <a:pt x="792124" y="114134"/>
                  </a:lnTo>
                  <a:lnTo>
                    <a:pt x="792124" y="137972"/>
                  </a:lnTo>
                  <a:lnTo>
                    <a:pt x="829767" y="137972"/>
                  </a:lnTo>
                  <a:lnTo>
                    <a:pt x="829767" y="122580"/>
                  </a:lnTo>
                  <a:close/>
                </a:path>
                <a:path w="2715895" h="283210">
                  <a:moveTo>
                    <a:pt x="997737" y="61569"/>
                  </a:moveTo>
                  <a:lnTo>
                    <a:pt x="934694" y="61569"/>
                  </a:lnTo>
                  <a:lnTo>
                    <a:pt x="934694" y="18605"/>
                  </a:lnTo>
                  <a:lnTo>
                    <a:pt x="896975" y="18605"/>
                  </a:lnTo>
                  <a:lnTo>
                    <a:pt x="896975" y="61569"/>
                  </a:lnTo>
                  <a:lnTo>
                    <a:pt x="852551" y="61569"/>
                  </a:lnTo>
                  <a:lnTo>
                    <a:pt x="852551" y="96964"/>
                  </a:lnTo>
                  <a:lnTo>
                    <a:pt x="896975" y="96964"/>
                  </a:lnTo>
                  <a:lnTo>
                    <a:pt x="896975" y="183591"/>
                  </a:lnTo>
                  <a:lnTo>
                    <a:pt x="897801" y="194144"/>
                  </a:lnTo>
                  <a:lnTo>
                    <a:pt x="925614" y="227952"/>
                  </a:lnTo>
                  <a:lnTo>
                    <a:pt x="945959" y="231089"/>
                  </a:lnTo>
                  <a:lnTo>
                    <a:pt x="994867" y="231089"/>
                  </a:lnTo>
                  <a:lnTo>
                    <a:pt x="994867" y="195694"/>
                  </a:lnTo>
                  <a:lnTo>
                    <a:pt x="941755" y="195694"/>
                  </a:lnTo>
                  <a:lnTo>
                    <a:pt x="938822" y="194805"/>
                  </a:lnTo>
                  <a:lnTo>
                    <a:pt x="935507" y="191262"/>
                  </a:lnTo>
                  <a:lnTo>
                    <a:pt x="934694" y="188112"/>
                  </a:lnTo>
                  <a:lnTo>
                    <a:pt x="934694" y="96964"/>
                  </a:lnTo>
                  <a:lnTo>
                    <a:pt x="997737" y="96964"/>
                  </a:lnTo>
                  <a:lnTo>
                    <a:pt x="997737" y="61569"/>
                  </a:lnTo>
                  <a:close/>
                </a:path>
                <a:path w="2715895" h="283210">
                  <a:moveTo>
                    <a:pt x="2541981" y="158610"/>
                  </a:moveTo>
                  <a:lnTo>
                    <a:pt x="2541943" y="149415"/>
                  </a:lnTo>
                  <a:lnTo>
                    <a:pt x="2541828" y="115023"/>
                  </a:lnTo>
                  <a:lnTo>
                    <a:pt x="2541092" y="106768"/>
                  </a:lnTo>
                  <a:lnTo>
                    <a:pt x="2514371" y="67716"/>
                  </a:lnTo>
                  <a:lnTo>
                    <a:pt x="2489962" y="59817"/>
                  </a:lnTo>
                  <a:lnTo>
                    <a:pt x="2488577" y="59817"/>
                  </a:lnTo>
                  <a:lnTo>
                    <a:pt x="2476423" y="58978"/>
                  </a:lnTo>
                  <a:lnTo>
                    <a:pt x="2431643" y="72339"/>
                  </a:lnTo>
                  <a:lnTo>
                    <a:pt x="2409748" y="115023"/>
                  </a:lnTo>
                  <a:lnTo>
                    <a:pt x="2447531" y="115023"/>
                  </a:lnTo>
                  <a:lnTo>
                    <a:pt x="2448687" y="106768"/>
                  </a:lnTo>
                  <a:lnTo>
                    <a:pt x="2451684" y="101117"/>
                  </a:lnTo>
                  <a:lnTo>
                    <a:pt x="2461336" y="95059"/>
                  </a:lnTo>
                  <a:lnTo>
                    <a:pt x="2467889" y="93535"/>
                  </a:lnTo>
                  <a:lnTo>
                    <a:pt x="2485339" y="93535"/>
                  </a:lnTo>
                  <a:lnTo>
                    <a:pt x="2492311" y="95643"/>
                  </a:lnTo>
                  <a:lnTo>
                    <a:pt x="2497061" y="99834"/>
                  </a:lnTo>
                  <a:lnTo>
                    <a:pt x="2501874" y="103987"/>
                  </a:lnTo>
                  <a:lnTo>
                    <a:pt x="2504275" y="109931"/>
                  </a:lnTo>
                  <a:lnTo>
                    <a:pt x="2504275" y="126911"/>
                  </a:lnTo>
                  <a:lnTo>
                    <a:pt x="2504275" y="158610"/>
                  </a:lnTo>
                  <a:lnTo>
                    <a:pt x="2504275" y="182727"/>
                  </a:lnTo>
                  <a:lnTo>
                    <a:pt x="2500909" y="189115"/>
                  </a:lnTo>
                  <a:lnTo>
                    <a:pt x="2467254" y="201714"/>
                  </a:lnTo>
                  <a:lnTo>
                    <a:pt x="2458580" y="201714"/>
                  </a:lnTo>
                  <a:lnTo>
                    <a:pt x="2451912" y="199745"/>
                  </a:lnTo>
                  <a:lnTo>
                    <a:pt x="2442578" y="191909"/>
                  </a:lnTo>
                  <a:lnTo>
                    <a:pt x="2440254" y="186499"/>
                  </a:lnTo>
                  <a:lnTo>
                    <a:pt x="2440254" y="172885"/>
                  </a:lnTo>
                  <a:lnTo>
                    <a:pt x="2442133" y="167703"/>
                  </a:lnTo>
                  <a:lnTo>
                    <a:pt x="2449690" y="160426"/>
                  </a:lnTo>
                  <a:lnTo>
                    <a:pt x="2455087" y="158610"/>
                  </a:lnTo>
                  <a:lnTo>
                    <a:pt x="2504275" y="158610"/>
                  </a:lnTo>
                  <a:lnTo>
                    <a:pt x="2504275" y="126911"/>
                  </a:lnTo>
                  <a:lnTo>
                    <a:pt x="2461526" y="126911"/>
                  </a:lnTo>
                  <a:lnTo>
                    <a:pt x="2448737" y="127825"/>
                  </a:lnTo>
                  <a:lnTo>
                    <a:pt x="2411552" y="149415"/>
                  </a:lnTo>
                  <a:lnTo>
                    <a:pt x="2402535" y="181279"/>
                  </a:lnTo>
                  <a:lnTo>
                    <a:pt x="2403551" y="192760"/>
                  </a:lnTo>
                  <a:lnTo>
                    <a:pt x="2427452" y="225971"/>
                  </a:lnTo>
                  <a:lnTo>
                    <a:pt x="2461234" y="233959"/>
                  </a:lnTo>
                  <a:lnTo>
                    <a:pt x="2472017" y="233324"/>
                  </a:lnTo>
                  <a:lnTo>
                    <a:pt x="2507272" y="215988"/>
                  </a:lnTo>
                  <a:lnTo>
                    <a:pt x="2504897" y="231089"/>
                  </a:lnTo>
                  <a:lnTo>
                    <a:pt x="2541981" y="231089"/>
                  </a:lnTo>
                  <a:lnTo>
                    <a:pt x="2541981" y="195414"/>
                  </a:lnTo>
                  <a:lnTo>
                    <a:pt x="2541981" y="158610"/>
                  </a:lnTo>
                  <a:close/>
                </a:path>
                <a:path w="2715895" h="283210">
                  <a:moveTo>
                    <a:pt x="2715310" y="180505"/>
                  </a:moveTo>
                  <a:lnTo>
                    <a:pt x="2694648" y="139420"/>
                  </a:lnTo>
                  <a:lnTo>
                    <a:pt x="2640393" y="124955"/>
                  </a:lnTo>
                  <a:lnTo>
                    <a:pt x="2633116" y="123837"/>
                  </a:lnTo>
                  <a:lnTo>
                    <a:pt x="2628176" y="122174"/>
                  </a:lnTo>
                  <a:lnTo>
                    <a:pt x="2622956" y="117792"/>
                  </a:lnTo>
                  <a:lnTo>
                    <a:pt x="2621648" y="114439"/>
                  </a:lnTo>
                  <a:lnTo>
                    <a:pt x="2621699" y="109626"/>
                  </a:lnTo>
                  <a:lnTo>
                    <a:pt x="2623032" y="102743"/>
                  </a:lnTo>
                  <a:lnTo>
                    <a:pt x="2627185" y="97624"/>
                  </a:lnTo>
                  <a:lnTo>
                    <a:pt x="2634081" y="94564"/>
                  </a:lnTo>
                  <a:lnTo>
                    <a:pt x="2643759" y="93535"/>
                  </a:lnTo>
                  <a:lnTo>
                    <a:pt x="2660967" y="93535"/>
                  </a:lnTo>
                  <a:lnTo>
                    <a:pt x="2665311" y="94564"/>
                  </a:lnTo>
                  <a:lnTo>
                    <a:pt x="2665692" y="94564"/>
                  </a:lnTo>
                  <a:lnTo>
                    <a:pt x="2673096" y="99326"/>
                  </a:lnTo>
                  <a:lnTo>
                    <a:pt x="2675610" y="103797"/>
                  </a:lnTo>
                  <a:lnTo>
                    <a:pt x="2677058" y="110477"/>
                  </a:lnTo>
                  <a:lnTo>
                    <a:pt x="2714637" y="110477"/>
                  </a:lnTo>
                  <a:lnTo>
                    <a:pt x="2694698" y="70802"/>
                  </a:lnTo>
                  <a:lnTo>
                    <a:pt x="2654668" y="58699"/>
                  </a:lnTo>
                  <a:lnTo>
                    <a:pt x="2643759" y="58699"/>
                  </a:lnTo>
                  <a:lnTo>
                    <a:pt x="2631579" y="59448"/>
                  </a:lnTo>
                  <a:lnTo>
                    <a:pt x="2630690" y="59448"/>
                  </a:lnTo>
                  <a:lnTo>
                    <a:pt x="2592755" y="79425"/>
                  </a:lnTo>
                  <a:lnTo>
                    <a:pt x="2583929" y="109626"/>
                  </a:lnTo>
                  <a:lnTo>
                    <a:pt x="2583992" y="110477"/>
                  </a:lnTo>
                  <a:lnTo>
                    <a:pt x="2603855" y="149872"/>
                  </a:lnTo>
                  <a:lnTo>
                    <a:pt x="2656001" y="163995"/>
                  </a:lnTo>
                  <a:lnTo>
                    <a:pt x="2665488" y="166408"/>
                  </a:lnTo>
                  <a:lnTo>
                    <a:pt x="2672270" y="170192"/>
                  </a:lnTo>
                  <a:lnTo>
                    <a:pt x="2676334" y="175361"/>
                  </a:lnTo>
                  <a:lnTo>
                    <a:pt x="2677693" y="181902"/>
                  </a:lnTo>
                  <a:lnTo>
                    <a:pt x="2677693" y="187083"/>
                  </a:lnTo>
                  <a:lnTo>
                    <a:pt x="2675775" y="191262"/>
                  </a:lnTo>
                  <a:lnTo>
                    <a:pt x="2668181" y="197561"/>
                  </a:lnTo>
                  <a:lnTo>
                    <a:pt x="2662047" y="199123"/>
                  </a:lnTo>
                  <a:lnTo>
                    <a:pt x="2634475" y="199123"/>
                  </a:lnTo>
                  <a:lnTo>
                    <a:pt x="2616885" y="180505"/>
                  </a:lnTo>
                  <a:lnTo>
                    <a:pt x="2579459" y="180505"/>
                  </a:lnTo>
                  <a:lnTo>
                    <a:pt x="2599118" y="221373"/>
                  </a:lnTo>
                  <a:lnTo>
                    <a:pt x="2628646" y="233083"/>
                  </a:lnTo>
                  <a:lnTo>
                    <a:pt x="2627630" y="233083"/>
                  </a:lnTo>
                  <a:lnTo>
                    <a:pt x="2641511" y="233959"/>
                  </a:lnTo>
                  <a:lnTo>
                    <a:pt x="2653550" y="233959"/>
                  </a:lnTo>
                  <a:lnTo>
                    <a:pt x="2699308" y="219900"/>
                  </a:lnTo>
                  <a:lnTo>
                    <a:pt x="2715234" y="181902"/>
                  </a:lnTo>
                  <a:lnTo>
                    <a:pt x="2715310" y="180505"/>
                  </a:lnTo>
                  <a:close/>
                </a:path>
              </a:pathLst>
            </a:custGeom>
            <a:solidFill>
              <a:srgbClr val="007BB5"/>
            </a:solidFill>
          </p:spPr>
          <p:txBody>
            <a:bodyPr wrap="square" lIns="0" tIns="0" rIns="0" bIns="0" rtlCol="0"/>
            <a:lstStyle/>
            <a:p>
              <a:endParaRPr/>
            </a:p>
          </p:txBody>
        </p:sp>
      </p:grpSp>
      <p:sp>
        <p:nvSpPr>
          <p:cNvPr id="6" name="object 6"/>
          <p:cNvSpPr/>
          <p:nvPr/>
        </p:nvSpPr>
        <p:spPr>
          <a:xfrm>
            <a:off x="491289" y="3213850"/>
            <a:ext cx="14575155" cy="3275329"/>
          </a:xfrm>
          <a:custGeom>
            <a:avLst/>
            <a:gdLst/>
            <a:ahLst/>
            <a:cxnLst/>
            <a:rect l="l" t="t" r="r" b="b"/>
            <a:pathLst>
              <a:path w="14575155" h="3275329">
                <a:moveTo>
                  <a:pt x="14498413" y="3275262"/>
                </a:moveTo>
                <a:lnTo>
                  <a:pt x="76505" y="3275262"/>
                </a:lnTo>
                <a:lnTo>
                  <a:pt x="71180" y="3274737"/>
                </a:lnTo>
                <a:lnTo>
                  <a:pt x="31920" y="3258475"/>
                </a:lnTo>
                <a:lnTo>
                  <a:pt x="4175" y="3219748"/>
                </a:lnTo>
                <a:lnTo>
                  <a:pt x="0" y="3198757"/>
                </a:lnTo>
                <a:lnTo>
                  <a:pt x="0" y="3193381"/>
                </a:lnTo>
                <a:lnTo>
                  <a:pt x="0" y="76505"/>
                </a:lnTo>
                <a:lnTo>
                  <a:pt x="16786" y="31919"/>
                </a:lnTo>
                <a:lnTo>
                  <a:pt x="55513" y="4174"/>
                </a:lnTo>
                <a:lnTo>
                  <a:pt x="76505" y="0"/>
                </a:lnTo>
                <a:lnTo>
                  <a:pt x="14498413" y="0"/>
                </a:lnTo>
                <a:lnTo>
                  <a:pt x="14542998" y="16786"/>
                </a:lnTo>
                <a:lnTo>
                  <a:pt x="14570742" y="55513"/>
                </a:lnTo>
                <a:lnTo>
                  <a:pt x="14574918" y="76505"/>
                </a:lnTo>
                <a:lnTo>
                  <a:pt x="14574918" y="3198757"/>
                </a:lnTo>
                <a:lnTo>
                  <a:pt x="14558132" y="3243341"/>
                </a:lnTo>
                <a:lnTo>
                  <a:pt x="14519404" y="3271085"/>
                </a:lnTo>
                <a:lnTo>
                  <a:pt x="14503737" y="3274737"/>
                </a:lnTo>
                <a:lnTo>
                  <a:pt x="14498413" y="3275262"/>
                </a:lnTo>
                <a:close/>
              </a:path>
            </a:pathLst>
          </a:custGeom>
          <a:solidFill>
            <a:srgbClr val="04182D"/>
          </a:solidFill>
        </p:spPr>
        <p:txBody>
          <a:bodyPr wrap="square" lIns="0" tIns="0" rIns="0" bIns="0" rtlCol="0"/>
          <a:lstStyle/>
          <a:p>
            <a:endParaRPr/>
          </a:p>
        </p:txBody>
      </p:sp>
      <p:sp>
        <p:nvSpPr>
          <p:cNvPr id="7" name="object 7"/>
          <p:cNvSpPr txBox="1"/>
          <p:nvPr/>
        </p:nvSpPr>
        <p:spPr>
          <a:xfrm>
            <a:off x="642352" y="1231898"/>
            <a:ext cx="7075170" cy="1499870"/>
          </a:xfrm>
          <a:prstGeom prst="rect">
            <a:avLst/>
          </a:prstGeom>
        </p:spPr>
        <p:txBody>
          <a:bodyPr vert="horz" wrap="square" lIns="0" tIns="160655" rIns="0" bIns="0" rtlCol="0">
            <a:spAutoFit/>
          </a:bodyPr>
          <a:lstStyle/>
          <a:p>
            <a:pPr marL="1216025">
              <a:lnSpc>
                <a:spcPct val="100000"/>
              </a:lnSpc>
              <a:spcBef>
                <a:spcPts val="1265"/>
              </a:spcBef>
              <a:tabLst>
                <a:tab pos="2934970" algn="l"/>
              </a:tabLst>
            </a:pPr>
            <a:r>
              <a:rPr sz="2250" spc="-10" dirty="0">
                <a:solidFill>
                  <a:srgbClr val="04182D"/>
                </a:solidFill>
                <a:latin typeface="Courier New"/>
                <a:cs typeface="Courier New"/>
              </a:rPr>
              <a:t>pandas</a:t>
            </a:r>
            <a:r>
              <a:rPr sz="2250" dirty="0">
                <a:solidFill>
                  <a:srgbClr val="04182D"/>
                </a:solidFill>
                <a:latin typeface="Courier New"/>
                <a:cs typeface="Courier New"/>
              </a:rPr>
              <a:t>	</a:t>
            </a:r>
            <a:r>
              <a:rPr sz="2250" spc="-25" dirty="0">
                <a:solidFill>
                  <a:srgbClr val="04182D"/>
                </a:solidFill>
                <a:latin typeface="Courier New"/>
                <a:cs typeface="Courier New"/>
              </a:rPr>
              <a:t>pd</a:t>
            </a:r>
            <a:endParaRPr sz="2250">
              <a:latin typeface="Courier New"/>
              <a:cs typeface="Courier New"/>
            </a:endParaRPr>
          </a:p>
          <a:p>
            <a:pPr marL="12700" marR="5080">
              <a:lnSpc>
                <a:spcPct val="143300"/>
              </a:lnSpc>
            </a:pPr>
            <a:r>
              <a:rPr sz="2250" dirty="0">
                <a:solidFill>
                  <a:srgbClr val="04182D"/>
                </a:solidFill>
                <a:latin typeface="Courier New"/>
                <a:cs typeface="Courier New"/>
              </a:rPr>
              <a:t>diabetes_df</a:t>
            </a:r>
            <a:r>
              <a:rPr sz="2250" spc="-10" dirty="0">
                <a:solidFill>
                  <a:srgbClr val="04182D"/>
                </a:solidFill>
                <a:latin typeface="Courier New"/>
                <a:cs typeface="Courier New"/>
              </a:rPr>
              <a:t> </a:t>
            </a:r>
            <a:r>
              <a:rPr sz="2250" dirty="0">
                <a:solidFill>
                  <a:srgbClr val="04182D"/>
                </a:solidFill>
                <a:latin typeface="Courier New"/>
                <a:cs typeface="Courier New"/>
              </a:rPr>
              <a:t>= </a:t>
            </a:r>
            <a:r>
              <a:rPr sz="2250" spc="-10" dirty="0">
                <a:solidFill>
                  <a:srgbClr val="04182D"/>
                </a:solidFill>
                <a:latin typeface="Courier New"/>
                <a:cs typeface="Courier New"/>
              </a:rPr>
              <a:t>pd.read_csv(</a:t>
            </a:r>
            <a:r>
              <a:rPr sz="2250" spc="-10" dirty="0">
                <a:solidFill>
                  <a:srgbClr val="BE2F72"/>
                </a:solidFill>
                <a:latin typeface="Courier New"/>
                <a:cs typeface="Courier New"/>
              </a:rPr>
              <a:t>"diabetes.csv"</a:t>
            </a:r>
            <a:r>
              <a:rPr sz="2250" spc="-10" dirty="0">
                <a:solidFill>
                  <a:srgbClr val="04182D"/>
                </a:solidFill>
                <a:latin typeface="Courier New"/>
                <a:cs typeface="Courier New"/>
              </a:rPr>
              <a:t>) </a:t>
            </a:r>
            <a:r>
              <a:rPr sz="2250" spc="-10" dirty="0">
                <a:solidFill>
                  <a:srgbClr val="008600"/>
                </a:solidFill>
                <a:latin typeface="Courier New"/>
                <a:cs typeface="Courier New"/>
              </a:rPr>
              <a:t>print</a:t>
            </a:r>
            <a:r>
              <a:rPr sz="2250" spc="-10" dirty="0">
                <a:solidFill>
                  <a:srgbClr val="04182D"/>
                </a:solidFill>
                <a:latin typeface="Courier New"/>
                <a:cs typeface="Courier New"/>
              </a:rPr>
              <a:t>(diabetes_df.head())</a:t>
            </a:r>
            <a:endParaRPr sz="2250">
              <a:latin typeface="Courier New"/>
              <a:cs typeface="Courier New"/>
            </a:endParaRPr>
          </a:p>
        </p:txBody>
      </p:sp>
      <p:graphicFrame>
        <p:nvGraphicFramePr>
          <p:cNvPr id="8" name="object 8"/>
          <p:cNvGraphicFramePr>
            <a:graphicFrameLocks noGrp="1"/>
          </p:cNvGraphicFramePr>
          <p:nvPr/>
        </p:nvGraphicFramePr>
        <p:xfrm>
          <a:off x="623302" y="3447622"/>
          <a:ext cx="13128623" cy="2809238"/>
        </p:xfrm>
        <a:graphic>
          <a:graphicData uri="http://schemas.openxmlformats.org/drawingml/2006/table">
            <a:tbl>
              <a:tblPr firstRow="1" bandRow="1">
                <a:tableStyleId>{2D5ABB26-0587-4C30-8999-92F81FD0307C}</a:tableStyleId>
              </a:tblPr>
              <a:tblGrid>
                <a:gridCol w="461645">
                  <a:extLst>
                    <a:ext uri="{9D8B030D-6E8A-4147-A177-3AD203B41FA5}">
                      <a16:colId xmlns:a16="http://schemas.microsoft.com/office/drawing/2014/main" val="20000"/>
                    </a:ext>
                  </a:extLst>
                </a:gridCol>
                <a:gridCol w="2493010">
                  <a:extLst>
                    <a:ext uri="{9D8B030D-6E8A-4147-A177-3AD203B41FA5}">
                      <a16:colId xmlns:a16="http://schemas.microsoft.com/office/drawing/2014/main" val="20001"/>
                    </a:ext>
                  </a:extLst>
                </a:gridCol>
                <a:gridCol w="1891030">
                  <a:extLst>
                    <a:ext uri="{9D8B030D-6E8A-4147-A177-3AD203B41FA5}">
                      <a16:colId xmlns:a16="http://schemas.microsoft.com/office/drawing/2014/main" val="20002"/>
                    </a:ext>
                  </a:extLst>
                </a:gridCol>
                <a:gridCol w="1891030">
                  <a:extLst>
                    <a:ext uri="{9D8B030D-6E8A-4147-A177-3AD203B41FA5}">
                      <a16:colId xmlns:a16="http://schemas.microsoft.com/office/drawing/2014/main" val="20003"/>
                    </a:ext>
                  </a:extLst>
                </a:gridCol>
                <a:gridCol w="1891029">
                  <a:extLst>
                    <a:ext uri="{9D8B030D-6E8A-4147-A177-3AD203B41FA5}">
                      <a16:colId xmlns:a16="http://schemas.microsoft.com/office/drawing/2014/main" val="20004"/>
                    </a:ext>
                  </a:extLst>
                </a:gridCol>
                <a:gridCol w="1461134">
                  <a:extLst>
                    <a:ext uri="{9D8B030D-6E8A-4147-A177-3AD203B41FA5}">
                      <a16:colId xmlns:a16="http://schemas.microsoft.com/office/drawing/2014/main" val="20005"/>
                    </a:ext>
                  </a:extLst>
                </a:gridCol>
                <a:gridCol w="1289050">
                  <a:extLst>
                    <a:ext uri="{9D8B030D-6E8A-4147-A177-3AD203B41FA5}">
                      <a16:colId xmlns:a16="http://schemas.microsoft.com/office/drawing/2014/main" val="20006"/>
                    </a:ext>
                  </a:extLst>
                </a:gridCol>
                <a:gridCol w="1750695">
                  <a:extLst>
                    <a:ext uri="{9D8B030D-6E8A-4147-A177-3AD203B41FA5}">
                      <a16:colId xmlns:a16="http://schemas.microsoft.com/office/drawing/2014/main" val="20007"/>
                    </a:ext>
                  </a:extLst>
                </a:gridCol>
              </a:tblGrid>
              <a:tr h="422909">
                <a:tc>
                  <a:txBody>
                    <a:bodyPr/>
                    <a:lstStyle/>
                    <a:p>
                      <a:pPr>
                        <a:lnSpc>
                          <a:spcPct val="100000"/>
                        </a:lnSpc>
                      </a:pPr>
                      <a:endParaRPr sz="2500">
                        <a:latin typeface="Times New Roman"/>
                        <a:cs typeface="Times New Roman"/>
                      </a:endParaRPr>
                    </a:p>
                  </a:txBody>
                  <a:tcPr marL="0" marR="0" marT="0" marB="0"/>
                </a:tc>
                <a:tc>
                  <a:txBody>
                    <a:bodyPr/>
                    <a:lstStyle/>
                    <a:p>
                      <a:pPr marL="257810">
                        <a:lnSpc>
                          <a:spcPts val="2640"/>
                        </a:lnSpc>
                      </a:pPr>
                      <a:r>
                        <a:rPr sz="2250" spc="-10" dirty="0">
                          <a:solidFill>
                            <a:srgbClr val="FFFFFF"/>
                          </a:solidFill>
                          <a:latin typeface="Courier New"/>
                          <a:cs typeface="Courier New"/>
                        </a:rPr>
                        <a:t>pregnancies</a:t>
                      </a:r>
                      <a:endParaRPr sz="2250">
                        <a:latin typeface="Courier New"/>
                        <a:cs typeface="Courier New"/>
                      </a:endParaRPr>
                    </a:p>
                  </a:txBody>
                  <a:tcPr marL="0" marR="0" marT="0" marB="0"/>
                </a:tc>
                <a:tc>
                  <a:txBody>
                    <a:bodyPr/>
                    <a:lstStyle/>
                    <a:p>
                      <a:pPr marL="343535">
                        <a:lnSpc>
                          <a:spcPts val="2640"/>
                        </a:lnSpc>
                      </a:pPr>
                      <a:r>
                        <a:rPr sz="2250" spc="-10" dirty="0">
                          <a:solidFill>
                            <a:srgbClr val="FFFFFF"/>
                          </a:solidFill>
                          <a:latin typeface="Courier New"/>
                          <a:cs typeface="Courier New"/>
                        </a:rPr>
                        <a:t>glucose</a:t>
                      </a:r>
                      <a:endParaRPr sz="2250">
                        <a:latin typeface="Courier New"/>
                        <a:cs typeface="Courier New"/>
                      </a:endParaRPr>
                    </a:p>
                  </a:txBody>
                  <a:tcPr marL="0" marR="0" marT="0" marB="0"/>
                </a:tc>
                <a:tc>
                  <a:txBody>
                    <a:bodyPr/>
                    <a:lstStyle/>
                    <a:p>
                      <a:pPr marL="343535">
                        <a:lnSpc>
                          <a:spcPts val="2640"/>
                        </a:lnSpc>
                      </a:pPr>
                      <a:r>
                        <a:rPr sz="2250" spc="-10" dirty="0">
                          <a:solidFill>
                            <a:srgbClr val="FFFFFF"/>
                          </a:solidFill>
                          <a:latin typeface="Courier New"/>
                          <a:cs typeface="Courier New"/>
                        </a:rPr>
                        <a:t>triceps</a:t>
                      </a:r>
                      <a:endParaRPr sz="2250">
                        <a:latin typeface="Courier New"/>
                        <a:cs typeface="Courier New"/>
                      </a:endParaRPr>
                    </a:p>
                  </a:txBody>
                  <a:tcPr marL="0" marR="0" marT="0" marB="0"/>
                </a:tc>
                <a:tc>
                  <a:txBody>
                    <a:bodyPr/>
                    <a:lstStyle/>
                    <a:p>
                      <a:pPr marL="343535">
                        <a:lnSpc>
                          <a:spcPts val="2640"/>
                        </a:lnSpc>
                      </a:pPr>
                      <a:r>
                        <a:rPr sz="2250" spc="-10" dirty="0">
                          <a:solidFill>
                            <a:srgbClr val="FFFFFF"/>
                          </a:solidFill>
                          <a:latin typeface="Courier New"/>
                          <a:cs typeface="Courier New"/>
                        </a:rPr>
                        <a:t>insulin</a:t>
                      </a:r>
                      <a:endParaRPr sz="2250">
                        <a:latin typeface="Courier New"/>
                        <a:cs typeface="Courier New"/>
                      </a:endParaRPr>
                    </a:p>
                  </a:txBody>
                  <a:tcPr marL="0" marR="0" marT="0" marB="0"/>
                </a:tc>
                <a:tc>
                  <a:txBody>
                    <a:bodyPr/>
                    <a:lstStyle/>
                    <a:p>
                      <a:pPr marL="343535">
                        <a:lnSpc>
                          <a:spcPts val="2640"/>
                        </a:lnSpc>
                      </a:pPr>
                      <a:r>
                        <a:rPr sz="2250" spc="-25" dirty="0">
                          <a:solidFill>
                            <a:srgbClr val="FFFFFF"/>
                          </a:solidFill>
                          <a:latin typeface="Courier New"/>
                          <a:cs typeface="Courier New"/>
                        </a:rPr>
                        <a:t>bmi</a:t>
                      </a:r>
                      <a:endParaRPr sz="2250">
                        <a:latin typeface="Courier New"/>
                        <a:cs typeface="Courier New"/>
                      </a:endParaRPr>
                    </a:p>
                  </a:txBody>
                  <a:tcPr marL="0" marR="0" marT="0" marB="0"/>
                </a:tc>
                <a:tc>
                  <a:txBody>
                    <a:bodyPr/>
                    <a:lstStyle/>
                    <a:p>
                      <a:pPr marL="429259">
                        <a:lnSpc>
                          <a:spcPts val="2640"/>
                        </a:lnSpc>
                      </a:pPr>
                      <a:r>
                        <a:rPr sz="2250" spc="-25" dirty="0">
                          <a:solidFill>
                            <a:srgbClr val="FFFFFF"/>
                          </a:solidFill>
                          <a:latin typeface="Courier New"/>
                          <a:cs typeface="Courier New"/>
                        </a:rPr>
                        <a:t>age</a:t>
                      </a:r>
                      <a:endParaRPr sz="2250">
                        <a:latin typeface="Courier New"/>
                        <a:cs typeface="Courier New"/>
                      </a:endParaRPr>
                    </a:p>
                  </a:txBody>
                  <a:tcPr marL="0" marR="0" marT="0" marB="0"/>
                </a:tc>
                <a:tc>
                  <a:txBody>
                    <a:bodyPr/>
                    <a:lstStyle/>
                    <a:p>
                      <a:pPr marL="343535">
                        <a:lnSpc>
                          <a:spcPts val="2640"/>
                        </a:lnSpc>
                      </a:pPr>
                      <a:r>
                        <a:rPr sz="2250" spc="-10" dirty="0">
                          <a:solidFill>
                            <a:srgbClr val="FFFFFF"/>
                          </a:solidFill>
                          <a:latin typeface="Courier New"/>
                          <a:cs typeface="Courier New"/>
                        </a:rPr>
                        <a:t>diabetes</a:t>
                      </a:r>
                      <a:endParaRPr sz="2250">
                        <a:latin typeface="Courier New"/>
                        <a:cs typeface="Courier New"/>
                      </a:endParaRPr>
                    </a:p>
                  </a:txBody>
                  <a:tcPr marL="0" marR="0" marT="0" marB="0"/>
                </a:tc>
                <a:extLst>
                  <a:ext uri="{0D108BD9-81ED-4DB2-BD59-A6C34878D82A}">
                    <a16:rowId xmlns:a16="http://schemas.microsoft.com/office/drawing/2014/main" val="10000"/>
                  </a:ext>
                </a:extLst>
              </a:tr>
              <a:tr h="490855">
                <a:tc>
                  <a:txBody>
                    <a:bodyPr/>
                    <a:lstStyle/>
                    <a:p>
                      <a:pPr marL="31750">
                        <a:lnSpc>
                          <a:spcPct val="100000"/>
                        </a:lnSpc>
                        <a:spcBef>
                          <a:spcPts val="475"/>
                        </a:spcBef>
                      </a:pPr>
                      <a:r>
                        <a:rPr sz="2250" spc="-50" dirty="0">
                          <a:solidFill>
                            <a:srgbClr val="FFFFFF"/>
                          </a:solidFill>
                          <a:latin typeface="Courier New"/>
                          <a:cs typeface="Courier New"/>
                        </a:rPr>
                        <a:t>0</a:t>
                      </a:r>
                      <a:endParaRPr sz="2250">
                        <a:latin typeface="Courier New"/>
                        <a:cs typeface="Courier New"/>
                      </a:endParaRPr>
                    </a:p>
                  </a:txBody>
                  <a:tcPr marL="0" marR="0" marT="60325" marB="0"/>
                </a:tc>
                <a:tc>
                  <a:txBody>
                    <a:bodyPr/>
                    <a:lstStyle/>
                    <a:p>
                      <a:pPr marL="257810">
                        <a:lnSpc>
                          <a:spcPct val="100000"/>
                        </a:lnSpc>
                        <a:spcBef>
                          <a:spcPts val="475"/>
                        </a:spcBef>
                      </a:pPr>
                      <a:r>
                        <a:rPr sz="2250" spc="-50" dirty="0">
                          <a:solidFill>
                            <a:srgbClr val="FFFFFF"/>
                          </a:solidFill>
                          <a:latin typeface="Courier New"/>
                          <a:cs typeface="Courier New"/>
                        </a:rPr>
                        <a:t>6</a:t>
                      </a:r>
                      <a:endParaRPr sz="2250">
                        <a:latin typeface="Courier New"/>
                        <a:cs typeface="Courier New"/>
                      </a:endParaRPr>
                    </a:p>
                  </a:txBody>
                  <a:tcPr marL="0" marR="0" marT="60325" marB="0"/>
                </a:tc>
                <a:tc>
                  <a:txBody>
                    <a:bodyPr/>
                    <a:lstStyle/>
                    <a:p>
                      <a:pPr marL="343535">
                        <a:lnSpc>
                          <a:spcPct val="100000"/>
                        </a:lnSpc>
                        <a:spcBef>
                          <a:spcPts val="475"/>
                        </a:spcBef>
                      </a:pPr>
                      <a:r>
                        <a:rPr sz="2250" spc="-25" dirty="0">
                          <a:solidFill>
                            <a:srgbClr val="FFFFFF"/>
                          </a:solidFill>
                          <a:latin typeface="Courier New"/>
                          <a:cs typeface="Courier New"/>
                        </a:rPr>
                        <a:t>148</a:t>
                      </a:r>
                      <a:endParaRPr sz="2250">
                        <a:latin typeface="Courier New"/>
                        <a:cs typeface="Courier New"/>
                      </a:endParaRPr>
                    </a:p>
                  </a:txBody>
                  <a:tcPr marL="0" marR="0" marT="60325" marB="0"/>
                </a:tc>
                <a:tc>
                  <a:txBody>
                    <a:bodyPr/>
                    <a:lstStyle/>
                    <a:p>
                      <a:pPr marL="343535">
                        <a:lnSpc>
                          <a:spcPct val="100000"/>
                        </a:lnSpc>
                        <a:spcBef>
                          <a:spcPts val="475"/>
                        </a:spcBef>
                      </a:pPr>
                      <a:r>
                        <a:rPr sz="2250" spc="-25" dirty="0">
                          <a:solidFill>
                            <a:srgbClr val="FFFFFF"/>
                          </a:solidFill>
                          <a:latin typeface="Courier New"/>
                          <a:cs typeface="Courier New"/>
                        </a:rPr>
                        <a:t>35</a:t>
                      </a:r>
                      <a:endParaRPr sz="2250">
                        <a:latin typeface="Courier New"/>
                        <a:cs typeface="Courier New"/>
                      </a:endParaRPr>
                    </a:p>
                  </a:txBody>
                  <a:tcPr marL="0" marR="0" marT="60325" marB="0"/>
                </a:tc>
                <a:tc>
                  <a:txBody>
                    <a:bodyPr/>
                    <a:lstStyle/>
                    <a:p>
                      <a:pPr marL="343535">
                        <a:lnSpc>
                          <a:spcPct val="100000"/>
                        </a:lnSpc>
                        <a:spcBef>
                          <a:spcPts val="475"/>
                        </a:spcBef>
                      </a:pPr>
                      <a:r>
                        <a:rPr sz="2250" spc="-50" dirty="0">
                          <a:solidFill>
                            <a:srgbClr val="FFFFFF"/>
                          </a:solidFill>
                          <a:latin typeface="Courier New"/>
                          <a:cs typeface="Courier New"/>
                        </a:rPr>
                        <a:t>0</a:t>
                      </a:r>
                      <a:endParaRPr sz="2250">
                        <a:latin typeface="Courier New"/>
                        <a:cs typeface="Courier New"/>
                      </a:endParaRPr>
                    </a:p>
                  </a:txBody>
                  <a:tcPr marL="0" marR="0" marT="60325" marB="0"/>
                </a:tc>
                <a:tc>
                  <a:txBody>
                    <a:bodyPr/>
                    <a:lstStyle/>
                    <a:p>
                      <a:pPr marL="343535">
                        <a:lnSpc>
                          <a:spcPct val="100000"/>
                        </a:lnSpc>
                        <a:spcBef>
                          <a:spcPts val="475"/>
                        </a:spcBef>
                      </a:pPr>
                      <a:r>
                        <a:rPr sz="2250" spc="-20" dirty="0">
                          <a:solidFill>
                            <a:srgbClr val="FFFFFF"/>
                          </a:solidFill>
                          <a:latin typeface="Courier New"/>
                          <a:cs typeface="Courier New"/>
                        </a:rPr>
                        <a:t>33.6</a:t>
                      </a:r>
                      <a:endParaRPr sz="2250">
                        <a:latin typeface="Courier New"/>
                        <a:cs typeface="Courier New"/>
                      </a:endParaRPr>
                    </a:p>
                  </a:txBody>
                  <a:tcPr marL="0" marR="0" marT="60325" marB="0"/>
                </a:tc>
                <a:tc>
                  <a:txBody>
                    <a:bodyPr/>
                    <a:lstStyle/>
                    <a:p>
                      <a:pPr marL="429259">
                        <a:lnSpc>
                          <a:spcPct val="100000"/>
                        </a:lnSpc>
                        <a:spcBef>
                          <a:spcPts val="475"/>
                        </a:spcBef>
                      </a:pPr>
                      <a:r>
                        <a:rPr sz="2250" spc="-25" dirty="0">
                          <a:solidFill>
                            <a:srgbClr val="FFFFFF"/>
                          </a:solidFill>
                          <a:latin typeface="Courier New"/>
                          <a:cs typeface="Courier New"/>
                        </a:rPr>
                        <a:t>50</a:t>
                      </a:r>
                      <a:endParaRPr sz="2250">
                        <a:latin typeface="Courier New"/>
                        <a:cs typeface="Courier New"/>
                      </a:endParaRPr>
                    </a:p>
                  </a:txBody>
                  <a:tcPr marL="0" marR="0" marT="60325" marB="0"/>
                </a:tc>
                <a:tc>
                  <a:txBody>
                    <a:bodyPr/>
                    <a:lstStyle/>
                    <a:p>
                      <a:pPr marL="343535">
                        <a:lnSpc>
                          <a:spcPct val="100000"/>
                        </a:lnSpc>
                        <a:spcBef>
                          <a:spcPts val="475"/>
                        </a:spcBef>
                      </a:pPr>
                      <a:r>
                        <a:rPr sz="2250" spc="-50" dirty="0">
                          <a:solidFill>
                            <a:srgbClr val="FFFFFF"/>
                          </a:solidFill>
                          <a:latin typeface="Courier New"/>
                          <a:cs typeface="Courier New"/>
                        </a:rPr>
                        <a:t>1</a:t>
                      </a:r>
                      <a:endParaRPr sz="2250">
                        <a:latin typeface="Courier New"/>
                        <a:cs typeface="Courier New"/>
                      </a:endParaRPr>
                    </a:p>
                  </a:txBody>
                  <a:tcPr marL="0" marR="0" marT="60325" marB="0"/>
                </a:tc>
                <a:extLst>
                  <a:ext uri="{0D108BD9-81ED-4DB2-BD59-A6C34878D82A}">
                    <a16:rowId xmlns:a16="http://schemas.microsoft.com/office/drawing/2014/main" val="10001"/>
                  </a:ext>
                </a:extLst>
              </a:tr>
              <a:tr h="490855">
                <a:tc>
                  <a:txBody>
                    <a:bodyPr/>
                    <a:lstStyle/>
                    <a:p>
                      <a:pPr marL="31750">
                        <a:lnSpc>
                          <a:spcPct val="100000"/>
                        </a:lnSpc>
                        <a:spcBef>
                          <a:spcPts val="475"/>
                        </a:spcBef>
                      </a:pPr>
                      <a:r>
                        <a:rPr sz="2250" spc="-50" dirty="0">
                          <a:solidFill>
                            <a:srgbClr val="FFFFFF"/>
                          </a:solidFill>
                          <a:latin typeface="Courier New"/>
                          <a:cs typeface="Courier New"/>
                        </a:rPr>
                        <a:t>1</a:t>
                      </a:r>
                      <a:endParaRPr sz="2250">
                        <a:latin typeface="Courier New"/>
                        <a:cs typeface="Courier New"/>
                      </a:endParaRPr>
                    </a:p>
                  </a:txBody>
                  <a:tcPr marL="0" marR="0" marT="60325" marB="0"/>
                </a:tc>
                <a:tc>
                  <a:txBody>
                    <a:bodyPr/>
                    <a:lstStyle/>
                    <a:p>
                      <a:pPr marL="257810">
                        <a:lnSpc>
                          <a:spcPct val="100000"/>
                        </a:lnSpc>
                        <a:spcBef>
                          <a:spcPts val="475"/>
                        </a:spcBef>
                      </a:pPr>
                      <a:r>
                        <a:rPr sz="2250" spc="-50" dirty="0">
                          <a:solidFill>
                            <a:srgbClr val="FFFFFF"/>
                          </a:solidFill>
                          <a:latin typeface="Courier New"/>
                          <a:cs typeface="Courier New"/>
                        </a:rPr>
                        <a:t>1</a:t>
                      </a:r>
                      <a:endParaRPr sz="2250">
                        <a:latin typeface="Courier New"/>
                        <a:cs typeface="Courier New"/>
                      </a:endParaRPr>
                    </a:p>
                  </a:txBody>
                  <a:tcPr marL="0" marR="0" marT="60325" marB="0"/>
                </a:tc>
                <a:tc>
                  <a:txBody>
                    <a:bodyPr/>
                    <a:lstStyle/>
                    <a:p>
                      <a:pPr marL="343535">
                        <a:lnSpc>
                          <a:spcPct val="100000"/>
                        </a:lnSpc>
                        <a:spcBef>
                          <a:spcPts val="475"/>
                        </a:spcBef>
                      </a:pPr>
                      <a:r>
                        <a:rPr sz="2250" spc="-25" dirty="0">
                          <a:solidFill>
                            <a:srgbClr val="FFFFFF"/>
                          </a:solidFill>
                          <a:latin typeface="Courier New"/>
                          <a:cs typeface="Courier New"/>
                        </a:rPr>
                        <a:t>85</a:t>
                      </a:r>
                      <a:endParaRPr sz="2250">
                        <a:latin typeface="Courier New"/>
                        <a:cs typeface="Courier New"/>
                      </a:endParaRPr>
                    </a:p>
                  </a:txBody>
                  <a:tcPr marL="0" marR="0" marT="60325" marB="0"/>
                </a:tc>
                <a:tc>
                  <a:txBody>
                    <a:bodyPr/>
                    <a:lstStyle/>
                    <a:p>
                      <a:pPr marL="343535">
                        <a:lnSpc>
                          <a:spcPct val="100000"/>
                        </a:lnSpc>
                        <a:spcBef>
                          <a:spcPts val="475"/>
                        </a:spcBef>
                      </a:pPr>
                      <a:r>
                        <a:rPr sz="2250" spc="-25" dirty="0">
                          <a:solidFill>
                            <a:srgbClr val="FFFFFF"/>
                          </a:solidFill>
                          <a:latin typeface="Courier New"/>
                          <a:cs typeface="Courier New"/>
                        </a:rPr>
                        <a:t>29</a:t>
                      </a:r>
                      <a:endParaRPr sz="2250">
                        <a:latin typeface="Courier New"/>
                        <a:cs typeface="Courier New"/>
                      </a:endParaRPr>
                    </a:p>
                  </a:txBody>
                  <a:tcPr marL="0" marR="0" marT="60325" marB="0"/>
                </a:tc>
                <a:tc>
                  <a:txBody>
                    <a:bodyPr/>
                    <a:lstStyle/>
                    <a:p>
                      <a:pPr marL="343535">
                        <a:lnSpc>
                          <a:spcPct val="100000"/>
                        </a:lnSpc>
                        <a:spcBef>
                          <a:spcPts val="475"/>
                        </a:spcBef>
                      </a:pPr>
                      <a:r>
                        <a:rPr sz="2250" spc="-50" dirty="0">
                          <a:solidFill>
                            <a:srgbClr val="FFFFFF"/>
                          </a:solidFill>
                          <a:latin typeface="Courier New"/>
                          <a:cs typeface="Courier New"/>
                        </a:rPr>
                        <a:t>0</a:t>
                      </a:r>
                      <a:endParaRPr sz="2250">
                        <a:latin typeface="Courier New"/>
                        <a:cs typeface="Courier New"/>
                      </a:endParaRPr>
                    </a:p>
                  </a:txBody>
                  <a:tcPr marL="0" marR="0" marT="60325" marB="0"/>
                </a:tc>
                <a:tc>
                  <a:txBody>
                    <a:bodyPr/>
                    <a:lstStyle/>
                    <a:p>
                      <a:pPr marL="343535">
                        <a:lnSpc>
                          <a:spcPct val="100000"/>
                        </a:lnSpc>
                        <a:spcBef>
                          <a:spcPts val="475"/>
                        </a:spcBef>
                      </a:pPr>
                      <a:r>
                        <a:rPr sz="2250" spc="-20" dirty="0">
                          <a:solidFill>
                            <a:srgbClr val="FFFFFF"/>
                          </a:solidFill>
                          <a:latin typeface="Courier New"/>
                          <a:cs typeface="Courier New"/>
                        </a:rPr>
                        <a:t>26.6</a:t>
                      </a:r>
                      <a:endParaRPr sz="2250">
                        <a:latin typeface="Courier New"/>
                        <a:cs typeface="Courier New"/>
                      </a:endParaRPr>
                    </a:p>
                  </a:txBody>
                  <a:tcPr marL="0" marR="0" marT="60325" marB="0"/>
                </a:tc>
                <a:tc>
                  <a:txBody>
                    <a:bodyPr/>
                    <a:lstStyle/>
                    <a:p>
                      <a:pPr marL="429259">
                        <a:lnSpc>
                          <a:spcPct val="100000"/>
                        </a:lnSpc>
                        <a:spcBef>
                          <a:spcPts val="475"/>
                        </a:spcBef>
                      </a:pPr>
                      <a:r>
                        <a:rPr sz="2250" spc="-25" dirty="0">
                          <a:solidFill>
                            <a:srgbClr val="FFFFFF"/>
                          </a:solidFill>
                          <a:latin typeface="Courier New"/>
                          <a:cs typeface="Courier New"/>
                        </a:rPr>
                        <a:t>31</a:t>
                      </a:r>
                      <a:endParaRPr sz="2250">
                        <a:latin typeface="Courier New"/>
                        <a:cs typeface="Courier New"/>
                      </a:endParaRPr>
                    </a:p>
                  </a:txBody>
                  <a:tcPr marL="0" marR="0" marT="60325" marB="0"/>
                </a:tc>
                <a:tc>
                  <a:txBody>
                    <a:bodyPr/>
                    <a:lstStyle/>
                    <a:p>
                      <a:pPr marL="343535">
                        <a:lnSpc>
                          <a:spcPct val="100000"/>
                        </a:lnSpc>
                        <a:spcBef>
                          <a:spcPts val="475"/>
                        </a:spcBef>
                      </a:pPr>
                      <a:r>
                        <a:rPr sz="2250" spc="-50" dirty="0">
                          <a:solidFill>
                            <a:srgbClr val="FFFFFF"/>
                          </a:solidFill>
                          <a:latin typeface="Courier New"/>
                          <a:cs typeface="Courier New"/>
                        </a:rPr>
                        <a:t>0</a:t>
                      </a:r>
                      <a:endParaRPr sz="2250">
                        <a:latin typeface="Courier New"/>
                        <a:cs typeface="Courier New"/>
                      </a:endParaRPr>
                    </a:p>
                  </a:txBody>
                  <a:tcPr marL="0" marR="0" marT="60325" marB="0"/>
                </a:tc>
                <a:extLst>
                  <a:ext uri="{0D108BD9-81ED-4DB2-BD59-A6C34878D82A}">
                    <a16:rowId xmlns:a16="http://schemas.microsoft.com/office/drawing/2014/main" val="10002"/>
                  </a:ext>
                </a:extLst>
              </a:tr>
              <a:tr h="490855">
                <a:tc>
                  <a:txBody>
                    <a:bodyPr/>
                    <a:lstStyle/>
                    <a:p>
                      <a:pPr marL="31750">
                        <a:lnSpc>
                          <a:spcPct val="100000"/>
                        </a:lnSpc>
                        <a:spcBef>
                          <a:spcPts val="475"/>
                        </a:spcBef>
                      </a:pPr>
                      <a:r>
                        <a:rPr sz="2250" spc="-50" dirty="0">
                          <a:solidFill>
                            <a:srgbClr val="FFFFFF"/>
                          </a:solidFill>
                          <a:latin typeface="Courier New"/>
                          <a:cs typeface="Courier New"/>
                        </a:rPr>
                        <a:t>2</a:t>
                      </a:r>
                      <a:endParaRPr sz="2250">
                        <a:latin typeface="Courier New"/>
                        <a:cs typeface="Courier New"/>
                      </a:endParaRPr>
                    </a:p>
                  </a:txBody>
                  <a:tcPr marL="0" marR="0" marT="60325" marB="0"/>
                </a:tc>
                <a:tc>
                  <a:txBody>
                    <a:bodyPr/>
                    <a:lstStyle/>
                    <a:p>
                      <a:pPr marL="257810">
                        <a:lnSpc>
                          <a:spcPct val="100000"/>
                        </a:lnSpc>
                        <a:spcBef>
                          <a:spcPts val="475"/>
                        </a:spcBef>
                      </a:pPr>
                      <a:r>
                        <a:rPr sz="2250" spc="-50" dirty="0">
                          <a:solidFill>
                            <a:srgbClr val="FFFFFF"/>
                          </a:solidFill>
                          <a:latin typeface="Courier New"/>
                          <a:cs typeface="Courier New"/>
                        </a:rPr>
                        <a:t>8</a:t>
                      </a:r>
                      <a:endParaRPr sz="2250">
                        <a:latin typeface="Courier New"/>
                        <a:cs typeface="Courier New"/>
                      </a:endParaRPr>
                    </a:p>
                  </a:txBody>
                  <a:tcPr marL="0" marR="0" marT="60325" marB="0"/>
                </a:tc>
                <a:tc>
                  <a:txBody>
                    <a:bodyPr/>
                    <a:lstStyle/>
                    <a:p>
                      <a:pPr marL="343535">
                        <a:lnSpc>
                          <a:spcPct val="100000"/>
                        </a:lnSpc>
                        <a:spcBef>
                          <a:spcPts val="475"/>
                        </a:spcBef>
                      </a:pPr>
                      <a:r>
                        <a:rPr sz="2250" spc="-25" dirty="0">
                          <a:solidFill>
                            <a:srgbClr val="FFFFFF"/>
                          </a:solidFill>
                          <a:latin typeface="Courier New"/>
                          <a:cs typeface="Courier New"/>
                        </a:rPr>
                        <a:t>183</a:t>
                      </a:r>
                      <a:endParaRPr sz="2250">
                        <a:latin typeface="Courier New"/>
                        <a:cs typeface="Courier New"/>
                      </a:endParaRPr>
                    </a:p>
                  </a:txBody>
                  <a:tcPr marL="0" marR="0" marT="60325" marB="0"/>
                </a:tc>
                <a:tc>
                  <a:txBody>
                    <a:bodyPr/>
                    <a:lstStyle/>
                    <a:p>
                      <a:pPr marL="343535">
                        <a:lnSpc>
                          <a:spcPct val="100000"/>
                        </a:lnSpc>
                        <a:spcBef>
                          <a:spcPts val="475"/>
                        </a:spcBef>
                      </a:pPr>
                      <a:r>
                        <a:rPr sz="2250" spc="-50" dirty="0">
                          <a:solidFill>
                            <a:srgbClr val="FFFFFF"/>
                          </a:solidFill>
                          <a:latin typeface="Courier New"/>
                          <a:cs typeface="Courier New"/>
                        </a:rPr>
                        <a:t>0</a:t>
                      </a:r>
                      <a:endParaRPr sz="2250">
                        <a:latin typeface="Courier New"/>
                        <a:cs typeface="Courier New"/>
                      </a:endParaRPr>
                    </a:p>
                  </a:txBody>
                  <a:tcPr marL="0" marR="0" marT="60325" marB="0"/>
                </a:tc>
                <a:tc>
                  <a:txBody>
                    <a:bodyPr/>
                    <a:lstStyle/>
                    <a:p>
                      <a:pPr marL="343535">
                        <a:lnSpc>
                          <a:spcPct val="100000"/>
                        </a:lnSpc>
                        <a:spcBef>
                          <a:spcPts val="475"/>
                        </a:spcBef>
                      </a:pPr>
                      <a:r>
                        <a:rPr sz="2250" spc="-50" dirty="0">
                          <a:solidFill>
                            <a:srgbClr val="FFFFFF"/>
                          </a:solidFill>
                          <a:latin typeface="Courier New"/>
                          <a:cs typeface="Courier New"/>
                        </a:rPr>
                        <a:t>0</a:t>
                      </a:r>
                      <a:endParaRPr sz="2250">
                        <a:latin typeface="Courier New"/>
                        <a:cs typeface="Courier New"/>
                      </a:endParaRPr>
                    </a:p>
                  </a:txBody>
                  <a:tcPr marL="0" marR="0" marT="60325" marB="0"/>
                </a:tc>
                <a:tc>
                  <a:txBody>
                    <a:bodyPr/>
                    <a:lstStyle/>
                    <a:p>
                      <a:pPr marL="343535">
                        <a:lnSpc>
                          <a:spcPct val="100000"/>
                        </a:lnSpc>
                        <a:spcBef>
                          <a:spcPts val="475"/>
                        </a:spcBef>
                      </a:pPr>
                      <a:r>
                        <a:rPr sz="2250" spc="-20" dirty="0">
                          <a:solidFill>
                            <a:srgbClr val="FFFFFF"/>
                          </a:solidFill>
                          <a:latin typeface="Courier New"/>
                          <a:cs typeface="Courier New"/>
                        </a:rPr>
                        <a:t>23.3</a:t>
                      </a:r>
                      <a:endParaRPr sz="2250">
                        <a:latin typeface="Courier New"/>
                        <a:cs typeface="Courier New"/>
                      </a:endParaRPr>
                    </a:p>
                  </a:txBody>
                  <a:tcPr marL="0" marR="0" marT="60325" marB="0"/>
                </a:tc>
                <a:tc>
                  <a:txBody>
                    <a:bodyPr/>
                    <a:lstStyle/>
                    <a:p>
                      <a:pPr marL="429259">
                        <a:lnSpc>
                          <a:spcPct val="100000"/>
                        </a:lnSpc>
                        <a:spcBef>
                          <a:spcPts val="475"/>
                        </a:spcBef>
                      </a:pPr>
                      <a:r>
                        <a:rPr sz="2250" spc="-25" dirty="0">
                          <a:solidFill>
                            <a:srgbClr val="FFFFFF"/>
                          </a:solidFill>
                          <a:latin typeface="Courier New"/>
                          <a:cs typeface="Courier New"/>
                        </a:rPr>
                        <a:t>32</a:t>
                      </a:r>
                      <a:endParaRPr sz="2250">
                        <a:latin typeface="Courier New"/>
                        <a:cs typeface="Courier New"/>
                      </a:endParaRPr>
                    </a:p>
                  </a:txBody>
                  <a:tcPr marL="0" marR="0" marT="60325" marB="0"/>
                </a:tc>
                <a:tc>
                  <a:txBody>
                    <a:bodyPr/>
                    <a:lstStyle/>
                    <a:p>
                      <a:pPr marL="343535">
                        <a:lnSpc>
                          <a:spcPct val="100000"/>
                        </a:lnSpc>
                        <a:spcBef>
                          <a:spcPts val="475"/>
                        </a:spcBef>
                      </a:pPr>
                      <a:r>
                        <a:rPr sz="2250" spc="-50" dirty="0">
                          <a:solidFill>
                            <a:srgbClr val="FFFFFF"/>
                          </a:solidFill>
                          <a:latin typeface="Courier New"/>
                          <a:cs typeface="Courier New"/>
                        </a:rPr>
                        <a:t>1</a:t>
                      </a:r>
                      <a:endParaRPr sz="2250">
                        <a:latin typeface="Courier New"/>
                        <a:cs typeface="Courier New"/>
                      </a:endParaRPr>
                    </a:p>
                  </a:txBody>
                  <a:tcPr marL="0" marR="0" marT="60325" marB="0"/>
                </a:tc>
                <a:extLst>
                  <a:ext uri="{0D108BD9-81ED-4DB2-BD59-A6C34878D82A}">
                    <a16:rowId xmlns:a16="http://schemas.microsoft.com/office/drawing/2014/main" val="10003"/>
                  </a:ext>
                </a:extLst>
              </a:tr>
              <a:tr h="490855">
                <a:tc>
                  <a:txBody>
                    <a:bodyPr/>
                    <a:lstStyle/>
                    <a:p>
                      <a:pPr marL="31750">
                        <a:lnSpc>
                          <a:spcPct val="100000"/>
                        </a:lnSpc>
                        <a:spcBef>
                          <a:spcPts val="475"/>
                        </a:spcBef>
                      </a:pPr>
                      <a:r>
                        <a:rPr sz="2250" spc="-50" dirty="0">
                          <a:solidFill>
                            <a:srgbClr val="FFFFFF"/>
                          </a:solidFill>
                          <a:latin typeface="Courier New"/>
                          <a:cs typeface="Courier New"/>
                        </a:rPr>
                        <a:t>3</a:t>
                      </a:r>
                      <a:endParaRPr sz="2250">
                        <a:latin typeface="Courier New"/>
                        <a:cs typeface="Courier New"/>
                      </a:endParaRPr>
                    </a:p>
                  </a:txBody>
                  <a:tcPr marL="0" marR="0" marT="60325" marB="0"/>
                </a:tc>
                <a:tc>
                  <a:txBody>
                    <a:bodyPr/>
                    <a:lstStyle/>
                    <a:p>
                      <a:pPr marL="257810">
                        <a:lnSpc>
                          <a:spcPct val="100000"/>
                        </a:lnSpc>
                        <a:spcBef>
                          <a:spcPts val="475"/>
                        </a:spcBef>
                      </a:pPr>
                      <a:r>
                        <a:rPr sz="2250" spc="-50" dirty="0">
                          <a:solidFill>
                            <a:srgbClr val="FFFFFF"/>
                          </a:solidFill>
                          <a:latin typeface="Courier New"/>
                          <a:cs typeface="Courier New"/>
                        </a:rPr>
                        <a:t>1</a:t>
                      </a:r>
                      <a:endParaRPr sz="2250">
                        <a:latin typeface="Courier New"/>
                        <a:cs typeface="Courier New"/>
                      </a:endParaRPr>
                    </a:p>
                  </a:txBody>
                  <a:tcPr marL="0" marR="0" marT="60325" marB="0"/>
                </a:tc>
                <a:tc>
                  <a:txBody>
                    <a:bodyPr/>
                    <a:lstStyle/>
                    <a:p>
                      <a:pPr marL="343535">
                        <a:lnSpc>
                          <a:spcPct val="100000"/>
                        </a:lnSpc>
                        <a:spcBef>
                          <a:spcPts val="475"/>
                        </a:spcBef>
                      </a:pPr>
                      <a:r>
                        <a:rPr sz="2250" spc="-25" dirty="0">
                          <a:solidFill>
                            <a:srgbClr val="FFFFFF"/>
                          </a:solidFill>
                          <a:latin typeface="Courier New"/>
                          <a:cs typeface="Courier New"/>
                        </a:rPr>
                        <a:t>89</a:t>
                      </a:r>
                      <a:endParaRPr sz="2250">
                        <a:latin typeface="Courier New"/>
                        <a:cs typeface="Courier New"/>
                      </a:endParaRPr>
                    </a:p>
                  </a:txBody>
                  <a:tcPr marL="0" marR="0" marT="60325" marB="0"/>
                </a:tc>
                <a:tc>
                  <a:txBody>
                    <a:bodyPr/>
                    <a:lstStyle/>
                    <a:p>
                      <a:pPr marL="343535">
                        <a:lnSpc>
                          <a:spcPct val="100000"/>
                        </a:lnSpc>
                        <a:spcBef>
                          <a:spcPts val="475"/>
                        </a:spcBef>
                      </a:pPr>
                      <a:r>
                        <a:rPr sz="2250" spc="-25" dirty="0">
                          <a:solidFill>
                            <a:srgbClr val="FFFFFF"/>
                          </a:solidFill>
                          <a:latin typeface="Courier New"/>
                          <a:cs typeface="Courier New"/>
                        </a:rPr>
                        <a:t>23</a:t>
                      </a:r>
                      <a:endParaRPr sz="2250">
                        <a:latin typeface="Courier New"/>
                        <a:cs typeface="Courier New"/>
                      </a:endParaRPr>
                    </a:p>
                  </a:txBody>
                  <a:tcPr marL="0" marR="0" marT="60325" marB="0"/>
                </a:tc>
                <a:tc>
                  <a:txBody>
                    <a:bodyPr/>
                    <a:lstStyle/>
                    <a:p>
                      <a:pPr marL="343535">
                        <a:lnSpc>
                          <a:spcPct val="100000"/>
                        </a:lnSpc>
                        <a:spcBef>
                          <a:spcPts val="475"/>
                        </a:spcBef>
                      </a:pPr>
                      <a:r>
                        <a:rPr sz="2250" spc="-25" dirty="0">
                          <a:solidFill>
                            <a:srgbClr val="FFFFFF"/>
                          </a:solidFill>
                          <a:latin typeface="Courier New"/>
                          <a:cs typeface="Courier New"/>
                        </a:rPr>
                        <a:t>94</a:t>
                      </a:r>
                      <a:endParaRPr sz="2250">
                        <a:latin typeface="Courier New"/>
                        <a:cs typeface="Courier New"/>
                      </a:endParaRPr>
                    </a:p>
                  </a:txBody>
                  <a:tcPr marL="0" marR="0" marT="60325" marB="0"/>
                </a:tc>
                <a:tc>
                  <a:txBody>
                    <a:bodyPr/>
                    <a:lstStyle/>
                    <a:p>
                      <a:pPr marL="343535">
                        <a:lnSpc>
                          <a:spcPct val="100000"/>
                        </a:lnSpc>
                        <a:spcBef>
                          <a:spcPts val="475"/>
                        </a:spcBef>
                      </a:pPr>
                      <a:r>
                        <a:rPr sz="2250" spc="-20" dirty="0">
                          <a:solidFill>
                            <a:srgbClr val="FFFFFF"/>
                          </a:solidFill>
                          <a:latin typeface="Courier New"/>
                          <a:cs typeface="Courier New"/>
                        </a:rPr>
                        <a:t>28.1</a:t>
                      </a:r>
                      <a:endParaRPr sz="2250">
                        <a:latin typeface="Courier New"/>
                        <a:cs typeface="Courier New"/>
                      </a:endParaRPr>
                    </a:p>
                  </a:txBody>
                  <a:tcPr marL="0" marR="0" marT="60325" marB="0"/>
                </a:tc>
                <a:tc>
                  <a:txBody>
                    <a:bodyPr/>
                    <a:lstStyle/>
                    <a:p>
                      <a:pPr marL="429259">
                        <a:lnSpc>
                          <a:spcPct val="100000"/>
                        </a:lnSpc>
                        <a:spcBef>
                          <a:spcPts val="475"/>
                        </a:spcBef>
                      </a:pPr>
                      <a:r>
                        <a:rPr sz="2250" spc="-25" dirty="0">
                          <a:solidFill>
                            <a:srgbClr val="FFFFFF"/>
                          </a:solidFill>
                          <a:latin typeface="Courier New"/>
                          <a:cs typeface="Courier New"/>
                        </a:rPr>
                        <a:t>21</a:t>
                      </a:r>
                      <a:endParaRPr sz="2250">
                        <a:latin typeface="Courier New"/>
                        <a:cs typeface="Courier New"/>
                      </a:endParaRPr>
                    </a:p>
                  </a:txBody>
                  <a:tcPr marL="0" marR="0" marT="60325" marB="0"/>
                </a:tc>
                <a:tc>
                  <a:txBody>
                    <a:bodyPr/>
                    <a:lstStyle/>
                    <a:p>
                      <a:pPr marL="343535">
                        <a:lnSpc>
                          <a:spcPct val="100000"/>
                        </a:lnSpc>
                        <a:spcBef>
                          <a:spcPts val="475"/>
                        </a:spcBef>
                      </a:pPr>
                      <a:r>
                        <a:rPr sz="2250" spc="-50" dirty="0">
                          <a:solidFill>
                            <a:srgbClr val="FFFFFF"/>
                          </a:solidFill>
                          <a:latin typeface="Courier New"/>
                          <a:cs typeface="Courier New"/>
                        </a:rPr>
                        <a:t>0</a:t>
                      </a:r>
                      <a:endParaRPr sz="2250">
                        <a:latin typeface="Courier New"/>
                        <a:cs typeface="Courier New"/>
                      </a:endParaRPr>
                    </a:p>
                  </a:txBody>
                  <a:tcPr marL="0" marR="0" marT="60325" marB="0"/>
                </a:tc>
                <a:extLst>
                  <a:ext uri="{0D108BD9-81ED-4DB2-BD59-A6C34878D82A}">
                    <a16:rowId xmlns:a16="http://schemas.microsoft.com/office/drawing/2014/main" val="10004"/>
                  </a:ext>
                </a:extLst>
              </a:tr>
              <a:tr h="422909">
                <a:tc>
                  <a:txBody>
                    <a:bodyPr/>
                    <a:lstStyle/>
                    <a:p>
                      <a:pPr marL="31750">
                        <a:lnSpc>
                          <a:spcPct val="100000"/>
                        </a:lnSpc>
                        <a:spcBef>
                          <a:spcPts val="475"/>
                        </a:spcBef>
                      </a:pPr>
                      <a:r>
                        <a:rPr sz="2250" spc="-50" dirty="0">
                          <a:solidFill>
                            <a:srgbClr val="FFFFFF"/>
                          </a:solidFill>
                          <a:latin typeface="Courier New"/>
                          <a:cs typeface="Courier New"/>
                        </a:rPr>
                        <a:t>4</a:t>
                      </a:r>
                      <a:endParaRPr sz="2250">
                        <a:latin typeface="Courier New"/>
                        <a:cs typeface="Courier New"/>
                      </a:endParaRPr>
                    </a:p>
                  </a:txBody>
                  <a:tcPr marL="0" marR="0" marT="60325" marB="0"/>
                </a:tc>
                <a:tc>
                  <a:txBody>
                    <a:bodyPr/>
                    <a:lstStyle/>
                    <a:p>
                      <a:pPr marL="257810">
                        <a:lnSpc>
                          <a:spcPct val="100000"/>
                        </a:lnSpc>
                        <a:spcBef>
                          <a:spcPts val="475"/>
                        </a:spcBef>
                      </a:pPr>
                      <a:r>
                        <a:rPr sz="2250" spc="-50" dirty="0">
                          <a:solidFill>
                            <a:srgbClr val="FFFFFF"/>
                          </a:solidFill>
                          <a:latin typeface="Courier New"/>
                          <a:cs typeface="Courier New"/>
                        </a:rPr>
                        <a:t>0</a:t>
                      </a:r>
                      <a:endParaRPr sz="2250">
                        <a:latin typeface="Courier New"/>
                        <a:cs typeface="Courier New"/>
                      </a:endParaRPr>
                    </a:p>
                  </a:txBody>
                  <a:tcPr marL="0" marR="0" marT="60325" marB="0"/>
                </a:tc>
                <a:tc>
                  <a:txBody>
                    <a:bodyPr/>
                    <a:lstStyle/>
                    <a:p>
                      <a:pPr marL="343535">
                        <a:lnSpc>
                          <a:spcPct val="100000"/>
                        </a:lnSpc>
                        <a:spcBef>
                          <a:spcPts val="475"/>
                        </a:spcBef>
                      </a:pPr>
                      <a:r>
                        <a:rPr sz="2250" spc="-25" dirty="0">
                          <a:solidFill>
                            <a:srgbClr val="FFFFFF"/>
                          </a:solidFill>
                          <a:latin typeface="Courier New"/>
                          <a:cs typeface="Courier New"/>
                        </a:rPr>
                        <a:t>137</a:t>
                      </a:r>
                      <a:endParaRPr sz="2250">
                        <a:latin typeface="Courier New"/>
                        <a:cs typeface="Courier New"/>
                      </a:endParaRPr>
                    </a:p>
                  </a:txBody>
                  <a:tcPr marL="0" marR="0" marT="60325" marB="0"/>
                </a:tc>
                <a:tc>
                  <a:txBody>
                    <a:bodyPr/>
                    <a:lstStyle/>
                    <a:p>
                      <a:pPr marL="343535">
                        <a:lnSpc>
                          <a:spcPct val="100000"/>
                        </a:lnSpc>
                        <a:spcBef>
                          <a:spcPts val="475"/>
                        </a:spcBef>
                      </a:pPr>
                      <a:r>
                        <a:rPr sz="2250" spc="-25" dirty="0">
                          <a:solidFill>
                            <a:srgbClr val="FFFFFF"/>
                          </a:solidFill>
                          <a:latin typeface="Courier New"/>
                          <a:cs typeface="Courier New"/>
                        </a:rPr>
                        <a:t>35</a:t>
                      </a:r>
                      <a:endParaRPr sz="2250">
                        <a:latin typeface="Courier New"/>
                        <a:cs typeface="Courier New"/>
                      </a:endParaRPr>
                    </a:p>
                  </a:txBody>
                  <a:tcPr marL="0" marR="0" marT="60325" marB="0"/>
                </a:tc>
                <a:tc>
                  <a:txBody>
                    <a:bodyPr/>
                    <a:lstStyle/>
                    <a:p>
                      <a:pPr marL="343535">
                        <a:lnSpc>
                          <a:spcPct val="100000"/>
                        </a:lnSpc>
                        <a:spcBef>
                          <a:spcPts val="475"/>
                        </a:spcBef>
                      </a:pPr>
                      <a:r>
                        <a:rPr sz="2250" spc="-25" dirty="0">
                          <a:solidFill>
                            <a:srgbClr val="FFFFFF"/>
                          </a:solidFill>
                          <a:latin typeface="Courier New"/>
                          <a:cs typeface="Courier New"/>
                        </a:rPr>
                        <a:t>168</a:t>
                      </a:r>
                      <a:endParaRPr sz="2250">
                        <a:latin typeface="Courier New"/>
                        <a:cs typeface="Courier New"/>
                      </a:endParaRPr>
                    </a:p>
                  </a:txBody>
                  <a:tcPr marL="0" marR="0" marT="60325" marB="0"/>
                </a:tc>
                <a:tc>
                  <a:txBody>
                    <a:bodyPr/>
                    <a:lstStyle/>
                    <a:p>
                      <a:pPr marL="343535">
                        <a:lnSpc>
                          <a:spcPct val="100000"/>
                        </a:lnSpc>
                        <a:spcBef>
                          <a:spcPts val="475"/>
                        </a:spcBef>
                      </a:pPr>
                      <a:r>
                        <a:rPr sz="2250" spc="-20" dirty="0">
                          <a:solidFill>
                            <a:srgbClr val="FFFFFF"/>
                          </a:solidFill>
                          <a:latin typeface="Courier New"/>
                          <a:cs typeface="Courier New"/>
                        </a:rPr>
                        <a:t>43.1</a:t>
                      </a:r>
                      <a:endParaRPr sz="2250">
                        <a:latin typeface="Courier New"/>
                        <a:cs typeface="Courier New"/>
                      </a:endParaRPr>
                    </a:p>
                  </a:txBody>
                  <a:tcPr marL="0" marR="0" marT="60325" marB="0"/>
                </a:tc>
                <a:tc>
                  <a:txBody>
                    <a:bodyPr/>
                    <a:lstStyle/>
                    <a:p>
                      <a:pPr marL="429259">
                        <a:lnSpc>
                          <a:spcPct val="100000"/>
                        </a:lnSpc>
                        <a:spcBef>
                          <a:spcPts val="475"/>
                        </a:spcBef>
                      </a:pPr>
                      <a:r>
                        <a:rPr sz="2250" spc="-25" dirty="0">
                          <a:solidFill>
                            <a:srgbClr val="FFFFFF"/>
                          </a:solidFill>
                          <a:latin typeface="Courier New"/>
                          <a:cs typeface="Courier New"/>
                        </a:rPr>
                        <a:t>33</a:t>
                      </a:r>
                      <a:endParaRPr sz="2250">
                        <a:latin typeface="Courier New"/>
                        <a:cs typeface="Courier New"/>
                      </a:endParaRPr>
                    </a:p>
                  </a:txBody>
                  <a:tcPr marL="0" marR="0" marT="60325" marB="0"/>
                </a:tc>
                <a:tc>
                  <a:txBody>
                    <a:bodyPr/>
                    <a:lstStyle/>
                    <a:p>
                      <a:pPr marL="343535">
                        <a:lnSpc>
                          <a:spcPct val="100000"/>
                        </a:lnSpc>
                        <a:spcBef>
                          <a:spcPts val="475"/>
                        </a:spcBef>
                      </a:pPr>
                      <a:r>
                        <a:rPr sz="2250" spc="-50" dirty="0">
                          <a:solidFill>
                            <a:srgbClr val="FFFFFF"/>
                          </a:solidFill>
                          <a:latin typeface="Courier New"/>
                          <a:cs typeface="Courier New"/>
                        </a:rPr>
                        <a:t>1</a:t>
                      </a:r>
                      <a:endParaRPr sz="2250">
                        <a:latin typeface="Courier New"/>
                        <a:cs typeface="Courier New"/>
                      </a:endParaRPr>
                    </a:p>
                  </a:txBody>
                  <a:tcPr marL="0" marR="0" marT="60325" marB="0"/>
                </a:tc>
                <a:extLst>
                  <a:ext uri="{0D108BD9-81ED-4DB2-BD59-A6C34878D82A}">
                    <a16:rowId xmlns:a16="http://schemas.microsoft.com/office/drawing/2014/main" val="10005"/>
                  </a:ext>
                </a:extLst>
              </a:tr>
            </a:tbl>
          </a:graphicData>
        </a:graphic>
      </p:graphicFrame>
      <p:sp>
        <p:nvSpPr>
          <p:cNvPr id="12" name="슬라이드 번호 개체 틀 11">
            <a:extLst>
              <a:ext uri="{FF2B5EF4-FFF2-40B4-BE49-F238E27FC236}">
                <a16:creationId xmlns:a16="http://schemas.microsoft.com/office/drawing/2014/main" id="{4334E603-B074-F173-3803-437AA77BAE9C}"/>
              </a:ext>
            </a:extLst>
          </p:cNvPr>
          <p:cNvSpPr>
            <a:spLocks noGrp="1"/>
          </p:cNvSpPr>
          <p:nvPr>
            <p:ph type="sldNum" sz="quarter" idx="7"/>
          </p:nvPr>
        </p:nvSpPr>
        <p:spPr/>
        <p:txBody>
          <a:bodyPr/>
          <a:lstStyle/>
          <a:p>
            <a:fld id="{B6F15528-21DE-4FAA-801E-634DDDAF4B2B}" type="slidenum">
              <a:rPr lang="en-US" altLang="ko-KR" smtClean="0"/>
              <a:t>2</a:t>
            </a:fld>
            <a:endParaRPr lang="en-US" altLang="ko-K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8589" y="273884"/>
            <a:ext cx="9211310" cy="713740"/>
          </a:xfrm>
          <a:prstGeom prst="rect">
            <a:avLst/>
          </a:prstGeom>
        </p:spPr>
        <p:txBody>
          <a:bodyPr vert="horz" wrap="square" lIns="0" tIns="13970" rIns="0" bIns="0" rtlCol="0">
            <a:spAutoFit/>
          </a:bodyPr>
          <a:lstStyle/>
          <a:p>
            <a:pPr marL="12700">
              <a:lnSpc>
                <a:spcPct val="100000"/>
              </a:lnSpc>
              <a:spcBef>
                <a:spcPts val="110"/>
              </a:spcBef>
            </a:pPr>
            <a:r>
              <a:rPr spc="-140" dirty="0"/>
              <a:t>Creating </a:t>
            </a:r>
            <a:r>
              <a:rPr spc="-210" dirty="0"/>
              <a:t>feature</a:t>
            </a:r>
            <a:r>
              <a:rPr spc="-135" dirty="0"/>
              <a:t> </a:t>
            </a:r>
            <a:r>
              <a:rPr spc="-150" dirty="0"/>
              <a:t>and</a:t>
            </a:r>
            <a:r>
              <a:rPr spc="-135" dirty="0"/>
              <a:t> </a:t>
            </a:r>
            <a:r>
              <a:rPr spc="-210" dirty="0"/>
              <a:t>target</a:t>
            </a:r>
            <a:r>
              <a:rPr spc="-140" dirty="0"/>
              <a:t> </a:t>
            </a:r>
            <a:r>
              <a:rPr spc="-55" dirty="0"/>
              <a:t>arrays</a:t>
            </a:r>
          </a:p>
        </p:txBody>
      </p:sp>
      <p:sp>
        <p:nvSpPr>
          <p:cNvPr id="3" name="object 3"/>
          <p:cNvSpPr/>
          <p:nvPr/>
        </p:nvSpPr>
        <p:spPr>
          <a:xfrm>
            <a:off x="491289" y="1166810"/>
            <a:ext cx="14575155" cy="1801495"/>
          </a:xfrm>
          <a:custGeom>
            <a:avLst/>
            <a:gdLst/>
            <a:ahLst/>
            <a:cxnLst/>
            <a:rect l="l" t="t" r="r" b="b"/>
            <a:pathLst>
              <a:path w="14575155" h="1801495">
                <a:moveTo>
                  <a:pt x="14498413" y="1801394"/>
                </a:moveTo>
                <a:lnTo>
                  <a:pt x="76505" y="1801394"/>
                </a:lnTo>
                <a:lnTo>
                  <a:pt x="71180" y="1800869"/>
                </a:lnTo>
                <a:lnTo>
                  <a:pt x="31920" y="1784607"/>
                </a:lnTo>
                <a:lnTo>
                  <a:pt x="4175" y="1745879"/>
                </a:lnTo>
                <a:lnTo>
                  <a:pt x="0" y="1724888"/>
                </a:lnTo>
                <a:lnTo>
                  <a:pt x="0" y="1719512"/>
                </a:lnTo>
                <a:lnTo>
                  <a:pt x="0" y="76505"/>
                </a:lnTo>
                <a:lnTo>
                  <a:pt x="16786" y="31920"/>
                </a:lnTo>
                <a:lnTo>
                  <a:pt x="55513" y="4175"/>
                </a:lnTo>
                <a:lnTo>
                  <a:pt x="76505" y="0"/>
                </a:lnTo>
                <a:lnTo>
                  <a:pt x="14498413" y="0"/>
                </a:lnTo>
                <a:lnTo>
                  <a:pt x="14542998" y="16786"/>
                </a:lnTo>
                <a:lnTo>
                  <a:pt x="14570742" y="55513"/>
                </a:lnTo>
                <a:lnTo>
                  <a:pt x="14574918" y="76505"/>
                </a:lnTo>
                <a:lnTo>
                  <a:pt x="14574918" y="1724888"/>
                </a:lnTo>
                <a:lnTo>
                  <a:pt x="14558132" y="1769473"/>
                </a:lnTo>
                <a:lnTo>
                  <a:pt x="14519404" y="1797218"/>
                </a:lnTo>
                <a:lnTo>
                  <a:pt x="14503737" y="1800869"/>
                </a:lnTo>
                <a:lnTo>
                  <a:pt x="14498413" y="1801394"/>
                </a:lnTo>
                <a:close/>
              </a:path>
            </a:pathLst>
          </a:custGeom>
          <a:solidFill>
            <a:srgbClr val="F6F2EB"/>
          </a:solidFill>
        </p:spPr>
        <p:txBody>
          <a:bodyPr wrap="square" lIns="0" tIns="0" rIns="0" bIns="0" rtlCol="0"/>
          <a:lstStyle/>
          <a:p>
            <a:endParaRPr/>
          </a:p>
        </p:txBody>
      </p:sp>
      <p:sp>
        <p:nvSpPr>
          <p:cNvPr id="4" name="object 4"/>
          <p:cNvSpPr/>
          <p:nvPr/>
        </p:nvSpPr>
        <p:spPr>
          <a:xfrm>
            <a:off x="491289" y="3213850"/>
            <a:ext cx="14575155" cy="819150"/>
          </a:xfrm>
          <a:custGeom>
            <a:avLst/>
            <a:gdLst/>
            <a:ahLst/>
            <a:cxnLst/>
            <a:rect l="l" t="t" r="r" b="b"/>
            <a:pathLst>
              <a:path w="14575155" h="819150">
                <a:moveTo>
                  <a:pt x="14498413" y="818815"/>
                </a:moveTo>
                <a:lnTo>
                  <a:pt x="76505" y="818815"/>
                </a:lnTo>
                <a:lnTo>
                  <a:pt x="71180" y="818291"/>
                </a:lnTo>
                <a:lnTo>
                  <a:pt x="31920" y="802028"/>
                </a:lnTo>
                <a:lnTo>
                  <a:pt x="4175" y="763301"/>
                </a:lnTo>
                <a:lnTo>
                  <a:pt x="0" y="742310"/>
                </a:lnTo>
                <a:lnTo>
                  <a:pt x="0" y="736934"/>
                </a:lnTo>
                <a:lnTo>
                  <a:pt x="0" y="76505"/>
                </a:lnTo>
                <a:lnTo>
                  <a:pt x="16786" y="31919"/>
                </a:lnTo>
                <a:lnTo>
                  <a:pt x="55513" y="4174"/>
                </a:lnTo>
                <a:lnTo>
                  <a:pt x="76505" y="0"/>
                </a:lnTo>
                <a:lnTo>
                  <a:pt x="14498413" y="0"/>
                </a:lnTo>
                <a:lnTo>
                  <a:pt x="14542998" y="16786"/>
                </a:lnTo>
                <a:lnTo>
                  <a:pt x="14570742" y="55513"/>
                </a:lnTo>
                <a:lnTo>
                  <a:pt x="14574918" y="76505"/>
                </a:lnTo>
                <a:lnTo>
                  <a:pt x="14574918" y="742310"/>
                </a:lnTo>
                <a:lnTo>
                  <a:pt x="14558132" y="786894"/>
                </a:lnTo>
                <a:lnTo>
                  <a:pt x="14519404" y="814640"/>
                </a:lnTo>
                <a:lnTo>
                  <a:pt x="14503737" y="818291"/>
                </a:lnTo>
                <a:lnTo>
                  <a:pt x="14498413" y="818815"/>
                </a:lnTo>
                <a:close/>
              </a:path>
            </a:pathLst>
          </a:custGeom>
          <a:solidFill>
            <a:srgbClr val="04182D"/>
          </a:solidFill>
        </p:spPr>
        <p:txBody>
          <a:bodyPr wrap="square" lIns="0" tIns="0" rIns="0" bIns="0" rtlCol="0"/>
          <a:lstStyle/>
          <a:p>
            <a:endParaRPr/>
          </a:p>
        </p:txBody>
      </p:sp>
      <p:sp>
        <p:nvSpPr>
          <p:cNvPr id="5" name="object 5"/>
          <p:cNvSpPr txBox="1"/>
          <p:nvPr/>
        </p:nvSpPr>
        <p:spPr>
          <a:xfrm>
            <a:off x="642352" y="1231898"/>
            <a:ext cx="7934959" cy="1499870"/>
          </a:xfrm>
          <a:prstGeom prst="rect">
            <a:avLst/>
          </a:prstGeom>
        </p:spPr>
        <p:txBody>
          <a:bodyPr vert="horz" wrap="square" lIns="0" tIns="12065" rIns="0" bIns="0" rtlCol="0">
            <a:spAutoFit/>
          </a:bodyPr>
          <a:lstStyle/>
          <a:p>
            <a:pPr marL="12700" marR="5080">
              <a:lnSpc>
                <a:spcPct val="143300"/>
              </a:lnSpc>
              <a:spcBef>
                <a:spcPts val="95"/>
              </a:spcBef>
            </a:pPr>
            <a:r>
              <a:rPr sz="2250" dirty="0">
                <a:solidFill>
                  <a:srgbClr val="04182D"/>
                </a:solidFill>
                <a:latin typeface="Courier New"/>
                <a:cs typeface="Courier New"/>
              </a:rPr>
              <a:t>X</a:t>
            </a:r>
            <a:r>
              <a:rPr sz="2250" spc="-5" dirty="0">
                <a:solidFill>
                  <a:srgbClr val="04182D"/>
                </a:solidFill>
                <a:latin typeface="Courier New"/>
                <a:cs typeface="Courier New"/>
              </a:rPr>
              <a:t> </a:t>
            </a:r>
            <a:r>
              <a:rPr sz="2250" dirty="0">
                <a:solidFill>
                  <a:srgbClr val="04182D"/>
                </a:solidFill>
                <a:latin typeface="Courier New"/>
                <a:cs typeface="Courier New"/>
              </a:rPr>
              <a:t>=</a:t>
            </a:r>
            <a:r>
              <a:rPr sz="2250" spc="-5" dirty="0">
                <a:solidFill>
                  <a:srgbClr val="04182D"/>
                </a:solidFill>
                <a:latin typeface="Courier New"/>
                <a:cs typeface="Courier New"/>
              </a:rPr>
              <a:t> </a:t>
            </a:r>
            <a:r>
              <a:rPr sz="2250" dirty="0">
                <a:solidFill>
                  <a:srgbClr val="04182D"/>
                </a:solidFill>
                <a:latin typeface="Courier New"/>
                <a:cs typeface="Courier New"/>
              </a:rPr>
              <a:t>diabetes_df.drop(</a:t>
            </a:r>
            <a:r>
              <a:rPr sz="2250" dirty="0">
                <a:solidFill>
                  <a:srgbClr val="BE2F72"/>
                </a:solidFill>
                <a:latin typeface="Courier New"/>
                <a:cs typeface="Courier New"/>
              </a:rPr>
              <a:t>"glucose"</a:t>
            </a:r>
            <a:r>
              <a:rPr sz="2250" dirty="0">
                <a:solidFill>
                  <a:srgbClr val="04182D"/>
                </a:solidFill>
                <a:latin typeface="Courier New"/>
                <a:cs typeface="Courier New"/>
              </a:rPr>
              <a:t>, </a:t>
            </a:r>
            <a:r>
              <a:rPr sz="2250" spc="-10" dirty="0">
                <a:solidFill>
                  <a:srgbClr val="04182D"/>
                </a:solidFill>
                <a:latin typeface="Courier New"/>
                <a:cs typeface="Courier New"/>
              </a:rPr>
              <a:t>axis=</a:t>
            </a:r>
            <a:r>
              <a:rPr sz="2250" spc="-10" dirty="0">
                <a:solidFill>
                  <a:srgbClr val="BE2F72"/>
                </a:solidFill>
                <a:latin typeface="Courier New"/>
                <a:cs typeface="Courier New"/>
              </a:rPr>
              <a:t>1</a:t>
            </a:r>
            <a:r>
              <a:rPr sz="2250" spc="-10" dirty="0">
                <a:solidFill>
                  <a:srgbClr val="04182D"/>
                </a:solidFill>
                <a:latin typeface="Courier New"/>
                <a:cs typeface="Courier New"/>
              </a:rPr>
              <a:t>).values </a:t>
            </a:r>
            <a:r>
              <a:rPr sz="2250" dirty="0">
                <a:solidFill>
                  <a:srgbClr val="04182D"/>
                </a:solidFill>
                <a:latin typeface="Courier New"/>
                <a:cs typeface="Courier New"/>
              </a:rPr>
              <a:t>y = </a:t>
            </a:r>
            <a:r>
              <a:rPr sz="2250" spc="-10" dirty="0">
                <a:solidFill>
                  <a:srgbClr val="04182D"/>
                </a:solidFill>
                <a:latin typeface="Courier New"/>
                <a:cs typeface="Courier New"/>
              </a:rPr>
              <a:t>diabetes_df[</a:t>
            </a:r>
            <a:r>
              <a:rPr sz="2250" spc="-10" dirty="0">
                <a:solidFill>
                  <a:srgbClr val="BE2F72"/>
                </a:solidFill>
                <a:latin typeface="Courier New"/>
                <a:cs typeface="Courier New"/>
              </a:rPr>
              <a:t>"glucose"</a:t>
            </a:r>
            <a:r>
              <a:rPr sz="2250" spc="-10" dirty="0">
                <a:solidFill>
                  <a:srgbClr val="04182D"/>
                </a:solidFill>
                <a:latin typeface="Courier New"/>
                <a:cs typeface="Courier New"/>
              </a:rPr>
              <a:t>].values </a:t>
            </a:r>
            <a:r>
              <a:rPr sz="2250" dirty="0">
                <a:solidFill>
                  <a:srgbClr val="008600"/>
                </a:solidFill>
                <a:latin typeface="Courier New"/>
                <a:cs typeface="Courier New"/>
              </a:rPr>
              <a:t>print</a:t>
            </a:r>
            <a:r>
              <a:rPr sz="2250" dirty="0">
                <a:solidFill>
                  <a:srgbClr val="04182D"/>
                </a:solidFill>
                <a:latin typeface="Courier New"/>
                <a:cs typeface="Courier New"/>
              </a:rPr>
              <a:t>(</a:t>
            </a:r>
            <a:r>
              <a:rPr sz="2250" dirty="0">
                <a:solidFill>
                  <a:srgbClr val="008600"/>
                </a:solidFill>
                <a:latin typeface="Courier New"/>
                <a:cs typeface="Courier New"/>
              </a:rPr>
              <a:t>type</a:t>
            </a:r>
            <a:r>
              <a:rPr sz="2250" dirty="0">
                <a:solidFill>
                  <a:srgbClr val="04182D"/>
                </a:solidFill>
                <a:latin typeface="Courier New"/>
                <a:cs typeface="Courier New"/>
              </a:rPr>
              <a:t>(X),</a:t>
            </a:r>
            <a:r>
              <a:rPr sz="2250" spc="-25" dirty="0">
                <a:solidFill>
                  <a:srgbClr val="04182D"/>
                </a:solidFill>
                <a:latin typeface="Courier New"/>
                <a:cs typeface="Courier New"/>
              </a:rPr>
              <a:t> </a:t>
            </a:r>
            <a:r>
              <a:rPr sz="2250" spc="-10" dirty="0">
                <a:solidFill>
                  <a:srgbClr val="008600"/>
                </a:solidFill>
                <a:latin typeface="Courier New"/>
                <a:cs typeface="Courier New"/>
              </a:rPr>
              <a:t>type</a:t>
            </a:r>
            <a:r>
              <a:rPr sz="2250" spc="-10" dirty="0">
                <a:solidFill>
                  <a:srgbClr val="04182D"/>
                </a:solidFill>
                <a:latin typeface="Courier New"/>
                <a:cs typeface="Courier New"/>
              </a:rPr>
              <a:t>(y))</a:t>
            </a:r>
            <a:endParaRPr sz="2250">
              <a:latin typeface="Courier New"/>
              <a:cs typeface="Courier New"/>
            </a:endParaRPr>
          </a:p>
        </p:txBody>
      </p:sp>
      <p:sp>
        <p:nvSpPr>
          <p:cNvPr id="6" name="object 6"/>
          <p:cNvSpPr txBox="1"/>
          <p:nvPr/>
        </p:nvSpPr>
        <p:spPr>
          <a:xfrm>
            <a:off x="642352" y="3426324"/>
            <a:ext cx="8107680" cy="369570"/>
          </a:xfrm>
          <a:prstGeom prst="rect">
            <a:avLst/>
          </a:prstGeom>
        </p:spPr>
        <p:txBody>
          <a:bodyPr vert="horz" wrap="square" lIns="0" tIns="13335" rIns="0" bIns="0" rtlCol="0">
            <a:spAutoFit/>
          </a:bodyPr>
          <a:lstStyle/>
          <a:p>
            <a:pPr marL="12700">
              <a:lnSpc>
                <a:spcPct val="100000"/>
              </a:lnSpc>
              <a:spcBef>
                <a:spcPts val="105"/>
              </a:spcBef>
            </a:pPr>
            <a:r>
              <a:rPr sz="2250" dirty="0">
                <a:solidFill>
                  <a:srgbClr val="FFFFFF"/>
                </a:solidFill>
                <a:latin typeface="Courier New"/>
                <a:cs typeface="Courier New"/>
              </a:rPr>
              <a:t>&lt;class 'numpy.ndarray'&gt; &lt;class </a:t>
            </a:r>
            <a:r>
              <a:rPr sz="2250" spc="-10" dirty="0">
                <a:solidFill>
                  <a:srgbClr val="FFFFFF"/>
                </a:solidFill>
                <a:latin typeface="Courier New"/>
                <a:cs typeface="Courier New"/>
              </a:rPr>
              <a:t>'numpy.ndarray'&gt;</a:t>
            </a:r>
            <a:endParaRPr sz="2250">
              <a:latin typeface="Courier New"/>
              <a:cs typeface="Courier New"/>
            </a:endParaRPr>
          </a:p>
        </p:txBody>
      </p:sp>
      <p:sp>
        <p:nvSpPr>
          <p:cNvPr id="10" name="슬라이드 번호 개체 틀 9">
            <a:extLst>
              <a:ext uri="{FF2B5EF4-FFF2-40B4-BE49-F238E27FC236}">
                <a16:creationId xmlns:a16="http://schemas.microsoft.com/office/drawing/2014/main" id="{635E8820-142D-F7D4-8EE9-A3439C4CD927}"/>
              </a:ext>
            </a:extLst>
          </p:cNvPr>
          <p:cNvSpPr>
            <a:spLocks noGrp="1"/>
          </p:cNvSpPr>
          <p:nvPr>
            <p:ph type="sldNum" sz="quarter" idx="7"/>
          </p:nvPr>
        </p:nvSpPr>
        <p:spPr/>
        <p:txBody>
          <a:bodyPr/>
          <a:lstStyle/>
          <a:p>
            <a:fld id="{B6F15528-21DE-4FAA-801E-634DDDAF4B2B}" type="slidenum">
              <a:rPr lang="en-US" altLang="ko-KR" smtClean="0"/>
              <a:t>3</a:t>
            </a:fld>
            <a:endParaRPr lang="en-US" altLang="ko-K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8589" y="273885"/>
            <a:ext cx="10734040" cy="713740"/>
          </a:xfrm>
          <a:prstGeom prst="rect">
            <a:avLst/>
          </a:prstGeom>
        </p:spPr>
        <p:txBody>
          <a:bodyPr vert="horz" wrap="square" lIns="0" tIns="13970" rIns="0" bIns="0" rtlCol="0">
            <a:spAutoFit/>
          </a:bodyPr>
          <a:lstStyle/>
          <a:p>
            <a:pPr marL="12700">
              <a:lnSpc>
                <a:spcPct val="100000"/>
              </a:lnSpc>
              <a:spcBef>
                <a:spcPts val="110"/>
              </a:spcBef>
            </a:pPr>
            <a:r>
              <a:rPr spc="-160" dirty="0"/>
              <a:t>Making</a:t>
            </a:r>
            <a:r>
              <a:rPr spc="-140" dirty="0"/>
              <a:t> </a:t>
            </a:r>
            <a:r>
              <a:rPr spc="-229" dirty="0"/>
              <a:t>predictions</a:t>
            </a:r>
            <a:r>
              <a:rPr spc="-135" dirty="0"/>
              <a:t> </a:t>
            </a:r>
            <a:r>
              <a:rPr spc="-225" dirty="0"/>
              <a:t>from</a:t>
            </a:r>
            <a:r>
              <a:rPr spc="-135" dirty="0"/>
              <a:t> </a:t>
            </a:r>
            <a:r>
              <a:rPr spc="50" dirty="0"/>
              <a:t>a</a:t>
            </a:r>
            <a:r>
              <a:rPr spc="-140" dirty="0"/>
              <a:t> </a:t>
            </a:r>
            <a:r>
              <a:rPr spc="-245" dirty="0"/>
              <a:t>single</a:t>
            </a:r>
            <a:r>
              <a:rPr spc="-135" dirty="0"/>
              <a:t> </a:t>
            </a:r>
            <a:r>
              <a:rPr spc="-120" dirty="0"/>
              <a:t>feature</a:t>
            </a:r>
          </a:p>
        </p:txBody>
      </p:sp>
      <p:sp>
        <p:nvSpPr>
          <p:cNvPr id="3" name="object 3"/>
          <p:cNvSpPr/>
          <p:nvPr/>
        </p:nvSpPr>
        <p:spPr>
          <a:xfrm>
            <a:off x="491289" y="1166812"/>
            <a:ext cx="14575155" cy="1310640"/>
          </a:xfrm>
          <a:custGeom>
            <a:avLst/>
            <a:gdLst/>
            <a:ahLst/>
            <a:cxnLst/>
            <a:rect l="l" t="t" r="r" b="b"/>
            <a:pathLst>
              <a:path w="14575155" h="1310639">
                <a:moveTo>
                  <a:pt x="14498413" y="1310105"/>
                </a:moveTo>
                <a:lnTo>
                  <a:pt x="76505" y="1310105"/>
                </a:lnTo>
                <a:lnTo>
                  <a:pt x="71180" y="1309580"/>
                </a:lnTo>
                <a:lnTo>
                  <a:pt x="31920" y="1293318"/>
                </a:lnTo>
                <a:lnTo>
                  <a:pt x="4175" y="1254590"/>
                </a:lnTo>
                <a:lnTo>
                  <a:pt x="0" y="1233599"/>
                </a:lnTo>
                <a:lnTo>
                  <a:pt x="0" y="1228223"/>
                </a:lnTo>
                <a:lnTo>
                  <a:pt x="0" y="76505"/>
                </a:lnTo>
                <a:lnTo>
                  <a:pt x="16786" y="31920"/>
                </a:lnTo>
                <a:lnTo>
                  <a:pt x="55513" y="4175"/>
                </a:lnTo>
                <a:lnTo>
                  <a:pt x="76505" y="0"/>
                </a:lnTo>
                <a:lnTo>
                  <a:pt x="14498413" y="0"/>
                </a:lnTo>
                <a:lnTo>
                  <a:pt x="14542998" y="16786"/>
                </a:lnTo>
                <a:lnTo>
                  <a:pt x="14570742" y="55513"/>
                </a:lnTo>
                <a:lnTo>
                  <a:pt x="14574918" y="76505"/>
                </a:lnTo>
                <a:lnTo>
                  <a:pt x="14574918" y="1233599"/>
                </a:lnTo>
                <a:lnTo>
                  <a:pt x="14558132" y="1278184"/>
                </a:lnTo>
                <a:lnTo>
                  <a:pt x="14519404" y="1305929"/>
                </a:lnTo>
                <a:lnTo>
                  <a:pt x="14503737" y="1309580"/>
                </a:lnTo>
                <a:lnTo>
                  <a:pt x="14498413" y="1310105"/>
                </a:lnTo>
                <a:close/>
              </a:path>
            </a:pathLst>
          </a:custGeom>
          <a:solidFill>
            <a:srgbClr val="F6F2EB"/>
          </a:solidFill>
        </p:spPr>
        <p:txBody>
          <a:bodyPr wrap="square" lIns="0" tIns="0" rIns="0" bIns="0" rtlCol="0"/>
          <a:lstStyle/>
          <a:p>
            <a:endParaRPr/>
          </a:p>
        </p:txBody>
      </p:sp>
      <p:sp>
        <p:nvSpPr>
          <p:cNvPr id="4" name="object 4"/>
          <p:cNvSpPr/>
          <p:nvPr/>
        </p:nvSpPr>
        <p:spPr>
          <a:xfrm>
            <a:off x="491289" y="2722562"/>
            <a:ext cx="14575155" cy="819150"/>
          </a:xfrm>
          <a:custGeom>
            <a:avLst/>
            <a:gdLst/>
            <a:ahLst/>
            <a:cxnLst/>
            <a:rect l="l" t="t" r="r" b="b"/>
            <a:pathLst>
              <a:path w="14575155" h="819150">
                <a:moveTo>
                  <a:pt x="14498413" y="818815"/>
                </a:moveTo>
                <a:lnTo>
                  <a:pt x="76505" y="818815"/>
                </a:lnTo>
                <a:lnTo>
                  <a:pt x="71180" y="818291"/>
                </a:lnTo>
                <a:lnTo>
                  <a:pt x="31920" y="802028"/>
                </a:lnTo>
                <a:lnTo>
                  <a:pt x="4175" y="763301"/>
                </a:lnTo>
                <a:lnTo>
                  <a:pt x="0" y="742310"/>
                </a:lnTo>
                <a:lnTo>
                  <a:pt x="0" y="736934"/>
                </a:lnTo>
                <a:lnTo>
                  <a:pt x="0" y="76505"/>
                </a:lnTo>
                <a:lnTo>
                  <a:pt x="16786" y="31919"/>
                </a:lnTo>
                <a:lnTo>
                  <a:pt x="55513" y="4175"/>
                </a:lnTo>
                <a:lnTo>
                  <a:pt x="76505" y="0"/>
                </a:lnTo>
                <a:lnTo>
                  <a:pt x="14498413" y="0"/>
                </a:lnTo>
                <a:lnTo>
                  <a:pt x="14542998" y="16786"/>
                </a:lnTo>
                <a:lnTo>
                  <a:pt x="14570742" y="55513"/>
                </a:lnTo>
                <a:lnTo>
                  <a:pt x="14574918" y="76505"/>
                </a:lnTo>
                <a:lnTo>
                  <a:pt x="14574918" y="742310"/>
                </a:lnTo>
                <a:lnTo>
                  <a:pt x="14558132" y="786894"/>
                </a:lnTo>
                <a:lnTo>
                  <a:pt x="14519404" y="814639"/>
                </a:lnTo>
                <a:lnTo>
                  <a:pt x="14503737" y="818291"/>
                </a:lnTo>
                <a:lnTo>
                  <a:pt x="14498413" y="818815"/>
                </a:lnTo>
                <a:close/>
              </a:path>
            </a:pathLst>
          </a:custGeom>
          <a:solidFill>
            <a:srgbClr val="04182D"/>
          </a:solidFill>
        </p:spPr>
        <p:txBody>
          <a:bodyPr wrap="square" lIns="0" tIns="0" rIns="0" bIns="0" rtlCol="0"/>
          <a:lstStyle/>
          <a:p>
            <a:endParaRPr/>
          </a:p>
        </p:txBody>
      </p:sp>
      <p:sp>
        <p:nvSpPr>
          <p:cNvPr id="5" name="object 5"/>
          <p:cNvSpPr/>
          <p:nvPr/>
        </p:nvSpPr>
        <p:spPr>
          <a:xfrm>
            <a:off x="491289" y="3787022"/>
            <a:ext cx="14575155" cy="1310640"/>
          </a:xfrm>
          <a:custGeom>
            <a:avLst/>
            <a:gdLst/>
            <a:ahLst/>
            <a:cxnLst/>
            <a:rect l="l" t="t" r="r" b="b"/>
            <a:pathLst>
              <a:path w="14575155" h="1310639">
                <a:moveTo>
                  <a:pt x="14498413" y="1310104"/>
                </a:moveTo>
                <a:lnTo>
                  <a:pt x="76505" y="1310104"/>
                </a:lnTo>
                <a:lnTo>
                  <a:pt x="71180" y="1309580"/>
                </a:lnTo>
                <a:lnTo>
                  <a:pt x="31920" y="1293317"/>
                </a:lnTo>
                <a:lnTo>
                  <a:pt x="4175" y="1254590"/>
                </a:lnTo>
                <a:lnTo>
                  <a:pt x="0" y="1233600"/>
                </a:lnTo>
                <a:lnTo>
                  <a:pt x="0" y="1228223"/>
                </a:lnTo>
                <a:lnTo>
                  <a:pt x="0" y="76505"/>
                </a:lnTo>
                <a:lnTo>
                  <a:pt x="16786" y="31920"/>
                </a:lnTo>
                <a:lnTo>
                  <a:pt x="55513" y="4175"/>
                </a:lnTo>
                <a:lnTo>
                  <a:pt x="76505" y="0"/>
                </a:lnTo>
                <a:lnTo>
                  <a:pt x="14498413" y="0"/>
                </a:lnTo>
                <a:lnTo>
                  <a:pt x="14542998" y="16786"/>
                </a:lnTo>
                <a:lnTo>
                  <a:pt x="14570742" y="55513"/>
                </a:lnTo>
                <a:lnTo>
                  <a:pt x="14574918" y="76505"/>
                </a:lnTo>
                <a:lnTo>
                  <a:pt x="14574918" y="1233600"/>
                </a:lnTo>
                <a:lnTo>
                  <a:pt x="14558132" y="1278183"/>
                </a:lnTo>
                <a:lnTo>
                  <a:pt x="14519404" y="1305929"/>
                </a:lnTo>
                <a:lnTo>
                  <a:pt x="14503737" y="1309580"/>
                </a:lnTo>
                <a:lnTo>
                  <a:pt x="14498413" y="1310104"/>
                </a:lnTo>
                <a:close/>
              </a:path>
            </a:pathLst>
          </a:custGeom>
          <a:solidFill>
            <a:srgbClr val="F6F2EB"/>
          </a:solidFill>
        </p:spPr>
        <p:txBody>
          <a:bodyPr wrap="square" lIns="0" tIns="0" rIns="0" bIns="0" rtlCol="0"/>
          <a:lstStyle/>
          <a:p>
            <a:endParaRPr/>
          </a:p>
        </p:txBody>
      </p:sp>
      <p:sp>
        <p:nvSpPr>
          <p:cNvPr id="6" name="object 6"/>
          <p:cNvSpPr/>
          <p:nvPr/>
        </p:nvSpPr>
        <p:spPr>
          <a:xfrm>
            <a:off x="491289" y="5342772"/>
            <a:ext cx="14575155" cy="819150"/>
          </a:xfrm>
          <a:custGeom>
            <a:avLst/>
            <a:gdLst/>
            <a:ahLst/>
            <a:cxnLst/>
            <a:rect l="l" t="t" r="r" b="b"/>
            <a:pathLst>
              <a:path w="14575155" h="819150">
                <a:moveTo>
                  <a:pt x="14498413" y="818815"/>
                </a:moveTo>
                <a:lnTo>
                  <a:pt x="76505" y="818815"/>
                </a:lnTo>
                <a:lnTo>
                  <a:pt x="71180" y="818291"/>
                </a:lnTo>
                <a:lnTo>
                  <a:pt x="31920" y="802028"/>
                </a:lnTo>
                <a:lnTo>
                  <a:pt x="4175" y="763301"/>
                </a:lnTo>
                <a:lnTo>
                  <a:pt x="0" y="742310"/>
                </a:lnTo>
                <a:lnTo>
                  <a:pt x="0" y="736934"/>
                </a:lnTo>
                <a:lnTo>
                  <a:pt x="0" y="76505"/>
                </a:lnTo>
                <a:lnTo>
                  <a:pt x="16786" y="31920"/>
                </a:lnTo>
                <a:lnTo>
                  <a:pt x="55513" y="4175"/>
                </a:lnTo>
                <a:lnTo>
                  <a:pt x="76505" y="0"/>
                </a:lnTo>
                <a:lnTo>
                  <a:pt x="14498413" y="0"/>
                </a:lnTo>
                <a:lnTo>
                  <a:pt x="14542998" y="16785"/>
                </a:lnTo>
                <a:lnTo>
                  <a:pt x="14570742" y="55513"/>
                </a:lnTo>
                <a:lnTo>
                  <a:pt x="14574918" y="76505"/>
                </a:lnTo>
                <a:lnTo>
                  <a:pt x="14574918" y="742310"/>
                </a:lnTo>
                <a:lnTo>
                  <a:pt x="14558132" y="786894"/>
                </a:lnTo>
                <a:lnTo>
                  <a:pt x="14519404" y="814638"/>
                </a:lnTo>
                <a:lnTo>
                  <a:pt x="14503737" y="818291"/>
                </a:lnTo>
                <a:lnTo>
                  <a:pt x="14498413" y="818815"/>
                </a:lnTo>
                <a:close/>
              </a:path>
            </a:pathLst>
          </a:custGeom>
          <a:solidFill>
            <a:srgbClr val="04182D"/>
          </a:solidFill>
        </p:spPr>
        <p:txBody>
          <a:bodyPr wrap="square" lIns="0" tIns="0" rIns="0" bIns="0" rtlCol="0"/>
          <a:lstStyle/>
          <a:p>
            <a:endParaRPr/>
          </a:p>
        </p:txBody>
      </p:sp>
      <p:sp>
        <p:nvSpPr>
          <p:cNvPr id="7" name="object 7"/>
          <p:cNvSpPr txBox="1"/>
          <p:nvPr/>
        </p:nvSpPr>
        <p:spPr>
          <a:xfrm>
            <a:off x="642352" y="1231899"/>
            <a:ext cx="4667885" cy="1008380"/>
          </a:xfrm>
          <a:prstGeom prst="rect">
            <a:avLst/>
          </a:prstGeom>
        </p:spPr>
        <p:txBody>
          <a:bodyPr vert="horz" wrap="square" lIns="0" tIns="12065" rIns="0" bIns="0" rtlCol="0">
            <a:spAutoFit/>
          </a:bodyPr>
          <a:lstStyle/>
          <a:p>
            <a:pPr marL="12700" marR="5080">
              <a:lnSpc>
                <a:spcPct val="143300"/>
              </a:lnSpc>
              <a:spcBef>
                <a:spcPts val="95"/>
              </a:spcBef>
            </a:pPr>
            <a:r>
              <a:rPr sz="2250" dirty="0">
                <a:solidFill>
                  <a:srgbClr val="04182D"/>
                </a:solidFill>
                <a:latin typeface="Courier New"/>
                <a:cs typeface="Courier New"/>
              </a:rPr>
              <a:t>X_bmi = X[:, </a:t>
            </a:r>
            <a:r>
              <a:rPr sz="2250" spc="-25" dirty="0">
                <a:solidFill>
                  <a:srgbClr val="BE2F72"/>
                </a:solidFill>
                <a:latin typeface="Courier New"/>
                <a:cs typeface="Courier New"/>
              </a:rPr>
              <a:t>3</a:t>
            </a:r>
            <a:r>
              <a:rPr sz="2250" spc="-25" dirty="0">
                <a:solidFill>
                  <a:srgbClr val="04182D"/>
                </a:solidFill>
                <a:latin typeface="Courier New"/>
                <a:cs typeface="Courier New"/>
              </a:rPr>
              <a:t>] </a:t>
            </a:r>
            <a:r>
              <a:rPr sz="2250" dirty="0">
                <a:solidFill>
                  <a:srgbClr val="008600"/>
                </a:solidFill>
                <a:latin typeface="Courier New"/>
                <a:cs typeface="Courier New"/>
              </a:rPr>
              <a:t>print</a:t>
            </a:r>
            <a:r>
              <a:rPr sz="2250" dirty="0">
                <a:solidFill>
                  <a:srgbClr val="04182D"/>
                </a:solidFill>
                <a:latin typeface="Courier New"/>
                <a:cs typeface="Courier New"/>
              </a:rPr>
              <a:t>(y.shape,</a:t>
            </a:r>
            <a:r>
              <a:rPr sz="2250" spc="-5" dirty="0">
                <a:solidFill>
                  <a:srgbClr val="04182D"/>
                </a:solidFill>
                <a:latin typeface="Courier New"/>
                <a:cs typeface="Courier New"/>
              </a:rPr>
              <a:t> </a:t>
            </a:r>
            <a:r>
              <a:rPr sz="2250" spc="-10" dirty="0">
                <a:solidFill>
                  <a:srgbClr val="04182D"/>
                </a:solidFill>
                <a:latin typeface="Courier New"/>
                <a:cs typeface="Courier New"/>
              </a:rPr>
              <a:t>X_bmi.shape)</a:t>
            </a:r>
            <a:endParaRPr sz="2250">
              <a:latin typeface="Courier New"/>
              <a:cs typeface="Courier New"/>
            </a:endParaRPr>
          </a:p>
        </p:txBody>
      </p:sp>
      <p:sp>
        <p:nvSpPr>
          <p:cNvPr id="8" name="object 8"/>
          <p:cNvSpPr txBox="1"/>
          <p:nvPr/>
        </p:nvSpPr>
        <p:spPr>
          <a:xfrm>
            <a:off x="642352" y="2935036"/>
            <a:ext cx="2261235" cy="369570"/>
          </a:xfrm>
          <a:prstGeom prst="rect">
            <a:avLst/>
          </a:prstGeom>
        </p:spPr>
        <p:txBody>
          <a:bodyPr vert="horz" wrap="square" lIns="0" tIns="13335" rIns="0" bIns="0" rtlCol="0">
            <a:spAutoFit/>
          </a:bodyPr>
          <a:lstStyle/>
          <a:p>
            <a:pPr marL="12700">
              <a:lnSpc>
                <a:spcPct val="100000"/>
              </a:lnSpc>
              <a:spcBef>
                <a:spcPts val="105"/>
              </a:spcBef>
            </a:pPr>
            <a:r>
              <a:rPr sz="2250" dirty="0">
                <a:solidFill>
                  <a:srgbClr val="FFFFFF"/>
                </a:solidFill>
                <a:latin typeface="Courier New"/>
                <a:cs typeface="Courier New"/>
              </a:rPr>
              <a:t>(752,) </a:t>
            </a:r>
            <a:r>
              <a:rPr sz="2250" spc="-10" dirty="0">
                <a:solidFill>
                  <a:srgbClr val="FFFFFF"/>
                </a:solidFill>
                <a:latin typeface="Courier New"/>
                <a:cs typeface="Courier New"/>
              </a:rPr>
              <a:t>(752,)</a:t>
            </a:r>
            <a:endParaRPr sz="2250">
              <a:latin typeface="Courier New"/>
              <a:cs typeface="Courier New"/>
            </a:endParaRPr>
          </a:p>
        </p:txBody>
      </p:sp>
      <p:sp>
        <p:nvSpPr>
          <p:cNvPr id="9" name="object 9"/>
          <p:cNvSpPr txBox="1"/>
          <p:nvPr/>
        </p:nvSpPr>
        <p:spPr>
          <a:xfrm>
            <a:off x="642352" y="3852109"/>
            <a:ext cx="4839335" cy="1008380"/>
          </a:xfrm>
          <a:prstGeom prst="rect">
            <a:avLst/>
          </a:prstGeom>
        </p:spPr>
        <p:txBody>
          <a:bodyPr vert="horz" wrap="square" lIns="0" tIns="12065" rIns="0" bIns="0" rtlCol="0">
            <a:spAutoFit/>
          </a:bodyPr>
          <a:lstStyle/>
          <a:p>
            <a:pPr marL="12700" marR="5080">
              <a:lnSpc>
                <a:spcPct val="143300"/>
              </a:lnSpc>
              <a:spcBef>
                <a:spcPts val="95"/>
              </a:spcBef>
            </a:pPr>
            <a:r>
              <a:rPr sz="2250" dirty="0">
                <a:solidFill>
                  <a:srgbClr val="04182D"/>
                </a:solidFill>
                <a:latin typeface="Courier New"/>
                <a:cs typeface="Courier New"/>
              </a:rPr>
              <a:t>X_bmi</a:t>
            </a:r>
            <a:r>
              <a:rPr sz="2250" spc="35" dirty="0">
                <a:solidFill>
                  <a:srgbClr val="04182D"/>
                </a:solidFill>
                <a:latin typeface="Courier New"/>
                <a:cs typeface="Courier New"/>
              </a:rPr>
              <a:t> </a:t>
            </a:r>
            <a:r>
              <a:rPr sz="2250" dirty="0">
                <a:solidFill>
                  <a:srgbClr val="04182D"/>
                </a:solidFill>
                <a:latin typeface="Courier New"/>
                <a:cs typeface="Courier New"/>
              </a:rPr>
              <a:t>=</a:t>
            </a:r>
            <a:r>
              <a:rPr sz="2250" spc="50" dirty="0">
                <a:solidFill>
                  <a:srgbClr val="04182D"/>
                </a:solidFill>
                <a:latin typeface="Courier New"/>
                <a:cs typeface="Courier New"/>
              </a:rPr>
              <a:t> </a:t>
            </a:r>
            <a:r>
              <a:rPr sz="2250" spc="-10" dirty="0">
                <a:solidFill>
                  <a:srgbClr val="04182D"/>
                </a:solidFill>
                <a:latin typeface="Courier New"/>
                <a:cs typeface="Courier New"/>
              </a:rPr>
              <a:t>X_bmi.reshape(-</a:t>
            </a:r>
            <a:r>
              <a:rPr sz="2250" dirty="0">
                <a:solidFill>
                  <a:srgbClr val="BE2F72"/>
                </a:solidFill>
                <a:latin typeface="Courier New"/>
                <a:cs typeface="Courier New"/>
              </a:rPr>
              <a:t>1</a:t>
            </a:r>
            <a:r>
              <a:rPr sz="2250" dirty="0">
                <a:solidFill>
                  <a:srgbClr val="04182D"/>
                </a:solidFill>
                <a:latin typeface="Courier New"/>
                <a:cs typeface="Courier New"/>
              </a:rPr>
              <a:t>,</a:t>
            </a:r>
            <a:r>
              <a:rPr sz="2250" spc="45" dirty="0">
                <a:solidFill>
                  <a:srgbClr val="04182D"/>
                </a:solidFill>
                <a:latin typeface="Courier New"/>
                <a:cs typeface="Courier New"/>
              </a:rPr>
              <a:t> </a:t>
            </a:r>
            <a:r>
              <a:rPr sz="2250" spc="-25" dirty="0">
                <a:solidFill>
                  <a:srgbClr val="BE2F72"/>
                </a:solidFill>
                <a:latin typeface="Courier New"/>
                <a:cs typeface="Courier New"/>
              </a:rPr>
              <a:t>1</a:t>
            </a:r>
            <a:r>
              <a:rPr sz="2250" spc="-25" dirty="0">
                <a:solidFill>
                  <a:srgbClr val="04182D"/>
                </a:solidFill>
                <a:latin typeface="Courier New"/>
                <a:cs typeface="Courier New"/>
              </a:rPr>
              <a:t>) </a:t>
            </a:r>
            <a:r>
              <a:rPr sz="2250" spc="-10" dirty="0">
                <a:solidFill>
                  <a:srgbClr val="008600"/>
                </a:solidFill>
                <a:latin typeface="Courier New"/>
                <a:cs typeface="Courier New"/>
              </a:rPr>
              <a:t>print</a:t>
            </a:r>
            <a:r>
              <a:rPr sz="2250" spc="-10" dirty="0">
                <a:solidFill>
                  <a:srgbClr val="04182D"/>
                </a:solidFill>
                <a:latin typeface="Courier New"/>
                <a:cs typeface="Courier New"/>
              </a:rPr>
              <a:t>(X_bmi.shape)</a:t>
            </a:r>
            <a:endParaRPr sz="2250" dirty="0">
              <a:latin typeface="Courier New"/>
              <a:cs typeface="Courier New"/>
            </a:endParaRPr>
          </a:p>
        </p:txBody>
      </p:sp>
      <p:sp>
        <p:nvSpPr>
          <p:cNvPr id="10" name="object 10"/>
          <p:cNvSpPr txBox="1"/>
          <p:nvPr/>
        </p:nvSpPr>
        <p:spPr>
          <a:xfrm>
            <a:off x="642352" y="5555246"/>
            <a:ext cx="1401445" cy="369570"/>
          </a:xfrm>
          <a:prstGeom prst="rect">
            <a:avLst/>
          </a:prstGeom>
        </p:spPr>
        <p:txBody>
          <a:bodyPr vert="horz" wrap="square" lIns="0" tIns="13335" rIns="0" bIns="0" rtlCol="0">
            <a:spAutoFit/>
          </a:bodyPr>
          <a:lstStyle/>
          <a:p>
            <a:pPr marL="12700">
              <a:lnSpc>
                <a:spcPct val="100000"/>
              </a:lnSpc>
              <a:spcBef>
                <a:spcPts val="105"/>
              </a:spcBef>
            </a:pPr>
            <a:r>
              <a:rPr sz="2250" dirty="0">
                <a:solidFill>
                  <a:srgbClr val="FFFFFF"/>
                </a:solidFill>
                <a:latin typeface="Courier New"/>
                <a:cs typeface="Courier New"/>
              </a:rPr>
              <a:t>(752, </a:t>
            </a:r>
            <a:r>
              <a:rPr sz="2250" spc="-25" dirty="0">
                <a:solidFill>
                  <a:srgbClr val="FFFFFF"/>
                </a:solidFill>
                <a:latin typeface="Courier New"/>
                <a:cs typeface="Courier New"/>
              </a:rPr>
              <a:t>1)</a:t>
            </a:r>
            <a:endParaRPr sz="2250">
              <a:latin typeface="Courier New"/>
              <a:cs typeface="Courier New"/>
            </a:endParaRPr>
          </a:p>
        </p:txBody>
      </p:sp>
      <p:sp>
        <p:nvSpPr>
          <p:cNvPr id="14" name="슬라이드 번호 개체 틀 13">
            <a:extLst>
              <a:ext uri="{FF2B5EF4-FFF2-40B4-BE49-F238E27FC236}">
                <a16:creationId xmlns:a16="http://schemas.microsoft.com/office/drawing/2014/main" id="{E7C68FF9-9280-ADF6-A643-C53C2D900214}"/>
              </a:ext>
            </a:extLst>
          </p:cNvPr>
          <p:cNvSpPr>
            <a:spLocks noGrp="1"/>
          </p:cNvSpPr>
          <p:nvPr>
            <p:ph type="sldNum" sz="quarter" idx="7"/>
          </p:nvPr>
        </p:nvSpPr>
        <p:spPr/>
        <p:txBody>
          <a:bodyPr/>
          <a:lstStyle/>
          <a:p>
            <a:fld id="{B6F15528-21DE-4FAA-801E-634DDDAF4B2B}" type="slidenum">
              <a:rPr lang="en-US" altLang="ko-KR" smtClean="0"/>
              <a:t>4</a:t>
            </a:fld>
            <a:endParaRPr lang="en-US" altLang="ko-K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8589" y="273882"/>
            <a:ext cx="9697720" cy="713740"/>
          </a:xfrm>
          <a:prstGeom prst="rect">
            <a:avLst/>
          </a:prstGeom>
        </p:spPr>
        <p:txBody>
          <a:bodyPr vert="horz" wrap="square" lIns="0" tIns="13970" rIns="0" bIns="0" rtlCol="0">
            <a:spAutoFit/>
          </a:bodyPr>
          <a:lstStyle/>
          <a:p>
            <a:pPr marL="12700">
              <a:lnSpc>
                <a:spcPct val="100000"/>
              </a:lnSpc>
              <a:spcBef>
                <a:spcPts val="110"/>
              </a:spcBef>
            </a:pPr>
            <a:r>
              <a:rPr spc="-260" dirty="0"/>
              <a:t>Plotting</a:t>
            </a:r>
            <a:r>
              <a:rPr spc="-150" dirty="0"/>
              <a:t> </a:t>
            </a:r>
            <a:r>
              <a:rPr spc="-180" dirty="0"/>
              <a:t>glucose</a:t>
            </a:r>
            <a:r>
              <a:rPr spc="-145" dirty="0"/>
              <a:t> </a:t>
            </a:r>
            <a:r>
              <a:rPr spc="-254" dirty="0"/>
              <a:t>vs.</a:t>
            </a:r>
            <a:r>
              <a:rPr spc="-150" dirty="0"/>
              <a:t> </a:t>
            </a:r>
            <a:r>
              <a:rPr spc="-120" dirty="0"/>
              <a:t>body</a:t>
            </a:r>
            <a:r>
              <a:rPr spc="-145" dirty="0"/>
              <a:t> </a:t>
            </a:r>
            <a:r>
              <a:rPr spc="-215" dirty="0"/>
              <a:t>mass</a:t>
            </a:r>
            <a:r>
              <a:rPr spc="-150" dirty="0"/>
              <a:t> </a:t>
            </a:r>
            <a:r>
              <a:rPr spc="-295" dirty="0"/>
              <a:t>index</a:t>
            </a:r>
          </a:p>
        </p:txBody>
      </p:sp>
      <p:grpSp>
        <p:nvGrpSpPr>
          <p:cNvPr id="3" name="object 3"/>
          <p:cNvGrpSpPr/>
          <p:nvPr/>
        </p:nvGrpSpPr>
        <p:grpSpPr>
          <a:xfrm>
            <a:off x="491289" y="1166809"/>
            <a:ext cx="14575155" cy="2784475"/>
            <a:chOff x="491289" y="1166809"/>
            <a:chExt cx="14575155" cy="2784475"/>
          </a:xfrm>
        </p:grpSpPr>
        <p:sp>
          <p:nvSpPr>
            <p:cNvPr id="4" name="object 4"/>
            <p:cNvSpPr/>
            <p:nvPr/>
          </p:nvSpPr>
          <p:spPr>
            <a:xfrm>
              <a:off x="491289" y="1166809"/>
              <a:ext cx="14575155" cy="2784475"/>
            </a:xfrm>
            <a:custGeom>
              <a:avLst/>
              <a:gdLst/>
              <a:ahLst/>
              <a:cxnLst/>
              <a:rect l="l" t="t" r="r" b="b"/>
              <a:pathLst>
                <a:path w="14575155" h="2784475">
                  <a:moveTo>
                    <a:pt x="14498413" y="2783973"/>
                  </a:moveTo>
                  <a:lnTo>
                    <a:pt x="76505" y="2783973"/>
                  </a:lnTo>
                  <a:lnTo>
                    <a:pt x="71180" y="2783448"/>
                  </a:lnTo>
                  <a:lnTo>
                    <a:pt x="31920" y="2767186"/>
                  </a:lnTo>
                  <a:lnTo>
                    <a:pt x="4175" y="2728459"/>
                  </a:lnTo>
                  <a:lnTo>
                    <a:pt x="0" y="2707467"/>
                  </a:lnTo>
                  <a:lnTo>
                    <a:pt x="0" y="2702091"/>
                  </a:lnTo>
                  <a:lnTo>
                    <a:pt x="0" y="76505"/>
                  </a:lnTo>
                  <a:lnTo>
                    <a:pt x="16786" y="31920"/>
                  </a:lnTo>
                  <a:lnTo>
                    <a:pt x="55513" y="4175"/>
                  </a:lnTo>
                  <a:lnTo>
                    <a:pt x="76505" y="0"/>
                  </a:lnTo>
                  <a:lnTo>
                    <a:pt x="14498413" y="0"/>
                  </a:lnTo>
                  <a:lnTo>
                    <a:pt x="14542998" y="16786"/>
                  </a:lnTo>
                  <a:lnTo>
                    <a:pt x="14570742" y="55513"/>
                  </a:lnTo>
                  <a:lnTo>
                    <a:pt x="14574918" y="76505"/>
                  </a:lnTo>
                  <a:lnTo>
                    <a:pt x="14574918" y="2707467"/>
                  </a:lnTo>
                  <a:lnTo>
                    <a:pt x="14558132" y="2752052"/>
                  </a:lnTo>
                  <a:lnTo>
                    <a:pt x="14519404" y="2779797"/>
                  </a:lnTo>
                  <a:lnTo>
                    <a:pt x="14503737" y="2783448"/>
                  </a:lnTo>
                  <a:lnTo>
                    <a:pt x="14498413" y="2783973"/>
                  </a:lnTo>
                  <a:close/>
                </a:path>
              </a:pathLst>
            </a:custGeom>
            <a:solidFill>
              <a:srgbClr val="F6F2EB"/>
            </a:solidFill>
          </p:spPr>
          <p:txBody>
            <a:bodyPr wrap="square" lIns="0" tIns="0" rIns="0" bIns="0" rtlCol="0"/>
            <a:lstStyle/>
            <a:p>
              <a:endParaRPr/>
            </a:p>
          </p:txBody>
        </p:sp>
        <p:sp>
          <p:nvSpPr>
            <p:cNvPr id="5" name="object 5"/>
            <p:cNvSpPr/>
            <p:nvPr/>
          </p:nvSpPr>
          <p:spPr>
            <a:xfrm>
              <a:off x="677989" y="1447469"/>
              <a:ext cx="4606925" cy="283210"/>
            </a:xfrm>
            <a:custGeom>
              <a:avLst/>
              <a:gdLst/>
              <a:ahLst/>
              <a:cxnLst/>
              <a:rect l="l" t="t" r="r" b="b"/>
              <a:pathLst>
                <a:path w="4606925" h="283210">
                  <a:moveTo>
                    <a:pt x="99288" y="16510"/>
                  </a:moveTo>
                  <a:lnTo>
                    <a:pt x="96977" y="10922"/>
                  </a:lnTo>
                  <a:lnTo>
                    <a:pt x="87744" y="2197"/>
                  </a:lnTo>
                  <a:lnTo>
                    <a:pt x="81864" y="0"/>
                  </a:lnTo>
                  <a:lnTo>
                    <a:pt x="61861" y="0"/>
                  </a:lnTo>
                  <a:lnTo>
                    <a:pt x="55981" y="2197"/>
                  </a:lnTo>
                  <a:lnTo>
                    <a:pt x="46748" y="10922"/>
                  </a:lnTo>
                  <a:lnTo>
                    <a:pt x="44437" y="16510"/>
                  </a:lnTo>
                  <a:lnTo>
                    <a:pt x="44437" y="30276"/>
                  </a:lnTo>
                  <a:lnTo>
                    <a:pt x="46697" y="35826"/>
                  </a:lnTo>
                  <a:lnTo>
                    <a:pt x="51219" y="40030"/>
                  </a:lnTo>
                  <a:lnTo>
                    <a:pt x="55791" y="44170"/>
                  </a:lnTo>
                  <a:lnTo>
                    <a:pt x="61722" y="46253"/>
                  </a:lnTo>
                  <a:lnTo>
                    <a:pt x="81775" y="46253"/>
                  </a:lnTo>
                  <a:lnTo>
                    <a:pt x="87630" y="44170"/>
                  </a:lnTo>
                  <a:lnTo>
                    <a:pt x="96977" y="35826"/>
                  </a:lnTo>
                  <a:lnTo>
                    <a:pt x="99288" y="30276"/>
                  </a:lnTo>
                  <a:lnTo>
                    <a:pt x="99288" y="16510"/>
                  </a:lnTo>
                  <a:close/>
                </a:path>
                <a:path w="4606925" h="283210">
                  <a:moveTo>
                    <a:pt x="146583" y="195707"/>
                  </a:moveTo>
                  <a:lnTo>
                    <a:pt x="93548" y="195707"/>
                  </a:lnTo>
                  <a:lnTo>
                    <a:pt x="93548" y="61569"/>
                  </a:lnTo>
                  <a:lnTo>
                    <a:pt x="7137" y="61569"/>
                  </a:lnTo>
                  <a:lnTo>
                    <a:pt x="7137" y="96977"/>
                  </a:lnTo>
                  <a:lnTo>
                    <a:pt x="55841" y="96977"/>
                  </a:lnTo>
                  <a:lnTo>
                    <a:pt x="55841" y="195707"/>
                  </a:lnTo>
                  <a:lnTo>
                    <a:pt x="0" y="195707"/>
                  </a:lnTo>
                  <a:lnTo>
                    <a:pt x="0" y="231101"/>
                  </a:lnTo>
                  <a:lnTo>
                    <a:pt x="146583" y="231101"/>
                  </a:lnTo>
                  <a:lnTo>
                    <a:pt x="146583" y="195707"/>
                  </a:lnTo>
                  <a:close/>
                </a:path>
                <a:path w="4606925" h="283210">
                  <a:moveTo>
                    <a:pt x="313918" y="105371"/>
                  </a:moveTo>
                  <a:lnTo>
                    <a:pt x="313309" y="95567"/>
                  </a:lnTo>
                  <a:lnTo>
                    <a:pt x="312242" y="90398"/>
                  </a:lnTo>
                  <a:lnTo>
                    <a:pt x="311467" y="86690"/>
                  </a:lnTo>
                  <a:lnTo>
                    <a:pt x="310819" y="85013"/>
                  </a:lnTo>
                  <a:lnTo>
                    <a:pt x="310743" y="84797"/>
                  </a:lnTo>
                  <a:lnTo>
                    <a:pt x="276771" y="58712"/>
                  </a:lnTo>
                  <a:lnTo>
                    <a:pt x="268414" y="58712"/>
                  </a:lnTo>
                  <a:lnTo>
                    <a:pt x="261734" y="61010"/>
                  </a:lnTo>
                  <a:lnTo>
                    <a:pt x="260883" y="61569"/>
                  </a:lnTo>
                  <a:lnTo>
                    <a:pt x="250063" y="70827"/>
                  </a:lnTo>
                  <a:lnTo>
                    <a:pt x="249758" y="71767"/>
                  </a:lnTo>
                  <a:lnTo>
                    <a:pt x="249199" y="70205"/>
                  </a:lnTo>
                  <a:lnTo>
                    <a:pt x="248323" y="69481"/>
                  </a:lnTo>
                  <a:lnTo>
                    <a:pt x="248323" y="78765"/>
                  </a:lnTo>
                  <a:lnTo>
                    <a:pt x="248069" y="77038"/>
                  </a:lnTo>
                  <a:lnTo>
                    <a:pt x="248183" y="76669"/>
                  </a:lnTo>
                  <a:lnTo>
                    <a:pt x="248208" y="77038"/>
                  </a:lnTo>
                  <a:lnTo>
                    <a:pt x="248323" y="78765"/>
                  </a:lnTo>
                  <a:lnTo>
                    <a:pt x="248323" y="69481"/>
                  </a:lnTo>
                  <a:lnTo>
                    <a:pt x="243738" y="65633"/>
                  </a:lnTo>
                  <a:lnTo>
                    <a:pt x="238328" y="61010"/>
                  </a:lnTo>
                  <a:lnTo>
                    <a:pt x="231660" y="58712"/>
                  </a:lnTo>
                  <a:lnTo>
                    <a:pt x="215379" y="58712"/>
                  </a:lnTo>
                  <a:lnTo>
                    <a:pt x="208813" y="61010"/>
                  </a:lnTo>
                  <a:lnTo>
                    <a:pt x="208572" y="61010"/>
                  </a:lnTo>
                  <a:lnTo>
                    <a:pt x="201422" y="67246"/>
                  </a:lnTo>
                  <a:lnTo>
                    <a:pt x="202463" y="61569"/>
                  </a:lnTo>
                  <a:lnTo>
                    <a:pt x="196519" y="61569"/>
                  </a:lnTo>
                  <a:lnTo>
                    <a:pt x="196519" y="84455"/>
                  </a:lnTo>
                  <a:lnTo>
                    <a:pt x="195110" y="77038"/>
                  </a:lnTo>
                  <a:lnTo>
                    <a:pt x="195237" y="76669"/>
                  </a:lnTo>
                  <a:lnTo>
                    <a:pt x="195275" y="77038"/>
                  </a:lnTo>
                  <a:lnTo>
                    <a:pt x="195440" y="78765"/>
                  </a:lnTo>
                  <a:lnTo>
                    <a:pt x="196519" y="84455"/>
                  </a:lnTo>
                  <a:lnTo>
                    <a:pt x="196519" y="61569"/>
                  </a:lnTo>
                  <a:lnTo>
                    <a:pt x="167894" y="61569"/>
                  </a:lnTo>
                  <a:lnTo>
                    <a:pt x="167894" y="231101"/>
                  </a:lnTo>
                  <a:lnTo>
                    <a:pt x="203581" y="231101"/>
                  </a:lnTo>
                  <a:lnTo>
                    <a:pt x="203581" y="99631"/>
                  </a:lnTo>
                  <a:lnTo>
                    <a:pt x="204444" y="95948"/>
                  </a:lnTo>
                  <a:lnTo>
                    <a:pt x="207937" y="91516"/>
                  </a:lnTo>
                  <a:lnTo>
                    <a:pt x="210464" y="90398"/>
                  </a:lnTo>
                  <a:lnTo>
                    <a:pt x="217182" y="90398"/>
                  </a:lnTo>
                  <a:lnTo>
                    <a:pt x="219697" y="91516"/>
                  </a:lnTo>
                  <a:lnTo>
                    <a:pt x="223405" y="95948"/>
                  </a:lnTo>
                  <a:lnTo>
                    <a:pt x="224548" y="99631"/>
                  </a:lnTo>
                  <a:lnTo>
                    <a:pt x="224637" y="231101"/>
                  </a:lnTo>
                  <a:lnTo>
                    <a:pt x="257175" y="231101"/>
                  </a:lnTo>
                  <a:lnTo>
                    <a:pt x="257200" y="99631"/>
                  </a:lnTo>
                  <a:lnTo>
                    <a:pt x="258229" y="95948"/>
                  </a:lnTo>
                  <a:lnTo>
                    <a:pt x="262013" y="91516"/>
                  </a:lnTo>
                  <a:lnTo>
                    <a:pt x="264566" y="90398"/>
                  </a:lnTo>
                  <a:lnTo>
                    <a:pt x="271284" y="90398"/>
                  </a:lnTo>
                  <a:lnTo>
                    <a:pt x="273748" y="91516"/>
                  </a:lnTo>
                  <a:lnTo>
                    <a:pt x="277139" y="95948"/>
                  </a:lnTo>
                  <a:lnTo>
                    <a:pt x="278155" y="99631"/>
                  </a:lnTo>
                  <a:lnTo>
                    <a:pt x="278231" y="231101"/>
                  </a:lnTo>
                  <a:lnTo>
                    <a:pt x="313918" y="231101"/>
                  </a:lnTo>
                  <a:lnTo>
                    <a:pt x="313918" y="105371"/>
                  </a:lnTo>
                  <a:close/>
                </a:path>
                <a:path w="4606925" h="283210">
                  <a:moveTo>
                    <a:pt x="479577" y="123151"/>
                  </a:moveTo>
                  <a:lnTo>
                    <a:pt x="478612" y="109283"/>
                  </a:lnTo>
                  <a:lnTo>
                    <a:pt x="475729" y="96850"/>
                  </a:lnTo>
                  <a:lnTo>
                    <a:pt x="474027" y="92989"/>
                  </a:lnTo>
                  <a:lnTo>
                    <a:pt x="470916" y="85877"/>
                  </a:lnTo>
                  <a:lnTo>
                    <a:pt x="464185" y="76339"/>
                  </a:lnTo>
                  <a:lnTo>
                    <a:pt x="455815" y="68618"/>
                  </a:lnTo>
                  <a:lnTo>
                    <a:pt x="446062" y="63119"/>
                  </a:lnTo>
                  <a:lnTo>
                    <a:pt x="441934" y="61899"/>
                  </a:lnTo>
                  <a:lnTo>
                    <a:pt x="441934" y="114147"/>
                  </a:lnTo>
                  <a:lnTo>
                    <a:pt x="441934" y="178536"/>
                  </a:lnTo>
                  <a:lnTo>
                    <a:pt x="439534" y="186512"/>
                  </a:lnTo>
                  <a:lnTo>
                    <a:pt x="430009" y="196964"/>
                  </a:lnTo>
                  <a:lnTo>
                    <a:pt x="422922" y="199694"/>
                  </a:lnTo>
                  <a:lnTo>
                    <a:pt x="404774" y="199694"/>
                  </a:lnTo>
                  <a:lnTo>
                    <a:pt x="385114" y="178536"/>
                  </a:lnTo>
                  <a:lnTo>
                    <a:pt x="385114" y="114147"/>
                  </a:lnTo>
                  <a:lnTo>
                    <a:pt x="387515" y="106705"/>
                  </a:lnTo>
                  <a:lnTo>
                    <a:pt x="396392" y="97193"/>
                  </a:lnTo>
                  <a:lnTo>
                    <a:pt x="396697" y="96850"/>
                  </a:lnTo>
                  <a:lnTo>
                    <a:pt x="398030" y="95631"/>
                  </a:lnTo>
                  <a:lnTo>
                    <a:pt x="404774" y="92989"/>
                  </a:lnTo>
                  <a:lnTo>
                    <a:pt x="422922" y="92989"/>
                  </a:lnTo>
                  <a:lnTo>
                    <a:pt x="429920" y="95631"/>
                  </a:lnTo>
                  <a:lnTo>
                    <a:pt x="439534" y="106172"/>
                  </a:lnTo>
                  <a:lnTo>
                    <a:pt x="441934" y="114147"/>
                  </a:lnTo>
                  <a:lnTo>
                    <a:pt x="441934" y="61899"/>
                  </a:lnTo>
                  <a:lnTo>
                    <a:pt x="434898" y="59804"/>
                  </a:lnTo>
                  <a:lnTo>
                    <a:pt x="422338" y="58712"/>
                  </a:lnTo>
                  <a:lnTo>
                    <a:pt x="412864" y="59334"/>
                  </a:lnTo>
                  <a:lnTo>
                    <a:pt x="382752" y="75793"/>
                  </a:lnTo>
                  <a:lnTo>
                    <a:pt x="384975" y="61569"/>
                  </a:lnTo>
                  <a:lnTo>
                    <a:pt x="378472" y="61569"/>
                  </a:lnTo>
                  <a:lnTo>
                    <a:pt x="378472" y="195986"/>
                  </a:lnTo>
                  <a:lnTo>
                    <a:pt x="378434" y="196964"/>
                  </a:lnTo>
                  <a:lnTo>
                    <a:pt x="378320" y="199694"/>
                  </a:lnTo>
                  <a:lnTo>
                    <a:pt x="378117" y="204355"/>
                  </a:lnTo>
                  <a:lnTo>
                    <a:pt x="378472" y="195986"/>
                  </a:lnTo>
                  <a:lnTo>
                    <a:pt x="378472" y="61569"/>
                  </a:lnTo>
                  <a:lnTo>
                    <a:pt x="347332" y="61569"/>
                  </a:lnTo>
                  <a:lnTo>
                    <a:pt x="347332" y="282676"/>
                  </a:lnTo>
                  <a:lnTo>
                    <a:pt x="384975" y="282676"/>
                  </a:lnTo>
                  <a:lnTo>
                    <a:pt x="384771" y="229565"/>
                  </a:lnTo>
                  <a:lnTo>
                    <a:pt x="382752" y="216979"/>
                  </a:lnTo>
                  <a:lnTo>
                    <a:pt x="383425" y="218173"/>
                  </a:lnTo>
                  <a:lnTo>
                    <a:pt x="422338" y="233972"/>
                  </a:lnTo>
                  <a:lnTo>
                    <a:pt x="434898" y="232867"/>
                  </a:lnTo>
                  <a:lnTo>
                    <a:pt x="470916" y="206781"/>
                  </a:lnTo>
                  <a:lnTo>
                    <a:pt x="479577" y="169252"/>
                  </a:lnTo>
                  <a:lnTo>
                    <a:pt x="479577" y="123151"/>
                  </a:lnTo>
                  <a:close/>
                </a:path>
                <a:path w="4606925" h="283210">
                  <a:moveTo>
                    <a:pt x="651522" y="124548"/>
                  </a:moveTo>
                  <a:lnTo>
                    <a:pt x="641324" y="86144"/>
                  </a:lnTo>
                  <a:lnTo>
                    <a:pt x="613879" y="63957"/>
                  </a:lnTo>
                  <a:lnTo>
                    <a:pt x="613879" y="114376"/>
                  </a:lnTo>
                  <a:lnTo>
                    <a:pt x="613879" y="178308"/>
                  </a:lnTo>
                  <a:lnTo>
                    <a:pt x="611403" y="186143"/>
                  </a:lnTo>
                  <a:lnTo>
                    <a:pt x="601573" y="196545"/>
                  </a:lnTo>
                  <a:lnTo>
                    <a:pt x="594360" y="199136"/>
                  </a:lnTo>
                  <a:lnTo>
                    <a:pt x="575284" y="199136"/>
                  </a:lnTo>
                  <a:lnTo>
                    <a:pt x="568058" y="196545"/>
                  </a:lnTo>
                  <a:lnTo>
                    <a:pt x="558253" y="186143"/>
                  </a:lnTo>
                  <a:lnTo>
                    <a:pt x="555802" y="178308"/>
                  </a:lnTo>
                  <a:lnTo>
                    <a:pt x="555802" y="114376"/>
                  </a:lnTo>
                  <a:lnTo>
                    <a:pt x="558253" y="106565"/>
                  </a:lnTo>
                  <a:lnTo>
                    <a:pt x="568058" y="96164"/>
                  </a:lnTo>
                  <a:lnTo>
                    <a:pt x="575284" y="93548"/>
                  </a:lnTo>
                  <a:lnTo>
                    <a:pt x="594360" y="93548"/>
                  </a:lnTo>
                  <a:lnTo>
                    <a:pt x="601573" y="96164"/>
                  </a:lnTo>
                  <a:lnTo>
                    <a:pt x="606463" y="101384"/>
                  </a:lnTo>
                  <a:lnTo>
                    <a:pt x="611403" y="106565"/>
                  </a:lnTo>
                  <a:lnTo>
                    <a:pt x="613879" y="63957"/>
                  </a:lnTo>
                  <a:lnTo>
                    <a:pt x="584847" y="58712"/>
                  </a:lnTo>
                  <a:lnTo>
                    <a:pt x="570331" y="59817"/>
                  </a:lnTo>
                  <a:lnTo>
                    <a:pt x="528269" y="86144"/>
                  </a:lnTo>
                  <a:lnTo>
                    <a:pt x="518121" y="124548"/>
                  </a:lnTo>
                  <a:lnTo>
                    <a:pt x="518096" y="167855"/>
                  </a:lnTo>
                  <a:lnTo>
                    <a:pt x="519226" y="182346"/>
                  </a:lnTo>
                  <a:lnTo>
                    <a:pt x="545985" y="223977"/>
                  </a:lnTo>
                  <a:lnTo>
                    <a:pt x="584847" y="233972"/>
                  </a:lnTo>
                  <a:lnTo>
                    <a:pt x="599325" y="232867"/>
                  </a:lnTo>
                  <a:lnTo>
                    <a:pt x="641324" y="206514"/>
                  </a:lnTo>
                  <a:lnTo>
                    <a:pt x="651522" y="167855"/>
                  </a:lnTo>
                  <a:lnTo>
                    <a:pt x="651522" y="124548"/>
                  </a:lnTo>
                  <a:close/>
                </a:path>
                <a:path w="4606925" h="283210">
                  <a:moveTo>
                    <a:pt x="829767" y="122580"/>
                  </a:moveTo>
                  <a:lnTo>
                    <a:pt x="828738" y="108788"/>
                  </a:lnTo>
                  <a:lnTo>
                    <a:pt x="825665" y="96456"/>
                  </a:lnTo>
                  <a:lnTo>
                    <a:pt x="823760" y="92430"/>
                  </a:lnTo>
                  <a:lnTo>
                    <a:pt x="820521" y="85559"/>
                  </a:lnTo>
                  <a:lnTo>
                    <a:pt x="782447" y="59791"/>
                  </a:lnTo>
                  <a:lnTo>
                    <a:pt x="769391" y="58712"/>
                  </a:lnTo>
                  <a:lnTo>
                    <a:pt x="752386" y="61010"/>
                  </a:lnTo>
                  <a:lnTo>
                    <a:pt x="739787" y="67945"/>
                  </a:lnTo>
                  <a:lnTo>
                    <a:pt x="731608" y="79489"/>
                  </a:lnTo>
                  <a:lnTo>
                    <a:pt x="727824" y="95643"/>
                  </a:lnTo>
                  <a:lnTo>
                    <a:pt x="727913" y="95161"/>
                  </a:lnTo>
                  <a:lnTo>
                    <a:pt x="733780" y="61569"/>
                  </a:lnTo>
                  <a:lnTo>
                    <a:pt x="696696" y="61569"/>
                  </a:lnTo>
                  <a:lnTo>
                    <a:pt x="696696" y="231101"/>
                  </a:lnTo>
                  <a:lnTo>
                    <a:pt x="734339" y="231101"/>
                  </a:lnTo>
                  <a:lnTo>
                    <a:pt x="734390" y="114147"/>
                  </a:lnTo>
                  <a:lnTo>
                    <a:pt x="736879" y="106311"/>
                  </a:lnTo>
                  <a:lnTo>
                    <a:pt x="746683" y="95643"/>
                  </a:lnTo>
                  <a:lnTo>
                    <a:pt x="747217" y="95161"/>
                  </a:lnTo>
                  <a:lnTo>
                    <a:pt x="754227" y="92430"/>
                  </a:lnTo>
                  <a:lnTo>
                    <a:pt x="772706" y="92430"/>
                  </a:lnTo>
                  <a:lnTo>
                    <a:pt x="779818" y="95161"/>
                  </a:lnTo>
                  <a:lnTo>
                    <a:pt x="789660" y="106070"/>
                  </a:lnTo>
                  <a:lnTo>
                    <a:pt x="789724" y="106311"/>
                  </a:lnTo>
                  <a:lnTo>
                    <a:pt x="792124" y="114147"/>
                  </a:lnTo>
                  <a:lnTo>
                    <a:pt x="792124" y="137972"/>
                  </a:lnTo>
                  <a:lnTo>
                    <a:pt x="829767" y="137972"/>
                  </a:lnTo>
                  <a:lnTo>
                    <a:pt x="829767" y="122580"/>
                  </a:lnTo>
                  <a:close/>
                </a:path>
                <a:path w="4606925" h="283210">
                  <a:moveTo>
                    <a:pt x="997737" y="61569"/>
                  </a:moveTo>
                  <a:lnTo>
                    <a:pt x="934694" y="61569"/>
                  </a:lnTo>
                  <a:lnTo>
                    <a:pt x="934694" y="18618"/>
                  </a:lnTo>
                  <a:lnTo>
                    <a:pt x="896975" y="18618"/>
                  </a:lnTo>
                  <a:lnTo>
                    <a:pt x="896975" y="61569"/>
                  </a:lnTo>
                  <a:lnTo>
                    <a:pt x="852551" y="61569"/>
                  </a:lnTo>
                  <a:lnTo>
                    <a:pt x="852551" y="96977"/>
                  </a:lnTo>
                  <a:lnTo>
                    <a:pt x="896975" y="96977"/>
                  </a:lnTo>
                  <a:lnTo>
                    <a:pt x="896975" y="183603"/>
                  </a:lnTo>
                  <a:lnTo>
                    <a:pt x="897801" y="194144"/>
                  </a:lnTo>
                  <a:lnTo>
                    <a:pt x="925614" y="227952"/>
                  </a:lnTo>
                  <a:lnTo>
                    <a:pt x="945959" y="231101"/>
                  </a:lnTo>
                  <a:lnTo>
                    <a:pt x="994867" y="231101"/>
                  </a:lnTo>
                  <a:lnTo>
                    <a:pt x="994867" y="195707"/>
                  </a:lnTo>
                  <a:lnTo>
                    <a:pt x="941755" y="195707"/>
                  </a:lnTo>
                  <a:lnTo>
                    <a:pt x="938822" y="194818"/>
                  </a:lnTo>
                  <a:lnTo>
                    <a:pt x="935507" y="191274"/>
                  </a:lnTo>
                  <a:lnTo>
                    <a:pt x="934694" y="188125"/>
                  </a:lnTo>
                  <a:lnTo>
                    <a:pt x="934694" y="96977"/>
                  </a:lnTo>
                  <a:lnTo>
                    <a:pt x="997737" y="96977"/>
                  </a:lnTo>
                  <a:lnTo>
                    <a:pt x="997737" y="61569"/>
                  </a:lnTo>
                  <a:close/>
                </a:path>
                <a:path w="4606925" h="283210">
                  <a:moveTo>
                    <a:pt x="4433570" y="158623"/>
                  </a:moveTo>
                  <a:lnTo>
                    <a:pt x="4433417" y="115023"/>
                  </a:lnTo>
                  <a:lnTo>
                    <a:pt x="4429303" y="93548"/>
                  </a:lnTo>
                  <a:lnTo>
                    <a:pt x="4429099" y="92862"/>
                  </a:lnTo>
                  <a:lnTo>
                    <a:pt x="4394797" y="62865"/>
                  </a:lnTo>
                  <a:lnTo>
                    <a:pt x="4381551" y="59817"/>
                  </a:lnTo>
                  <a:lnTo>
                    <a:pt x="4380166" y="59817"/>
                  </a:lnTo>
                  <a:lnTo>
                    <a:pt x="4368012" y="58991"/>
                  </a:lnTo>
                  <a:lnTo>
                    <a:pt x="4323232" y="72351"/>
                  </a:lnTo>
                  <a:lnTo>
                    <a:pt x="4301337" y="115023"/>
                  </a:lnTo>
                  <a:lnTo>
                    <a:pt x="4339120" y="115023"/>
                  </a:lnTo>
                  <a:lnTo>
                    <a:pt x="4340288" y="106768"/>
                  </a:lnTo>
                  <a:lnTo>
                    <a:pt x="4343273" y="101130"/>
                  </a:lnTo>
                  <a:lnTo>
                    <a:pt x="4352925" y="95072"/>
                  </a:lnTo>
                  <a:lnTo>
                    <a:pt x="4359478" y="93548"/>
                  </a:lnTo>
                  <a:lnTo>
                    <a:pt x="4376928" y="93548"/>
                  </a:lnTo>
                  <a:lnTo>
                    <a:pt x="4383900" y="95643"/>
                  </a:lnTo>
                  <a:lnTo>
                    <a:pt x="4388650" y="99847"/>
                  </a:lnTo>
                  <a:lnTo>
                    <a:pt x="4393463" y="104000"/>
                  </a:lnTo>
                  <a:lnTo>
                    <a:pt x="4395863" y="109943"/>
                  </a:lnTo>
                  <a:lnTo>
                    <a:pt x="4395863" y="126923"/>
                  </a:lnTo>
                  <a:lnTo>
                    <a:pt x="4395863" y="158623"/>
                  </a:lnTo>
                  <a:lnTo>
                    <a:pt x="4395863" y="182740"/>
                  </a:lnTo>
                  <a:lnTo>
                    <a:pt x="4392498" y="189128"/>
                  </a:lnTo>
                  <a:lnTo>
                    <a:pt x="4358856" y="201714"/>
                  </a:lnTo>
                  <a:lnTo>
                    <a:pt x="4350169" y="201714"/>
                  </a:lnTo>
                  <a:lnTo>
                    <a:pt x="4343501" y="199758"/>
                  </a:lnTo>
                  <a:lnTo>
                    <a:pt x="4334180" y="191922"/>
                  </a:lnTo>
                  <a:lnTo>
                    <a:pt x="4331843" y="186512"/>
                  </a:lnTo>
                  <a:lnTo>
                    <a:pt x="4331843" y="172897"/>
                  </a:lnTo>
                  <a:lnTo>
                    <a:pt x="4333735" y="167716"/>
                  </a:lnTo>
                  <a:lnTo>
                    <a:pt x="4341292" y="160439"/>
                  </a:lnTo>
                  <a:lnTo>
                    <a:pt x="4346676" y="158623"/>
                  </a:lnTo>
                  <a:lnTo>
                    <a:pt x="4395863" y="158623"/>
                  </a:lnTo>
                  <a:lnTo>
                    <a:pt x="4395863" y="126923"/>
                  </a:lnTo>
                  <a:lnTo>
                    <a:pt x="4353115" y="126923"/>
                  </a:lnTo>
                  <a:lnTo>
                    <a:pt x="4340326" y="127838"/>
                  </a:lnTo>
                  <a:lnTo>
                    <a:pt x="4303141" y="149428"/>
                  </a:lnTo>
                  <a:lnTo>
                    <a:pt x="4294136" y="181292"/>
                  </a:lnTo>
                  <a:lnTo>
                    <a:pt x="4295140" y="192773"/>
                  </a:lnTo>
                  <a:lnTo>
                    <a:pt x="4319041" y="225983"/>
                  </a:lnTo>
                  <a:lnTo>
                    <a:pt x="4352836" y="233972"/>
                  </a:lnTo>
                  <a:lnTo>
                    <a:pt x="4363618" y="233337"/>
                  </a:lnTo>
                  <a:lnTo>
                    <a:pt x="4398861" y="215988"/>
                  </a:lnTo>
                  <a:lnTo>
                    <a:pt x="4396498" y="231101"/>
                  </a:lnTo>
                  <a:lnTo>
                    <a:pt x="4433570" y="231101"/>
                  </a:lnTo>
                  <a:lnTo>
                    <a:pt x="4433570" y="195427"/>
                  </a:lnTo>
                  <a:lnTo>
                    <a:pt x="4433570" y="158623"/>
                  </a:lnTo>
                  <a:close/>
                </a:path>
                <a:path w="4606925" h="283210">
                  <a:moveTo>
                    <a:pt x="4606912" y="180517"/>
                  </a:moveTo>
                  <a:lnTo>
                    <a:pt x="4586236" y="139433"/>
                  </a:lnTo>
                  <a:lnTo>
                    <a:pt x="4531995" y="124968"/>
                  </a:lnTo>
                  <a:lnTo>
                    <a:pt x="4524718" y="123850"/>
                  </a:lnTo>
                  <a:lnTo>
                    <a:pt x="4519765" y="122186"/>
                  </a:lnTo>
                  <a:lnTo>
                    <a:pt x="4514545" y="117805"/>
                  </a:lnTo>
                  <a:lnTo>
                    <a:pt x="4513237" y="114452"/>
                  </a:lnTo>
                  <a:lnTo>
                    <a:pt x="4513288" y="109639"/>
                  </a:lnTo>
                  <a:lnTo>
                    <a:pt x="4514621" y="102755"/>
                  </a:lnTo>
                  <a:lnTo>
                    <a:pt x="4518774" y="97637"/>
                  </a:lnTo>
                  <a:lnTo>
                    <a:pt x="4525670" y="94576"/>
                  </a:lnTo>
                  <a:lnTo>
                    <a:pt x="4535348" y="93548"/>
                  </a:lnTo>
                  <a:lnTo>
                    <a:pt x="4552556" y="93548"/>
                  </a:lnTo>
                  <a:lnTo>
                    <a:pt x="4556899" y="94576"/>
                  </a:lnTo>
                  <a:lnTo>
                    <a:pt x="4557280" y="94576"/>
                  </a:lnTo>
                  <a:lnTo>
                    <a:pt x="4564685" y="99339"/>
                  </a:lnTo>
                  <a:lnTo>
                    <a:pt x="4567212" y="103809"/>
                  </a:lnTo>
                  <a:lnTo>
                    <a:pt x="4568647" y="110477"/>
                  </a:lnTo>
                  <a:lnTo>
                    <a:pt x="4606226" y="110477"/>
                  </a:lnTo>
                  <a:lnTo>
                    <a:pt x="4603381" y="97637"/>
                  </a:lnTo>
                  <a:lnTo>
                    <a:pt x="4601769" y="93548"/>
                  </a:lnTo>
                  <a:lnTo>
                    <a:pt x="4599102" y="86741"/>
                  </a:lnTo>
                  <a:lnTo>
                    <a:pt x="4568482" y="61734"/>
                  </a:lnTo>
                  <a:lnTo>
                    <a:pt x="4546257" y="58712"/>
                  </a:lnTo>
                  <a:lnTo>
                    <a:pt x="4535348" y="58712"/>
                  </a:lnTo>
                  <a:lnTo>
                    <a:pt x="4523181" y="59461"/>
                  </a:lnTo>
                  <a:lnTo>
                    <a:pt x="4522279" y="59461"/>
                  </a:lnTo>
                  <a:lnTo>
                    <a:pt x="4484344" y="79425"/>
                  </a:lnTo>
                  <a:lnTo>
                    <a:pt x="4475531" y="109639"/>
                  </a:lnTo>
                  <a:lnTo>
                    <a:pt x="4475594" y="110477"/>
                  </a:lnTo>
                  <a:lnTo>
                    <a:pt x="4476318" y="120180"/>
                  </a:lnTo>
                  <a:lnTo>
                    <a:pt x="4504194" y="154457"/>
                  </a:lnTo>
                  <a:lnTo>
                    <a:pt x="4547590" y="164007"/>
                  </a:lnTo>
                  <a:lnTo>
                    <a:pt x="4557077" y="166408"/>
                  </a:lnTo>
                  <a:lnTo>
                    <a:pt x="4563859" y="170192"/>
                  </a:lnTo>
                  <a:lnTo>
                    <a:pt x="4567923" y="175361"/>
                  </a:lnTo>
                  <a:lnTo>
                    <a:pt x="4569282" y="181914"/>
                  </a:lnTo>
                  <a:lnTo>
                    <a:pt x="4569282" y="187096"/>
                  </a:lnTo>
                  <a:lnTo>
                    <a:pt x="4567364" y="191274"/>
                  </a:lnTo>
                  <a:lnTo>
                    <a:pt x="4559770" y="197573"/>
                  </a:lnTo>
                  <a:lnTo>
                    <a:pt x="4553636" y="199136"/>
                  </a:lnTo>
                  <a:lnTo>
                    <a:pt x="4526064" y="199136"/>
                  </a:lnTo>
                  <a:lnTo>
                    <a:pt x="4508487" y="180517"/>
                  </a:lnTo>
                  <a:lnTo>
                    <a:pt x="4471047" y="180517"/>
                  </a:lnTo>
                  <a:lnTo>
                    <a:pt x="4490707" y="221373"/>
                  </a:lnTo>
                  <a:lnTo>
                    <a:pt x="4520235" y="233095"/>
                  </a:lnTo>
                  <a:lnTo>
                    <a:pt x="4519219" y="233095"/>
                  </a:lnTo>
                  <a:lnTo>
                    <a:pt x="4533112" y="233972"/>
                  </a:lnTo>
                  <a:lnTo>
                    <a:pt x="4545139" y="233972"/>
                  </a:lnTo>
                  <a:lnTo>
                    <a:pt x="4590897" y="219913"/>
                  </a:lnTo>
                  <a:lnTo>
                    <a:pt x="4604042" y="199136"/>
                  </a:lnTo>
                  <a:lnTo>
                    <a:pt x="4605921" y="192570"/>
                  </a:lnTo>
                  <a:lnTo>
                    <a:pt x="4606036" y="191274"/>
                  </a:lnTo>
                  <a:lnTo>
                    <a:pt x="4606823" y="181914"/>
                  </a:lnTo>
                  <a:lnTo>
                    <a:pt x="4606912" y="180517"/>
                  </a:lnTo>
                  <a:close/>
                </a:path>
              </a:pathLst>
            </a:custGeom>
            <a:solidFill>
              <a:srgbClr val="007BB5"/>
            </a:solidFill>
          </p:spPr>
          <p:txBody>
            <a:bodyPr wrap="square" lIns="0" tIns="0" rIns="0" bIns="0" rtlCol="0"/>
            <a:lstStyle/>
            <a:p>
              <a:endParaRPr/>
            </a:p>
          </p:txBody>
        </p:sp>
      </p:grpSp>
      <p:sp>
        <p:nvSpPr>
          <p:cNvPr id="6" name="object 6"/>
          <p:cNvSpPr txBox="1"/>
          <p:nvPr/>
        </p:nvSpPr>
        <p:spPr>
          <a:xfrm>
            <a:off x="642352" y="1231896"/>
            <a:ext cx="6043295" cy="2482215"/>
          </a:xfrm>
          <a:prstGeom prst="rect">
            <a:avLst/>
          </a:prstGeom>
        </p:spPr>
        <p:txBody>
          <a:bodyPr vert="horz" wrap="square" lIns="0" tIns="12065" rIns="0" bIns="0" rtlCol="0">
            <a:spAutoFit/>
          </a:bodyPr>
          <a:lstStyle/>
          <a:p>
            <a:pPr marL="12700" marR="5080" indent="1203325">
              <a:lnSpc>
                <a:spcPct val="143300"/>
              </a:lnSpc>
              <a:spcBef>
                <a:spcPts val="95"/>
              </a:spcBef>
              <a:tabLst>
                <a:tab pos="4826635" algn="l"/>
              </a:tabLst>
            </a:pPr>
            <a:r>
              <a:rPr sz="2250" spc="-10" dirty="0">
                <a:solidFill>
                  <a:srgbClr val="04182D"/>
                </a:solidFill>
                <a:latin typeface="Courier New"/>
                <a:cs typeface="Courier New"/>
              </a:rPr>
              <a:t>matplotlib.pyplot</a:t>
            </a:r>
            <a:r>
              <a:rPr sz="2250" dirty="0">
                <a:solidFill>
                  <a:srgbClr val="04182D"/>
                </a:solidFill>
                <a:latin typeface="Courier New"/>
                <a:cs typeface="Courier New"/>
              </a:rPr>
              <a:t>	</a:t>
            </a:r>
            <a:r>
              <a:rPr sz="2250" spc="-25" dirty="0">
                <a:solidFill>
                  <a:srgbClr val="04182D"/>
                </a:solidFill>
                <a:latin typeface="Courier New"/>
                <a:cs typeface="Courier New"/>
              </a:rPr>
              <a:t>plt </a:t>
            </a:r>
            <a:r>
              <a:rPr sz="2250" dirty="0">
                <a:solidFill>
                  <a:srgbClr val="04182D"/>
                </a:solidFill>
                <a:latin typeface="Courier New"/>
                <a:cs typeface="Courier New"/>
              </a:rPr>
              <a:t>plt.scatter(X_bmi, </a:t>
            </a:r>
            <a:r>
              <a:rPr sz="2250" spc="-25" dirty="0">
                <a:solidFill>
                  <a:srgbClr val="04182D"/>
                </a:solidFill>
                <a:latin typeface="Courier New"/>
                <a:cs typeface="Courier New"/>
              </a:rPr>
              <a:t>y) </a:t>
            </a:r>
            <a:r>
              <a:rPr sz="2250" dirty="0">
                <a:solidFill>
                  <a:srgbClr val="04182D"/>
                </a:solidFill>
                <a:latin typeface="Courier New"/>
                <a:cs typeface="Courier New"/>
              </a:rPr>
              <a:t>plt.ylabel(</a:t>
            </a:r>
            <a:r>
              <a:rPr sz="2250" dirty="0">
                <a:solidFill>
                  <a:srgbClr val="BE2F72"/>
                </a:solidFill>
                <a:latin typeface="Courier New"/>
                <a:cs typeface="Courier New"/>
              </a:rPr>
              <a:t>"Blood</a:t>
            </a:r>
            <a:r>
              <a:rPr sz="2250" spc="-15" dirty="0">
                <a:solidFill>
                  <a:srgbClr val="BE2F72"/>
                </a:solidFill>
                <a:latin typeface="Courier New"/>
                <a:cs typeface="Courier New"/>
              </a:rPr>
              <a:t> </a:t>
            </a:r>
            <a:r>
              <a:rPr sz="2250" dirty="0">
                <a:solidFill>
                  <a:srgbClr val="BE2F72"/>
                </a:solidFill>
                <a:latin typeface="Courier New"/>
                <a:cs typeface="Courier New"/>
              </a:rPr>
              <a:t>Glucose </a:t>
            </a:r>
            <a:r>
              <a:rPr sz="2250" spc="-10" dirty="0">
                <a:solidFill>
                  <a:srgbClr val="BE2F72"/>
                </a:solidFill>
                <a:latin typeface="Courier New"/>
                <a:cs typeface="Courier New"/>
              </a:rPr>
              <a:t>(mg/dl)"</a:t>
            </a:r>
            <a:r>
              <a:rPr sz="2250" spc="-10" dirty="0">
                <a:solidFill>
                  <a:srgbClr val="04182D"/>
                </a:solidFill>
                <a:latin typeface="Courier New"/>
                <a:cs typeface="Courier New"/>
              </a:rPr>
              <a:t>) </a:t>
            </a:r>
            <a:r>
              <a:rPr sz="2250" dirty="0">
                <a:solidFill>
                  <a:srgbClr val="04182D"/>
                </a:solidFill>
                <a:latin typeface="Courier New"/>
                <a:cs typeface="Courier New"/>
              </a:rPr>
              <a:t>plt.xlabel(</a:t>
            </a:r>
            <a:r>
              <a:rPr sz="2250" dirty="0">
                <a:solidFill>
                  <a:srgbClr val="BE2F72"/>
                </a:solidFill>
                <a:latin typeface="Courier New"/>
                <a:cs typeface="Courier New"/>
              </a:rPr>
              <a:t>"Body</a:t>
            </a:r>
            <a:r>
              <a:rPr sz="2250" spc="-15" dirty="0">
                <a:solidFill>
                  <a:srgbClr val="BE2F72"/>
                </a:solidFill>
                <a:latin typeface="Courier New"/>
                <a:cs typeface="Courier New"/>
              </a:rPr>
              <a:t> </a:t>
            </a:r>
            <a:r>
              <a:rPr sz="2250" dirty="0">
                <a:solidFill>
                  <a:srgbClr val="BE2F72"/>
                </a:solidFill>
                <a:latin typeface="Courier New"/>
                <a:cs typeface="Courier New"/>
              </a:rPr>
              <a:t>Mass </a:t>
            </a:r>
            <a:r>
              <a:rPr sz="2250" spc="-10" dirty="0">
                <a:solidFill>
                  <a:srgbClr val="BE2F72"/>
                </a:solidFill>
                <a:latin typeface="Courier New"/>
                <a:cs typeface="Courier New"/>
              </a:rPr>
              <a:t>Index"</a:t>
            </a:r>
            <a:r>
              <a:rPr sz="2250" spc="-10" dirty="0">
                <a:solidFill>
                  <a:srgbClr val="04182D"/>
                </a:solidFill>
                <a:latin typeface="Courier New"/>
                <a:cs typeface="Courier New"/>
              </a:rPr>
              <a:t>) plt.show()</a:t>
            </a:r>
            <a:endParaRPr sz="2250">
              <a:latin typeface="Courier New"/>
              <a:cs typeface="Courier New"/>
            </a:endParaRPr>
          </a:p>
        </p:txBody>
      </p:sp>
      <p:sp>
        <p:nvSpPr>
          <p:cNvPr id="10" name="슬라이드 번호 개체 틀 9">
            <a:extLst>
              <a:ext uri="{FF2B5EF4-FFF2-40B4-BE49-F238E27FC236}">
                <a16:creationId xmlns:a16="http://schemas.microsoft.com/office/drawing/2014/main" id="{2359DBC8-F2E0-0930-2620-5360A1301E29}"/>
              </a:ext>
            </a:extLst>
          </p:cNvPr>
          <p:cNvSpPr>
            <a:spLocks noGrp="1"/>
          </p:cNvSpPr>
          <p:nvPr>
            <p:ph type="sldNum" sz="quarter" idx="7"/>
          </p:nvPr>
        </p:nvSpPr>
        <p:spPr/>
        <p:txBody>
          <a:bodyPr/>
          <a:lstStyle/>
          <a:p>
            <a:fld id="{B6F15528-21DE-4FAA-801E-634DDDAF4B2B}" type="slidenum">
              <a:rPr lang="en-US" altLang="ko-KR" smtClean="0"/>
              <a:t>5</a:t>
            </a:fld>
            <a:endParaRPr lang="en-US" altLang="ko-K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8589" y="273885"/>
            <a:ext cx="9697720" cy="713740"/>
          </a:xfrm>
          <a:prstGeom prst="rect">
            <a:avLst/>
          </a:prstGeom>
        </p:spPr>
        <p:txBody>
          <a:bodyPr vert="horz" wrap="square" lIns="0" tIns="13970" rIns="0" bIns="0" rtlCol="0">
            <a:spAutoFit/>
          </a:bodyPr>
          <a:lstStyle/>
          <a:p>
            <a:pPr marL="12700">
              <a:lnSpc>
                <a:spcPct val="100000"/>
              </a:lnSpc>
              <a:spcBef>
                <a:spcPts val="110"/>
              </a:spcBef>
            </a:pPr>
            <a:r>
              <a:rPr spc="-260" dirty="0"/>
              <a:t>Plotting</a:t>
            </a:r>
            <a:r>
              <a:rPr spc="-150" dirty="0"/>
              <a:t> </a:t>
            </a:r>
            <a:r>
              <a:rPr spc="-180" dirty="0"/>
              <a:t>glucose</a:t>
            </a:r>
            <a:r>
              <a:rPr spc="-145" dirty="0"/>
              <a:t> </a:t>
            </a:r>
            <a:r>
              <a:rPr spc="-254" dirty="0"/>
              <a:t>vs.</a:t>
            </a:r>
            <a:r>
              <a:rPr spc="-150" dirty="0"/>
              <a:t> </a:t>
            </a:r>
            <a:r>
              <a:rPr spc="-120" dirty="0"/>
              <a:t>body</a:t>
            </a:r>
            <a:r>
              <a:rPr spc="-145" dirty="0"/>
              <a:t> </a:t>
            </a:r>
            <a:r>
              <a:rPr spc="-215" dirty="0"/>
              <a:t>mass</a:t>
            </a:r>
            <a:r>
              <a:rPr spc="-150" dirty="0"/>
              <a:t> </a:t>
            </a:r>
            <a:r>
              <a:rPr spc="-295" dirty="0"/>
              <a:t>index</a:t>
            </a:r>
          </a:p>
        </p:txBody>
      </p:sp>
      <p:pic>
        <p:nvPicPr>
          <p:cNvPr id="3" name="object 3"/>
          <p:cNvPicPr/>
          <p:nvPr/>
        </p:nvPicPr>
        <p:blipFill>
          <a:blip r:embed="rId2" cstate="print"/>
          <a:stretch>
            <a:fillRect/>
          </a:stretch>
        </p:blipFill>
        <p:spPr>
          <a:xfrm>
            <a:off x="3036093" y="1340616"/>
            <a:ext cx="9460349" cy="6256934"/>
          </a:xfrm>
          <a:prstGeom prst="rect">
            <a:avLst/>
          </a:prstGeom>
        </p:spPr>
      </p:pic>
      <p:sp>
        <p:nvSpPr>
          <p:cNvPr id="7" name="슬라이드 번호 개체 틀 6">
            <a:extLst>
              <a:ext uri="{FF2B5EF4-FFF2-40B4-BE49-F238E27FC236}">
                <a16:creationId xmlns:a16="http://schemas.microsoft.com/office/drawing/2014/main" id="{628E7D76-E2FE-D84A-2E9D-FF14B955A09B}"/>
              </a:ext>
            </a:extLst>
          </p:cNvPr>
          <p:cNvSpPr>
            <a:spLocks noGrp="1"/>
          </p:cNvSpPr>
          <p:nvPr>
            <p:ph type="sldNum" sz="quarter" idx="7"/>
          </p:nvPr>
        </p:nvSpPr>
        <p:spPr/>
        <p:txBody>
          <a:bodyPr/>
          <a:lstStyle/>
          <a:p>
            <a:fld id="{B6F15528-21DE-4FAA-801E-634DDDAF4B2B}" type="slidenum">
              <a:rPr lang="en-US" altLang="ko-KR" smtClean="0"/>
              <a:t>6</a:t>
            </a:fld>
            <a:endParaRPr lang="en-US" altLang="ko-K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8589" y="273885"/>
            <a:ext cx="6875145" cy="713740"/>
          </a:xfrm>
          <a:prstGeom prst="rect">
            <a:avLst/>
          </a:prstGeom>
        </p:spPr>
        <p:txBody>
          <a:bodyPr vert="horz" wrap="square" lIns="0" tIns="13970" rIns="0" bIns="0" rtlCol="0">
            <a:spAutoFit/>
          </a:bodyPr>
          <a:lstStyle/>
          <a:p>
            <a:pPr marL="12700">
              <a:lnSpc>
                <a:spcPct val="100000"/>
              </a:lnSpc>
              <a:spcBef>
                <a:spcPts val="110"/>
              </a:spcBef>
            </a:pPr>
            <a:r>
              <a:rPr spc="-225" dirty="0"/>
              <a:t>Fitting</a:t>
            </a:r>
            <a:r>
              <a:rPr spc="-125" dirty="0"/>
              <a:t> </a:t>
            </a:r>
            <a:r>
              <a:rPr spc="50" dirty="0"/>
              <a:t>a</a:t>
            </a:r>
            <a:r>
              <a:rPr spc="-125" dirty="0"/>
              <a:t> </a:t>
            </a:r>
            <a:r>
              <a:rPr spc="-254" dirty="0"/>
              <a:t>regression</a:t>
            </a:r>
            <a:r>
              <a:rPr spc="-120" dirty="0"/>
              <a:t> </a:t>
            </a:r>
            <a:r>
              <a:rPr spc="-140" dirty="0"/>
              <a:t>model</a:t>
            </a:r>
          </a:p>
        </p:txBody>
      </p:sp>
      <p:grpSp>
        <p:nvGrpSpPr>
          <p:cNvPr id="3" name="object 3"/>
          <p:cNvGrpSpPr/>
          <p:nvPr/>
        </p:nvGrpSpPr>
        <p:grpSpPr>
          <a:xfrm>
            <a:off x="491289" y="1166812"/>
            <a:ext cx="14575155" cy="4749165"/>
            <a:chOff x="491289" y="1166812"/>
            <a:chExt cx="14575155" cy="4749165"/>
          </a:xfrm>
        </p:grpSpPr>
        <p:sp>
          <p:nvSpPr>
            <p:cNvPr id="4" name="object 4"/>
            <p:cNvSpPr/>
            <p:nvPr/>
          </p:nvSpPr>
          <p:spPr>
            <a:xfrm>
              <a:off x="491289" y="1166812"/>
              <a:ext cx="14575155" cy="4749165"/>
            </a:xfrm>
            <a:custGeom>
              <a:avLst/>
              <a:gdLst/>
              <a:ahLst/>
              <a:cxnLst/>
              <a:rect l="l" t="t" r="r" b="b"/>
              <a:pathLst>
                <a:path w="14575155" h="4749165">
                  <a:moveTo>
                    <a:pt x="14498413" y="4749130"/>
                  </a:moveTo>
                  <a:lnTo>
                    <a:pt x="76505" y="4749130"/>
                  </a:lnTo>
                  <a:lnTo>
                    <a:pt x="71180" y="4748606"/>
                  </a:lnTo>
                  <a:lnTo>
                    <a:pt x="31920" y="4732343"/>
                  </a:lnTo>
                  <a:lnTo>
                    <a:pt x="4175" y="4693616"/>
                  </a:lnTo>
                  <a:lnTo>
                    <a:pt x="0" y="4672625"/>
                  </a:lnTo>
                  <a:lnTo>
                    <a:pt x="0" y="4667249"/>
                  </a:lnTo>
                  <a:lnTo>
                    <a:pt x="0" y="76505"/>
                  </a:lnTo>
                  <a:lnTo>
                    <a:pt x="16786" y="31920"/>
                  </a:lnTo>
                  <a:lnTo>
                    <a:pt x="55513" y="4175"/>
                  </a:lnTo>
                  <a:lnTo>
                    <a:pt x="76505" y="0"/>
                  </a:lnTo>
                  <a:lnTo>
                    <a:pt x="14498413" y="0"/>
                  </a:lnTo>
                  <a:lnTo>
                    <a:pt x="14542998" y="16786"/>
                  </a:lnTo>
                  <a:lnTo>
                    <a:pt x="14570742" y="55513"/>
                  </a:lnTo>
                  <a:lnTo>
                    <a:pt x="14574918" y="76505"/>
                  </a:lnTo>
                  <a:lnTo>
                    <a:pt x="14574918" y="4672625"/>
                  </a:lnTo>
                  <a:lnTo>
                    <a:pt x="14558132" y="4717210"/>
                  </a:lnTo>
                  <a:lnTo>
                    <a:pt x="14519404" y="4744954"/>
                  </a:lnTo>
                  <a:lnTo>
                    <a:pt x="14503737" y="4748606"/>
                  </a:lnTo>
                  <a:lnTo>
                    <a:pt x="14498413" y="4749130"/>
                  </a:lnTo>
                  <a:close/>
                </a:path>
              </a:pathLst>
            </a:custGeom>
            <a:solidFill>
              <a:srgbClr val="F6F2EB"/>
            </a:solidFill>
          </p:spPr>
          <p:txBody>
            <a:bodyPr wrap="square" lIns="0" tIns="0" rIns="0" bIns="0" rtlCol="0"/>
            <a:lstStyle/>
            <a:p>
              <a:endParaRPr/>
            </a:p>
          </p:txBody>
        </p:sp>
        <p:sp>
          <p:nvSpPr>
            <p:cNvPr id="5" name="object 5"/>
            <p:cNvSpPr/>
            <p:nvPr/>
          </p:nvSpPr>
          <p:spPr>
            <a:xfrm>
              <a:off x="672261" y="1447482"/>
              <a:ext cx="5474335" cy="283210"/>
            </a:xfrm>
            <a:custGeom>
              <a:avLst/>
              <a:gdLst/>
              <a:ahLst/>
              <a:cxnLst/>
              <a:rect l="l" t="t" r="r" b="b"/>
              <a:pathLst>
                <a:path w="5474335" h="283210">
                  <a:moveTo>
                    <a:pt x="147980" y="9994"/>
                  </a:moveTo>
                  <a:lnTo>
                    <a:pt x="93332" y="9994"/>
                  </a:lnTo>
                  <a:lnTo>
                    <a:pt x="83096" y="10769"/>
                  </a:lnTo>
                  <a:lnTo>
                    <a:pt x="49060" y="36728"/>
                  </a:lnTo>
                  <a:lnTo>
                    <a:pt x="45821" y="55473"/>
                  </a:lnTo>
                  <a:lnTo>
                    <a:pt x="45821" y="64719"/>
                  </a:lnTo>
                  <a:lnTo>
                    <a:pt x="0" y="64719"/>
                  </a:lnTo>
                  <a:lnTo>
                    <a:pt x="0" y="100114"/>
                  </a:lnTo>
                  <a:lnTo>
                    <a:pt x="45821" y="100114"/>
                  </a:lnTo>
                  <a:lnTo>
                    <a:pt x="45821" y="231101"/>
                  </a:lnTo>
                  <a:lnTo>
                    <a:pt x="83540" y="231101"/>
                  </a:lnTo>
                  <a:lnTo>
                    <a:pt x="83540" y="100114"/>
                  </a:lnTo>
                  <a:lnTo>
                    <a:pt x="147980" y="100114"/>
                  </a:lnTo>
                  <a:lnTo>
                    <a:pt x="147980" y="64719"/>
                  </a:lnTo>
                  <a:lnTo>
                    <a:pt x="83540" y="64719"/>
                  </a:lnTo>
                  <a:lnTo>
                    <a:pt x="83540" y="51892"/>
                  </a:lnTo>
                  <a:lnTo>
                    <a:pt x="84328" y="49441"/>
                  </a:lnTo>
                  <a:lnTo>
                    <a:pt x="87553" y="46215"/>
                  </a:lnTo>
                  <a:lnTo>
                    <a:pt x="90017" y="45402"/>
                  </a:lnTo>
                  <a:lnTo>
                    <a:pt x="147980" y="45402"/>
                  </a:lnTo>
                  <a:lnTo>
                    <a:pt x="147980" y="9994"/>
                  </a:lnTo>
                  <a:close/>
                </a:path>
                <a:path w="5474335" h="283210">
                  <a:moveTo>
                    <a:pt x="319646" y="122580"/>
                  </a:moveTo>
                  <a:lnTo>
                    <a:pt x="310400" y="85559"/>
                  </a:lnTo>
                  <a:lnTo>
                    <a:pt x="272326" y="59791"/>
                  </a:lnTo>
                  <a:lnTo>
                    <a:pt x="259270" y="58699"/>
                  </a:lnTo>
                  <a:lnTo>
                    <a:pt x="242265" y="61010"/>
                  </a:lnTo>
                  <a:lnTo>
                    <a:pt x="229666" y="67932"/>
                  </a:lnTo>
                  <a:lnTo>
                    <a:pt x="221488" y="79476"/>
                  </a:lnTo>
                  <a:lnTo>
                    <a:pt x="217703" y="95643"/>
                  </a:lnTo>
                  <a:lnTo>
                    <a:pt x="217792" y="95148"/>
                  </a:lnTo>
                  <a:lnTo>
                    <a:pt x="223647" y="61569"/>
                  </a:lnTo>
                  <a:lnTo>
                    <a:pt x="186575" y="61569"/>
                  </a:lnTo>
                  <a:lnTo>
                    <a:pt x="186575" y="231101"/>
                  </a:lnTo>
                  <a:lnTo>
                    <a:pt x="224218" y="231101"/>
                  </a:lnTo>
                  <a:lnTo>
                    <a:pt x="224269" y="114134"/>
                  </a:lnTo>
                  <a:lnTo>
                    <a:pt x="226758" y="106299"/>
                  </a:lnTo>
                  <a:lnTo>
                    <a:pt x="236562" y="95643"/>
                  </a:lnTo>
                  <a:lnTo>
                    <a:pt x="237083" y="95148"/>
                  </a:lnTo>
                  <a:lnTo>
                    <a:pt x="244106" y="92417"/>
                  </a:lnTo>
                  <a:lnTo>
                    <a:pt x="262572" y="92417"/>
                  </a:lnTo>
                  <a:lnTo>
                    <a:pt x="269697" y="95148"/>
                  </a:lnTo>
                  <a:lnTo>
                    <a:pt x="279527" y="106070"/>
                  </a:lnTo>
                  <a:lnTo>
                    <a:pt x="279603" y="106299"/>
                  </a:lnTo>
                  <a:lnTo>
                    <a:pt x="282003" y="114134"/>
                  </a:lnTo>
                  <a:lnTo>
                    <a:pt x="282003" y="137972"/>
                  </a:lnTo>
                  <a:lnTo>
                    <a:pt x="319646" y="137972"/>
                  </a:lnTo>
                  <a:lnTo>
                    <a:pt x="319646" y="122580"/>
                  </a:lnTo>
                  <a:close/>
                </a:path>
                <a:path w="5474335" h="283210">
                  <a:moveTo>
                    <a:pt x="485305" y="124536"/>
                  </a:moveTo>
                  <a:lnTo>
                    <a:pt x="475107" y="86131"/>
                  </a:lnTo>
                  <a:lnTo>
                    <a:pt x="447662" y="63957"/>
                  </a:lnTo>
                  <a:lnTo>
                    <a:pt x="447662" y="114363"/>
                  </a:lnTo>
                  <a:lnTo>
                    <a:pt x="447662" y="178295"/>
                  </a:lnTo>
                  <a:lnTo>
                    <a:pt x="445185" y="186131"/>
                  </a:lnTo>
                  <a:lnTo>
                    <a:pt x="435343" y="196532"/>
                  </a:lnTo>
                  <a:lnTo>
                    <a:pt x="428142" y="199123"/>
                  </a:lnTo>
                  <a:lnTo>
                    <a:pt x="409054" y="199123"/>
                  </a:lnTo>
                  <a:lnTo>
                    <a:pt x="401828" y="196532"/>
                  </a:lnTo>
                  <a:lnTo>
                    <a:pt x="392036" y="186131"/>
                  </a:lnTo>
                  <a:lnTo>
                    <a:pt x="389585" y="178295"/>
                  </a:lnTo>
                  <a:lnTo>
                    <a:pt x="389585" y="114363"/>
                  </a:lnTo>
                  <a:lnTo>
                    <a:pt x="392036" y="106553"/>
                  </a:lnTo>
                  <a:lnTo>
                    <a:pt x="401828" y="96151"/>
                  </a:lnTo>
                  <a:lnTo>
                    <a:pt x="409054" y="93535"/>
                  </a:lnTo>
                  <a:lnTo>
                    <a:pt x="428142" y="93535"/>
                  </a:lnTo>
                  <a:lnTo>
                    <a:pt x="435343" y="96151"/>
                  </a:lnTo>
                  <a:lnTo>
                    <a:pt x="440245" y="101371"/>
                  </a:lnTo>
                  <a:lnTo>
                    <a:pt x="445185" y="106553"/>
                  </a:lnTo>
                  <a:lnTo>
                    <a:pt x="447662" y="63957"/>
                  </a:lnTo>
                  <a:lnTo>
                    <a:pt x="418617" y="58699"/>
                  </a:lnTo>
                  <a:lnTo>
                    <a:pt x="404114" y="59804"/>
                  </a:lnTo>
                  <a:lnTo>
                    <a:pt x="362038" y="86131"/>
                  </a:lnTo>
                  <a:lnTo>
                    <a:pt x="351891" y="124536"/>
                  </a:lnTo>
                  <a:lnTo>
                    <a:pt x="351878" y="167843"/>
                  </a:lnTo>
                  <a:lnTo>
                    <a:pt x="352996" y="182333"/>
                  </a:lnTo>
                  <a:lnTo>
                    <a:pt x="379768" y="223964"/>
                  </a:lnTo>
                  <a:lnTo>
                    <a:pt x="418617" y="233959"/>
                  </a:lnTo>
                  <a:lnTo>
                    <a:pt x="433095" y="232854"/>
                  </a:lnTo>
                  <a:lnTo>
                    <a:pt x="475107" y="206502"/>
                  </a:lnTo>
                  <a:lnTo>
                    <a:pt x="485305" y="167843"/>
                  </a:lnTo>
                  <a:lnTo>
                    <a:pt x="485305" y="124536"/>
                  </a:lnTo>
                  <a:close/>
                </a:path>
                <a:path w="5474335" h="283210">
                  <a:moveTo>
                    <a:pt x="663549" y="105359"/>
                  </a:moveTo>
                  <a:lnTo>
                    <a:pt x="662940" y="95554"/>
                  </a:lnTo>
                  <a:lnTo>
                    <a:pt x="661873" y="90385"/>
                  </a:lnTo>
                  <a:lnTo>
                    <a:pt x="661098" y="86677"/>
                  </a:lnTo>
                  <a:lnTo>
                    <a:pt x="660450" y="85001"/>
                  </a:lnTo>
                  <a:lnTo>
                    <a:pt x="660374" y="84797"/>
                  </a:lnTo>
                  <a:lnTo>
                    <a:pt x="626402" y="58699"/>
                  </a:lnTo>
                  <a:lnTo>
                    <a:pt x="618045" y="58699"/>
                  </a:lnTo>
                  <a:lnTo>
                    <a:pt x="611365" y="61010"/>
                  </a:lnTo>
                  <a:lnTo>
                    <a:pt x="610514" y="61569"/>
                  </a:lnTo>
                  <a:lnTo>
                    <a:pt x="599694" y="70827"/>
                  </a:lnTo>
                  <a:lnTo>
                    <a:pt x="599389" y="71767"/>
                  </a:lnTo>
                  <a:lnTo>
                    <a:pt x="598830" y="70192"/>
                  </a:lnTo>
                  <a:lnTo>
                    <a:pt x="597941" y="69456"/>
                  </a:lnTo>
                  <a:lnTo>
                    <a:pt x="597941" y="78765"/>
                  </a:lnTo>
                  <a:lnTo>
                    <a:pt x="597687" y="77025"/>
                  </a:lnTo>
                  <a:lnTo>
                    <a:pt x="597814" y="76657"/>
                  </a:lnTo>
                  <a:lnTo>
                    <a:pt x="597839" y="77025"/>
                  </a:lnTo>
                  <a:lnTo>
                    <a:pt x="597941" y="78765"/>
                  </a:lnTo>
                  <a:lnTo>
                    <a:pt x="597941" y="69456"/>
                  </a:lnTo>
                  <a:lnTo>
                    <a:pt x="593369" y="65620"/>
                  </a:lnTo>
                  <a:lnTo>
                    <a:pt x="587959" y="61010"/>
                  </a:lnTo>
                  <a:lnTo>
                    <a:pt x="581291" y="58699"/>
                  </a:lnTo>
                  <a:lnTo>
                    <a:pt x="565010" y="58699"/>
                  </a:lnTo>
                  <a:lnTo>
                    <a:pt x="558431" y="61010"/>
                  </a:lnTo>
                  <a:lnTo>
                    <a:pt x="558203" y="61010"/>
                  </a:lnTo>
                  <a:lnTo>
                    <a:pt x="551053" y="67233"/>
                  </a:lnTo>
                  <a:lnTo>
                    <a:pt x="552094" y="61569"/>
                  </a:lnTo>
                  <a:lnTo>
                    <a:pt x="546138" y="61569"/>
                  </a:lnTo>
                  <a:lnTo>
                    <a:pt x="546138" y="84442"/>
                  </a:lnTo>
                  <a:lnTo>
                    <a:pt x="544741" y="77025"/>
                  </a:lnTo>
                  <a:lnTo>
                    <a:pt x="544868" y="76657"/>
                  </a:lnTo>
                  <a:lnTo>
                    <a:pt x="544906" y="77025"/>
                  </a:lnTo>
                  <a:lnTo>
                    <a:pt x="545071" y="78765"/>
                  </a:lnTo>
                  <a:lnTo>
                    <a:pt x="546138" y="84442"/>
                  </a:lnTo>
                  <a:lnTo>
                    <a:pt x="546138" y="61569"/>
                  </a:lnTo>
                  <a:lnTo>
                    <a:pt x="517525" y="61569"/>
                  </a:lnTo>
                  <a:lnTo>
                    <a:pt x="517525" y="231101"/>
                  </a:lnTo>
                  <a:lnTo>
                    <a:pt x="553212" y="231101"/>
                  </a:lnTo>
                  <a:lnTo>
                    <a:pt x="553212" y="99631"/>
                  </a:lnTo>
                  <a:lnTo>
                    <a:pt x="554075" y="95948"/>
                  </a:lnTo>
                  <a:lnTo>
                    <a:pt x="557568" y="91516"/>
                  </a:lnTo>
                  <a:lnTo>
                    <a:pt x="560095" y="90385"/>
                  </a:lnTo>
                  <a:lnTo>
                    <a:pt x="566813" y="90385"/>
                  </a:lnTo>
                  <a:lnTo>
                    <a:pt x="569328" y="91516"/>
                  </a:lnTo>
                  <a:lnTo>
                    <a:pt x="573024" y="95948"/>
                  </a:lnTo>
                  <a:lnTo>
                    <a:pt x="574179" y="99631"/>
                  </a:lnTo>
                  <a:lnTo>
                    <a:pt x="574268" y="231101"/>
                  </a:lnTo>
                  <a:lnTo>
                    <a:pt x="606806" y="231101"/>
                  </a:lnTo>
                  <a:lnTo>
                    <a:pt x="606831" y="99631"/>
                  </a:lnTo>
                  <a:lnTo>
                    <a:pt x="607860" y="95948"/>
                  </a:lnTo>
                  <a:lnTo>
                    <a:pt x="611644" y="91516"/>
                  </a:lnTo>
                  <a:lnTo>
                    <a:pt x="614197" y="90385"/>
                  </a:lnTo>
                  <a:lnTo>
                    <a:pt x="620915" y="90385"/>
                  </a:lnTo>
                  <a:lnTo>
                    <a:pt x="623379" y="91516"/>
                  </a:lnTo>
                  <a:lnTo>
                    <a:pt x="626770" y="95948"/>
                  </a:lnTo>
                  <a:lnTo>
                    <a:pt x="627786" y="99631"/>
                  </a:lnTo>
                  <a:lnTo>
                    <a:pt x="627862" y="231101"/>
                  </a:lnTo>
                  <a:lnTo>
                    <a:pt x="663549" y="231101"/>
                  </a:lnTo>
                  <a:lnTo>
                    <a:pt x="663549" y="105359"/>
                  </a:lnTo>
                  <a:close/>
                </a:path>
                <a:path w="5474335" h="283210">
                  <a:moveTo>
                    <a:pt x="4575556" y="16510"/>
                  </a:moveTo>
                  <a:lnTo>
                    <a:pt x="4573244" y="10909"/>
                  </a:lnTo>
                  <a:lnTo>
                    <a:pt x="4564011" y="2184"/>
                  </a:lnTo>
                  <a:lnTo>
                    <a:pt x="4558131" y="0"/>
                  </a:lnTo>
                  <a:lnTo>
                    <a:pt x="4538129" y="0"/>
                  </a:lnTo>
                  <a:lnTo>
                    <a:pt x="4532249" y="2184"/>
                  </a:lnTo>
                  <a:lnTo>
                    <a:pt x="4523016" y="10909"/>
                  </a:lnTo>
                  <a:lnTo>
                    <a:pt x="4520704" y="16510"/>
                  </a:lnTo>
                  <a:lnTo>
                    <a:pt x="4520704" y="30264"/>
                  </a:lnTo>
                  <a:lnTo>
                    <a:pt x="4522965" y="35814"/>
                  </a:lnTo>
                  <a:lnTo>
                    <a:pt x="4527486" y="40017"/>
                  </a:lnTo>
                  <a:lnTo>
                    <a:pt x="4532058" y="44170"/>
                  </a:lnTo>
                  <a:lnTo>
                    <a:pt x="4537989" y="46240"/>
                  </a:lnTo>
                  <a:lnTo>
                    <a:pt x="4558042" y="46240"/>
                  </a:lnTo>
                  <a:lnTo>
                    <a:pt x="4563897" y="44170"/>
                  </a:lnTo>
                  <a:lnTo>
                    <a:pt x="4573244" y="35814"/>
                  </a:lnTo>
                  <a:lnTo>
                    <a:pt x="4575556" y="30264"/>
                  </a:lnTo>
                  <a:lnTo>
                    <a:pt x="4575556" y="16510"/>
                  </a:lnTo>
                  <a:close/>
                </a:path>
                <a:path w="5474335" h="283210">
                  <a:moveTo>
                    <a:pt x="4622851" y="195694"/>
                  </a:moveTo>
                  <a:lnTo>
                    <a:pt x="4569815" y="195694"/>
                  </a:lnTo>
                  <a:lnTo>
                    <a:pt x="4569815" y="61569"/>
                  </a:lnTo>
                  <a:lnTo>
                    <a:pt x="4483417" y="61569"/>
                  </a:lnTo>
                  <a:lnTo>
                    <a:pt x="4483417" y="96964"/>
                  </a:lnTo>
                  <a:lnTo>
                    <a:pt x="4532109" y="96964"/>
                  </a:lnTo>
                  <a:lnTo>
                    <a:pt x="4532109" y="195694"/>
                  </a:lnTo>
                  <a:lnTo>
                    <a:pt x="4476280" y="195694"/>
                  </a:lnTo>
                  <a:lnTo>
                    <a:pt x="4476280" y="231101"/>
                  </a:lnTo>
                  <a:lnTo>
                    <a:pt x="4622851" y="231101"/>
                  </a:lnTo>
                  <a:lnTo>
                    <a:pt x="4622851" y="195694"/>
                  </a:lnTo>
                  <a:close/>
                </a:path>
                <a:path w="5474335" h="283210">
                  <a:moveTo>
                    <a:pt x="4790186" y="105359"/>
                  </a:moveTo>
                  <a:lnTo>
                    <a:pt x="4789576" y="95554"/>
                  </a:lnTo>
                  <a:lnTo>
                    <a:pt x="4788509" y="90385"/>
                  </a:lnTo>
                  <a:lnTo>
                    <a:pt x="4787735" y="86677"/>
                  </a:lnTo>
                  <a:lnTo>
                    <a:pt x="4787087" y="85001"/>
                  </a:lnTo>
                  <a:lnTo>
                    <a:pt x="4787011" y="84797"/>
                  </a:lnTo>
                  <a:lnTo>
                    <a:pt x="4753038" y="58699"/>
                  </a:lnTo>
                  <a:lnTo>
                    <a:pt x="4744682" y="58699"/>
                  </a:lnTo>
                  <a:lnTo>
                    <a:pt x="4738001" y="61010"/>
                  </a:lnTo>
                  <a:lnTo>
                    <a:pt x="4737151" y="61569"/>
                  </a:lnTo>
                  <a:lnTo>
                    <a:pt x="4726330" y="70827"/>
                  </a:lnTo>
                  <a:lnTo>
                    <a:pt x="4726025" y="71767"/>
                  </a:lnTo>
                  <a:lnTo>
                    <a:pt x="4725467" y="70192"/>
                  </a:lnTo>
                  <a:lnTo>
                    <a:pt x="4724590" y="69469"/>
                  </a:lnTo>
                  <a:lnTo>
                    <a:pt x="4724590" y="78765"/>
                  </a:lnTo>
                  <a:lnTo>
                    <a:pt x="4724336" y="77025"/>
                  </a:lnTo>
                  <a:lnTo>
                    <a:pt x="4724451" y="76657"/>
                  </a:lnTo>
                  <a:lnTo>
                    <a:pt x="4724476" y="77025"/>
                  </a:lnTo>
                  <a:lnTo>
                    <a:pt x="4724590" y="78765"/>
                  </a:lnTo>
                  <a:lnTo>
                    <a:pt x="4724590" y="69469"/>
                  </a:lnTo>
                  <a:lnTo>
                    <a:pt x="4720018" y="65620"/>
                  </a:lnTo>
                  <a:lnTo>
                    <a:pt x="4714595" y="61010"/>
                  </a:lnTo>
                  <a:lnTo>
                    <a:pt x="4707928" y="58699"/>
                  </a:lnTo>
                  <a:lnTo>
                    <a:pt x="4691646" y="58699"/>
                  </a:lnTo>
                  <a:lnTo>
                    <a:pt x="4685081" y="61010"/>
                  </a:lnTo>
                  <a:lnTo>
                    <a:pt x="4684839" y="61010"/>
                  </a:lnTo>
                  <a:lnTo>
                    <a:pt x="4677689" y="67233"/>
                  </a:lnTo>
                  <a:lnTo>
                    <a:pt x="4678731" y="61569"/>
                  </a:lnTo>
                  <a:lnTo>
                    <a:pt x="4671695" y="61569"/>
                  </a:lnTo>
                  <a:lnTo>
                    <a:pt x="4671695" y="78663"/>
                  </a:lnTo>
                  <a:lnTo>
                    <a:pt x="4671390" y="77025"/>
                  </a:lnTo>
                  <a:lnTo>
                    <a:pt x="4671517" y="76657"/>
                  </a:lnTo>
                  <a:lnTo>
                    <a:pt x="4671542" y="77025"/>
                  </a:lnTo>
                  <a:lnTo>
                    <a:pt x="4671695" y="78663"/>
                  </a:lnTo>
                  <a:lnTo>
                    <a:pt x="4671695" y="61569"/>
                  </a:lnTo>
                  <a:lnTo>
                    <a:pt x="4644174" y="61569"/>
                  </a:lnTo>
                  <a:lnTo>
                    <a:pt x="4644174" y="231101"/>
                  </a:lnTo>
                  <a:lnTo>
                    <a:pt x="4679848" y="231101"/>
                  </a:lnTo>
                  <a:lnTo>
                    <a:pt x="4679848" y="99631"/>
                  </a:lnTo>
                  <a:lnTo>
                    <a:pt x="4680712" y="95948"/>
                  </a:lnTo>
                  <a:lnTo>
                    <a:pt x="4684217" y="91516"/>
                  </a:lnTo>
                  <a:lnTo>
                    <a:pt x="4686732" y="90385"/>
                  </a:lnTo>
                  <a:lnTo>
                    <a:pt x="4693450" y="90385"/>
                  </a:lnTo>
                  <a:lnTo>
                    <a:pt x="4695977" y="91516"/>
                  </a:lnTo>
                  <a:lnTo>
                    <a:pt x="4699673" y="95948"/>
                  </a:lnTo>
                  <a:lnTo>
                    <a:pt x="4700816" y="99631"/>
                  </a:lnTo>
                  <a:lnTo>
                    <a:pt x="4700905" y="231101"/>
                  </a:lnTo>
                  <a:lnTo>
                    <a:pt x="4733442" y="231101"/>
                  </a:lnTo>
                  <a:lnTo>
                    <a:pt x="4733468" y="99631"/>
                  </a:lnTo>
                  <a:lnTo>
                    <a:pt x="4734496" y="95948"/>
                  </a:lnTo>
                  <a:lnTo>
                    <a:pt x="4738281" y="91516"/>
                  </a:lnTo>
                  <a:lnTo>
                    <a:pt x="4740834" y="90385"/>
                  </a:lnTo>
                  <a:lnTo>
                    <a:pt x="4747552" y="90385"/>
                  </a:lnTo>
                  <a:lnTo>
                    <a:pt x="4750016" y="91516"/>
                  </a:lnTo>
                  <a:lnTo>
                    <a:pt x="4753407" y="95948"/>
                  </a:lnTo>
                  <a:lnTo>
                    <a:pt x="4754423" y="99631"/>
                  </a:lnTo>
                  <a:lnTo>
                    <a:pt x="4754511" y="231101"/>
                  </a:lnTo>
                  <a:lnTo>
                    <a:pt x="4790186" y="231101"/>
                  </a:lnTo>
                  <a:lnTo>
                    <a:pt x="4790186" y="105359"/>
                  </a:lnTo>
                  <a:close/>
                </a:path>
                <a:path w="5474335" h="283210">
                  <a:moveTo>
                    <a:pt x="4955845" y="123139"/>
                  </a:moveTo>
                  <a:lnTo>
                    <a:pt x="4947183" y="85864"/>
                  </a:lnTo>
                  <a:lnTo>
                    <a:pt x="4918202" y="61887"/>
                  </a:lnTo>
                  <a:lnTo>
                    <a:pt x="4918202" y="114134"/>
                  </a:lnTo>
                  <a:lnTo>
                    <a:pt x="4918202" y="178523"/>
                  </a:lnTo>
                  <a:lnTo>
                    <a:pt x="4915801" y="186499"/>
                  </a:lnTo>
                  <a:lnTo>
                    <a:pt x="4906276" y="196951"/>
                  </a:lnTo>
                  <a:lnTo>
                    <a:pt x="4899190" y="199682"/>
                  </a:lnTo>
                  <a:lnTo>
                    <a:pt x="4881042" y="199682"/>
                  </a:lnTo>
                  <a:lnTo>
                    <a:pt x="4861382" y="178523"/>
                  </a:lnTo>
                  <a:lnTo>
                    <a:pt x="4861382" y="114134"/>
                  </a:lnTo>
                  <a:lnTo>
                    <a:pt x="4863795" y="106692"/>
                  </a:lnTo>
                  <a:lnTo>
                    <a:pt x="4872660" y="97180"/>
                  </a:lnTo>
                  <a:lnTo>
                    <a:pt x="4872964" y="96850"/>
                  </a:lnTo>
                  <a:lnTo>
                    <a:pt x="4874298" y="95618"/>
                  </a:lnTo>
                  <a:lnTo>
                    <a:pt x="4881042" y="92976"/>
                  </a:lnTo>
                  <a:lnTo>
                    <a:pt x="4899190" y="92976"/>
                  </a:lnTo>
                  <a:lnTo>
                    <a:pt x="4906188" y="95618"/>
                  </a:lnTo>
                  <a:lnTo>
                    <a:pt x="4915801" y="106159"/>
                  </a:lnTo>
                  <a:lnTo>
                    <a:pt x="4918202" y="114134"/>
                  </a:lnTo>
                  <a:lnTo>
                    <a:pt x="4918202" y="61887"/>
                  </a:lnTo>
                  <a:lnTo>
                    <a:pt x="4911166" y="59804"/>
                  </a:lnTo>
                  <a:lnTo>
                    <a:pt x="4898606" y="58699"/>
                  </a:lnTo>
                  <a:lnTo>
                    <a:pt x="4889131" y="59334"/>
                  </a:lnTo>
                  <a:lnTo>
                    <a:pt x="4859020" y="75780"/>
                  </a:lnTo>
                  <a:lnTo>
                    <a:pt x="4861242" y="61569"/>
                  </a:lnTo>
                  <a:lnTo>
                    <a:pt x="4854740" y="61569"/>
                  </a:lnTo>
                  <a:lnTo>
                    <a:pt x="4854740" y="195973"/>
                  </a:lnTo>
                  <a:lnTo>
                    <a:pt x="4854702" y="196951"/>
                  </a:lnTo>
                  <a:lnTo>
                    <a:pt x="4854587" y="199682"/>
                  </a:lnTo>
                  <a:lnTo>
                    <a:pt x="4854384" y="204343"/>
                  </a:lnTo>
                  <a:lnTo>
                    <a:pt x="4854740" y="195973"/>
                  </a:lnTo>
                  <a:lnTo>
                    <a:pt x="4854740" y="61569"/>
                  </a:lnTo>
                  <a:lnTo>
                    <a:pt x="4823599" y="61569"/>
                  </a:lnTo>
                  <a:lnTo>
                    <a:pt x="4823599" y="282663"/>
                  </a:lnTo>
                  <a:lnTo>
                    <a:pt x="4861242" y="282663"/>
                  </a:lnTo>
                  <a:lnTo>
                    <a:pt x="4861039" y="229552"/>
                  </a:lnTo>
                  <a:lnTo>
                    <a:pt x="4859020" y="216966"/>
                  </a:lnTo>
                  <a:lnTo>
                    <a:pt x="4859693" y="218160"/>
                  </a:lnTo>
                  <a:lnTo>
                    <a:pt x="4898606" y="233959"/>
                  </a:lnTo>
                  <a:lnTo>
                    <a:pt x="4911166" y="232867"/>
                  </a:lnTo>
                  <a:lnTo>
                    <a:pt x="4947183" y="206781"/>
                  </a:lnTo>
                  <a:lnTo>
                    <a:pt x="4955845" y="169240"/>
                  </a:lnTo>
                  <a:lnTo>
                    <a:pt x="4955845" y="123139"/>
                  </a:lnTo>
                  <a:close/>
                </a:path>
                <a:path w="5474335" h="283210">
                  <a:moveTo>
                    <a:pt x="5127790" y="124536"/>
                  </a:moveTo>
                  <a:lnTo>
                    <a:pt x="5117604" y="86131"/>
                  </a:lnTo>
                  <a:lnTo>
                    <a:pt x="5090147" y="63957"/>
                  </a:lnTo>
                  <a:lnTo>
                    <a:pt x="5090147" y="114363"/>
                  </a:lnTo>
                  <a:lnTo>
                    <a:pt x="5090147" y="178295"/>
                  </a:lnTo>
                  <a:lnTo>
                    <a:pt x="5087683" y="186131"/>
                  </a:lnTo>
                  <a:lnTo>
                    <a:pt x="5077841" y="196532"/>
                  </a:lnTo>
                  <a:lnTo>
                    <a:pt x="5070627" y="199123"/>
                  </a:lnTo>
                  <a:lnTo>
                    <a:pt x="5051552" y="199123"/>
                  </a:lnTo>
                  <a:lnTo>
                    <a:pt x="5044325" y="196532"/>
                  </a:lnTo>
                  <a:lnTo>
                    <a:pt x="5034521" y="186131"/>
                  </a:lnTo>
                  <a:lnTo>
                    <a:pt x="5032083" y="178295"/>
                  </a:lnTo>
                  <a:lnTo>
                    <a:pt x="5032083" y="114363"/>
                  </a:lnTo>
                  <a:lnTo>
                    <a:pt x="5034521" y="106553"/>
                  </a:lnTo>
                  <a:lnTo>
                    <a:pt x="5044325" y="96151"/>
                  </a:lnTo>
                  <a:lnTo>
                    <a:pt x="5051552" y="93535"/>
                  </a:lnTo>
                  <a:lnTo>
                    <a:pt x="5070627" y="93535"/>
                  </a:lnTo>
                  <a:lnTo>
                    <a:pt x="5077841" y="96151"/>
                  </a:lnTo>
                  <a:lnTo>
                    <a:pt x="5082730" y="101371"/>
                  </a:lnTo>
                  <a:lnTo>
                    <a:pt x="5087683" y="106553"/>
                  </a:lnTo>
                  <a:lnTo>
                    <a:pt x="5090147" y="63957"/>
                  </a:lnTo>
                  <a:lnTo>
                    <a:pt x="5061115" y="58699"/>
                  </a:lnTo>
                  <a:lnTo>
                    <a:pt x="5046611" y="59804"/>
                  </a:lnTo>
                  <a:lnTo>
                    <a:pt x="5004536" y="86131"/>
                  </a:lnTo>
                  <a:lnTo>
                    <a:pt x="4994389" y="124536"/>
                  </a:lnTo>
                  <a:lnTo>
                    <a:pt x="4994364" y="167843"/>
                  </a:lnTo>
                  <a:lnTo>
                    <a:pt x="4995494" y="182333"/>
                  </a:lnTo>
                  <a:lnTo>
                    <a:pt x="5022253" y="223964"/>
                  </a:lnTo>
                  <a:lnTo>
                    <a:pt x="5061115" y="233959"/>
                  </a:lnTo>
                  <a:lnTo>
                    <a:pt x="5075593" y="232854"/>
                  </a:lnTo>
                  <a:lnTo>
                    <a:pt x="5117604" y="206502"/>
                  </a:lnTo>
                  <a:lnTo>
                    <a:pt x="5121300" y="199123"/>
                  </a:lnTo>
                  <a:lnTo>
                    <a:pt x="5123269" y="195224"/>
                  </a:lnTo>
                  <a:lnTo>
                    <a:pt x="5126660" y="182333"/>
                  </a:lnTo>
                  <a:lnTo>
                    <a:pt x="5127790" y="167843"/>
                  </a:lnTo>
                  <a:lnTo>
                    <a:pt x="5127790" y="124536"/>
                  </a:lnTo>
                  <a:close/>
                </a:path>
                <a:path w="5474335" h="283210">
                  <a:moveTo>
                    <a:pt x="5306047" y="122580"/>
                  </a:moveTo>
                  <a:lnTo>
                    <a:pt x="5305018" y="108788"/>
                  </a:lnTo>
                  <a:lnTo>
                    <a:pt x="5301932" y="96443"/>
                  </a:lnTo>
                  <a:lnTo>
                    <a:pt x="5300027" y="92417"/>
                  </a:lnTo>
                  <a:lnTo>
                    <a:pt x="5296789" y="85559"/>
                  </a:lnTo>
                  <a:lnTo>
                    <a:pt x="5258714" y="59791"/>
                  </a:lnTo>
                  <a:lnTo>
                    <a:pt x="5245659" y="58699"/>
                  </a:lnTo>
                  <a:lnTo>
                    <a:pt x="5228653" y="61010"/>
                  </a:lnTo>
                  <a:lnTo>
                    <a:pt x="5216068" y="67932"/>
                  </a:lnTo>
                  <a:lnTo>
                    <a:pt x="5207876" y="79476"/>
                  </a:lnTo>
                  <a:lnTo>
                    <a:pt x="5204104" y="95643"/>
                  </a:lnTo>
                  <a:lnTo>
                    <a:pt x="5204180" y="95148"/>
                  </a:lnTo>
                  <a:lnTo>
                    <a:pt x="5210048" y="61569"/>
                  </a:lnTo>
                  <a:lnTo>
                    <a:pt x="5172964" y="61569"/>
                  </a:lnTo>
                  <a:lnTo>
                    <a:pt x="5172964" y="231101"/>
                  </a:lnTo>
                  <a:lnTo>
                    <a:pt x="5210607" y="231101"/>
                  </a:lnTo>
                  <a:lnTo>
                    <a:pt x="5210670" y="114134"/>
                  </a:lnTo>
                  <a:lnTo>
                    <a:pt x="5213147" y="106299"/>
                  </a:lnTo>
                  <a:lnTo>
                    <a:pt x="5222951" y="95643"/>
                  </a:lnTo>
                  <a:lnTo>
                    <a:pt x="5223484" y="95148"/>
                  </a:lnTo>
                  <a:lnTo>
                    <a:pt x="5230495" y="92417"/>
                  </a:lnTo>
                  <a:lnTo>
                    <a:pt x="5248973" y="92417"/>
                  </a:lnTo>
                  <a:lnTo>
                    <a:pt x="5256085" y="95148"/>
                  </a:lnTo>
                  <a:lnTo>
                    <a:pt x="5265928" y="106070"/>
                  </a:lnTo>
                  <a:lnTo>
                    <a:pt x="5266004" y="106299"/>
                  </a:lnTo>
                  <a:lnTo>
                    <a:pt x="5268404" y="114134"/>
                  </a:lnTo>
                  <a:lnTo>
                    <a:pt x="5268404" y="137972"/>
                  </a:lnTo>
                  <a:lnTo>
                    <a:pt x="5306047" y="137972"/>
                  </a:lnTo>
                  <a:lnTo>
                    <a:pt x="5306047" y="122580"/>
                  </a:lnTo>
                  <a:close/>
                </a:path>
                <a:path w="5474335" h="283210">
                  <a:moveTo>
                    <a:pt x="5474005" y="61569"/>
                  </a:moveTo>
                  <a:lnTo>
                    <a:pt x="5410962" y="61569"/>
                  </a:lnTo>
                  <a:lnTo>
                    <a:pt x="5410962" y="18605"/>
                  </a:lnTo>
                  <a:lnTo>
                    <a:pt x="5373255" y="18605"/>
                  </a:lnTo>
                  <a:lnTo>
                    <a:pt x="5373255" y="61569"/>
                  </a:lnTo>
                  <a:lnTo>
                    <a:pt x="5328818" y="61569"/>
                  </a:lnTo>
                  <a:lnTo>
                    <a:pt x="5328818" y="96964"/>
                  </a:lnTo>
                  <a:lnTo>
                    <a:pt x="5373255" y="96964"/>
                  </a:lnTo>
                  <a:lnTo>
                    <a:pt x="5373255" y="183591"/>
                  </a:lnTo>
                  <a:lnTo>
                    <a:pt x="5374068" y="194144"/>
                  </a:lnTo>
                  <a:lnTo>
                    <a:pt x="5401881" y="227952"/>
                  </a:lnTo>
                  <a:lnTo>
                    <a:pt x="5422227" y="231101"/>
                  </a:lnTo>
                  <a:lnTo>
                    <a:pt x="5471134" y="231101"/>
                  </a:lnTo>
                  <a:lnTo>
                    <a:pt x="5471134" y="195694"/>
                  </a:lnTo>
                  <a:lnTo>
                    <a:pt x="5418036" y="195694"/>
                  </a:lnTo>
                  <a:lnTo>
                    <a:pt x="5415089" y="194805"/>
                  </a:lnTo>
                  <a:lnTo>
                    <a:pt x="5411775" y="191262"/>
                  </a:lnTo>
                  <a:lnTo>
                    <a:pt x="5410962" y="188112"/>
                  </a:lnTo>
                  <a:lnTo>
                    <a:pt x="5410962" y="96964"/>
                  </a:lnTo>
                  <a:lnTo>
                    <a:pt x="5474005" y="96964"/>
                  </a:lnTo>
                  <a:lnTo>
                    <a:pt x="5474005" y="61569"/>
                  </a:lnTo>
                  <a:close/>
                </a:path>
              </a:pathLst>
            </a:custGeom>
            <a:solidFill>
              <a:srgbClr val="007BB5"/>
            </a:solidFill>
          </p:spPr>
          <p:txBody>
            <a:bodyPr wrap="square" lIns="0" tIns="0" rIns="0" bIns="0" rtlCol="0"/>
            <a:lstStyle/>
            <a:p>
              <a:endParaRPr/>
            </a:p>
          </p:txBody>
        </p:sp>
      </p:grpSp>
      <p:sp>
        <p:nvSpPr>
          <p:cNvPr id="6" name="object 6"/>
          <p:cNvSpPr txBox="1"/>
          <p:nvPr/>
        </p:nvSpPr>
        <p:spPr>
          <a:xfrm>
            <a:off x="6316360" y="1379286"/>
            <a:ext cx="2776855" cy="369570"/>
          </a:xfrm>
          <a:prstGeom prst="rect">
            <a:avLst/>
          </a:prstGeom>
        </p:spPr>
        <p:txBody>
          <a:bodyPr vert="horz" wrap="square" lIns="0" tIns="13335" rIns="0" bIns="0" rtlCol="0">
            <a:spAutoFit/>
          </a:bodyPr>
          <a:lstStyle/>
          <a:p>
            <a:pPr marL="12700">
              <a:lnSpc>
                <a:spcPct val="100000"/>
              </a:lnSpc>
              <a:spcBef>
                <a:spcPts val="105"/>
              </a:spcBef>
            </a:pPr>
            <a:r>
              <a:rPr sz="2250" spc="-10" dirty="0">
                <a:solidFill>
                  <a:srgbClr val="04182D"/>
                </a:solidFill>
                <a:latin typeface="Courier New"/>
                <a:cs typeface="Courier New"/>
              </a:rPr>
              <a:t>LinearRegression</a:t>
            </a:r>
            <a:endParaRPr sz="2250">
              <a:latin typeface="Courier New"/>
              <a:cs typeface="Courier New"/>
            </a:endParaRPr>
          </a:p>
        </p:txBody>
      </p:sp>
      <p:sp>
        <p:nvSpPr>
          <p:cNvPr id="7" name="object 7"/>
          <p:cNvSpPr txBox="1"/>
          <p:nvPr/>
        </p:nvSpPr>
        <p:spPr>
          <a:xfrm>
            <a:off x="642352" y="1231899"/>
            <a:ext cx="5528310" cy="2973705"/>
          </a:xfrm>
          <a:prstGeom prst="rect">
            <a:avLst/>
          </a:prstGeom>
        </p:spPr>
        <p:txBody>
          <a:bodyPr vert="horz" wrap="square" lIns="0" tIns="12065" rIns="0" bIns="0" rtlCol="0">
            <a:spAutoFit/>
          </a:bodyPr>
          <a:lstStyle/>
          <a:p>
            <a:pPr marL="12700" marR="1208405" indent="859155">
              <a:lnSpc>
                <a:spcPct val="143300"/>
              </a:lnSpc>
              <a:spcBef>
                <a:spcPts val="95"/>
              </a:spcBef>
            </a:pPr>
            <a:r>
              <a:rPr sz="2250" spc="-10" dirty="0">
                <a:solidFill>
                  <a:srgbClr val="04182D"/>
                </a:solidFill>
                <a:latin typeface="Courier New"/>
                <a:cs typeface="Courier New"/>
              </a:rPr>
              <a:t>sklearn.linear_model </a:t>
            </a:r>
            <a:r>
              <a:rPr sz="2250" dirty="0">
                <a:solidFill>
                  <a:srgbClr val="04182D"/>
                </a:solidFill>
                <a:latin typeface="Courier New"/>
                <a:cs typeface="Courier New"/>
              </a:rPr>
              <a:t>reg = </a:t>
            </a:r>
            <a:r>
              <a:rPr sz="2250" spc="-10" dirty="0">
                <a:solidFill>
                  <a:srgbClr val="04182D"/>
                </a:solidFill>
                <a:latin typeface="Courier New"/>
                <a:cs typeface="Courier New"/>
              </a:rPr>
              <a:t>LinearRegression() </a:t>
            </a:r>
            <a:r>
              <a:rPr sz="2250" dirty="0">
                <a:solidFill>
                  <a:srgbClr val="04182D"/>
                </a:solidFill>
                <a:latin typeface="Courier New"/>
                <a:cs typeface="Courier New"/>
              </a:rPr>
              <a:t>reg.fit(X_bmi, </a:t>
            </a:r>
            <a:r>
              <a:rPr sz="2250" spc="-25" dirty="0">
                <a:solidFill>
                  <a:srgbClr val="04182D"/>
                </a:solidFill>
                <a:latin typeface="Courier New"/>
                <a:cs typeface="Courier New"/>
              </a:rPr>
              <a:t>y)</a:t>
            </a:r>
            <a:endParaRPr sz="2250">
              <a:latin typeface="Courier New"/>
              <a:cs typeface="Courier New"/>
            </a:endParaRPr>
          </a:p>
          <a:p>
            <a:pPr marL="12700" marR="5080">
              <a:lnSpc>
                <a:spcPct val="143300"/>
              </a:lnSpc>
            </a:pPr>
            <a:r>
              <a:rPr sz="2250" dirty="0">
                <a:solidFill>
                  <a:srgbClr val="04182D"/>
                </a:solidFill>
                <a:latin typeface="Courier New"/>
                <a:cs typeface="Courier New"/>
              </a:rPr>
              <a:t>predictions = </a:t>
            </a:r>
            <a:r>
              <a:rPr sz="2250" spc="-10" dirty="0">
                <a:solidFill>
                  <a:srgbClr val="04182D"/>
                </a:solidFill>
                <a:latin typeface="Courier New"/>
                <a:cs typeface="Courier New"/>
              </a:rPr>
              <a:t>reg.predict(X_bmi) </a:t>
            </a:r>
            <a:r>
              <a:rPr sz="2250" dirty="0">
                <a:solidFill>
                  <a:srgbClr val="04182D"/>
                </a:solidFill>
                <a:latin typeface="Courier New"/>
                <a:cs typeface="Courier New"/>
              </a:rPr>
              <a:t>plt.scatter(X_bmi, </a:t>
            </a:r>
            <a:r>
              <a:rPr sz="2250" spc="-25" dirty="0">
                <a:solidFill>
                  <a:srgbClr val="04182D"/>
                </a:solidFill>
                <a:latin typeface="Courier New"/>
                <a:cs typeface="Courier New"/>
              </a:rPr>
              <a:t>y) </a:t>
            </a:r>
            <a:r>
              <a:rPr sz="2250" dirty="0">
                <a:solidFill>
                  <a:srgbClr val="04182D"/>
                </a:solidFill>
                <a:latin typeface="Courier New"/>
                <a:cs typeface="Courier New"/>
              </a:rPr>
              <a:t>plt.plot(X_bmi, </a:t>
            </a:r>
            <a:r>
              <a:rPr sz="2250" spc="-10" dirty="0">
                <a:solidFill>
                  <a:srgbClr val="04182D"/>
                </a:solidFill>
                <a:latin typeface="Courier New"/>
                <a:cs typeface="Courier New"/>
              </a:rPr>
              <a:t>predictions)</a:t>
            </a:r>
            <a:endParaRPr sz="2250">
              <a:latin typeface="Courier New"/>
              <a:cs typeface="Courier New"/>
            </a:endParaRPr>
          </a:p>
        </p:txBody>
      </p:sp>
      <p:sp>
        <p:nvSpPr>
          <p:cNvPr id="8" name="object 8"/>
          <p:cNvSpPr txBox="1"/>
          <p:nvPr/>
        </p:nvSpPr>
        <p:spPr>
          <a:xfrm>
            <a:off x="642352" y="4179636"/>
            <a:ext cx="6043295" cy="1499870"/>
          </a:xfrm>
          <a:prstGeom prst="rect">
            <a:avLst/>
          </a:prstGeom>
        </p:spPr>
        <p:txBody>
          <a:bodyPr vert="horz" wrap="square" lIns="0" tIns="12065" rIns="0" bIns="0" rtlCol="0">
            <a:spAutoFit/>
          </a:bodyPr>
          <a:lstStyle/>
          <a:p>
            <a:pPr marL="12700" marR="5080">
              <a:lnSpc>
                <a:spcPct val="143300"/>
              </a:lnSpc>
              <a:spcBef>
                <a:spcPts val="95"/>
              </a:spcBef>
            </a:pPr>
            <a:r>
              <a:rPr sz="2250" dirty="0">
                <a:solidFill>
                  <a:srgbClr val="04182D"/>
                </a:solidFill>
                <a:latin typeface="Courier New"/>
                <a:cs typeface="Courier New"/>
              </a:rPr>
              <a:t>plt.ylabel(</a:t>
            </a:r>
            <a:r>
              <a:rPr sz="2250" dirty="0">
                <a:solidFill>
                  <a:srgbClr val="BE2F72"/>
                </a:solidFill>
                <a:latin typeface="Courier New"/>
                <a:cs typeface="Courier New"/>
              </a:rPr>
              <a:t>"Blood</a:t>
            </a:r>
            <a:r>
              <a:rPr sz="2250" spc="-15" dirty="0">
                <a:solidFill>
                  <a:srgbClr val="BE2F72"/>
                </a:solidFill>
                <a:latin typeface="Courier New"/>
                <a:cs typeface="Courier New"/>
              </a:rPr>
              <a:t> </a:t>
            </a:r>
            <a:r>
              <a:rPr sz="2250" dirty="0">
                <a:solidFill>
                  <a:srgbClr val="BE2F72"/>
                </a:solidFill>
                <a:latin typeface="Courier New"/>
                <a:cs typeface="Courier New"/>
              </a:rPr>
              <a:t>Glucose </a:t>
            </a:r>
            <a:r>
              <a:rPr sz="2250" spc="-10" dirty="0">
                <a:solidFill>
                  <a:srgbClr val="BE2F72"/>
                </a:solidFill>
                <a:latin typeface="Courier New"/>
                <a:cs typeface="Courier New"/>
              </a:rPr>
              <a:t>(mg/dl)"</a:t>
            </a:r>
            <a:r>
              <a:rPr sz="2250" spc="-10" dirty="0">
                <a:solidFill>
                  <a:srgbClr val="04182D"/>
                </a:solidFill>
                <a:latin typeface="Courier New"/>
                <a:cs typeface="Courier New"/>
              </a:rPr>
              <a:t>) </a:t>
            </a:r>
            <a:r>
              <a:rPr sz="2250" dirty="0">
                <a:solidFill>
                  <a:srgbClr val="04182D"/>
                </a:solidFill>
                <a:latin typeface="Courier New"/>
                <a:cs typeface="Courier New"/>
              </a:rPr>
              <a:t>plt.xlabel(</a:t>
            </a:r>
            <a:r>
              <a:rPr sz="2250" dirty="0">
                <a:solidFill>
                  <a:srgbClr val="BE2F72"/>
                </a:solidFill>
                <a:latin typeface="Courier New"/>
                <a:cs typeface="Courier New"/>
              </a:rPr>
              <a:t>"Body</a:t>
            </a:r>
            <a:r>
              <a:rPr sz="2250" spc="-15" dirty="0">
                <a:solidFill>
                  <a:srgbClr val="BE2F72"/>
                </a:solidFill>
                <a:latin typeface="Courier New"/>
                <a:cs typeface="Courier New"/>
              </a:rPr>
              <a:t> </a:t>
            </a:r>
            <a:r>
              <a:rPr sz="2250" dirty="0">
                <a:solidFill>
                  <a:srgbClr val="BE2F72"/>
                </a:solidFill>
                <a:latin typeface="Courier New"/>
                <a:cs typeface="Courier New"/>
              </a:rPr>
              <a:t>Mass </a:t>
            </a:r>
            <a:r>
              <a:rPr sz="2250" spc="-10" dirty="0">
                <a:solidFill>
                  <a:srgbClr val="BE2F72"/>
                </a:solidFill>
                <a:latin typeface="Courier New"/>
                <a:cs typeface="Courier New"/>
              </a:rPr>
              <a:t>Index"</a:t>
            </a:r>
            <a:r>
              <a:rPr sz="2250" spc="-10" dirty="0">
                <a:solidFill>
                  <a:srgbClr val="04182D"/>
                </a:solidFill>
                <a:latin typeface="Courier New"/>
                <a:cs typeface="Courier New"/>
              </a:rPr>
              <a:t>) plt.show()</a:t>
            </a:r>
            <a:endParaRPr sz="2250">
              <a:latin typeface="Courier New"/>
              <a:cs typeface="Courier New"/>
            </a:endParaRPr>
          </a:p>
        </p:txBody>
      </p:sp>
      <p:sp>
        <p:nvSpPr>
          <p:cNvPr id="12" name="슬라이드 번호 개체 틀 11">
            <a:extLst>
              <a:ext uri="{FF2B5EF4-FFF2-40B4-BE49-F238E27FC236}">
                <a16:creationId xmlns:a16="http://schemas.microsoft.com/office/drawing/2014/main" id="{67B2590E-F988-D9D2-AD31-70CF940D6458}"/>
              </a:ext>
            </a:extLst>
          </p:cNvPr>
          <p:cNvSpPr>
            <a:spLocks noGrp="1"/>
          </p:cNvSpPr>
          <p:nvPr>
            <p:ph type="sldNum" sz="quarter" idx="7"/>
          </p:nvPr>
        </p:nvSpPr>
        <p:spPr/>
        <p:txBody>
          <a:bodyPr/>
          <a:lstStyle/>
          <a:p>
            <a:fld id="{B6F15528-21DE-4FAA-801E-634DDDAF4B2B}" type="slidenum">
              <a:rPr lang="en-US" altLang="ko-KR" smtClean="0"/>
              <a:t>7</a:t>
            </a:fld>
            <a:endParaRPr lang="en-US" altLang="ko-K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8589" y="273885"/>
            <a:ext cx="6875145" cy="713740"/>
          </a:xfrm>
          <a:prstGeom prst="rect">
            <a:avLst/>
          </a:prstGeom>
        </p:spPr>
        <p:txBody>
          <a:bodyPr vert="horz" wrap="square" lIns="0" tIns="13970" rIns="0" bIns="0" rtlCol="0">
            <a:spAutoFit/>
          </a:bodyPr>
          <a:lstStyle/>
          <a:p>
            <a:pPr marL="12700">
              <a:lnSpc>
                <a:spcPct val="100000"/>
              </a:lnSpc>
              <a:spcBef>
                <a:spcPts val="110"/>
              </a:spcBef>
            </a:pPr>
            <a:r>
              <a:rPr spc="-225" dirty="0"/>
              <a:t>Fitting</a:t>
            </a:r>
            <a:r>
              <a:rPr spc="-125" dirty="0"/>
              <a:t> </a:t>
            </a:r>
            <a:r>
              <a:rPr spc="50" dirty="0"/>
              <a:t>a</a:t>
            </a:r>
            <a:r>
              <a:rPr spc="-125" dirty="0"/>
              <a:t> </a:t>
            </a:r>
            <a:r>
              <a:rPr spc="-254" dirty="0"/>
              <a:t>regression</a:t>
            </a:r>
            <a:r>
              <a:rPr spc="-120" dirty="0"/>
              <a:t> </a:t>
            </a:r>
            <a:r>
              <a:rPr spc="-140" dirty="0"/>
              <a:t>model</a:t>
            </a:r>
          </a:p>
        </p:txBody>
      </p:sp>
      <p:pic>
        <p:nvPicPr>
          <p:cNvPr id="3" name="object 3"/>
          <p:cNvPicPr/>
          <p:nvPr/>
        </p:nvPicPr>
        <p:blipFill>
          <a:blip r:embed="rId2" cstate="print"/>
          <a:stretch>
            <a:fillRect/>
          </a:stretch>
        </p:blipFill>
        <p:spPr>
          <a:xfrm>
            <a:off x="3194843" y="1336060"/>
            <a:ext cx="9143685" cy="6092915"/>
          </a:xfrm>
          <a:prstGeom prst="rect">
            <a:avLst/>
          </a:prstGeom>
        </p:spPr>
      </p:pic>
      <p:sp>
        <p:nvSpPr>
          <p:cNvPr id="7" name="슬라이드 번호 개체 틀 6">
            <a:extLst>
              <a:ext uri="{FF2B5EF4-FFF2-40B4-BE49-F238E27FC236}">
                <a16:creationId xmlns:a16="http://schemas.microsoft.com/office/drawing/2014/main" id="{3D681CDC-A70B-9407-4B9B-F5B193DEA796}"/>
              </a:ext>
            </a:extLst>
          </p:cNvPr>
          <p:cNvSpPr>
            <a:spLocks noGrp="1"/>
          </p:cNvSpPr>
          <p:nvPr>
            <p:ph type="sldNum" sz="quarter" idx="7"/>
          </p:nvPr>
        </p:nvSpPr>
        <p:spPr/>
        <p:txBody>
          <a:bodyPr/>
          <a:lstStyle/>
          <a:p>
            <a:fld id="{B6F15528-21DE-4FAA-801E-634DDDAF4B2B}" type="slidenum">
              <a:rPr lang="en-US" altLang="ko-KR" smtClean="0"/>
              <a:t>8</a:t>
            </a:fld>
            <a:endParaRPr lang="en-US" altLang="ko-K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body" idx="1"/>
          </p:nvPr>
        </p:nvSpPr>
        <p:spPr>
          <a:prstGeom prst="rect">
            <a:avLst/>
          </a:prstGeom>
        </p:spPr>
        <p:txBody>
          <a:bodyPr vert="horz" wrap="square" lIns="0" tIns="143510" rIns="0" bIns="0" rtlCol="0">
            <a:spAutoFit/>
          </a:bodyPr>
          <a:lstStyle/>
          <a:p>
            <a:pPr marL="212725" marR="142875" algn="ctr">
              <a:lnSpc>
                <a:spcPts val="6770"/>
              </a:lnSpc>
              <a:spcBef>
                <a:spcPts val="1130"/>
              </a:spcBef>
            </a:pPr>
            <a:r>
              <a:rPr spc="-340" dirty="0"/>
              <a:t>The</a:t>
            </a:r>
            <a:r>
              <a:rPr spc="-325" dirty="0"/>
              <a:t> </a:t>
            </a:r>
            <a:r>
              <a:rPr spc="-260" dirty="0"/>
              <a:t>basics</a:t>
            </a:r>
            <a:r>
              <a:rPr spc="-325" dirty="0"/>
              <a:t> </a:t>
            </a:r>
            <a:r>
              <a:rPr spc="-200" dirty="0"/>
              <a:t>of</a:t>
            </a:r>
            <a:r>
              <a:rPr spc="-325" dirty="0"/>
              <a:t> </a:t>
            </a:r>
            <a:r>
              <a:rPr spc="-345" dirty="0"/>
              <a:t>linear </a:t>
            </a:r>
            <a:r>
              <a:rPr spc="-415" dirty="0"/>
              <a:t>regression</a:t>
            </a:r>
          </a:p>
          <a:p>
            <a:pPr algn="ctr">
              <a:lnSpc>
                <a:spcPct val="100000"/>
              </a:lnSpc>
              <a:spcBef>
                <a:spcPts val="910"/>
              </a:spcBef>
              <a:tabLst>
                <a:tab pos="2252345" algn="l"/>
                <a:tab pos="4152900" algn="l"/>
                <a:tab pos="5172710" algn="l"/>
              </a:tabLst>
            </a:pPr>
            <a:r>
              <a:rPr sz="2250" spc="-150" dirty="0"/>
              <a:t>S</a:t>
            </a:r>
            <a:r>
              <a:rPr sz="2250" spc="-335" dirty="0"/>
              <a:t> </a:t>
            </a:r>
            <a:r>
              <a:rPr sz="2250" spc="-125" dirty="0"/>
              <a:t>U</a:t>
            </a:r>
            <a:r>
              <a:rPr sz="2250" spc="-330" dirty="0"/>
              <a:t> </a:t>
            </a:r>
            <a:r>
              <a:rPr sz="2250" spc="-95" dirty="0"/>
              <a:t>P</a:t>
            </a:r>
            <a:r>
              <a:rPr sz="2250" spc="-330" dirty="0"/>
              <a:t> </a:t>
            </a:r>
            <a:r>
              <a:rPr sz="2250" dirty="0"/>
              <a:t>E</a:t>
            </a:r>
            <a:r>
              <a:rPr sz="2250" spc="-330" dirty="0"/>
              <a:t> </a:t>
            </a:r>
            <a:r>
              <a:rPr sz="2250" spc="-254" dirty="0"/>
              <a:t>R</a:t>
            </a:r>
            <a:r>
              <a:rPr sz="2250" spc="-335" dirty="0"/>
              <a:t> </a:t>
            </a:r>
            <a:r>
              <a:rPr sz="2250" spc="-55" dirty="0"/>
              <a:t>V</a:t>
            </a:r>
            <a:r>
              <a:rPr sz="2250" spc="-330" dirty="0"/>
              <a:t> </a:t>
            </a:r>
            <a:r>
              <a:rPr sz="2250" spc="-470" dirty="0"/>
              <a:t>I</a:t>
            </a:r>
            <a:r>
              <a:rPr sz="2250" spc="-330" dirty="0"/>
              <a:t> </a:t>
            </a:r>
            <a:r>
              <a:rPr sz="2250" spc="-150" dirty="0"/>
              <a:t>S</a:t>
            </a:r>
            <a:r>
              <a:rPr sz="2250" spc="-330" dirty="0"/>
              <a:t> </a:t>
            </a:r>
            <a:r>
              <a:rPr sz="2250" dirty="0"/>
              <a:t>E</a:t>
            </a:r>
            <a:r>
              <a:rPr sz="2250" spc="-335" dirty="0"/>
              <a:t> </a:t>
            </a:r>
            <a:r>
              <a:rPr sz="2250" spc="-50" dirty="0"/>
              <a:t>D</a:t>
            </a:r>
            <a:r>
              <a:rPr sz="2250" dirty="0"/>
              <a:t>	</a:t>
            </a:r>
            <a:r>
              <a:rPr sz="2250" spc="-100" dirty="0"/>
              <a:t>L</a:t>
            </a:r>
            <a:r>
              <a:rPr sz="2250" spc="-335" dirty="0"/>
              <a:t> </a:t>
            </a:r>
            <a:r>
              <a:rPr sz="2250" dirty="0"/>
              <a:t>E</a:t>
            </a:r>
            <a:r>
              <a:rPr sz="2250" spc="-330" dirty="0"/>
              <a:t> </a:t>
            </a:r>
            <a:r>
              <a:rPr sz="2250" spc="60" dirty="0"/>
              <a:t>A</a:t>
            </a:r>
            <a:r>
              <a:rPr sz="2250" spc="-335" dirty="0"/>
              <a:t> </a:t>
            </a:r>
            <a:r>
              <a:rPr sz="2250" spc="-254" dirty="0"/>
              <a:t>R</a:t>
            </a:r>
            <a:r>
              <a:rPr sz="2250" spc="-330" dirty="0"/>
              <a:t> </a:t>
            </a:r>
            <a:r>
              <a:rPr sz="2250" spc="-60" dirty="0"/>
              <a:t>N</a:t>
            </a:r>
            <a:r>
              <a:rPr sz="2250" spc="-335" dirty="0"/>
              <a:t> </a:t>
            </a:r>
            <a:r>
              <a:rPr sz="2250" spc="-470" dirty="0"/>
              <a:t>I</a:t>
            </a:r>
            <a:r>
              <a:rPr sz="2250" spc="-330" dirty="0"/>
              <a:t> </a:t>
            </a:r>
            <a:r>
              <a:rPr sz="2250" spc="-60" dirty="0"/>
              <a:t>N</a:t>
            </a:r>
            <a:r>
              <a:rPr sz="2250" spc="-335" dirty="0"/>
              <a:t> </a:t>
            </a:r>
            <a:r>
              <a:rPr sz="2250" spc="30" dirty="0"/>
              <a:t>G</a:t>
            </a:r>
            <a:r>
              <a:rPr sz="2250" dirty="0"/>
              <a:t>	</a:t>
            </a:r>
            <a:r>
              <a:rPr sz="2250" spc="-170" dirty="0"/>
              <a:t>W</a:t>
            </a:r>
            <a:r>
              <a:rPr sz="2250" spc="-335" dirty="0"/>
              <a:t> </a:t>
            </a:r>
            <a:r>
              <a:rPr sz="2250" spc="-470" dirty="0"/>
              <a:t>I</a:t>
            </a:r>
            <a:r>
              <a:rPr sz="2250" spc="-335" dirty="0"/>
              <a:t> </a:t>
            </a:r>
            <a:r>
              <a:rPr sz="2250" spc="-90" dirty="0"/>
              <a:t>T</a:t>
            </a:r>
            <a:r>
              <a:rPr sz="2250" spc="-335" dirty="0"/>
              <a:t> </a:t>
            </a:r>
            <a:r>
              <a:rPr sz="2250" spc="-50" dirty="0"/>
              <a:t>H</a:t>
            </a:r>
            <a:r>
              <a:rPr sz="2250" dirty="0"/>
              <a:t>	</a:t>
            </a:r>
            <a:r>
              <a:rPr sz="2250" spc="-150" dirty="0"/>
              <a:t>S</a:t>
            </a:r>
            <a:r>
              <a:rPr sz="2250" spc="-335" dirty="0"/>
              <a:t> </a:t>
            </a:r>
            <a:r>
              <a:rPr sz="2250" spc="210" dirty="0"/>
              <a:t>C</a:t>
            </a:r>
            <a:r>
              <a:rPr sz="2250" spc="-335" dirty="0"/>
              <a:t> </a:t>
            </a:r>
            <a:r>
              <a:rPr sz="2250" spc="-470" dirty="0"/>
              <a:t>I</a:t>
            </a:r>
            <a:r>
              <a:rPr sz="2250" spc="-335" dirty="0"/>
              <a:t> </a:t>
            </a:r>
            <a:r>
              <a:rPr sz="2250" dirty="0"/>
              <a:t>K</a:t>
            </a:r>
            <a:r>
              <a:rPr sz="2250" spc="-335" dirty="0"/>
              <a:t> </a:t>
            </a:r>
            <a:r>
              <a:rPr sz="2250" spc="-470" dirty="0"/>
              <a:t>I</a:t>
            </a:r>
            <a:r>
              <a:rPr sz="2250" spc="-335" dirty="0"/>
              <a:t> </a:t>
            </a:r>
            <a:r>
              <a:rPr sz="2250" spc="-35" dirty="0"/>
              <a:t>T-</a:t>
            </a:r>
            <a:r>
              <a:rPr sz="2250" spc="-330" dirty="0"/>
              <a:t> </a:t>
            </a:r>
            <a:r>
              <a:rPr sz="2250" spc="-100" dirty="0"/>
              <a:t>L</a:t>
            </a:r>
            <a:r>
              <a:rPr sz="2250" spc="-335" dirty="0"/>
              <a:t> </a:t>
            </a:r>
            <a:r>
              <a:rPr sz="2250" dirty="0"/>
              <a:t>E</a:t>
            </a:r>
            <a:r>
              <a:rPr sz="2250" spc="-335" dirty="0"/>
              <a:t> </a:t>
            </a:r>
            <a:r>
              <a:rPr sz="2250" spc="60" dirty="0"/>
              <a:t>A</a:t>
            </a:r>
            <a:r>
              <a:rPr sz="2250" spc="-335" dirty="0"/>
              <a:t> </a:t>
            </a:r>
            <a:r>
              <a:rPr sz="2250" spc="-254" dirty="0"/>
              <a:t>R</a:t>
            </a:r>
            <a:r>
              <a:rPr sz="2250" spc="-335" dirty="0"/>
              <a:t> </a:t>
            </a:r>
            <a:r>
              <a:rPr sz="2250" spc="-50" dirty="0"/>
              <a:t>N</a:t>
            </a:r>
            <a:endParaRPr sz="2250"/>
          </a:p>
        </p:txBody>
      </p:sp>
      <p:sp>
        <p:nvSpPr>
          <p:cNvPr id="7" name="object 7"/>
          <p:cNvSpPr txBox="1"/>
          <p:nvPr/>
        </p:nvSpPr>
        <p:spPr>
          <a:xfrm>
            <a:off x="314826" y="6185728"/>
            <a:ext cx="5164455" cy="885190"/>
          </a:xfrm>
          <a:prstGeom prst="rect">
            <a:avLst/>
          </a:prstGeom>
        </p:spPr>
        <p:txBody>
          <a:bodyPr vert="horz" wrap="square" lIns="0" tIns="81915" rIns="0" bIns="0" rtlCol="0">
            <a:spAutoFit/>
          </a:bodyPr>
          <a:lstStyle/>
          <a:p>
            <a:pPr marL="12700">
              <a:lnSpc>
                <a:spcPct val="100000"/>
              </a:lnSpc>
              <a:spcBef>
                <a:spcPts val="645"/>
              </a:spcBef>
            </a:pPr>
            <a:r>
              <a:rPr sz="2550" b="1" dirty="0">
                <a:solidFill>
                  <a:srgbClr val="FFFFFF"/>
                </a:solidFill>
                <a:latin typeface="Tahoma"/>
                <a:cs typeface="Tahoma"/>
              </a:rPr>
              <a:t>George</a:t>
            </a:r>
            <a:r>
              <a:rPr sz="2550" b="1" spc="-180" dirty="0">
                <a:solidFill>
                  <a:srgbClr val="FFFFFF"/>
                </a:solidFill>
                <a:latin typeface="Tahoma"/>
                <a:cs typeface="Tahoma"/>
              </a:rPr>
              <a:t> </a:t>
            </a:r>
            <a:r>
              <a:rPr sz="2550" b="1" spc="-10" dirty="0">
                <a:solidFill>
                  <a:srgbClr val="FFFFFF"/>
                </a:solidFill>
                <a:latin typeface="Tahoma"/>
                <a:cs typeface="Tahoma"/>
              </a:rPr>
              <a:t>Boorman</a:t>
            </a:r>
            <a:endParaRPr sz="2550">
              <a:latin typeface="Tahoma"/>
              <a:cs typeface="Tahoma"/>
            </a:endParaRPr>
          </a:p>
          <a:p>
            <a:pPr marL="12700">
              <a:lnSpc>
                <a:spcPct val="100000"/>
              </a:lnSpc>
              <a:spcBef>
                <a:spcPts val="459"/>
              </a:spcBef>
            </a:pPr>
            <a:r>
              <a:rPr sz="2250" spc="125" dirty="0">
                <a:solidFill>
                  <a:srgbClr val="FFFFFF"/>
                </a:solidFill>
                <a:latin typeface="Tahoma"/>
                <a:cs typeface="Tahoma"/>
              </a:rPr>
              <a:t>Core</a:t>
            </a:r>
            <a:r>
              <a:rPr sz="2250" spc="-25" dirty="0">
                <a:solidFill>
                  <a:srgbClr val="FFFFFF"/>
                </a:solidFill>
                <a:latin typeface="Tahoma"/>
                <a:cs typeface="Tahoma"/>
              </a:rPr>
              <a:t> </a:t>
            </a:r>
            <a:r>
              <a:rPr sz="2250" spc="90" dirty="0">
                <a:solidFill>
                  <a:srgbClr val="FFFFFF"/>
                </a:solidFill>
                <a:latin typeface="Tahoma"/>
                <a:cs typeface="Tahoma"/>
              </a:rPr>
              <a:t>Curriculum</a:t>
            </a:r>
            <a:r>
              <a:rPr sz="2250" spc="-25" dirty="0">
                <a:solidFill>
                  <a:srgbClr val="FFFFFF"/>
                </a:solidFill>
                <a:latin typeface="Tahoma"/>
                <a:cs typeface="Tahoma"/>
              </a:rPr>
              <a:t> </a:t>
            </a:r>
            <a:r>
              <a:rPr sz="2250" spc="85" dirty="0">
                <a:solidFill>
                  <a:srgbClr val="FFFFFF"/>
                </a:solidFill>
                <a:latin typeface="Tahoma"/>
                <a:cs typeface="Tahoma"/>
              </a:rPr>
              <a:t>Manager,</a:t>
            </a:r>
            <a:r>
              <a:rPr sz="2250" spc="-25" dirty="0">
                <a:solidFill>
                  <a:srgbClr val="FFFFFF"/>
                </a:solidFill>
                <a:latin typeface="Tahoma"/>
                <a:cs typeface="Tahoma"/>
              </a:rPr>
              <a:t> </a:t>
            </a:r>
            <a:r>
              <a:rPr sz="2250" spc="160" dirty="0">
                <a:solidFill>
                  <a:srgbClr val="FFFFFF"/>
                </a:solidFill>
                <a:latin typeface="Tahoma"/>
                <a:cs typeface="Tahoma"/>
              </a:rPr>
              <a:t>DataCamp</a:t>
            </a:r>
            <a:endParaRPr sz="2250">
              <a:latin typeface="Tahoma"/>
              <a:cs typeface="Tahoma"/>
            </a:endParaRPr>
          </a:p>
        </p:txBody>
      </p:sp>
      <p:sp>
        <p:nvSpPr>
          <p:cNvPr id="10" name="슬라이드 번호 개체 틀 9">
            <a:extLst>
              <a:ext uri="{FF2B5EF4-FFF2-40B4-BE49-F238E27FC236}">
                <a16:creationId xmlns:a16="http://schemas.microsoft.com/office/drawing/2014/main" id="{5C62B2C0-8AEC-A3E0-659D-BF7C23763218}"/>
              </a:ext>
            </a:extLst>
          </p:cNvPr>
          <p:cNvSpPr>
            <a:spLocks noGrp="1"/>
          </p:cNvSpPr>
          <p:nvPr>
            <p:ph type="sldNum" sz="quarter" idx="7"/>
          </p:nvPr>
        </p:nvSpPr>
        <p:spPr/>
        <p:txBody>
          <a:bodyPr/>
          <a:lstStyle/>
          <a:p>
            <a:fld id="{B6F15528-21DE-4FAA-801E-634DDDAF4B2B}" type="slidenum">
              <a:rPr lang="en-US" altLang="ko-KR" smtClean="0"/>
              <a:t>9</a:t>
            </a:fld>
            <a:endParaRPr lang="en-US" altLang="ko-K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290" dirty="0"/>
              <a:t>Regression</a:t>
            </a:r>
            <a:r>
              <a:rPr spc="-135" dirty="0"/>
              <a:t> </a:t>
            </a:r>
            <a:r>
              <a:rPr spc="-130" dirty="0"/>
              <a:t>mechanics</a:t>
            </a:r>
          </a:p>
        </p:txBody>
      </p:sp>
      <p:pic>
        <p:nvPicPr>
          <p:cNvPr id="3" name="object 3"/>
          <p:cNvPicPr/>
          <p:nvPr/>
        </p:nvPicPr>
        <p:blipFill>
          <a:blip r:embed="rId2" cstate="print"/>
          <a:stretch>
            <a:fillRect/>
          </a:stretch>
        </p:blipFill>
        <p:spPr>
          <a:xfrm>
            <a:off x="511759" y="1351045"/>
            <a:ext cx="102352" cy="102351"/>
          </a:xfrm>
          <a:prstGeom prst="rect">
            <a:avLst/>
          </a:prstGeom>
        </p:spPr>
      </p:pic>
      <p:pic>
        <p:nvPicPr>
          <p:cNvPr id="4" name="object 4"/>
          <p:cNvPicPr/>
          <p:nvPr/>
        </p:nvPicPr>
        <p:blipFill>
          <a:blip r:embed="rId3" cstate="print"/>
          <a:stretch>
            <a:fillRect/>
          </a:stretch>
        </p:blipFill>
        <p:spPr>
          <a:xfrm>
            <a:off x="869991" y="1832100"/>
            <a:ext cx="122822" cy="122822"/>
          </a:xfrm>
          <a:prstGeom prst="rect">
            <a:avLst/>
          </a:prstGeom>
        </p:spPr>
      </p:pic>
      <p:sp>
        <p:nvSpPr>
          <p:cNvPr id="5" name="object 5"/>
          <p:cNvSpPr/>
          <p:nvPr/>
        </p:nvSpPr>
        <p:spPr>
          <a:xfrm>
            <a:off x="1248693" y="2333624"/>
            <a:ext cx="102870" cy="102870"/>
          </a:xfrm>
          <a:custGeom>
            <a:avLst/>
            <a:gdLst/>
            <a:ahLst/>
            <a:cxnLst/>
            <a:rect l="l" t="t" r="r" b="b"/>
            <a:pathLst>
              <a:path w="102869" h="102869">
                <a:moveTo>
                  <a:pt x="102351" y="102351"/>
                </a:moveTo>
                <a:lnTo>
                  <a:pt x="0" y="102351"/>
                </a:lnTo>
                <a:lnTo>
                  <a:pt x="0" y="0"/>
                </a:lnTo>
                <a:lnTo>
                  <a:pt x="102351" y="0"/>
                </a:lnTo>
                <a:lnTo>
                  <a:pt x="102351" y="102351"/>
                </a:lnTo>
                <a:close/>
              </a:path>
            </a:pathLst>
          </a:custGeom>
          <a:solidFill>
            <a:srgbClr val="04182D"/>
          </a:solidFill>
        </p:spPr>
        <p:txBody>
          <a:bodyPr wrap="square" lIns="0" tIns="0" rIns="0" bIns="0" rtlCol="0"/>
          <a:lstStyle/>
          <a:p>
            <a:endParaRPr/>
          </a:p>
        </p:txBody>
      </p:sp>
      <p:sp>
        <p:nvSpPr>
          <p:cNvPr id="6" name="object 6"/>
          <p:cNvSpPr/>
          <p:nvPr/>
        </p:nvSpPr>
        <p:spPr>
          <a:xfrm>
            <a:off x="1248693" y="2988677"/>
            <a:ext cx="102870" cy="102870"/>
          </a:xfrm>
          <a:custGeom>
            <a:avLst/>
            <a:gdLst/>
            <a:ahLst/>
            <a:cxnLst/>
            <a:rect l="l" t="t" r="r" b="b"/>
            <a:pathLst>
              <a:path w="102869" h="102869">
                <a:moveTo>
                  <a:pt x="102351" y="102351"/>
                </a:moveTo>
                <a:lnTo>
                  <a:pt x="0" y="102351"/>
                </a:lnTo>
                <a:lnTo>
                  <a:pt x="0" y="0"/>
                </a:lnTo>
                <a:lnTo>
                  <a:pt x="102351" y="0"/>
                </a:lnTo>
                <a:lnTo>
                  <a:pt x="102351" y="102351"/>
                </a:lnTo>
                <a:close/>
              </a:path>
            </a:pathLst>
          </a:custGeom>
          <a:solidFill>
            <a:srgbClr val="04182D"/>
          </a:solidFill>
        </p:spPr>
        <p:txBody>
          <a:bodyPr wrap="square" lIns="0" tIns="0" rIns="0" bIns="0" rtlCol="0"/>
          <a:lstStyle/>
          <a:p>
            <a:endParaRPr/>
          </a:p>
        </p:txBody>
      </p:sp>
      <p:sp>
        <p:nvSpPr>
          <p:cNvPr id="7" name="object 7"/>
          <p:cNvSpPr/>
          <p:nvPr/>
        </p:nvSpPr>
        <p:spPr>
          <a:xfrm>
            <a:off x="1248693" y="3643729"/>
            <a:ext cx="102870" cy="102870"/>
          </a:xfrm>
          <a:custGeom>
            <a:avLst/>
            <a:gdLst/>
            <a:ahLst/>
            <a:cxnLst/>
            <a:rect l="l" t="t" r="r" b="b"/>
            <a:pathLst>
              <a:path w="102869" h="102870">
                <a:moveTo>
                  <a:pt x="102351" y="102351"/>
                </a:moveTo>
                <a:lnTo>
                  <a:pt x="0" y="102351"/>
                </a:lnTo>
                <a:lnTo>
                  <a:pt x="0" y="0"/>
                </a:lnTo>
                <a:lnTo>
                  <a:pt x="102351" y="0"/>
                </a:lnTo>
                <a:lnTo>
                  <a:pt x="102351" y="102351"/>
                </a:lnTo>
                <a:close/>
              </a:path>
            </a:pathLst>
          </a:custGeom>
          <a:solidFill>
            <a:srgbClr val="04182D"/>
          </a:solidFill>
        </p:spPr>
        <p:txBody>
          <a:bodyPr wrap="square" lIns="0" tIns="0" rIns="0" bIns="0" rtlCol="0"/>
          <a:lstStyle/>
          <a:p>
            <a:endParaRPr/>
          </a:p>
        </p:txBody>
      </p:sp>
      <p:pic>
        <p:nvPicPr>
          <p:cNvPr id="8" name="object 8"/>
          <p:cNvPicPr/>
          <p:nvPr/>
        </p:nvPicPr>
        <p:blipFill>
          <a:blip r:embed="rId2" cstate="print"/>
          <a:stretch>
            <a:fillRect/>
          </a:stretch>
        </p:blipFill>
        <p:spPr>
          <a:xfrm>
            <a:off x="511759" y="4298782"/>
            <a:ext cx="102352" cy="102351"/>
          </a:xfrm>
          <a:prstGeom prst="rect">
            <a:avLst/>
          </a:prstGeom>
        </p:spPr>
      </p:pic>
      <p:pic>
        <p:nvPicPr>
          <p:cNvPr id="9" name="object 9"/>
          <p:cNvPicPr/>
          <p:nvPr/>
        </p:nvPicPr>
        <p:blipFill>
          <a:blip r:embed="rId4" cstate="print"/>
          <a:stretch>
            <a:fillRect/>
          </a:stretch>
        </p:blipFill>
        <p:spPr>
          <a:xfrm>
            <a:off x="869991" y="4779836"/>
            <a:ext cx="122822" cy="122822"/>
          </a:xfrm>
          <a:prstGeom prst="rect">
            <a:avLst/>
          </a:prstGeom>
        </p:spPr>
      </p:pic>
      <p:pic>
        <p:nvPicPr>
          <p:cNvPr id="10" name="object 10"/>
          <p:cNvPicPr/>
          <p:nvPr/>
        </p:nvPicPr>
        <p:blipFill>
          <a:blip r:embed="rId5" cstate="print"/>
          <a:stretch>
            <a:fillRect/>
          </a:stretch>
        </p:blipFill>
        <p:spPr>
          <a:xfrm>
            <a:off x="869991" y="5434889"/>
            <a:ext cx="122822" cy="122822"/>
          </a:xfrm>
          <a:prstGeom prst="rect">
            <a:avLst/>
          </a:prstGeom>
        </p:spPr>
      </p:pic>
      <p:sp>
        <p:nvSpPr>
          <p:cNvPr id="11" name="object 11"/>
          <p:cNvSpPr txBox="1"/>
          <p:nvPr/>
        </p:nvSpPr>
        <p:spPr>
          <a:xfrm>
            <a:off x="847056" y="1003555"/>
            <a:ext cx="10112375" cy="5339080"/>
          </a:xfrm>
          <a:prstGeom prst="rect">
            <a:avLst/>
          </a:prstGeom>
        </p:spPr>
        <p:txBody>
          <a:bodyPr vert="horz" wrap="square" lIns="0" tIns="117475" rIns="0" bIns="0" rtlCol="0">
            <a:spAutoFit/>
          </a:bodyPr>
          <a:lstStyle/>
          <a:p>
            <a:pPr marL="12700">
              <a:lnSpc>
                <a:spcPct val="100000"/>
              </a:lnSpc>
              <a:spcBef>
                <a:spcPts val="925"/>
              </a:spcBef>
            </a:pPr>
            <a:r>
              <a:rPr sz="3100" i="1" dirty="0">
                <a:solidFill>
                  <a:srgbClr val="04182D"/>
                </a:solidFill>
                <a:latin typeface="Arial"/>
                <a:cs typeface="Arial"/>
              </a:rPr>
              <a:t>y</a:t>
            </a:r>
            <a:r>
              <a:rPr sz="3100" i="1" spc="75" dirty="0">
                <a:solidFill>
                  <a:srgbClr val="04182D"/>
                </a:solidFill>
                <a:latin typeface="Arial"/>
                <a:cs typeface="Arial"/>
              </a:rPr>
              <a:t> </a:t>
            </a:r>
            <a:r>
              <a:rPr sz="3100" dirty="0">
                <a:solidFill>
                  <a:srgbClr val="04182D"/>
                </a:solidFill>
                <a:latin typeface="Lucida Sans Unicode"/>
                <a:cs typeface="Lucida Sans Unicode"/>
              </a:rPr>
              <a:t>=</a:t>
            </a:r>
            <a:r>
              <a:rPr sz="3100" spc="-140" dirty="0">
                <a:solidFill>
                  <a:srgbClr val="04182D"/>
                </a:solidFill>
                <a:latin typeface="Lucida Sans Unicode"/>
                <a:cs typeface="Lucida Sans Unicode"/>
              </a:rPr>
              <a:t> </a:t>
            </a:r>
            <a:r>
              <a:rPr sz="3100" i="1" spc="70" dirty="0">
                <a:solidFill>
                  <a:srgbClr val="04182D"/>
                </a:solidFill>
                <a:latin typeface="Arial"/>
                <a:cs typeface="Arial"/>
              </a:rPr>
              <a:t>ax</a:t>
            </a:r>
            <a:r>
              <a:rPr sz="3100" i="1" spc="-190" dirty="0">
                <a:solidFill>
                  <a:srgbClr val="04182D"/>
                </a:solidFill>
                <a:latin typeface="Arial"/>
                <a:cs typeface="Arial"/>
              </a:rPr>
              <a:t> </a:t>
            </a:r>
            <a:r>
              <a:rPr sz="3100" spc="-55" dirty="0">
                <a:solidFill>
                  <a:srgbClr val="04182D"/>
                </a:solidFill>
                <a:latin typeface="Lucida Sans Unicode"/>
                <a:cs typeface="Lucida Sans Unicode"/>
              </a:rPr>
              <a:t>+</a:t>
            </a:r>
            <a:r>
              <a:rPr sz="3100" spc="-295" dirty="0">
                <a:solidFill>
                  <a:srgbClr val="04182D"/>
                </a:solidFill>
                <a:latin typeface="Lucida Sans Unicode"/>
                <a:cs typeface="Lucida Sans Unicode"/>
              </a:rPr>
              <a:t> </a:t>
            </a:r>
            <a:r>
              <a:rPr sz="3100" i="1" spc="-450" dirty="0">
                <a:solidFill>
                  <a:srgbClr val="04182D"/>
                </a:solidFill>
                <a:latin typeface="Arial"/>
                <a:cs typeface="Arial"/>
              </a:rPr>
              <a:t>b</a:t>
            </a:r>
            <a:endParaRPr sz="3100">
              <a:latin typeface="Arial"/>
              <a:cs typeface="Arial"/>
            </a:endParaRPr>
          </a:p>
          <a:p>
            <a:pPr marL="381000">
              <a:lnSpc>
                <a:spcPct val="100000"/>
              </a:lnSpc>
              <a:spcBef>
                <a:spcPts val="700"/>
              </a:spcBef>
            </a:pPr>
            <a:r>
              <a:rPr sz="2550" spc="80" dirty="0">
                <a:solidFill>
                  <a:srgbClr val="04182D"/>
                </a:solidFill>
                <a:latin typeface="Tahoma"/>
                <a:cs typeface="Tahoma"/>
              </a:rPr>
              <a:t>Simple</a:t>
            </a:r>
            <a:r>
              <a:rPr sz="2550" spc="-45" dirty="0">
                <a:solidFill>
                  <a:srgbClr val="04182D"/>
                </a:solidFill>
                <a:latin typeface="Tahoma"/>
                <a:cs typeface="Tahoma"/>
              </a:rPr>
              <a:t> </a:t>
            </a:r>
            <a:r>
              <a:rPr sz="2550" spc="90" dirty="0">
                <a:solidFill>
                  <a:srgbClr val="04182D"/>
                </a:solidFill>
                <a:latin typeface="Tahoma"/>
                <a:cs typeface="Tahoma"/>
              </a:rPr>
              <a:t>linear</a:t>
            </a:r>
            <a:r>
              <a:rPr sz="2550" spc="-40" dirty="0">
                <a:solidFill>
                  <a:srgbClr val="04182D"/>
                </a:solidFill>
                <a:latin typeface="Tahoma"/>
                <a:cs typeface="Tahoma"/>
              </a:rPr>
              <a:t> </a:t>
            </a:r>
            <a:r>
              <a:rPr sz="2550" spc="70" dirty="0">
                <a:solidFill>
                  <a:srgbClr val="04182D"/>
                </a:solidFill>
                <a:latin typeface="Tahoma"/>
                <a:cs typeface="Tahoma"/>
              </a:rPr>
              <a:t>regression</a:t>
            </a:r>
            <a:r>
              <a:rPr sz="2550" spc="-40" dirty="0">
                <a:solidFill>
                  <a:srgbClr val="04182D"/>
                </a:solidFill>
                <a:latin typeface="Tahoma"/>
                <a:cs typeface="Tahoma"/>
              </a:rPr>
              <a:t> </a:t>
            </a:r>
            <a:r>
              <a:rPr sz="2550" spc="85" dirty="0">
                <a:solidFill>
                  <a:srgbClr val="04182D"/>
                </a:solidFill>
                <a:latin typeface="Tahoma"/>
                <a:cs typeface="Tahoma"/>
              </a:rPr>
              <a:t>uses</a:t>
            </a:r>
            <a:r>
              <a:rPr sz="2550" spc="-40" dirty="0">
                <a:solidFill>
                  <a:srgbClr val="04182D"/>
                </a:solidFill>
                <a:latin typeface="Tahoma"/>
                <a:cs typeface="Tahoma"/>
              </a:rPr>
              <a:t> </a:t>
            </a:r>
            <a:r>
              <a:rPr sz="2550" spc="100" dirty="0">
                <a:solidFill>
                  <a:srgbClr val="04182D"/>
                </a:solidFill>
                <a:latin typeface="Tahoma"/>
                <a:cs typeface="Tahoma"/>
              </a:rPr>
              <a:t>one</a:t>
            </a:r>
            <a:r>
              <a:rPr sz="2550" spc="-40" dirty="0">
                <a:solidFill>
                  <a:srgbClr val="04182D"/>
                </a:solidFill>
                <a:latin typeface="Tahoma"/>
                <a:cs typeface="Tahoma"/>
              </a:rPr>
              <a:t> </a:t>
            </a:r>
            <a:r>
              <a:rPr sz="2550" spc="85" dirty="0">
                <a:solidFill>
                  <a:srgbClr val="04182D"/>
                </a:solidFill>
                <a:latin typeface="Tahoma"/>
                <a:cs typeface="Tahoma"/>
              </a:rPr>
              <a:t>feature</a:t>
            </a:r>
            <a:endParaRPr sz="2550">
              <a:latin typeface="Tahoma"/>
              <a:cs typeface="Tahoma"/>
            </a:endParaRPr>
          </a:p>
          <a:p>
            <a:pPr marL="749300">
              <a:lnSpc>
                <a:spcPct val="100000"/>
              </a:lnSpc>
              <a:spcBef>
                <a:spcPts val="254"/>
              </a:spcBef>
            </a:pPr>
            <a:r>
              <a:rPr sz="3100" i="1" dirty="0">
                <a:solidFill>
                  <a:srgbClr val="04182D"/>
                </a:solidFill>
                <a:latin typeface="Arial"/>
                <a:cs typeface="Arial"/>
              </a:rPr>
              <a:t>y</a:t>
            </a:r>
            <a:r>
              <a:rPr sz="3100" i="1" spc="-30" dirty="0">
                <a:solidFill>
                  <a:srgbClr val="04182D"/>
                </a:solidFill>
                <a:latin typeface="Arial"/>
                <a:cs typeface="Arial"/>
              </a:rPr>
              <a:t> </a:t>
            </a:r>
            <a:r>
              <a:rPr sz="2550" spc="-390" dirty="0">
                <a:solidFill>
                  <a:srgbClr val="04182D"/>
                </a:solidFill>
                <a:latin typeface="Tahoma"/>
                <a:cs typeface="Tahoma"/>
              </a:rPr>
              <a:t>=</a:t>
            </a:r>
            <a:r>
              <a:rPr sz="2550" spc="-50" dirty="0">
                <a:solidFill>
                  <a:srgbClr val="04182D"/>
                </a:solidFill>
                <a:latin typeface="Tahoma"/>
                <a:cs typeface="Tahoma"/>
              </a:rPr>
              <a:t> </a:t>
            </a:r>
            <a:r>
              <a:rPr sz="2550" spc="85" dirty="0">
                <a:solidFill>
                  <a:srgbClr val="04182D"/>
                </a:solidFill>
                <a:latin typeface="Tahoma"/>
                <a:cs typeface="Tahoma"/>
              </a:rPr>
              <a:t>target</a:t>
            </a:r>
            <a:endParaRPr sz="2550">
              <a:latin typeface="Tahoma"/>
              <a:cs typeface="Tahoma"/>
            </a:endParaRPr>
          </a:p>
          <a:p>
            <a:pPr marL="749300">
              <a:lnSpc>
                <a:spcPct val="100000"/>
              </a:lnSpc>
              <a:spcBef>
                <a:spcPts val="1440"/>
              </a:spcBef>
            </a:pPr>
            <a:r>
              <a:rPr sz="3100" i="1" spc="229" dirty="0">
                <a:solidFill>
                  <a:srgbClr val="04182D"/>
                </a:solidFill>
                <a:latin typeface="Arial"/>
                <a:cs typeface="Arial"/>
              </a:rPr>
              <a:t>x</a:t>
            </a:r>
            <a:r>
              <a:rPr sz="3100" i="1" spc="-105" dirty="0">
                <a:solidFill>
                  <a:srgbClr val="04182D"/>
                </a:solidFill>
                <a:latin typeface="Arial"/>
                <a:cs typeface="Arial"/>
              </a:rPr>
              <a:t> </a:t>
            </a:r>
            <a:r>
              <a:rPr sz="2550" spc="-390" dirty="0">
                <a:solidFill>
                  <a:srgbClr val="04182D"/>
                </a:solidFill>
                <a:latin typeface="Tahoma"/>
                <a:cs typeface="Tahoma"/>
              </a:rPr>
              <a:t>=</a:t>
            </a:r>
            <a:r>
              <a:rPr sz="2550" spc="-40" dirty="0">
                <a:solidFill>
                  <a:srgbClr val="04182D"/>
                </a:solidFill>
                <a:latin typeface="Tahoma"/>
                <a:cs typeface="Tahoma"/>
              </a:rPr>
              <a:t> </a:t>
            </a:r>
            <a:r>
              <a:rPr sz="2550" spc="80" dirty="0">
                <a:solidFill>
                  <a:srgbClr val="04182D"/>
                </a:solidFill>
                <a:latin typeface="Tahoma"/>
                <a:cs typeface="Tahoma"/>
              </a:rPr>
              <a:t>single</a:t>
            </a:r>
            <a:r>
              <a:rPr sz="2550" spc="-40" dirty="0">
                <a:solidFill>
                  <a:srgbClr val="04182D"/>
                </a:solidFill>
                <a:latin typeface="Tahoma"/>
                <a:cs typeface="Tahoma"/>
              </a:rPr>
              <a:t> </a:t>
            </a:r>
            <a:r>
              <a:rPr sz="2550" spc="85" dirty="0">
                <a:solidFill>
                  <a:srgbClr val="04182D"/>
                </a:solidFill>
                <a:latin typeface="Tahoma"/>
                <a:cs typeface="Tahoma"/>
              </a:rPr>
              <a:t>feature</a:t>
            </a:r>
            <a:endParaRPr sz="2550">
              <a:latin typeface="Tahoma"/>
              <a:cs typeface="Tahoma"/>
            </a:endParaRPr>
          </a:p>
          <a:p>
            <a:pPr marL="12700" marR="5080" indent="736600">
              <a:lnSpc>
                <a:spcPts val="5160"/>
              </a:lnSpc>
              <a:spcBef>
                <a:spcPts val="409"/>
              </a:spcBef>
            </a:pPr>
            <a:r>
              <a:rPr sz="3100" i="1" spc="-85" dirty="0">
                <a:solidFill>
                  <a:srgbClr val="04182D"/>
                </a:solidFill>
                <a:latin typeface="Arial"/>
                <a:cs typeface="Arial"/>
              </a:rPr>
              <a:t>a</a:t>
            </a:r>
            <a:r>
              <a:rPr sz="2550" spc="-85" dirty="0">
                <a:solidFill>
                  <a:srgbClr val="04182D"/>
                </a:solidFill>
                <a:latin typeface="Tahoma"/>
                <a:cs typeface="Tahoma"/>
              </a:rPr>
              <a:t>,</a:t>
            </a:r>
            <a:r>
              <a:rPr sz="2550" spc="-60" dirty="0">
                <a:solidFill>
                  <a:srgbClr val="04182D"/>
                </a:solidFill>
                <a:latin typeface="Tahoma"/>
                <a:cs typeface="Tahoma"/>
              </a:rPr>
              <a:t> </a:t>
            </a:r>
            <a:r>
              <a:rPr sz="3100" i="1" spc="-400" dirty="0">
                <a:solidFill>
                  <a:srgbClr val="04182D"/>
                </a:solidFill>
                <a:latin typeface="Arial"/>
                <a:cs typeface="Arial"/>
              </a:rPr>
              <a:t>b</a:t>
            </a:r>
            <a:r>
              <a:rPr sz="3100" i="1" spc="-110" dirty="0">
                <a:solidFill>
                  <a:srgbClr val="04182D"/>
                </a:solidFill>
                <a:latin typeface="Arial"/>
                <a:cs typeface="Arial"/>
              </a:rPr>
              <a:t> </a:t>
            </a:r>
            <a:r>
              <a:rPr sz="2550" spc="-390" dirty="0">
                <a:solidFill>
                  <a:srgbClr val="04182D"/>
                </a:solidFill>
                <a:latin typeface="Tahoma"/>
                <a:cs typeface="Tahoma"/>
              </a:rPr>
              <a:t>=</a:t>
            </a:r>
            <a:r>
              <a:rPr sz="2550" spc="-50" dirty="0">
                <a:solidFill>
                  <a:srgbClr val="04182D"/>
                </a:solidFill>
                <a:latin typeface="Tahoma"/>
                <a:cs typeface="Tahoma"/>
              </a:rPr>
              <a:t> </a:t>
            </a:r>
            <a:r>
              <a:rPr sz="2550" spc="114" dirty="0">
                <a:solidFill>
                  <a:srgbClr val="04182D"/>
                </a:solidFill>
                <a:latin typeface="Tahoma"/>
                <a:cs typeface="Tahoma"/>
              </a:rPr>
              <a:t>parameters/coefficients</a:t>
            </a:r>
            <a:r>
              <a:rPr sz="2550" spc="-55" dirty="0">
                <a:solidFill>
                  <a:srgbClr val="04182D"/>
                </a:solidFill>
                <a:latin typeface="Tahoma"/>
                <a:cs typeface="Tahoma"/>
              </a:rPr>
              <a:t> </a:t>
            </a:r>
            <a:r>
              <a:rPr sz="2550" spc="114" dirty="0">
                <a:solidFill>
                  <a:srgbClr val="04182D"/>
                </a:solidFill>
                <a:latin typeface="Tahoma"/>
                <a:cs typeface="Tahoma"/>
              </a:rPr>
              <a:t>of</a:t>
            </a:r>
            <a:r>
              <a:rPr sz="2550" spc="-55" dirty="0">
                <a:solidFill>
                  <a:srgbClr val="04182D"/>
                </a:solidFill>
                <a:latin typeface="Tahoma"/>
                <a:cs typeface="Tahoma"/>
              </a:rPr>
              <a:t> </a:t>
            </a:r>
            <a:r>
              <a:rPr sz="2550" spc="95" dirty="0">
                <a:solidFill>
                  <a:srgbClr val="04182D"/>
                </a:solidFill>
                <a:latin typeface="Tahoma"/>
                <a:cs typeface="Tahoma"/>
              </a:rPr>
              <a:t>the</a:t>
            </a:r>
            <a:r>
              <a:rPr sz="2550" spc="-50" dirty="0">
                <a:solidFill>
                  <a:srgbClr val="04182D"/>
                </a:solidFill>
                <a:latin typeface="Tahoma"/>
                <a:cs typeface="Tahoma"/>
              </a:rPr>
              <a:t> </a:t>
            </a:r>
            <a:r>
              <a:rPr sz="2550" spc="114" dirty="0">
                <a:solidFill>
                  <a:srgbClr val="04182D"/>
                </a:solidFill>
                <a:latin typeface="Tahoma"/>
                <a:cs typeface="Tahoma"/>
              </a:rPr>
              <a:t>model</a:t>
            </a:r>
            <a:r>
              <a:rPr sz="2550" spc="-55" dirty="0">
                <a:solidFill>
                  <a:srgbClr val="04182D"/>
                </a:solidFill>
                <a:latin typeface="Tahoma"/>
                <a:cs typeface="Tahoma"/>
              </a:rPr>
              <a:t> </a:t>
            </a:r>
            <a:r>
              <a:rPr sz="2550" dirty="0">
                <a:solidFill>
                  <a:srgbClr val="04182D"/>
                </a:solidFill>
                <a:latin typeface="Tahoma"/>
                <a:cs typeface="Tahoma"/>
              </a:rPr>
              <a:t>-</a:t>
            </a:r>
            <a:r>
              <a:rPr sz="2550" spc="-50" dirty="0">
                <a:solidFill>
                  <a:srgbClr val="04182D"/>
                </a:solidFill>
                <a:latin typeface="Tahoma"/>
                <a:cs typeface="Tahoma"/>
              </a:rPr>
              <a:t> </a:t>
            </a:r>
            <a:r>
              <a:rPr sz="2550" spc="60" dirty="0">
                <a:solidFill>
                  <a:srgbClr val="04182D"/>
                </a:solidFill>
                <a:latin typeface="Tahoma"/>
                <a:cs typeface="Tahoma"/>
              </a:rPr>
              <a:t>slope,</a:t>
            </a:r>
            <a:r>
              <a:rPr sz="2550" spc="-55" dirty="0">
                <a:solidFill>
                  <a:srgbClr val="04182D"/>
                </a:solidFill>
                <a:latin typeface="Tahoma"/>
                <a:cs typeface="Tahoma"/>
              </a:rPr>
              <a:t> </a:t>
            </a:r>
            <a:r>
              <a:rPr sz="2550" spc="80" dirty="0">
                <a:solidFill>
                  <a:srgbClr val="04182D"/>
                </a:solidFill>
                <a:latin typeface="Tahoma"/>
                <a:cs typeface="Tahoma"/>
              </a:rPr>
              <a:t>intercept </a:t>
            </a:r>
            <a:r>
              <a:rPr sz="2550" spc="120" dirty="0">
                <a:solidFill>
                  <a:srgbClr val="04182D"/>
                </a:solidFill>
                <a:latin typeface="Tahoma"/>
                <a:cs typeface="Tahoma"/>
              </a:rPr>
              <a:t>How</a:t>
            </a:r>
            <a:r>
              <a:rPr sz="2550" spc="-60" dirty="0">
                <a:solidFill>
                  <a:srgbClr val="04182D"/>
                </a:solidFill>
                <a:latin typeface="Tahoma"/>
                <a:cs typeface="Tahoma"/>
              </a:rPr>
              <a:t> </a:t>
            </a:r>
            <a:r>
              <a:rPr sz="2550" spc="130" dirty="0">
                <a:solidFill>
                  <a:srgbClr val="04182D"/>
                </a:solidFill>
                <a:latin typeface="Tahoma"/>
                <a:cs typeface="Tahoma"/>
              </a:rPr>
              <a:t>do</a:t>
            </a:r>
            <a:r>
              <a:rPr sz="2550" spc="-60" dirty="0">
                <a:solidFill>
                  <a:srgbClr val="04182D"/>
                </a:solidFill>
                <a:latin typeface="Tahoma"/>
                <a:cs typeface="Tahoma"/>
              </a:rPr>
              <a:t> </a:t>
            </a:r>
            <a:r>
              <a:rPr sz="2550" spc="130" dirty="0">
                <a:solidFill>
                  <a:srgbClr val="04182D"/>
                </a:solidFill>
                <a:latin typeface="Tahoma"/>
                <a:cs typeface="Tahoma"/>
              </a:rPr>
              <a:t>we</a:t>
            </a:r>
            <a:r>
              <a:rPr sz="2550" spc="-55" dirty="0">
                <a:solidFill>
                  <a:srgbClr val="04182D"/>
                </a:solidFill>
                <a:latin typeface="Tahoma"/>
                <a:cs typeface="Tahoma"/>
              </a:rPr>
              <a:t> </a:t>
            </a:r>
            <a:r>
              <a:rPr sz="2550" spc="130" dirty="0">
                <a:solidFill>
                  <a:srgbClr val="04182D"/>
                </a:solidFill>
                <a:latin typeface="Tahoma"/>
                <a:cs typeface="Tahoma"/>
              </a:rPr>
              <a:t>choose</a:t>
            </a:r>
            <a:r>
              <a:rPr sz="2550" spc="-60" dirty="0">
                <a:solidFill>
                  <a:srgbClr val="04182D"/>
                </a:solidFill>
                <a:latin typeface="Tahoma"/>
                <a:cs typeface="Tahoma"/>
              </a:rPr>
              <a:t> </a:t>
            </a:r>
            <a:r>
              <a:rPr sz="3100" i="1" dirty="0">
                <a:solidFill>
                  <a:srgbClr val="04182D"/>
                </a:solidFill>
                <a:latin typeface="Arial"/>
                <a:cs typeface="Arial"/>
              </a:rPr>
              <a:t>a</a:t>
            </a:r>
            <a:r>
              <a:rPr sz="3100" i="1" spc="-114" dirty="0">
                <a:solidFill>
                  <a:srgbClr val="04182D"/>
                </a:solidFill>
                <a:latin typeface="Arial"/>
                <a:cs typeface="Arial"/>
              </a:rPr>
              <a:t> </a:t>
            </a:r>
            <a:r>
              <a:rPr sz="2550" spc="150" dirty="0">
                <a:solidFill>
                  <a:srgbClr val="04182D"/>
                </a:solidFill>
                <a:latin typeface="Tahoma"/>
                <a:cs typeface="Tahoma"/>
              </a:rPr>
              <a:t>and</a:t>
            </a:r>
            <a:r>
              <a:rPr sz="2550" spc="-60" dirty="0">
                <a:solidFill>
                  <a:srgbClr val="04182D"/>
                </a:solidFill>
                <a:latin typeface="Tahoma"/>
                <a:cs typeface="Tahoma"/>
              </a:rPr>
              <a:t> </a:t>
            </a:r>
            <a:r>
              <a:rPr sz="3100" i="1" spc="-25" dirty="0">
                <a:solidFill>
                  <a:srgbClr val="04182D"/>
                </a:solidFill>
                <a:latin typeface="Arial"/>
                <a:cs typeface="Arial"/>
              </a:rPr>
              <a:t>b</a:t>
            </a:r>
            <a:r>
              <a:rPr sz="2550" spc="-25" dirty="0">
                <a:solidFill>
                  <a:srgbClr val="04182D"/>
                </a:solidFill>
                <a:latin typeface="Tahoma"/>
                <a:cs typeface="Tahoma"/>
              </a:rPr>
              <a:t>?</a:t>
            </a:r>
            <a:endParaRPr sz="2550">
              <a:latin typeface="Tahoma"/>
              <a:cs typeface="Tahoma"/>
            </a:endParaRPr>
          </a:p>
          <a:p>
            <a:pPr marL="381000">
              <a:lnSpc>
                <a:spcPct val="100000"/>
              </a:lnSpc>
              <a:spcBef>
                <a:spcPts val="284"/>
              </a:spcBef>
            </a:pPr>
            <a:r>
              <a:rPr sz="2550" spc="105" dirty="0">
                <a:solidFill>
                  <a:srgbClr val="04182D"/>
                </a:solidFill>
                <a:latin typeface="Tahoma"/>
                <a:cs typeface="Tahoma"/>
              </a:rPr>
              <a:t>Define</a:t>
            </a:r>
            <a:r>
              <a:rPr sz="2550" spc="-15" dirty="0">
                <a:solidFill>
                  <a:srgbClr val="04182D"/>
                </a:solidFill>
                <a:latin typeface="Tahoma"/>
                <a:cs typeface="Tahoma"/>
              </a:rPr>
              <a:t> </a:t>
            </a:r>
            <a:r>
              <a:rPr sz="2550" spc="140" dirty="0">
                <a:solidFill>
                  <a:srgbClr val="04182D"/>
                </a:solidFill>
                <a:latin typeface="Tahoma"/>
                <a:cs typeface="Tahoma"/>
              </a:rPr>
              <a:t>an</a:t>
            </a:r>
            <a:r>
              <a:rPr sz="2550" spc="-10" dirty="0">
                <a:solidFill>
                  <a:srgbClr val="04182D"/>
                </a:solidFill>
                <a:latin typeface="Tahoma"/>
                <a:cs typeface="Tahoma"/>
              </a:rPr>
              <a:t> </a:t>
            </a:r>
            <a:r>
              <a:rPr sz="2550" dirty="0">
                <a:solidFill>
                  <a:srgbClr val="04182D"/>
                </a:solidFill>
                <a:latin typeface="Tahoma"/>
                <a:cs typeface="Tahoma"/>
              </a:rPr>
              <a:t>error</a:t>
            </a:r>
            <a:r>
              <a:rPr sz="2550" spc="-10" dirty="0">
                <a:solidFill>
                  <a:srgbClr val="04182D"/>
                </a:solidFill>
                <a:latin typeface="Tahoma"/>
                <a:cs typeface="Tahoma"/>
              </a:rPr>
              <a:t> </a:t>
            </a:r>
            <a:r>
              <a:rPr sz="2550" spc="95" dirty="0">
                <a:solidFill>
                  <a:srgbClr val="04182D"/>
                </a:solidFill>
                <a:latin typeface="Tahoma"/>
                <a:cs typeface="Tahoma"/>
              </a:rPr>
              <a:t>function</a:t>
            </a:r>
            <a:r>
              <a:rPr sz="2550" spc="-15" dirty="0">
                <a:solidFill>
                  <a:srgbClr val="04182D"/>
                </a:solidFill>
                <a:latin typeface="Tahoma"/>
                <a:cs typeface="Tahoma"/>
              </a:rPr>
              <a:t> </a:t>
            </a:r>
            <a:r>
              <a:rPr sz="2550" spc="50" dirty="0">
                <a:solidFill>
                  <a:srgbClr val="04182D"/>
                </a:solidFill>
                <a:latin typeface="Tahoma"/>
                <a:cs typeface="Tahoma"/>
              </a:rPr>
              <a:t>for</a:t>
            </a:r>
            <a:r>
              <a:rPr sz="2550" spc="-10" dirty="0">
                <a:solidFill>
                  <a:srgbClr val="04182D"/>
                </a:solidFill>
                <a:latin typeface="Tahoma"/>
                <a:cs typeface="Tahoma"/>
              </a:rPr>
              <a:t> </a:t>
            </a:r>
            <a:r>
              <a:rPr sz="2550" spc="160" dirty="0">
                <a:solidFill>
                  <a:srgbClr val="04182D"/>
                </a:solidFill>
                <a:latin typeface="Tahoma"/>
                <a:cs typeface="Tahoma"/>
              </a:rPr>
              <a:t>any</a:t>
            </a:r>
            <a:r>
              <a:rPr sz="2550" spc="-10" dirty="0">
                <a:solidFill>
                  <a:srgbClr val="04182D"/>
                </a:solidFill>
                <a:latin typeface="Tahoma"/>
                <a:cs typeface="Tahoma"/>
              </a:rPr>
              <a:t> </a:t>
            </a:r>
            <a:r>
              <a:rPr sz="2550" spc="90" dirty="0">
                <a:solidFill>
                  <a:srgbClr val="04182D"/>
                </a:solidFill>
                <a:latin typeface="Tahoma"/>
                <a:cs typeface="Tahoma"/>
              </a:rPr>
              <a:t>given</a:t>
            </a:r>
            <a:r>
              <a:rPr sz="2550" spc="-15" dirty="0">
                <a:solidFill>
                  <a:srgbClr val="04182D"/>
                </a:solidFill>
                <a:latin typeface="Tahoma"/>
                <a:cs typeface="Tahoma"/>
              </a:rPr>
              <a:t> </a:t>
            </a:r>
            <a:r>
              <a:rPr sz="2550" spc="55" dirty="0">
                <a:solidFill>
                  <a:srgbClr val="04182D"/>
                </a:solidFill>
                <a:latin typeface="Tahoma"/>
                <a:cs typeface="Tahoma"/>
              </a:rPr>
              <a:t>line</a:t>
            </a:r>
            <a:endParaRPr sz="2550">
              <a:latin typeface="Tahoma"/>
              <a:cs typeface="Tahoma"/>
            </a:endParaRPr>
          </a:p>
          <a:p>
            <a:pPr marL="12700" marR="2203450" indent="368300">
              <a:lnSpc>
                <a:spcPts val="5160"/>
              </a:lnSpc>
              <a:spcBef>
                <a:spcPts val="320"/>
              </a:spcBef>
            </a:pPr>
            <a:r>
              <a:rPr sz="2550" spc="155" dirty="0">
                <a:solidFill>
                  <a:srgbClr val="04182D"/>
                </a:solidFill>
                <a:latin typeface="Tahoma"/>
                <a:cs typeface="Tahoma"/>
              </a:rPr>
              <a:t>Choose</a:t>
            </a:r>
            <a:r>
              <a:rPr sz="2550" spc="-10" dirty="0">
                <a:solidFill>
                  <a:srgbClr val="04182D"/>
                </a:solidFill>
                <a:latin typeface="Tahoma"/>
                <a:cs typeface="Tahoma"/>
              </a:rPr>
              <a:t> </a:t>
            </a:r>
            <a:r>
              <a:rPr sz="2550" spc="95" dirty="0">
                <a:solidFill>
                  <a:srgbClr val="04182D"/>
                </a:solidFill>
                <a:latin typeface="Tahoma"/>
                <a:cs typeface="Tahoma"/>
              </a:rPr>
              <a:t>the</a:t>
            </a:r>
            <a:r>
              <a:rPr sz="2550" spc="-10" dirty="0">
                <a:solidFill>
                  <a:srgbClr val="04182D"/>
                </a:solidFill>
                <a:latin typeface="Tahoma"/>
                <a:cs typeface="Tahoma"/>
              </a:rPr>
              <a:t> </a:t>
            </a:r>
            <a:r>
              <a:rPr sz="2550" spc="75" dirty="0">
                <a:solidFill>
                  <a:srgbClr val="04182D"/>
                </a:solidFill>
                <a:latin typeface="Tahoma"/>
                <a:cs typeface="Tahoma"/>
              </a:rPr>
              <a:t>line</a:t>
            </a:r>
            <a:r>
              <a:rPr sz="2550" spc="-5" dirty="0">
                <a:solidFill>
                  <a:srgbClr val="04182D"/>
                </a:solidFill>
                <a:latin typeface="Tahoma"/>
                <a:cs typeface="Tahoma"/>
              </a:rPr>
              <a:t> </a:t>
            </a:r>
            <a:r>
              <a:rPr sz="2550" spc="114" dirty="0">
                <a:solidFill>
                  <a:srgbClr val="04182D"/>
                </a:solidFill>
                <a:latin typeface="Tahoma"/>
                <a:cs typeface="Tahoma"/>
              </a:rPr>
              <a:t>that</a:t>
            </a:r>
            <a:r>
              <a:rPr sz="2550" spc="-10" dirty="0">
                <a:solidFill>
                  <a:srgbClr val="04182D"/>
                </a:solidFill>
                <a:latin typeface="Tahoma"/>
                <a:cs typeface="Tahoma"/>
              </a:rPr>
              <a:t> </a:t>
            </a:r>
            <a:r>
              <a:rPr sz="2550" spc="90" dirty="0">
                <a:solidFill>
                  <a:srgbClr val="04182D"/>
                </a:solidFill>
                <a:latin typeface="Tahoma"/>
                <a:cs typeface="Tahoma"/>
              </a:rPr>
              <a:t>minimizes</a:t>
            </a:r>
            <a:r>
              <a:rPr sz="2550" spc="-5" dirty="0">
                <a:solidFill>
                  <a:srgbClr val="04182D"/>
                </a:solidFill>
                <a:latin typeface="Tahoma"/>
                <a:cs typeface="Tahoma"/>
              </a:rPr>
              <a:t> </a:t>
            </a:r>
            <a:r>
              <a:rPr sz="2550" spc="95" dirty="0">
                <a:solidFill>
                  <a:srgbClr val="04182D"/>
                </a:solidFill>
                <a:latin typeface="Tahoma"/>
                <a:cs typeface="Tahoma"/>
              </a:rPr>
              <a:t>the</a:t>
            </a:r>
            <a:r>
              <a:rPr sz="2550" spc="-10" dirty="0">
                <a:solidFill>
                  <a:srgbClr val="04182D"/>
                </a:solidFill>
                <a:latin typeface="Tahoma"/>
                <a:cs typeface="Tahoma"/>
              </a:rPr>
              <a:t> </a:t>
            </a:r>
            <a:r>
              <a:rPr sz="2550" dirty="0">
                <a:solidFill>
                  <a:srgbClr val="04182D"/>
                </a:solidFill>
                <a:latin typeface="Tahoma"/>
                <a:cs typeface="Tahoma"/>
              </a:rPr>
              <a:t>error</a:t>
            </a:r>
            <a:r>
              <a:rPr sz="2550" spc="-5" dirty="0">
                <a:solidFill>
                  <a:srgbClr val="04182D"/>
                </a:solidFill>
                <a:latin typeface="Tahoma"/>
                <a:cs typeface="Tahoma"/>
              </a:rPr>
              <a:t> </a:t>
            </a:r>
            <a:r>
              <a:rPr sz="2550" spc="85" dirty="0">
                <a:solidFill>
                  <a:srgbClr val="04182D"/>
                </a:solidFill>
                <a:latin typeface="Tahoma"/>
                <a:cs typeface="Tahoma"/>
              </a:rPr>
              <a:t>function </a:t>
            </a:r>
            <a:r>
              <a:rPr sz="2550" spc="50" dirty="0">
                <a:solidFill>
                  <a:srgbClr val="04182D"/>
                </a:solidFill>
                <a:latin typeface="Tahoma"/>
                <a:cs typeface="Tahoma"/>
              </a:rPr>
              <a:t>Error</a:t>
            </a:r>
            <a:r>
              <a:rPr sz="2550" spc="-45" dirty="0">
                <a:solidFill>
                  <a:srgbClr val="04182D"/>
                </a:solidFill>
                <a:latin typeface="Tahoma"/>
                <a:cs typeface="Tahoma"/>
              </a:rPr>
              <a:t> </a:t>
            </a:r>
            <a:r>
              <a:rPr sz="2550" spc="95" dirty="0">
                <a:solidFill>
                  <a:srgbClr val="04182D"/>
                </a:solidFill>
                <a:latin typeface="Tahoma"/>
                <a:cs typeface="Tahoma"/>
              </a:rPr>
              <a:t>function</a:t>
            </a:r>
            <a:r>
              <a:rPr sz="2550" spc="-45" dirty="0">
                <a:solidFill>
                  <a:srgbClr val="04182D"/>
                </a:solidFill>
                <a:latin typeface="Tahoma"/>
                <a:cs typeface="Tahoma"/>
              </a:rPr>
              <a:t> </a:t>
            </a:r>
            <a:r>
              <a:rPr sz="2550" spc="-390" dirty="0">
                <a:solidFill>
                  <a:srgbClr val="04182D"/>
                </a:solidFill>
                <a:latin typeface="Tahoma"/>
                <a:cs typeface="Tahoma"/>
              </a:rPr>
              <a:t>=</a:t>
            </a:r>
            <a:r>
              <a:rPr sz="2550" spc="-45" dirty="0">
                <a:solidFill>
                  <a:srgbClr val="04182D"/>
                </a:solidFill>
                <a:latin typeface="Tahoma"/>
                <a:cs typeface="Tahoma"/>
              </a:rPr>
              <a:t> </a:t>
            </a:r>
            <a:r>
              <a:rPr sz="2550" spc="70" dirty="0">
                <a:solidFill>
                  <a:srgbClr val="04182D"/>
                </a:solidFill>
                <a:latin typeface="Tahoma"/>
                <a:cs typeface="Tahoma"/>
              </a:rPr>
              <a:t>loss</a:t>
            </a:r>
            <a:r>
              <a:rPr sz="2550" spc="-40" dirty="0">
                <a:solidFill>
                  <a:srgbClr val="04182D"/>
                </a:solidFill>
                <a:latin typeface="Tahoma"/>
                <a:cs typeface="Tahoma"/>
              </a:rPr>
              <a:t> </a:t>
            </a:r>
            <a:r>
              <a:rPr sz="2550" spc="95" dirty="0">
                <a:solidFill>
                  <a:srgbClr val="04182D"/>
                </a:solidFill>
                <a:latin typeface="Tahoma"/>
                <a:cs typeface="Tahoma"/>
              </a:rPr>
              <a:t>function</a:t>
            </a:r>
            <a:r>
              <a:rPr sz="2550" spc="-45" dirty="0">
                <a:solidFill>
                  <a:srgbClr val="04182D"/>
                </a:solidFill>
                <a:latin typeface="Tahoma"/>
                <a:cs typeface="Tahoma"/>
              </a:rPr>
              <a:t> </a:t>
            </a:r>
            <a:r>
              <a:rPr sz="2550" spc="-390" dirty="0">
                <a:solidFill>
                  <a:srgbClr val="04182D"/>
                </a:solidFill>
                <a:latin typeface="Tahoma"/>
                <a:cs typeface="Tahoma"/>
              </a:rPr>
              <a:t>=</a:t>
            </a:r>
            <a:r>
              <a:rPr sz="2550" spc="-45" dirty="0">
                <a:solidFill>
                  <a:srgbClr val="04182D"/>
                </a:solidFill>
                <a:latin typeface="Tahoma"/>
                <a:cs typeface="Tahoma"/>
              </a:rPr>
              <a:t> </a:t>
            </a:r>
            <a:r>
              <a:rPr sz="2550" spc="125" dirty="0">
                <a:solidFill>
                  <a:srgbClr val="04182D"/>
                </a:solidFill>
                <a:latin typeface="Tahoma"/>
                <a:cs typeface="Tahoma"/>
              </a:rPr>
              <a:t>cost</a:t>
            </a:r>
            <a:r>
              <a:rPr sz="2550" spc="-45" dirty="0">
                <a:solidFill>
                  <a:srgbClr val="04182D"/>
                </a:solidFill>
                <a:latin typeface="Tahoma"/>
                <a:cs typeface="Tahoma"/>
              </a:rPr>
              <a:t> </a:t>
            </a:r>
            <a:r>
              <a:rPr sz="2550" spc="85" dirty="0">
                <a:solidFill>
                  <a:srgbClr val="04182D"/>
                </a:solidFill>
                <a:latin typeface="Tahoma"/>
                <a:cs typeface="Tahoma"/>
              </a:rPr>
              <a:t>function</a:t>
            </a:r>
            <a:endParaRPr sz="2550">
              <a:latin typeface="Tahoma"/>
              <a:cs typeface="Tahoma"/>
            </a:endParaRPr>
          </a:p>
        </p:txBody>
      </p:sp>
      <p:pic>
        <p:nvPicPr>
          <p:cNvPr id="12" name="object 12"/>
          <p:cNvPicPr/>
          <p:nvPr/>
        </p:nvPicPr>
        <p:blipFill>
          <a:blip r:embed="rId6" cstate="print"/>
          <a:stretch>
            <a:fillRect/>
          </a:stretch>
        </p:blipFill>
        <p:spPr>
          <a:xfrm>
            <a:off x="511759" y="6100176"/>
            <a:ext cx="102352" cy="102351"/>
          </a:xfrm>
          <a:prstGeom prst="rect">
            <a:avLst/>
          </a:prstGeom>
        </p:spPr>
      </p:pic>
      <p:sp>
        <p:nvSpPr>
          <p:cNvPr id="16" name="슬라이드 번호 개체 틀 15">
            <a:extLst>
              <a:ext uri="{FF2B5EF4-FFF2-40B4-BE49-F238E27FC236}">
                <a16:creationId xmlns:a16="http://schemas.microsoft.com/office/drawing/2014/main" id="{1C2BF420-726F-5363-61B1-D06FD14FAECE}"/>
              </a:ext>
            </a:extLst>
          </p:cNvPr>
          <p:cNvSpPr>
            <a:spLocks noGrp="1"/>
          </p:cNvSpPr>
          <p:nvPr>
            <p:ph type="sldNum" sz="quarter" idx="7"/>
          </p:nvPr>
        </p:nvSpPr>
        <p:spPr/>
        <p:txBody>
          <a:bodyPr/>
          <a:lstStyle/>
          <a:p>
            <a:fld id="{B6F15528-21DE-4FAA-801E-634DDDAF4B2B}" type="slidenum">
              <a:rPr lang="en-US" altLang="ko-KR" smtClean="0"/>
              <a:t>10</a:t>
            </a:fld>
            <a:endParaRPr lang="en-US" altLang="ko-K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220" dirty="0"/>
              <a:t>The</a:t>
            </a:r>
            <a:r>
              <a:rPr spc="-145" dirty="0"/>
              <a:t> </a:t>
            </a:r>
            <a:r>
              <a:rPr spc="-254" dirty="0"/>
              <a:t>loss</a:t>
            </a:r>
            <a:r>
              <a:rPr spc="-145" dirty="0"/>
              <a:t> </a:t>
            </a:r>
            <a:r>
              <a:rPr spc="-190" dirty="0"/>
              <a:t>function</a:t>
            </a:r>
          </a:p>
        </p:txBody>
      </p:sp>
      <p:pic>
        <p:nvPicPr>
          <p:cNvPr id="3" name="object 3"/>
          <p:cNvPicPr/>
          <p:nvPr/>
        </p:nvPicPr>
        <p:blipFill>
          <a:blip r:embed="rId2" cstate="print"/>
          <a:stretch>
            <a:fillRect/>
          </a:stretch>
        </p:blipFill>
        <p:spPr>
          <a:xfrm>
            <a:off x="3254792" y="1166812"/>
            <a:ext cx="9047913" cy="6530054"/>
          </a:xfrm>
          <a:prstGeom prst="rect">
            <a:avLst/>
          </a:prstGeom>
        </p:spPr>
      </p:pic>
      <p:sp>
        <p:nvSpPr>
          <p:cNvPr id="7" name="슬라이드 번호 개체 틀 6">
            <a:extLst>
              <a:ext uri="{FF2B5EF4-FFF2-40B4-BE49-F238E27FC236}">
                <a16:creationId xmlns:a16="http://schemas.microsoft.com/office/drawing/2014/main" id="{D549AF03-1C3D-F204-959D-855CC57C0997}"/>
              </a:ext>
            </a:extLst>
          </p:cNvPr>
          <p:cNvSpPr>
            <a:spLocks noGrp="1"/>
          </p:cNvSpPr>
          <p:nvPr>
            <p:ph type="sldNum" sz="quarter" idx="7"/>
          </p:nvPr>
        </p:nvSpPr>
        <p:spPr/>
        <p:txBody>
          <a:bodyPr/>
          <a:lstStyle/>
          <a:p>
            <a:fld id="{B6F15528-21DE-4FAA-801E-634DDDAF4B2B}" type="slidenum">
              <a:rPr lang="en-US" altLang="ko-KR" smtClean="0"/>
              <a:t>11</a:t>
            </a:fld>
            <a:endParaRPr lang="en-US" altLang="ko-K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220" dirty="0"/>
              <a:t>The</a:t>
            </a:r>
            <a:r>
              <a:rPr spc="-145" dirty="0"/>
              <a:t> </a:t>
            </a:r>
            <a:r>
              <a:rPr spc="-254" dirty="0"/>
              <a:t>loss</a:t>
            </a:r>
            <a:r>
              <a:rPr spc="-145" dirty="0"/>
              <a:t> </a:t>
            </a:r>
            <a:r>
              <a:rPr spc="-190" dirty="0"/>
              <a:t>function</a:t>
            </a:r>
          </a:p>
        </p:txBody>
      </p:sp>
      <p:pic>
        <p:nvPicPr>
          <p:cNvPr id="3" name="object 3"/>
          <p:cNvPicPr/>
          <p:nvPr/>
        </p:nvPicPr>
        <p:blipFill>
          <a:blip r:embed="rId2" cstate="print"/>
          <a:stretch>
            <a:fillRect/>
          </a:stretch>
        </p:blipFill>
        <p:spPr>
          <a:xfrm>
            <a:off x="3254792" y="1166812"/>
            <a:ext cx="9047913" cy="6530054"/>
          </a:xfrm>
          <a:prstGeom prst="rect">
            <a:avLst/>
          </a:prstGeom>
        </p:spPr>
      </p:pic>
      <p:sp>
        <p:nvSpPr>
          <p:cNvPr id="7" name="슬라이드 번호 개체 틀 6">
            <a:extLst>
              <a:ext uri="{FF2B5EF4-FFF2-40B4-BE49-F238E27FC236}">
                <a16:creationId xmlns:a16="http://schemas.microsoft.com/office/drawing/2014/main" id="{83282912-8E1C-5F99-D157-BA2171028640}"/>
              </a:ext>
            </a:extLst>
          </p:cNvPr>
          <p:cNvSpPr>
            <a:spLocks noGrp="1"/>
          </p:cNvSpPr>
          <p:nvPr>
            <p:ph type="sldNum" sz="quarter" idx="7"/>
          </p:nvPr>
        </p:nvSpPr>
        <p:spPr/>
        <p:txBody>
          <a:bodyPr/>
          <a:lstStyle/>
          <a:p>
            <a:fld id="{B6F15528-21DE-4FAA-801E-634DDDAF4B2B}" type="slidenum">
              <a:rPr lang="en-US" altLang="ko-KR" smtClean="0"/>
              <a:t>12</a:t>
            </a:fld>
            <a:endParaRPr lang="en-US" altLang="ko-K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220" dirty="0"/>
              <a:t>The</a:t>
            </a:r>
            <a:r>
              <a:rPr spc="-145" dirty="0"/>
              <a:t> </a:t>
            </a:r>
            <a:r>
              <a:rPr spc="-254" dirty="0"/>
              <a:t>loss</a:t>
            </a:r>
            <a:r>
              <a:rPr spc="-145" dirty="0"/>
              <a:t> </a:t>
            </a:r>
            <a:r>
              <a:rPr spc="-190" dirty="0"/>
              <a:t>function</a:t>
            </a:r>
          </a:p>
        </p:txBody>
      </p:sp>
      <p:pic>
        <p:nvPicPr>
          <p:cNvPr id="3" name="object 3"/>
          <p:cNvPicPr/>
          <p:nvPr/>
        </p:nvPicPr>
        <p:blipFill>
          <a:blip r:embed="rId2" cstate="print"/>
          <a:stretch>
            <a:fillRect/>
          </a:stretch>
        </p:blipFill>
        <p:spPr>
          <a:xfrm>
            <a:off x="3254792" y="1166812"/>
            <a:ext cx="9047913" cy="6530054"/>
          </a:xfrm>
          <a:prstGeom prst="rect">
            <a:avLst/>
          </a:prstGeom>
        </p:spPr>
      </p:pic>
      <p:sp>
        <p:nvSpPr>
          <p:cNvPr id="4" name="object 4"/>
          <p:cNvSpPr/>
          <p:nvPr/>
        </p:nvSpPr>
        <p:spPr>
          <a:xfrm>
            <a:off x="757913" y="8248713"/>
            <a:ext cx="1739900" cy="368300"/>
          </a:xfrm>
          <a:custGeom>
            <a:avLst/>
            <a:gdLst/>
            <a:ahLst/>
            <a:cxnLst/>
            <a:rect l="l" t="t" r="r" b="b"/>
            <a:pathLst>
              <a:path w="1739900" h="368300">
                <a:moveTo>
                  <a:pt x="209676" y="110742"/>
                </a:moveTo>
                <a:lnTo>
                  <a:pt x="176576" y="110742"/>
                </a:lnTo>
                <a:lnTo>
                  <a:pt x="176576" y="0"/>
                </a:lnTo>
                <a:lnTo>
                  <a:pt x="209676" y="0"/>
                </a:lnTo>
                <a:lnTo>
                  <a:pt x="209676" y="110742"/>
                </a:lnTo>
                <a:close/>
              </a:path>
              <a:path w="1739900" h="368300">
                <a:moveTo>
                  <a:pt x="102631" y="290963"/>
                </a:moveTo>
                <a:lnTo>
                  <a:pt x="63835" y="282714"/>
                </a:lnTo>
                <a:lnTo>
                  <a:pt x="29931" y="259678"/>
                </a:lnTo>
                <a:lnTo>
                  <a:pt x="7482" y="225481"/>
                </a:lnTo>
                <a:lnTo>
                  <a:pt x="0" y="186728"/>
                </a:lnTo>
                <a:lnTo>
                  <a:pt x="7482" y="147975"/>
                </a:lnTo>
                <a:lnTo>
                  <a:pt x="29931" y="113778"/>
                </a:lnTo>
                <a:lnTo>
                  <a:pt x="63835" y="90741"/>
                </a:lnTo>
                <a:lnTo>
                  <a:pt x="102631" y="82493"/>
                </a:lnTo>
                <a:lnTo>
                  <a:pt x="141738" y="89128"/>
                </a:lnTo>
                <a:lnTo>
                  <a:pt x="176576" y="110742"/>
                </a:lnTo>
                <a:lnTo>
                  <a:pt x="209676" y="110742"/>
                </a:lnTo>
                <a:lnTo>
                  <a:pt x="209676" y="115505"/>
                </a:lnTo>
                <a:lnTo>
                  <a:pt x="104843" y="115505"/>
                </a:lnTo>
                <a:lnTo>
                  <a:pt x="76969" y="121103"/>
                </a:lnTo>
                <a:lnTo>
                  <a:pt x="54206" y="136369"/>
                </a:lnTo>
                <a:lnTo>
                  <a:pt x="38859" y="159011"/>
                </a:lnTo>
                <a:lnTo>
                  <a:pt x="33233" y="186728"/>
                </a:lnTo>
                <a:lnTo>
                  <a:pt x="38764" y="213998"/>
                </a:lnTo>
                <a:lnTo>
                  <a:pt x="38859" y="214465"/>
                </a:lnTo>
                <a:lnTo>
                  <a:pt x="54206" y="237107"/>
                </a:lnTo>
                <a:lnTo>
                  <a:pt x="76969" y="252373"/>
                </a:lnTo>
                <a:lnTo>
                  <a:pt x="104843" y="257971"/>
                </a:lnTo>
                <a:lnTo>
                  <a:pt x="209676" y="257971"/>
                </a:lnTo>
                <a:lnTo>
                  <a:pt x="209676" y="262714"/>
                </a:lnTo>
                <a:lnTo>
                  <a:pt x="176576" y="262714"/>
                </a:lnTo>
                <a:lnTo>
                  <a:pt x="141738" y="284327"/>
                </a:lnTo>
                <a:lnTo>
                  <a:pt x="102631" y="290963"/>
                </a:lnTo>
                <a:close/>
              </a:path>
              <a:path w="1739900" h="368300">
                <a:moveTo>
                  <a:pt x="209676" y="257971"/>
                </a:moveTo>
                <a:lnTo>
                  <a:pt x="104843" y="257971"/>
                </a:lnTo>
                <a:lnTo>
                  <a:pt x="118880" y="256589"/>
                </a:lnTo>
                <a:lnTo>
                  <a:pt x="132248" y="252548"/>
                </a:lnTo>
                <a:lnTo>
                  <a:pt x="164424" y="226258"/>
                </a:lnTo>
                <a:lnTo>
                  <a:pt x="176454" y="186728"/>
                </a:lnTo>
                <a:lnTo>
                  <a:pt x="170828" y="159011"/>
                </a:lnTo>
                <a:lnTo>
                  <a:pt x="155481" y="136369"/>
                </a:lnTo>
                <a:lnTo>
                  <a:pt x="132718" y="121103"/>
                </a:lnTo>
                <a:lnTo>
                  <a:pt x="104843" y="115505"/>
                </a:lnTo>
                <a:lnTo>
                  <a:pt x="209676" y="115505"/>
                </a:lnTo>
                <a:lnTo>
                  <a:pt x="209676" y="257971"/>
                </a:lnTo>
                <a:close/>
              </a:path>
              <a:path w="1739900" h="368300">
                <a:moveTo>
                  <a:pt x="209676" y="285671"/>
                </a:moveTo>
                <a:lnTo>
                  <a:pt x="176576" y="285671"/>
                </a:lnTo>
                <a:lnTo>
                  <a:pt x="176576" y="262714"/>
                </a:lnTo>
                <a:lnTo>
                  <a:pt x="209676" y="262714"/>
                </a:lnTo>
                <a:lnTo>
                  <a:pt x="209676" y="285671"/>
                </a:lnTo>
                <a:close/>
              </a:path>
              <a:path w="1739900" h="368300">
                <a:moveTo>
                  <a:pt x="1095907" y="290963"/>
                </a:moveTo>
                <a:lnTo>
                  <a:pt x="1057112" y="282714"/>
                </a:lnTo>
                <a:lnTo>
                  <a:pt x="1023208" y="259678"/>
                </a:lnTo>
                <a:lnTo>
                  <a:pt x="1000759" y="225481"/>
                </a:lnTo>
                <a:lnTo>
                  <a:pt x="993276" y="186728"/>
                </a:lnTo>
                <a:lnTo>
                  <a:pt x="1000759" y="147975"/>
                </a:lnTo>
                <a:lnTo>
                  <a:pt x="1023208" y="113778"/>
                </a:lnTo>
                <a:lnTo>
                  <a:pt x="1057112" y="90741"/>
                </a:lnTo>
                <a:lnTo>
                  <a:pt x="1095907" y="82493"/>
                </a:lnTo>
                <a:lnTo>
                  <a:pt x="1135014" y="89128"/>
                </a:lnTo>
                <a:lnTo>
                  <a:pt x="1169853" y="110742"/>
                </a:lnTo>
                <a:lnTo>
                  <a:pt x="1202932" y="110742"/>
                </a:lnTo>
                <a:lnTo>
                  <a:pt x="1202932" y="115505"/>
                </a:lnTo>
                <a:lnTo>
                  <a:pt x="1098140" y="115505"/>
                </a:lnTo>
                <a:lnTo>
                  <a:pt x="1070265" y="121103"/>
                </a:lnTo>
                <a:lnTo>
                  <a:pt x="1047502" y="136369"/>
                </a:lnTo>
                <a:lnTo>
                  <a:pt x="1032155" y="159011"/>
                </a:lnTo>
                <a:lnTo>
                  <a:pt x="1026530" y="186728"/>
                </a:lnTo>
                <a:lnTo>
                  <a:pt x="1032060" y="213998"/>
                </a:lnTo>
                <a:lnTo>
                  <a:pt x="1032155" y="214465"/>
                </a:lnTo>
                <a:lnTo>
                  <a:pt x="1047502" y="237107"/>
                </a:lnTo>
                <a:lnTo>
                  <a:pt x="1070265" y="252373"/>
                </a:lnTo>
                <a:lnTo>
                  <a:pt x="1098140" y="257971"/>
                </a:lnTo>
                <a:lnTo>
                  <a:pt x="1202953" y="257971"/>
                </a:lnTo>
                <a:lnTo>
                  <a:pt x="1202953" y="262714"/>
                </a:lnTo>
                <a:lnTo>
                  <a:pt x="1169853" y="262714"/>
                </a:lnTo>
                <a:lnTo>
                  <a:pt x="1135014" y="284327"/>
                </a:lnTo>
                <a:lnTo>
                  <a:pt x="1095907" y="290963"/>
                </a:lnTo>
                <a:close/>
              </a:path>
              <a:path w="1739900" h="368300">
                <a:moveTo>
                  <a:pt x="1202932" y="110742"/>
                </a:moveTo>
                <a:lnTo>
                  <a:pt x="1169853" y="110742"/>
                </a:lnTo>
                <a:lnTo>
                  <a:pt x="1169853" y="83581"/>
                </a:lnTo>
                <a:lnTo>
                  <a:pt x="1202932" y="83581"/>
                </a:lnTo>
                <a:lnTo>
                  <a:pt x="1202932" y="110742"/>
                </a:lnTo>
                <a:close/>
              </a:path>
              <a:path w="1739900" h="368300">
                <a:moveTo>
                  <a:pt x="1202953" y="257971"/>
                </a:moveTo>
                <a:lnTo>
                  <a:pt x="1098140" y="257971"/>
                </a:lnTo>
                <a:lnTo>
                  <a:pt x="1112176" y="256589"/>
                </a:lnTo>
                <a:lnTo>
                  <a:pt x="1125545" y="252548"/>
                </a:lnTo>
                <a:lnTo>
                  <a:pt x="1157720" y="226258"/>
                </a:lnTo>
                <a:lnTo>
                  <a:pt x="1169750" y="186728"/>
                </a:lnTo>
                <a:lnTo>
                  <a:pt x="1164125" y="159011"/>
                </a:lnTo>
                <a:lnTo>
                  <a:pt x="1148777" y="136369"/>
                </a:lnTo>
                <a:lnTo>
                  <a:pt x="1126015" y="121103"/>
                </a:lnTo>
                <a:lnTo>
                  <a:pt x="1098140" y="115505"/>
                </a:lnTo>
                <a:lnTo>
                  <a:pt x="1202932" y="115505"/>
                </a:lnTo>
                <a:lnTo>
                  <a:pt x="1202953" y="257971"/>
                </a:lnTo>
                <a:close/>
              </a:path>
              <a:path w="1739900" h="368300">
                <a:moveTo>
                  <a:pt x="1202953" y="285671"/>
                </a:moveTo>
                <a:lnTo>
                  <a:pt x="1169853" y="285671"/>
                </a:lnTo>
                <a:lnTo>
                  <a:pt x="1169853" y="262714"/>
                </a:lnTo>
                <a:lnTo>
                  <a:pt x="1202953" y="262714"/>
                </a:lnTo>
                <a:lnTo>
                  <a:pt x="1202953" y="285671"/>
                </a:lnTo>
                <a:close/>
              </a:path>
              <a:path w="1739900" h="368300">
                <a:moveTo>
                  <a:pt x="1259816" y="285671"/>
                </a:moveTo>
                <a:lnTo>
                  <a:pt x="1227441" y="285671"/>
                </a:lnTo>
                <a:lnTo>
                  <a:pt x="1227441" y="83454"/>
                </a:lnTo>
                <a:lnTo>
                  <a:pt x="1261205" y="83454"/>
                </a:lnTo>
                <a:lnTo>
                  <a:pt x="1260519" y="205634"/>
                </a:lnTo>
                <a:lnTo>
                  <a:pt x="1260420" y="223385"/>
                </a:lnTo>
                <a:lnTo>
                  <a:pt x="1297925" y="223385"/>
                </a:lnTo>
                <a:lnTo>
                  <a:pt x="1279985" y="252612"/>
                </a:lnTo>
                <a:lnTo>
                  <a:pt x="1259816" y="285671"/>
                </a:lnTo>
                <a:close/>
              </a:path>
              <a:path w="1739900" h="368300">
                <a:moveTo>
                  <a:pt x="1297925" y="223385"/>
                </a:moveTo>
                <a:lnTo>
                  <a:pt x="1260420" y="223385"/>
                </a:lnTo>
                <a:lnTo>
                  <a:pt x="1341815" y="90596"/>
                </a:lnTo>
                <a:lnTo>
                  <a:pt x="1344437" y="86406"/>
                </a:lnTo>
                <a:lnTo>
                  <a:pt x="1349724" y="83454"/>
                </a:lnTo>
                <a:lnTo>
                  <a:pt x="1361517" y="83454"/>
                </a:lnTo>
                <a:lnTo>
                  <a:pt x="1386275" y="134619"/>
                </a:lnTo>
                <a:lnTo>
                  <a:pt x="1352677" y="134619"/>
                </a:lnTo>
                <a:lnTo>
                  <a:pt x="1297925" y="223385"/>
                </a:lnTo>
                <a:close/>
              </a:path>
              <a:path w="1739900" h="368300">
                <a:moveTo>
                  <a:pt x="1423909" y="222504"/>
                </a:moveTo>
                <a:lnTo>
                  <a:pt x="1386420" y="222504"/>
                </a:lnTo>
                <a:lnTo>
                  <a:pt x="1469827" y="86406"/>
                </a:lnTo>
                <a:lnTo>
                  <a:pt x="1475114" y="83454"/>
                </a:lnTo>
                <a:lnTo>
                  <a:pt x="1487154" y="83454"/>
                </a:lnTo>
                <a:lnTo>
                  <a:pt x="1511676" y="135000"/>
                </a:lnTo>
                <a:lnTo>
                  <a:pt x="1477892" y="135000"/>
                </a:lnTo>
                <a:lnTo>
                  <a:pt x="1423909" y="222504"/>
                </a:lnTo>
                <a:close/>
              </a:path>
              <a:path w="1739900" h="368300">
                <a:moveTo>
                  <a:pt x="1381590" y="285671"/>
                </a:moveTo>
                <a:lnTo>
                  <a:pt x="1359983" y="285671"/>
                </a:lnTo>
                <a:lnTo>
                  <a:pt x="1352677" y="278404"/>
                </a:lnTo>
                <a:lnTo>
                  <a:pt x="1352677" y="134619"/>
                </a:lnTo>
                <a:lnTo>
                  <a:pt x="1386275" y="134619"/>
                </a:lnTo>
                <a:lnTo>
                  <a:pt x="1386395" y="209445"/>
                </a:lnTo>
                <a:lnTo>
                  <a:pt x="1386420" y="222504"/>
                </a:lnTo>
                <a:lnTo>
                  <a:pt x="1423909" y="222504"/>
                </a:lnTo>
                <a:lnTo>
                  <a:pt x="1386859" y="282733"/>
                </a:lnTo>
                <a:lnTo>
                  <a:pt x="1381590" y="285671"/>
                </a:lnTo>
                <a:close/>
              </a:path>
              <a:path w="1739900" h="368300">
                <a:moveTo>
                  <a:pt x="1511676" y="285671"/>
                </a:moveTo>
                <a:lnTo>
                  <a:pt x="1477892" y="285671"/>
                </a:lnTo>
                <a:lnTo>
                  <a:pt x="1477892" y="135000"/>
                </a:lnTo>
                <a:lnTo>
                  <a:pt x="1511676" y="135000"/>
                </a:lnTo>
                <a:lnTo>
                  <a:pt x="1511676" y="285671"/>
                </a:lnTo>
                <a:close/>
              </a:path>
              <a:path w="1739900" h="368300">
                <a:moveTo>
                  <a:pt x="904751" y="291025"/>
                </a:moveTo>
                <a:lnTo>
                  <a:pt x="842180" y="270014"/>
                </a:lnTo>
                <a:lnTo>
                  <a:pt x="805126" y="217457"/>
                </a:lnTo>
                <a:lnTo>
                  <a:pt x="800524" y="184503"/>
                </a:lnTo>
                <a:lnTo>
                  <a:pt x="806583" y="151783"/>
                </a:lnTo>
                <a:lnTo>
                  <a:pt x="822226" y="123259"/>
                </a:lnTo>
                <a:lnTo>
                  <a:pt x="845930" y="100903"/>
                </a:lnTo>
                <a:lnTo>
                  <a:pt x="876170" y="86685"/>
                </a:lnTo>
                <a:lnTo>
                  <a:pt x="909371" y="82657"/>
                </a:lnTo>
                <a:lnTo>
                  <a:pt x="941412" y="88981"/>
                </a:lnTo>
                <a:lnTo>
                  <a:pt x="969945" y="104800"/>
                </a:lnTo>
                <a:lnTo>
                  <a:pt x="980829" y="116537"/>
                </a:lnTo>
                <a:lnTo>
                  <a:pt x="906313" y="116537"/>
                </a:lnTo>
                <a:lnTo>
                  <a:pt x="884848" y="119223"/>
                </a:lnTo>
                <a:lnTo>
                  <a:pt x="865246" y="128329"/>
                </a:lnTo>
                <a:lnTo>
                  <a:pt x="849711" y="142609"/>
                </a:lnTo>
                <a:lnTo>
                  <a:pt x="839201" y="160868"/>
                </a:lnTo>
                <a:lnTo>
                  <a:pt x="834671" y="181910"/>
                </a:lnTo>
                <a:lnTo>
                  <a:pt x="836848" y="203320"/>
                </a:lnTo>
                <a:lnTo>
                  <a:pt x="845278" y="222618"/>
                </a:lnTo>
                <a:lnTo>
                  <a:pt x="859141" y="238509"/>
                </a:lnTo>
                <a:lnTo>
                  <a:pt x="877618" y="249703"/>
                </a:lnTo>
                <a:lnTo>
                  <a:pt x="898656" y="254719"/>
                </a:lnTo>
                <a:lnTo>
                  <a:pt x="983306" y="254719"/>
                </a:lnTo>
                <a:lnTo>
                  <a:pt x="966247" y="271560"/>
                </a:lnTo>
                <a:lnTo>
                  <a:pt x="937041" y="286112"/>
                </a:lnTo>
                <a:lnTo>
                  <a:pt x="904751" y="291025"/>
                </a:lnTo>
                <a:close/>
              </a:path>
              <a:path w="1739900" h="368300">
                <a:moveTo>
                  <a:pt x="960891" y="145667"/>
                </a:moveTo>
                <a:lnTo>
                  <a:pt x="945784" y="130264"/>
                </a:lnTo>
                <a:lnTo>
                  <a:pt x="927108" y="120385"/>
                </a:lnTo>
                <a:lnTo>
                  <a:pt x="906313" y="116537"/>
                </a:lnTo>
                <a:lnTo>
                  <a:pt x="980829" y="116537"/>
                </a:lnTo>
                <a:lnTo>
                  <a:pt x="992623" y="129255"/>
                </a:lnTo>
                <a:lnTo>
                  <a:pt x="960891" y="145667"/>
                </a:lnTo>
                <a:close/>
              </a:path>
              <a:path w="1739900" h="368300">
                <a:moveTo>
                  <a:pt x="983306" y="254719"/>
                </a:moveTo>
                <a:lnTo>
                  <a:pt x="898656" y="254719"/>
                </a:lnTo>
                <a:lnTo>
                  <a:pt x="919751" y="253167"/>
                </a:lnTo>
                <a:lnTo>
                  <a:pt x="939405" y="245390"/>
                </a:lnTo>
                <a:lnTo>
                  <a:pt x="956123" y="231731"/>
                </a:lnTo>
                <a:lnTo>
                  <a:pt x="989987" y="248123"/>
                </a:lnTo>
                <a:lnTo>
                  <a:pt x="983306" y="254719"/>
                </a:lnTo>
                <a:close/>
              </a:path>
              <a:path w="1739900" h="368300">
                <a:moveTo>
                  <a:pt x="1708136" y="110702"/>
                </a:moveTo>
                <a:lnTo>
                  <a:pt x="1566749" y="110702"/>
                </a:lnTo>
                <a:lnTo>
                  <a:pt x="1582358" y="98707"/>
                </a:lnTo>
                <a:lnTo>
                  <a:pt x="1599798" y="89911"/>
                </a:lnTo>
                <a:lnTo>
                  <a:pt x="1618581" y="84505"/>
                </a:lnTo>
                <a:lnTo>
                  <a:pt x="1638220" y="82661"/>
                </a:lnTo>
                <a:lnTo>
                  <a:pt x="1672025" y="88219"/>
                </a:lnTo>
                <a:lnTo>
                  <a:pt x="1701538" y="103828"/>
                </a:lnTo>
                <a:lnTo>
                  <a:pt x="1708136" y="110702"/>
                </a:lnTo>
                <a:close/>
              </a:path>
              <a:path w="1739900" h="368300">
                <a:moveTo>
                  <a:pt x="1566749" y="368192"/>
                </a:moveTo>
                <a:lnTo>
                  <a:pt x="1533649" y="368192"/>
                </a:lnTo>
                <a:lnTo>
                  <a:pt x="1533649" y="83581"/>
                </a:lnTo>
                <a:lnTo>
                  <a:pt x="1566749" y="83581"/>
                </a:lnTo>
                <a:lnTo>
                  <a:pt x="1566749" y="110702"/>
                </a:lnTo>
                <a:lnTo>
                  <a:pt x="1708136" y="110702"/>
                </a:lnTo>
                <a:lnTo>
                  <a:pt x="1712975" y="115742"/>
                </a:lnTo>
                <a:lnTo>
                  <a:pt x="1641095" y="115742"/>
                </a:lnTo>
                <a:lnTo>
                  <a:pt x="1613369" y="120098"/>
                </a:lnTo>
                <a:lnTo>
                  <a:pt x="1590186" y="134098"/>
                </a:lnTo>
                <a:lnTo>
                  <a:pt x="1573871" y="155647"/>
                </a:lnTo>
                <a:lnTo>
                  <a:pt x="1566749" y="182655"/>
                </a:lnTo>
                <a:lnTo>
                  <a:pt x="1566749" y="191181"/>
                </a:lnTo>
                <a:lnTo>
                  <a:pt x="1573542" y="217500"/>
                </a:lnTo>
                <a:lnTo>
                  <a:pt x="1589116" y="238747"/>
                </a:lnTo>
                <a:lnTo>
                  <a:pt x="1611365" y="252949"/>
                </a:lnTo>
                <a:lnTo>
                  <a:pt x="1638180" y="258131"/>
                </a:lnTo>
                <a:lnTo>
                  <a:pt x="1713519" y="258131"/>
                </a:lnTo>
                <a:lnTo>
                  <a:pt x="1707698" y="263115"/>
                </a:lnTo>
                <a:lnTo>
                  <a:pt x="1566749" y="263115"/>
                </a:lnTo>
                <a:lnTo>
                  <a:pt x="1566749" y="368192"/>
                </a:lnTo>
                <a:close/>
              </a:path>
              <a:path w="1739900" h="368300">
                <a:moveTo>
                  <a:pt x="1713519" y="258131"/>
                </a:moveTo>
                <a:lnTo>
                  <a:pt x="1638322" y="258131"/>
                </a:lnTo>
                <a:lnTo>
                  <a:pt x="1665750" y="252701"/>
                </a:lnTo>
                <a:lnTo>
                  <a:pt x="1688355" y="237795"/>
                </a:lnTo>
                <a:lnTo>
                  <a:pt x="1703795" y="215616"/>
                </a:lnTo>
                <a:lnTo>
                  <a:pt x="1709831" y="188348"/>
                </a:lnTo>
                <a:lnTo>
                  <a:pt x="1704900" y="160861"/>
                </a:lnTo>
                <a:lnTo>
                  <a:pt x="1690368" y="138084"/>
                </a:lnTo>
                <a:lnTo>
                  <a:pt x="1668383" y="122287"/>
                </a:lnTo>
                <a:lnTo>
                  <a:pt x="1641095" y="115742"/>
                </a:lnTo>
                <a:lnTo>
                  <a:pt x="1712975" y="115742"/>
                </a:lnTo>
                <a:lnTo>
                  <a:pt x="1724622" y="127875"/>
                </a:lnTo>
                <a:lnTo>
                  <a:pt x="1739135" y="158748"/>
                </a:lnTo>
                <a:lnTo>
                  <a:pt x="1739369" y="160861"/>
                </a:lnTo>
                <a:lnTo>
                  <a:pt x="1739474" y="208108"/>
                </a:lnTo>
                <a:lnTo>
                  <a:pt x="1735735" y="225106"/>
                </a:lnTo>
                <a:lnTo>
                  <a:pt x="1718688" y="253705"/>
                </a:lnTo>
                <a:lnTo>
                  <a:pt x="1713519" y="258131"/>
                </a:lnTo>
                <a:close/>
              </a:path>
              <a:path w="1739900" h="368300">
                <a:moveTo>
                  <a:pt x="1627567" y="290594"/>
                </a:moveTo>
                <a:lnTo>
                  <a:pt x="1595281" y="281985"/>
                </a:lnTo>
                <a:lnTo>
                  <a:pt x="1566749" y="263115"/>
                </a:lnTo>
                <a:lnTo>
                  <a:pt x="1707698" y="263115"/>
                </a:lnTo>
                <a:lnTo>
                  <a:pt x="1692720" y="275939"/>
                </a:lnTo>
                <a:lnTo>
                  <a:pt x="1660937" y="288669"/>
                </a:lnTo>
                <a:lnTo>
                  <a:pt x="1627567" y="290594"/>
                </a:lnTo>
                <a:close/>
              </a:path>
              <a:path w="1739900" h="368300">
                <a:moveTo>
                  <a:pt x="516267" y="83101"/>
                </a:moveTo>
                <a:lnTo>
                  <a:pt x="483127" y="83101"/>
                </a:lnTo>
                <a:lnTo>
                  <a:pt x="483127" y="27840"/>
                </a:lnTo>
                <a:lnTo>
                  <a:pt x="516267" y="27840"/>
                </a:lnTo>
                <a:lnTo>
                  <a:pt x="516267" y="83101"/>
                </a:lnTo>
                <a:close/>
              </a:path>
              <a:path w="1739900" h="368300">
                <a:moveTo>
                  <a:pt x="674483" y="290963"/>
                </a:moveTo>
                <a:lnTo>
                  <a:pt x="635688" y="282714"/>
                </a:lnTo>
                <a:lnTo>
                  <a:pt x="601783" y="259678"/>
                </a:lnTo>
                <a:lnTo>
                  <a:pt x="579335" y="225481"/>
                </a:lnTo>
                <a:lnTo>
                  <a:pt x="571854" y="186718"/>
                </a:lnTo>
                <a:lnTo>
                  <a:pt x="579335" y="147975"/>
                </a:lnTo>
                <a:lnTo>
                  <a:pt x="601783" y="113778"/>
                </a:lnTo>
                <a:lnTo>
                  <a:pt x="635688" y="90741"/>
                </a:lnTo>
                <a:lnTo>
                  <a:pt x="674483" y="82493"/>
                </a:lnTo>
                <a:lnTo>
                  <a:pt x="713590" y="89128"/>
                </a:lnTo>
                <a:lnTo>
                  <a:pt x="748429" y="110742"/>
                </a:lnTo>
                <a:lnTo>
                  <a:pt x="781529" y="110742"/>
                </a:lnTo>
                <a:lnTo>
                  <a:pt x="781529" y="115485"/>
                </a:lnTo>
                <a:lnTo>
                  <a:pt x="676716" y="115485"/>
                </a:lnTo>
                <a:lnTo>
                  <a:pt x="648841" y="121083"/>
                </a:lnTo>
                <a:lnTo>
                  <a:pt x="626078" y="136349"/>
                </a:lnTo>
                <a:lnTo>
                  <a:pt x="610731" y="158991"/>
                </a:lnTo>
                <a:lnTo>
                  <a:pt x="605103" y="186718"/>
                </a:lnTo>
                <a:lnTo>
                  <a:pt x="610636" y="213978"/>
                </a:lnTo>
                <a:lnTo>
                  <a:pt x="610731" y="214445"/>
                </a:lnTo>
                <a:lnTo>
                  <a:pt x="626078" y="237087"/>
                </a:lnTo>
                <a:lnTo>
                  <a:pt x="648841" y="252353"/>
                </a:lnTo>
                <a:lnTo>
                  <a:pt x="676716" y="257951"/>
                </a:lnTo>
                <a:lnTo>
                  <a:pt x="781529" y="257951"/>
                </a:lnTo>
                <a:lnTo>
                  <a:pt x="781529" y="262714"/>
                </a:lnTo>
                <a:lnTo>
                  <a:pt x="748429" y="262714"/>
                </a:lnTo>
                <a:lnTo>
                  <a:pt x="713590" y="284327"/>
                </a:lnTo>
                <a:lnTo>
                  <a:pt x="674483" y="290963"/>
                </a:lnTo>
                <a:close/>
              </a:path>
              <a:path w="1739900" h="368300">
                <a:moveTo>
                  <a:pt x="575022" y="115125"/>
                </a:moveTo>
                <a:lnTo>
                  <a:pt x="447432" y="115125"/>
                </a:lnTo>
                <a:lnTo>
                  <a:pt x="447432" y="83101"/>
                </a:lnTo>
                <a:lnTo>
                  <a:pt x="575022" y="83101"/>
                </a:lnTo>
                <a:lnTo>
                  <a:pt x="575022" y="115125"/>
                </a:lnTo>
                <a:close/>
              </a:path>
              <a:path w="1739900" h="368300">
                <a:moveTo>
                  <a:pt x="781529" y="110742"/>
                </a:moveTo>
                <a:lnTo>
                  <a:pt x="748429" y="110742"/>
                </a:lnTo>
                <a:lnTo>
                  <a:pt x="748429" y="83521"/>
                </a:lnTo>
                <a:lnTo>
                  <a:pt x="781529" y="83521"/>
                </a:lnTo>
                <a:lnTo>
                  <a:pt x="781529" y="110742"/>
                </a:lnTo>
                <a:close/>
              </a:path>
              <a:path w="1739900" h="368300">
                <a:moveTo>
                  <a:pt x="568241" y="285671"/>
                </a:moveTo>
                <a:lnTo>
                  <a:pt x="529728" y="285671"/>
                </a:lnTo>
                <a:lnTo>
                  <a:pt x="511643" y="282027"/>
                </a:lnTo>
                <a:lnTo>
                  <a:pt x="496873" y="272118"/>
                </a:lnTo>
                <a:lnTo>
                  <a:pt x="486911" y="257426"/>
                </a:lnTo>
                <a:lnTo>
                  <a:pt x="483248" y="239437"/>
                </a:lnTo>
                <a:lnTo>
                  <a:pt x="483127" y="115125"/>
                </a:lnTo>
                <a:lnTo>
                  <a:pt x="516287" y="115125"/>
                </a:lnTo>
                <a:lnTo>
                  <a:pt x="516287" y="246810"/>
                </a:lnTo>
                <a:lnTo>
                  <a:pt x="522296" y="252787"/>
                </a:lnTo>
                <a:lnTo>
                  <a:pt x="568241" y="252787"/>
                </a:lnTo>
                <a:lnTo>
                  <a:pt x="568241" y="285671"/>
                </a:lnTo>
                <a:close/>
              </a:path>
              <a:path w="1739900" h="368300">
                <a:moveTo>
                  <a:pt x="781529" y="257951"/>
                </a:moveTo>
                <a:lnTo>
                  <a:pt x="676716" y="257951"/>
                </a:lnTo>
                <a:lnTo>
                  <a:pt x="690752" y="256569"/>
                </a:lnTo>
                <a:lnTo>
                  <a:pt x="704121" y="252528"/>
                </a:lnTo>
                <a:lnTo>
                  <a:pt x="736296" y="226238"/>
                </a:lnTo>
                <a:lnTo>
                  <a:pt x="748328" y="186718"/>
                </a:lnTo>
                <a:lnTo>
                  <a:pt x="742700" y="158991"/>
                </a:lnTo>
                <a:lnTo>
                  <a:pt x="727353" y="136349"/>
                </a:lnTo>
                <a:lnTo>
                  <a:pt x="704591" y="121083"/>
                </a:lnTo>
                <a:lnTo>
                  <a:pt x="676716" y="115485"/>
                </a:lnTo>
                <a:lnTo>
                  <a:pt x="781529" y="115485"/>
                </a:lnTo>
                <a:lnTo>
                  <a:pt x="781529" y="257951"/>
                </a:lnTo>
                <a:close/>
              </a:path>
              <a:path w="1739900" h="368300">
                <a:moveTo>
                  <a:pt x="781529" y="285671"/>
                </a:moveTo>
                <a:lnTo>
                  <a:pt x="748429" y="285671"/>
                </a:lnTo>
                <a:lnTo>
                  <a:pt x="748429" y="262714"/>
                </a:lnTo>
                <a:lnTo>
                  <a:pt x="781529" y="262714"/>
                </a:lnTo>
                <a:lnTo>
                  <a:pt x="781529" y="285671"/>
                </a:lnTo>
                <a:close/>
              </a:path>
              <a:path w="1739900" h="368300">
                <a:moveTo>
                  <a:pt x="325516" y="290963"/>
                </a:moveTo>
                <a:lnTo>
                  <a:pt x="286721" y="282714"/>
                </a:lnTo>
                <a:lnTo>
                  <a:pt x="252817" y="259678"/>
                </a:lnTo>
                <a:lnTo>
                  <a:pt x="230368" y="225481"/>
                </a:lnTo>
                <a:lnTo>
                  <a:pt x="222885" y="186728"/>
                </a:lnTo>
                <a:lnTo>
                  <a:pt x="230368" y="147975"/>
                </a:lnTo>
                <a:lnTo>
                  <a:pt x="252817" y="113778"/>
                </a:lnTo>
                <a:lnTo>
                  <a:pt x="286721" y="90741"/>
                </a:lnTo>
                <a:lnTo>
                  <a:pt x="325516" y="82493"/>
                </a:lnTo>
                <a:lnTo>
                  <a:pt x="364623" y="89128"/>
                </a:lnTo>
                <a:lnTo>
                  <a:pt x="399462" y="110742"/>
                </a:lnTo>
                <a:lnTo>
                  <a:pt x="432542" y="110742"/>
                </a:lnTo>
                <a:lnTo>
                  <a:pt x="432542" y="115505"/>
                </a:lnTo>
                <a:lnTo>
                  <a:pt x="327749" y="115505"/>
                </a:lnTo>
                <a:lnTo>
                  <a:pt x="299874" y="121103"/>
                </a:lnTo>
                <a:lnTo>
                  <a:pt x="277112" y="136369"/>
                </a:lnTo>
                <a:lnTo>
                  <a:pt x="261764" y="159011"/>
                </a:lnTo>
                <a:lnTo>
                  <a:pt x="256139" y="186728"/>
                </a:lnTo>
                <a:lnTo>
                  <a:pt x="261670" y="214001"/>
                </a:lnTo>
                <a:lnTo>
                  <a:pt x="261764" y="214465"/>
                </a:lnTo>
                <a:lnTo>
                  <a:pt x="277112" y="237107"/>
                </a:lnTo>
                <a:lnTo>
                  <a:pt x="299874" y="252373"/>
                </a:lnTo>
                <a:lnTo>
                  <a:pt x="327749" y="257971"/>
                </a:lnTo>
                <a:lnTo>
                  <a:pt x="432542" y="257971"/>
                </a:lnTo>
                <a:lnTo>
                  <a:pt x="432542" y="262714"/>
                </a:lnTo>
                <a:lnTo>
                  <a:pt x="399462" y="262714"/>
                </a:lnTo>
                <a:lnTo>
                  <a:pt x="364623" y="284327"/>
                </a:lnTo>
                <a:lnTo>
                  <a:pt x="325516" y="290963"/>
                </a:lnTo>
                <a:close/>
              </a:path>
              <a:path w="1739900" h="368300">
                <a:moveTo>
                  <a:pt x="432542" y="110742"/>
                </a:moveTo>
                <a:lnTo>
                  <a:pt x="399462" y="110742"/>
                </a:lnTo>
                <a:lnTo>
                  <a:pt x="399462" y="83521"/>
                </a:lnTo>
                <a:lnTo>
                  <a:pt x="432542" y="83521"/>
                </a:lnTo>
                <a:lnTo>
                  <a:pt x="432542" y="110742"/>
                </a:lnTo>
                <a:close/>
              </a:path>
              <a:path w="1739900" h="368300">
                <a:moveTo>
                  <a:pt x="432542" y="257971"/>
                </a:moveTo>
                <a:lnTo>
                  <a:pt x="327749" y="257971"/>
                </a:lnTo>
                <a:lnTo>
                  <a:pt x="341787" y="256593"/>
                </a:lnTo>
                <a:lnTo>
                  <a:pt x="355157" y="252554"/>
                </a:lnTo>
                <a:lnTo>
                  <a:pt x="387336" y="226263"/>
                </a:lnTo>
                <a:lnTo>
                  <a:pt x="399359" y="186728"/>
                </a:lnTo>
                <a:lnTo>
                  <a:pt x="393734" y="159011"/>
                </a:lnTo>
                <a:lnTo>
                  <a:pt x="378387" y="136369"/>
                </a:lnTo>
                <a:lnTo>
                  <a:pt x="355624" y="121103"/>
                </a:lnTo>
                <a:lnTo>
                  <a:pt x="327749" y="115505"/>
                </a:lnTo>
                <a:lnTo>
                  <a:pt x="432542" y="115505"/>
                </a:lnTo>
                <a:lnTo>
                  <a:pt x="432542" y="257971"/>
                </a:lnTo>
                <a:close/>
              </a:path>
              <a:path w="1739900" h="368300">
                <a:moveTo>
                  <a:pt x="432542" y="285671"/>
                </a:moveTo>
                <a:lnTo>
                  <a:pt x="399462" y="285671"/>
                </a:lnTo>
                <a:lnTo>
                  <a:pt x="399462" y="262714"/>
                </a:lnTo>
                <a:lnTo>
                  <a:pt x="432542" y="262714"/>
                </a:lnTo>
                <a:lnTo>
                  <a:pt x="432542" y="285671"/>
                </a:lnTo>
                <a:close/>
              </a:path>
            </a:pathLst>
          </a:custGeom>
          <a:solidFill>
            <a:srgbClr val="04182D">
              <a:alpha val="39999"/>
            </a:srgbClr>
          </a:solidFill>
        </p:spPr>
        <p:txBody>
          <a:bodyPr wrap="square" lIns="0" tIns="0" rIns="0" bIns="0" rtlCol="0"/>
          <a:lstStyle/>
          <a:p>
            <a:endParaRPr/>
          </a:p>
        </p:txBody>
      </p:sp>
      <p:sp>
        <p:nvSpPr>
          <p:cNvPr id="5" name="object 5"/>
          <p:cNvSpPr/>
          <p:nvPr/>
        </p:nvSpPr>
        <p:spPr>
          <a:xfrm>
            <a:off x="327497" y="8167746"/>
            <a:ext cx="332105" cy="430530"/>
          </a:xfrm>
          <a:custGeom>
            <a:avLst/>
            <a:gdLst/>
            <a:ahLst/>
            <a:cxnLst/>
            <a:rect l="l" t="t" r="r" b="b"/>
            <a:pathLst>
              <a:path w="332105" h="430529">
                <a:moveTo>
                  <a:pt x="24621" y="316746"/>
                </a:moveTo>
                <a:lnTo>
                  <a:pt x="18208" y="315587"/>
                </a:lnTo>
                <a:lnTo>
                  <a:pt x="12201" y="312824"/>
                </a:lnTo>
                <a:lnTo>
                  <a:pt x="4601" y="308078"/>
                </a:lnTo>
                <a:lnTo>
                  <a:pt x="0" y="299768"/>
                </a:lnTo>
                <a:lnTo>
                  <a:pt x="13" y="16932"/>
                </a:lnTo>
                <a:lnTo>
                  <a:pt x="4618" y="8639"/>
                </a:lnTo>
                <a:lnTo>
                  <a:pt x="12211" y="3906"/>
                </a:lnTo>
                <a:lnTo>
                  <a:pt x="18214" y="1152"/>
                </a:lnTo>
                <a:lnTo>
                  <a:pt x="24618" y="0"/>
                </a:lnTo>
                <a:lnTo>
                  <a:pt x="31110" y="466"/>
                </a:lnTo>
                <a:lnTo>
                  <a:pt x="37373" y="2569"/>
                </a:lnTo>
                <a:lnTo>
                  <a:pt x="38098" y="2929"/>
                </a:lnTo>
                <a:lnTo>
                  <a:pt x="108327" y="42979"/>
                </a:lnTo>
                <a:lnTo>
                  <a:pt x="35965" y="42979"/>
                </a:lnTo>
                <a:lnTo>
                  <a:pt x="35965" y="273770"/>
                </a:lnTo>
                <a:lnTo>
                  <a:pt x="108660" y="273770"/>
                </a:lnTo>
                <a:lnTo>
                  <a:pt x="38420" y="313659"/>
                </a:lnTo>
                <a:lnTo>
                  <a:pt x="37393" y="314180"/>
                </a:lnTo>
                <a:lnTo>
                  <a:pt x="31121" y="316282"/>
                </a:lnTo>
                <a:lnTo>
                  <a:pt x="24621" y="316746"/>
                </a:lnTo>
                <a:close/>
              </a:path>
              <a:path w="332105" h="430529">
                <a:moveTo>
                  <a:pt x="108660" y="273770"/>
                </a:moveTo>
                <a:lnTo>
                  <a:pt x="35965" y="273770"/>
                </a:lnTo>
                <a:lnTo>
                  <a:pt x="147156" y="210683"/>
                </a:lnTo>
                <a:lnTo>
                  <a:pt x="147156" y="106446"/>
                </a:lnTo>
                <a:lnTo>
                  <a:pt x="35965" y="42979"/>
                </a:lnTo>
                <a:lnTo>
                  <a:pt x="108327" y="42979"/>
                </a:lnTo>
                <a:lnTo>
                  <a:pt x="179673" y="83697"/>
                </a:lnTo>
                <a:lnTo>
                  <a:pt x="183113" y="89611"/>
                </a:lnTo>
                <a:lnTo>
                  <a:pt x="183133" y="190288"/>
                </a:lnTo>
                <a:lnTo>
                  <a:pt x="255732" y="190288"/>
                </a:lnTo>
                <a:lnTo>
                  <a:pt x="183133" y="231498"/>
                </a:lnTo>
                <a:lnTo>
                  <a:pt x="183133" y="251953"/>
                </a:lnTo>
                <a:lnTo>
                  <a:pt x="147076" y="251953"/>
                </a:lnTo>
                <a:lnTo>
                  <a:pt x="108660" y="273770"/>
                </a:lnTo>
                <a:close/>
              </a:path>
              <a:path w="332105" h="430529">
                <a:moveTo>
                  <a:pt x="255732" y="190288"/>
                </a:moveTo>
                <a:lnTo>
                  <a:pt x="183133" y="190288"/>
                </a:lnTo>
                <a:lnTo>
                  <a:pt x="295814" y="126340"/>
                </a:lnTo>
                <a:lnTo>
                  <a:pt x="332032" y="146976"/>
                </a:lnTo>
                <a:lnTo>
                  <a:pt x="255732" y="190288"/>
                </a:lnTo>
                <a:close/>
              </a:path>
              <a:path w="332105" h="430529">
                <a:moveTo>
                  <a:pt x="295592" y="430266"/>
                </a:moveTo>
                <a:lnTo>
                  <a:pt x="150555" y="348363"/>
                </a:lnTo>
                <a:lnTo>
                  <a:pt x="147097" y="342438"/>
                </a:lnTo>
                <a:lnTo>
                  <a:pt x="147076" y="251953"/>
                </a:lnTo>
                <a:lnTo>
                  <a:pt x="183133" y="251953"/>
                </a:lnTo>
                <a:lnTo>
                  <a:pt x="183133" y="325448"/>
                </a:lnTo>
                <a:lnTo>
                  <a:pt x="331811" y="409610"/>
                </a:lnTo>
                <a:lnTo>
                  <a:pt x="295592" y="430266"/>
                </a:lnTo>
                <a:close/>
              </a:path>
            </a:pathLst>
          </a:custGeom>
          <a:solidFill>
            <a:srgbClr val="04182D">
              <a:alpha val="39999"/>
            </a:srgbClr>
          </a:solidFill>
        </p:spPr>
        <p:txBody>
          <a:bodyPr wrap="square" lIns="0" tIns="0" rIns="0" bIns="0" rtlCol="0"/>
          <a:lstStyle/>
          <a:p>
            <a:endParaRPr/>
          </a:p>
        </p:txBody>
      </p:sp>
      <p:sp>
        <p:nvSpPr>
          <p:cNvPr id="7" name="슬라이드 번호 개체 틀 6">
            <a:extLst>
              <a:ext uri="{FF2B5EF4-FFF2-40B4-BE49-F238E27FC236}">
                <a16:creationId xmlns:a16="http://schemas.microsoft.com/office/drawing/2014/main" id="{79F12BB8-F22A-90DB-B66C-2595E1BD7DF2}"/>
              </a:ext>
            </a:extLst>
          </p:cNvPr>
          <p:cNvSpPr>
            <a:spLocks noGrp="1"/>
          </p:cNvSpPr>
          <p:nvPr>
            <p:ph type="sldNum" sz="quarter" idx="7"/>
          </p:nvPr>
        </p:nvSpPr>
        <p:spPr/>
        <p:txBody>
          <a:bodyPr/>
          <a:lstStyle/>
          <a:p>
            <a:fld id="{B6F15528-21DE-4FAA-801E-634DDDAF4B2B}" type="slidenum">
              <a:rPr lang="en-US" altLang="ko-KR" smtClean="0"/>
              <a:t>13</a:t>
            </a:fld>
            <a:endParaRPr lang="en-US" altLang="ko-K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220" dirty="0"/>
              <a:t>The</a:t>
            </a:r>
            <a:r>
              <a:rPr spc="-145" dirty="0"/>
              <a:t> </a:t>
            </a:r>
            <a:r>
              <a:rPr spc="-254" dirty="0"/>
              <a:t>loss</a:t>
            </a:r>
            <a:r>
              <a:rPr spc="-145" dirty="0"/>
              <a:t> </a:t>
            </a:r>
            <a:r>
              <a:rPr spc="-190" dirty="0"/>
              <a:t>function</a:t>
            </a:r>
          </a:p>
        </p:txBody>
      </p:sp>
      <p:pic>
        <p:nvPicPr>
          <p:cNvPr id="3" name="object 3"/>
          <p:cNvPicPr/>
          <p:nvPr/>
        </p:nvPicPr>
        <p:blipFill>
          <a:blip r:embed="rId2" cstate="print"/>
          <a:stretch>
            <a:fillRect/>
          </a:stretch>
        </p:blipFill>
        <p:spPr>
          <a:xfrm>
            <a:off x="3254792" y="1166812"/>
            <a:ext cx="9047913" cy="6530054"/>
          </a:xfrm>
          <a:prstGeom prst="rect">
            <a:avLst/>
          </a:prstGeom>
        </p:spPr>
      </p:pic>
      <p:sp>
        <p:nvSpPr>
          <p:cNvPr id="7" name="슬라이드 번호 개체 틀 6">
            <a:extLst>
              <a:ext uri="{FF2B5EF4-FFF2-40B4-BE49-F238E27FC236}">
                <a16:creationId xmlns:a16="http://schemas.microsoft.com/office/drawing/2014/main" id="{3D5759E3-748C-AA9A-F44D-1DA3E7D72909}"/>
              </a:ext>
            </a:extLst>
          </p:cNvPr>
          <p:cNvSpPr>
            <a:spLocks noGrp="1"/>
          </p:cNvSpPr>
          <p:nvPr>
            <p:ph type="sldNum" sz="quarter" idx="7"/>
          </p:nvPr>
        </p:nvSpPr>
        <p:spPr/>
        <p:txBody>
          <a:bodyPr/>
          <a:lstStyle/>
          <a:p>
            <a:fld id="{B6F15528-21DE-4FAA-801E-634DDDAF4B2B}" type="slidenum">
              <a:rPr lang="en-US" altLang="ko-KR" smtClean="0"/>
              <a:t>14</a:t>
            </a:fld>
            <a:endParaRPr lang="en-US" altLang="ko-K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220" dirty="0"/>
              <a:t>The</a:t>
            </a:r>
            <a:r>
              <a:rPr spc="-145" dirty="0"/>
              <a:t> </a:t>
            </a:r>
            <a:r>
              <a:rPr spc="-254" dirty="0"/>
              <a:t>loss</a:t>
            </a:r>
            <a:r>
              <a:rPr spc="-145" dirty="0"/>
              <a:t> </a:t>
            </a:r>
            <a:r>
              <a:rPr spc="-190" dirty="0"/>
              <a:t>function</a:t>
            </a:r>
          </a:p>
        </p:txBody>
      </p:sp>
      <p:pic>
        <p:nvPicPr>
          <p:cNvPr id="3" name="object 3"/>
          <p:cNvPicPr/>
          <p:nvPr/>
        </p:nvPicPr>
        <p:blipFill>
          <a:blip r:embed="rId2" cstate="print"/>
          <a:stretch>
            <a:fillRect/>
          </a:stretch>
        </p:blipFill>
        <p:spPr>
          <a:xfrm>
            <a:off x="3254792" y="1166812"/>
            <a:ext cx="9047913" cy="6530054"/>
          </a:xfrm>
          <a:prstGeom prst="rect">
            <a:avLst/>
          </a:prstGeom>
        </p:spPr>
      </p:pic>
      <p:sp>
        <p:nvSpPr>
          <p:cNvPr id="7" name="슬라이드 번호 개체 틀 6">
            <a:extLst>
              <a:ext uri="{FF2B5EF4-FFF2-40B4-BE49-F238E27FC236}">
                <a16:creationId xmlns:a16="http://schemas.microsoft.com/office/drawing/2014/main" id="{55D699A2-E9BB-9DEC-9D82-30411FEC7D22}"/>
              </a:ext>
            </a:extLst>
          </p:cNvPr>
          <p:cNvSpPr>
            <a:spLocks noGrp="1"/>
          </p:cNvSpPr>
          <p:nvPr>
            <p:ph type="sldNum" sz="quarter" idx="7"/>
          </p:nvPr>
        </p:nvSpPr>
        <p:spPr/>
        <p:txBody>
          <a:bodyPr/>
          <a:lstStyle/>
          <a:p>
            <a:fld id="{B6F15528-21DE-4FAA-801E-634DDDAF4B2B}" type="slidenum">
              <a:rPr lang="en-US" altLang="ko-KR" smtClean="0"/>
              <a:t>15</a:t>
            </a:fld>
            <a:endParaRPr lang="en-US" altLang="ko-K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8589" y="273873"/>
            <a:ext cx="6221730" cy="713740"/>
          </a:xfrm>
          <a:prstGeom prst="rect">
            <a:avLst/>
          </a:prstGeom>
        </p:spPr>
        <p:txBody>
          <a:bodyPr vert="horz" wrap="square" lIns="0" tIns="13970" rIns="0" bIns="0" rtlCol="0">
            <a:spAutoFit/>
          </a:bodyPr>
          <a:lstStyle/>
          <a:p>
            <a:pPr marL="12700">
              <a:lnSpc>
                <a:spcPct val="100000"/>
              </a:lnSpc>
              <a:spcBef>
                <a:spcPts val="110"/>
              </a:spcBef>
            </a:pPr>
            <a:r>
              <a:rPr spc="-155" dirty="0"/>
              <a:t>Ordinary</a:t>
            </a:r>
            <a:r>
              <a:rPr spc="-125" dirty="0"/>
              <a:t> </a:t>
            </a:r>
            <a:r>
              <a:rPr spc="-229" dirty="0"/>
              <a:t>Least</a:t>
            </a:r>
            <a:r>
              <a:rPr spc="-120" dirty="0"/>
              <a:t> </a:t>
            </a:r>
            <a:r>
              <a:rPr spc="-180" dirty="0"/>
              <a:t>Squares</a:t>
            </a:r>
          </a:p>
        </p:txBody>
      </p:sp>
      <p:pic>
        <p:nvPicPr>
          <p:cNvPr id="3" name="object 3"/>
          <p:cNvPicPr/>
          <p:nvPr/>
        </p:nvPicPr>
        <p:blipFill>
          <a:blip r:embed="rId3" cstate="print"/>
          <a:stretch>
            <a:fillRect/>
          </a:stretch>
        </p:blipFill>
        <p:spPr>
          <a:xfrm>
            <a:off x="491289" y="1166800"/>
            <a:ext cx="7123695" cy="5240420"/>
          </a:xfrm>
          <a:prstGeom prst="rect">
            <a:avLst/>
          </a:prstGeom>
        </p:spPr>
      </p:pic>
      <p:sp>
        <p:nvSpPr>
          <p:cNvPr id="4" name="object 4"/>
          <p:cNvSpPr txBox="1"/>
          <p:nvPr/>
        </p:nvSpPr>
        <p:spPr>
          <a:xfrm>
            <a:off x="7891712" y="1012838"/>
            <a:ext cx="6806565" cy="2814873"/>
          </a:xfrm>
          <a:prstGeom prst="rect">
            <a:avLst/>
          </a:prstGeom>
        </p:spPr>
        <p:txBody>
          <a:bodyPr vert="horz" wrap="square" lIns="0" tIns="44450" rIns="0" bIns="0" rtlCol="0">
            <a:spAutoFit/>
          </a:bodyPr>
          <a:lstStyle/>
          <a:p>
            <a:pPr marR="3427095" algn="ctr">
              <a:lnSpc>
                <a:spcPct val="100000"/>
              </a:lnSpc>
              <a:spcBef>
                <a:spcPts val="350"/>
              </a:spcBef>
            </a:pPr>
            <a:r>
              <a:rPr sz="2150" i="1" spc="55" dirty="0">
                <a:solidFill>
                  <a:srgbClr val="04182D"/>
                </a:solidFill>
                <a:latin typeface="Arial"/>
                <a:cs typeface="Arial"/>
              </a:rPr>
              <a:t>n</a:t>
            </a:r>
            <a:endParaRPr sz="2150" dirty="0">
              <a:latin typeface="Arial"/>
              <a:cs typeface="Arial"/>
            </a:endParaRPr>
          </a:p>
          <a:p>
            <a:pPr marL="50800">
              <a:lnSpc>
                <a:spcPct val="100000"/>
              </a:lnSpc>
              <a:spcBef>
                <a:spcPts val="340"/>
              </a:spcBef>
            </a:pPr>
            <a:r>
              <a:rPr sz="3100" i="1" dirty="0">
                <a:solidFill>
                  <a:srgbClr val="04182D"/>
                </a:solidFill>
                <a:latin typeface="Arial"/>
                <a:cs typeface="Arial"/>
              </a:rPr>
              <a:t>RSS</a:t>
            </a:r>
            <a:r>
              <a:rPr sz="3100" i="1" spc="175" dirty="0">
                <a:solidFill>
                  <a:srgbClr val="04182D"/>
                </a:solidFill>
                <a:latin typeface="Arial"/>
                <a:cs typeface="Arial"/>
              </a:rPr>
              <a:t> </a:t>
            </a:r>
            <a:r>
              <a:rPr sz="3100" spc="-55" dirty="0">
                <a:solidFill>
                  <a:srgbClr val="04182D"/>
                </a:solidFill>
                <a:latin typeface="Lucida Sans Unicode"/>
                <a:cs typeface="Lucida Sans Unicode"/>
              </a:rPr>
              <a:t>=</a:t>
            </a:r>
            <a:r>
              <a:rPr sz="3100" spc="-229" dirty="0">
                <a:solidFill>
                  <a:srgbClr val="04182D"/>
                </a:solidFill>
                <a:latin typeface="Lucida Sans Unicode"/>
                <a:cs typeface="Lucida Sans Unicode"/>
              </a:rPr>
              <a:t> </a:t>
            </a:r>
            <a:r>
              <a:rPr sz="3100" spc="675" dirty="0">
                <a:solidFill>
                  <a:srgbClr val="04182D"/>
                </a:solidFill>
                <a:latin typeface="Arial"/>
                <a:cs typeface="Arial"/>
              </a:rPr>
              <a:t>∑</a:t>
            </a:r>
            <a:r>
              <a:rPr sz="3100" spc="675" dirty="0">
                <a:solidFill>
                  <a:srgbClr val="04182D"/>
                </a:solidFill>
                <a:latin typeface="Lucida Sans Unicode"/>
                <a:cs typeface="Lucida Sans Unicode"/>
              </a:rPr>
              <a:t>(</a:t>
            </a:r>
            <a:r>
              <a:rPr sz="3100" i="1" spc="675" dirty="0">
                <a:solidFill>
                  <a:srgbClr val="04182D"/>
                </a:solidFill>
                <a:latin typeface="Arial"/>
                <a:cs typeface="Arial"/>
              </a:rPr>
              <a:t>y</a:t>
            </a:r>
            <a:r>
              <a:rPr sz="3225" i="1" spc="1012" baseline="-12919" dirty="0">
                <a:solidFill>
                  <a:srgbClr val="04182D"/>
                </a:solidFill>
                <a:latin typeface="Arial"/>
                <a:cs typeface="Arial"/>
              </a:rPr>
              <a:t>i</a:t>
            </a:r>
            <a:r>
              <a:rPr sz="3225" i="1" spc="367" baseline="-12919" dirty="0">
                <a:solidFill>
                  <a:srgbClr val="04182D"/>
                </a:solidFill>
                <a:latin typeface="Arial"/>
                <a:cs typeface="Arial"/>
              </a:rPr>
              <a:t> </a:t>
            </a:r>
            <a:r>
              <a:rPr sz="3100" spc="-55" dirty="0">
                <a:solidFill>
                  <a:srgbClr val="04182D"/>
                </a:solidFill>
                <a:latin typeface="Lucida Sans Unicode"/>
                <a:cs typeface="Lucida Sans Unicode"/>
              </a:rPr>
              <a:t>−</a:t>
            </a:r>
            <a:r>
              <a:rPr sz="3100" spc="-295" dirty="0">
                <a:solidFill>
                  <a:srgbClr val="04182D"/>
                </a:solidFill>
                <a:latin typeface="Lucida Sans Unicode"/>
                <a:cs typeface="Lucida Sans Unicode"/>
              </a:rPr>
              <a:t> </a:t>
            </a:r>
            <a:r>
              <a:rPr sz="3100" i="1" spc="-1150" dirty="0">
                <a:solidFill>
                  <a:srgbClr val="04182D"/>
                </a:solidFill>
                <a:latin typeface="Arial"/>
                <a:cs typeface="Arial"/>
              </a:rPr>
              <a:t>y</a:t>
            </a:r>
            <a:r>
              <a:rPr sz="3100" spc="-625" dirty="0">
                <a:solidFill>
                  <a:srgbClr val="04182D"/>
                </a:solidFill>
                <a:latin typeface="Lucida Sans Unicode"/>
                <a:cs typeface="Lucida Sans Unicode"/>
              </a:rPr>
              <a:t>^</a:t>
            </a:r>
            <a:r>
              <a:rPr sz="3225" i="1" spc="187" baseline="-12919" dirty="0">
                <a:solidFill>
                  <a:srgbClr val="04182D"/>
                </a:solidFill>
                <a:latin typeface="Arial"/>
                <a:cs typeface="Arial"/>
              </a:rPr>
              <a:t>i</a:t>
            </a:r>
            <a:r>
              <a:rPr sz="3100" spc="-35" dirty="0">
                <a:solidFill>
                  <a:srgbClr val="04182D"/>
                </a:solidFill>
                <a:latin typeface="Lucida Sans Unicode"/>
                <a:cs typeface="Lucida Sans Unicode"/>
              </a:rPr>
              <a:t>)</a:t>
            </a:r>
            <a:r>
              <a:rPr sz="3225" spc="-44" baseline="33591" dirty="0">
                <a:solidFill>
                  <a:srgbClr val="04182D"/>
                </a:solidFill>
                <a:latin typeface="Lucida Sans Unicode"/>
                <a:cs typeface="Lucida Sans Unicode"/>
              </a:rPr>
              <a:t>2</a:t>
            </a:r>
            <a:endParaRPr sz="3225" baseline="33591" dirty="0">
              <a:latin typeface="Lucida Sans Unicode"/>
              <a:cs typeface="Lucida Sans Unicode"/>
            </a:endParaRPr>
          </a:p>
          <a:p>
            <a:pPr marR="3427095" algn="ctr">
              <a:lnSpc>
                <a:spcPct val="100000"/>
              </a:lnSpc>
              <a:spcBef>
                <a:spcPts val="935"/>
              </a:spcBef>
            </a:pPr>
            <a:r>
              <a:rPr sz="2150" i="1" spc="-25" dirty="0">
                <a:solidFill>
                  <a:srgbClr val="04182D"/>
                </a:solidFill>
                <a:latin typeface="Arial"/>
                <a:cs typeface="Arial"/>
              </a:rPr>
              <a:t>i</a:t>
            </a:r>
            <a:r>
              <a:rPr sz="2150" spc="-25" dirty="0">
                <a:solidFill>
                  <a:srgbClr val="04182D"/>
                </a:solidFill>
                <a:latin typeface="Lucida Sans Unicode"/>
                <a:cs typeface="Lucida Sans Unicode"/>
              </a:rPr>
              <a:t>=1</a:t>
            </a:r>
            <a:endParaRPr sz="2150" dirty="0">
              <a:latin typeface="Lucida Sans Unicode"/>
              <a:cs typeface="Lucida Sans Unicode"/>
            </a:endParaRPr>
          </a:p>
          <a:p>
            <a:pPr marL="50800">
              <a:lnSpc>
                <a:spcPct val="100000"/>
              </a:lnSpc>
              <a:spcBef>
                <a:spcPts val="2660"/>
              </a:spcBef>
            </a:pPr>
            <a:r>
              <a:rPr sz="2550" spc="120" dirty="0">
                <a:solidFill>
                  <a:srgbClr val="04182D"/>
                </a:solidFill>
                <a:latin typeface="Tahoma"/>
                <a:cs typeface="Tahoma"/>
              </a:rPr>
              <a:t>Ordinary</a:t>
            </a:r>
            <a:r>
              <a:rPr sz="2550" spc="-50" dirty="0">
                <a:solidFill>
                  <a:srgbClr val="04182D"/>
                </a:solidFill>
                <a:latin typeface="Tahoma"/>
                <a:cs typeface="Tahoma"/>
              </a:rPr>
              <a:t> </a:t>
            </a:r>
            <a:r>
              <a:rPr sz="2550" spc="95" dirty="0">
                <a:solidFill>
                  <a:srgbClr val="04182D"/>
                </a:solidFill>
                <a:latin typeface="Tahoma"/>
                <a:cs typeface="Tahoma"/>
              </a:rPr>
              <a:t>Least</a:t>
            </a:r>
            <a:r>
              <a:rPr sz="2550" spc="-45" dirty="0">
                <a:solidFill>
                  <a:srgbClr val="04182D"/>
                </a:solidFill>
                <a:latin typeface="Tahoma"/>
                <a:cs typeface="Tahoma"/>
              </a:rPr>
              <a:t> </a:t>
            </a:r>
            <a:r>
              <a:rPr sz="2550" spc="85" dirty="0">
                <a:solidFill>
                  <a:srgbClr val="04182D"/>
                </a:solidFill>
                <a:latin typeface="Tahoma"/>
                <a:cs typeface="Tahoma"/>
              </a:rPr>
              <a:t>Squares</a:t>
            </a:r>
            <a:r>
              <a:rPr sz="2550" spc="-45" dirty="0">
                <a:solidFill>
                  <a:srgbClr val="04182D"/>
                </a:solidFill>
                <a:latin typeface="Tahoma"/>
                <a:cs typeface="Tahoma"/>
              </a:rPr>
              <a:t> </a:t>
            </a:r>
            <a:r>
              <a:rPr sz="2550" spc="-20" dirty="0">
                <a:solidFill>
                  <a:srgbClr val="04182D"/>
                </a:solidFill>
                <a:latin typeface="Tahoma"/>
                <a:cs typeface="Tahoma"/>
              </a:rPr>
              <a:t>(OLS):</a:t>
            </a:r>
            <a:r>
              <a:rPr sz="2550" spc="-45" dirty="0">
                <a:solidFill>
                  <a:srgbClr val="04182D"/>
                </a:solidFill>
                <a:latin typeface="Tahoma"/>
                <a:cs typeface="Tahoma"/>
              </a:rPr>
              <a:t> </a:t>
            </a:r>
            <a:r>
              <a:rPr sz="2550" spc="90" dirty="0">
                <a:solidFill>
                  <a:srgbClr val="04182D"/>
                </a:solidFill>
                <a:latin typeface="Tahoma"/>
                <a:cs typeface="Tahoma"/>
              </a:rPr>
              <a:t>minimize</a:t>
            </a:r>
            <a:r>
              <a:rPr sz="2550" spc="-45" dirty="0">
                <a:solidFill>
                  <a:srgbClr val="04182D"/>
                </a:solidFill>
                <a:latin typeface="Tahoma"/>
                <a:cs typeface="Tahoma"/>
              </a:rPr>
              <a:t> </a:t>
            </a:r>
            <a:r>
              <a:rPr sz="2550" spc="-25" dirty="0">
                <a:solidFill>
                  <a:srgbClr val="04182D"/>
                </a:solidFill>
                <a:latin typeface="Tahoma"/>
                <a:cs typeface="Tahoma"/>
              </a:rPr>
              <a:t>RSS</a:t>
            </a:r>
            <a:endParaRPr lang="en-US" sz="2550" spc="-25" dirty="0">
              <a:solidFill>
                <a:srgbClr val="04182D"/>
              </a:solidFill>
              <a:latin typeface="Tahoma"/>
              <a:cs typeface="Tahoma"/>
            </a:endParaRPr>
          </a:p>
          <a:p>
            <a:pPr marL="50800">
              <a:lnSpc>
                <a:spcPct val="100000"/>
              </a:lnSpc>
              <a:spcBef>
                <a:spcPts val="2660"/>
              </a:spcBef>
            </a:pPr>
            <a:r>
              <a:rPr lang="en-US" altLang="ko-KR" sz="2550" dirty="0">
                <a:latin typeface="Tahoma"/>
                <a:cs typeface="Tahoma"/>
              </a:rPr>
              <a:t>RSS: Residual</a:t>
            </a:r>
            <a:r>
              <a:rPr lang="ko-KR" altLang="en-US" sz="2550" dirty="0">
                <a:latin typeface="Tahoma"/>
                <a:cs typeface="Tahoma"/>
              </a:rPr>
              <a:t> </a:t>
            </a:r>
            <a:r>
              <a:rPr lang="en-US" altLang="ko-KR" sz="2550" dirty="0">
                <a:latin typeface="Tahoma"/>
                <a:cs typeface="Tahoma"/>
              </a:rPr>
              <a:t>Sum of Squares</a:t>
            </a:r>
            <a:endParaRPr sz="2550" dirty="0">
              <a:latin typeface="Tahoma"/>
              <a:cs typeface="Tahoma"/>
            </a:endParaRPr>
          </a:p>
        </p:txBody>
      </p:sp>
      <p:sp>
        <p:nvSpPr>
          <p:cNvPr id="8" name="슬라이드 번호 개체 틀 7">
            <a:extLst>
              <a:ext uri="{FF2B5EF4-FFF2-40B4-BE49-F238E27FC236}">
                <a16:creationId xmlns:a16="http://schemas.microsoft.com/office/drawing/2014/main" id="{41EADDB2-4836-3F20-339A-F84C1259A7A4}"/>
              </a:ext>
            </a:extLst>
          </p:cNvPr>
          <p:cNvSpPr>
            <a:spLocks noGrp="1"/>
          </p:cNvSpPr>
          <p:nvPr>
            <p:ph type="sldNum" sz="quarter" idx="7"/>
          </p:nvPr>
        </p:nvSpPr>
        <p:spPr/>
        <p:txBody>
          <a:bodyPr/>
          <a:lstStyle/>
          <a:p>
            <a:fld id="{B6F15528-21DE-4FAA-801E-634DDDAF4B2B}" type="slidenum">
              <a:rPr lang="en-US" altLang="ko-KR" smtClean="0"/>
              <a:t>16</a:t>
            </a:fld>
            <a:endParaRPr lang="en-US" altLang="ko-K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8589" y="273873"/>
            <a:ext cx="10081260" cy="713740"/>
          </a:xfrm>
          <a:prstGeom prst="rect">
            <a:avLst/>
          </a:prstGeom>
        </p:spPr>
        <p:txBody>
          <a:bodyPr vert="horz" wrap="square" lIns="0" tIns="13970" rIns="0" bIns="0" rtlCol="0">
            <a:spAutoFit/>
          </a:bodyPr>
          <a:lstStyle/>
          <a:p>
            <a:pPr marL="12700">
              <a:lnSpc>
                <a:spcPct val="100000"/>
              </a:lnSpc>
              <a:spcBef>
                <a:spcPts val="110"/>
              </a:spcBef>
            </a:pPr>
            <a:r>
              <a:rPr spc="-210" dirty="0"/>
              <a:t>Linear</a:t>
            </a:r>
            <a:r>
              <a:rPr spc="-130" dirty="0"/>
              <a:t> </a:t>
            </a:r>
            <a:r>
              <a:rPr spc="-254" dirty="0"/>
              <a:t>regression</a:t>
            </a:r>
            <a:r>
              <a:rPr spc="-130" dirty="0"/>
              <a:t> </a:t>
            </a:r>
            <a:r>
              <a:rPr spc="-265" dirty="0"/>
              <a:t>in</a:t>
            </a:r>
            <a:r>
              <a:rPr spc="-130" dirty="0"/>
              <a:t> </a:t>
            </a:r>
            <a:r>
              <a:rPr spc="-235" dirty="0"/>
              <a:t>higher</a:t>
            </a:r>
            <a:r>
              <a:rPr spc="-125" dirty="0"/>
              <a:t> </a:t>
            </a:r>
            <a:r>
              <a:rPr spc="-280" dirty="0"/>
              <a:t>dimensions</a:t>
            </a:r>
          </a:p>
        </p:txBody>
      </p:sp>
      <p:pic>
        <p:nvPicPr>
          <p:cNvPr id="3" name="object 3"/>
          <p:cNvPicPr/>
          <p:nvPr/>
        </p:nvPicPr>
        <p:blipFill>
          <a:blip r:embed="rId2" cstate="print"/>
          <a:stretch>
            <a:fillRect/>
          </a:stretch>
        </p:blipFill>
        <p:spPr>
          <a:xfrm>
            <a:off x="511759" y="2169849"/>
            <a:ext cx="102352" cy="102351"/>
          </a:xfrm>
          <a:prstGeom prst="rect">
            <a:avLst/>
          </a:prstGeom>
        </p:spPr>
      </p:pic>
      <p:pic>
        <p:nvPicPr>
          <p:cNvPr id="4" name="object 4"/>
          <p:cNvPicPr/>
          <p:nvPr/>
        </p:nvPicPr>
        <p:blipFill>
          <a:blip r:embed="rId3" cstate="print"/>
          <a:stretch>
            <a:fillRect/>
          </a:stretch>
        </p:blipFill>
        <p:spPr>
          <a:xfrm>
            <a:off x="869991" y="2650903"/>
            <a:ext cx="122822" cy="122822"/>
          </a:xfrm>
          <a:prstGeom prst="rect">
            <a:avLst/>
          </a:prstGeom>
        </p:spPr>
      </p:pic>
      <p:pic>
        <p:nvPicPr>
          <p:cNvPr id="5" name="object 5"/>
          <p:cNvPicPr/>
          <p:nvPr/>
        </p:nvPicPr>
        <p:blipFill>
          <a:blip r:embed="rId4" cstate="print"/>
          <a:stretch>
            <a:fillRect/>
          </a:stretch>
        </p:blipFill>
        <p:spPr>
          <a:xfrm>
            <a:off x="511759" y="3316191"/>
            <a:ext cx="102352" cy="102351"/>
          </a:xfrm>
          <a:prstGeom prst="rect">
            <a:avLst/>
          </a:prstGeom>
        </p:spPr>
      </p:pic>
      <p:pic>
        <p:nvPicPr>
          <p:cNvPr id="6" name="object 6"/>
          <p:cNvPicPr/>
          <p:nvPr/>
        </p:nvPicPr>
        <p:blipFill>
          <a:blip r:embed="rId5" cstate="print"/>
          <a:stretch>
            <a:fillRect/>
          </a:stretch>
        </p:blipFill>
        <p:spPr>
          <a:xfrm>
            <a:off x="869991" y="3797245"/>
            <a:ext cx="122822" cy="122822"/>
          </a:xfrm>
          <a:prstGeom prst="rect">
            <a:avLst/>
          </a:prstGeom>
        </p:spPr>
      </p:pic>
      <p:pic>
        <p:nvPicPr>
          <p:cNvPr id="7" name="object 7"/>
          <p:cNvPicPr/>
          <p:nvPr/>
        </p:nvPicPr>
        <p:blipFill>
          <a:blip r:embed="rId6" cstate="print"/>
          <a:stretch>
            <a:fillRect/>
          </a:stretch>
        </p:blipFill>
        <p:spPr>
          <a:xfrm>
            <a:off x="869991" y="4452298"/>
            <a:ext cx="122822" cy="122822"/>
          </a:xfrm>
          <a:prstGeom prst="rect">
            <a:avLst/>
          </a:prstGeom>
        </p:spPr>
      </p:pic>
      <p:pic>
        <p:nvPicPr>
          <p:cNvPr id="8" name="object 8"/>
          <p:cNvPicPr/>
          <p:nvPr/>
        </p:nvPicPr>
        <p:blipFill>
          <a:blip r:embed="rId4" cstate="print"/>
          <a:stretch>
            <a:fillRect/>
          </a:stretch>
        </p:blipFill>
        <p:spPr>
          <a:xfrm>
            <a:off x="511759" y="5936401"/>
            <a:ext cx="102352" cy="102351"/>
          </a:xfrm>
          <a:prstGeom prst="rect">
            <a:avLst/>
          </a:prstGeom>
        </p:spPr>
      </p:pic>
      <p:pic>
        <p:nvPicPr>
          <p:cNvPr id="9" name="object 9"/>
          <p:cNvPicPr/>
          <p:nvPr/>
        </p:nvPicPr>
        <p:blipFill>
          <a:blip r:embed="rId7" cstate="print"/>
          <a:stretch>
            <a:fillRect/>
          </a:stretch>
        </p:blipFill>
        <p:spPr>
          <a:xfrm>
            <a:off x="869991" y="6417455"/>
            <a:ext cx="122822" cy="122822"/>
          </a:xfrm>
          <a:prstGeom prst="rect">
            <a:avLst/>
          </a:prstGeom>
        </p:spPr>
      </p:pic>
      <p:sp>
        <p:nvSpPr>
          <p:cNvPr id="10" name="object 10"/>
          <p:cNvSpPr txBox="1"/>
          <p:nvPr/>
        </p:nvSpPr>
        <p:spPr>
          <a:xfrm>
            <a:off x="834356" y="1105790"/>
            <a:ext cx="10328275" cy="5563870"/>
          </a:xfrm>
          <a:prstGeom prst="rect">
            <a:avLst/>
          </a:prstGeom>
        </p:spPr>
        <p:txBody>
          <a:bodyPr vert="horz" wrap="square" lIns="0" tIns="15240" rIns="0" bIns="0" rtlCol="0">
            <a:spAutoFit/>
          </a:bodyPr>
          <a:lstStyle/>
          <a:p>
            <a:pPr marL="3557904" algn="ctr">
              <a:lnSpc>
                <a:spcPct val="100000"/>
              </a:lnSpc>
              <a:spcBef>
                <a:spcPts val="120"/>
              </a:spcBef>
            </a:pPr>
            <a:r>
              <a:rPr sz="3100" i="1" dirty="0">
                <a:solidFill>
                  <a:srgbClr val="04182D"/>
                </a:solidFill>
                <a:latin typeface="Arial"/>
                <a:cs typeface="Arial"/>
              </a:rPr>
              <a:t>y</a:t>
            </a:r>
            <a:r>
              <a:rPr sz="3100" i="1" spc="-170" dirty="0">
                <a:solidFill>
                  <a:srgbClr val="04182D"/>
                </a:solidFill>
                <a:latin typeface="Arial"/>
                <a:cs typeface="Arial"/>
              </a:rPr>
              <a:t> </a:t>
            </a:r>
            <a:r>
              <a:rPr sz="3100" dirty="0">
                <a:solidFill>
                  <a:srgbClr val="04182D"/>
                </a:solidFill>
                <a:latin typeface="Lucida Sans Unicode"/>
                <a:cs typeface="Lucida Sans Unicode"/>
              </a:rPr>
              <a:t>=</a:t>
            </a:r>
            <a:r>
              <a:rPr sz="3100" spc="-220" dirty="0">
                <a:solidFill>
                  <a:srgbClr val="04182D"/>
                </a:solidFill>
                <a:latin typeface="Lucida Sans Unicode"/>
                <a:cs typeface="Lucida Sans Unicode"/>
              </a:rPr>
              <a:t> </a:t>
            </a:r>
            <a:r>
              <a:rPr sz="3100" i="1" dirty="0">
                <a:solidFill>
                  <a:srgbClr val="04182D"/>
                </a:solidFill>
                <a:latin typeface="Arial"/>
                <a:cs typeface="Arial"/>
              </a:rPr>
              <a:t>a</a:t>
            </a:r>
            <a:r>
              <a:rPr sz="3225" baseline="-12919" dirty="0">
                <a:solidFill>
                  <a:srgbClr val="04182D"/>
                </a:solidFill>
                <a:latin typeface="Lucida Sans Unicode"/>
                <a:cs typeface="Lucida Sans Unicode"/>
              </a:rPr>
              <a:t>1</a:t>
            </a:r>
            <a:r>
              <a:rPr sz="3100" i="1" dirty="0">
                <a:solidFill>
                  <a:srgbClr val="04182D"/>
                </a:solidFill>
                <a:latin typeface="Arial"/>
                <a:cs typeface="Arial"/>
              </a:rPr>
              <a:t>x</a:t>
            </a:r>
            <a:r>
              <a:rPr sz="3225" baseline="-12919" dirty="0">
                <a:solidFill>
                  <a:srgbClr val="04182D"/>
                </a:solidFill>
                <a:latin typeface="Lucida Sans Unicode"/>
                <a:cs typeface="Lucida Sans Unicode"/>
              </a:rPr>
              <a:t>1</a:t>
            </a:r>
            <a:r>
              <a:rPr sz="3225" spc="97" baseline="-12919" dirty="0">
                <a:solidFill>
                  <a:srgbClr val="04182D"/>
                </a:solidFill>
                <a:latin typeface="Lucida Sans Unicode"/>
                <a:cs typeface="Lucida Sans Unicode"/>
              </a:rPr>
              <a:t> </a:t>
            </a:r>
            <a:r>
              <a:rPr sz="3100" spc="-55" dirty="0">
                <a:solidFill>
                  <a:srgbClr val="04182D"/>
                </a:solidFill>
                <a:latin typeface="Lucida Sans Unicode"/>
                <a:cs typeface="Lucida Sans Unicode"/>
              </a:rPr>
              <a:t>+</a:t>
            </a:r>
            <a:r>
              <a:rPr sz="3100" spc="-300" dirty="0">
                <a:solidFill>
                  <a:srgbClr val="04182D"/>
                </a:solidFill>
                <a:latin typeface="Lucida Sans Unicode"/>
                <a:cs typeface="Lucida Sans Unicode"/>
              </a:rPr>
              <a:t> </a:t>
            </a:r>
            <a:r>
              <a:rPr sz="3100" i="1" dirty="0">
                <a:solidFill>
                  <a:srgbClr val="04182D"/>
                </a:solidFill>
                <a:latin typeface="Arial"/>
                <a:cs typeface="Arial"/>
              </a:rPr>
              <a:t>a</a:t>
            </a:r>
            <a:r>
              <a:rPr sz="3225" baseline="-12919" dirty="0">
                <a:solidFill>
                  <a:srgbClr val="04182D"/>
                </a:solidFill>
                <a:latin typeface="Lucida Sans Unicode"/>
                <a:cs typeface="Lucida Sans Unicode"/>
              </a:rPr>
              <a:t>2</a:t>
            </a:r>
            <a:r>
              <a:rPr sz="3100" i="1" dirty="0">
                <a:solidFill>
                  <a:srgbClr val="04182D"/>
                </a:solidFill>
                <a:latin typeface="Arial"/>
                <a:cs typeface="Arial"/>
              </a:rPr>
              <a:t>x</a:t>
            </a:r>
            <a:r>
              <a:rPr sz="3225" baseline="-12919" dirty="0">
                <a:solidFill>
                  <a:srgbClr val="04182D"/>
                </a:solidFill>
                <a:latin typeface="Lucida Sans Unicode"/>
                <a:cs typeface="Lucida Sans Unicode"/>
              </a:rPr>
              <a:t>2</a:t>
            </a:r>
            <a:r>
              <a:rPr sz="3225" spc="104" baseline="-12919" dirty="0">
                <a:solidFill>
                  <a:srgbClr val="04182D"/>
                </a:solidFill>
                <a:latin typeface="Lucida Sans Unicode"/>
                <a:cs typeface="Lucida Sans Unicode"/>
              </a:rPr>
              <a:t> </a:t>
            </a:r>
            <a:r>
              <a:rPr sz="3100" spc="-55" dirty="0">
                <a:solidFill>
                  <a:srgbClr val="04182D"/>
                </a:solidFill>
                <a:latin typeface="Lucida Sans Unicode"/>
                <a:cs typeface="Lucida Sans Unicode"/>
              </a:rPr>
              <a:t>+</a:t>
            </a:r>
            <a:r>
              <a:rPr sz="3100" spc="-300" dirty="0">
                <a:solidFill>
                  <a:srgbClr val="04182D"/>
                </a:solidFill>
                <a:latin typeface="Lucida Sans Unicode"/>
                <a:cs typeface="Lucida Sans Unicode"/>
              </a:rPr>
              <a:t> </a:t>
            </a:r>
            <a:r>
              <a:rPr sz="3100" i="1" spc="-450" dirty="0">
                <a:solidFill>
                  <a:srgbClr val="04182D"/>
                </a:solidFill>
                <a:latin typeface="Arial"/>
                <a:cs typeface="Arial"/>
              </a:rPr>
              <a:t>b</a:t>
            </a:r>
            <a:endParaRPr sz="3100">
              <a:latin typeface="Arial"/>
              <a:cs typeface="Arial"/>
            </a:endParaRPr>
          </a:p>
          <a:p>
            <a:pPr marL="393700" marR="4088129" indent="-368935">
              <a:lnSpc>
                <a:spcPct val="108400"/>
              </a:lnSpc>
              <a:spcBef>
                <a:spcPts val="3020"/>
              </a:spcBef>
            </a:pPr>
            <a:r>
              <a:rPr sz="2550" dirty="0">
                <a:solidFill>
                  <a:srgbClr val="04182D"/>
                </a:solidFill>
                <a:latin typeface="Tahoma"/>
                <a:cs typeface="Tahoma"/>
              </a:rPr>
              <a:t>To</a:t>
            </a:r>
            <a:r>
              <a:rPr sz="2550" spc="-70" dirty="0">
                <a:solidFill>
                  <a:srgbClr val="04182D"/>
                </a:solidFill>
                <a:latin typeface="Tahoma"/>
                <a:cs typeface="Tahoma"/>
              </a:rPr>
              <a:t> </a:t>
            </a:r>
            <a:r>
              <a:rPr sz="2550" spc="80" dirty="0">
                <a:solidFill>
                  <a:srgbClr val="04182D"/>
                </a:solidFill>
                <a:latin typeface="Tahoma"/>
                <a:cs typeface="Tahoma"/>
              </a:rPr>
              <a:t>fit</a:t>
            </a:r>
            <a:r>
              <a:rPr sz="2550" spc="-70" dirty="0">
                <a:solidFill>
                  <a:srgbClr val="04182D"/>
                </a:solidFill>
                <a:latin typeface="Tahoma"/>
                <a:cs typeface="Tahoma"/>
              </a:rPr>
              <a:t> </a:t>
            </a:r>
            <a:r>
              <a:rPr sz="2550" spc="225" dirty="0">
                <a:solidFill>
                  <a:srgbClr val="04182D"/>
                </a:solidFill>
                <a:latin typeface="Tahoma"/>
                <a:cs typeface="Tahoma"/>
              </a:rPr>
              <a:t>a</a:t>
            </a:r>
            <a:r>
              <a:rPr sz="2550" spc="-65" dirty="0">
                <a:solidFill>
                  <a:srgbClr val="04182D"/>
                </a:solidFill>
                <a:latin typeface="Tahoma"/>
                <a:cs typeface="Tahoma"/>
              </a:rPr>
              <a:t> </a:t>
            </a:r>
            <a:r>
              <a:rPr sz="2550" spc="90" dirty="0">
                <a:solidFill>
                  <a:srgbClr val="04182D"/>
                </a:solidFill>
                <a:latin typeface="Tahoma"/>
                <a:cs typeface="Tahoma"/>
              </a:rPr>
              <a:t>linear</a:t>
            </a:r>
            <a:r>
              <a:rPr sz="2550" spc="-70" dirty="0">
                <a:solidFill>
                  <a:srgbClr val="04182D"/>
                </a:solidFill>
                <a:latin typeface="Tahoma"/>
                <a:cs typeface="Tahoma"/>
              </a:rPr>
              <a:t> </a:t>
            </a:r>
            <a:r>
              <a:rPr sz="2550" spc="70" dirty="0">
                <a:solidFill>
                  <a:srgbClr val="04182D"/>
                </a:solidFill>
                <a:latin typeface="Tahoma"/>
                <a:cs typeface="Tahoma"/>
              </a:rPr>
              <a:t>regression</a:t>
            </a:r>
            <a:r>
              <a:rPr sz="2550" spc="-70" dirty="0">
                <a:solidFill>
                  <a:srgbClr val="04182D"/>
                </a:solidFill>
                <a:latin typeface="Tahoma"/>
                <a:cs typeface="Tahoma"/>
              </a:rPr>
              <a:t> </a:t>
            </a:r>
            <a:r>
              <a:rPr sz="2550" spc="114" dirty="0">
                <a:solidFill>
                  <a:srgbClr val="04182D"/>
                </a:solidFill>
                <a:latin typeface="Tahoma"/>
                <a:cs typeface="Tahoma"/>
              </a:rPr>
              <a:t>model</a:t>
            </a:r>
            <a:r>
              <a:rPr sz="2550" spc="-65" dirty="0">
                <a:solidFill>
                  <a:srgbClr val="04182D"/>
                </a:solidFill>
                <a:latin typeface="Tahoma"/>
                <a:cs typeface="Tahoma"/>
              </a:rPr>
              <a:t> </a:t>
            </a:r>
            <a:r>
              <a:rPr sz="2550" spc="-10" dirty="0">
                <a:solidFill>
                  <a:srgbClr val="04182D"/>
                </a:solidFill>
                <a:latin typeface="Tahoma"/>
                <a:cs typeface="Tahoma"/>
              </a:rPr>
              <a:t>here: </a:t>
            </a:r>
            <a:r>
              <a:rPr sz="2550" spc="160" dirty="0">
                <a:solidFill>
                  <a:srgbClr val="04182D"/>
                </a:solidFill>
                <a:latin typeface="Tahoma"/>
                <a:cs typeface="Tahoma"/>
              </a:rPr>
              <a:t>Need</a:t>
            </a:r>
            <a:r>
              <a:rPr sz="2550" spc="-120" dirty="0">
                <a:solidFill>
                  <a:srgbClr val="04182D"/>
                </a:solidFill>
                <a:latin typeface="Tahoma"/>
                <a:cs typeface="Tahoma"/>
              </a:rPr>
              <a:t> </a:t>
            </a:r>
            <a:r>
              <a:rPr sz="2550" spc="80" dirty="0">
                <a:solidFill>
                  <a:srgbClr val="04182D"/>
                </a:solidFill>
                <a:latin typeface="Tahoma"/>
                <a:cs typeface="Tahoma"/>
              </a:rPr>
              <a:t>to</a:t>
            </a:r>
            <a:r>
              <a:rPr sz="2550" spc="-120" dirty="0">
                <a:solidFill>
                  <a:srgbClr val="04182D"/>
                </a:solidFill>
                <a:latin typeface="Tahoma"/>
                <a:cs typeface="Tahoma"/>
              </a:rPr>
              <a:t> </a:t>
            </a:r>
            <a:r>
              <a:rPr sz="2550" spc="145" dirty="0">
                <a:solidFill>
                  <a:srgbClr val="04182D"/>
                </a:solidFill>
                <a:latin typeface="Tahoma"/>
                <a:cs typeface="Tahoma"/>
              </a:rPr>
              <a:t>specify</a:t>
            </a:r>
            <a:r>
              <a:rPr sz="2550" spc="-120" dirty="0">
                <a:solidFill>
                  <a:srgbClr val="04182D"/>
                </a:solidFill>
                <a:latin typeface="Tahoma"/>
                <a:cs typeface="Tahoma"/>
              </a:rPr>
              <a:t> </a:t>
            </a:r>
            <a:r>
              <a:rPr sz="2550" spc="55" dirty="0">
                <a:solidFill>
                  <a:srgbClr val="04182D"/>
                </a:solidFill>
                <a:latin typeface="Tahoma"/>
                <a:cs typeface="Tahoma"/>
              </a:rPr>
              <a:t>3</a:t>
            </a:r>
            <a:r>
              <a:rPr sz="2550" spc="-120" dirty="0">
                <a:solidFill>
                  <a:srgbClr val="04182D"/>
                </a:solidFill>
                <a:latin typeface="Tahoma"/>
                <a:cs typeface="Tahoma"/>
              </a:rPr>
              <a:t> </a:t>
            </a:r>
            <a:r>
              <a:rPr sz="2550" spc="65" dirty="0">
                <a:solidFill>
                  <a:srgbClr val="04182D"/>
                </a:solidFill>
                <a:latin typeface="Tahoma"/>
                <a:cs typeface="Tahoma"/>
              </a:rPr>
              <a:t>variables:</a:t>
            </a:r>
            <a:r>
              <a:rPr sz="2550" spc="-120" dirty="0">
                <a:solidFill>
                  <a:srgbClr val="04182D"/>
                </a:solidFill>
                <a:latin typeface="Tahoma"/>
                <a:cs typeface="Tahoma"/>
              </a:rPr>
              <a:t> </a:t>
            </a:r>
            <a:r>
              <a:rPr sz="3100" i="1" dirty="0">
                <a:solidFill>
                  <a:srgbClr val="04182D"/>
                </a:solidFill>
                <a:latin typeface="Arial"/>
                <a:cs typeface="Arial"/>
              </a:rPr>
              <a:t>a</a:t>
            </a:r>
            <a:r>
              <a:rPr sz="3225" baseline="-12919" dirty="0">
                <a:solidFill>
                  <a:srgbClr val="04182D"/>
                </a:solidFill>
                <a:latin typeface="Lucida Sans Unicode"/>
                <a:cs typeface="Lucida Sans Unicode"/>
              </a:rPr>
              <a:t>1</a:t>
            </a:r>
            <a:r>
              <a:rPr sz="3100" dirty="0">
                <a:solidFill>
                  <a:srgbClr val="04182D"/>
                </a:solidFill>
                <a:latin typeface="Lucida Sans Unicode"/>
                <a:cs typeface="Lucida Sans Unicode"/>
              </a:rPr>
              <a:t>,</a:t>
            </a:r>
            <a:r>
              <a:rPr sz="3100" spc="200" dirty="0">
                <a:solidFill>
                  <a:srgbClr val="04182D"/>
                </a:solidFill>
                <a:latin typeface="Lucida Sans Unicode"/>
                <a:cs typeface="Lucida Sans Unicode"/>
              </a:rPr>
              <a:t> </a:t>
            </a:r>
            <a:r>
              <a:rPr sz="3100" i="1" dirty="0">
                <a:solidFill>
                  <a:srgbClr val="04182D"/>
                </a:solidFill>
                <a:latin typeface="Arial"/>
                <a:cs typeface="Arial"/>
              </a:rPr>
              <a:t>a</a:t>
            </a:r>
            <a:r>
              <a:rPr sz="3225" baseline="-12919" dirty="0">
                <a:solidFill>
                  <a:srgbClr val="04182D"/>
                </a:solidFill>
                <a:latin typeface="Lucida Sans Unicode"/>
                <a:cs typeface="Lucida Sans Unicode"/>
              </a:rPr>
              <a:t>2</a:t>
            </a:r>
            <a:r>
              <a:rPr sz="3100" dirty="0">
                <a:solidFill>
                  <a:srgbClr val="04182D"/>
                </a:solidFill>
                <a:latin typeface="Lucida Sans Unicode"/>
                <a:cs typeface="Lucida Sans Unicode"/>
              </a:rPr>
              <a:t>,</a:t>
            </a:r>
            <a:r>
              <a:rPr sz="3100" spc="195" dirty="0">
                <a:solidFill>
                  <a:srgbClr val="04182D"/>
                </a:solidFill>
                <a:latin typeface="Lucida Sans Unicode"/>
                <a:cs typeface="Lucida Sans Unicode"/>
              </a:rPr>
              <a:t> </a:t>
            </a:r>
            <a:r>
              <a:rPr sz="3100" i="1" spc="-450" dirty="0">
                <a:solidFill>
                  <a:srgbClr val="04182D"/>
                </a:solidFill>
                <a:latin typeface="Arial"/>
                <a:cs typeface="Arial"/>
              </a:rPr>
              <a:t>b</a:t>
            </a:r>
            <a:endParaRPr sz="3100">
              <a:latin typeface="Arial"/>
              <a:cs typeface="Arial"/>
            </a:endParaRPr>
          </a:p>
          <a:p>
            <a:pPr marL="25400">
              <a:lnSpc>
                <a:spcPct val="100000"/>
              </a:lnSpc>
              <a:spcBef>
                <a:spcPts val="1985"/>
              </a:spcBef>
            </a:pPr>
            <a:r>
              <a:rPr sz="2550" spc="-90" dirty="0">
                <a:solidFill>
                  <a:srgbClr val="04182D"/>
                </a:solidFill>
                <a:latin typeface="Tahoma"/>
                <a:cs typeface="Tahoma"/>
              </a:rPr>
              <a:t>In</a:t>
            </a:r>
            <a:r>
              <a:rPr sz="2550" spc="-80" dirty="0">
                <a:solidFill>
                  <a:srgbClr val="04182D"/>
                </a:solidFill>
                <a:latin typeface="Tahoma"/>
                <a:cs typeface="Tahoma"/>
              </a:rPr>
              <a:t> </a:t>
            </a:r>
            <a:r>
              <a:rPr sz="2550" spc="85" dirty="0">
                <a:solidFill>
                  <a:srgbClr val="04182D"/>
                </a:solidFill>
                <a:latin typeface="Tahoma"/>
                <a:cs typeface="Tahoma"/>
              </a:rPr>
              <a:t>higher</a:t>
            </a:r>
            <a:r>
              <a:rPr sz="2550" spc="-75" dirty="0">
                <a:solidFill>
                  <a:srgbClr val="04182D"/>
                </a:solidFill>
                <a:latin typeface="Tahoma"/>
                <a:cs typeface="Tahoma"/>
              </a:rPr>
              <a:t> </a:t>
            </a:r>
            <a:r>
              <a:rPr sz="2550" spc="40" dirty="0">
                <a:solidFill>
                  <a:srgbClr val="04182D"/>
                </a:solidFill>
                <a:latin typeface="Tahoma"/>
                <a:cs typeface="Tahoma"/>
              </a:rPr>
              <a:t>dimensions:</a:t>
            </a:r>
            <a:endParaRPr sz="2550">
              <a:latin typeface="Tahoma"/>
              <a:cs typeface="Tahoma"/>
            </a:endParaRPr>
          </a:p>
          <a:p>
            <a:pPr marL="393700">
              <a:lnSpc>
                <a:spcPct val="100000"/>
              </a:lnSpc>
              <a:spcBef>
                <a:spcPts val="810"/>
              </a:spcBef>
            </a:pPr>
            <a:r>
              <a:rPr sz="2550" spc="105" dirty="0">
                <a:solidFill>
                  <a:srgbClr val="04182D"/>
                </a:solidFill>
                <a:latin typeface="Tahoma"/>
                <a:cs typeface="Tahoma"/>
              </a:rPr>
              <a:t>Known</a:t>
            </a:r>
            <a:r>
              <a:rPr sz="2550" spc="-40" dirty="0">
                <a:solidFill>
                  <a:srgbClr val="04182D"/>
                </a:solidFill>
                <a:latin typeface="Tahoma"/>
                <a:cs typeface="Tahoma"/>
              </a:rPr>
              <a:t> </a:t>
            </a:r>
            <a:r>
              <a:rPr sz="2550" spc="145" dirty="0">
                <a:solidFill>
                  <a:srgbClr val="04182D"/>
                </a:solidFill>
                <a:latin typeface="Tahoma"/>
                <a:cs typeface="Tahoma"/>
              </a:rPr>
              <a:t>as</a:t>
            </a:r>
            <a:r>
              <a:rPr sz="2550" spc="-40" dirty="0">
                <a:solidFill>
                  <a:srgbClr val="04182D"/>
                </a:solidFill>
                <a:latin typeface="Tahoma"/>
                <a:cs typeface="Tahoma"/>
              </a:rPr>
              <a:t> </a:t>
            </a:r>
            <a:r>
              <a:rPr sz="2550" spc="85" dirty="0">
                <a:solidFill>
                  <a:srgbClr val="04182D"/>
                </a:solidFill>
                <a:latin typeface="Tahoma"/>
                <a:cs typeface="Tahoma"/>
              </a:rPr>
              <a:t>multiple</a:t>
            </a:r>
            <a:r>
              <a:rPr sz="2550" spc="-40" dirty="0">
                <a:solidFill>
                  <a:srgbClr val="04182D"/>
                </a:solidFill>
                <a:latin typeface="Tahoma"/>
                <a:cs typeface="Tahoma"/>
              </a:rPr>
              <a:t> </a:t>
            </a:r>
            <a:r>
              <a:rPr sz="2550" spc="60" dirty="0">
                <a:solidFill>
                  <a:srgbClr val="04182D"/>
                </a:solidFill>
                <a:latin typeface="Tahoma"/>
                <a:cs typeface="Tahoma"/>
              </a:rPr>
              <a:t>regression</a:t>
            </a:r>
            <a:endParaRPr sz="2550">
              <a:latin typeface="Tahoma"/>
              <a:cs typeface="Tahoma"/>
            </a:endParaRPr>
          </a:p>
          <a:p>
            <a:pPr marL="393700">
              <a:lnSpc>
                <a:spcPct val="100000"/>
              </a:lnSpc>
              <a:spcBef>
                <a:spcPts val="1550"/>
              </a:spcBef>
            </a:pPr>
            <a:r>
              <a:rPr sz="2550" spc="130" dirty="0">
                <a:solidFill>
                  <a:srgbClr val="04182D"/>
                </a:solidFill>
                <a:latin typeface="Tahoma"/>
                <a:cs typeface="Tahoma"/>
              </a:rPr>
              <a:t>Must</a:t>
            </a:r>
            <a:r>
              <a:rPr sz="2550" spc="-40" dirty="0">
                <a:solidFill>
                  <a:srgbClr val="04182D"/>
                </a:solidFill>
                <a:latin typeface="Tahoma"/>
                <a:cs typeface="Tahoma"/>
              </a:rPr>
              <a:t> </a:t>
            </a:r>
            <a:r>
              <a:rPr sz="2550" spc="145" dirty="0">
                <a:solidFill>
                  <a:srgbClr val="04182D"/>
                </a:solidFill>
                <a:latin typeface="Tahoma"/>
                <a:cs typeface="Tahoma"/>
              </a:rPr>
              <a:t>specify</a:t>
            </a:r>
            <a:r>
              <a:rPr sz="2550" spc="-35" dirty="0">
                <a:solidFill>
                  <a:srgbClr val="04182D"/>
                </a:solidFill>
                <a:latin typeface="Tahoma"/>
                <a:cs typeface="Tahoma"/>
              </a:rPr>
              <a:t> </a:t>
            </a:r>
            <a:r>
              <a:rPr sz="2550" spc="114" dirty="0">
                <a:solidFill>
                  <a:srgbClr val="04182D"/>
                </a:solidFill>
                <a:latin typeface="Tahoma"/>
                <a:cs typeface="Tahoma"/>
              </a:rPr>
              <a:t>coefficients</a:t>
            </a:r>
            <a:r>
              <a:rPr sz="2550" spc="-40" dirty="0">
                <a:solidFill>
                  <a:srgbClr val="04182D"/>
                </a:solidFill>
                <a:latin typeface="Tahoma"/>
                <a:cs typeface="Tahoma"/>
              </a:rPr>
              <a:t> </a:t>
            </a:r>
            <a:r>
              <a:rPr sz="2550" spc="50" dirty="0">
                <a:solidFill>
                  <a:srgbClr val="04182D"/>
                </a:solidFill>
                <a:latin typeface="Tahoma"/>
                <a:cs typeface="Tahoma"/>
              </a:rPr>
              <a:t>for</a:t>
            </a:r>
            <a:r>
              <a:rPr sz="2550" spc="-35" dirty="0">
                <a:solidFill>
                  <a:srgbClr val="04182D"/>
                </a:solidFill>
                <a:latin typeface="Tahoma"/>
                <a:cs typeface="Tahoma"/>
              </a:rPr>
              <a:t> </a:t>
            </a:r>
            <a:r>
              <a:rPr sz="2550" spc="165" dirty="0">
                <a:solidFill>
                  <a:srgbClr val="04182D"/>
                </a:solidFill>
                <a:latin typeface="Tahoma"/>
                <a:cs typeface="Tahoma"/>
              </a:rPr>
              <a:t>each</a:t>
            </a:r>
            <a:r>
              <a:rPr sz="2550" spc="-40" dirty="0">
                <a:solidFill>
                  <a:srgbClr val="04182D"/>
                </a:solidFill>
                <a:latin typeface="Tahoma"/>
                <a:cs typeface="Tahoma"/>
              </a:rPr>
              <a:t> </a:t>
            </a:r>
            <a:r>
              <a:rPr sz="2550" spc="95" dirty="0">
                <a:solidFill>
                  <a:srgbClr val="04182D"/>
                </a:solidFill>
                <a:latin typeface="Tahoma"/>
                <a:cs typeface="Tahoma"/>
              </a:rPr>
              <a:t>feature</a:t>
            </a:r>
            <a:r>
              <a:rPr sz="2550" spc="-35" dirty="0">
                <a:solidFill>
                  <a:srgbClr val="04182D"/>
                </a:solidFill>
                <a:latin typeface="Tahoma"/>
                <a:cs typeface="Tahoma"/>
              </a:rPr>
              <a:t> </a:t>
            </a:r>
            <a:r>
              <a:rPr sz="2550" spc="150" dirty="0">
                <a:solidFill>
                  <a:srgbClr val="04182D"/>
                </a:solidFill>
                <a:latin typeface="Tahoma"/>
                <a:cs typeface="Tahoma"/>
              </a:rPr>
              <a:t>and</a:t>
            </a:r>
            <a:r>
              <a:rPr sz="2550" spc="-40" dirty="0">
                <a:solidFill>
                  <a:srgbClr val="04182D"/>
                </a:solidFill>
                <a:latin typeface="Tahoma"/>
                <a:cs typeface="Tahoma"/>
              </a:rPr>
              <a:t> </a:t>
            </a:r>
            <a:r>
              <a:rPr sz="2550" spc="95" dirty="0">
                <a:solidFill>
                  <a:srgbClr val="04182D"/>
                </a:solidFill>
                <a:latin typeface="Tahoma"/>
                <a:cs typeface="Tahoma"/>
              </a:rPr>
              <a:t>the</a:t>
            </a:r>
            <a:r>
              <a:rPr sz="2550" spc="-35" dirty="0">
                <a:solidFill>
                  <a:srgbClr val="04182D"/>
                </a:solidFill>
                <a:latin typeface="Tahoma"/>
                <a:cs typeface="Tahoma"/>
              </a:rPr>
              <a:t> </a:t>
            </a:r>
            <a:r>
              <a:rPr sz="2550" spc="110" dirty="0">
                <a:solidFill>
                  <a:srgbClr val="04182D"/>
                </a:solidFill>
                <a:latin typeface="Tahoma"/>
                <a:cs typeface="Tahoma"/>
              </a:rPr>
              <a:t>variable</a:t>
            </a:r>
            <a:r>
              <a:rPr sz="2550" spc="-40" dirty="0">
                <a:solidFill>
                  <a:srgbClr val="04182D"/>
                </a:solidFill>
                <a:latin typeface="Tahoma"/>
                <a:cs typeface="Tahoma"/>
              </a:rPr>
              <a:t> </a:t>
            </a:r>
            <a:r>
              <a:rPr sz="3100" i="1" spc="-450" dirty="0">
                <a:solidFill>
                  <a:srgbClr val="04182D"/>
                </a:solidFill>
                <a:latin typeface="Arial"/>
                <a:cs typeface="Arial"/>
              </a:rPr>
              <a:t>b</a:t>
            </a:r>
            <a:endParaRPr sz="3100">
              <a:latin typeface="Arial"/>
              <a:cs typeface="Arial"/>
            </a:endParaRPr>
          </a:p>
          <a:p>
            <a:pPr marL="3554729" algn="ctr">
              <a:lnSpc>
                <a:spcPct val="100000"/>
              </a:lnSpc>
              <a:spcBef>
                <a:spcPts val="1435"/>
              </a:spcBef>
            </a:pPr>
            <a:r>
              <a:rPr sz="3100" i="1" dirty="0">
                <a:solidFill>
                  <a:srgbClr val="04182D"/>
                </a:solidFill>
                <a:latin typeface="Arial"/>
                <a:cs typeface="Arial"/>
              </a:rPr>
              <a:t>y</a:t>
            </a:r>
            <a:r>
              <a:rPr sz="3100" i="1" spc="-220" dirty="0">
                <a:solidFill>
                  <a:srgbClr val="04182D"/>
                </a:solidFill>
                <a:latin typeface="Arial"/>
                <a:cs typeface="Arial"/>
              </a:rPr>
              <a:t> </a:t>
            </a:r>
            <a:r>
              <a:rPr sz="3100" dirty="0">
                <a:solidFill>
                  <a:srgbClr val="04182D"/>
                </a:solidFill>
                <a:latin typeface="Lucida Sans Unicode"/>
                <a:cs typeface="Lucida Sans Unicode"/>
              </a:rPr>
              <a:t>=</a:t>
            </a:r>
            <a:r>
              <a:rPr sz="3100" spc="-240" dirty="0">
                <a:solidFill>
                  <a:srgbClr val="04182D"/>
                </a:solidFill>
                <a:latin typeface="Lucida Sans Unicode"/>
                <a:cs typeface="Lucida Sans Unicode"/>
              </a:rPr>
              <a:t> </a:t>
            </a:r>
            <a:r>
              <a:rPr sz="3100" i="1" dirty="0">
                <a:solidFill>
                  <a:srgbClr val="04182D"/>
                </a:solidFill>
                <a:latin typeface="Arial"/>
                <a:cs typeface="Arial"/>
              </a:rPr>
              <a:t>a</a:t>
            </a:r>
            <a:r>
              <a:rPr sz="3225" baseline="-12919" dirty="0">
                <a:solidFill>
                  <a:srgbClr val="04182D"/>
                </a:solidFill>
                <a:latin typeface="Lucida Sans Unicode"/>
                <a:cs typeface="Lucida Sans Unicode"/>
              </a:rPr>
              <a:t>1</a:t>
            </a:r>
            <a:r>
              <a:rPr sz="3100" i="1" dirty="0">
                <a:solidFill>
                  <a:srgbClr val="04182D"/>
                </a:solidFill>
                <a:latin typeface="Arial"/>
                <a:cs typeface="Arial"/>
              </a:rPr>
              <a:t>x</a:t>
            </a:r>
            <a:r>
              <a:rPr sz="3225" baseline="-12919" dirty="0">
                <a:solidFill>
                  <a:srgbClr val="04182D"/>
                </a:solidFill>
                <a:latin typeface="Lucida Sans Unicode"/>
                <a:cs typeface="Lucida Sans Unicode"/>
              </a:rPr>
              <a:t>1</a:t>
            </a:r>
            <a:r>
              <a:rPr sz="3225" spc="67" baseline="-12919" dirty="0">
                <a:solidFill>
                  <a:srgbClr val="04182D"/>
                </a:solidFill>
                <a:latin typeface="Lucida Sans Unicode"/>
                <a:cs typeface="Lucida Sans Unicode"/>
              </a:rPr>
              <a:t> </a:t>
            </a:r>
            <a:r>
              <a:rPr sz="3100" spc="-55" dirty="0">
                <a:solidFill>
                  <a:srgbClr val="04182D"/>
                </a:solidFill>
                <a:latin typeface="Lucida Sans Unicode"/>
                <a:cs typeface="Lucida Sans Unicode"/>
              </a:rPr>
              <a:t>+</a:t>
            </a:r>
            <a:r>
              <a:rPr sz="3100" spc="-300" dirty="0">
                <a:solidFill>
                  <a:srgbClr val="04182D"/>
                </a:solidFill>
                <a:latin typeface="Lucida Sans Unicode"/>
                <a:cs typeface="Lucida Sans Unicode"/>
              </a:rPr>
              <a:t> </a:t>
            </a:r>
            <a:r>
              <a:rPr sz="3100" i="1" dirty="0">
                <a:solidFill>
                  <a:srgbClr val="04182D"/>
                </a:solidFill>
                <a:latin typeface="Arial"/>
                <a:cs typeface="Arial"/>
              </a:rPr>
              <a:t>a</a:t>
            </a:r>
            <a:r>
              <a:rPr sz="3225" baseline="-12919" dirty="0">
                <a:solidFill>
                  <a:srgbClr val="04182D"/>
                </a:solidFill>
                <a:latin typeface="Lucida Sans Unicode"/>
                <a:cs typeface="Lucida Sans Unicode"/>
              </a:rPr>
              <a:t>2</a:t>
            </a:r>
            <a:r>
              <a:rPr sz="3100" i="1" dirty="0">
                <a:solidFill>
                  <a:srgbClr val="04182D"/>
                </a:solidFill>
                <a:latin typeface="Arial"/>
                <a:cs typeface="Arial"/>
              </a:rPr>
              <a:t>x</a:t>
            </a:r>
            <a:r>
              <a:rPr sz="3225" baseline="-12919" dirty="0">
                <a:solidFill>
                  <a:srgbClr val="04182D"/>
                </a:solidFill>
                <a:latin typeface="Lucida Sans Unicode"/>
                <a:cs typeface="Lucida Sans Unicode"/>
              </a:rPr>
              <a:t>2</a:t>
            </a:r>
            <a:r>
              <a:rPr sz="3225" spc="150" baseline="-12919" dirty="0">
                <a:solidFill>
                  <a:srgbClr val="04182D"/>
                </a:solidFill>
                <a:latin typeface="Lucida Sans Unicode"/>
                <a:cs typeface="Lucida Sans Unicode"/>
              </a:rPr>
              <a:t> </a:t>
            </a:r>
            <a:r>
              <a:rPr sz="3100" spc="-55" dirty="0">
                <a:solidFill>
                  <a:srgbClr val="04182D"/>
                </a:solidFill>
                <a:latin typeface="Lucida Sans Unicode"/>
                <a:cs typeface="Lucida Sans Unicode"/>
              </a:rPr>
              <a:t>+</a:t>
            </a:r>
            <a:r>
              <a:rPr sz="3100" spc="-300" dirty="0">
                <a:solidFill>
                  <a:srgbClr val="04182D"/>
                </a:solidFill>
                <a:latin typeface="Lucida Sans Unicode"/>
                <a:cs typeface="Lucida Sans Unicode"/>
              </a:rPr>
              <a:t> </a:t>
            </a:r>
            <a:r>
              <a:rPr sz="3100" i="1" dirty="0">
                <a:solidFill>
                  <a:srgbClr val="04182D"/>
                </a:solidFill>
                <a:latin typeface="Arial"/>
                <a:cs typeface="Arial"/>
              </a:rPr>
              <a:t>a</a:t>
            </a:r>
            <a:r>
              <a:rPr sz="3225" baseline="-12919" dirty="0">
                <a:solidFill>
                  <a:srgbClr val="04182D"/>
                </a:solidFill>
                <a:latin typeface="Lucida Sans Unicode"/>
                <a:cs typeface="Lucida Sans Unicode"/>
              </a:rPr>
              <a:t>3</a:t>
            </a:r>
            <a:r>
              <a:rPr sz="3100" i="1" dirty="0">
                <a:solidFill>
                  <a:srgbClr val="04182D"/>
                </a:solidFill>
                <a:latin typeface="Arial"/>
                <a:cs typeface="Arial"/>
              </a:rPr>
              <a:t>x</a:t>
            </a:r>
            <a:r>
              <a:rPr sz="3225" baseline="-12919" dirty="0">
                <a:solidFill>
                  <a:srgbClr val="04182D"/>
                </a:solidFill>
                <a:latin typeface="Lucida Sans Unicode"/>
                <a:cs typeface="Lucida Sans Unicode"/>
              </a:rPr>
              <a:t>3</a:t>
            </a:r>
            <a:r>
              <a:rPr sz="3225" spc="142" baseline="-12919" dirty="0">
                <a:solidFill>
                  <a:srgbClr val="04182D"/>
                </a:solidFill>
                <a:latin typeface="Lucida Sans Unicode"/>
                <a:cs typeface="Lucida Sans Unicode"/>
              </a:rPr>
              <a:t> </a:t>
            </a:r>
            <a:r>
              <a:rPr sz="3100" spc="-55" dirty="0">
                <a:solidFill>
                  <a:srgbClr val="04182D"/>
                </a:solidFill>
                <a:latin typeface="Lucida Sans Unicode"/>
                <a:cs typeface="Lucida Sans Unicode"/>
              </a:rPr>
              <a:t>+</a:t>
            </a:r>
            <a:r>
              <a:rPr sz="3100" spc="-295" dirty="0">
                <a:solidFill>
                  <a:srgbClr val="04182D"/>
                </a:solidFill>
                <a:latin typeface="Lucida Sans Unicode"/>
                <a:cs typeface="Lucida Sans Unicode"/>
              </a:rPr>
              <a:t> </a:t>
            </a:r>
            <a:r>
              <a:rPr sz="3100" spc="-130" dirty="0">
                <a:solidFill>
                  <a:srgbClr val="04182D"/>
                </a:solidFill>
                <a:latin typeface="Lucida Sans Unicode"/>
                <a:cs typeface="Lucida Sans Unicode"/>
              </a:rPr>
              <a:t>...</a:t>
            </a:r>
            <a:r>
              <a:rPr sz="3100" spc="-290" dirty="0">
                <a:solidFill>
                  <a:srgbClr val="04182D"/>
                </a:solidFill>
                <a:latin typeface="Lucida Sans Unicode"/>
                <a:cs typeface="Lucida Sans Unicode"/>
              </a:rPr>
              <a:t> </a:t>
            </a:r>
            <a:r>
              <a:rPr sz="3100" spc="-55" dirty="0">
                <a:solidFill>
                  <a:srgbClr val="04182D"/>
                </a:solidFill>
                <a:latin typeface="Lucida Sans Unicode"/>
                <a:cs typeface="Lucida Sans Unicode"/>
              </a:rPr>
              <a:t>+</a:t>
            </a:r>
            <a:r>
              <a:rPr sz="3100" spc="-295" dirty="0">
                <a:solidFill>
                  <a:srgbClr val="04182D"/>
                </a:solidFill>
                <a:latin typeface="Lucida Sans Unicode"/>
                <a:cs typeface="Lucida Sans Unicode"/>
              </a:rPr>
              <a:t> </a:t>
            </a:r>
            <a:r>
              <a:rPr sz="3100" i="1" spc="125" dirty="0">
                <a:solidFill>
                  <a:srgbClr val="04182D"/>
                </a:solidFill>
                <a:latin typeface="Arial"/>
                <a:cs typeface="Arial"/>
              </a:rPr>
              <a:t>a</a:t>
            </a:r>
            <a:r>
              <a:rPr sz="3225" i="1" spc="187" baseline="-12919" dirty="0">
                <a:solidFill>
                  <a:srgbClr val="04182D"/>
                </a:solidFill>
                <a:latin typeface="Arial"/>
                <a:cs typeface="Arial"/>
              </a:rPr>
              <a:t>n</a:t>
            </a:r>
            <a:r>
              <a:rPr sz="3100" i="1" spc="125" dirty="0">
                <a:solidFill>
                  <a:srgbClr val="04182D"/>
                </a:solidFill>
                <a:latin typeface="Arial"/>
                <a:cs typeface="Arial"/>
              </a:rPr>
              <a:t>x</a:t>
            </a:r>
            <a:r>
              <a:rPr sz="3225" i="1" spc="187" baseline="-12919" dirty="0">
                <a:solidFill>
                  <a:srgbClr val="04182D"/>
                </a:solidFill>
                <a:latin typeface="Arial"/>
                <a:cs typeface="Arial"/>
              </a:rPr>
              <a:t>n</a:t>
            </a:r>
            <a:r>
              <a:rPr sz="3225" i="1" spc="270" baseline="-12919" dirty="0">
                <a:solidFill>
                  <a:srgbClr val="04182D"/>
                </a:solidFill>
                <a:latin typeface="Arial"/>
                <a:cs typeface="Arial"/>
              </a:rPr>
              <a:t> </a:t>
            </a:r>
            <a:r>
              <a:rPr sz="3100" spc="-55" dirty="0">
                <a:solidFill>
                  <a:srgbClr val="04182D"/>
                </a:solidFill>
                <a:latin typeface="Lucida Sans Unicode"/>
                <a:cs typeface="Lucida Sans Unicode"/>
              </a:rPr>
              <a:t>+</a:t>
            </a:r>
            <a:r>
              <a:rPr sz="3100" spc="-300" dirty="0">
                <a:solidFill>
                  <a:srgbClr val="04182D"/>
                </a:solidFill>
                <a:latin typeface="Lucida Sans Unicode"/>
                <a:cs typeface="Lucida Sans Unicode"/>
              </a:rPr>
              <a:t> </a:t>
            </a:r>
            <a:r>
              <a:rPr sz="3100" i="1" spc="-450" dirty="0">
                <a:solidFill>
                  <a:srgbClr val="04182D"/>
                </a:solidFill>
                <a:latin typeface="Arial"/>
                <a:cs typeface="Arial"/>
              </a:rPr>
              <a:t>b</a:t>
            </a:r>
            <a:endParaRPr sz="3100">
              <a:latin typeface="Arial"/>
              <a:cs typeface="Arial"/>
            </a:endParaRPr>
          </a:p>
          <a:p>
            <a:pPr marL="393700" marR="4058285" indent="-368935">
              <a:lnSpc>
                <a:spcPct val="126400"/>
              </a:lnSpc>
              <a:spcBef>
                <a:spcPts val="2470"/>
              </a:spcBef>
            </a:pPr>
            <a:r>
              <a:rPr sz="2550" spc="80" dirty="0">
                <a:solidFill>
                  <a:srgbClr val="04182D"/>
                </a:solidFill>
                <a:latin typeface="Tahoma"/>
                <a:cs typeface="Tahoma"/>
              </a:rPr>
              <a:t>scikit-</a:t>
            </a:r>
            <a:r>
              <a:rPr sz="2550" spc="95" dirty="0">
                <a:solidFill>
                  <a:srgbClr val="04182D"/>
                </a:solidFill>
                <a:latin typeface="Tahoma"/>
                <a:cs typeface="Tahoma"/>
              </a:rPr>
              <a:t>learn</a:t>
            </a:r>
            <a:r>
              <a:rPr sz="2550" spc="-35" dirty="0">
                <a:solidFill>
                  <a:srgbClr val="04182D"/>
                </a:solidFill>
                <a:latin typeface="Tahoma"/>
                <a:cs typeface="Tahoma"/>
              </a:rPr>
              <a:t> </a:t>
            </a:r>
            <a:r>
              <a:rPr sz="2550" spc="80" dirty="0">
                <a:solidFill>
                  <a:srgbClr val="04182D"/>
                </a:solidFill>
                <a:latin typeface="Tahoma"/>
                <a:cs typeface="Tahoma"/>
              </a:rPr>
              <a:t>works</a:t>
            </a:r>
            <a:r>
              <a:rPr sz="2550" spc="-35" dirty="0">
                <a:solidFill>
                  <a:srgbClr val="04182D"/>
                </a:solidFill>
                <a:latin typeface="Tahoma"/>
                <a:cs typeface="Tahoma"/>
              </a:rPr>
              <a:t> </a:t>
            </a:r>
            <a:r>
              <a:rPr sz="2550" spc="120" dirty="0">
                <a:solidFill>
                  <a:srgbClr val="04182D"/>
                </a:solidFill>
                <a:latin typeface="Tahoma"/>
                <a:cs typeface="Tahoma"/>
              </a:rPr>
              <a:t>exactly</a:t>
            </a:r>
            <a:r>
              <a:rPr sz="2550" spc="-35" dirty="0">
                <a:solidFill>
                  <a:srgbClr val="04182D"/>
                </a:solidFill>
                <a:latin typeface="Tahoma"/>
                <a:cs typeface="Tahoma"/>
              </a:rPr>
              <a:t> </a:t>
            </a:r>
            <a:r>
              <a:rPr sz="2550" spc="95" dirty="0">
                <a:solidFill>
                  <a:srgbClr val="04182D"/>
                </a:solidFill>
                <a:latin typeface="Tahoma"/>
                <a:cs typeface="Tahoma"/>
              </a:rPr>
              <a:t>the</a:t>
            </a:r>
            <a:r>
              <a:rPr sz="2550" spc="-30" dirty="0">
                <a:solidFill>
                  <a:srgbClr val="04182D"/>
                </a:solidFill>
                <a:latin typeface="Tahoma"/>
                <a:cs typeface="Tahoma"/>
              </a:rPr>
              <a:t> </a:t>
            </a:r>
            <a:r>
              <a:rPr sz="2550" spc="145" dirty="0">
                <a:solidFill>
                  <a:srgbClr val="04182D"/>
                </a:solidFill>
                <a:latin typeface="Tahoma"/>
                <a:cs typeface="Tahoma"/>
              </a:rPr>
              <a:t>same</a:t>
            </a:r>
            <a:r>
              <a:rPr sz="2550" spc="-35" dirty="0">
                <a:solidFill>
                  <a:srgbClr val="04182D"/>
                </a:solidFill>
                <a:latin typeface="Tahoma"/>
                <a:cs typeface="Tahoma"/>
              </a:rPr>
              <a:t> </a:t>
            </a:r>
            <a:r>
              <a:rPr sz="2550" spc="50" dirty="0">
                <a:solidFill>
                  <a:srgbClr val="04182D"/>
                </a:solidFill>
                <a:latin typeface="Tahoma"/>
                <a:cs typeface="Tahoma"/>
              </a:rPr>
              <a:t>way: </a:t>
            </a:r>
            <a:r>
              <a:rPr sz="2550" spc="110" dirty="0">
                <a:solidFill>
                  <a:srgbClr val="04182D"/>
                </a:solidFill>
                <a:latin typeface="Tahoma"/>
                <a:cs typeface="Tahoma"/>
              </a:rPr>
              <a:t>Pass</a:t>
            </a:r>
            <a:r>
              <a:rPr sz="2550" spc="-40" dirty="0">
                <a:solidFill>
                  <a:srgbClr val="04182D"/>
                </a:solidFill>
                <a:latin typeface="Tahoma"/>
                <a:cs typeface="Tahoma"/>
              </a:rPr>
              <a:t> </a:t>
            </a:r>
            <a:r>
              <a:rPr sz="2550" spc="110" dirty="0">
                <a:solidFill>
                  <a:srgbClr val="04182D"/>
                </a:solidFill>
                <a:latin typeface="Tahoma"/>
                <a:cs typeface="Tahoma"/>
              </a:rPr>
              <a:t>two</a:t>
            </a:r>
            <a:r>
              <a:rPr sz="2550" spc="-35" dirty="0">
                <a:solidFill>
                  <a:srgbClr val="04182D"/>
                </a:solidFill>
                <a:latin typeface="Tahoma"/>
                <a:cs typeface="Tahoma"/>
              </a:rPr>
              <a:t> </a:t>
            </a:r>
            <a:r>
              <a:rPr sz="2550" spc="60" dirty="0">
                <a:solidFill>
                  <a:srgbClr val="04182D"/>
                </a:solidFill>
                <a:latin typeface="Tahoma"/>
                <a:cs typeface="Tahoma"/>
              </a:rPr>
              <a:t>arrays:</a:t>
            </a:r>
            <a:r>
              <a:rPr sz="2550" spc="-35" dirty="0">
                <a:solidFill>
                  <a:srgbClr val="04182D"/>
                </a:solidFill>
                <a:latin typeface="Tahoma"/>
                <a:cs typeface="Tahoma"/>
              </a:rPr>
              <a:t> </a:t>
            </a:r>
            <a:r>
              <a:rPr sz="2550" spc="90" dirty="0">
                <a:solidFill>
                  <a:srgbClr val="04182D"/>
                </a:solidFill>
                <a:latin typeface="Tahoma"/>
                <a:cs typeface="Tahoma"/>
              </a:rPr>
              <a:t>features</a:t>
            </a:r>
            <a:r>
              <a:rPr sz="2550" spc="-35" dirty="0">
                <a:solidFill>
                  <a:srgbClr val="04182D"/>
                </a:solidFill>
                <a:latin typeface="Tahoma"/>
                <a:cs typeface="Tahoma"/>
              </a:rPr>
              <a:t> </a:t>
            </a:r>
            <a:r>
              <a:rPr sz="2550" spc="150" dirty="0">
                <a:solidFill>
                  <a:srgbClr val="04182D"/>
                </a:solidFill>
                <a:latin typeface="Tahoma"/>
                <a:cs typeface="Tahoma"/>
              </a:rPr>
              <a:t>and</a:t>
            </a:r>
            <a:r>
              <a:rPr sz="2550" spc="-35" dirty="0">
                <a:solidFill>
                  <a:srgbClr val="04182D"/>
                </a:solidFill>
                <a:latin typeface="Tahoma"/>
                <a:cs typeface="Tahoma"/>
              </a:rPr>
              <a:t> </a:t>
            </a:r>
            <a:r>
              <a:rPr sz="2550" spc="85" dirty="0">
                <a:solidFill>
                  <a:srgbClr val="04182D"/>
                </a:solidFill>
                <a:latin typeface="Tahoma"/>
                <a:cs typeface="Tahoma"/>
              </a:rPr>
              <a:t>target</a:t>
            </a:r>
            <a:endParaRPr sz="2550">
              <a:latin typeface="Tahoma"/>
              <a:cs typeface="Tahoma"/>
            </a:endParaRPr>
          </a:p>
        </p:txBody>
      </p:sp>
      <p:sp>
        <p:nvSpPr>
          <p:cNvPr id="14" name="슬라이드 번호 개체 틀 13">
            <a:extLst>
              <a:ext uri="{FF2B5EF4-FFF2-40B4-BE49-F238E27FC236}">
                <a16:creationId xmlns:a16="http://schemas.microsoft.com/office/drawing/2014/main" id="{43B30306-4CF4-B44E-87CC-A00357A7F454}"/>
              </a:ext>
            </a:extLst>
          </p:cNvPr>
          <p:cNvSpPr>
            <a:spLocks noGrp="1"/>
          </p:cNvSpPr>
          <p:nvPr>
            <p:ph type="sldNum" sz="quarter" idx="7"/>
          </p:nvPr>
        </p:nvSpPr>
        <p:spPr/>
        <p:txBody>
          <a:bodyPr/>
          <a:lstStyle/>
          <a:p>
            <a:fld id="{B6F15528-21DE-4FAA-801E-634DDDAF4B2B}" type="slidenum">
              <a:rPr lang="en-US" altLang="ko-KR" smtClean="0"/>
              <a:t>17</a:t>
            </a:fld>
            <a:endParaRPr lang="en-US" altLang="ko-K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8589" y="273873"/>
            <a:ext cx="9203055" cy="713740"/>
          </a:xfrm>
          <a:prstGeom prst="rect">
            <a:avLst/>
          </a:prstGeom>
        </p:spPr>
        <p:txBody>
          <a:bodyPr vert="horz" wrap="square" lIns="0" tIns="13970" rIns="0" bIns="0" rtlCol="0">
            <a:spAutoFit/>
          </a:bodyPr>
          <a:lstStyle/>
          <a:p>
            <a:pPr marL="12700">
              <a:lnSpc>
                <a:spcPct val="100000"/>
              </a:lnSpc>
              <a:spcBef>
                <a:spcPts val="110"/>
              </a:spcBef>
            </a:pPr>
            <a:r>
              <a:rPr spc="-210" dirty="0"/>
              <a:t>Linear</a:t>
            </a:r>
            <a:r>
              <a:rPr spc="-145" dirty="0"/>
              <a:t> </a:t>
            </a:r>
            <a:r>
              <a:rPr spc="-254" dirty="0"/>
              <a:t>regression</a:t>
            </a:r>
            <a:r>
              <a:rPr spc="-145" dirty="0"/>
              <a:t> </a:t>
            </a:r>
            <a:r>
              <a:rPr spc="-265" dirty="0"/>
              <a:t>using</a:t>
            </a:r>
            <a:r>
              <a:rPr spc="-140" dirty="0"/>
              <a:t> all</a:t>
            </a:r>
            <a:r>
              <a:rPr spc="-145" dirty="0"/>
              <a:t> </a:t>
            </a:r>
            <a:r>
              <a:rPr spc="-150" dirty="0"/>
              <a:t>features</a:t>
            </a:r>
          </a:p>
        </p:txBody>
      </p:sp>
      <p:pic>
        <p:nvPicPr>
          <p:cNvPr id="3" name="object 3"/>
          <p:cNvPicPr/>
          <p:nvPr/>
        </p:nvPicPr>
        <p:blipFill>
          <a:blip r:embed="rId2" cstate="print"/>
          <a:stretch>
            <a:fillRect/>
          </a:stretch>
        </p:blipFill>
        <p:spPr>
          <a:xfrm>
            <a:off x="491289" y="1166800"/>
            <a:ext cx="14574918" cy="3766552"/>
          </a:xfrm>
          <a:prstGeom prst="rect">
            <a:avLst/>
          </a:prstGeom>
        </p:spPr>
      </p:pic>
      <p:sp>
        <p:nvSpPr>
          <p:cNvPr id="4" name="object 4"/>
          <p:cNvSpPr txBox="1"/>
          <p:nvPr/>
        </p:nvSpPr>
        <p:spPr>
          <a:xfrm>
            <a:off x="1501980" y="1231888"/>
            <a:ext cx="3980815" cy="1008380"/>
          </a:xfrm>
          <a:prstGeom prst="rect">
            <a:avLst/>
          </a:prstGeom>
        </p:spPr>
        <p:txBody>
          <a:bodyPr vert="horz" wrap="square" lIns="0" tIns="12065" rIns="0" bIns="0" rtlCol="0">
            <a:spAutoFit/>
          </a:bodyPr>
          <a:lstStyle/>
          <a:p>
            <a:pPr marL="12700" marR="5080">
              <a:lnSpc>
                <a:spcPct val="143300"/>
              </a:lnSpc>
              <a:spcBef>
                <a:spcPts val="95"/>
              </a:spcBef>
            </a:pPr>
            <a:r>
              <a:rPr sz="2250" spc="-10" dirty="0">
                <a:solidFill>
                  <a:srgbClr val="04182D"/>
                </a:solidFill>
                <a:latin typeface="Courier New"/>
                <a:cs typeface="Courier New"/>
              </a:rPr>
              <a:t>sklearn.model_selection sklearn.linear_model</a:t>
            </a:r>
            <a:endParaRPr sz="2250">
              <a:latin typeface="Courier New"/>
              <a:cs typeface="Courier New"/>
            </a:endParaRPr>
          </a:p>
        </p:txBody>
      </p:sp>
      <p:sp>
        <p:nvSpPr>
          <p:cNvPr id="5" name="object 5"/>
          <p:cNvSpPr txBox="1"/>
          <p:nvPr/>
        </p:nvSpPr>
        <p:spPr>
          <a:xfrm>
            <a:off x="6316360" y="1231888"/>
            <a:ext cx="3292475" cy="1008380"/>
          </a:xfrm>
          <a:prstGeom prst="rect">
            <a:avLst/>
          </a:prstGeom>
        </p:spPr>
        <p:txBody>
          <a:bodyPr vert="horz" wrap="square" lIns="0" tIns="12065" rIns="0" bIns="0" rtlCol="0">
            <a:spAutoFit/>
          </a:bodyPr>
          <a:lstStyle/>
          <a:p>
            <a:pPr marL="12700" marR="5080" indent="514984">
              <a:lnSpc>
                <a:spcPct val="143300"/>
              </a:lnSpc>
              <a:spcBef>
                <a:spcPts val="95"/>
              </a:spcBef>
            </a:pPr>
            <a:r>
              <a:rPr sz="2250" spc="-10" dirty="0">
                <a:solidFill>
                  <a:srgbClr val="04182D"/>
                </a:solidFill>
                <a:latin typeface="Courier New"/>
                <a:cs typeface="Courier New"/>
              </a:rPr>
              <a:t>train_test_split LinearRegression</a:t>
            </a:r>
            <a:endParaRPr sz="2250">
              <a:latin typeface="Courier New"/>
              <a:cs typeface="Courier New"/>
            </a:endParaRPr>
          </a:p>
        </p:txBody>
      </p:sp>
      <p:sp>
        <p:nvSpPr>
          <p:cNvPr id="6" name="object 6"/>
          <p:cNvSpPr txBox="1"/>
          <p:nvPr/>
        </p:nvSpPr>
        <p:spPr>
          <a:xfrm>
            <a:off x="642352" y="2214466"/>
            <a:ext cx="12405995" cy="2482215"/>
          </a:xfrm>
          <a:prstGeom prst="rect">
            <a:avLst/>
          </a:prstGeom>
        </p:spPr>
        <p:txBody>
          <a:bodyPr vert="horz" wrap="square" lIns="0" tIns="160655" rIns="0" bIns="0" rtlCol="0">
            <a:spAutoFit/>
          </a:bodyPr>
          <a:lstStyle/>
          <a:p>
            <a:pPr marL="12700">
              <a:lnSpc>
                <a:spcPct val="100000"/>
              </a:lnSpc>
              <a:spcBef>
                <a:spcPts val="1265"/>
              </a:spcBef>
            </a:pPr>
            <a:r>
              <a:rPr sz="2250" dirty="0">
                <a:solidFill>
                  <a:srgbClr val="04182D"/>
                </a:solidFill>
                <a:latin typeface="Courier New"/>
                <a:cs typeface="Courier New"/>
              </a:rPr>
              <a:t>X_train,</a:t>
            </a:r>
            <a:r>
              <a:rPr sz="2250" spc="-10" dirty="0">
                <a:solidFill>
                  <a:srgbClr val="04182D"/>
                </a:solidFill>
                <a:latin typeface="Courier New"/>
                <a:cs typeface="Courier New"/>
              </a:rPr>
              <a:t> </a:t>
            </a:r>
            <a:r>
              <a:rPr sz="2250" dirty="0">
                <a:solidFill>
                  <a:srgbClr val="04182D"/>
                </a:solidFill>
                <a:latin typeface="Courier New"/>
                <a:cs typeface="Courier New"/>
              </a:rPr>
              <a:t>X_test, y_train, y_test = train_test_split(X, y, </a:t>
            </a:r>
            <a:r>
              <a:rPr sz="2250" spc="-10" dirty="0">
                <a:solidFill>
                  <a:srgbClr val="04182D"/>
                </a:solidFill>
                <a:latin typeface="Courier New"/>
                <a:cs typeface="Courier New"/>
              </a:rPr>
              <a:t>test_size=</a:t>
            </a:r>
            <a:r>
              <a:rPr sz="2250" spc="-10" dirty="0">
                <a:solidFill>
                  <a:srgbClr val="BE2F72"/>
                </a:solidFill>
                <a:latin typeface="Courier New"/>
                <a:cs typeface="Courier New"/>
              </a:rPr>
              <a:t>0.3</a:t>
            </a:r>
            <a:r>
              <a:rPr sz="2250" spc="-10" dirty="0">
                <a:solidFill>
                  <a:srgbClr val="04182D"/>
                </a:solidFill>
                <a:latin typeface="Courier New"/>
                <a:cs typeface="Courier New"/>
              </a:rPr>
              <a:t>,</a:t>
            </a:r>
            <a:endParaRPr sz="2250">
              <a:latin typeface="Courier New"/>
              <a:cs typeface="Courier New"/>
            </a:endParaRPr>
          </a:p>
          <a:p>
            <a:pPr marL="8953500">
              <a:lnSpc>
                <a:spcPct val="100000"/>
              </a:lnSpc>
              <a:spcBef>
                <a:spcPts val="1170"/>
              </a:spcBef>
            </a:pPr>
            <a:r>
              <a:rPr sz="2250" spc="-10" dirty="0">
                <a:solidFill>
                  <a:srgbClr val="04182D"/>
                </a:solidFill>
                <a:latin typeface="Courier New"/>
                <a:cs typeface="Courier New"/>
              </a:rPr>
              <a:t>random_state=</a:t>
            </a:r>
            <a:r>
              <a:rPr sz="2250" spc="-10" dirty="0">
                <a:solidFill>
                  <a:srgbClr val="BE2F72"/>
                </a:solidFill>
                <a:latin typeface="Courier New"/>
                <a:cs typeface="Courier New"/>
              </a:rPr>
              <a:t>42</a:t>
            </a:r>
            <a:r>
              <a:rPr sz="2250" spc="-10" dirty="0">
                <a:solidFill>
                  <a:srgbClr val="04182D"/>
                </a:solidFill>
                <a:latin typeface="Courier New"/>
                <a:cs typeface="Courier New"/>
              </a:rPr>
              <a:t>)</a:t>
            </a:r>
            <a:endParaRPr sz="2250">
              <a:latin typeface="Courier New"/>
              <a:cs typeface="Courier New"/>
            </a:endParaRPr>
          </a:p>
          <a:p>
            <a:pPr marL="12700" marR="6882130">
              <a:lnSpc>
                <a:spcPct val="143300"/>
              </a:lnSpc>
            </a:pPr>
            <a:r>
              <a:rPr sz="2250" dirty="0">
                <a:solidFill>
                  <a:srgbClr val="04182D"/>
                </a:solidFill>
                <a:latin typeface="Courier New"/>
                <a:cs typeface="Courier New"/>
              </a:rPr>
              <a:t>reg_all = </a:t>
            </a:r>
            <a:r>
              <a:rPr sz="2250" spc="-10" dirty="0">
                <a:solidFill>
                  <a:srgbClr val="04182D"/>
                </a:solidFill>
                <a:latin typeface="Courier New"/>
                <a:cs typeface="Courier New"/>
              </a:rPr>
              <a:t>LinearRegression() </a:t>
            </a:r>
            <a:r>
              <a:rPr sz="2250" dirty="0">
                <a:solidFill>
                  <a:srgbClr val="04182D"/>
                </a:solidFill>
                <a:latin typeface="Courier New"/>
                <a:cs typeface="Courier New"/>
              </a:rPr>
              <a:t>reg_all.fit(X_train, </a:t>
            </a:r>
            <a:r>
              <a:rPr sz="2250" spc="-10" dirty="0">
                <a:solidFill>
                  <a:srgbClr val="04182D"/>
                </a:solidFill>
                <a:latin typeface="Courier New"/>
                <a:cs typeface="Courier New"/>
              </a:rPr>
              <a:t>y_train) </a:t>
            </a:r>
            <a:r>
              <a:rPr sz="2250" dirty="0">
                <a:solidFill>
                  <a:srgbClr val="04182D"/>
                </a:solidFill>
                <a:latin typeface="Courier New"/>
                <a:cs typeface="Courier New"/>
              </a:rPr>
              <a:t>y_pred = </a:t>
            </a:r>
            <a:r>
              <a:rPr sz="2250" spc="-10" dirty="0">
                <a:solidFill>
                  <a:srgbClr val="04182D"/>
                </a:solidFill>
                <a:latin typeface="Courier New"/>
                <a:cs typeface="Courier New"/>
              </a:rPr>
              <a:t>reg_all.predict(X_test)</a:t>
            </a:r>
            <a:endParaRPr sz="2250">
              <a:latin typeface="Courier New"/>
              <a:cs typeface="Courier New"/>
            </a:endParaRPr>
          </a:p>
        </p:txBody>
      </p:sp>
      <p:sp>
        <p:nvSpPr>
          <p:cNvPr id="10" name="슬라이드 번호 개체 틀 9">
            <a:extLst>
              <a:ext uri="{FF2B5EF4-FFF2-40B4-BE49-F238E27FC236}">
                <a16:creationId xmlns:a16="http://schemas.microsoft.com/office/drawing/2014/main" id="{94DAC25B-1E6A-9141-A80A-AF02A6281187}"/>
              </a:ext>
            </a:extLst>
          </p:cNvPr>
          <p:cNvSpPr>
            <a:spLocks noGrp="1"/>
          </p:cNvSpPr>
          <p:nvPr>
            <p:ph type="sldNum" sz="quarter" idx="7"/>
          </p:nvPr>
        </p:nvSpPr>
        <p:spPr/>
        <p:txBody>
          <a:bodyPr/>
          <a:lstStyle/>
          <a:p>
            <a:fld id="{B6F15528-21DE-4FAA-801E-634DDDAF4B2B}" type="slidenum">
              <a:rPr lang="en-US" altLang="ko-KR" smtClean="0"/>
              <a:t>18</a:t>
            </a:fld>
            <a:endParaRPr lang="en-US" altLang="ko-K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505" dirty="0"/>
              <a:t>R-</a:t>
            </a:r>
            <a:r>
              <a:rPr spc="-175" dirty="0"/>
              <a:t>squared</a:t>
            </a:r>
          </a:p>
        </p:txBody>
      </p:sp>
      <p:pic>
        <p:nvPicPr>
          <p:cNvPr id="3" name="object 3"/>
          <p:cNvPicPr/>
          <p:nvPr/>
        </p:nvPicPr>
        <p:blipFill>
          <a:blip r:embed="rId2" cstate="print"/>
          <a:stretch>
            <a:fillRect/>
          </a:stretch>
        </p:blipFill>
        <p:spPr>
          <a:xfrm>
            <a:off x="511759" y="1351045"/>
            <a:ext cx="102352" cy="102351"/>
          </a:xfrm>
          <a:prstGeom prst="rect">
            <a:avLst/>
          </a:prstGeom>
        </p:spPr>
      </p:pic>
      <p:sp>
        <p:nvSpPr>
          <p:cNvPr id="5" name="object 5"/>
          <p:cNvSpPr txBox="1"/>
          <p:nvPr/>
        </p:nvSpPr>
        <p:spPr>
          <a:xfrm>
            <a:off x="834356" y="1003555"/>
            <a:ext cx="12583194" cy="1091581"/>
          </a:xfrm>
          <a:prstGeom prst="rect">
            <a:avLst/>
          </a:prstGeom>
        </p:spPr>
        <p:txBody>
          <a:bodyPr vert="horz" wrap="square" lIns="0" tIns="28575" rIns="0" bIns="0" rtlCol="0">
            <a:spAutoFit/>
          </a:bodyPr>
          <a:lstStyle/>
          <a:p>
            <a:pPr marL="25400" marR="17780">
              <a:lnSpc>
                <a:spcPct val="118800"/>
              </a:lnSpc>
              <a:spcBef>
                <a:spcPts val="225"/>
              </a:spcBef>
            </a:pPr>
            <a:r>
              <a:rPr sz="3100" i="1" spc="-55" dirty="0">
                <a:solidFill>
                  <a:srgbClr val="04182D"/>
                </a:solidFill>
                <a:latin typeface="Arial"/>
                <a:cs typeface="Arial"/>
              </a:rPr>
              <a:t>R</a:t>
            </a:r>
            <a:r>
              <a:rPr sz="3225" spc="-82" baseline="29715" dirty="0">
                <a:solidFill>
                  <a:srgbClr val="04182D"/>
                </a:solidFill>
                <a:latin typeface="Lucida Sans Unicode"/>
                <a:cs typeface="Lucida Sans Unicode"/>
              </a:rPr>
              <a:t>2</a:t>
            </a:r>
            <a:r>
              <a:rPr sz="2550" spc="-55" dirty="0">
                <a:solidFill>
                  <a:srgbClr val="04182D"/>
                </a:solidFill>
                <a:latin typeface="Tahoma"/>
                <a:cs typeface="Tahoma"/>
              </a:rPr>
              <a:t>:</a:t>
            </a:r>
            <a:r>
              <a:rPr sz="2550" spc="-50" dirty="0">
                <a:solidFill>
                  <a:srgbClr val="04182D"/>
                </a:solidFill>
                <a:latin typeface="Tahoma"/>
                <a:cs typeface="Tahoma"/>
              </a:rPr>
              <a:t> </a:t>
            </a:r>
            <a:r>
              <a:rPr sz="2550" spc="95" dirty="0">
                <a:solidFill>
                  <a:srgbClr val="04182D"/>
                </a:solidFill>
                <a:latin typeface="Tahoma"/>
                <a:cs typeface="Tahoma"/>
              </a:rPr>
              <a:t>quantifies</a:t>
            </a:r>
            <a:r>
              <a:rPr sz="2550" spc="-50" dirty="0">
                <a:solidFill>
                  <a:srgbClr val="04182D"/>
                </a:solidFill>
                <a:latin typeface="Tahoma"/>
                <a:cs typeface="Tahoma"/>
              </a:rPr>
              <a:t> </a:t>
            </a:r>
            <a:r>
              <a:rPr sz="2550" spc="95" dirty="0">
                <a:solidFill>
                  <a:srgbClr val="04182D"/>
                </a:solidFill>
                <a:latin typeface="Tahoma"/>
                <a:cs typeface="Tahoma"/>
              </a:rPr>
              <a:t>the</a:t>
            </a:r>
            <a:r>
              <a:rPr sz="2550" spc="-50" dirty="0">
                <a:solidFill>
                  <a:srgbClr val="04182D"/>
                </a:solidFill>
                <a:latin typeface="Tahoma"/>
                <a:cs typeface="Tahoma"/>
              </a:rPr>
              <a:t> </a:t>
            </a:r>
            <a:r>
              <a:rPr sz="2550" spc="125" dirty="0">
                <a:solidFill>
                  <a:srgbClr val="04182D"/>
                </a:solidFill>
                <a:latin typeface="Tahoma"/>
                <a:cs typeface="Tahoma"/>
              </a:rPr>
              <a:t>variance</a:t>
            </a:r>
            <a:r>
              <a:rPr sz="2550" spc="-50" dirty="0">
                <a:solidFill>
                  <a:srgbClr val="04182D"/>
                </a:solidFill>
                <a:latin typeface="Tahoma"/>
                <a:cs typeface="Tahoma"/>
              </a:rPr>
              <a:t> </a:t>
            </a:r>
            <a:r>
              <a:rPr sz="2550" spc="50" dirty="0">
                <a:solidFill>
                  <a:srgbClr val="04182D"/>
                </a:solidFill>
                <a:latin typeface="Tahoma"/>
                <a:cs typeface="Tahoma"/>
              </a:rPr>
              <a:t>in</a:t>
            </a:r>
            <a:r>
              <a:rPr sz="2550" spc="-50" dirty="0">
                <a:solidFill>
                  <a:srgbClr val="04182D"/>
                </a:solidFill>
                <a:latin typeface="Tahoma"/>
                <a:cs typeface="Tahoma"/>
              </a:rPr>
              <a:t> </a:t>
            </a:r>
            <a:r>
              <a:rPr sz="2550" spc="95" dirty="0">
                <a:solidFill>
                  <a:srgbClr val="04182D"/>
                </a:solidFill>
                <a:latin typeface="Tahoma"/>
                <a:cs typeface="Tahoma"/>
              </a:rPr>
              <a:t>target</a:t>
            </a:r>
            <a:r>
              <a:rPr sz="2550" spc="-50" dirty="0">
                <a:solidFill>
                  <a:srgbClr val="04182D"/>
                </a:solidFill>
                <a:latin typeface="Tahoma"/>
                <a:cs typeface="Tahoma"/>
              </a:rPr>
              <a:t> </a:t>
            </a:r>
            <a:r>
              <a:rPr sz="2550" spc="85" dirty="0">
                <a:solidFill>
                  <a:srgbClr val="04182D"/>
                </a:solidFill>
                <a:latin typeface="Tahoma"/>
                <a:cs typeface="Tahoma"/>
              </a:rPr>
              <a:t>values </a:t>
            </a:r>
            <a:r>
              <a:rPr sz="2550" spc="105" dirty="0">
                <a:solidFill>
                  <a:srgbClr val="04182D"/>
                </a:solidFill>
                <a:latin typeface="Tahoma"/>
                <a:cs typeface="Tahoma"/>
              </a:rPr>
              <a:t>explained</a:t>
            </a:r>
            <a:r>
              <a:rPr sz="2550" spc="-45" dirty="0">
                <a:solidFill>
                  <a:srgbClr val="04182D"/>
                </a:solidFill>
                <a:latin typeface="Tahoma"/>
                <a:cs typeface="Tahoma"/>
              </a:rPr>
              <a:t> </a:t>
            </a:r>
            <a:r>
              <a:rPr sz="2550" spc="180" dirty="0">
                <a:solidFill>
                  <a:srgbClr val="04182D"/>
                </a:solidFill>
                <a:latin typeface="Tahoma"/>
                <a:cs typeface="Tahoma"/>
              </a:rPr>
              <a:t>by</a:t>
            </a:r>
            <a:r>
              <a:rPr sz="2550" spc="-40" dirty="0">
                <a:solidFill>
                  <a:srgbClr val="04182D"/>
                </a:solidFill>
                <a:latin typeface="Tahoma"/>
                <a:cs typeface="Tahoma"/>
              </a:rPr>
              <a:t> </a:t>
            </a:r>
            <a:r>
              <a:rPr sz="2550" spc="95" dirty="0">
                <a:solidFill>
                  <a:srgbClr val="04182D"/>
                </a:solidFill>
                <a:latin typeface="Tahoma"/>
                <a:cs typeface="Tahoma"/>
              </a:rPr>
              <a:t>the</a:t>
            </a:r>
            <a:r>
              <a:rPr sz="2550" spc="-40" dirty="0">
                <a:solidFill>
                  <a:srgbClr val="04182D"/>
                </a:solidFill>
                <a:latin typeface="Tahoma"/>
                <a:cs typeface="Tahoma"/>
              </a:rPr>
              <a:t> </a:t>
            </a:r>
            <a:r>
              <a:rPr sz="2550" spc="80" dirty="0">
                <a:solidFill>
                  <a:srgbClr val="04182D"/>
                </a:solidFill>
                <a:latin typeface="Tahoma"/>
                <a:cs typeface="Tahoma"/>
              </a:rPr>
              <a:t>features</a:t>
            </a:r>
            <a:endParaRPr sz="2550" dirty="0">
              <a:latin typeface="Tahoma"/>
              <a:cs typeface="Tahoma"/>
            </a:endParaRPr>
          </a:p>
          <a:p>
            <a:pPr marL="393700">
              <a:lnSpc>
                <a:spcPct val="100000"/>
              </a:lnSpc>
              <a:spcBef>
                <a:spcPts val="810"/>
              </a:spcBef>
            </a:pPr>
            <a:r>
              <a:rPr sz="2550" spc="75" dirty="0">
                <a:solidFill>
                  <a:srgbClr val="04182D"/>
                </a:solidFill>
                <a:latin typeface="Tahoma"/>
                <a:cs typeface="Tahoma"/>
              </a:rPr>
              <a:t>Values</a:t>
            </a:r>
            <a:r>
              <a:rPr sz="2550" spc="-45" dirty="0">
                <a:solidFill>
                  <a:srgbClr val="04182D"/>
                </a:solidFill>
                <a:latin typeface="Tahoma"/>
                <a:cs typeface="Tahoma"/>
              </a:rPr>
              <a:t> </a:t>
            </a:r>
            <a:r>
              <a:rPr sz="2550" spc="110" dirty="0">
                <a:solidFill>
                  <a:srgbClr val="04182D"/>
                </a:solidFill>
                <a:latin typeface="Tahoma"/>
                <a:cs typeface="Tahoma"/>
              </a:rPr>
              <a:t>range</a:t>
            </a:r>
            <a:r>
              <a:rPr sz="2550" spc="-40" dirty="0">
                <a:solidFill>
                  <a:srgbClr val="04182D"/>
                </a:solidFill>
                <a:latin typeface="Tahoma"/>
                <a:cs typeface="Tahoma"/>
              </a:rPr>
              <a:t> </a:t>
            </a:r>
            <a:r>
              <a:rPr sz="2550" spc="85" dirty="0">
                <a:solidFill>
                  <a:srgbClr val="04182D"/>
                </a:solidFill>
                <a:latin typeface="Tahoma"/>
                <a:cs typeface="Tahoma"/>
              </a:rPr>
              <a:t>from</a:t>
            </a:r>
            <a:r>
              <a:rPr sz="2550" spc="-40" dirty="0">
                <a:solidFill>
                  <a:srgbClr val="04182D"/>
                </a:solidFill>
                <a:latin typeface="Tahoma"/>
                <a:cs typeface="Tahoma"/>
              </a:rPr>
              <a:t> </a:t>
            </a:r>
            <a:r>
              <a:rPr sz="2550" spc="330" dirty="0">
                <a:solidFill>
                  <a:srgbClr val="04182D"/>
                </a:solidFill>
                <a:latin typeface="Tahoma"/>
                <a:cs typeface="Tahoma"/>
              </a:rPr>
              <a:t>0</a:t>
            </a:r>
            <a:r>
              <a:rPr sz="2550" spc="-40" dirty="0">
                <a:solidFill>
                  <a:srgbClr val="04182D"/>
                </a:solidFill>
                <a:latin typeface="Tahoma"/>
                <a:cs typeface="Tahoma"/>
              </a:rPr>
              <a:t> </a:t>
            </a:r>
            <a:r>
              <a:rPr sz="2550" spc="80" dirty="0">
                <a:solidFill>
                  <a:srgbClr val="04182D"/>
                </a:solidFill>
                <a:latin typeface="Tahoma"/>
                <a:cs typeface="Tahoma"/>
              </a:rPr>
              <a:t>to</a:t>
            </a:r>
            <a:r>
              <a:rPr sz="2550" spc="-40" dirty="0">
                <a:solidFill>
                  <a:srgbClr val="04182D"/>
                </a:solidFill>
                <a:latin typeface="Tahoma"/>
                <a:cs typeface="Tahoma"/>
              </a:rPr>
              <a:t> </a:t>
            </a:r>
            <a:r>
              <a:rPr sz="2550" spc="-509" dirty="0">
                <a:solidFill>
                  <a:srgbClr val="04182D"/>
                </a:solidFill>
                <a:latin typeface="Tahoma"/>
                <a:cs typeface="Tahoma"/>
              </a:rPr>
              <a:t>1</a:t>
            </a:r>
            <a:endParaRPr sz="2550" dirty="0">
              <a:latin typeface="Tahoma"/>
              <a:cs typeface="Tahoma"/>
            </a:endParaRPr>
          </a:p>
        </p:txBody>
      </p:sp>
      <p:pic>
        <p:nvPicPr>
          <p:cNvPr id="6" name="object 6"/>
          <p:cNvPicPr/>
          <p:nvPr/>
        </p:nvPicPr>
        <p:blipFill>
          <a:blip r:embed="rId2" cstate="print"/>
          <a:stretch>
            <a:fillRect/>
          </a:stretch>
        </p:blipFill>
        <p:spPr>
          <a:xfrm>
            <a:off x="511759" y="2988677"/>
            <a:ext cx="102352" cy="102351"/>
          </a:xfrm>
          <a:prstGeom prst="rect">
            <a:avLst/>
          </a:prstGeom>
        </p:spPr>
      </p:pic>
      <p:pic>
        <p:nvPicPr>
          <p:cNvPr id="7" name="object 7"/>
          <p:cNvPicPr/>
          <p:nvPr/>
        </p:nvPicPr>
        <p:blipFill>
          <a:blip r:embed="rId3" cstate="print"/>
          <a:stretch>
            <a:fillRect/>
          </a:stretch>
        </p:blipFill>
        <p:spPr>
          <a:xfrm>
            <a:off x="1842335" y="3459496"/>
            <a:ext cx="4421604" cy="2947736"/>
          </a:xfrm>
          <a:prstGeom prst="rect">
            <a:avLst/>
          </a:prstGeom>
        </p:spPr>
      </p:pic>
      <p:pic>
        <p:nvPicPr>
          <p:cNvPr id="8" name="object 8"/>
          <p:cNvPicPr/>
          <p:nvPr/>
        </p:nvPicPr>
        <p:blipFill>
          <a:blip r:embed="rId2" cstate="print"/>
          <a:stretch>
            <a:fillRect/>
          </a:stretch>
        </p:blipFill>
        <p:spPr>
          <a:xfrm>
            <a:off x="7962982" y="2988677"/>
            <a:ext cx="102352" cy="102351"/>
          </a:xfrm>
          <a:prstGeom prst="rect">
            <a:avLst/>
          </a:prstGeom>
        </p:spPr>
      </p:pic>
      <p:sp>
        <p:nvSpPr>
          <p:cNvPr id="9" name="object 9"/>
          <p:cNvSpPr txBox="1"/>
          <p:nvPr/>
        </p:nvSpPr>
        <p:spPr>
          <a:xfrm>
            <a:off x="8272879" y="2743433"/>
            <a:ext cx="1323975" cy="501015"/>
          </a:xfrm>
          <a:prstGeom prst="rect">
            <a:avLst/>
          </a:prstGeom>
        </p:spPr>
        <p:txBody>
          <a:bodyPr vert="horz" wrap="square" lIns="0" tIns="15240" rIns="0" bIns="0" rtlCol="0">
            <a:spAutoFit/>
          </a:bodyPr>
          <a:lstStyle/>
          <a:p>
            <a:pPr marL="38100">
              <a:lnSpc>
                <a:spcPct val="100000"/>
              </a:lnSpc>
              <a:spcBef>
                <a:spcPts val="120"/>
              </a:spcBef>
            </a:pPr>
            <a:r>
              <a:rPr sz="2550" spc="75" dirty="0">
                <a:solidFill>
                  <a:srgbClr val="04182D"/>
                </a:solidFill>
                <a:latin typeface="Tahoma"/>
                <a:cs typeface="Tahoma"/>
              </a:rPr>
              <a:t>Low</a:t>
            </a:r>
            <a:r>
              <a:rPr sz="2550" spc="-50" dirty="0">
                <a:solidFill>
                  <a:srgbClr val="04182D"/>
                </a:solidFill>
                <a:latin typeface="Tahoma"/>
                <a:cs typeface="Tahoma"/>
              </a:rPr>
              <a:t> </a:t>
            </a:r>
            <a:r>
              <a:rPr sz="3100" i="1" spc="-25" dirty="0">
                <a:solidFill>
                  <a:srgbClr val="04182D"/>
                </a:solidFill>
                <a:latin typeface="Arial"/>
                <a:cs typeface="Arial"/>
              </a:rPr>
              <a:t>R</a:t>
            </a:r>
            <a:r>
              <a:rPr sz="3225" spc="-37" baseline="29715" dirty="0">
                <a:solidFill>
                  <a:srgbClr val="04182D"/>
                </a:solidFill>
                <a:latin typeface="Lucida Sans Unicode"/>
                <a:cs typeface="Lucida Sans Unicode"/>
              </a:rPr>
              <a:t>2</a:t>
            </a:r>
            <a:r>
              <a:rPr sz="2550" spc="-25" dirty="0">
                <a:solidFill>
                  <a:srgbClr val="04182D"/>
                </a:solidFill>
                <a:latin typeface="Tahoma"/>
                <a:cs typeface="Tahoma"/>
              </a:rPr>
              <a:t>:</a:t>
            </a:r>
            <a:endParaRPr sz="2550">
              <a:latin typeface="Tahoma"/>
              <a:cs typeface="Tahoma"/>
            </a:endParaRPr>
          </a:p>
        </p:txBody>
      </p:sp>
      <p:pic>
        <p:nvPicPr>
          <p:cNvPr id="10" name="object 10"/>
          <p:cNvPicPr/>
          <p:nvPr/>
        </p:nvPicPr>
        <p:blipFill>
          <a:blip r:embed="rId4" cstate="print"/>
          <a:stretch>
            <a:fillRect/>
          </a:stretch>
        </p:blipFill>
        <p:spPr>
          <a:xfrm>
            <a:off x="9293557" y="3459496"/>
            <a:ext cx="4421604" cy="2947736"/>
          </a:xfrm>
          <a:prstGeom prst="rect">
            <a:avLst/>
          </a:prstGeom>
        </p:spPr>
      </p:pic>
      <p:sp>
        <p:nvSpPr>
          <p:cNvPr id="14" name="슬라이드 번호 개체 틀 13">
            <a:extLst>
              <a:ext uri="{FF2B5EF4-FFF2-40B4-BE49-F238E27FC236}">
                <a16:creationId xmlns:a16="http://schemas.microsoft.com/office/drawing/2014/main" id="{65C10F16-1BBF-7780-BCDC-4AE483254A55}"/>
              </a:ext>
            </a:extLst>
          </p:cNvPr>
          <p:cNvSpPr>
            <a:spLocks noGrp="1"/>
          </p:cNvSpPr>
          <p:nvPr>
            <p:ph type="sldNum" sz="quarter" idx="7"/>
          </p:nvPr>
        </p:nvSpPr>
        <p:spPr/>
        <p:txBody>
          <a:bodyPr/>
          <a:lstStyle/>
          <a:p>
            <a:fld id="{B6F15528-21DE-4FAA-801E-634DDDAF4B2B}" type="slidenum">
              <a:rPr lang="en-US" altLang="ko-KR" smtClean="0"/>
              <a:t>19</a:t>
            </a:fld>
            <a:endParaRPr lang="en-US" altLang="ko-KR"/>
          </a:p>
        </p:txBody>
      </p:sp>
      <p:sp>
        <p:nvSpPr>
          <p:cNvPr id="16" name="TextBox 15">
            <a:extLst>
              <a:ext uri="{FF2B5EF4-FFF2-40B4-BE49-F238E27FC236}">
                <a16:creationId xmlns:a16="http://schemas.microsoft.com/office/drawing/2014/main" id="{4F774516-8625-A1B5-FAE0-698E8F1C619D}"/>
              </a:ext>
            </a:extLst>
          </p:cNvPr>
          <p:cNvSpPr txBox="1"/>
          <p:nvPr/>
        </p:nvSpPr>
        <p:spPr>
          <a:xfrm>
            <a:off x="931402" y="2781372"/>
            <a:ext cx="7778662" cy="523220"/>
          </a:xfrm>
          <a:prstGeom prst="rect">
            <a:avLst/>
          </a:prstGeom>
          <a:noFill/>
        </p:spPr>
        <p:txBody>
          <a:bodyPr wrap="square">
            <a:spAutoFit/>
          </a:bodyPr>
          <a:lstStyle/>
          <a:p>
            <a:pPr marL="25400">
              <a:lnSpc>
                <a:spcPct val="100000"/>
              </a:lnSpc>
              <a:spcBef>
                <a:spcPts val="1545"/>
              </a:spcBef>
            </a:pPr>
            <a:r>
              <a:rPr lang="en-US" altLang="ko-KR" sz="2400" spc="110" dirty="0">
                <a:solidFill>
                  <a:srgbClr val="04182D"/>
                </a:solidFill>
                <a:latin typeface="Tahoma"/>
                <a:cs typeface="Tahoma"/>
              </a:rPr>
              <a:t>High</a:t>
            </a:r>
            <a:r>
              <a:rPr lang="en-US" altLang="ko-KR" sz="2400" spc="-35" dirty="0">
                <a:solidFill>
                  <a:srgbClr val="04182D"/>
                </a:solidFill>
                <a:latin typeface="Tahoma"/>
                <a:cs typeface="Tahoma"/>
              </a:rPr>
              <a:t> </a:t>
            </a:r>
            <a:r>
              <a:rPr lang="en-US" altLang="ko-KR" sz="2800" i="1" spc="-25" dirty="0">
                <a:solidFill>
                  <a:srgbClr val="04182D"/>
                </a:solidFill>
                <a:latin typeface="Arial"/>
                <a:cs typeface="Arial"/>
              </a:rPr>
              <a:t>R</a:t>
            </a:r>
            <a:r>
              <a:rPr lang="en-US" altLang="ko-KR" sz="3200" spc="-37" baseline="29715" dirty="0">
                <a:solidFill>
                  <a:srgbClr val="04182D"/>
                </a:solidFill>
                <a:latin typeface="Lucida Sans Unicode"/>
                <a:cs typeface="Lucida Sans Unicode"/>
              </a:rPr>
              <a:t>2</a:t>
            </a:r>
            <a:r>
              <a:rPr lang="en-US" altLang="ko-KR" sz="2400" spc="-25" dirty="0">
                <a:solidFill>
                  <a:srgbClr val="04182D"/>
                </a:solidFill>
                <a:latin typeface="Tahoma"/>
                <a:cs typeface="Tahoma"/>
              </a:rPr>
              <a:t>:</a:t>
            </a:r>
            <a:endParaRPr lang="en-US" altLang="ko-KR" sz="2400" dirty="0">
              <a:latin typeface="Tahoma"/>
              <a:cs typeface="Tahom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8589" y="273885"/>
            <a:ext cx="6402070" cy="713740"/>
          </a:xfrm>
          <a:prstGeom prst="rect">
            <a:avLst/>
          </a:prstGeom>
        </p:spPr>
        <p:txBody>
          <a:bodyPr vert="horz" wrap="square" lIns="0" tIns="13970" rIns="0" bIns="0" rtlCol="0">
            <a:spAutoFit/>
          </a:bodyPr>
          <a:lstStyle/>
          <a:p>
            <a:pPr marL="12700">
              <a:lnSpc>
                <a:spcPct val="100000"/>
              </a:lnSpc>
              <a:spcBef>
                <a:spcPts val="110"/>
              </a:spcBef>
            </a:pPr>
            <a:r>
              <a:rPr spc="-505" dirty="0"/>
              <a:t>R-</a:t>
            </a:r>
            <a:r>
              <a:rPr spc="-204" dirty="0"/>
              <a:t>squared</a:t>
            </a:r>
            <a:r>
              <a:rPr spc="-114" dirty="0"/>
              <a:t> </a:t>
            </a:r>
            <a:r>
              <a:rPr spc="-265" dirty="0"/>
              <a:t>in</a:t>
            </a:r>
            <a:r>
              <a:rPr spc="-110" dirty="0"/>
              <a:t> </a:t>
            </a:r>
            <a:r>
              <a:rPr spc="-250" dirty="0"/>
              <a:t>scikit-</a:t>
            </a:r>
            <a:r>
              <a:rPr spc="-114" dirty="0"/>
              <a:t>learn</a:t>
            </a:r>
          </a:p>
        </p:txBody>
      </p:sp>
      <p:sp>
        <p:nvSpPr>
          <p:cNvPr id="3" name="object 3"/>
          <p:cNvSpPr/>
          <p:nvPr/>
        </p:nvSpPr>
        <p:spPr>
          <a:xfrm>
            <a:off x="491289" y="1166812"/>
            <a:ext cx="14575155" cy="819150"/>
          </a:xfrm>
          <a:custGeom>
            <a:avLst/>
            <a:gdLst/>
            <a:ahLst/>
            <a:cxnLst/>
            <a:rect l="l" t="t" r="r" b="b"/>
            <a:pathLst>
              <a:path w="14575155" h="819150">
                <a:moveTo>
                  <a:pt x="14498413" y="818815"/>
                </a:moveTo>
                <a:lnTo>
                  <a:pt x="76505" y="818815"/>
                </a:lnTo>
                <a:lnTo>
                  <a:pt x="71180" y="818291"/>
                </a:lnTo>
                <a:lnTo>
                  <a:pt x="31920" y="802028"/>
                </a:lnTo>
                <a:lnTo>
                  <a:pt x="4175" y="763301"/>
                </a:lnTo>
                <a:lnTo>
                  <a:pt x="0" y="742310"/>
                </a:lnTo>
                <a:lnTo>
                  <a:pt x="0" y="736934"/>
                </a:lnTo>
                <a:lnTo>
                  <a:pt x="0" y="76505"/>
                </a:lnTo>
                <a:lnTo>
                  <a:pt x="16786" y="31920"/>
                </a:lnTo>
                <a:lnTo>
                  <a:pt x="55513" y="4175"/>
                </a:lnTo>
                <a:lnTo>
                  <a:pt x="76505" y="0"/>
                </a:lnTo>
                <a:lnTo>
                  <a:pt x="14498413" y="0"/>
                </a:lnTo>
                <a:lnTo>
                  <a:pt x="14542998" y="16786"/>
                </a:lnTo>
                <a:lnTo>
                  <a:pt x="14570742" y="55513"/>
                </a:lnTo>
                <a:lnTo>
                  <a:pt x="14574918" y="76505"/>
                </a:lnTo>
                <a:lnTo>
                  <a:pt x="14574918" y="742310"/>
                </a:lnTo>
                <a:lnTo>
                  <a:pt x="14558132" y="786895"/>
                </a:lnTo>
                <a:lnTo>
                  <a:pt x="14519404" y="814639"/>
                </a:lnTo>
                <a:lnTo>
                  <a:pt x="14503737" y="818291"/>
                </a:lnTo>
                <a:lnTo>
                  <a:pt x="14498413" y="818815"/>
                </a:lnTo>
                <a:close/>
              </a:path>
            </a:pathLst>
          </a:custGeom>
          <a:solidFill>
            <a:srgbClr val="F6F2EB"/>
          </a:solidFill>
        </p:spPr>
        <p:txBody>
          <a:bodyPr wrap="square" lIns="0" tIns="0" rIns="0" bIns="0" rtlCol="0"/>
          <a:lstStyle/>
          <a:p>
            <a:endParaRPr/>
          </a:p>
        </p:txBody>
      </p:sp>
      <p:sp>
        <p:nvSpPr>
          <p:cNvPr id="4" name="object 4"/>
          <p:cNvSpPr/>
          <p:nvPr/>
        </p:nvSpPr>
        <p:spPr>
          <a:xfrm>
            <a:off x="491289" y="2231272"/>
            <a:ext cx="14575155" cy="819150"/>
          </a:xfrm>
          <a:custGeom>
            <a:avLst/>
            <a:gdLst/>
            <a:ahLst/>
            <a:cxnLst/>
            <a:rect l="l" t="t" r="r" b="b"/>
            <a:pathLst>
              <a:path w="14575155" h="819150">
                <a:moveTo>
                  <a:pt x="14498413" y="818815"/>
                </a:moveTo>
                <a:lnTo>
                  <a:pt x="76505" y="818815"/>
                </a:lnTo>
                <a:lnTo>
                  <a:pt x="71180" y="818290"/>
                </a:lnTo>
                <a:lnTo>
                  <a:pt x="31920" y="802028"/>
                </a:lnTo>
                <a:lnTo>
                  <a:pt x="4175" y="763300"/>
                </a:lnTo>
                <a:lnTo>
                  <a:pt x="0" y="742310"/>
                </a:lnTo>
                <a:lnTo>
                  <a:pt x="0" y="736933"/>
                </a:lnTo>
                <a:lnTo>
                  <a:pt x="0" y="76505"/>
                </a:lnTo>
                <a:lnTo>
                  <a:pt x="16786" y="31919"/>
                </a:lnTo>
                <a:lnTo>
                  <a:pt x="55513" y="4175"/>
                </a:lnTo>
                <a:lnTo>
                  <a:pt x="76505" y="0"/>
                </a:lnTo>
                <a:lnTo>
                  <a:pt x="14498413" y="0"/>
                </a:lnTo>
                <a:lnTo>
                  <a:pt x="14542998" y="16786"/>
                </a:lnTo>
                <a:lnTo>
                  <a:pt x="14570742" y="55513"/>
                </a:lnTo>
                <a:lnTo>
                  <a:pt x="14574918" y="76505"/>
                </a:lnTo>
                <a:lnTo>
                  <a:pt x="14574918" y="742310"/>
                </a:lnTo>
                <a:lnTo>
                  <a:pt x="14558132" y="786894"/>
                </a:lnTo>
                <a:lnTo>
                  <a:pt x="14519404" y="814639"/>
                </a:lnTo>
                <a:lnTo>
                  <a:pt x="14503737" y="818290"/>
                </a:lnTo>
                <a:lnTo>
                  <a:pt x="14498413" y="818815"/>
                </a:lnTo>
                <a:close/>
              </a:path>
            </a:pathLst>
          </a:custGeom>
          <a:solidFill>
            <a:srgbClr val="04182D"/>
          </a:solidFill>
        </p:spPr>
        <p:txBody>
          <a:bodyPr wrap="square" lIns="0" tIns="0" rIns="0" bIns="0" rtlCol="0"/>
          <a:lstStyle/>
          <a:p>
            <a:endParaRPr/>
          </a:p>
        </p:txBody>
      </p:sp>
      <p:sp>
        <p:nvSpPr>
          <p:cNvPr id="5" name="object 5"/>
          <p:cNvSpPr txBox="1"/>
          <p:nvPr/>
        </p:nvSpPr>
        <p:spPr>
          <a:xfrm>
            <a:off x="642352" y="1379286"/>
            <a:ext cx="5012055" cy="369570"/>
          </a:xfrm>
          <a:prstGeom prst="rect">
            <a:avLst/>
          </a:prstGeom>
        </p:spPr>
        <p:txBody>
          <a:bodyPr vert="horz" wrap="square" lIns="0" tIns="13335" rIns="0" bIns="0" rtlCol="0">
            <a:spAutoFit/>
          </a:bodyPr>
          <a:lstStyle/>
          <a:p>
            <a:pPr marL="12700">
              <a:lnSpc>
                <a:spcPct val="100000"/>
              </a:lnSpc>
              <a:spcBef>
                <a:spcPts val="105"/>
              </a:spcBef>
            </a:pPr>
            <a:r>
              <a:rPr sz="2250" dirty="0">
                <a:solidFill>
                  <a:srgbClr val="04182D"/>
                </a:solidFill>
                <a:latin typeface="Courier New"/>
                <a:cs typeface="Courier New"/>
              </a:rPr>
              <a:t>reg_all.score(X_test, </a:t>
            </a:r>
            <a:r>
              <a:rPr sz="2250" spc="-10" dirty="0">
                <a:solidFill>
                  <a:srgbClr val="04182D"/>
                </a:solidFill>
                <a:latin typeface="Courier New"/>
                <a:cs typeface="Courier New"/>
              </a:rPr>
              <a:t>y_test)</a:t>
            </a:r>
            <a:endParaRPr sz="2250">
              <a:latin typeface="Courier New"/>
              <a:cs typeface="Courier New"/>
            </a:endParaRPr>
          </a:p>
        </p:txBody>
      </p:sp>
      <p:sp>
        <p:nvSpPr>
          <p:cNvPr id="6" name="object 6"/>
          <p:cNvSpPr txBox="1"/>
          <p:nvPr/>
        </p:nvSpPr>
        <p:spPr>
          <a:xfrm>
            <a:off x="642352" y="2443747"/>
            <a:ext cx="2948940" cy="369570"/>
          </a:xfrm>
          <a:prstGeom prst="rect">
            <a:avLst/>
          </a:prstGeom>
        </p:spPr>
        <p:txBody>
          <a:bodyPr vert="horz" wrap="square" lIns="0" tIns="13335" rIns="0" bIns="0" rtlCol="0">
            <a:spAutoFit/>
          </a:bodyPr>
          <a:lstStyle/>
          <a:p>
            <a:pPr marL="12700">
              <a:lnSpc>
                <a:spcPct val="100000"/>
              </a:lnSpc>
              <a:spcBef>
                <a:spcPts val="105"/>
              </a:spcBef>
            </a:pPr>
            <a:r>
              <a:rPr sz="2250" spc="-10" dirty="0">
                <a:solidFill>
                  <a:srgbClr val="FFFFFF"/>
                </a:solidFill>
                <a:latin typeface="Courier New"/>
                <a:cs typeface="Courier New"/>
              </a:rPr>
              <a:t>0.356302876407827</a:t>
            </a:r>
            <a:endParaRPr sz="2250">
              <a:latin typeface="Courier New"/>
              <a:cs typeface="Courier New"/>
            </a:endParaRPr>
          </a:p>
        </p:txBody>
      </p:sp>
      <p:sp>
        <p:nvSpPr>
          <p:cNvPr id="10" name="슬라이드 번호 개체 틀 9">
            <a:extLst>
              <a:ext uri="{FF2B5EF4-FFF2-40B4-BE49-F238E27FC236}">
                <a16:creationId xmlns:a16="http://schemas.microsoft.com/office/drawing/2014/main" id="{6F86BF58-0ECA-E78F-DF6C-5A84EF0F5EBE}"/>
              </a:ext>
            </a:extLst>
          </p:cNvPr>
          <p:cNvSpPr>
            <a:spLocks noGrp="1"/>
          </p:cNvSpPr>
          <p:nvPr>
            <p:ph type="sldNum" sz="quarter" idx="7"/>
          </p:nvPr>
        </p:nvSpPr>
        <p:spPr/>
        <p:txBody>
          <a:bodyPr/>
          <a:lstStyle/>
          <a:p>
            <a:fld id="{B6F15528-21DE-4FAA-801E-634DDDAF4B2B}" type="slidenum">
              <a:rPr lang="en-US" altLang="ko-KR" smtClean="0"/>
              <a:t>20</a:t>
            </a:fld>
            <a:endParaRPr lang="en-US" altLang="ko-K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8589" y="273885"/>
            <a:ext cx="13051155" cy="713740"/>
          </a:xfrm>
          <a:prstGeom prst="rect">
            <a:avLst/>
          </a:prstGeom>
        </p:spPr>
        <p:txBody>
          <a:bodyPr vert="horz" wrap="square" lIns="0" tIns="13970" rIns="0" bIns="0" rtlCol="0">
            <a:spAutoFit/>
          </a:bodyPr>
          <a:lstStyle/>
          <a:p>
            <a:pPr marL="12700">
              <a:lnSpc>
                <a:spcPct val="100000"/>
              </a:lnSpc>
              <a:spcBef>
                <a:spcPts val="110"/>
              </a:spcBef>
            </a:pPr>
            <a:r>
              <a:rPr spc="-100" dirty="0"/>
              <a:t>Mean</a:t>
            </a:r>
            <a:r>
              <a:rPr spc="-150" dirty="0"/>
              <a:t> </a:t>
            </a:r>
            <a:r>
              <a:rPr spc="-204" dirty="0"/>
              <a:t>squared</a:t>
            </a:r>
            <a:r>
              <a:rPr spc="-150" dirty="0"/>
              <a:t> </a:t>
            </a:r>
            <a:r>
              <a:rPr spc="-240" dirty="0"/>
              <a:t>error</a:t>
            </a:r>
            <a:r>
              <a:rPr spc="-145" dirty="0"/>
              <a:t> </a:t>
            </a:r>
            <a:r>
              <a:rPr spc="-150" dirty="0"/>
              <a:t>and </a:t>
            </a:r>
            <a:r>
              <a:rPr spc="-240" dirty="0"/>
              <a:t>root</a:t>
            </a:r>
            <a:r>
              <a:rPr spc="-145" dirty="0"/>
              <a:t> </a:t>
            </a:r>
            <a:r>
              <a:rPr spc="-190" dirty="0"/>
              <a:t>mean</a:t>
            </a:r>
            <a:r>
              <a:rPr spc="-150" dirty="0"/>
              <a:t> </a:t>
            </a:r>
            <a:r>
              <a:rPr spc="-204" dirty="0"/>
              <a:t>squared</a:t>
            </a:r>
            <a:r>
              <a:rPr spc="-145" dirty="0"/>
              <a:t> </a:t>
            </a:r>
            <a:r>
              <a:rPr spc="-100" dirty="0"/>
              <a:t>error</a:t>
            </a:r>
          </a:p>
        </p:txBody>
      </p:sp>
      <p:sp>
        <p:nvSpPr>
          <p:cNvPr id="3" name="object 3"/>
          <p:cNvSpPr txBox="1"/>
          <p:nvPr/>
        </p:nvSpPr>
        <p:spPr>
          <a:xfrm>
            <a:off x="478589" y="1412857"/>
            <a:ext cx="1451610" cy="501015"/>
          </a:xfrm>
          <a:prstGeom prst="rect">
            <a:avLst/>
          </a:prstGeom>
        </p:spPr>
        <p:txBody>
          <a:bodyPr vert="horz" wrap="square" lIns="0" tIns="15240" rIns="0" bIns="0" rtlCol="0">
            <a:spAutoFit/>
          </a:bodyPr>
          <a:lstStyle/>
          <a:p>
            <a:pPr marL="12700">
              <a:lnSpc>
                <a:spcPct val="100000"/>
              </a:lnSpc>
              <a:spcBef>
                <a:spcPts val="120"/>
              </a:spcBef>
            </a:pPr>
            <a:r>
              <a:rPr sz="3100" i="1" spc="325" dirty="0">
                <a:solidFill>
                  <a:srgbClr val="04182D"/>
                </a:solidFill>
                <a:latin typeface="Arial"/>
                <a:cs typeface="Arial"/>
              </a:rPr>
              <a:t>MSE</a:t>
            </a:r>
            <a:r>
              <a:rPr sz="3100" i="1" spc="190" dirty="0">
                <a:solidFill>
                  <a:srgbClr val="04182D"/>
                </a:solidFill>
                <a:latin typeface="Arial"/>
                <a:cs typeface="Arial"/>
              </a:rPr>
              <a:t> </a:t>
            </a:r>
            <a:r>
              <a:rPr sz="3100" spc="-50" dirty="0">
                <a:solidFill>
                  <a:srgbClr val="04182D"/>
                </a:solidFill>
                <a:latin typeface="Lucida Sans Unicode"/>
                <a:cs typeface="Lucida Sans Unicode"/>
              </a:rPr>
              <a:t>=</a:t>
            </a:r>
            <a:endParaRPr sz="3100">
              <a:latin typeface="Lucida Sans Unicode"/>
              <a:cs typeface="Lucida Sans Unicode"/>
            </a:endParaRPr>
          </a:p>
        </p:txBody>
      </p:sp>
      <p:sp>
        <p:nvSpPr>
          <p:cNvPr id="4" name="object 4"/>
          <p:cNvSpPr txBox="1"/>
          <p:nvPr/>
        </p:nvSpPr>
        <p:spPr>
          <a:xfrm>
            <a:off x="2373887" y="1012850"/>
            <a:ext cx="2199005" cy="1348105"/>
          </a:xfrm>
          <a:prstGeom prst="rect">
            <a:avLst/>
          </a:prstGeom>
        </p:spPr>
        <p:txBody>
          <a:bodyPr vert="horz" wrap="square" lIns="0" tIns="44450" rIns="0" bIns="0" rtlCol="0">
            <a:spAutoFit/>
          </a:bodyPr>
          <a:lstStyle/>
          <a:p>
            <a:pPr marL="240665">
              <a:lnSpc>
                <a:spcPct val="100000"/>
              </a:lnSpc>
              <a:spcBef>
                <a:spcPts val="350"/>
              </a:spcBef>
            </a:pPr>
            <a:r>
              <a:rPr sz="2150" i="1" spc="55" dirty="0">
                <a:solidFill>
                  <a:srgbClr val="04182D"/>
                </a:solidFill>
                <a:latin typeface="Arial"/>
                <a:cs typeface="Arial"/>
              </a:rPr>
              <a:t>n</a:t>
            </a:r>
            <a:endParaRPr sz="2150">
              <a:latin typeface="Arial"/>
              <a:cs typeface="Arial"/>
            </a:endParaRPr>
          </a:p>
          <a:p>
            <a:pPr marL="38100">
              <a:lnSpc>
                <a:spcPct val="100000"/>
              </a:lnSpc>
              <a:spcBef>
                <a:spcPts val="340"/>
              </a:spcBef>
            </a:pPr>
            <a:r>
              <a:rPr sz="3100" spc="675" dirty="0">
                <a:solidFill>
                  <a:srgbClr val="04182D"/>
                </a:solidFill>
                <a:latin typeface="Arial"/>
                <a:cs typeface="Arial"/>
              </a:rPr>
              <a:t>∑</a:t>
            </a:r>
            <a:r>
              <a:rPr sz="3100" spc="675" dirty="0">
                <a:solidFill>
                  <a:srgbClr val="04182D"/>
                </a:solidFill>
                <a:latin typeface="Lucida Sans Unicode"/>
                <a:cs typeface="Lucida Sans Unicode"/>
              </a:rPr>
              <a:t>(</a:t>
            </a:r>
            <a:r>
              <a:rPr sz="3100" i="1" spc="675" dirty="0">
                <a:solidFill>
                  <a:srgbClr val="04182D"/>
                </a:solidFill>
                <a:latin typeface="Arial"/>
                <a:cs typeface="Arial"/>
              </a:rPr>
              <a:t>y</a:t>
            </a:r>
            <a:r>
              <a:rPr sz="3225" i="1" spc="1012" baseline="-12919" dirty="0">
                <a:solidFill>
                  <a:srgbClr val="04182D"/>
                </a:solidFill>
                <a:latin typeface="Arial"/>
                <a:cs typeface="Arial"/>
              </a:rPr>
              <a:t>i</a:t>
            </a:r>
            <a:r>
              <a:rPr sz="3225" i="1" spc="382" baseline="-12919" dirty="0">
                <a:solidFill>
                  <a:srgbClr val="04182D"/>
                </a:solidFill>
                <a:latin typeface="Arial"/>
                <a:cs typeface="Arial"/>
              </a:rPr>
              <a:t> </a:t>
            </a:r>
            <a:r>
              <a:rPr sz="3100" spc="-55" dirty="0">
                <a:solidFill>
                  <a:srgbClr val="04182D"/>
                </a:solidFill>
                <a:latin typeface="Lucida Sans Unicode"/>
                <a:cs typeface="Lucida Sans Unicode"/>
              </a:rPr>
              <a:t>−</a:t>
            </a:r>
            <a:r>
              <a:rPr sz="3100" spc="-290" dirty="0">
                <a:solidFill>
                  <a:srgbClr val="04182D"/>
                </a:solidFill>
                <a:latin typeface="Lucida Sans Unicode"/>
                <a:cs typeface="Lucida Sans Unicode"/>
              </a:rPr>
              <a:t> </a:t>
            </a:r>
            <a:r>
              <a:rPr sz="3100" i="1" spc="-1150" dirty="0">
                <a:solidFill>
                  <a:srgbClr val="04182D"/>
                </a:solidFill>
                <a:latin typeface="Arial"/>
                <a:cs typeface="Arial"/>
              </a:rPr>
              <a:t>y</a:t>
            </a:r>
            <a:r>
              <a:rPr sz="3100" spc="-625" dirty="0">
                <a:solidFill>
                  <a:srgbClr val="04182D"/>
                </a:solidFill>
                <a:latin typeface="Lucida Sans Unicode"/>
                <a:cs typeface="Lucida Sans Unicode"/>
              </a:rPr>
              <a:t>^</a:t>
            </a:r>
            <a:r>
              <a:rPr sz="3225" i="1" spc="187" baseline="-12919" dirty="0">
                <a:solidFill>
                  <a:srgbClr val="04182D"/>
                </a:solidFill>
                <a:latin typeface="Arial"/>
                <a:cs typeface="Arial"/>
              </a:rPr>
              <a:t>i</a:t>
            </a:r>
            <a:r>
              <a:rPr sz="3100" spc="-35" dirty="0">
                <a:solidFill>
                  <a:srgbClr val="04182D"/>
                </a:solidFill>
                <a:latin typeface="Lucida Sans Unicode"/>
                <a:cs typeface="Lucida Sans Unicode"/>
              </a:rPr>
              <a:t>)</a:t>
            </a:r>
            <a:r>
              <a:rPr sz="3225" spc="-44" baseline="33591" dirty="0">
                <a:solidFill>
                  <a:srgbClr val="04182D"/>
                </a:solidFill>
                <a:latin typeface="Lucida Sans Unicode"/>
                <a:cs typeface="Lucida Sans Unicode"/>
              </a:rPr>
              <a:t>2</a:t>
            </a:r>
            <a:endParaRPr sz="3225" baseline="33591">
              <a:latin typeface="Lucida Sans Unicode"/>
              <a:cs typeface="Lucida Sans Unicode"/>
            </a:endParaRPr>
          </a:p>
          <a:p>
            <a:pPr marL="99060">
              <a:lnSpc>
                <a:spcPct val="100000"/>
              </a:lnSpc>
              <a:spcBef>
                <a:spcPts val="935"/>
              </a:spcBef>
            </a:pPr>
            <a:r>
              <a:rPr sz="2150" i="1" spc="-25" dirty="0">
                <a:solidFill>
                  <a:srgbClr val="04182D"/>
                </a:solidFill>
                <a:latin typeface="Arial"/>
                <a:cs typeface="Arial"/>
              </a:rPr>
              <a:t>i</a:t>
            </a:r>
            <a:r>
              <a:rPr sz="2150" spc="-25" dirty="0">
                <a:solidFill>
                  <a:srgbClr val="04182D"/>
                </a:solidFill>
                <a:latin typeface="Lucida Sans Unicode"/>
                <a:cs typeface="Lucida Sans Unicode"/>
              </a:rPr>
              <a:t>=1</a:t>
            </a:r>
            <a:endParaRPr sz="2150">
              <a:latin typeface="Lucida Sans Unicode"/>
              <a:cs typeface="Lucida Sans Unicode"/>
            </a:endParaRPr>
          </a:p>
        </p:txBody>
      </p:sp>
      <p:pic>
        <p:nvPicPr>
          <p:cNvPr id="5" name="object 5"/>
          <p:cNvPicPr/>
          <p:nvPr/>
        </p:nvPicPr>
        <p:blipFill>
          <a:blip r:embed="rId2" cstate="print"/>
          <a:stretch>
            <a:fillRect/>
          </a:stretch>
        </p:blipFill>
        <p:spPr>
          <a:xfrm>
            <a:off x="511759" y="2845384"/>
            <a:ext cx="102352" cy="102351"/>
          </a:xfrm>
          <a:prstGeom prst="rect">
            <a:avLst/>
          </a:prstGeom>
        </p:spPr>
      </p:pic>
      <p:sp>
        <p:nvSpPr>
          <p:cNvPr id="6" name="object 6"/>
          <p:cNvSpPr txBox="1"/>
          <p:nvPr/>
        </p:nvSpPr>
        <p:spPr>
          <a:xfrm>
            <a:off x="847056" y="2600140"/>
            <a:ext cx="6642734" cy="501015"/>
          </a:xfrm>
          <a:prstGeom prst="rect">
            <a:avLst/>
          </a:prstGeom>
        </p:spPr>
        <p:txBody>
          <a:bodyPr vert="horz" wrap="square" lIns="0" tIns="15240" rIns="0" bIns="0" rtlCol="0">
            <a:spAutoFit/>
          </a:bodyPr>
          <a:lstStyle/>
          <a:p>
            <a:pPr marL="12700">
              <a:lnSpc>
                <a:spcPct val="100000"/>
              </a:lnSpc>
              <a:spcBef>
                <a:spcPts val="120"/>
              </a:spcBef>
            </a:pPr>
            <a:r>
              <a:rPr sz="3100" i="1" spc="325" dirty="0">
                <a:solidFill>
                  <a:srgbClr val="04182D"/>
                </a:solidFill>
                <a:latin typeface="Arial"/>
                <a:cs typeface="Arial"/>
              </a:rPr>
              <a:t>MSE</a:t>
            </a:r>
            <a:r>
              <a:rPr sz="3100" i="1" spc="114" dirty="0">
                <a:solidFill>
                  <a:srgbClr val="04182D"/>
                </a:solidFill>
                <a:latin typeface="Arial"/>
                <a:cs typeface="Arial"/>
              </a:rPr>
              <a:t> </a:t>
            </a:r>
            <a:r>
              <a:rPr sz="2550" spc="55" dirty="0">
                <a:solidFill>
                  <a:srgbClr val="04182D"/>
                </a:solidFill>
                <a:latin typeface="Tahoma"/>
                <a:cs typeface="Tahoma"/>
              </a:rPr>
              <a:t>is</a:t>
            </a:r>
            <a:r>
              <a:rPr sz="2550" spc="-10" dirty="0">
                <a:solidFill>
                  <a:srgbClr val="04182D"/>
                </a:solidFill>
                <a:latin typeface="Tahoma"/>
                <a:cs typeface="Tahoma"/>
              </a:rPr>
              <a:t> </a:t>
            </a:r>
            <a:r>
              <a:rPr sz="2550" spc="114" dirty="0">
                <a:solidFill>
                  <a:srgbClr val="04182D"/>
                </a:solidFill>
                <a:latin typeface="Tahoma"/>
                <a:cs typeface="Tahoma"/>
              </a:rPr>
              <a:t>measured</a:t>
            </a:r>
            <a:r>
              <a:rPr sz="2550" spc="-15" dirty="0">
                <a:solidFill>
                  <a:srgbClr val="04182D"/>
                </a:solidFill>
                <a:latin typeface="Tahoma"/>
                <a:cs typeface="Tahoma"/>
              </a:rPr>
              <a:t> </a:t>
            </a:r>
            <a:r>
              <a:rPr sz="2550" spc="50" dirty="0">
                <a:solidFill>
                  <a:srgbClr val="04182D"/>
                </a:solidFill>
                <a:latin typeface="Tahoma"/>
                <a:cs typeface="Tahoma"/>
              </a:rPr>
              <a:t>in</a:t>
            </a:r>
            <a:r>
              <a:rPr sz="2550" spc="-10" dirty="0">
                <a:solidFill>
                  <a:srgbClr val="04182D"/>
                </a:solidFill>
                <a:latin typeface="Tahoma"/>
                <a:cs typeface="Tahoma"/>
              </a:rPr>
              <a:t> </a:t>
            </a:r>
            <a:r>
              <a:rPr sz="2550" spc="95" dirty="0">
                <a:solidFill>
                  <a:srgbClr val="04182D"/>
                </a:solidFill>
                <a:latin typeface="Tahoma"/>
                <a:cs typeface="Tahoma"/>
              </a:rPr>
              <a:t>target</a:t>
            </a:r>
            <a:r>
              <a:rPr sz="2550" spc="-15" dirty="0">
                <a:solidFill>
                  <a:srgbClr val="04182D"/>
                </a:solidFill>
                <a:latin typeface="Tahoma"/>
                <a:cs typeface="Tahoma"/>
              </a:rPr>
              <a:t> </a:t>
            </a:r>
            <a:r>
              <a:rPr sz="2550" dirty="0">
                <a:solidFill>
                  <a:srgbClr val="04182D"/>
                </a:solidFill>
                <a:latin typeface="Tahoma"/>
                <a:cs typeface="Tahoma"/>
              </a:rPr>
              <a:t>units,</a:t>
            </a:r>
            <a:r>
              <a:rPr sz="2550" spc="-10" dirty="0">
                <a:solidFill>
                  <a:srgbClr val="04182D"/>
                </a:solidFill>
                <a:latin typeface="Tahoma"/>
                <a:cs typeface="Tahoma"/>
              </a:rPr>
              <a:t> </a:t>
            </a:r>
            <a:r>
              <a:rPr sz="2550" spc="100" dirty="0">
                <a:solidFill>
                  <a:srgbClr val="04182D"/>
                </a:solidFill>
                <a:latin typeface="Tahoma"/>
                <a:cs typeface="Tahoma"/>
              </a:rPr>
              <a:t>squared</a:t>
            </a:r>
            <a:endParaRPr sz="2550">
              <a:latin typeface="Tahoma"/>
              <a:cs typeface="Tahoma"/>
            </a:endParaRPr>
          </a:p>
        </p:txBody>
      </p:sp>
      <p:pic>
        <p:nvPicPr>
          <p:cNvPr id="7" name="object 7"/>
          <p:cNvPicPr/>
          <p:nvPr/>
        </p:nvPicPr>
        <p:blipFill>
          <a:blip r:embed="rId2" cstate="print"/>
          <a:stretch>
            <a:fillRect/>
          </a:stretch>
        </p:blipFill>
        <p:spPr>
          <a:xfrm>
            <a:off x="511759" y="5158539"/>
            <a:ext cx="102352" cy="102351"/>
          </a:xfrm>
          <a:prstGeom prst="rect">
            <a:avLst/>
          </a:prstGeom>
        </p:spPr>
      </p:pic>
      <p:sp>
        <p:nvSpPr>
          <p:cNvPr id="8" name="object 8"/>
          <p:cNvSpPr txBox="1"/>
          <p:nvPr/>
        </p:nvSpPr>
        <p:spPr>
          <a:xfrm>
            <a:off x="453189" y="4094479"/>
            <a:ext cx="9277350" cy="1320165"/>
          </a:xfrm>
          <a:prstGeom prst="rect">
            <a:avLst/>
          </a:prstGeom>
        </p:spPr>
        <p:txBody>
          <a:bodyPr vert="horz" wrap="square" lIns="0" tIns="15240" rIns="0" bIns="0" rtlCol="0">
            <a:spAutoFit/>
          </a:bodyPr>
          <a:lstStyle/>
          <a:p>
            <a:pPr marL="38100">
              <a:lnSpc>
                <a:spcPct val="100000"/>
              </a:lnSpc>
              <a:spcBef>
                <a:spcPts val="120"/>
              </a:spcBef>
            </a:pPr>
            <a:r>
              <a:rPr sz="3100" i="1" spc="275" dirty="0">
                <a:solidFill>
                  <a:srgbClr val="04182D"/>
                </a:solidFill>
                <a:latin typeface="Arial"/>
                <a:cs typeface="Arial"/>
              </a:rPr>
              <a:t>RMSE</a:t>
            </a:r>
            <a:r>
              <a:rPr sz="3100" i="1" spc="190" dirty="0">
                <a:solidFill>
                  <a:srgbClr val="04182D"/>
                </a:solidFill>
                <a:latin typeface="Arial"/>
                <a:cs typeface="Arial"/>
              </a:rPr>
              <a:t> </a:t>
            </a:r>
            <a:r>
              <a:rPr sz="3100" spc="-55" dirty="0">
                <a:solidFill>
                  <a:srgbClr val="04182D"/>
                </a:solidFill>
                <a:latin typeface="Lucida Sans Unicode"/>
                <a:cs typeface="Lucida Sans Unicode"/>
              </a:rPr>
              <a:t>=</a:t>
            </a:r>
            <a:r>
              <a:rPr sz="3100" spc="-215" dirty="0">
                <a:solidFill>
                  <a:srgbClr val="04182D"/>
                </a:solidFill>
                <a:latin typeface="Lucida Sans Unicode"/>
                <a:cs typeface="Lucida Sans Unicode"/>
              </a:rPr>
              <a:t> </a:t>
            </a:r>
            <a:r>
              <a:rPr sz="4650" spc="359" baseline="5376" dirty="0">
                <a:solidFill>
                  <a:srgbClr val="04182D"/>
                </a:solidFill>
                <a:latin typeface="Lucida Sans Unicode"/>
                <a:cs typeface="Lucida Sans Unicode"/>
              </a:rPr>
              <a:t>√</a:t>
            </a:r>
            <a:r>
              <a:rPr sz="3100" i="1" spc="240" dirty="0">
                <a:solidFill>
                  <a:srgbClr val="04182D"/>
                </a:solidFill>
                <a:latin typeface="Arial"/>
                <a:cs typeface="Arial"/>
              </a:rPr>
              <a:t>MSE</a:t>
            </a:r>
            <a:endParaRPr sz="3100">
              <a:latin typeface="Arial"/>
              <a:cs typeface="Arial"/>
            </a:endParaRPr>
          </a:p>
          <a:p>
            <a:pPr marL="406400">
              <a:lnSpc>
                <a:spcPct val="100000"/>
              </a:lnSpc>
              <a:spcBef>
                <a:spcPts val="2725"/>
              </a:spcBef>
            </a:pPr>
            <a:r>
              <a:rPr sz="2550" spc="130" dirty="0">
                <a:solidFill>
                  <a:srgbClr val="04182D"/>
                </a:solidFill>
                <a:latin typeface="Tahoma"/>
                <a:cs typeface="Tahoma"/>
              </a:rPr>
              <a:t>Measure</a:t>
            </a:r>
            <a:r>
              <a:rPr sz="2550" spc="-40" dirty="0">
                <a:solidFill>
                  <a:srgbClr val="04182D"/>
                </a:solidFill>
                <a:latin typeface="Tahoma"/>
                <a:cs typeface="Tahoma"/>
              </a:rPr>
              <a:t> </a:t>
            </a:r>
            <a:r>
              <a:rPr sz="3100" i="1" spc="275" dirty="0">
                <a:solidFill>
                  <a:srgbClr val="04182D"/>
                </a:solidFill>
                <a:latin typeface="Arial"/>
                <a:cs typeface="Arial"/>
              </a:rPr>
              <a:t>RMSE</a:t>
            </a:r>
            <a:r>
              <a:rPr sz="3100" i="1" spc="95" dirty="0">
                <a:solidFill>
                  <a:srgbClr val="04182D"/>
                </a:solidFill>
                <a:latin typeface="Arial"/>
                <a:cs typeface="Arial"/>
              </a:rPr>
              <a:t> </a:t>
            </a:r>
            <a:r>
              <a:rPr sz="2550" spc="50" dirty="0">
                <a:solidFill>
                  <a:srgbClr val="04182D"/>
                </a:solidFill>
                <a:latin typeface="Tahoma"/>
                <a:cs typeface="Tahoma"/>
              </a:rPr>
              <a:t>in</a:t>
            </a:r>
            <a:r>
              <a:rPr sz="2550" spc="-40" dirty="0">
                <a:solidFill>
                  <a:srgbClr val="04182D"/>
                </a:solidFill>
                <a:latin typeface="Tahoma"/>
                <a:cs typeface="Tahoma"/>
              </a:rPr>
              <a:t> </a:t>
            </a:r>
            <a:r>
              <a:rPr sz="2550" spc="95" dirty="0">
                <a:solidFill>
                  <a:srgbClr val="04182D"/>
                </a:solidFill>
                <a:latin typeface="Tahoma"/>
                <a:cs typeface="Tahoma"/>
              </a:rPr>
              <a:t>the</a:t>
            </a:r>
            <a:r>
              <a:rPr sz="2550" spc="-35" dirty="0">
                <a:solidFill>
                  <a:srgbClr val="04182D"/>
                </a:solidFill>
                <a:latin typeface="Tahoma"/>
                <a:cs typeface="Tahoma"/>
              </a:rPr>
              <a:t> </a:t>
            </a:r>
            <a:r>
              <a:rPr sz="2550" spc="145" dirty="0">
                <a:solidFill>
                  <a:srgbClr val="04182D"/>
                </a:solidFill>
                <a:latin typeface="Tahoma"/>
                <a:cs typeface="Tahoma"/>
              </a:rPr>
              <a:t>same</a:t>
            </a:r>
            <a:r>
              <a:rPr sz="2550" spc="-35" dirty="0">
                <a:solidFill>
                  <a:srgbClr val="04182D"/>
                </a:solidFill>
                <a:latin typeface="Tahoma"/>
                <a:cs typeface="Tahoma"/>
              </a:rPr>
              <a:t> </a:t>
            </a:r>
            <a:r>
              <a:rPr sz="2550" spc="60" dirty="0">
                <a:solidFill>
                  <a:srgbClr val="04182D"/>
                </a:solidFill>
                <a:latin typeface="Tahoma"/>
                <a:cs typeface="Tahoma"/>
              </a:rPr>
              <a:t>units</a:t>
            </a:r>
            <a:r>
              <a:rPr sz="2550" spc="-40" dirty="0">
                <a:solidFill>
                  <a:srgbClr val="04182D"/>
                </a:solidFill>
                <a:latin typeface="Tahoma"/>
                <a:cs typeface="Tahoma"/>
              </a:rPr>
              <a:t> </a:t>
            </a:r>
            <a:r>
              <a:rPr sz="2550" spc="160" dirty="0">
                <a:solidFill>
                  <a:srgbClr val="04182D"/>
                </a:solidFill>
                <a:latin typeface="Tahoma"/>
                <a:cs typeface="Tahoma"/>
              </a:rPr>
              <a:t>at</a:t>
            </a:r>
            <a:r>
              <a:rPr sz="2550" spc="-35" dirty="0">
                <a:solidFill>
                  <a:srgbClr val="04182D"/>
                </a:solidFill>
                <a:latin typeface="Tahoma"/>
                <a:cs typeface="Tahoma"/>
              </a:rPr>
              <a:t> </a:t>
            </a:r>
            <a:r>
              <a:rPr sz="2550" spc="95" dirty="0">
                <a:solidFill>
                  <a:srgbClr val="04182D"/>
                </a:solidFill>
                <a:latin typeface="Tahoma"/>
                <a:cs typeface="Tahoma"/>
              </a:rPr>
              <a:t>the</a:t>
            </a:r>
            <a:r>
              <a:rPr sz="2550" spc="-35" dirty="0">
                <a:solidFill>
                  <a:srgbClr val="04182D"/>
                </a:solidFill>
                <a:latin typeface="Tahoma"/>
                <a:cs typeface="Tahoma"/>
              </a:rPr>
              <a:t> </a:t>
            </a:r>
            <a:r>
              <a:rPr sz="2550" spc="95" dirty="0">
                <a:solidFill>
                  <a:srgbClr val="04182D"/>
                </a:solidFill>
                <a:latin typeface="Tahoma"/>
                <a:cs typeface="Tahoma"/>
              </a:rPr>
              <a:t>target</a:t>
            </a:r>
            <a:r>
              <a:rPr sz="2550" spc="-40" dirty="0">
                <a:solidFill>
                  <a:srgbClr val="04182D"/>
                </a:solidFill>
                <a:latin typeface="Tahoma"/>
                <a:cs typeface="Tahoma"/>
              </a:rPr>
              <a:t> </a:t>
            </a:r>
            <a:r>
              <a:rPr sz="2550" spc="100" dirty="0">
                <a:solidFill>
                  <a:srgbClr val="04182D"/>
                </a:solidFill>
                <a:latin typeface="Tahoma"/>
                <a:cs typeface="Tahoma"/>
              </a:rPr>
              <a:t>variable</a:t>
            </a:r>
            <a:endParaRPr sz="2550">
              <a:latin typeface="Tahoma"/>
              <a:cs typeface="Tahoma"/>
            </a:endParaRPr>
          </a:p>
        </p:txBody>
      </p:sp>
      <p:sp>
        <p:nvSpPr>
          <p:cNvPr id="9" name="object 9"/>
          <p:cNvSpPr/>
          <p:nvPr/>
        </p:nvSpPr>
        <p:spPr>
          <a:xfrm>
            <a:off x="2067509" y="1719516"/>
            <a:ext cx="225425" cy="20955"/>
          </a:xfrm>
          <a:custGeom>
            <a:avLst/>
            <a:gdLst/>
            <a:ahLst/>
            <a:cxnLst/>
            <a:rect l="l" t="t" r="r" b="b"/>
            <a:pathLst>
              <a:path w="225425" h="20955">
                <a:moveTo>
                  <a:pt x="225171" y="0"/>
                </a:moveTo>
                <a:lnTo>
                  <a:pt x="0" y="0"/>
                </a:lnTo>
                <a:lnTo>
                  <a:pt x="0" y="20472"/>
                </a:lnTo>
                <a:lnTo>
                  <a:pt x="225171" y="20472"/>
                </a:lnTo>
                <a:lnTo>
                  <a:pt x="225171" y="0"/>
                </a:lnTo>
                <a:close/>
              </a:path>
            </a:pathLst>
          </a:custGeom>
          <a:solidFill>
            <a:srgbClr val="04182D"/>
          </a:solidFill>
        </p:spPr>
        <p:txBody>
          <a:bodyPr wrap="square" lIns="0" tIns="0" rIns="0" bIns="0" rtlCol="0"/>
          <a:lstStyle/>
          <a:p>
            <a:endParaRPr/>
          </a:p>
        </p:txBody>
      </p:sp>
      <p:sp>
        <p:nvSpPr>
          <p:cNvPr id="10" name="object 10"/>
          <p:cNvSpPr txBox="1"/>
          <p:nvPr/>
        </p:nvSpPr>
        <p:spPr>
          <a:xfrm>
            <a:off x="2048092" y="1090081"/>
            <a:ext cx="263525" cy="1090295"/>
          </a:xfrm>
          <a:prstGeom prst="rect">
            <a:avLst/>
          </a:prstGeom>
        </p:spPr>
        <p:txBody>
          <a:bodyPr vert="horz" wrap="square" lIns="0" tIns="71755" rIns="0" bIns="0" rtlCol="0">
            <a:spAutoFit/>
          </a:bodyPr>
          <a:lstStyle/>
          <a:p>
            <a:pPr marL="32384">
              <a:lnSpc>
                <a:spcPct val="100000"/>
              </a:lnSpc>
              <a:spcBef>
                <a:spcPts val="565"/>
              </a:spcBef>
            </a:pPr>
            <a:r>
              <a:rPr sz="3100" spc="-465" dirty="0">
                <a:solidFill>
                  <a:srgbClr val="04182D"/>
                </a:solidFill>
                <a:latin typeface="Lucida Sans Unicode"/>
                <a:cs typeface="Lucida Sans Unicode"/>
              </a:rPr>
              <a:t>1</a:t>
            </a:r>
            <a:endParaRPr sz="3100">
              <a:latin typeface="Lucida Sans Unicode"/>
              <a:cs typeface="Lucida Sans Unicode"/>
            </a:endParaRPr>
          </a:p>
          <a:p>
            <a:pPr marL="12700">
              <a:lnSpc>
                <a:spcPct val="100000"/>
              </a:lnSpc>
              <a:spcBef>
                <a:spcPts val="470"/>
              </a:spcBef>
            </a:pPr>
            <a:r>
              <a:rPr sz="3100" i="1" spc="85" dirty="0">
                <a:solidFill>
                  <a:srgbClr val="04182D"/>
                </a:solidFill>
                <a:latin typeface="Arial"/>
                <a:cs typeface="Arial"/>
              </a:rPr>
              <a:t>n</a:t>
            </a:r>
            <a:endParaRPr sz="3100">
              <a:latin typeface="Arial"/>
              <a:cs typeface="Arial"/>
            </a:endParaRPr>
          </a:p>
        </p:txBody>
      </p:sp>
      <p:sp>
        <p:nvSpPr>
          <p:cNvPr id="11" name="object 11"/>
          <p:cNvSpPr/>
          <p:nvPr/>
        </p:nvSpPr>
        <p:spPr>
          <a:xfrm>
            <a:off x="2640673" y="4135030"/>
            <a:ext cx="1023619" cy="20955"/>
          </a:xfrm>
          <a:custGeom>
            <a:avLst/>
            <a:gdLst/>
            <a:ahLst/>
            <a:cxnLst/>
            <a:rect l="l" t="t" r="r" b="b"/>
            <a:pathLst>
              <a:path w="1023620" h="20954">
                <a:moveTo>
                  <a:pt x="1023518" y="0"/>
                </a:moveTo>
                <a:lnTo>
                  <a:pt x="0" y="0"/>
                </a:lnTo>
                <a:lnTo>
                  <a:pt x="0" y="20459"/>
                </a:lnTo>
                <a:lnTo>
                  <a:pt x="1023518" y="20459"/>
                </a:lnTo>
                <a:lnTo>
                  <a:pt x="1023518" y="0"/>
                </a:lnTo>
                <a:close/>
              </a:path>
            </a:pathLst>
          </a:custGeom>
          <a:solidFill>
            <a:srgbClr val="04182D"/>
          </a:solidFill>
        </p:spPr>
        <p:txBody>
          <a:bodyPr wrap="square" lIns="0" tIns="0" rIns="0" bIns="0" rtlCol="0"/>
          <a:lstStyle/>
          <a:p>
            <a:endParaRPr/>
          </a:p>
        </p:txBody>
      </p:sp>
      <p:sp>
        <p:nvSpPr>
          <p:cNvPr id="15" name="슬라이드 번호 개체 틀 14">
            <a:extLst>
              <a:ext uri="{FF2B5EF4-FFF2-40B4-BE49-F238E27FC236}">
                <a16:creationId xmlns:a16="http://schemas.microsoft.com/office/drawing/2014/main" id="{8E5387C0-E723-C494-162B-CF55294A3690}"/>
              </a:ext>
            </a:extLst>
          </p:cNvPr>
          <p:cNvSpPr>
            <a:spLocks noGrp="1"/>
          </p:cNvSpPr>
          <p:nvPr>
            <p:ph type="sldNum" sz="quarter" idx="7"/>
          </p:nvPr>
        </p:nvSpPr>
        <p:spPr/>
        <p:txBody>
          <a:bodyPr/>
          <a:lstStyle/>
          <a:p>
            <a:fld id="{B6F15528-21DE-4FAA-801E-634DDDAF4B2B}" type="slidenum">
              <a:rPr lang="en-US" altLang="ko-KR" smtClean="0"/>
              <a:t>21</a:t>
            </a:fld>
            <a:endParaRPr lang="en-US" altLang="ko-K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8589" y="273885"/>
            <a:ext cx="5252720" cy="713740"/>
          </a:xfrm>
          <a:prstGeom prst="rect">
            <a:avLst/>
          </a:prstGeom>
        </p:spPr>
        <p:txBody>
          <a:bodyPr vert="horz" wrap="square" lIns="0" tIns="13970" rIns="0" bIns="0" rtlCol="0">
            <a:spAutoFit/>
          </a:bodyPr>
          <a:lstStyle/>
          <a:p>
            <a:pPr marL="12700">
              <a:lnSpc>
                <a:spcPct val="100000"/>
              </a:lnSpc>
              <a:spcBef>
                <a:spcPts val="110"/>
              </a:spcBef>
            </a:pPr>
            <a:r>
              <a:rPr spc="-229" dirty="0"/>
              <a:t>RMSE</a:t>
            </a:r>
            <a:r>
              <a:rPr spc="-120" dirty="0"/>
              <a:t> </a:t>
            </a:r>
            <a:r>
              <a:rPr spc="-265" dirty="0"/>
              <a:t>in</a:t>
            </a:r>
            <a:r>
              <a:rPr spc="-120" dirty="0"/>
              <a:t> </a:t>
            </a:r>
            <a:r>
              <a:rPr spc="-250" dirty="0"/>
              <a:t>scikit-</a:t>
            </a:r>
            <a:r>
              <a:rPr spc="-130" dirty="0"/>
              <a:t>learn</a:t>
            </a:r>
          </a:p>
        </p:txBody>
      </p:sp>
      <p:grpSp>
        <p:nvGrpSpPr>
          <p:cNvPr id="3" name="object 3"/>
          <p:cNvGrpSpPr/>
          <p:nvPr/>
        </p:nvGrpSpPr>
        <p:grpSpPr>
          <a:xfrm>
            <a:off x="491289" y="1166812"/>
            <a:ext cx="14575155" cy="1310640"/>
            <a:chOff x="491289" y="1166812"/>
            <a:chExt cx="14575155" cy="1310640"/>
          </a:xfrm>
        </p:grpSpPr>
        <p:sp>
          <p:nvSpPr>
            <p:cNvPr id="4" name="object 4"/>
            <p:cNvSpPr/>
            <p:nvPr/>
          </p:nvSpPr>
          <p:spPr>
            <a:xfrm>
              <a:off x="491289" y="1166812"/>
              <a:ext cx="14575155" cy="1310640"/>
            </a:xfrm>
            <a:custGeom>
              <a:avLst/>
              <a:gdLst/>
              <a:ahLst/>
              <a:cxnLst/>
              <a:rect l="l" t="t" r="r" b="b"/>
              <a:pathLst>
                <a:path w="14575155" h="1310639">
                  <a:moveTo>
                    <a:pt x="14498413" y="1310105"/>
                  </a:moveTo>
                  <a:lnTo>
                    <a:pt x="76505" y="1310105"/>
                  </a:lnTo>
                  <a:lnTo>
                    <a:pt x="71180" y="1309580"/>
                  </a:lnTo>
                  <a:lnTo>
                    <a:pt x="31920" y="1293318"/>
                  </a:lnTo>
                  <a:lnTo>
                    <a:pt x="4175" y="1254590"/>
                  </a:lnTo>
                  <a:lnTo>
                    <a:pt x="0" y="1233599"/>
                  </a:lnTo>
                  <a:lnTo>
                    <a:pt x="0" y="1228223"/>
                  </a:lnTo>
                  <a:lnTo>
                    <a:pt x="0" y="76505"/>
                  </a:lnTo>
                  <a:lnTo>
                    <a:pt x="16786" y="31920"/>
                  </a:lnTo>
                  <a:lnTo>
                    <a:pt x="55513" y="4175"/>
                  </a:lnTo>
                  <a:lnTo>
                    <a:pt x="76505" y="0"/>
                  </a:lnTo>
                  <a:lnTo>
                    <a:pt x="14498413" y="0"/>
                  </a:lnTo>
                  <a:lnTo>
                    <a:pt x="14542998" y="16786"/>
                  </a:lnTo>
                  <a:lnTo>
                    <a:pt x="14570742" y="55513"/>
                  </a:lnTo>
                  <a:lnTo>
                    <a:pt x="14574918" y="76505"/>
                  </a:lnTo>
                  <a:lnTo>
                    <a:pt x="14574918" y="1233599"/>
                  </a:lnTo>
                  <a:lnTo>
                    <a:pt x="14558132" y="1278184"/>
                  </a:lnTo>
                  <a:lnTo>
                    <a:pt x="14519404" y="1305929"/>
                  </a:lnTo>
                  <a:lnTo>
                    <a:pt x="14503737" y="1309580"/>
                  </a:lnTo>
                  <a:lnTo>
                    <a:pt x="14498413" y="1310105"/>
                  </a:lnTo>
                  <a:close/>
                </a:path>
              </a:pathLst>
            </a:custGeom>
            <a:solidFill>
              <a:srgbClr val="F6F2EB"/>
            </a:solidFill>
          </p:spPr>
          <p:txBody>
            <a:bodyPr wrap="square" lIns="0" tIns="0" rIns="0" bIns="0" rtlCol="0"/>
            <a:lstStyle/>
            <a:p>
              <a:endParaRPr/>
            </a:p>
          </p:txBody>
        </p:sp>
        <p:sp>
          <p:nvSpPr>
            <p:cNvPr id="5" name="object 5"/>
            <p:cNvSpPr/>
            <p:nvPr/>
          </p:nvSpPr>
          <p:spPr>
            <a:xfrm>
              <a:off x="672261" y="1447482"/>
              <a:ext cx="4614545" cy="283210"/>
            </a:xfrm>
            <a:custGeom>
              <a:avLst/>
              <a:gdLst/>
              <a:ahLst/>
              <a:cxnLst/>
              <a:rect l="l" t="t" r="r" b="b"/>
              <a:pathLst>
                <a:path w="4614545" h="283210">
                  <a:moveTo>
                    <a:pt x="147980" y="9994"/>
                  </a:moveTo>
                  <a:lnTo>
                    <a:pt x="93332" y="9994"/>
                  </a:lnTo>
                  <a:lnTo>
                    <a:pt x="83096" y="10769"/>
                  </a:lnTo>
                  <a:lnTo>
                    <a:pt x="49060" y="36728"/>
                  </a:lnTo>
                  <a:lnTo>
                    <a:pt x="45821" y="55473"/>
                  </a:lnTo>
                  <a:lnTo>
                    <a:pt x="45821" y="64719"/>
                  </a:lnTo>
                  <a:lnTo>
                    <a:pt x="0" y="64719"/>
                  </a:lnTo>
                  <a:lnTo>
                    <a:pt x="0" y="100114"/>
                  </a:lnTo>
                  <a:lnTo>
                    <a:pt x="45821" y="100114"/>
                  </a:lnTo>
                  <a:lnTo>
                    <a:pt x="45821" y="231101"/>
                  </a:lnTo>
                  <a:lnTo>
                    <a:pt x="83540" y="231101"/>
                  </a:lnTo>
                  <a:lnTo>
                    <a:pt x="83540" y="100114"/>
                  </a:lnTo>
                  <a:lnTo>
                    <a:pt x="147980" y="100114"/>
                  </a:lnTo>
                  <a:lnTo>
                    <a:pt x="147980" y="64719"/>
                  </a:lnTo>
                  <a:lnTo>
                    <a:pt x="83540" y="64719"/>
                  </a:lnTo>
                  <a:lnTo>
                    <a:pt x="83540" y="51892"/>
                  </a:lnTo>
                  <a:lnTo>
                    <a:pt x="84328" y="49441"/>
                  </a:lnTo>
                  <a:lnTo>
                    <a:pt x="87553" y="46215"/>
                  </a:lnTo>
                  <a:lnTo>
                    <a:pt x="90017" y="45402"/>
                  </a:lnTo>
                  <a:lnTo>
                    <a:pt x="147980" y="45402"/>
                  </a:lnTo>
                  <a:lnTo>
                    <a:pt x="147980" y="9994"/>
                  </a:lnTo>
                  <a:close/>
                </a:path>
                <a:path w="4614545" h="283210">
                  <a:moveTo>
                    <a:pt x="319646" y="122580"/>
                  </a:moveTo>
                  <a:lnTo>
                    <a:pt x="310400" y="85559"/>
                  </a:lnTo>
                  <a:lnTo>
                    <a:pt x="272326" y="59791"/>
                  </a:lnTo>
                  <a:lnTo>
                    <a:pt x="259270" y="58699"/>
                  </a:lnTo>
                  <a:lnTo>
                    <a:pt x="242265" y="61010"/>
                  </a:lnTo>
                  <a:lnTo>
                    <a:pt x="229666" y="67932"/>
                  </a:lnTo>
                  <a:lnTo>
                    <a:pt x="221488" y="79476"/>
                  </a:lnTo>
                  <a:lnTo>
                    <a:pt x="217703" y="95643"/>
                  </a:lnTo>
                  <a:lnTo>
                    <a:pt x="217792" y="95148"/>
                  </a:lnTo>
                  <a:lnTo>
                    <a:pt x="223647" y="61569"/>
                  </a:lnTo>
                  <a:lnTo>
                    <a:pt x="186575" y="61569"/>
                  </a:lnTo>
                  <a:lnTo>
                    <a:pt x="186575" y="231101"/>
                  </a:lnTo>
                  <a:lnTo>
                    <a:pt x="224218" y="231101"/>
                  </a:lnTo>
                  <a:lnTo>
                    <a:pt x="224269" y="114134"/>
                  </a:lnTo>
                  <a:lnTo>
                    <a:pt x="226758" y="106299"/>
                  </a:lnTo>
                  <a:lnTo>
                    <a:pt x="236562" y="95643"/>
                  </a:lnTo>
                  <a:lnTo>
                    <a:pt x="237083" y="95148"/>
                  </a:lnTo>
                  <a:lnTo>
                    <a:pt x="244106" y="92417"/>
                  </a:lnTo>
                  <a:lnTo>
                    <a:pt x="262572" y="92417"/>
                  </a:lnTo>
                  <a:lnTo>
                    <a:pt x="269697" y="95148"/>
                  </a:lnTo>
                  <a:lnTo>
                    <a:pt x="279527" y="106070"/>
                  </a:lnTo>
                  <a:lnTo>
                    <a:pt x="279603" y="106299"/>
                  </a:lnTo>
                  <a:lnTo>
                    <a:pt x="282003" y="114134"/>
                  </a:lnTo>
                  <a:lnTo>
                    <a:pt x="282003" y="137972"/>
                  </a:lnTo>
                  <a:lnTo>
                    <a:pt x="319646" y="137972"/>
                  </a:lnTo>
                  <a:lnTo>
                    <a:pt x="319646" y="122580"/>
                  </a:lnTo>
                  <a:close/>
                </a:path>
                <a:path w="4614545" h="283210">
                  <a:moveTo>
                    <a:pt x="485305" y="124536"/>
                  </a:moveTo>
                  <a:lnTo>
                    <a:pt x="475107" y="86131"/>
                  </a:lnTo>
                  <a:lnTo>
                    <a:pt x="447662" y="63957"/>
                  </a:lnTo>
                  <a:lnTo>
                    <a:pt x="447662" y="114363"/>
                  </a:lnTo>
                  <a:lnTo>
                    <a:pt x="447662" y="178295"/>
                  </a:lnTo>
                  <a:lnTo>
                    <a:pt x="445185" y="186131"/>
                  </a:lnTo>
                  <a:lnTo>
                    <a:pt x="435343" y="196532"/>
                  </a:lnTo>
                  <a:lnTo>
                    <a:pt x="428142" y="199123"/>
                  </a:lnTo>
                  <a:lnTo>
                    <a:pt x="409054" y="199123"/>
                  </a:lnTo>
                  <a:lnTo>
                    <a:pt x="401828" y="196532"/>
                  </a:lnTo>
                  <a:lnTo>
                    <a:pt x="392036" y="186131"/>
                  </a:lnTo>
                  <a:lnTo>
                    <a:pt x="389585" y="178295"/>
                  </a:lnTo>
                  <a:lnTo>
                    <a:pt x="389585" y="114363"/>
                  </a:lnTo>
                  <a:lnTo>
                    <a:pt x="392036" y="106553"/>
                  </a:lnTo>
                  <a:lnTo>
                    <a:pt x="401828" y="96151"/>
                  </a:lnTo>
                  <a:lnTo>
                    <a:pt x="409054" y="93535"/>
                  </a:lnTo>
                  <a:lnTo>
                    <a:pt x="428142" y="93535"/>
                  </a:lnTo>
                  <a:lnTo>
                    <a:pt x="435343" y="96151"/>
                  </a:lnTo>
                  <a:lnTo>
                    <a:pt x="440245" y="101371"/>
                  </a:lnTo>
                  <a:lnTo>
                    <a:pt x="445185" y="106553"/>
                  </a:lnTo>
                  <a:lnTo>
                    <a:pt x="447662" y="63957"/>
                  </a:lnTo>
                  <a:lnTo>
                    <a:pt x="418617" y="58699"/>
                  </a:lnTo>
                  <a:lnTo>
                    <a:pt x="404114" y="59804"/>
                  </a:lnTo>
                  <a:lnTo>
                    <a:pt x="362038" y="86131"/>
                  </a:lnTo>
                  <a:lnTo>
                    <a:pt x="351891" y="124536"/>
                  </a:lnTo>
                  <a:lnTo>
                    <a:pt x="351878" y="167843"/>
                  </a:lnTo>
                  <a:lnTo>
                    <a:pt x="352996" y="182333"/>
                  </a:lnTo>
                  <a:lnTo>
                    <a:pt x="379768" y="223964"/>
                  </a:lnTo>
                  <a:lnTo>
                    <a:pt x="418617" y="233959"/>
                  </a:lnTo>
                  <a:lnTo>
                    <a:pt x="433095" y="232854"/>
                  </a:lnTo>
                  <a:lnTo>
                    <a:pt x="475107" y="206502"/>
                  </a:lnTo>
                  <a:lnTo>
                    <a:pt x="485305" y="167843"/>
                  </a:lnTo>
                  <a:lnTo>
                    <a:pt x="485305" y="124536"/>
                  </a:lnTo>
                  <a:close/>
                </a:path>
                <a:path w="4614545" h="283210">
                  <a:moveTo>
                    <a:pt x="663549" y="105359"/>
                  </a:moveTo>
                  <a:lnTo>
                    <a:pt x="662940" y="95554"/>
                  </a:lnTo>
                  <a:lnTo>
                    <a:pt x="661873" y="90385"/>
                  </a:lnTo>
                  <a:lnTo>
                    <a:pt x="661098" y="86677"/>
                  </a:lnTo>
                  <a:lnTo>
                    <a:pt x="660450" y="85001"/>
                  </a:lnTo>
                  <a:lnTo>
                    <a:pt x="660374" y="84797"/>
                  </a:lnTo>
                  <a:lnTo>
                    <a:pt x="626402" y="58699"/>
                  </a:lnTo>
                  <a:lnTo>
                    <a:pt x="618045" y="58699"/>
                  </a:lnTo>
                  <a:lnTo>
                    <a:pt x="611365" y="61010"/>
                  </a:lnTo>
                  <a:lnTo>
                    <a:pt x="610514" y="61569"/>
                  </a:lnTo>
                  <a:lnTo>
                    <a:pt x="599694" y="70827"/>
                  </a:lnTo>
                  <a:lnTo>
                    <a:pt x="599389" y="71767"/>
                  </a:lnTo>
                  <a:lnTo>
                    <a:pt x="598830" y="70192"/>
                  </a:lnTo>
                  <a:lnTo>
                    <a:pt x="597941" y="69456"/>
                  </a:lnTo>
                  <a:lnTo>
                    <a:pt x="597941" y="78765"/>
                  </a:lnTo>
                  <a:lnTo>
                    <a:pt x="597687" y="77025"/>
                  </a:lnTo>
                  <a:lnTo>
                    <a:pt x="597814" y="76657"/>
                  </a:lnTo>
                  <a:lnTo>
                    <a:pt x="597839" y="77025"/>
                  </a:lnTo>
                  <a:lnTo>
                    <a:pt x="597941" y="78765"/>
                  </a:lnTo>
                  <a:lnTo>
                    <a:pt x="597941" y="69456"/>
                  </a:lnTo>
                  <a:lnTo>
                    <a:pt x="593369" y="65620"/>
                  </a:lnTo>
                  <a:lnTo>
                    <a:pt x="587959" y="61010"/>
                  </a:lnTo>
                  <a:lnTo>
                    <a:pt x="581291" y="58699"/>
                  </a:lnTo>
                  <a:lnTo>
                    <a:pt x="565010" y="58699"/>
                  </a:lnTo>
                  <a:lnTo>
                    <a:pt x="558431" y="61010"/>
                  </a:lnTo>
                  <a:lnTo>
                    <a:pt x="558203" y="61010"/>
                  </a:lnTo>
                  <a:lnTo>
                    <a:pt x="551053" y="67233"/>
                  </a:lnTo>
                  <a:lnTo>
                    <a:pt x="552094" y="61569"/>
                  </a:lnTo>
                  <a:lnTo>
                    <a:pt x="546138" y="61569"/>
                  </a:lnTo>
                  <a:lnTo>
                    <a:pt x="546138" y="84442"/>
                  </a:lnTo>
                  <a:lnTo>
                    <a:pt x="544741" y="77025"/>
                  </a:lnTo>
                  <a:lnTo>
                    <a:pt x="544868" y="76657"/>
                  </a:lnTo>
                  <a:lnTo>
                    <a:pt x="544906" y="77025"/>
                  </a:lnTo>
                  <a:lnTo>
                    <a:pt x="545071" y="78765"/>
                  </a:lnTo>
                  <a:lnTo>
                    <a:pt x="546138" y="84442"/>
                  </a:lnTo>
                  <a:lnTo>
                    <a:pt x="546138" y="61569"/>
                  </a:lnTo>
                  <a:lnTo>
                    <a:pt x="517525" y="61569"/>
                  </a:lnTo>
                  <a:lnTo>
                    <a:pt x="517525" y="231101"/>
                  </a:lnTo>
                  <a:lnTo>
                    <a:pt x="553212" y="231101"/>
                  </a:lnTo>
                  <a:lnTo>
                    <a:pt x="553212" y="99631"/>
                  </a:lnTo>
                  <a:lnTo>
                    <a:pt x="554075" y="95948"/>
                  </a:lnTo>
                  <a:lnTo>
                    <a:pt x="557568" y="91516"/>
                  </a:lnTo>
                  <a:lnTo>
                    <a:pt x="560095" y="90385"/>
                  </a:lnTo>
                  <a:lnTo>
                    <a:pt x="566813" y="90385"/>
                  </a:lnTo>
                  <a:lnTo>
                    <a:pt x="569328" y="91516"/>
                  </a:lnTo>
                  <a:lnTo>
                    <a:pt x="573024" y="95948"/>
                  </a:lnTo>
                  <a:lnTo>
                    <a:pt x="574179" y="99631"/>
                  </a:lnTo>
                  <a:lnTo>
                    <a:pt x="574268" y="231101"/>
                  </a:lnTo>
                  <a:lnTo>
                    <a:pt x="606806" y="231101"/>
                  </a:lnTo>
                  <a:lnTo>
                    <a:pt x="606831" y="99631"/>
                  </a:lnTo>
                  <a:lnTo>
                    <a:pt x="607860" y="95948"/>
                  </a:lnTo>
                  <a:lnTo>
                    <a:pt x="611644" y="91516"/>
                  </a:lnTo>
                  <a:lnTo>
                    <a:pt x="614197" y="90385"/>
                  </a:lnTo>
                  <a:lnTo>
                    <a:pt x="620915" y="90385"/>
                  </a:lnTo>
                  <a:lnTo>
                    <a:pt x="623379" y="91516"/>
                  </a:lnTo>
                  <a:lnTo>
                    <a:pt x="626770" y="95948"/>
                  </a:lnTo>
                  <a:lnTo>
                    <a:pt x="627786" y="99631"/>
                  </a:lnTo>
                  <a:lnTo>
                    <a:pt x="627862" y="231101"/>
                  </a:lnTo>
                  <a:lnTo>
                    <a:pt x="663549" y="231101"/>
                  </a:lnTo>
                  <a:lnTo>
                    <a:pt x="663549" y="105359"/>
                  </a:lnTo>
                  <a:close/>
                </a:path>
                <a:path w="4614545" h="283210">
                  <a:moveTo>
                    <a:pt x="3715804" y="16510"/>
                  </a:moveTo>
                  <a:lnTo>
                    <a:pt x="3713492" y="10909"/>
                  </a:lnTo>
                  <a:lnTo>
                    <a:pt x="3704259" y="2184"/>
                  </a:lnTo>
                  <a:lnTo>
                    <a:pt x="3698379" y="0"/>
                  </a:lnTo>
                  <a:lnTo>
                    <a:pt x="3678364" y="0"/>
                  </a:lnTo>
                  <a:lnTo>
                    <a:pt x="3672497" y="2184"/>
                  </a:lnTo>
                  <a:lnTo>
                    <a:pt x="3663251" y="10909"/>
                  </a:lnTo>
                  <a:lnTo>
                    <a:pt x="3660952" y="16510"/>
                  </a:lnTo>
                  <a:lnTo>
                    <a:pt x="3660952" y="30264"/>
                  </a:lnTo>
                  <a:lnTo>
                    <a:pt x="3663213" y="35814"/>
                  </a:lnTo>
                  <a:lnTo>
                    <a:pt x="3667734" y="40017"/>
                  </a:lnTo>
                  <a:lnTo>
                    <a:pt x="3672306" y="44170"/>
                  </a:lnTo>
                  <a:lnTo>
                    <a:pt x="3678224" y="46240"/>
                  </a:lnTo>
                  <a:lnTo>
                    <a:pt x="3698290" y="46240"/>
                  </a:lnTo>
                  <a:lnTo>
                    <a:pt x="3704145" y="44170"/>
                  </a:lnTo>
                  <a:lnTo>
                    <a:pt x="3713492" y="35814"/>
                  </a:lnTo>
                  <a:lnTo>
                    <a:pt x="3715804" y="30264"/>
                  </a:lnTo>
                  <a:lnTo>
                    <a:pt x="3715804" y="16510"/>
                  </a:lnTo>
                  <a:close/>
                </a:path>
                <a:path w="4614545" h="283210">
                  <a:moveTo>
                    <a:pt x="3763099" y="195694"/>
                  </a:moveTo>
                  <a:lnTo>
                    <a:pt x="3710063" y="195694"/>
                  </a:lnTo>
                  <a:lnTo>
                    <a:pt x="3710063" y="61569"/>
                  </a:lnTo>
                  <a:lnTo>
                    <a:pt x="3623653" y="61569"/>
                  </a:lnTo>
                  <a:lnTo>
                    <a:pt x="3623653" y="96964"/>
                  </a:lnTo>
                  <a:lnTo>
                    <a:pt x="3672357" y="96964"/>
                  </a:lnTo>
                  <a:lnTo>
                    <a:pt x="3672357" y="195694"/>
                  </a:lnTo>
                  <a:lnTo>
                    <a:pt x="3616515" y="195694"/>
                  </a:lnTo>
                  <a:lnTo>
                    <a:pt x="3616515" y="231101"/>
                  </a:lnTo>
                  <a:lnTo>
                    <a:pt x="3763099" y="231101"/>
                  </a:lnTo>
                  <a:lnTo>
                    <a:pt x="3763099" y="195694"/>
                  </a:lnTo>
                  <a:close/>
                </a:path>
                <a:path w="4614545" h="283210">
                  <a:moveTo>
                    <a:pt x="3930434" y="105359"/>
                  </a:moveTo>
                  <a:lnTo>
                    <a:pt x="3929824" y="95554"/>
                  </a:lnTo>
                  <a:lnTo>
                    <a:pt x="3928757" y="90385"/>
                  </a:lnTo>
                  <a:lnTo>
                    <a:pt x="3927983" y="86677"/>
                  </a:lnTo>
                  <a:lnTo>
                    <a:pt x="3927335" y="85001"/>
                  </a:lnTo>
                  <a:lnTo>
                    <a:pt x="3927259" y="84797"/>
                  </a:lnTo>
                  <a:lnTo>
                    <a:pt x="3893286" y="58699"/>
                  </a:lnTo>
                  <a:lnTo>
                    <a:pt x="3884930" y="58699"/>
                  </a:lnTo>
                  <a:lnTo>
                    <a:pt x="3878249" y="61010"/>
                  </a:lnTo>
                  <a:lnTo>
                    <a:pt x="3877399" y="61569"/>
                  </a:lnTo>
                  <a:lnTo>
                    <a:pt x="3866578" y="70827"/>
                  </a:lnTo>
                  <a:lnTo>
                    <a:pt x="3866273" y="71767"/>
                  </a:lnTo>
                  <a:lnTo>
                    <a:pt x="3865715" y="70192"/>
                  </a:lnTo>
                  <a:lnTo>
                    <a:pt x="3864826" y="69456"/>
                  </a:lnTo>
                  <a:lnTo>
                    <a:pt x="3864826" y="78765"/>
                  </a:lnTo>
                  <a:lnTo>
                    <a:pt x="3864572" y="77025"/>
                  </a:lnTo>
                  <a:lnTo>
                    <a:pt x="3864699" y="76657"/>
                  </a:lnTo>
                  <a:lnTo>
                    <a:pt x="3864724" y="77025"/>
                  </a:lnTo>
                  <a:lnTo>
                    <a:pt x="3864826" y="78765"/>
                  </a:lnTo>
                  <a:lnTo>
                    <a:pt x="3864826" y="69456"/>
                  </a:lnTo>
                  <a:lnTo>
                    <a:pt x="3860254" y="65620"/>
                  </a:lnTo>
                  <a:lnTo>
                    <a:pt x="3854843" y="61010"/>
                  </a:lnTo>
                  <a:lnTo>
                    <a:pt x="3848176" y="58699"/>
                  </a:lnTo>
                  <a:lnTo>
                    <a:pt x="3831894" y="58699"/>
                  </a:lnTo>
                  <a:lnTo>
                    <a:pt x="3825316" y="61010"/>
                  </a:lnTo>
                  <a:lnTo>
                    <a:pt x="3825087" y="61010"/>
                  </a:lnTo>
                  <a:lnTo>
                    <a:pt x="3817937" y="67233"/>
                  </a:lnTo>
                  <a:lnTo>
                    <a:pt x="3818979" y="61569"/>
                  </a:lnTo>
                  <a:lnTo>
                    <a:pt x="3813022" y="61569"/>
                  </a:lnTo>
                  <a:lnTo>
                    <a:pt x="3813022" y="84442"/>
                  </a:lnTo>
                  <a:lnTo>
                    <a:pt x="3811625" y="77025"/>
                  </a:lnTo>
                  <a:lnTo>
                    <a:pt x="3811752" y="76657"/>
                  </a:lnTo>
                  <a:lnTo>
                    <a:pt x="3811790" y="77025"/>
                  </a:lnTo>
                  <a:lnTo>
                    <a:pt x="3811955" y="78765"/>
                  </a:lnTo>
                  <a:lnTo>
                    <a:pt x="3813022" y="84442"/>
                  </a:lnTo>
                  <a:lnTo>
                    <a:pt x="3813022" y="61569"/>
                  </a:lnTo>
                  <a:lnTo>
                    <a:pt x="3784409" y="61569"/>
                  </a:lnTo>
                  <a:lnTo>
                    <a:pt x="3784409" y="231101"/>
                  </a:lnTo>
                  <a:lnTo>
                    <a:pt x="3820096" y="231101"/>
                  </a:lnTo>
                  <a:lnTo>
                    <a:pt x="3820096" y="99631"/>
                  </a:lnTo>
                  <a:lnTo>
                    <a:pt x="3820960" y="95948"/>
                  </a:lnTo>
                  <a:lnTo>
                    <a:pt x="3824452" y="91516"/>
                  </a:lnTo>
                  <a:lnTo>
                    <a:pt x="3826980" y="90385"/>
                  </a:lnTo>
                  <a:lnTo>
                    <a:pt x="3833685" y="90385"/>
                  </a:lnTo>
                  <a:lnTo>
                    <a:pt x="3836212" y="91516"/>
                  </a:lnTo>
                  <a:lnTo>
                    <a:pt x="3839908" y="95948"/>
                  </a:lnTo>
                  <a:lnTo>
                    <a:pt x="3841064" y="99631"/>
                  </a:lnTo>
                  <a:lnTo>
                    <a:pt x="3841153" y="231101"/>
                  </a:lnTo>
                  <a:lnTo>
                    <a:pt x="3873690" y="231101"/>
                  </a:lnTo>
                  <a:lnTo>
                    <a:pt x="3873716" y="99631"/>
                  </a:lnTo>
                  <a:lnTo>
                    <a:pt x="3874744" y="95948"/>
                  </a:lnTo>
                  <a:lnTo>
                    <a:pt x="3878529" y="91516"/>
                  </a:lnTo>
                  <a:lnTo>
                    <a:pt x="3881082" y="90385"/>
                  </a:lnTo>
                  <a:lnTo>
                    <a:pt x="3887800" y="90385"/>
                  </a:lnTo>
                  <a:lnTo>
                    <a:pt x="3890264" y="91516"/>
                  </a:lnTo>
                  <a:lnTo>
                    <a:pt x="3893655" y="95948"/>
                  </a:lnTo>
                  <a:lnTo>
                    <a:pt x="3894671" y="99631"/>
                  </a:lnTo>
                  <a:lnTo>
                    <a:pt x="3894747" y="231101"/>
                  </a:lnTo>
                  <a:lnTo>
                    <a:pt x="3930434" y="231101"/>
                  </a:lnTo>
                  <a:lnTo>
                    <a:pt x="3930434" y="105359"/>
                  </a:lnTo>
                  <a:close/>
                </a:path>
                <a:path w="4614545" h="283210">
                  <a:moveTo>
                    <a:pt x="4096080" y="123139"/>
                  </a:moveTo>
                  <a:lnTo>
                    <a:pt x="4087431" y="85864"/>
                  </a:lnTo>
                  <a:lnTo>
                    <a:pt x="4058450" y="61887"/>
                  </a:lnTo>
                  <a:lnTo>
                    <a:pt x="4058450" y="114134"/>
                  </a:lnTo>
                  <a:lnTo>
                    <a:pt x="4058450" y="178523"/>
                  </a:lnTo>
                  <a:lnTo>
                    <a:pt x="4056037" y="186499"/>
                  </a:lnTo>
                  <a:lnTo>
                    <a:pt x="4046512" y="196951"/>
                  </a:lnTo>
                  <a:lnTo>
                    <a:pt x="4039438" y="199682"/>
                  </a:lnTo>
                  <a:lnTo>
                    <a:pt x="4021290" y="199682"/>
                  </a:lnTo>
                  <a:lnTo>
                    <a:pt x="4001630" y="178523"/>
                  </a:lnTo>
                  <a:lnTo>
                    <a:pt x="4001630" y="114134"/>
                  </a:lnTo>
                  <a:lnTo>
                    <a:pt x="4021290" y="92976"/>
                  </a:lnTo>
                  <a:lnTo>
                    <a:pt x="4039438" y="92976"/>
                  </a:lnTo>
                  <a:lnTo>
                    <a:pt x="4046436" y="95618"/>
                  </a:lnTo>
                  <a:lnTo>
                    <a:pt x="4056037" y="106159"/>
                  </a:lnTo>
                  <a:lnTo>
                    <a:pt x="4058450" y="114134"/>
                  </a:lnTo>
                  <a:lnTo>
                    <a:pt x="4058450" y="61887"/>
                  </a:lnTo>
                  <a:lnTo>
                    <a:pt x="4051414" y="59804"/>
                  </a:lnTo>
                  <a:lnTo>
                    <a:pt x="4038854" y="58699"/>
                  </a:lnTo>
                  <a:lnTo>
                    <a:pt x="4029379" y="59334"/>
                  </a:lnTo>
                  <a:lnTo>
                    <a:pt x="3999179" y="76327"/>
                  </a:lnTo>
                  <a:lnTo>
                    <a:pt x="3995953" y="96850"/>
                  </a:lnTo>
                  <a:lnTo>
                    <a:pt x="3999255" y="75780"/>
                  </a:lnTo>
                  <a:lnTo>
                    <a:pt x="4001490" y="61569"/>
                  </a:lnTo>
                  <a:lnTo>
                    <a:pt x="3994988" y="61569"/>
                  </a:lnTo>
                  <a:lnTo>
                    <a:pt x="3994988" y="195973"/>
                  </a:lnTo>
                  <a:lnTo>
                    <a:pt x="3994950" y="196951"/>
                  </a:lnTo>
                  <a:lnTo>
                    <a:pt x="3994848" y="198932"/>
                  </a:lnTo>
                  <a:lnTo>
                    <a:pt x="3994988" y="195973"/>
                  </a:lnTo>
                  <a:lnTo>
                    <a:pt x="3994988" y="61569"/>
                  </a:lnTo>
                  <a:lnTo>
                    <a:pt x="3963847" y="61569"/>
                  </a:lnTo>
                  <a:lnTo>
                    <a:pt x="3963847" y="282663"/>
                  </a:lnTo>
                  <a:lnTo>
                    <a:pt x="4001490" y="282663"/>
                  </a:lnTo>
                  <a:lnTo>
                    <a:pt x="4001287" y="229552"/>
                  </a:lnTo>
                  <a:lnTo>
                    <a:pt x="3999268" y="216966"/>
                  </a:lnTo>
                  <a:lnTo>
                    <a:pt x="3999941" y="218160"/>
                  </a:lnTo>
                  <a:lnTo>
                    <a:pt x="4038854" y="233959"/>
                  </a:lnTo>
                  <a:lnTo>
                    <a:pt x="4051414" y="232867"/>
                  </a:lnTo>
                  <a:lnTo>
                    <a:pt x="4087431" y="206781"/>
                  </a:lnTo>
                  <a:lnTo>
                    <a:pt x="4090517" y="199682"/>
                  </a:lnTo>
                  <a:lnTo>
                    <a:pt x="4092232" y="195745"/>
                  </a:lnTo>
                  <a:lnTo>
                    <a:pt x="4095127" y="183235"/>
                  </a:lnTo>
                  <a:lnTo>
                    <a:pt x="4096080" y="169240"/>
                  </a:lnTo>
                  <a:lnTo>
                    <a:pt x="4096080" y="123139"/>
                  </a:lnTo>
                  <a:close/>
                </a:path>
                <a:path w="4614545" h="283210">
                  <a:moveTo>
                    <a:pt x="4268038" y="124536"/>
                  </a:moveTo>
                  <a:lnTo>
                    <a:pt x="4257840" y="86131"/>
                  </a:lnTo>
                  <a:lnTo>
                    <a:pt x="4230395" y="63957"/>
                  </a:lnTo>
                  <a:lnTo>
                    <a:pt x="4230395" y="114363"/>
                  </a:lnTo>
                  <a:lnTo>
                    <a:pt x="4230395" y="178295"/>
                  </a:lnTo>
                  <a:lnTo>
                    <a:pt x="4227919" y="186131"/>
                  </a:lnTo>
                  <a:lnTo>
                    <a:pt x="4218076" y="196532"/>
                  </a:lnTo>
                  <a:lnTo>
                    <a:pt x="4210875" y="199123"/>
                  </a:lnTo>
                  <a:lnTo>
                    <a:pt x="4191800" y="199123"/>
                  </a:lnTo>
                  <a:lnTo>
                    <a:pt x="4184561" y="196532"/>
                  </a:lnTo>
                  <a:lnTo>
                    <a:pt x="4174769" y="186131"/>
                  </a:lnTo>
                  <a:lnTo>
                    <a:pt x="4172318" y="178295"/>
                  </a:lnTo>
                  <a:lnTo>
                    <a:pt x="4172318" y="114363"/>
                  </a:lnTo>
                  <a:lnTo>
                    <a:pt x="4174769" y="106553"/>
                  </a:lnTo>
                  <a:lnTo>
                    <a:pt x="4184561" y="96151"/>
                  </a:lnTo>
                  <a:lnTo>
                    <a:pt x="4191800" y="93535"/>
                  </a:lnTo>
                  <a:lnTo>
                    <a:pt x="4210875" y="93535"/>
                  </a:lnTo>
                  <a:lnTo>
                    <a:pt x="4218076" y="96151"/>
                  </a:lnTo>
                  <a:lnTo>
                    <a:pt x="4222978" y="101371"/>
                  </a:lnTo>
                  <a:lnTo>
                    <a:pt x="4227919" y="106553"/>
                  </a:lnTo>
                  <a:lnTo>
                    <a:pt x="4230395" y="63957"/>
                  </a:lnTo>
                  <a:lnTo>
                    <a:pt x="4201363" y="58699"/>
                  </a:lnTo>
                  <a:lnTo>
                    <a:pt x="4186847" y="59804"/>
                  </a:lnTo>
                  <a:lnTo>
                    <a:pt x="4144772" y="86131"/>
                  </a:lnTo>
                  <a:lnTo>
                    <a:pt x="4134637" y="124536"/>
                  </a:lnTo>
                  <a:lnTo>
                    <a:pt x="4134612" y="167843"/>
                  </a:lnTo>
                  <a:lnTo>
                    <a:pt x="4135742" y="182333"/>
                  </a:lnTo>
                  <a:lnTo>
                    <a:pt x="4162501" y="223964"/>
                  </a:lnTo>
                  <a:lnTo>
                    <a:pt x="4201363" y="233959"/>
                  </a:lnTo>
                  <a:lnTo>
                    <a:pt x="4215828" y="232854"/>
                  </a:lnTo>
                  <a:lnTo>
                    <a:pt x="4257840" y="206502"/>
                  </a:lnTo>
                  <a:lnTo>
                    <a:pt x="4268038" y="167843"/>
                  </a:lnTo>
                  <a:lnTo>
                    <a:pt x="4268038" y="124536"/>
                  </a:lnTo>
                  <a:close/>
                </a:path>
                <a:path w="4614545" h="283210">
                  <a:moveTo>
                    <a:pt x="4446282" y="122580"/>
                  </a:moveTo>
                  <a:lnTo>
                    <a:pt x="4437037" y="85559"/>
                  </a:lnTo>
                  <a:lnTo>
                    <a:pt x="4398962" y="59791"/>
                  </a:lnTo>
                  <a:lnTo>
                    <a:pt x="4385907" y="58699"/>
                  </a:lnTo>
                  <a:lnTo>
                    <a:pt x="4368901" y="61010"/>
                  </a:lnTo>
                  <a:lnTo>
                    <a:pt x="4356303" y="67932"/>
                  </a:lnTo>
                  <a:lnTo>
                    <a:pt x="4348124" y="79476"/>
                  </a:lnTo>
                  <a:lnTo>
                    <a:pt x="4344340" y="95643"/>
                  </a:lnTo>
                  <a:lnTo>
                    <a:pt x="4344428" y="95148"/>
                  </a:lnTo>
                  <a:lnTo>
                    <a:pt x="4350283" y="61569"/>
                  </a:lnTo>
                  <a:lnTo>
                    <a:pt x="4313212" y="61569"/>
                  </a:lnTo>
                  <a:lnTo>
                    <a:pt x="4313212" y="231101"/>
                  </a:lnTo>
                  <a:lnTo>
                    <a:pt x="4350855" y="231101"/>
                  </a:lnTo>
                  <a:lnTo>
                    <a:pt x="4350905" y="114134"/>
                  </a:lnTo>
                  <a:lnTo>
                    <a:pt x="4353395" y="106299"/>
                  </a:lnTo>
                  <a:lnTo>
                    <a:pt x="4363199" y="95643"/>
                  </a:lnTo>
                  <a:lnTo>
                    <a:pt x="4363732" y="95148"/>
                  </a:lnTo>
                  <a:lnTo>
                    <a:pt x="4370743" y="92417"/>
                  </a:lnTo>
                  <a:lnTo>
                    <a:pt x="4389209" y="92417"/>
                  </a:lnTo>
                  <a:lnTo>
                    <a:pt x="4396333" y="95148"/>
                  </a:lnTo>
                  <a:lnTo>
                    <a:pt x="4406176" y="106070"/>
                  </a:lnTo>
                  <a:lnTo>
                    <a:pt x="4406239" y="106299"/>
                  </a:lnTo>
                  <a:lnTo>
                    <a:pt x="4408640" y="114134"/>
                  </a:lnTo>
                  <a:lnTo>
                    <a:pt x="4408640" y="137972"/>
                  </a:lnTo>
                  <a:lnTo>
                    <a:pt x="4446282" y="137972"/>
                  </a:lnTo>
                  <a:lnTo>
                    <a:pt x="4446282" y="122580"/>
                  </a:lnTo>
                  <a:close/>
                </a:path>
                <a:path w="4614545" h="283210">
                  <a:moveTo>
                    <a:pt x="4614253" y="61569"/>
                  </a:moveTo>
                  <a:lnTo>
                    <a:pt x="4551210" y="61569"/>
                  </a:lnTo>
                  <a:lnTo>
                    <a:pt x="4551210" y="18605"/>
                  </a:lnTo>
                  <a:lnTo>
                    <a:pt x="4513491" y="18605"/>
                  </a:lnTo>
                  <a:lnTo>
                    <a:pt x="4513491" y="61569"/>
                  </a:lnTo>
                  <a:lnTo>
                    <a:pt x="4469066" y="61569"/>
                  </a:lnTo>
                  <a:lnTo>
                    <a:pt x="4469066" y="96964"/>
                  </a:lnTo>
                  <a:lnTo>
                    <a:pt x="4513491" y="96964"/>
                  </a:lnTo>
                  <a:lnTo>
                    <a:pt x="4513491" y="183591"/>
                  </a:lnTo>
                  <a:lnTo>
                    <a:pt x="4514316" y="194144"/>
                  </a:lnTo>
                  <a:lnTo>
                    <a:pt x="4542129" y="227952"/>
                  </a:lnTo>
                  <a:lnTo>
                    <a:pt x="4562475" y="231101"/>
                  </a:lnTo>
                  <a:lnTo>
                    <a:pt x="4611382" y="231101"/>
                  </a:lnTo>
                  <a:lnTo>
                    <a:pt x="4611382" y="195694"/>
                  </a:lnTo>
                  <a:lnTo>
                    <a:pt x="4558271" y="195694"/>
                  </a:lnTo>
                  <a:lnTo>
                    <a:pt x="4555337" y="194805"/>
                  </a:lnTo>
                  <a:lnTo>
                    <a:pt x="4552023" y="191262"/>
                  </a:lnTo>
                  <a:lnTo>
                    <a:pt x="4551210" y="188112"/>
                  </a:lnTo>
                  <a:lnTo>
                    <a:pt x="4551210" y="96964"/>
                  </a:lnTo>
                  <a:lnTo>
                    <a:pt x="4614253" y="96964"/>
                  </a:lnTo>
                  <a:lnTo>
                    <a:pt x="4614253" y="61569"/>
                  </a:lnTo>
                  <a:close/>
                </a:path>
              </a:pathLst>
            </a:custGeom>
            <a:solidFill>
              <a:srgbClr val="007BB5"/>
            </a:solidFill>
          </p:spPr>
          <p:txBody>
            <a:bodyPr wrap="square" lIns="0" tIns="0" rIns="0" bIns="0" rtlCol="0"/>
            <a:lstStyle/>
            <a:p>
              <a:endParaRPr/>
            </a:p>
          </p:txBody>
        </p:sp>
      </p:grpSp>
      <p:sp>
        <p:nvSpPr>
          <p:cNvPr id="6" name="object 6"/>
          <p:cNvSpPr/>
          <p:nvPr/>
        </p:nvSpPr>
        <p:spPr>
          <a:xfrm>
            <a:off x="491289" y="2722562"/>
            <a:ext cx="14575155" cy="819150"/>
          </a:xfrm>
          <a:custGeom>
            <a:avLst/>
            <a:gdLst/>
            <a:ahLst/>
            <a:cxnLst/>
            <a:rect l="l" t="t" r="r" b="b"/>
            <a:pathLst>
              <a:path w="14575155" h="819150">
                <a:moveTo>
                  <a:pt x="14498413" y="818815"/>
                </a:moveTo>
                <a:lnTo>
                  <a:pt x="76505" y="818815"/>
                </a:lnTo>
                <a:lnTo>
                  <a:pt x="71180" y="818291"/>
                </a:lnTo>
                <a:lnTo>
                  <a:pt x="31920" y="802028"/>
                </a:lnTo>
                <a:lnTo>
                  <a:pt x="4175" y="763301"/>
                </a:lnTo>
                <a:lnTo>
                  <a:pt x="0" y="742310"/>
                </a:lnTo>
                <a:lnTo>
                  <a:pt x="0" y="736934"/>
                </a:lnTo>
                <a:lnTo>
                  <a:pt x="0" y="76505"/>
                </a:lnTo>
                <a:lnTo>
                  <a:pt x="16786" y="31919"/>
                </a:lnTo>
                <a:lnTo>
                  <a:pt x="55513" y="4175"/>
                </a:lnTo>
                <a:lnTo>
                  <a:pt x="76505" y="0"/>
                </a:lnTo>
                <a:lnTo>
                  <a:pt x="14498413" y="0"/>
                </a:lnTo>
                <a:lnTo>
                  <a:pt x="14542998" y="16786"/>
                </a:lnTo>
                <a:lnTo>
                  <a:pt x="14570742" y="55513"/>
                </a:lnTo>
                <a:lnTo>
                  <a:pt x="14574918" y="76505"/>
                </a:lnTo>
                <a:lnTo>
                  <a:pt x="14574918" y="742310"/>
                </a:lnTo>
                <a:lnTo>
                  <a:pt x="14558132" y="786894"/>
                </a:lnTo>
                <a:lnTo>
                  <a:pt x="14519404" y="814639"/>
                </a:lnTo>
                <a:lnTo>
                  <a:pt x="14503737" y="818291"/>
                </a:lnTo>
                <a:lnTo>
                  <a:pt x="14498413" y="818815"/>
                </a:lnTo>
                <a:close/>
              </a:path>
            </a:pathLst>
          </a:custGeom>
          <a:solidFill>
            <a:srgbClr val="04182D"/>
          </a:solidFill>
        </p:spPr>
        <p:txBody>
          <a:bodyPr wrap="square" lIns="0" tIns="0" rIns="0" bIns="0" rtlCol="0"/>
          <a:lstStyle/>
          <a:p>
            <a:endParaRPr/>
          </a:p>
        </p:txBody>
      </p:sp>
      <p:sp>
        <p:nvSpPr>
          <p:cNvPr id="7" name="object 7"/>
          <p:cNvSpPr txBox="1"/>
          <p:nvPr/>
        </p:nvSpPr>
        <p:spPr>
          <a:xfrm>
            <a:off x="642352" y="1231899"/>
            <a:ext cx="8450580" cy="1008380"/>
          </a:xfrm>
          <a:prstGeom prst="rect">
            <a:avLst/>
          </a:prstGeom>
        </p:spPr>
        <p:txBody>
          <a:bodyPr vert="horz" wrap="square" lIns="0" tIns="12065" rIns="0" bIns="0" rtlCol="0">
            <a:spAutoFit/>
          </a:bodyPr>
          <a:lstStyle/>
          <a:p>
            <a:pPr marL="12700" marR="5080" indent="859155">
              <a:lnSpc>
                <a:spcPct val="143300"/>
              </a:lnSpc>
              <a:spcBef>
                <a:spcPts val="95"/>
              </a:spcBef>
              <a:tabLst>
                <a:tab pos="4826635" algn="l"/>
              </a:tabLst>
            </a:pPr>
            <a:r>
              <a:rPr sz="2250" spc="-10" dirty="0">
                <a:solidFill>
                  <a:srgbClr val="04182D"/>
                </a:solidFill>
                <a:latin typeface="Courier New"/>
                <a:cs typeface="Courier New"/>
              </a:rPr>
              <a:t>sklearn.metrics</a:t>
            </a:r>
            <a:r>
              <a:rPr sz="2250" dirty="0">
                <a:solidFill>
                  <a:srgbClr val="04182D"/>
                </a:solidFill>
                <a:latin typeface="Courier New"/>
                <a:cs typeface="Courier New"/>
              </a:rPr>
              <a:t>	</a:t>
            </a:r>
            <a:r>
              <a:rPr sz="2250" spc="-10" dirty="0">
                <a:solidFill>
                  <a:srgbClr val="04182D"/>
                </a:solidFill>
                <a:latin typeface="Courier New"/>
                <a:cs typeface="Courier New"/>
              </a:rPr>
              <a:t>mean_squared_error </a:t>
            </a:r>
            <a:r>
              <a:rPr sz="2250" dirty="0">
                <a:solidFill>
                  <a:srgbClr val="04182D"/>
                </a:solidFill>
                <a:latin typeface="Courier New"/>
                <a:cs typeface="Courier New"/>
              </a:rPr>
              <a:t>mean_squared_error(y_test,</a:t>
            </a:r>
            <a:r>
              <a:rPr sz="2250" spc="-10" dirty="0">
                <a:solidFill>
                  <a:srgbClr val="04182D"/>
                </a:solidFill>
                <a:latin typeface="Courier New"/>
                <a:cs typeface="Courier New"/>
              </a:rPr>
              <a:t> </a:t>
            </a:r>
            <a:r>
              <a:rPr sz="2250" dirty="0">
                <a:solidFill>
                  <a:srgbClr val="04182D"/>
                </a:solidFill>
                <a:latin typeface="Courier New"/>
                <a:cs typeface="Courier New"/>
              </a:rPr>
              <a:t>y_pred, </a:t>
            </a:r>
            <a:r>
              <a:rPr sz="2250" spc="-10" dirty="0">
                <a:solidFill>
                  <a:srgbClr val="04182D"/>
                </a:solidFill>
                <a:latin typeface="Courier New"/>
                <a:cs typeface="Courier New"/>
              </a:rPr>
              <a:t>squared=</a:t>
            </a:r>
            <a:r>
              <a:rPr sz="2250" spc="-10" dirty="0">
                <a:solidFill>
                  <a:srgbClr val="BE2F72"/>
                </a:solidFill>
                <a:latin typeface="Courier New"/>
                <a:cs typeface="Courier New"/>
              </a:rPr>
              <a:t>False</a:t>
            </a:r>
            <a:r>
              <a:rPr sz="2250" spc="-10" dirty="0">
                <a:solidFill>
                  <a:srgbClr val="04182D"/>
                </a:solidFill>
                <a:latin typeface="Courier New"/>
                <a:cs typeface="Courier New"/>
              </a:rPr>
              <a:t>)</a:t>
            </a:r>
            <a:endParaRPr sz="2250" dirty="0">
              <a:latin typeface="Courier New"/>
              <a:cs typeface="Courier New"/>
            </a:endParaRPr>
          </a:p>
        </p:txBody>
      </p:sp>
      <p:sp>
        <p:nvSpPr>
          <p:cNvPr id="8" name="object 8"/>
          <p:cNvSpPr txBox="1"/>
          <p:nvPr/>
        </p:nvSpPr>
        <p:spPr>
          <a:xfrm>
            <a:off x="642352" y="2935036"/>
            <a:ext cx="3121025" cy="369570"/>
          </a:xfrm>
          <a:prstGeom prst="rect">
            <a:avLst/>
          </a:prstGeom>
        </p:spPr>
        <p:txBody>
          <a:bodyPr vert="horz" wrap="square" lIns="0" tIns="13335" rIns="0" bIns="0" rtlCol="0">
            <a:spAutoFit/>
          </a:bodyPr>
          <a:lstStyle/>
          <a:p>
            <a:pPr marL="12700">
              <a:lnSpc>
                <a:spcPct val="100000"/>
              </a:lnSpc>
              <a:spcBef>
                <a:spcPts val="105"/>
              </a:spcBef>
            </a:pPr>
            <a:r>
              <a:rPr sz="2250" spc="-10" dirty="0">
                <a:solidFill>
                  <a:srgbClr val="FFFFFF"/>
                </a:solidFill>
                <a:latin typeface="Courier New"/>
                <a:cs typeface="Courier New"/>
              </a:rPr>
              <a:t>24.028109426907236</a:t>
            </a:r>
            <a:endParaRPr sz="2250">
              <a:latin typeface="Courier New"/>
              <a:cs typeface="Courier New"/>
            </a:endParaRPr>
          </a:p>
        </p:txBody>
      </p:sp>
      <p:sp>
        <p:nvSpPr>
          <p:cNvPr id="12" name="슬라이드 번호 개체 틀 11">
            <a:extLst>
              <a:ext uri="{FF2B5EF4-FFF2-40B4-BE49-F238E27FC236}">
                <a16:creationId xmlns:a16="http://schemas.microsoft.com/office/drawing/2014/main" id="{FEE11802-70C7-1A42-C550-D05D826F5421}"/>
              </a:ext>
            </a:extLst>
          </p:cNvPr>
          <p:cNvSpPr>
            <a:spLocks noGrp="1"/>
          </p:cNvSpPr>
          <p:nvPr>
            <p:ph type="sldNum" sz="quarter" idx="7"/>
          </p:nvPr>
        </p:nvSpPr>
        <p:spPr/>
        <p:txBody>
          <a:bodyPr/>
          <a:lstStyle/>
          <a:p>
            <a:fld id="{B6F15528-21DE-4FAA-801E-634DDDAF4B2B}" type="slidenum">
              <a:rPr lang="en-US" altLang="ko-KR" smtClean="0"/>
              <a:t>22</a:t>
            </a:fld>
            <a:endParaRPr lang="en-US" altLang="ko-KR"/>
          </a:p>
        </p:txBody>
      </p:sp>
      <p:sp>
        <p:nvSpPr>
          <p:cNvPr id="13" name="Rectangle 1">
            <a:extLst>
              <a:ext uri="{FF2B5EF4-FFF2-40B4-BE49-F238E27FC236}">
                <a16:creationId xmlns:a16="http://schemas.microsoft.com/office/drawing/2014/main" id="{C118E9D7-3088-6EEB-5C91-AE5A1C4F6AB4}"/>
              </a:ext>
            </a:extLst>
          </p:cNvPr>
          <p:cNvSpPr>
            <a:spLocks noChangeArrowheads="1"/>
          </p:cNvSpPr>
          <p:nvPr/>
        </p:nvSpPr>
        <p:spPr bwMode="auto">
          <a:xfrm>
            <a:off x="516957" y="4227612"/>
            <a:ext cx="14233384"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2000" b="1" i="0" u="none" strike="noStrike" cap="none" normalizeH="0" baseline="0" dirty="0" err="1">
                <a:ln>
                  <a:noFill/>
                </a:ln>
                <a:solidFill>
                  <a:schemeClr val="tx1"/>
                </a:solidFill>
                <a:effectLst/>
                <a:latin typeface="Arial Unicode MS"/>
              </a:rPr>
              <a:t>squared</a:t>
            </a:r>
            <a:r>
              <a:rPr kumimoji="0" lang="ko-KR" altLang="ko-KR" sz="2000" b="1" i="0" u="none" strike="noStrike" cap="none" normalizeH="0" baseline="0" dirty="0">
                <a:ln>
                  <a:noFill/>
                </a:ln>
                <a:solidFill>
                  <a:schemeClr val="tx1"/>
                </a:solidFill>
                <a:effectLst/>
                <a:latin typeface="Arial Unicode MS"/>
              </a:rPr>
              <a:t>=</a:t>
            </a:r>
            <a:r>
              <a:rPr kumimoji="0" lang="ko-KR" altLang="ko-KR" sz="2000" b="1" i="0" u="none" strike="noStrike" cap="none" normalizeH="0" baseline="0" dirty="0" err="1">
                <a:ln>
                  <a:noFill/>
                </a:ln>
                <a:solidFill>
                  <a:schemeClr val="tx1"/>
                </a:solidFill>
                <a:effectLst/>
                <a:latin typeface="Arial Unicode MS"/>
              </a:rPr>
              <a:t>False</a:t>
            </a:r>
            <a:r>
              <a:rPr kumimoji="0" lang="ko-KR" altLang="ko-KR" sz="2000" b="0" i="0" u="none" strike="noStrike" cap="none" normalizeH="0" baseline="0" dirty="0">
                <a:ln>
                  <a:noFill/>
                </a:ln>
                <a:solidFill>
                  <a:schemeClr val="tx1"/>
                </a:solidFill>
                <a:effectLst/>
              </a:rPr>
              <a:t>: </a:t>
            </a:r>
            <a:r>
              <a:rPr kumimoji="0" lang="ko-KR" altLang="ko-KR" sz="2000" b="0" i="0" u="none" strike="noStrike" cap="none" normalizeH="0" baseline="0" dirty="0" err="1">
                <a:ln>
                  <a:noFill/>
                </a:ln>
                <a:solidFill>
                  <a:schemeClr val="tx1"/>
                </a:solidFill>
                <a:effectLst/>
              </a:rPr>
              <a:t>This</a:t>
            </a:r>
            <a:r>
              <a:rPr kumimoji="0" lang="ko-KR" altLang="ko-KR" sz="2000" b="0" i="0" u="none" strike="noStrike" cap="none" normalizeH="0" baseline="0" dirty="0">
                <a:ln>
                  <a:noFill/>
                </a:ln>
                <a:solidFill>
                  <a:schemeClr val="tx1"/>
                </a:solidFill>
                <a:effectLst/>
              </a:rPr>
              <a:t> </a:t>
            </a:r>
            <a:r>
              <a:rPr kumimoji="0" lang="ko-KR" altLang="ko-KR" sz="2000" b="0" i="0" u="none" strike="noStrike" cap="none" normalizeH="0" baseline="0" dirty="0" err="1">
                <a:ln>
                  <a:noFill/>
                </a:ln>
                <a:solidFill>
                  <a:schemeClr val="tx1"/>
                </a:solidFill>
                <a:effectLst/>
              </a:rPr>
              <a:t>option</a:t>
            </a:r>
            <a:r>
              <a:rPr kumimoji="0" lang="ko-KR" altLang="ko-KR" sz="2000" b="0" i="0" u="none" strike="noStrike" cap="none" normalizeH="0" baseline="0" dirty="0">
                <a:ln>
                  <a:noFill/>
                </a:ln>
                <a:solidFill>
                  <a:schemeClr val="tx1"/>
                </a:solidFill>
                <a:effectLst/>
              </a:rPr>
              <a:t> </a:t>
            </a:r>
            <a:r>
              <a:rPr kumimoji="0" lang="ko-KR" altLang="ko-KR" sz="2000" b="0" i="0" u="none" strike="noStrike" cap="none" normalizeH="0" baseline="0" dirty="0" err="1">
                <a:ln>
                  <a:noFill/>
                </a:ln>
                <a:solidFill>
                  <a:schemeClr val="tx1"/>
                </a:solidFill>
                <a:effectLst/>
              </a:rPr>
              <a:t>specifies</a:t>
            </a:r>
            <a:r>
              <a:rPr kumimoji="0" lang="ko-KR" altLang="ko-KR" sz="2000" b="0" i="0" u="none" strike="noStrike" cap="none" normalizeH="0" baseline="0" dirty="0">
                <a:ln>
                  <a:noFill/>
                </a:ln>
                <a:solidFill>
                  <a:schemeClr val="tx1"/>
                </a:solidFill>
                <a:effectLst/>
              </a:rPr>
              <a:t> </a:t>
            </a:r>
            <a:r>
              <a:rPr kumimoji="0" lang="ko-KR" altLang="ko-KR" sz="2000" b="0" i="0" u="none" strike="noStrike" cap="none" normalizeH="0" baseline="0" dirty="0" err="1">
                <a:ln>
                  <a:noFill/>
                </a:ln>
                <a:solidFill>
                  <a:schemeClr val="tx1"/>
                </a:solidFill>
                <a:effectLst/>
              </a:rPr>
              <a:t>that</a:t>
            </a:r>
            <a:r>
              <a:rPr kumimoji="0" lang="ko-KR" altLang="ko-KR" sz="2000" b="0" i="0" u="none" strike="noStrike" cap="none" normalizeH="0" baseline="0" dirty="0">
                <a:ln>
                  <a:noFill/>
                </a:ln>
                <a:solidFill>
                  <a:schemeClr val="tx1"/>
                </a:solidFill>
                <a:effectLst/>
              </a:rPr>
              <a:t> </a:t>
            </a:r>
            <a:r>
              <a:rPr kumimoji="0" lang="ko-KR" altLang="ko-KR" sz="2000" b="0" i="0" u="none" strike="noStrike" cap="none" normalizeH="0" baseline="0" dirty="0" err="1">
                <a:ln>
                  <a:noFill/>
                </a:ln>
                <a:solidFill>
                  <a:schemeClr val="tx1"/>
                </a:solidFill>
                <a:effectLst/>
              </a:rPr>
              <a:t>the</a:t>
            </a:r>
            <a:r>
              <a:rPr kumimoji="0" lang="ko-KR" altLang="ko-KR" sz="2000" b="0" i="0" u="none" strike="noStrike" cap="none" normalizeH="0" baseline="0" dirty="0">
                <a:ln>
                  <a:noFill/>
                </a:ln>
                <a:solidFill>
                  <a:schemeClr val="tx1"/>
                </a:solidFill>
                <a:effectLst/>
              </a:rPr>
              <a:t> </a:t>
            </a:r>
            <a:r>
              <a:rPr kumimoji="0" lang="ko-KR" altLang="ko-KR" sz="2000" b="0" i="0" u="none" strike="noStrike" cap="none" normalizeH="0" baseline="0" dirty="0" err="1">
                <a:ln>
                  <a:noFill/>
                </a:ln>
                <a:solidFill>
                  <a:schemeClr val="tx1"/>
                </a:solidFill>
                <a:effectLst/>
              </a:rPr>
              <a:t>output</a:t>
            </a:r>
            <a:r>
              <a:rPr kumimoji="0" lang="ko-KR" altLang="ko-KR" sz="2000" b="0" i="0" u="none" strike="noStrike" cap="none" normalizeH="0" baseline="0" dirty="0">
                <a:ln>
                  <a:noFill/>
                </a:ln>
                <a:solidFill>
                  <a:schemeClr val="tx1"/>
                </a:solidFill>
                <a:effectLst/>
              </a:rPr>
              <a:t> </a:t>
            </a:r>
            <a:r>
              <a:rPr kumimoji="0" lang="ko-KR" altLang="ko-KR" sz="2000" b="0" i="0" u="none" strike="noStrike" cap="none" normalizeH="0" baseline="0" dirty="0" err="1">
                <a:ln>
                  <a:noFill/>
                </a:ln>
                <a:solidFill>
                  <a:schemeClr val="tx1"/>
                </a:solidFill>
                <a:effectLst/>
              </a:rPr>
              <a:t>should</a:t>
            </a:r>
            <a:r>
              <a:rPr kumimoji="0" lang="ko-KR" altLang="ko-KR" sz="2000" b="0" i="0" u="none" strike="noStrike" cap="none" normalizeH="0" baseline="0" dirty="0">
                <a:ln>
                  <a:noFill/>
                </a:ln>
                <a:solidFill>
                  <a:schemeClr val="tx1"/>
                </a:solidFill>
                <a:effectLst/>
              </a:rPr>
              <a:t> </a:t>
            </a:r>
            <a:r>
              <a:rPr kumimoji="0" lang="ko-KR" altLang="ko-KR" sz="2000" b="0" i="0" u="none" strike="noStrike" cap="none" normalizeH="0" baseline="0" dirty="0" err="1">
                <a:ln>
                  <a:noFill/>
                </a:ln>
                <a:solidFill>
                  <a:schemeClr val="tx1"/>
                </a:solidFill>
                <a:effectLst/>
              </a:rPr>
              <a:t>be</a:t>
            </a:r>
            <a:r>
              <a:rPr kumimoji="0" lang="ko-KR" altLang="ko-KR" sz="2000" b="0" i="0" u="none" strike="noStrike" cap="none" normalizeH="0" baseline="0" dirty="0">
                <a:ln>
                  <a:noFill/>
                </a:ln>
                <a:solidFill>
                  <a:schemeClr val="tx1"/>
                </a:solidFill>
                <a:effectLst/>
              </a:rPr>
              <a:t> </a:t>
            </a:r>
            <a:r>
              <a:rPr kumimoji="0" lang="ko-KR" altLang="ko-KR" sz="2000" b="0" i="0" u="none" strike="noStrike" cap="none" normalizeH="0" baseline="0" dirty="0" err="1">
                <a:ln>
                  <a:noFill/>
                </a:ln>
                <a:solidFill>
                  <a:schemeClr val="tx1"/>
                </a:solidFill>
                <a:effectLst/>
              </a:rPr>
              <a:t>the</a:t>
            </a:r>
            <a:r>
              <a:rPr kumimoji="0" lang="ko-KR" altLang="ko-KR" sz="2000" b="0" i="0" u="none" strike="noStrike" cap="none" normalizeH="0" baseline="0" dirty="0">
                <a:ln>
                  <a:noFill/>
                </a:ln>
                <a:solidFill>
                  <a:schemeClr val="tx1"/>
                </a:solidFill>
                <a:effectLst/>
              </a:rPr>
              <a:t> </a:t>
            </a:r>
            <a:r>
              <a:rPr kumimoji="0" lang="ko-KR" altLang="ko-KR" sz="2000" b="1" i="0" u="none" strike="noStrike" cap="none" normalizeH="0" baseline="0" dirty="0" err="1">
                <a:ln>
                  <a:noFill/>
                </a:ln>
                <a:solidFill>
                  <a:schemeClr val="tx1"/>
                </a:solidFill>
                <a:effectLst/>
                <a:latin typeface="Arial" panose="020B0604020202020204" pitchFamily="34" charset="0"/>
              </a:rPr>
              <a:t>Root</a:t>
            </a:r>
            <a:r>
              <a:rPr kumimoji="0" lang="ko-KR" altLang="ko-KR" sz="2000" b="1" i="0" u="none" strike="noStrike" cap="none" normalizeH="0" baseline="0" dirty="0">
                <a:ln>
                  <a:noFill/>
                </a:ln>
                <a:solidFill>
                  <a:schemeClr val="tx1"/>
                </a:solidFill>
                <a:effectLst/>
                <a:latin typeface="Arial" panose="020B0604020202020204" pitchFamily="34" charset="0"/>
              </a:rPr>
              <a:t> </a:t>
            </a:r>
            <a:r>
              <a:rPr kumimoji="0" lang="ko-KR" altLang="ko-KR" sz="2000" b="1" i="0" u="none" strike="noStrike" cap="none" normalizeH="0" baseline="0" dirty="0" err="1">
                <a:ln>
                  <a:noFill/>
                </a:ln>
                <a:solidFill>
                  <a:schemeClr val="tx1"/>
                </a:solidFill>
                <a:effectLst/>
                <a:latin typeface="Arial" panose="020B0604020202020204" pitchFamily="34" charset="0"/>
              </a:rPr>
              <a:t>Mean</a:t>
            </a:r>
            <a:r>
              <a:rPr kumimoji="0" lang="ko-KR" altLang="ko-KR" sz="2000" b="1" i="0" u="none" strike="noStrike" cap="none" normalizeH="0" baseline="0" dirty="0">
                <a:ln>
                  <a:noFill/>
                </a:ln>
                <a:solidFill>
                  <a:schemeClr val="tx1"/>
                </a:solidFill>
                <a:effectLst/>
                <a:latin typeface="Arial" panose="020B0604020202020204" pitchFamily="34" charset="0"/>
              </a:rPr>
              <a:t> </a:t>
            </a:r>
            <a:r>
              <a:rPr kumimoji="0" lang="ko-KR" altLang="ko-KR" sz="2000" b="1" i="0" u="none" strike="noStrike" cap="none" normalizeH="0" baseline="0" dirty="0" err="1">
                <a:ln>
                  <a:noFill/>
                </a:ln>
                <a:solidFill>
                  <a:schemeClr val="tx1"/>
                </a:solidFill>
                <a:effectLst/>
                <a:latin typeface="Arial" panose="020B0604020202020204" pitchFamily="34" charset="0"/>
              </a:rPr>
              <a:t>Squared</a:t>
            </a:r>
            <a:r>
              <a:rPr kumimoji="0" lang="ko-KR" altLang="ko-KR" sz="2000" b="1" i="0" u="none" strike="noStrike" cap="none" normalizeH="0" baseline="0" dirty="0">
                <a:ln>
                  <a:noFill/>
                </a:ln>
                <a:solidFill>
                  <a:schemeClr val="tx1"/>
                </a:solidFill>
                <a:effectLst/>
                <a:latin typeface="Arial" panose="020B0604020202020204" pitchFamily="34" charset="0"/>
              </a:rPr>
              <a:t> </a:t>
            </a:r>
            <a:r>
              <a:rPr kumimoji="0" lang="ko-KR" altLang="ko-KR" sz="2000" b="1" i="0" u="none" strike="noStrike" cap="none" normalizeH="0" baseline="0" dirty="0" err="1">
                <a:ln>
                  <a:noFill/>
                </a:ln>
                <a:solidFill>
                  <a:schemeClr val="tx1"/>
                </a:solidFill>
                <a:effectLst/>
                <a:latin typeface="Arial" panose="020B0604020202020204" pitchFamily="34" charset="0"/>
              </a:rPr>
              <a:t>Error</a:t>
            </a:r>
            <a:r>
              <a:rPr kumimoji="0" lang="ko-KR" altLang="ko-KR" sz="2000" b="1" i="0" u="none" strike="noStrike" cap="none" normalizeH="0" baseline="0" dirty="0">
                <a:ln>
                  <a:noFill/>
                </a:ln>
                <a:solidFill>
                  <a:schemeClr val="tx1"/>
                </a:solidFill>
                <a:effectLst/>
                <a:latin typeface="Arial" panose="020B0604020202020204" pitchFamily="34" charset="0"/>
              </a:rPr>
              <a:t> (RMSE)</a:t>
            </a:r>
            <a:r>
              <a:rPr kumimoji="0" lang="ko-KR" altLang="ko-KR" sz="2000" b="0" i="0" u="none" strike="noStrike" cap="none" normalizeH="0" baseline="0" dirty="0">
                <a:ln>
                  <a:noFill/>
                </a:ln>
                <a:solidFill>
                  <a:schemeClr val="tx1"/>
                </a:solidFill>
                <a:effectLst/>
                <a:latin typeface="Arial" panose="020B0604020202020204" pitchFamily="34" charset="0"/>
              </a:rPr>
              <a:t> </a:t>
            </a:r>
            <a:r>
              <a:rPr kumimoji="0" lang="ko-KR" altLang="ko-KR" sz="2000" b="0" i="0" u="none" strike="noStrike" cap="none" normalizeH="0" baseline="0" dirty="0" err="1">
                <a:ln>
                  <a:noFill/>
                </a:ln>
                <a:solidFill>
                  <a:schemeClr val="tx1"/>
                </a:solidFill>
                <a:effectLst/>
                <a:latin typeface="Arial" panose="020B0604020202020204" pitchFamily="34" charset="0"/>
              </a:rPr>
              <a:t>instead</a:t>
            </a:r>
            <a:r>
              <a:rPr kumimoji="0" lang="ko-KR" altLang="ko-KR" sz="2000" b="0" i="0" u="none" strike="noStrike" cap="none" normalizeH="0" baseline="0" dirty="0">
                <a:ln>
                  <a:noFill/>
                </a:ln>
                <a:solidFill>
                  <a:schemeClr val="tx1"/>
                </a:solidFill>
                <a:effectLst/>
                <a:latin typeface="Arial" panose="020B0604020202020204" pitchFamily="34" charset="0"/>
              </a:rPr>
              <a:t> of </a:t>
            </a:r>
            <a:r>
              <a:rPr kumimoji="0" lang="ko-KR" altLang="ko-KR" sz="2000" b="0" i="0" u="none" strike="noStrike" cap="none" normalizeH="0" baseline="0" dirty="0" err="1">
                <a:ln>
                  <a:noFill/>
                </a:ln>
                <a:solidFill>
                  <a:schemeClr val="tx1"/>
                </a:solidFill>
                <a:effectLst/>
                <a:latin typeface="Arial" panose="020B0604020202020204" pitchFamily="34" charset="0"/>
              </a:rPr>
              <a:t>the</a:t>
            </a:r>
            <a:r>
              <a:rPr kumimoji="0" lang="ko-KR" altLang="ko-KR" sz="2000" b="0" i="0" u="none" strike="noStrike" cap="none" normalizeH="0" baseline="0" dirty="0">
                <a:ln>
                  <a:noFill/>
                </a:ln>
                <a:solidFill>
                  <a:schemeClr val="tx1"/>
                </a:solidFill>
                <a:effectLst/>
                <a:latin typeface="Arial" panose="020B0604020202020204" pitchFamily="34" charset="0"/>
              </a:rPr>
              <a:t> MSE.</a:t>
            </a:r>
            <a:endParaRPr kumimoji="0" lang="en-US" altLang="ko-KR"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2000" b="0" i="0" u="none" strike="noStrike" cap="none" normalizeH="0" baseline="0" dirty="0" err="1">
                <a:ln>
                  <a:noFill/>
                </a:ln>
                <a:solidFill>
                  <a:schemeClr val="tx1"/>
                </a:solidFill>
                <a:effectLst/>
                <a:latin typeface="Arial" panose="020B0604020202020204" pitchFamily="34" charset="0"/>
              </a:rPr>
              <a:t>By</a:t>
            </a:r>
            <a:r>
              <a:rPr kumimoji="0" lang="ko-KR" altLang="ko-KR" sz="2000" b="0" i="0" u="none" strike="noStrike" cap="none" normalizeH="0" baseline="0" dirty="0">
                <a:ln>
                  <a:noFill/>
                </a:ln>
                <a:solidFill>
                  <a:schemeClr val="tx1"/>
                </a:solidFill>
                <a:effectLst/>
                <a:latin typeface="Arial" panose="020B0604020202020204" pitchFamily="34" charset="0"/>
              </a:rPr>
              <a:t> </a:t>
            </a:r>
            <a:r>
              <a:rPr kumimoji="0" lang="ko-KR" altLang="ko-KR" sz="2000" b="0" i="0" u="none" strike="noStrike" cap="none" normalizeH="0" baseline="0" dirty="0" err="1">
                <a:ln>
                  <a:noFill/>
                </a:ln>
                <a:solidFill>
                  <a:schemeClr val="tx1"/>
                </a:solidFill>
                <a:effectLst/>
                <a:latin typeface="Arial" panose="020B0604020202020204" pitchFamily="34" charset="0"/>
              </a:rPr>
              <a:t>default</a:t>
            </a:r>
            <a:r>
              <a:rPr kumimoji="0" lang="ko-KR" altLang="ko-KR" sz="2000" b="0" i="0" u="none" strike="noStrike" cap="none" normalizeH="0" baseline="0" dirty="0">
                <a:ln>
                  <a:noFill/>
                </a:ln>
                <a:solidFill>
                  <a:schemeClr val="tx1"/>
                </a:solidFill>
                <a:effectLst/>
                <a:latin typeface="Arial" panose="020B0604020202020204" pitchFamily="34" charset="0"/>
              </a:rPr>
              <a:t>, </a:t>
            </a:r>
            <a:r>
              <a:rPr kumimoji="0" lang="ko-KR" altLang="ko-KR" sz="2000" b="0" i="0" u="none" strike="noStrike" cap="none" normalizeH="0" baseline="0" dirty="0" err="1">
                <a:ln>
                  <a:noFill/>
                </a:ln>
                <a:solidFill>
                  <a:schemeClr val="tx1"/>
                </a:solidFill>
                <a:effectLst/>
                <a:latin typeface="Arial Unicode MS"/>
              </a:rPr>
              <a:t>squared</a:t>
            </a:r>
            <a:r>
              <a:rPr kumimoji="0" lang="ko-KR" altLang="ko-KR" sz="2000" b="0" i="0" u="none" strike="noStrike" cap="none" normalizeH="0" baseline="0" dirty="0">
                <a:ln>
                  <a:noFill/>
                </a:ln>
                <a:solidFill>
                  <a:schemeClr val="tx1"/>
                </a:solidFill>
                <a:effectLst/>
                <a:latin typeface="Arial Unicode MS"/>
              </a:rPr>
              <a:t>=</a:t>
            </a:r>
            <a:r>
              <a:rPr kumimoji="0" lang="ko-KR" altLang="ko-KR" sz="2000" b="0" i="0" u="none" strike="noStrike" cap="none" normalizeH="0" baseline="0" dirty="0" err="1">
                <a:ln>
                  <a:noFill/>
                </a:ln>
                <a:solidFill>
                  <a:schemeClr val="tx1"/>
                </a:solidFill>
                <a:effectLst/>
                <a:latin typeface="Arial Unicode MS"/>
              </a:rPr>
              <a:t>True</a:t>
            </a:r>
            <a:r>
              <a:rPr kumimoji="0" lang="ko-KR" altLang="ko-KR" sz="2000" b="0" i="0" u="none" strike="noStrike" cap="none" normalizeH="0" baseline="0" dirty="0">
                <a:ln>
                  <a:noFill/>
                </a:ln>
                <a:solidFill>
                  <a:schemeClr val="tx1"/>
                </a:solidFill>
                <a:effectLst/>
              </a:rPr>
              <a:t>, </a:t>
            </a:r>
            <a:r>
              <a:rPr kumimoji="0" lang="ko-KR" altLang="ko-KR" sz="2000" b="0" i="0" u="none" strike="noStrike" cap="none" normalizeH="0" baseline="0" dirty="0" err="1">
                <a:ln>
                  <a:noFill/>
                </a:ln>
                <a:solidFill>
                  <a:schemeClr val="tx1"/>
                </a:solidFill>
                <a:effectLst/>
              </a:rPr>
              <a:t>which</a:t>
            </a:r>
            <a:r>
              <a:rPr kumimoji="0" lang="ko-KR" altLang="ko-KR" sz="2000" b="0" i="0" u="none" strike="noStrike" cap="none" normalizeH="0" baseline="0" dirty="0">
                <a:ln>
                  <a:noFill/>
                </a:ln>
                <a:solidFill>
                  <a:schemeClr val="tx1"/>
                </a:solidFill>
                <a:effectLst/>
              </a:rPr>
              <a:t> </a:t>
            </a:r>
            <a:r>
              <a:rPr kumimoji="0" lang="ko-KR" altLang="ko-KR" sz="2000" b="0" i="0" u="none" strike="noStrike" cap="none" normalizeH="0" baseline="0" dirty="0" err="1">
                <a:ln>
                  <a:noFill/>
                </a:ln>
                <a:solidFill>
                  <a:schemeClr val="tx1"/>
                </a:solidFill>
                <a:effectLst/>
              </a:rPr>
              <a:t>returns</a:t>
            </a:r>
            <a:r>
              <a:rPr kumimoji="0" lang="ko-KR" altLang="ko-KR" sz="2000" b="0" i="0" u="none" strike="noStrike" cap="none" normalizeH="0" baseline="0" dirty="0">
                <a:ln>
                  <a:noFill/>
                </a:ln>
                <a:solidFill>
                  <a:schemeClr val="tx1"/>
                </a:solidFill>
                <a:effectLst/>
              </a:rPr>
              <a:t> </a:t>
            </a:r>
            <a:r>
              <a:rPr kumimoji="0" lang="ko-KR" altLang="ko-KR" sz="2000" b="0" i="0" u="none" strike="noStrike" cap="none" normalizeH="0" baseline="0" dirty="0" err="1">
                <a:ln>
                  <a:noFill/>
                </a:ln>
                <a:solidFill>
                  <a:schemeClr val="tx1"/>
                </a:solidFill>
                <a:effectLst/>
              </a:rPr>
              <a:t>the</a:t>
            </a:r>
            <a:r>
              <a:rPr kumimoji="0" lang="ko-KR" altLang="ko-KR" sz="2000" b="0" i="0" u="none" strike="noStrike" cap="none" normalizeH="0" baseline="0" dirty="0">
                <a:ln>
                  <a:noFill/>
                </a:ln>
                <a:solidFill>
                  <a:schemeClr val="tx1"/>
                </a:solidFill>
                <a:effectLst/>
              </a:rPr>
              <a:t> MSE</a:t>
            </a:r>
            <a:endParaRPr kumimoji="0" lang="en-US" altLang="ko-KR"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ko-KR" sz="2000" dirty="0">
              <a:solidFill>
                <a:schemeClr val="tx1"/>
              </a:solidFill>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2000" b="0" i="0" u="none" strike="noStrike" cap="none" normalizeH="0" baseline="0" dirty="0">
                <a:ln>
                  <a:noFill/>
                </a:ln>
                <a:solidFill>
                  <a:schemeClr val="tx1"/>
                </a:solidFill>
                <a:effectLst/>
              </a:rPr>
              <a:t>MSE is often used during optimization since it penalizes larger errors more heavily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2000" b="0" i="0" u="none" strike="noStrike" cap="none" normalizeH="0" baseline="0" dirty="0">
                <a:ln>
                  <a:noFill/>
                </a:ln>
                <a:solidFill>
                  <a:schemeClr val="tx1"/>
                </a:solidFill>
                <a:effectLst/>
              </a:rPr>
              <a:t>RMSE is used for interpretation because it is in the same scale as the target variable,</a:t>
            </a: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2000" dirty="0">
                <a:solidFill>
                  <a:schemeClr val="tx1"/>
                </a:solidFill>
              </a:rPr>
              <a:t>     </a:t>
            </a:r>
            <a:r>
              <a:rPr kumimoji="0" lang="en-US" altLang="ko-KR" sz="2000" b="0" i="0" u="none" strike="noStrike" cap="none" normalizeH="0" baseline="0" dirty="0">
                <a:ln>
                  <a:noFill/>
                </a:ln>
                <a:solidFill>
                  <a:schemeClr val="tx1"/>
                </a:solidFill>
                <a:effectLst/>
              </a:rPr>
              <a:t>making it easier to understand how far predictions deviate from actual values.</a:t>
            </a:r>
            <a:r>
              <a:rPr kumimoji="0" lang="ko-KR" altLang="ko-KR" sz="2000" b="0" i="0" u="none" strike="noStrike" cap="none" normalizeH="0" baseline="0" dirty="0">
                <a:ln>
                  <a:noFill/>
                </a:ln>
                <a:solidFill>
                  <a:schemeClr val="tx1"/>
                </a:solidFill>
                <a:effectLst/>
              </a:rPr>
              <a:t> </a:t>
            </a:r>
            <a:endParaRPr kumimoji="0" lang="ko-KR" altLang="ko-KR" sz="20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body" idx="1"/>
          </p:nvPr>
        </p:nvSpPr>
        <p:spPr>
          <a:prstGeom prst="rect">
            <a:avLst/>
          </a:prstGeom>
        </p:spPr>
        <p:txBody>
          <a:bodyPr vert="horz" wrap="square" lIns="0" tIns="442177" rIns="0" bIns="0" rtlCol="0">
            <a:spAutoFit/>
          </a:bodyPr>
          <a:lstStyle/>
          <a:p>
            <a:pPr marL="61594" algn="ctr">
              <a:lnSpc>
                <a:spcPct val="100000"/>
              </a:lnSpc>
              <a:spcBef>
                <a:spcPts val="2860"/>
              </a:spcBef>
            </a:pPr>
            <a:r>
              <a:rPr spc="-345" dirty="0"/>
              <a:t>Cross-</a:t>
            </a:r>
            <a:r>
              <a:rPr spc="-370" dirty="0"/>
              <a:t>validation</a:t>
            </a:r>
          </a:p>
          <a:p>
            <a:pPr algn="ctr">
              <a:lnSpc>
                <a:spcPct val="100000"/>
              </a:lnSpc>
              <a:spcBef>
                <a:spcPts val="969"/>
              </a:spcBef>
              <a:tabLst>
                <a:tab pos="2252345" algn="l"/>
                <a:tab pos="4152900" algn="l"/>
                <a:tab pos="5172710" algn="l"/>
              </a:tabLst>
            </a:pPr>
            <a:r>
              <a:rPr sz="2250" spc="-150" dirty="0"/>
              <a:t>S</a:t>
            </a:r>
            <a:r>
              <a:rPr sz="2250" spc="-335" dirty="0"/>
              <a:t> </a:t>
            </a:r>
            <a:r>
              <a:rPr sz="2250" spc="-125" dirty="0"/>
              <a:t>U</a:t>
            </a:r>
            <a:r>
              <a:rPr sz="2250" spc="-330" dirty="0"/>
              <a:t> </a:t>
            </a:r>
            <a:r>
              <a:rPr sz="2250" spc="-95" dirty="0"/>
              <a:t>P</a:t>
            </a:r>
            <a:r>
              <a:rPr sz="2250" spc="-330" dirty="0"/>
              <a:t> </a:t>
            </a:r>
            <a:r>
              <a:rPr sz="2250" dirty="0"/>
              <a:t>E</a:t>
            </a:r>
            <a:r>
              <a:rPr sz="2250" spc="-330" dirty="0"/>
              <a:t> </a:t>
            </a:r>
            <a:r>
              <a:rPr sz="2250" spc="-254" dirty="0"/>
              <a:t>R</a:t>
            </a:r>
            <a:r>
              <a:rPr sz="2250" spc="-335" dirty="0"/>
              <a:t> </a:t>
            </a:r>
            <a:r>
              <a:rPr sz="2250" spc="-55" dirty="0"/>
              <a:t>V</a:t>
            </a:r>
            <a:r>
              <a:rPr sz="2250" spc="-330" dirty="0"/>
              <a:t> </a:t>
            </a:r>
            <a:r>
              <a:rPr sz="2250" spc="-470" dirty="0"/>
              <a:t>I</a:t>
            </a:r>
            <a:r>
              <a:rPr sz="2250" spc="-330" dirty="0"/>
              <a:t> </a:t>
            </a:r>
            <a:r>
              <a:rPr sz="2250" spc="-150" dirty="0"/>
              <a:t>S</a:t>
            </a:r>
            <a:r>
              <a:rPr sz="2250" spc="-330" dirty="0"/>
              <a:t> </a:t>
            </a:r>
            <a:r>
              <a:rPr sz="2250" dirty="0"/>
              <a:t>E</a:t>
            </a:r>
            <a:r>
              <a:rPr sz="2250" spc="-335" dirty="0"/>
              <a:t> </a:t>
            </a:r>
            <a:r>
              <a:rPr sz="2250" spc="-50" dirty="0"/>
              <a:t>D</a:t>
            </a:r>
            <a:r>
              <a:rPr sz="2250" dirty="0"/>
              <a:t>	</a:t>
            </a:r>
            <a:r>
              <a:rPr sz="2250" spc="-100" dirty="0"/>
              <a:t>L</a:t>
            </a:r>
            <a:r>
              <a:rPr sz="2250" spc="-335" dirty="0"/>
              <a:t> </a:t>
            </a:r>
            <a:r>
              <a:rPr sz="2250" dirty="0"/>
              <a:t>E</a:t>
            </a:r>
            <a:r>
              <a:rPr sz="2250" spc="-330" dirty="0"/>
              <a:t> </a:t>
            </a:r>
            <a:r>
              <a:rPr sz="2250" spc="60" dirty="0"/>
              <a:t>A</a:t>
            </a:r>
            <a:r>
              <a:rPr sz="2250" spc="-335" dirty="0"/>
              <a:t> </a:t>
            </a:r>
            <a:r>
              <a:rPr sz="2250" spc="-254" dirty="0"/>
              <a:t>R</a:t>
            </a:r>
            <a:r>
              <a:rPr sz="2250" spc="-330" dirty="0"/>
              <a:t> </a:t>
            </a:r>
            <a:r>
              <a:rPr sz="2250" spc="-60" dirty="0"/>
              <a:t>N</a:t>
            </a:r>
            <a:r>
              <a:rPr sz="2250" spc="-335" dirty="0"/>
              <a:t> </a:t>
            </a:r>
            <a:r>
              <a:rPr sz="2250" spc="-470" dirty="0"/>
              <a:t>I</a:t>
            </a:r>
            <a:r>
              <a:rPr sz="2250" spc="-330" dirty="0"/>
              <a:t> </a:t>
            </a:r>
            <a:r>
              <a:rPr sz="2250" spc="-60" dirty="0"/>
              <a:t>N</a:t>
            </a:r>
            <a:r>
              <a:rPr sz="2250" spc="-335" dirty="0"/>
              <a:t> </a:t>
            </a:r>
            <a:r>
              <a:rPr sz="2250" spc="30" dirty="0"/>
              <a:t>G</a:t>
            </a:r>
            <a:r>
              <a:rPr sz="2250" dirty="0"/>
              <a:t>	</a:t>
            </a:r>
            <a:r>
              <a:rPr sz="2250" spc="-170" dirty="0"/>
              <a:t>W</a:t>
            </a:r>
            <a:r>
              <a:rPr sz="2250" spc="-335" dirty="0"/>
              <a:t> </a:t>
            </a:r>
            <a:r>
              <a:rPr sz="2250" spc="-470" dirty="0"/>
              <a:t>I</a:t>
            </a:r>
            <a:r>
              <a:rPr sz="2250" spc="-335" dirty="0"/>
              <a:t> </a:t>
            </a:r>
            <a:r>
              <a:rPr sz="2250" spc="-90" dirty="0"/>
              <a:t>T</a:t>
            </a:r>
            <a:r>
              <a:rPr sz="2250" spc="-335" dirty="0"/>
              <a:t> </a:t>
            </a:r>
            <a:r>
              <a:rPr sz="2250" spc="-50" dirty="0"/>
              <a:t>H</a:t>
            </a:r>
            <a:r>
              <a:rPr sz="2250" dirty="0"/>
              <a:t>	</a:t>
            </a:r>
            <a:r>
              <a:rPr sz="2250" spc="-150" dirty="0"/>
              <a:t>S</a:t>
            </a:r>
            <a:r>
              <a:rPr sz="2250" spc="-335" dirty="0"/>
              <a:t> </a:t>
            </a:r>
            <a:r>
              <a:rPr sz="2250" spc="210" dirty="0"/>
              <a:t>C</a:t>
            </a:r>
            <a:r>
              <a:rPr sz="2250" spc="-335" dirty="0"/>
              <a:t> </a:t>
            </a:r>
            <a:r>
              <a:rPr sz="2250" spc="-470" dirty="0"/>
              <a:t>I</a:t>
            </a:r>
            <a:r>
              <a:rPr sz="2250" spc="-335" dirty="0"/>
              <a:t> </a:t>
            </a:r>
            <a:r>
              <a:rPr sz="2250" dirty="0"/>
              <a:t>K</a:t>
            </a:r>
            <a:r>
              <a:rPr sz="2250" spc="-335" dirty="0"/>
              <a:t> </a:t>
            </a:r>
            <a:r>
              <a:rPr sz="2250" spc="-470" dirty="0"/>
              <a:t>I</a:t>
            </a:r>
            <a:r>
              <a:rPr sz="2250" spc="-335" dirty="0"/>
              <a:t> </a:t>
            </a:r>
            <a:r>
              <a:rPr sz="2250" spc="-35" dirty="0"/>
              <a:t>T-</a:t>
            </a:r>
            <a:r>
              <a:rPr sz="2250" spc="-330" dirty="0"/>
              <a:t> </a:t>
            </a:r>
            <a:r>
              <a:rPr sz="2250" spc="-100" dirty="0"/>
              <a:t>L</a:t>
            </a:r>
            <a:r>
              <a:rPr sz="2250" spc="-335" dirty="0"/>
              <a:t> </a:t>
            </a:r>
            <a:r>
              <a:rPr sz="2250" dirty="0"/>
              <a:t>E</a:t>
            </a:r>
            <a:r>
              <a:rPr sz="2250" spc="-335" dirty="0"/>
              <a:t> </a:t>
            </a:r>
            <a:r>
              <a:rPr sz="2250" spc="60" dirty="0"/>
              <a:t>A</a:t>
            </a:r>
            <a:r>
              <a:rPr sz="2250" spc="-335" dirty="0"/>
              <a:t> </a:t>
            </a:r>
            <a:r>
              <a:rPr sz="2250" spc="-254" dirty="0"/>
              <a:t>R</a:t>
            </a:r>
            <a:r>
              <a:rPr sz="2250" spc="-335" dirty="0"/>
              <a:t> </a:t>
            </a:r>
            <a:r>
              <a:rPr sz="2250" spc="-50" dirty="0"/>
              <a:t>N</a:t>
            </a:r>
            <a:endParaRPr sz="2250"/>
          </a:p>
        </p:txBody>
      </p:sp>
      <p:sp>
        <p:nvSpPr>
          <p:cNvPr id="7" name="object 7"/>
          <p:cNvSpPr txBox="1"/>
          <p:nvPr/>
        </p:nvSpPr>
        <p:spPr>
          <a:xfrm>
            <a:off x="314826" y="6185734"/>
            <a:ext cx="5164455" cy="885190"/>
          </a:xfrm>
          <a:prstGeom prst="rect">
            <a:avLst/>
          </a:prstGeom>
        </p:spPr>
        <p:txBody>
          <a:bodyPr vert="horz" wrap="square" lIns="0" tIns="81915" rIns="0" bIns="0" rtlCol="0">
            <a:spAutoFit/>
          </a:bodyPr>
          <a:lstStyle/>
          <a:p>
            <a:pPr marL="12700">
              <a:lnSpc>
                <a:spcPct val="100000"/>
              </a:lnSpc>
              <a:spcBef>
                <a:spcPts val="645"/>
              </a:spcBef>
            </a:pPr>
            <a:r>
              <a:rPr sz="2550" b="1" dirty="0">
                <a:solidFill>
                  <a:srgbClr val="FFFFFF"/>
                </a:solidFill>
                <a:latin typeface="Tahoma"/>
                <a:cs typeface="Tahoma"/>
              </a:rPr>
              <a:t>George</a:t>
            </a:r>
            <a:r>
              <a:rPr sz="2550" b="1" spc="-180" dirty="0">
                <a:solidFill>
                  <a:srgbClr val="FFFFFF"/>
                </a:solidFill>
                <a:latin typeface="Tahoma"/>
                <a:cs typeface="Tahoma"/>
              </a:rPr>
              <a:t> </a:t>
            </a:r>
            <a:r>
              <a:rPr sz="2550" b="1" spc="-10" dirty="0">
                <a:solidFill>
                  <a:srgbClr val="FFFFFF"/>
                </a:solidFill>
                <a:latin typeface="Tahoma"/>
                <a:cs typeface="Tahoma"/>
              </a:rPr>
              <a:t>Boorman</a:t>
            </a:r>
            <a:endParaRPr sz="2550">
              <a:latin typeface="Tahoma"/>
              <a:cs typeface="Tahoma"/>
            </a:endParaRPr>
          </a:p>
          <a:p>
            <a:pPr marL="12700">
              <a:lnSpc>
                <a:spcPct val="100000"/>
              </a:lnSpc>
              <a:spcBef>
                <a:spcPts val="459"/>
              </a:spcBef>
            </a:pPr>
            <a:r>
              <a:rPr sz="2250" spc="125" dirty="0">
                <a:solidFill>
                  <a:srgbClr val="FFFFFF"/>
                </a:solidFill>
                <a:latin typeface="Tahoma"/>
                <a:cs typeface="Tahoma"/>
              </a:rPr>
              <a:t>Core</a:t>
            </a:r>
            <a:r>
              <a:rPr sz="2250" spc="-25" dirty="0">
                <a:solidFill>
                  <a:srgbClr val="FFFFFF"/>
                </a:solidFill>
                <a:latin typeface="Tahoma"/>
                <a:cs typeface="Tahoma"/>
              </a:rPr>
              <a:t> </a:t>
            </a:r>
            <a:r>
              <a:rPr sz="2250" spc="90" dirty="0">
                <a:solidFill>
                  <a:srgbClr val="FFFFFF"/>
                </a:solidFill>
                <a:latin typeface="Tahoma"/>
                <a:cs typeface="Tahoma"/>
              </a:rPr>
              <a:t>Curriculum</a:t>
            </a:r>
            <a:r>
              <a:rPr sz="2250" spc="-25" dirty="0">
                <a:solidFill>
                  <a:srgbClr val="FFFFFF"/>
                </a:solidFill>
                <a:latin typeface="Tahoma"/>
                <a:cs typeface="Tahoma"/>
              </a:rPr>
              <a:t> </a:t>
            </a:r>
            <a:r>
              <a:rPr sz="2250" spc="85" dirty="0">
                <a:solidFill>
                  <a:srgbClr val="FFFFFF"/>
                </a:solidFill>
                <a:latin typeface="Tahoma"/>
                <a:cs typeface="Tahoma"/>
              </a:rPr>
              <a:t>Manager,</a:t>
            </a:r>
            <a:r>
              <a:rPr sz="2250" spc="-25" dirty="0">
                <a:solidFill>
                  <a:srgbClr val="FFFFFF"/>
                </a:solidFill>
                <a:latin typeface="Tahoma"/>
                <a:cs typeface="Tahoma"/>
              </a:rPr>
              <a:t> </a:t>
            </a:r>
            <a:r>
              <a:rPr sz="2250" spc="160" dirty="0">
                <a:solidFill>
                  <a:srgbClr val="FFFFFF"/>
                </a:solidFill>
                <a:latin typeface="Tahoma"/>
                <a:cs typeface="Tahoma"/>
              </a:rPr>
              <a:t>DataCamp</a:t>
            </a:r>
            <a:endParaRPr sz="2250">
              <a:latin typeface="Tahoma"/>
              <a:cs typeface="Tahoma"/>
            </a:endParaRPr>
          </a:p>
        </p:txBody>
      </p:sp>
      <p:sp>
        <p:nvSpPr>
          <p:cNvPr id="10" name="슬라이드 번호 개체 틀 9">
            <a:extLst>
              <a:ext uri="{FF2B5EF4-FFF2-40B4-BE49-F238E27FC236}">
                <a16:creationId xmlns:a16="http://schemas.microsoft.com/office/drawing/2014/main" id="{AC7D6C0E-2438-0751-93FF-DBCD05C465A7}"/>
              </a:ext>
            </a:extLst>
          </p:cNvPr>
          <p:cNvSpPr>
            <a:spLocks noGrp="1"/>
          </p:cNvSpPr>
          <p:nvPr>
            <p:ph type="sldNum" sz="quarter" idx="7"/>
          </p:nvPr>
        </p:nvSpPr>
        <p:spPr/>
        <p:txBody>
          <a:bodyPr/>
          <a:lstStyle/>
          <a:p>
            <a:fld id="{B6F15528-21DE-4FAA-801E-634DDDAF4B2B}" type="slidenum">
              <a:rPr lang="en-US" altLang="ko-KR" smtClean="0"/>
              <a:t>23</a:t>
            </a:fld>
            <a:endParaRPr lang="en-US" altLang="ko-K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11759" y="1351045"/>
            <a:ext cx="102352" cy="102351"/>
          </a:xfrm>
          <a:prstGeom prst="rect">
            <a:avLst/>
          </a:prstGeom>
        </p:spPr>
      </p:pic>
      <p:pic>
        <p:nvPicPr>
          <p:cNvPr id="3" name="object 3"/>
          <p:cNvPicPr/>
          <p:nvPr/>
        </p:nvPicPr>
        <p:blipFill>
          <a:blip r:embed="rId3" cstate="print"/>
          <a:stretch>
            <a:fillRect/>
          </a:stretch>
        </p:blipFill>
        <p:spPr>
          <a:xfrm>
            <a:off x="511759" y="2006098"/>
            <a:ext cx="102352" cy="102351"/>
          </a:xfrm>
          <a:prstGeom prst="rect">
            <a:avLst/>
          </a:prstGeom>
        </p:spPr>
      </p:pic>
      <p:pic>
        <p:nvPicPr>
          <p:cNvPr id="4" name="object 4"/>
          <p:cNvPicPr/>
          <p:nvPr/>
        </p:nvPicPr>
        <p:blipFill>
          <a:blip r:embed="rId2" cstate="print"/>
          <a:stretch>
            <a:fillRect/>
          </a:stretch>
        </p:blipFill>
        <p:spPr>
          <a:xfrm>
            <a:off x="511759" y="2661150"/>
            <a:ext cx="102352" cy="102351"/>
          </a:xfrm>
          <a:prstGeom prst="rect">
            <a:avLst/>
          </a:prstGeom>
        </p:spPr>
      </p:pic>
      <p:sp>
        <p:nvSpPr>
          <p:cNvPr id="5" name="object 5"/>
          <p:cNvSpPr txBox="1">
            <a:spLocks noGrp="1"/>
          </p:cNvSpPr>
          <p:nvPr>
            <p:ph type="title"/>
          </p:nvPr>
        </p:nvSpPr>
        <p:spPr>
          <a:xfrm>
            <a:off x="478589" y="-98674"/>
            <a:ext cx="11044555" cy="3002280"/>
          </a:xfrm>
          <a:prstGeom prst="rect">
            <a:avLst/>
          </a:prstGeom>
        </p:spPr>
        <p:txBody>
          <a:bodyPr vert="horz" wrap="square" lIns="0" tIns="386715" rIns="0" bIns="0" rtlCol="0">
            <a:spAutoFit/>
          </a:bodyPr>
          <a:lstStyle/>
          <a:p>
            <a:pPr marL="12700">
              <a:lnSpc>
                <a:spcPct val="100000"/>
              </a:lnSpc>
              <a:spcBef>
                <a:spcPts val="3045"/>
              </a:spcBef>
            </a:pPr>
            <a:r>
              <a:rPr spc="-204" dirty="0"/>
              <a:t>Cross-</a:t>
            </a:r>
            <a:r>
              <a:rPr spc="-225" dirty="0"/>
              <a:t>validation</a:t>
            </a:r>
            <a:r>
              <a:rPr spc="-40" dirty="0"/>
              <a:t> </a:t>
            </a:r>
            <a:r>
              <a:rPr spc="-130" dirty="0"/>
              <a:t>motivation</a:t>
            </a:r>
          </a:p>
          <a:p>
            <a:pPr marL="381000" marR="5080">
              <a:lnSpc>
                <a:spcPts val="5160"/>
              </a:lnSpc>
            </a:pPr>
            <a:r>
              <a:rPr sz="2550" b="0" spc="150" dirty="0">
                <a:latin typeface="Tahoma"/>
                <a:cs typeface="Tahoma"/>
              </a:rPr>
              <a:t>Model</a:t>
            </a:r>
            <a:r>
              <a:rPr sz="2550" b="0" spc="-35" dirty="0">
                <a:latin typeface="Tahoma"/>
                <a:cs typeface="Tahoma"/>
              </a:rPr>
              <a:t> </a:t>
            </a:r>
            <a:r>
              <a:rPr sz="2550" b="0" spc="114" dirty="0">
                <a:latin typeface="Tahoma"/>
                <a:cs typeface="Tahoma"/>
              </a:rPr>
              <a:t>performance</a:t>
            </a:r>
            <a:r>
              <a:rPr sz="2550" b="0" spc="-35" dirty="0">
                <a:latin typeface="Tahoma"/>
                <a:cs typeface="Tahoma"/>
              </a:rPr>
              <a:t> </a:t>
            </a:r>
            <a:r>
              <a:rPr sz="2550" b="0" spc="55" dirty="0">
                <a:latin typeface="Tahoma"/>
                <a:cs typeface="Tahoma"/>
              </a:rPr>
              <a:t>is</a:t>
            </a:r>
            <a:r>
              <a:rPr sz="2550" b="0" spc="-35" dirty="0">
                <a:latin typeface="Tahoma"/>
                <a:cs typeface="Tahoma"/>
              </a:rPr>
              <a:t> </a:t>
            </a:r>
            <a:r>
              <a:rPr sz="2550" b="0" spc="105" dirty="0">
                <a:latin typeface="Tahoma"/>
                <a:cs typeface="Tahoma"/>
              </a:rPr>
              <a:t>dependent</a:t>
            </a:r>
            <a:r>
              <a:rPr sz="2550" b="0" spc="-35" dirty="0">
                <a:latin typeface="Tahoma"/>
                <a:cs typeface="Tahoma"/>
              </a:rPr>
              <a:t> </a:t>
            </a:r>
            <a:r>
              <a:rPr sz="2550" b="0" spc="75" dirty="0">
                <a:latin typeface="Tahoma"/>
                <a:cs typeface="Tahoma"/>
              </a:rPr>
              <a:t>on</a:t>
            </a:r>
            <a:r>
              <a:rPr sz="2550" b="0" spc="-35" dirty="0">
                <a:latin typeface="Tahoma"/>
                <a:cs typeface="Tahoma"/>
              </a:rPr>
              <a:t> </a:t>
            </a:r>
            <a:r>
              <a:rPr sz="2550" b="0" spc="95" dirty="0">
                <a:latin typeface="Tahoma"/>
                <a:cs typeface="Tahoma"/>
              </a:rPr>
              <a:t>the</a:t>
            </a:r>
            <a:r>
              <a:rPr sz="2550" b="0" spc="-35" dirty="0">
                <a:latin typeface="Tahoma"/>
                <a:cs typeface="Tahoma"/>
              </a:rPr>
              <a:t> </a:t>
            </a:r>
            <a:r>
              <a:rPr sz="2550" b="0" spc="185" dirty="0">
                <a:latin typeface="Tahoma"/>
                <a:cs typeface="Tahoma"/>
              </a:rPr>
              <a:t>way</a:t>
            </a:r>
            <a:r>
              <a:rPr sz="2550" b="0" spc="-35" dirty="0">
                <a:latin typeface="Tahoma"/>
                <a:cs typeface="Tahoma"/>
              </a:rPr>
              <a:t> </a:t>
            </a:r>
            <a:r>
              <a:rPr sz="2550" b="0" spc="130" dirty="0">
                <a:latin typeface="Tahoma"/>
                <a:cs typeface="Tahoma"/>
              </a:rPr>
              <a:t>we</a:t>
            </a:r>
            <a:r>
              <a:rPr sz="2550" b="0" spc="-35" dirty="0">
                <a:latin typeface="Tahoma"/>
                <a:cs typeface="Tahoma"/>
              </a:rPr>
              <a:t> </a:t>
            </a:r>
            <a:r>
              <a:rPr sz="2550" b="0" spc="75" dirty="0">
                <a:latin typeface="Tahoma"/>
                <a:cs typeface="Tahoma"/>
              </a:rPr>
              <a:t>split</a:t>
            </a:r>
            <a:r>
              <a:rPr sz="2550" b="0" spc="-35" dirty="0">
                <a:latin typeface="Tahoma"/>
                <a:cs typeface="Tahoma"/>
              </a:rPr>
              <a:t> </a:t>
            </a:r>
            <a:r>
              <a:rPr sz="2550" b="0" spc="110" dirty="0">
                <a:latin typeface="Tahoma"/>
                <a:cs typeface="Tahoma"/>
              </a:rPr>
              <a:t>up</a:t>
            </a:r>
            <a:r>
              <a:rPr sz="2550" b="0" spc="-35" dirty="0">
                <a:latin typeface="Tahoma"/>
                <a:cs typeface="Tahoma"/>
              </a:rPr>
              <a:t> </a:t>
            </a:r>
            <a:r>
              <a:rPr sz="2550" b="0" spc="95" dirty="0">
                <a:latin typeface="Tahoma"/>
                <a:cs typeface="Tahoma"/>
              </a:rPr>
              <a:t>the</a:t>
            </a:r>
            <a:r>
              <a:rPr sz="2550" b="0" spc="-35" dirty="0">
                <a:latin typeface="Tahoma"/>
                <a:cs typeface="Tahoma"/>
              </a:rPr>
              <a:t> </a:t>
            </a:r>
            <a:r>
              <a:rPr sz="2550" b="0" spc="135" dirty="0">
                <a:latin typeface="Tahoma"/>
                <a:cs typeface="Tahoma"/>
              </a:rPr>
              <a:t>data </a:t>
            </a:r>
            <a:r>
              <a:rPr sz="2550" b="0" spc="125" dirty="0">
                <a:latin typeface="Tahoma"/>
                <a:cs typeface="Tahoma"/>
              </a:rPr>
              <a:t>Not</a:t>
            </a:r>
            <a:r>
              <a:rPr sz="2550" b="0" spc="-35" dirty="0">
                <a:latin typeface="Tahoma"/>
                <a:cs typeface="Tahoma"/>
              </a:rPr>
              <a:t> </a:t>
            </a:r>
            <a:r>
              <a:rPr sz="2550" b="0" spc="80" dirty="0">
                <a:latin typeface="Tahoma"/>
                <a:cs typeface="Tahoma"/>
              </a:rPr>
              <a:t>representative</a:t>
            </a:r>
            <a:r>
              <a:rPr sz="2550" b="0" spc="-30" dirty="0">
                <a:latin typeface="Tahoma"/>
                <a:cs typeface="Tahoma"/>
              </a:rPr>
              <a:t> </a:t>
            </a:r>
            <a:r>
              <a:rPr sz="2550" b="0" spc="114" dirty="0">
                <a:latin typeface="Tahoma"/>
                <a:cs typeface="Tahoma"/>
              </a:rPr>
              <a:t>of</a:t>
            </a:r>
            <a:r>
              <a:rPr sz="2550" b="0" spc="-30" dirty="0">
                <a:latin typeface="Tahoma"/>
                <a:cs typeface="Tahoma"/>
              </a:rPr>
              <a:t> </a:t>
            </a:r>
            <a:r>
              <a:rPr sz="2550" b="0" spc="95" dirty="0">
                <a:latin typeface="Tahoma"/>
                <a:cs typeface="Tahoma"/>
              </a:rPr>
              <a:t>the</a:t>
            </a:r>
            <a:r>
              <a:rPr sz="2550" b="0" spc="-30" dirty="0">
                <a:latin typeface="Tahoma"/>
                <a:cs typeface="Tahoma"/>
              </a:rPr>
              <a:t> </a:t>
            </a:r>
            <a:r>
              <a:rPr sz="2550" b="0" spc="75" dirty="0">
                <a:latin typeface="Tahoma"/>
                <a:cs typeface="Tahoma"/>
              </a:rPr>
              <a:t>model's</a:t>
            </a:r>
            <a:r>
              <a:rPr sz="2550" b="0" spc="-30" dirty="0">
                <a:latin typeface="Tahoma"/>
                <a:cs typeface="Tahoma"/>
              </a:rPr>
              <a:t> </a:t>
            </a:r>
            <a:r>
              <a:rPr sz="2550" b="0" spc="114" dirty="0">
                <a:latin typeface="Tahoma"/>
                <a:cs typeface="Tahoma"/>
              </a:rPr>
              <a:t>ability</a:t>
            </a:r>
            <a:r>
              <a:rPr sz="2550" b="0" spc="-30" dirty="0">
                <a:latin typeface="Tahoma"/>
                <a:cs typeface="Tahoma"/>
              </a:rPr>
              <a:t> </a:t>
            </a:r>
            <a:r>
              <a:rPr sz="2550" b="0" spc="80" dirty="0">
                <a:latin typeface="Tahoma"/>
                <a:cs typeface="Tahoma"/>
              </a:rPr>
              <a:t>to</a:t>
            </a:r>
            <a:r>
              <a:rPr sz="2550" b="0" spc="-30" dirty="0">
                <a:latin typeface="Tahoma"/>
                <a:cs typeface="Tahoma"/>
              </a:rPr>
              <a:t> </a:t>
            </a:r>
            <a:r>
              <a:rPr sz="2550" b="0" spc="100" dirty="0">
                <a:latin typeface="Tahoma"/>
                <a:cs typeface="Tahoma"/>
              </a:rPr>
              <a:t>generalize</a:t>
            </a:r>
            <a:r>
              <a:rPr sz="2550" b="0" spc="-30" dirty="0">
                <a:latin typeface="Tahoma"/>
                <a:cs typeface="Tahoma"/>
              </a:rPr>
              <a:t> </a:t>
            </a:r>
            <a:r>
              <a:rPr sz="2550" b="0" spc="80" dirty="0">
                <a:latin typeface="Tahoma"/>
                <a:cs typeface="Tahoma"/>
              </a:rPr>
              <a:t>to</a:t>
            </a:r>
            <a:r>
              <a:rPr sz="2550" b="0" spc="-30" dirty="0">
                <a:latin typeface="Tahoma"/>
                <a:cs typeface="Tahoma"/>
              </a:rPr>
              <a:t> </a:t>
            </a:r>
            <a:r>
              <a:rPr sz="2550" b="0" spc="80" dirty="0">
                <a:latin typeface="Tahoma"/>
                <a:cs typeface="Tahoma"/>
              </a:rPr>
              <a:t>unseen</a:t>
            </a:r>
            <a:r>
              <a:rPr sz="2550" b="0" spc="-30" dirty="0">
                <a:latin typeface="Tahoma"/>
                <a:cs typeface="Tahoma"/>
              </a:rPr>
              <a:t> </a:t>
            </a:r>
            <a:r>
              <a:rPr sz="2550" b="0" spc="135" dirty="0">
                <a:latin typeface="Tahoma"/>
                <a:cs typeface="Tahoma"/>
              </a:rPr>
              <a:t>data </a:t>
            </a:r>
            <a:r>
              <a:rPr sz="2550" b="0" dirty="0">
                <a:latin typeface="Tahoma"/>
                <a:cs typeface="Tahoma"/>
              </a:rPr>
              <a:t>Solution:</a:t>
            </a:r>
            <a:r>
              <a:rPr sz="2550" b="0" spc="145" dirty="0">
                <a:latin typeface="Tahoma"/>
                <a:cs typeface="Tahoma"/>
              </a:rPr>
              <a:t> </a:t>
            </a:r>
            <a:r>
              <a:rPr sz="2550" b="0" spc="100" dirty="0">
                <a:latin typeface="Tahoma"/>
                <a:cs typeface="Tahoma"/>
              </a:rPr>
              <a:t>Cross-</a:t>
            </a:r>
            <a:r>
              <a:rPr sz="2550" b="0" spc="65" dirty="0">
                <a:latin typeface="Tahoma"/>
                <a:cs typeface="Tahoma"/>
              </a:rPr>
              <a:t>validation!</a:t>
            </a:r>
            <a:endParaRPr sz="2550">
              <a:latin typeface="Tahoma"/>
              <a:cs typeface="Tahoma"/>
            </a:endParaRPr>
          </a:p>
        </p:txBody>
      </p:sp>
      <p:sp>
        <p:nvSpPr>
          <p:cNvPr id="9" name="슬라이드 번호 개체 틀 8">
            <a:extLst>
              <a:ext uri="{FF2B5EF4-FFF2-40B4-BE49-F238E27FC236}">
                <a16:creationId xmlns:a16="http://schemas.microsoft.com/office/drawing/2014/main" id="{4992D8C7-CBD7-438B-D33D-4D83EB57265C}"/>
              </a:ext>
            </a:extLst>
          </p:cNvPr>
          <p:cNvSpPr>
            <a:spLocks noGrp="1"/>
          </p:cNvSpPr>
          <p:nvPr>
            <p:ph type="sldNum" sz="quarter" idx="7"/>
          </p:nvPr>
        </p:nvSpPr>
        <p:spPr/>
        <p:txBody>
          <a:bodyPr/>
          <a:lstStyle/>
          <a:p>
            <a:fld id="{B6F15528-21DE-4FAA-801E-634DDDAF4B2B}" type="slidenum">
              <a:rPr lang="en-US" altLang="ko-KR" smtClean="0"/>
              <a:t>24</a:t>
            </a:fld>
            <a:endParaRPr lang="en-US" altLang="ko-K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204" dirty="0"/>
              <a:t>Cross-</a:t>
            </a:r>
            <a:r>
              <a:rPr spc="-225" dirty="0"/>
              <a:t>validation</a:t>
            </a:r>
            <a:r>
              <a:rPr spc="-40" dirty="0"/>
              <a:t> </a:t>
            </a:r>
            <a:r>
              <a:rPr spc="-90" dirty="0"/>
              <a:t>basics</a:t>
            </a:r>
          </a:p>
        </p:txBody>
      </p:sp>
      <p:pic>
        <p:nvPicPr>
          <p:cNvPr id="3" name="object 3"/>
          <p:cNvPicPr/>
          <p:nvPr/>
        </p:nvPicPr>
        <p:blipFill>
          <a:blip r:embed="rId2" cstate="print"/>
          <a:stretch>
            <a:fillRect/>
          </a:stretch>
        </p:blipFill>
        <p:spPr>
          <a:xfrm>
            <a:off x="1098577" y="1166788"/>
            <a:ext cx="13967631" cy="3050088"/>
          </a:xfrm>
          <a:prstGeom prst="rect">
            <a:avLst/>
          </a:prstGeom>
        </p:spPr>
      </p:pic>
      <p:sp>
        <p:nvSpPr>
          <p:cNvPr id="7" name="슬라이드 번호 개체 틀 6">
            <a:extLst>
              <a:ext uri="{FF2B5EF4-FFF2-40B4-BE49-F238E27FC236}">
                <a16:creationId xmlns:a16="http://schemas.microsoft.com/office/drawing/2014/main" id="{B09170E7-784D-8BE9-E4B3-A75CCCB6F444}"/>
              </a:ext>
            </a:extLst>
          </p:cNvPr>
          <p:cNvSpPr>
            <a:spLocks noGrp="1"/>
          </p:cNvSpPr>
          <p:nvPr>
            <p:ph type="sldNum" sz="quarter" idx="7"/>
          </p:nvPr>
        </p:nvSpPr>
        <p:spPr/>
        <p:txBody>
          <a:bodyPr/>
          <a:lstStyle/>
          <a:p>
            <a:fld id="{B6F15528-21DE-4FAA-801E-634DDDAF4B2B}" type="slidenum">
              <a:rPr lang="en-US" altLang="ko-KR" smtClean="0"/>
              <a:t>25</a:t>
            </a:fld>
            <a:endParaRPr lang="en-US" altLang="ko-K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8589" y="273861"/>
            <a:ext cx="10824210" cy="713740"/>
          </a:xfrm>
          <a:prstGeom prst="rect">
            <a:avLst/>
          </a:prstGeom>
        </p:spPr>
        <p:txBody>
          <a:bodyPr vert="horz" wrap="square" lIns="0" tIns="13970" rIns="0" bIns="0" rtlCol="0">
            <a:spAutoFit/>
          </a:bodyPr>
          <a:lstStyle/>
          <a:p>
            <a:pPr marL="12700">
              <a:lnSpc>
                <a:spcPct val="100000"/>
              </a:lnSpc>
              <a:spcBef>
                <a:spcPts val="110"/>
              </a:spcBef>
            </a:pPr>
            <a:r>
              <a:rPr spc="-204" dirty="0"/>
              <a:t>Cross-</a:t>
            </a:r>
            <a:r>
              <a:rPr spc="-225" dirty="0"/>
              <a:t>validation</a:t>
            </a:r>
            <a:r>
              <a:rPr spc="-114" dirty="0"/>
              <a:t> </a:t>
            </a:r>
            <a:r>
              <a:rPr spc="-150" dirty="0"/>
              <a:t>and</a:t>
            </a:r>
            <a:r>
              <a:rPr spc="-110" dirty="0"/>
              <a:t> </a:t>
            </a:r>
            <a:r>
              <a:rPr spc="-225" dirty="0"/>
              <a:t>model</a:t>
            </a:r>
            <a:r>
              <a:rPr spc="-114" dirty="0"/>
              <a:t> </a:t>
            </a:r>
            <a:r>
              <a:rPr spc="-135" dirty="0"/>
              <a:t>performance</a:t>
            </a:r>
          </a:p>
        </p:txBody>
      </p:sp>
      <p:pic>
        <p:nvPicPr>
          <p:cNvPr id="3" name="object 3"/>
          <p:cNvPicPr/>
          <p:nvPr/>
        </p:nvPicPr>
        <p:blipFill>
          <a:blip r:embed="rId2" cstate="print"/>
          <a:stretch>
            <a:fillRect/>
          </a:stretch>
        </p:blipFill>
        <p:spPr>
          <a:xfrm>
            <a:off x="511759" y="1351022"/>
            <a:ext cx="102352" cy="102351"/>
          </a:xfrm>
          <a:prstGeom prst="rect">
            <a:avLst/>
          </a:prstGeom>
        </p:spPr>
      </p:pic>
      <p:sp>
        <p:nvSpPr>
          <p:cNvPr id="4" name="object 4"/>
          <p:cNvSpPr txBox="1"/>
          <p:nvPr/>
        </p:nvSpPr>
        <p:spPr>
          <a:xfrm>
            <a:off x="847056" y="1174558"/>
            <a:ext cx="7013575" cy="2383790"/>
          </a:xfrm>
          <a:prstGeom prst="rect">
            <a:avLst/>
          </a:prstGeom>
        </p:spPr>
        <p:txBody>
          <a:bodyPr vert="horz" wrap="square" lIns="0" tIns="15875" rIns="0" bIns="0" rtlCol="0">
            <a:spAutoFit/>
          </a:bodyPr>
          <a:lstStyle/>
          <a:p>
            <a:pPr marL="12700">
              <a:lnSpc>
                <a:spcPct val="100000"/>
              </a:lnSpc>
              <a:spcBef>
                <a:spcPts val="125"/>
              </a:spcBef>
            </a:pPr>
            <a:r>
              <a:rPr sz="2550" spc="55" dirty="0">
                <a:solidFill>
                  <a:srgbClr val="04182D"/>
                </a:solidFill>
                <a:latin typeface="Tahoma"/>
                <a:cs typeface="Tahoma"/>
              </a:rPr>
              <a:t>5</a:t>
            </a:r>
            <a:r>
              <a:rPr sz="2550" spc="-40" dirty="0">
                <a:solidFill>
                  <a:srgbClr val="04182D"/>
                </a:solidFill>
                <a:latin typeface="Tahoma"/>
                <a:cs typeface="Tahoma"/>
              </a:rPr>
              <a:t> </a:t>
            </a:r>
            <a:r>
              <a:rPr sz="2550" spc="80" dirty="0">
                <a:solidFill>
                  <a:srgbClr val="04182D"/>
                </a:solidFill>
                <a:latin typeface="Tahoma"/>
                <a:cs typeface="Tahoma"/>
              </a:rPr>
              <a:t>folds</a:t>
            </a:r>
            <a:r>
              <a:rPr sz="2550" spc="-35" dirty="0">
                <a:solidFill>
                  <a:srgbClr val="04182D"/>
                </a:solidFill>
                <a:latin typeface="Tahoma"/>
                <a:cs typeface="Tahoma"/>
              </a:rPr>
              <a:t> </a:t>
            </a:r>
            <a:r>
              <a:rPr sz="2550" spc="-390" dirty="0">
                <a:solidFill>
                  <a:srgbClr val="04182D"/>
                </a:solidFill>
                <a:latin typeface="Tahoma"/>
                <a:cs typeface="Tahoma"/>
              </a:rPr>
              <a:t>=</a:t>
            </a:r>
            <a:r>
              <a:rPr sz="2550" spc="-35" dirty="0">
                <a:solidFill>
                  <a:srgbClr val="04182D"/>
                </a:solidFill>
                <a:latin typeface="Tahoma"/>
                <a:cs typeface="Tahoma"/>
              </a:rPr>
              <a:t> </a:t>
            </a:r>
            <a:r>
              <a:rPr sz="2550" dirty="0">
                <a:solidFill>
                  <a:srgbClr val="04182D"/>
                </a:solidFill>
                <a:latin typeface="Tahoma"/>
                <a:cs typeface="Tahoma"/>
              </a:rPr>
              <a:t>5-</a:t>
            </a:r>
            <a:r>
              <a:rPr sz="2550" spc="80" dirty="0">
                <a:solidFill>
                  <a:srgbClr val="04182D"/>
                </a:solidFill>
                <a:latin typeface="Tahoma"/>
                <a:cs typeface="Tahoma"/>
              </a:rPr>
              <a:t>fold</a:t>
            </a:r>
            <a:r>
              <a:rPr sz="2550" spc="-35" dirty="0">
                <a:solidFill>
                  <a:srgbClr val="04182D"/>
                </a:solidFill>
                <a:latin typeface="Tahoma"/>
                <a:cs typeface="Tahoma"/>
              </a:rPr>
              <a:t> </a:t>
            </a:r>
            <a:r>
              <a:rPr sz="2550" spc="240" dirty="0">
                <a:solidFill>
                  <a:srgbClr val="04182D"/>
                </a:solidFill>
                <a:latin typeface="Tahoma"/>
                <a:cs typeface="Tahoma"/>
              </a:rPr>
              <a:t>CV</a:t>
            </a:r>
            <a:endParaRPr sz="2550">
              <a:latin typeface="Tahoma"/>
              <a:cs typeface="Tahoma"/>
            </a:endParaRPr>
          </a:p>
          <a:p>
            <a:pPr marL="12700" marR="3859529">
              <a:lnSpc>
                <a:spcPts val="5160"/>
              </a:lnSpc>
              <a:spcBef>
                <a:spcPts val="520"/>
              </a:spcBef>
            </a:pPr>
            <a:r>
              <a:rPr sz="2550" dirty="0">
                <a:solidFill>
                  <a:srgbClr val="04182D"/>
                </a:solidFill>
                <a:latin typeface="Tahoma"/>
                <a:cs typeface="Tahoma"/>
              </a:rPr>
              <a:t>10</a:t>
            </a:r>
            <a:r>
              <a:rPr sz="2550" spc="-95" dirty="0">
                <a:solidFill>
                  <a:srgbClr val="04182D"/>
                </a:solidFill>
                <a:latin typeface="Tahoma"/>
                <a:cs typeface="Tahoma"/>
              </a:rPr>
              <a:t> </a:t>
            </a:r>
            <a:r>
              <a:rPr sz="2550" spc="80" dirty="0">
                <a:solidFill>
                  <a:srgbClr val="04182D"/>
                </a:solidFill>
                <a:latin typeface="Tahoma"/>
                <a:cs typeface="Tahoma"/>
              </a:rPr>
              <a:t>folds</a:t>
            </a:r>
            <a:r>
              <a:rPr sz="2550" spc="-70" dirty="0">
                <a:solidFill>
                  <a:srgbClr val="04182D"/>
                </a:solidFill>
                <a:latin typeface="Tahoma"/>
                <a:cs typeface="Tahoma"/>
              </a:rPr>
              <a:t> </a:t>
            </a:r>
            <a:r>
              <a:rPr sz="2550" spc="-390" dirty="0">
                <a:solidFill>
                  <a:srgbClr val="04182D"/>
                </a:solidFill>
                <a:latin typeface="Tahoma"/>
                <a:cs typeface="Tahoma"/>
              </a:rPr>
              <a:t>=</a:t>
            </a:r>
            <a:r>
              <a:rPr sz="2550" spc="-50" dirty="0">
                <a:solidFill>
                  <a:srgbClr val="04182D"/>
                </a:solidFill>
                <a:latin typeface="Tahoma"/>
                <a:cs typeface="Tahoma"/>
              </a:rPr>
              <a:t> </a:t>
            </a:r>
            <a:r>
              <a:rPr sz="2550" spc="-55" dirty="0">
                <a:solidFill>
                  <a:srgbClr val="04182D"/>
                </a:solidFill>
                <a:latin typeface="Tahoma"/>
                <a:cs typeface="Tahoma"/>
              </a:rPr>
              <a:t>10-</a:t>
            </a:r>
            <a:r>
              <a:rPr sz="2550" spc="80" dirty="0">
                <a:solidFill>
                  <a:srgbClr val="04182D"/>
                </a:solidFill>
                <a:latin typeface="Tahoma"/>
                <a:cs typeface="Tahoma"/>
              </a:rPr>
              <a:t>fold</a:t>
            </a:r>
            <a:r>
              <a:rPr sz="2550" spc="-70" dirty="0">
                <a:solidFill>
                  <a:srgbClr val="04182D"/>
                </a:solidFill>
                <a:latin typeface="Tahoma"/>
                <a:cs typeface="Tahoma"/>
              </a:rPr>
              <a:t> </a:t>
            </a:r>
            <a:r>
              <a:rPr sz="2550" spc="240" dirty="0">
                <a:solidFill>
                  <a:srgbClr val="04182D"/>
                </a:solidFill>
                <a:latin typeface="Tahoma"/>
                <a:cs typeface="Tahoma"/>
              </a:rPr>
              <a:t>CV </a:t>
            </a:r>
            <a:r>
              <a:rPr sz="2550" spc="100" dirty="0">
                <a:solidFill>
                  <a:srgbClr val="04182D"/>
                </a:solidFill>
                <a:latin typeface="Tahoma"/>
                <a:cs typeface="Tahoma"/>
              </a:rPr>
              <a:t>k</a:t>
            </a:r>
            <a:r>
              <a:rPr sz="2550" spc="-25" dirty="0">
                <a:solidFill>
                  <a:srgbClr val="04182D"/>
                </a:solidFill>
                <a:latin typeface="Tahoma"/>
                <a:cs typeface="Tahoma"/>
              </a:rPr>
              <a:t> </a:t>
            </a:r>
            <a:r>
              <a:rPr sz="2550" spc="80" dirty="0">
                <a:solidFill>
                  <a:srgbClr val="04182D"/>
                </a:solidFill>
                <a:latin typeface="Tahoma"/>
                <a:cs typeface="Tahoma"/>
              </a:rPr>
              <a:t>folds</a:t>
            </a:r>
            <a:r>
              <a:rPr sz="2550" spc="-25" dirty="0">
                <a:solidFill>
                  <a:srgbClr val="04182D"/>
                </a:solidFill>
                <a:latin typeface="Tahoma"/>
                <a:cs typeface="Tahoma"/>
              </a:rPr>
              <a:t> </a:t>
            </a:r>
            <a:r>
              <a:rPr sz="2550" spc="-390" dirty="0">
                <a:solidFill>
                  <a:srgbClr val="04182D"/>
                </a:solidFill>
                <a:latin typeface="Tahoma"/>
                <a:cs typeface="Tahoma"/>
              </a:rPr>
              <a:t>=</a:t>
            </a:r>
            <a:r>
              <a:rPr sz="2550" spc="-25" dirty="0">
                <a:solidFill>
                  <a:srgbClr val="04182D"/>
                </a:solidFill>
                <a:latin typeface="Tahoma"/>
                <a:cs typeface="Tahoma"/>
              </a:rPr>
              <a:t> </a:t>
            </a:r>
            <a:r>
              <a:rPr sz="2550" dirty="0">
                <a:solidFill>
                  <a:srgbClr val="04182D"/>
                </a:solidFill>
                <a:latin typeface="Tahoma"/>
                <a:cs typeface="Tahoma"/>
              </a:rPr>
              <a:t>k-</a:t>
            </a:r>
            <a:r>
              <a:rPr sz="2550" spc="80" dirty="0">
                <a:solidFill>
                  <a:srgbClr val="04182D"/>
                </a:solidFill>
                <a:latin typeface="Tahoma"/>
                <a:cs typeface="Tahoma"/>
              </a:rPr>
              <a:t>fold</a:t>
            </a:r>
            <a:r>
              <a:rPr sz="2550" spc="-20" dirty="0">
                <a:solidFill>
                  <a:srgbClr val="04182D"/>
                </a:solidFill>
                <a:latin typeface="Tahoma"/>
                <a:cs typeface="Tahoma"/>
              </a:rPr>
              <a:t> </a:t>
            </a:r>
            <a:r>
              <a:rPr sz="2550" spc="240" dirty="0">
                <a:solidFill>
                  <a:srgbClr val="04182D"/>
                </a:solidFill>
                <a:latin typeface="Tahoma"/>
                <a:cs typeface="Tahoma"/>
              </a:rPr>
              <a:t>CV</a:t>
            </a:r>
            <a:endParaRPr sz="2550">
              <a:latin typeface="Tahoma"/>
              <a:cs typeface="Tahoma"/>
            </a:endParaRPr>
          </a:p>
          <a:p>
            <a:pPr marL="12700">
              <a:lnSpc>
                <a:spcPct val="100000"/>
              </a:lnSpc>
              <a:spcBef>
                <a:spcPts val="1575"/>
              </a:spcBef>
            </a:pPr>
            <a:r>
              <a:rPr sz="2550" spc="135" dirty="0">
                <a:solidFill>
                  <a:srgbClr val="04182D"/>
                </a:solidFill>
                <a:latin typeface="Tahoma"/>
                <a:cs typeface="Tahoma"/>
              </a:rPr>
              <a:t>More</a:t>
            </a:r>
            <a:r>
              <a:rPr sz="2550" spc="-40" dirty="0">
                <a:solidFill>
                  <a:srgbClr val="04182D"/>
                </a:solidFill>
                <a:latin typeface="Tahoma"/>
                <a:cs typeface="Tahoma"/>
              </a:rPr>
              <a:t> </a:t>
            </a:r>
            <a:r>
              <a:rPr sz="2550" spc="80" dirty="0">
                <a:solidFill>
                  <a:srgbClr val="04182D"/>
                </a:solidFill>
                <a:latin typeface="Tahoma"/>
                <a:cs typeface="Tahoma"/>
              </a:rPr>
              <a:t>folds</a:t>
            </a:r>
            <a:r>
              <a:rPr sz="2550" spc="-40" dirty="0">
                <a:solidFill>
                  <a:srgbClr val="04182D"/>
                </a:solidFill>
                <a:latin typeface="Tahoma"/>
                <a:cs typeface="Tahoma"/>
              </a:rPr>
              <a:t> </a:t>
            </a:r>
            <a:r>
              <a:rPr sz="2550" spc="-390" dirty="0">
                <a:solidFill>
                  <a:srgbClr val="04182D"/>
                </a:solidFill>
                <a:latin typeface="Tahoma"/>
                <a:cs typeface="Tahoma"/>
              </a:rPr>
              <a:t>=</a:t>
            </a:r>
            <a:r>
              <a:rPr sz="2550" spc="-35" dirty="0">
                <a:solidFill>
                  <a:srgbClr val="04182D"/>
                </a:solidFill>
                <a:latin typeface="Tahoma"/>
                <a:cs typeface="Tahoma"/>
              </a:rPr>
              <a:t> </a:t>
            </a:r>
            <a:r>
              <a:rPr sz="2550" spc="135" dirty="0">
                <a:solidFill>
                  <a:srgbClr val="04182D"/>
                </a:solidFill>
                <a:latin typeface="Tahoma"/>
                <a:cs typeface="Tahoma"/>
              </a:rPr>
              <a:t>More</a:t>
            </a:r>
            <a:r>
              <a:rPr sz="2550" spc="-40" dirty="0">
                <a:solidFill>
                  <a:srgbClr val="04182D"/>
                </a:solidFill>
                <a:latin typeface="Tahoma"/>
                <a:cs typeface="Tahoma"/>
              </a:rPr>
              <a:t> </a:t>
            </a:r>
            <a:r>
              <a:rPr sz="2550" spc="114" dirty="0">
                <a:solidFill>
                  <a:srgbClr val="04182D"/>
                </a:solidFill>
                <a:latin typeface="Tahoma"/>
                <a:cs typeface="Tahoma"/>
              </a:rPr>
              <a:t>computationally</a:t>
            </a:r>
            <a:r>
              <a:rPr sz="2550" spc="-35" dirty="0">
                <a:solidFill>
                  <a:srgbClr val="04182D"/>
                </a:solidFill>
                <a:latin typeface="Tahoma"/>
                <a:cs typeface="Tahoma"/>
              </a:rPr>
              <a:t> </a:t>
            </a:r>
            <a:r>
              <a:rPr sz="2550" spc="75" dirty="0">
                <a:solidFill>
                  <a:srgbClr val="04182D"/>
                </a:solidFill>
                <a:latin typeface="Tahoma"/>
                <a:cs typeface="Tahoma"/>
              </a:rPr>
              <a:t>expensive</a:t>
            </a:r>
            <a:endParaRPr sz="2550">
              <a:latin typeface="Tahoma"/>
              <a:cs typeface="Tahoma"/>
            </a:endParaRPr>
          </a:p>
        </p:txBody>
      </p:sp>
      <p:pic>
        <p:nvPicPr>
          <p:cNvPr id="5" name="object 5"/>
          <p:cNvPicPr/>
          <p:nvPr/>
        </p:nvPicPr>
        <p:blipFill>
          <a:blip r:embed="rId3" cstate="print"/>
          <a:stretch>
            <a:fillRect/>
          </a:stretch>
        </p:blipFill>
        <p:spPr>
          <a:xfrm>
            <a:off x="511759" y="2006074"/>
            <a:ext cx="102352" cy="102351"/>
          </a:xfrm>
          <a:prstGeom prst="rect">
            <a:avLst/>
          </a:prstGeom>
        </p:spPr>
      </p:pic>
      <p:pic>
        <p:nvPicPr>
          <p:cNvPr id="6" name="object 6"/>
          <p:cNvPicPr/>
          <p:nvPr/>
        </p:nvPicPr>
        <p:blipFill>
          <a:blip r:embed="rId2" cstate="print"/>
          <a:stretch>
            <a:fillRect/>
          </a:stretch>
        </p:blipFill>
        <p:spPr>
          <a:xfrm>
            <a:off x="511759" y="2661127"/>
            <a:ext cx="102352" cy="102351"/>
          </a:xfrm>
          <a:prstGeom prst="rect">
            <a:avLst/>
          </a:prstGeom>
        </p:spPr>
      </p:pic>
      <p:pic>
        <p:nvPicPr>
          <p:cNvPr id="7" name="object 7"/>
          <p:cNvPicPr/>
          <p:nvPr/>
        </p:nvPicPr>
        <p:blipFill>
          <a:blip r:embed="rId3" cstate="print"/>
          <a:stretch>
            <a:fillRect/>
          </a:stretch>
        </p:blipFill>
        <p:spPr>
          <a:xfrm>
            <a:off x="511759" y="3316179"/>
            <a:ext cx="102352" cy="102351"/>
          </a:xfrm>
          <a:prstGeom prst="rect">
            <a:avLst/>
          </a:prstGeom>
        </p:spPr>
      </p:pic>
      <p:sp>
        <p:nvSpPr>
          <p:cNvPr id="11" name="슬라이드 번호 개체 틀 10">
            <a:extLst>
              <a:ext uri="{FF2B5EF4-FFF2-40B4-BE49-F238E27FC236}">
                <a16:creationId xmlns:a16="http://schemas.microsoft.com/office/drawing/2014/main" id="{13C6D7DF-B364-4AA8-57F5-A378D3E1B8DC}"/>
              </a:ext>
            </a:extLst>
          </p:cNvPr>
          <p:cNvSpPr>
            <a:spLocks noGrp="1"/>
          </p:cNvSpPr>
          <p:nvPr>
            <p:ph type="sldNum" sz="quarter" idx="7"/>
          </p:nvPr>
        </p:nvSpPr>
        <p:spPr/>
        <p:txBody>
          <a:bodyPr/>
          <a:lstStyle/>
          <a:p>
            <a:fld id="{B6F15528-21DE-4FAA-801E-634DDDAF4B2B}" type="slidenum">
              <a:rPr lang="en-US" altLang="ko-KR" smtClean="0"/>
              <a:t>26</a:t>
            </a:fld>
            <a:endParaRPr lang="en-US" altLang="ko-K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8589" y="273885"/>
            <a:ext cx="7984490" cy="713740"/>
          </a:xfrm>
          <a:prstGeom prst="rect">
            <a:avLst/>
          </a:prstGeom>
        </p:spPr>
        <p:txBody>
          <a:bodyPr vert="horz" wrap="square" lIns="0" tIns="13970" rIns="0" bIns="0" rtlCol="0">
            <a:spAutoFit/>
          </a:bodyPr>
          <a:lstStyle/>
          <a:p>
            <a:pPr marL="12700">
              <a:lnSpc>
                <a:spcPct val="100000"/>
              </a:lnSpc>
              <a:spcBef>
                <a:spcPts val="110"/>
              </a:spcBef>
            </a:pPr>
            <a:r>
              <a:rPr spc="-204" dirty="0"/>
              <a:t>Cross-</a:t>
            </a:r>
            <a:r>
              <a:rPr spc="-225" dirty="0"/>
              <a:t>validation</a:t>
            </a:r>
            <a:r>
              <a:rPr spc="-75" dirty="0"/>
              <a:t> </a:t>
            </a:r>
            <a:r>
              <a:rPr spc="-265" dirty="0"/>
              <a:t>in</a:t>
            </a:r>
            <a:r>
              <a:rPr spc="-75" dirty="0"/>
              <a:t> </a:t>
            </a:r>
            <a:r>
              <a:rPr spc="-250" dirty="0"/>
              <a:t>scikit-</a:t>
            </a:r>
            <a:r>
              <a:rPr spc="-100" dirty="0"/>
              <a:t>learn</a:t>
            </a:r>
          </a:p>
        </p:txBody>
      </p:sp>
      <p:grpSp>
        <p:nvGrpSpPr>
          <p:cNvPr id="3" name="object 3"/>
          <p:cNvGrpSpPr/>
          <p:nvPr/>
        </p:nvGrpSpPr>
        <p:grpSpPr>
          <a:xfrm>
            <a:off x="491289" y="1166812"/>
            <a:ext cx="14575155" cy="2292985"/>
            <a:chOff x="491289" y="1166812"/>
            <a:chExt cx="14575155" cy="2292985"/>
          </a:xfrm>
        </p:grpSpPr>
        <p:sp>
          <p:nvSpPr>
            <p:cNvPr id="4" name="object 4"/>
            <p:cNvSpPr/>
            <p:nvPr/>
          </p:nvSpPr>
          <p:spPr>
            <a:xfrm>
              <a:off x="491289" y="1166812"/>
              <a:ext cx="14575155" cy="2292985"/>
            </a:xfrm>
            <a:custGeom>
              <a:avLst/>
              <a:gdLst/>
              <a:ahLst/>
              <a:cxnLst/>
              <a:rect l="l" t="t" r="r" b="b"/>
              <a:pathLst>
                <a:path w="14575155" h="2292985">
                  <a:moveTo>
                    <a:pt x="14498413" y="2292683"/>
                  </a:moveTo>
                  <a:lnTo>
                    <a:pt x="76505" y="2292683"/>
                  </a:lnTo>
                  <a:lnTo>
                    <a:pt x="71180" y="2292159"/>
                  </a:lnTo>
                  <a:lnTo>
                    <a:pt x="31920" y="2275896"/>
                  </a:lnTo>
                  <a:lnTo>
                    <a:pt x="4175" y="2237169"/>
                  </a:lnTo>
                  <a:lnTo>
                    <a:pt x="0" y="2216178"/>
                  </a:lnTo>
                  <a:lnTo>
                    <a:pt x="0" y="2210802"/>
                  </a:lnTo>
                  <a:lnTo>
                    <a:pt x="0" y="76505"/>
                  </a:lnTo>
                  <a:lnTo>
                    <a:pt x="16786" y="31920"/>
                  </a:lnTo>
                  <a:lnTo>
                    <a:pt x="55513" y="4175"/>
                  </a:lnTo>
                  <a:lnTo>
                    <a:pt x="76505" y="0"/>
                  </a:lnTo>
                  <a:lnTo>
                    <a:pt x="14498413" y="0"/>
                  </a:lnTo>
                  <a:lnTo>
                    <a:pt x="14542998" y="16786"/>
                  </a:lnTo>
                  <a:lnTo>
                    <a:pt x="14570742" y="55513"/>
                  </a:lnTo>
                  <a:lnTo>
                    <a:pt x="14574918" y="76505"/>
                  </a:lnTo>
                  <a:lnTo>
                    <a:pt x="14574918" y="2216178"/>
                  </a:lnTo>
                  <a:lnTo>
                    <a:pt x="14558132" y="2260763"/>
                  </a:lnTo>
                  <a:lnTo>
                    <a:pt x="14519404" y="2288508"/>
                  </a:lnTo>
                  <a:lnTo>
                    <a:pt x="14503737" y="2292159"/>
                  </a:lnTo>
                  <a:lnTo>
                    <a:pt x="14498413" y="2292683"/>
                  </a:lnTo>
                  <a:close/>
                </a:path>
              </a:pathLst>
            </a:custGeom>
            <a:solidFill>
              <a:srgbClr val="F6F2EB"/>
            </a:solidFill>
          </p:spPr>
          <p:txBody>
            <a:bodyPr wrap="square" lIns="0" tIns="0" rIns="0" bIns="0" rtlCol="0"/>
            <a:lstStyle/>
            <a:p>
              <a:endParaRPr/>
            </a:p>
          </p:txBody>
        </p:sp>
        <p:sp>
          <p:nvSpPr>
            <p:cNvPr id="5" name="object 5"/>
            <p:cNvSpPr/>
            <p:nvPr/>
          </p:nvSpPr>
          <p:spPr>
            <a:xfrm>
              <a:off x="672261" y="1447482"/>
              <a:ext cx="5989955" cy="283210"/>
            </a:xfrm>
            <a:custGeom>
              <a:avLst/>
              <a:gdLst/>
              <a:ahLst/>
              <a:cxnLst/>
              <a:rect l="l" t="t" r="r" b="b"/>
              <a:pathLst>
                <a:path w="5989955" h="283210">
                  <a:moveTo>
                    <a:pt x="147980" y="9994"/>
                  </a:moveTo>
                  <a:lnTo>
                    <a:pt x="93332" y="9994"/>
                  </a:lnTo>
                  <a:lnTo>
                    <a:pt x="83096" y="10769"/>
                  </a:lnTo>
                  <a:lnTo>
                    <a:pt x="49060" y="36728"/>
                  </a:lnTo>
                  <a:lnTo>
                    <a:pt x="45821" y="55473"/>
                  </a:lnTo>
                  <a:lnTo>
                    <a:pt x="45821" y="64719"/>
                  </a:lnTo>
                  <a:lnTo>
                    <a:pt x="0" y="64719"/>
                  </a:lnTo>
                  <a:lnTo>
                    <a:pt x="0" y="100114"/>
                  </a:lnTo>
                  <a:lnTo>
                    <a:pt x="45821" y="100114"/>
                  </a:lnTo>
                  <a:lnTo>
                    <a:pt x="45821" y="231101"/>
                  </a:lnTo>
                  <a:lnTo>
                    <a:pt x="83540" y="231101"/>
                  </a:lnTo>
                  <a:lnTo>
                    <a:pt x="83540" y="100114"/>
                  </a:lnTo>
                  <a:lnTo>
                    <a:pt x="147980" y="100114"/>
                  </a:lnTo>
                  <a:lnTo>
                    <a:pt x="147980" y="64719"/>
                  </a:lnTo>
                  <a:lnTo>
                    <a:pt x="83540" y="64719"/>
                  </a:lnTo>
                  <a:lnTo>
                    <a:pt x="83540" y="51892"/>
                  </a:lnTo>
                  <a:lnTo>
                    <a:pt x="84328" y="49441"/>
                  </a:lnTo>
                  <a:lnTo>
                    <a:pt x="87553" y="46215"/>
                  </a:lnTo>
                  <a:lnTo>
                    <a:pt x="90017" y="45402"/>
                  </a:lnTo>
                  <a:lnTo>
                    <a:pt x="147980" y="45402"/>
                  </a:lnTo>
                  <a:lnTo>
                    <a:pt x="147980" y="9994"/>
                  </a:lnTo>
                  <a:close/>
                </a:path>
                <a:path w="5989955" h="283210">
                  <a:moveTo>
                    <a:pt x="319646" y="122580"/>
                  </a:moveTo>
                  <a:lnTo>
                    <a:pt x="310400" y="85559"/>
                  </a:lnTo>
                  <a:lnTo>
                    <a:pt x="272326" y="59791"/>
                  </a:lnTo>
                  <a:lnTo>
                    <a:pt x="259270" y="58699"/>
                  </a:lnTo>
                  <a:lnTo>
                    <a:pt x="242265" y="61010"/>
                  </a:lnTo>
                  <a:lnTo>
                    <a:pt x="229666" y="67932"/>
                  </a:lnTo>
                  <a:lnTo>
                    <a:pt x="221488" y="79476"/>
                  </a:lnTo>
                  <a:lnTo>
                    <a:pt x="217703" y="95643"/>
                  </a:lnTo>
                  <a:lnTo>
                    <a:pt x="217792" y="95148"/>
                  </a:lnTo>
                  <a:lnTo>
                    <a:pt x="223647" y="61569"/>
                  </a:lnTo>
                  <a:lnTo>
                    <a:pt x="186575" y="61569"/>
                  </a:lnTo>
                  <a:lnTo>
                    <a:pt x="186575" y="231101"/>
                  </a:lnTo>
                  <a:lnTo>
                    <a:pt x="224218" y="231101"/>
                  </a:lnTo>
                  <a:lnTo>
                    <a:pt x="224269" y="114134"/>
                  </a:lnTo>
                  <a:lnTo>
                    <a:pt x="226758" y="106299"/>
                  </a:lnTo>
                  <a:lnTo>
                    <a:pt x="236562" y="95643"/>
                  </a:lnTo>
                  <a:lnTo>
                    <a:pt x="237083" y="95148"/>
                  </a:lnTo>
                  <a:lnTo>
                    <a:pt x="244106" y="92417"/>
                  </a:lnTo>
                  <a:lnTo>
                    <a:pt x="262572" y="92417"/>
                  </a:lnTo>
                  <a:lnTo>
                    <a:pt x="269697" y="95148"/>
                  </a:lnTo>
                  <a:lnTo>
                    <a:pt x="279527" y="106070"/>
                  </a:lnTo>
                  <a:lnTo>
                    <a:pt x="279603" y="106299"/>
                  </a:lnTo>
                  <a:lnTo>
                    <a:pt x="282003" y="114134"/>
                  </a:lnTo>
                  <a:lnTo>
                    <a:pt x="282003" y="137972"/>
                  </a:lnTo>
                  <a:lnTo>
                    <a:pt x="319646" y="137972"/>
                  </a:lnTo>
                  <a:lnTo>
                    <a:pt x="319646" y="122580"/>
                  </a:lnTo>
                  <a:close/>
                </a:path>
                <a:path w="5989955" h="283210">
                  <a:moveTo>
                    <a:pt x="485305" y="124536"/>
                  </a:moveTo>
                  <a:lnTo>
                    <a:pt x="475107" y="86131"/>
                  </a:lnTo>
                  <a:lnTo>
                    <a:pt x="447662" y="63957"/>
                  </a:lnTo>
                  <a:lnTo>
                    <a:pt x="447662" y="114363"/>
                  </a:lnTo>
                  <a:lnTo>
                    <a:pt x="447662" y="178295"/>
                  </a:lnTo>
                  <a:lnTo>
                    <a:pt x="445185" y="186131"/>
                  </a:lnTo>
                  <a:lnTo>
                    <a:pt x="435343" y="196532"/>
                  </a:lnTo>
                  <a:lnTo>
                    <a:pt x="428142" y="199123"/>
                  </a:lnTo>
                  <a:lnTo>
                    <a:pt x="409054" y="199123"/>
                  </a:lnTo>
                  <a:lnTo>
                    <a:pt x="401828" y="196532"/>
                  </a:lnTo>
                  <a:lnTo>
                    <a:pt x="392036" y="186131"/>
                  </a:lnTo>
                  <a:lnTo>
                    <a:pt x="389585" y="178295"/>
                  </a:lnTo>
                  <a:lnTo>
                    <a:pt x="389585" y="114363"/>
                  </a:lnTo>
                  <a:lnTo>
                    <a:pt x="392036" y="106553"/>
                  </a:lnTo>
                  <a:lnTo>
                    <a:pt x="401828" y="96151"/>
                  </a:lnTo>
                  <a:lnTo>
                    <a:pt x="409054" y="93535"/>
                  </a:lnTo>
                  <a:lnTo>
                    <a:pt x="428142" y="93535"/>
                  </a:lnTo>
                  <a:lnTo>
                    <a:pt x="435343" y="96151"/>
                  </a:lnTo>
                  <a:lnTo>
                    <a:pt x="440245" y="101371"/>
                  </a:lnTo>
                  <a:lnTo>
                    <a:pt x="445185" y="106553"/>
                  </a:lnTo>
                  <a:lnTo>
                    <a:pt x="447662" y="63957"/>
                  </a:lnTo>
                  <a:lnTo>
                    <a:pt x="418617" y="58699"/>
                  </a:lnTo>
                  <a:lnTo>
                    <a:pt x="404114" y="59804"/>
                  </a:lnTo>
                  <a:lnTo>
                    <a:pt x="362038" y="86131"/>
                  </a:lnTo>
                  <a:lnTo>
                    <a:pt x="351891" y="124536"/>
                  </a:lnTo>
                  <a:lnTo>
                    <a:pt x="351878" y="167843"/>
                  </a:lnTo>
                  <a:lnTo>
                    <a:pt x="352996" y="182333"/>
                  </a:lnTo>
                  <a:lnTo>
                    <a:pt x="379768" y="223964"/>
                  </a:lnTo>
                  <a:lnTo>
                    <a:pt x="418617" y="233959"/>
                  </a:lnTo>
                  <a:lnTo>
                    <a:pt x="433095" y="232854"/>
                  </a:lnTo>
                  <a:lnTo>
                    <a:pt x="475107" y="206502"/>
                  </a:lnTo>
                  <a:lnTo>
                    <a:pt x="485305" y="167843"/>
                  </a:lnTo>
                  <a:lnTo>
                    <a:pt x="485305" y="124536"/>
                  </a:lnTo>
                  <a:close/>
                </a:path>
                <a:path w="5989955" h="283210">
                  <a:moveTo>
                    <a:pt x="663549" y="105359"/>
                  </a:moveTo>
                  <a:lnTo>
                    <a:pt x="662940" y="95554"/>
                  </a:lnTo>
                  <a:lnTo>
                    <a:pt x="661873" y="90385"/>
                  </a:lnTo>
                  <a:lnTo>
                    <a:pt x="661098" y="86677"/>
                  </a:lnTo>
                  <a:lnTo>
                    <a:pt x="660450" y="85001"/>
                  </a:lnTo>
                  <a:lnTo>
                    <a:pt x="660374" y="84797"/>
                  </a:lnTo>
                  <a:lnTo>
                    <a:pt x="626402" y="58699"/>
                  </a:lnTo>
                  <a:lnTo>
                    <a:pt x="618045" y="58699"/>
                  </a:lnTo>
                  <a:lnTo>
                    <a:pt x="611365" y="61010"/>
                  </a:lnTo>
                  <a:lnTo>
                    <a:pt x="610514" y="61569"/>
                  </a:lnTo>
                  <a:lnTo>
                    <a:pt x="599694" y="70827"/>
                  </a:lnTo>
                  <a:lnTo>
                    <a:pt x="599389" y="71767"/>
                  </a:lnTo>
                  <a:lnTo>
                    <a:pt x="598830" y="70192"/>
                  </a:lnTo>
                  <a:lnTo>
                    <a:pt x="597941" y="69456"/>
                  </a:lnTo>
                  <a:lnTo>
                    <a:pt x="597941" y="78765"/>
                  </a:lnTo>
                  <a:lnTo>
                    <a:pt x="597687" y="77025"/>
                  </a:lnTo>
                  <a:lnTo>
                    <a:pt x="597814" y="76657"/>
                  </a:lnTo>
                  <a:lnTo>
                    <a:pt x="597839" y="77025"/>
                  </a:lnTo>
                  <a:lnTo>
                    <a:pt x="597941" y="78765"/>
                  </a:lnTo>
                  <a:lnTo>
                    <a:pt x="597941" y="69456"/>
                  </a:lnTo>
                  <a:lnTo>
                    <a:pt x="593369" y="65620"/>
                  </a:lnTo>
                  <a:lnTo>
                    <a:pt x="587959" y="61010"/>
                  </a:lnTo>
                  <a:lnTo>
                    <a:pt x="581291" y="58699"/>
                  </a:lnTo>
                  <a:lnTo>
                    <a:pt x="565010" y="58699"/>
                  </a:lnTo>
                  <a:lnTo>
                    <a:pt x="558431" y="61010"/>
                  </a:lnTo>
                  <a:lnTo>
                    <a:pt x="558203" y="61010"/>
                  </a:lnTo>
                  <a:lnTo>
                    <a:pt x="551053" y="67233"/>
                  </a:lnTo>
                  <a:lnTo>
                    <a:pt x="552094" y="61569"/>
                  </a:lnTo>
                  <a:lnTo>
                    <a:pt x="546138" y="61569"/>
                  </a:lnTo>
                  <a:lnTo>
                    <a:pt x="546138" y="84442"/>
                  </a:lnTo>
                  <a:lnTo>
                    <a:pt x="544741" y="77025"/>
                  </a:lnTo>
                  <a:lnTo>
                    <a:pt x="544868" y="76657"/>
                  </a:lnTo>
                  <a:lnTo>
                    <a:pt x="544906" y="77025"/>
                  </a:lnTo>
                  <a:lnTo>
                    <a:pt x="545071" y="78765"/>
                  </a:lnTo>
                  <a:lnTo>
                    <a:pt x="546138" y="84442"/>
                  </a:lnTo>
                  <a:lnTo>
                    <a:pt x="546138" y="61569"/>
                  </a:lnTo>
                  <a:lnTo>
                    <a:pt x="517525" y="61569"/>
                  </a:lnTo>
                  <a:lnTo>
                    <a:pt x="517525" y="231101"/>
                  </a:lnTo>
                  <a:lnTo>
                    <a:pt x="553212" y="231101"/>
                  </a:lnTo>
                  <a:lnTo>
                    <a:pt x="553212" y="99631"/>
                  </a:lnTo>
                  <a:lnTo>
                    <a:pt x="554075" y="95948"/>
                  </a:lnTo>
                  <a:lnTo>
                    <a:pt x="557568" y="91516"/>
                  </a:lnTo>
                  <a:lnTo>
                    <a:pt x="560095" y="90385"/>
                  </a:lnTo>
                  <a:lnTo>
                    <a:pt x="566813" y="90385"/>
                  </a:lnTo>
                  <a:lnTo>
                    <a:pt x="569328" y="91516"/>
                  </a:lnTo>
                  <a:lnTo>
                    <a:pt x="573024" y="95948"/>
                  </a:lnTo>
                  <a:lnTo>
                    <a:pt x="574179" y="99631"/>
                  </a:lnTo>
                  <a:lnTo>
                    <a:pt x="574268" y="231101"/>
                  </a:lnTo>
                  <a:lnTo>
                    <a:pt x="606806" y="231101"/>
                  </a:lnTo>
                  <a:lnTo>
                    <a:pt x="606831" y="99631"/>
                  </a:lnTo>
                  <a:lnTo>
                    <a:pt x="607860" y="95948"/>
                  </a:lnTo>
                  <a:lnTo>
                    <a:pt x="611644" y="91516"/>
                  </a:lnTo>
                  <a:lnTo>
                    <a:pt x="614197" y="90385"/>
                  </a:lnTo>
                  <a:lnTo>
                    <a:pt x="620915" y="90385"/>
                  </a:lnTo>
                  <a:lnTo>
                    <a:pt x="623379" y="91516"/>
                  </a:lnTo>
                  <a:lnTo>
                    <a:pt x="626770" y="95948"/>
                  </a:lnTo>
                  <a:lnTo>
                    <a:pt x="627786" y="99631"/>
                  </a:lnTo>
                  <a:lnTo>
                    <a:pt x="627862" y="231101"/>
                  </a:lnTo>
                  <a:lnTo>
                    <a:pt x="663549" y="231101"/>
                  </a:lnTo>
                  <a:lnTo>
                    <a:pt x="663549" y="105359"/>
                  </a:lnTo>
                  <a:close/>
                </a:path>
                <a:path w="5989955" h="283210">
                  <a:moveTo>
                    <a:pt x="5091150" y="16510"/>
                  </a:moveTo>
                  <a:lnTo>
                    <a:pt x="5088852" y="10909"/>
                  </a:lnTo>
                  <a:lnTo>
                    <a:pt x="5079606" y="2184"/>
                  </a:lnTo>
                  <a:lnTo>
                    <a:pt x="5073739" y="0"/>
                  </a:lnTo>
                  <a:lnTo>
                    <a:pt x="5053723" y="0"/>
                  </a:lnTo>
                  <a:lnTo>
                    <a:pt x="5047843" y="2184"/>
                  </a:lnTo>
                  <a:lnTo>
                    <a:pt x="5038610" y="10909"/>
                  </a:lnTo>
                  <a:lnTo>
                    <a:pt x="5036299" y="16510"/>
                  </a:lnTo>
                  <a:lnTo>
                    <a:pt x="5036299" y="30264"/>
                  </a:lnTo>
                  <a:lnTo>
                    <a:pt x="5038560" y="35814"/>
                  </a:lnTo>
                  <a:lnTo>
                    <a:pt x="5043094" y="40017"/>
                  </a:lnTo>
                  <a:lnTo>
                    <a:pt x="5047666" y="44170"/>
                  </a:lnTo>
                  <a:lnTo>
                    <a:pt x="5053584" y="46240"/>
                  </a:lnTo>
                  <a:lnTo>
                    <a:pt x="5073637" y="46240"/>
                  </a:lnTo>
                  <a:lnTo>
                    <a:pt x="5079492" y="44170"/>
                  </a:lnTo>
                  <a:lnTo>
                    <a:pt x="5088839" y="35814"/>
                  </a:lnTo>
                  <a:lnTo>
                    <a:pt x="5091150" y="30264"/>
                  </a:lnTo>
                  <a:lnTo>
                    <a:pt x="5091150" y="16510"/>
                  </a:lnTo>
                  <a:close/>
                </a:path>
                <a:path w="5989955" h="283210">
                  <a:moveTo>
                    <a:pt x="5138458" y="195694"/>
                  </a:moveTo>
                  <a:lnTo>
                    <a:pt x="5085423" y="195694"/>
                  </a:lnTo>
                  <a:lnTo>
                    <a:pt x="5085423" y="61569"/>
                  </a:lnTo>
                  <a:lnTo>
                    <a:pt x="4999012" y="61569"/>
                  </a:lnTo>
                  <a:lnTo>
                    <a:pt x="4999012" y="96964"/>
                  </a:lnTo>
                  <a:lnTo>
                    <a:pt x="5047704" y="96964"/>
                  </a:lnTo>
                  <a:lnTo>
                    <a:pt x="5047704" y="195694"/>
                  </a:lnTo>
                  <a:lnTo>
                    <a:pt x="4991874" y="195694"/>
                  </a:lnTo>
                  <a:lnTo>
                    <a:pt x="4991874" y="231101"/>
                  </a:lnTo>
                  <a:lnTo>
                    <a:pt x="5138458" y="231101"/>
                  </a:lnTo>
                  <a:lnTo>
                    <a:pt x="5138458" y="195694"/>
                  </a:lnTo>
                  <a:close/>
                </a:path>
                <a:path w="5989955" h="283210">
                  <a:moveTo>
                    <a:pt x="5305793" y="105359"/>
                  </a:moveTo>
                  <a:lnTo>
                    <a:pt x="5305171" y="95554"/>
                  </a:lnTo>
                  <a:lnTo>
                    <a:pt x="5304104" y="90385"/>
                  </a:lnTo>
                  <a:lnTo>
                    <a:pt x="5303342" y="86677"/>
                  </a:lnTo>
                  <a:lnTo>
                    <a:pt x="5302694" y="85001"/>
                  </a:lnTo>
                  <a:lnTo>
                    <a:pt x="5302605" y="84797"/>
                  </a:lnTo>
                  <a:lnTo>
                    <a:pt x="5300281" y="78765"/>
                  </a:lnTo>
                  <a:lnTo>
                    <a:pt x="5268633" y="58699"/>
                  </a:lnTo>
                  <a:lnTo>
                    <a:pt x="5260289" y="58699"/>
                  </a:lnTo>
                  <a:lnTo>
                    <a:pt x="5253609" y="61010"/>
                  </a:lnTo>
                  <a:lnTo>
                    <a:pt x="5252745" y="61569"/>
                  </a:lnTo>
                  <a:lnTo>
                    <a:pt x="5241925" y="70827"/>
                  </a:lnTo>
                  <a:lnTo>
                    <a:pt x="5241633" y="71767"/>
                  </a:lnTo>
                  <a:lnTo>
                    <a:pt x="5241074" y="70192"/>
                  </a:lnTo>
                  <a:lnTo>
                    <a:pt x="5240185" y="69456"/>
                  </a:lnTo>
                  <a:lnTo>
                    <a:pt x="5240185" y="78765"/>
                  </a:lnTo>
                  <a:lnTo>
                    <a:pt x="5239931" y="77025"/>
                  </a:lnTo>
                  <a:lnTo>
                    <a:pt x="5240045" y="76657"/>
                  </a:lnTo>
                  <a:lnTo>
                    <a:pt x="5240071" y="77025"/>
                  </a:lnTo>
                  <a:lnTo>
                    <a:pt x="5240185" y="78765"/>
                  </a:lnTo>
                  <a:lnTo>
                    <a:pt x="5240185" y="69456"/>
                  </a:lnTo>
                  <a:lnTo>
                    <a:pt x="5235613" y="65620"/>
                  </a:lnTo>
                  <a:lnTo>
                    <a:pt x="5230203" y="61010"/>
                  </a:lnTo>
                  <a:lnTo>
                    <a:pt x="5223535" y="58699"/>
                  </a:lnTo>
                  <a:lnTo>
                    <a:pt x="5207254" y="58699"/>
                  </a:lnTo>
                  <a:lnTo>
                    <a:pt x="5200675" y="61010"/>
                  </a:lnTo>
                  <a:lnTo>
                    <a:pt x="5200434" y="61010"/>
                  </a:lnTo>
                  <a:lnTo>
                    <a:pt x="5193284" y="67233"/>
                  </a:lnTo>
                  <a:lnTo>
                    <a:pt x="5194325" y="61569"/>
                  </a:lnTo>
                  <a:lnTo>
                    <a:pt x="5188382" y="61569"/>
                  </a:lnTo>
                  <a:lnTo>
                    <a:pt x="5188382" y="84442"/>
                  </a:lnTo>
                  <a:lnTo>
                    <a:pt x="5186985" y="77025"/>
                  </a:lnTo>
                  <a:lnTo>
                    <a:pt x="5187112" y="76657"/>
                  </a:lnTo>
                  <a:lnTo>
                    <a:pt x="5187150" y="77025"/>
                  </a:lnTo>
                  <a:lnTo>
                    <a:pt x="5187315" y="78765"/>
                  </a:lnTo>
                  <a:lnTo>
                    <a:pt x="5188382" y="84442"/>
                  </a:lnTo>
                  <a:lnTo>
                    <a:pt x="5188382" y="61569"/>
                  </a:lnTo>
                  <a:lnTo>
                    <a:pt x="5159768" y="61569"/>
                  </a:lnTo>
                  <a:lnTo>
                    <a:pt x="5159768" y="231101"/>
                  </a:lnTo>
                  <a:lnTo>
                    <a:pt x="5195443" y="231101"/>
                  </a:lnTo>
                  <a:lnTo>
                    <a:pt x="5195443" y="99631"/>
                  </a:lnTo>
                  <a:lnTo>
                    <a:pt x="5196306" y="95948"/>
                  </a:lnTo>
                  <a:lnTo>
                    <a:pt x="5199812" y="91516"/>
                  </a:lnTo>
                  <a:lnTo>
                    <a:pt x="5202326" y="90385"/>
                  </a:lnTo>
                  <a:lnTo>
                    <a:pt x="5209044" y="90385"/>
                  </a:lnTo>
                  <a:lnTo>
                    <a:pt x="5211572" y="91516"/>
                  </a:lnTo>
                  <a:lnTo>
                    <a:pt x="5215267" y="95948"/>
                  </a:lnTo>
                  <a:lnTo>
                    <a:pt x="5216410" y="99631"/>
                  </a:lnTo>
                  <a:lnTo>
                    <a:pt x="5216512" y="231101"/>
                  </a:lnTo>
                  <a:lnTo>
                    <a:pt x="5249049" y="231101"/>
                  </a:lnTo>
                  <a:lnTo>
                    <a:pt x="5249062" y="99631"/>
                  </a:lnTo>
                  <a:lnTo>
                    <a:pt x="5250104" y="95948"/>
                  </a:lnTo>
                  <a:lnTo>
                    <a:pt x="5253875" y="91516"/>
                  </a:lnTo>
                  <a:lnTo>
                    <a:pt x="5256441" y="90385"/>
                  </a:lnTo>
                  <a:lnTo>
                    <a:pt x="5263159" y="90385"/>
                  </a:lnTo>
                  <a:lnTo>
                    <a:pt x="5265610" y="91516"/>
                  </a:lnTo>
                  <a:lnTo>
                    <a:pt x="5269001" y="95948"/>
                  </a:lnTo>
                  <a:lnTo>
                    <a:pt x="5270030" y="99631"/>
                  </a:lnTo>
                  <a:lnTo>
                    <a:pt x="5270106" y="231101"/>
                  </a:lnTo>
                  <a:lnTo>
                    <a:pt x="5305793" y="231101"/>
                  </a:lnTo>
                  <a:lnTo>
                    <a:pt x="5305793" y="105359"/>
                  </a:lnTo>
                  <a:close/>
                </a:path>
                <a:path w="5989955" h="283210">
                  <a:moveTo>
                    <a:pt x="5471439" y="123139"/>
                  </a:moveTo>
                  <a:lnTo>
                    <a:pt x="5462778" y="85864"/>
                  </a:lnTo>
                  <a:lnTo>
                    <a:pt x="5433796" y="61887"/>
                  </a:lnTo>
                  <a:lnTo>
                    <a:pt x="5433796" y="114134"/>
                  </a:lnTo>
                  <a:lnTo>
                    <a:pt x="5433796" y="178523"/>
                  </a:lnTo>
                  <a:lnTo>
                    <a:pt x="5431396" y="186499"/>
                  </a:lnTo>
                  <a:lnTo>
                    <a:pt x="5421871" y="196951"/>
                  </a:lnTo>
                  <a:lnTo>
                    <a:pt x="5414784" y="199682"/>
                  </a:lnTo>
                  <a:lnTo>
                    <a:pt x="5396649" y="199682"/>
                  </a:lnTo>
                  <a:lnTo>
                    <a:pt x="5389600" y="196951"/>
                  </a:lnTo>
                  <a:lnTo>
                    <a:pt x="5388686" y="195973"/>
                  </a:lnTo>
                  <a:lnTo>
                    <a:pt x="5384470" y="191490"/>
                  </a:lnTo>
                  <a:lnTo>
                    <a:pt x="5379390" y="185991"/>
                  </a:lnTo>
                  <a:lnTo>
                    <a:pt x="5376977" y="178523"/>
                  </a:lnTo>
                  <a:lnTo>
                    <a:pt x="5376977" y="114134"/>
                  </a:lnTo>
                  <a:lnTo>
                    <a:pt x="5379390" y="106692"/>
                  </a:lnTo>
                  <a:lnTo>
                    <a:pt x="5388254" y="97180"/>
                  </a:lnTo>
                  <a:lnTo>
                    <a:pt x="5388559" y="96850"/>
                  </a:lnTo>
                  <a:lnTo>
                    <a:pt x="5389905" y="95618"/>
                  </a:lnTo>
                  <a:lnTo>
                    <a:pt x="5396649" y="92976"/>
                  </a:lnTo>
                  <a:lnTo>
                    <a:pt x="5414784" y="92976"/>
                  </a:lnTo>
                  <a:lnTo>
                    <a:pt x="5421782" y="95618"/>
                  </a:lnTo>
                  <a:lnTo>
                    <a:pt x="5431396" y="106159"/>
                  </a:lnTo>
                  <a:lnTo>
                    <a:pt x="5433796" y="114134"/>
                  </a:lnTo>
                  <a:lnTo>
                    <a:pt x="5433796" y="61887"/>
                  </a:lnTo>
                  <a:lnTo>
                    <a:pt x="5426761" y="59804"/>
                  </a:lnTo>
                  <a:lnTo>
                    <a:pt x="5414213" y="58699"/>
                  </a:lnTo>
                  <a:lnTo>
                    <a:pt x="5404739" y="59334"/>
                  </a:lnTo>
                  <a:lnTo>
                    <a:pt x="5374614" y="75780"/>
                  </a:lnTo>
                  <a:lnTo>
                    <a:pt x="5376850" y="61569"/>
                  </a:lnTo>
                  <a:lnTo>
                    <a:pt x="5339207" y="61569"/>
                  </a:lnTo>
                  <a:lnTo>
                    <a:pt x="5339207" y="282663"/>
                  </a:lnTo>
                  <a:lnTo>
                    <a:pt x="5376850" y="282663"/>
                  </a:lnTo>
                  <a:lnTo>
                    <a:pt x="5376646" y="229552"/>
                  </a:lnTo>
                  <a:lnTo>
                    <a:pt x="5374627" y="216966"/>
                  </a:lnTo>
                  <a:lnTo>
                    <a:pt x="5375300" y="218160"/>
                  </a:lnTo>
                  <a:lnTo>
                    <a:pt x="5414213" y="233959"/>
                  </a:lnTo>
                  <a:lnTo>
                    <a:pt x="5426761" y="232867"/>
                  </a:lnTo>
                  <a:lnTo>
                    <a:pt x="5462778" y="206781"/>
                  </a:lnTo>
                  <a:lnTo>
                    <a:pt x="5471439" y="169240"/>
                  </a:lnTo>
                  <a:lnTo>
                    <a:pt x="5471439" y="123139"/>
                  </a:lnTo>
                  <a:close/>
                </a:path>
                <a:path w="5989955" h="283210">
                  <a:moveTo>
                    <a:pt x="5643397" y="124536"/>
                  </a:moveTo>
                  <a:lnTo>
                    <a:pt x="5633199" y="86131"/>
                  </a:lnTo>
                  <a:lnTo>
                    <a:pt x="5605754" y="63957"/>
                  </a:lnTo>
                  <a:lnTo>
                    <a:pt x="5605754" y="114363"/>
                  </a:lnTo>
                  <a:lnTo>
                    <a:pt x="5605754" y="178295"/>
                  </a:lnTo>
                  <a:lnTo>
                    <a:pt x="5603278" y="186131"/>
                  </a:lnTo>
                  <a:lnTo>
                    <a:pt x="5593435" y="196532"/>
                  </a:lnTo>
                  <a:lnTo>
                    <a:pt x="5586222" y="199123"/>
                  </a:lnTo>
                  <a:lnTo>
                    <a:pt x="5567146" y="199123"/>
                  </a:lnTo>
                  <a:lnTo>
                    <a:pt x="5559920" y="196532"/>
                  </a:lnTo>
                  <a:lnTo>
                    <a:pt x="5550128" y="186131"/>
                  </a:lnTo>
                  <a:lnTo>
                    <a:pt x="5547677" y="178295"/>
                  </a:lnTo>
                  <a:lnTo>
                    <a:pt x="5547677" y="114363"/>
                  </a:lnTo>
                  <a:lnTo>
                    <a:pt x="5550128" y="106553"/>
                  </a:lnTo>
                  <a:lnTo>
                    <a:pt x="5559920" y="96151"/>
                  </a:lnTo>
                  <a:lnTo>
                    <a:pt x="5567146" y="93535"/>
                  </a:lnTo>
                  <a:lnTo>
                    <a:pt x="5586222" y="93535"/>
                  </a:lnTo>
                  <a:lnTo>
                    <a:pt x="5593435" y="96151"/>
                  </a:lnTo>
                  <a:lnTo>
                    <a:pt x="5598338" y="101371"/>
                  </a:lnTo>
                  <a:lnTo>
                    <a:pt x="5603278" y="106553"/>
                  </a:lnTo>
                  <a:lnTo>
                    <a:pt x="5605754" y="63957"/>
                  </a:lnTo>
                  <a:lnTo>
                    <a:pt x="5576709" y="58699"/>
                  </a:lnTo>
                  <a:lnTo>
                    <a:pt x="5562206" y="59804"/>
                  </a:lnTo>
                  <a:lnTo>
                    <a:pt x="5520131" y="86131"/>
                  </a:lnTo>
                  <a:lnTo>
                    <a:pt x="5509984" y="124536"/>
                  </a:lnTo>
                  <a:lnTo>
                    <a:pt x="5509958" y="167843"/>
                  </a:lnTo>
                  <a:lnTo>
                    <a:pt x="5511089" y="182333"/>
                  </a:lnTo>
                  <a:lnTo>
                    <a:pt x="5537860" y="223964"/>
                  </a:lnTo>
                  <a:lnTo>
                    <a:pt x="5576709" y="233959"/>
                  </a:lnTo>
                  <a:lnTo>
                    <a:pt x="5591187" y="232854"/>
                  </a:lnTo>
                  <a:lnTo>
                    <a:pt x="5633199" y="206502"/>
                  </a:lnTo>
                  <a:lnTo>
                    <a:pt x="5643397" y="167843"/>
                  </a:lnTo>
                  <a:lnTo>
                    <a:pt x="5643397" y="124536"/>
                  </a:lnTo>
                  <a:close/>
                </a:path>
                <a:path w="5989955" h="283210">
                  <a:moveTo>
                    <a:pt x="5821642" y="122580"/>
                  </a:moveTo>
                  <a:lnTo>
                    <a:pt x="5812396" y="85559"/>
                  </a:lnTo>
                  <a:lnTo>
                    <a:pt x="5774309" y="59791"/>
                  </a:lnTo>
                  <a:lnTo>
                    <a:pt x="5761253" y="58699"/>
                  </a:lnTo>
                  <a:lnTo>
                    <a:pt x="5744261" y="61010"/>
                  </a:lnTo>
                  <a:lnTo>
                    <a:pt x="5731662" y="67932"/>
                  </a:lnTo>
                  <a:lnTo>
                    <a:pt x="5723471" y="79476"/>
                  </a:lnTo>
                  <a:lnTo>
                    <a:pt x="5719699" y="95643"/>
                  </a:lnTo>
                  <a:lnTo>
                    <a:pt x="5719788" y="95148"/>
                  </a:lnTo>
                  <a:lnTo>
                    <a:pt x="5725642" y="61569"/>
                  </a:lnTo>
                  <a:lnTo>
                    <a:pt x="5688558" y="61569"/>
                  </a:lnTo>
                  <a:lnTo>
                    <a:pt x="5688558" y="231101"/>
                  </a:lnTo>
                  <a:lnTo>
                    <a:pt x="5726201" y="231101"/>
                  </a:lnTo>
                  <a:lnTo>
                    <a:pt x="5726265" y="114134"/>
                  </a:lnTo>
                  <a:lnTo>
                    <a:pt x="5728741" y="106299"/>
                  </a:lnTo>
                  <a:lnTo>
                    <a:pt x="5738558" y="95643"/>
                  </a:lnTo>
                  <a:lnTo>
                    <a:pt x="5739079" y="95148"/>
                  </a:lnTo>
                  <a:lnTo>
                    <a:pt x="5746102" y="92417"/>
                  </a:lnTo>
                  <a:lnTo>
                    <a:pt x="5764568" y="92417"/>
                  </a:lnTo>
                  <a:lnTo>
                    <a:pt x="5771680" y="95148"/>
                  </a:lnTo>
                  <a:lnTo>
                    <a:pt x="5781522" y="106070"/>
                  </a:lnTo>
                  <a:lnTo>
                    <a:pt x="5781599" y="106299"/>
                  </a:lnTo>
                  <a:lnTo>
                    <a:pt x="5783999" y="114134"/>
                  </a:lnTo>
                  <a:lnTo>
                    <a:pt x="5783999" y="137972"/>
                  </a:lnTo>
                  <a:lnTo>
                    <a:pt x="5821642" y="137972"/>
                  </a:lnTo>
                  <a:lnTo>
                    <a:pt x="5821642" y="122580"/>
                  </a:lnTo>
                  <a:close/>
                </a:path>
                <a:path w="5989955" h="283210">
                  <a:moveTo>
                    <a:pt x="5989599" y="61569"/>
                  </a:moveTo>
                  <a:lnTo>
                    <a:pt x="5926556" y="61569"/>
                  </a:lnTo>
                  <a:lnTo>
                    <a:pt x="5926556" y="18605"/>
                  </a:lnTo>
                  <a:lnTo>
                    <a:pt x="5888850" y="18605"/>
                  </a:lnTo>
                  <a:lnTo>
                    <a:pt x="5888850" y="61569"/>
                  </a:lnTo>
                  <a:lnTo>
                    <a:pt x="5844425" y="61569"/>
                  </a:lnTo>
                  <a:lnTo>
                    <a:pt x="5844425" y="96964"/>
                  </a:lnTo>
                  <a:lnTo>
                    <a:pt x="5888850" y="96964"/>
                  </a:lnTo>
                  <a:lnTo>
                    <a:pt x="5888850" y="183591"/>
                  </a:lnTo>
                  <a:lnTo>
                    <a:pt x="5889663" y="194144"/>
                  </a:lnTo>
                  <a:lnTo>
                    <a:pt x="5917489" y="227952"/>
                  </a:lnTo>
                  <a:lnTo>
                    <a:pt x="5937821" y="231101"/>
                  </a:lnTo>
                  <a:lnTo>
                    <a:pt x="5986729" y="231101"/>
                  </a:lnTo>
                  <a:lnTo>
                    <a:pt x="5986729" y="195694"/>
                  </a:lnTo>
                  <a:lnTo>
                    <a:pt x="5933630" y="195694"/>
                  </a:lnTo>
                  <a:lnTo>
                    <a:pt x="5930684" y="194805"/>
                  </a:lnTo>
                  <a:lnTo>
                    <a:pt x="5927382" y="191262"/>
                  </a:lnTo>
                  <a:lnTo>
                    <a:pt x="5926556" y="188112"/>
                  </a:lnTo>
                  <a:lnTo>
                    <a:pt x="5926556" y="96964"/>
                  </a:lnTo>
                  <a:lnTo>
                    <a:pt x="5989599" y="96964"/>
                  </a:lnTo>
                  <a:lnTo>
                    <a:pt x="5989599" y="61569"/>
                  </a:lnTo>
                  <a:close/>
                </a:path>
              </a:pathLst>
            </a:custGeom>
            <a:solidFill>
              <a:srgbClr val="007BB5"/>
            </a:solidFill>
          </p:spPr>
          <p:txBody>
            <a:bodyPr wrap="square" lIns="0" tIns="0" rIns="0" bIns="0" rtlCol="0"/>
            <a:lstStyle/>
            <a:p>
              <a:endParaRPr/>
            </a:p>
          </p:txBody>
        </p:sp>
      </p:grpSp>
      <p:sp>
        <p:nvSpPr>
          <p:cNvPr id="6" name="object 6"/>
          <p:cNvSpPr txBox="1"/>
          <p:nvPr/>
        </p:nvSpPr>
        <p:spPr>
          <a:xfrm>
            <a:off x="642352" y="1231899"/>
            <a:ext cx="9998075" cy="1990725"/>
          </a:xfrm>
          <a:prstGeom prst="rect">
            <a:avLst/>
          </a:prstGeom>
        </p:spPr>
        <p:txBody>
          <a:bodyPr vert="horz" wrap="square" lIns="0" tIns="12065" rIns="0" bIns="0" rtlCol="0">
            <a:spAutoFit/>
          </a:bodyPr>
          <a:lstStyle/>
          <a:p>
            <a:pPr marL="12700" marR="5080" indent="859155">
              <a:lnSpc>
                <a:spcPct val="143300"/>
              </a:lnSpc>
              <a:spcBef>
                <a:spcPts val="95"/>
              </a:spcBef>
              <a:tabLst>
                <a:tab pos="6202045" algn="l"/>
              </a:tabLst>
            </a:pPr>
            <a:r>
              <a:rPr sz="2250" spc="-10" dirty="0">
                <a:solidFill>
                  <a:srgbClr val="04182D"/>
                </a:solidFill>
                <a:latin typeface="Courier New"/>
                <a:cs typeface="Courier New"/>
              </a:rPr>
              <a:t>sklearn.model_selection</a:t>
            </a:r>
            <a:r>
              <a:rPr sz="2250" dirty="0">
                <a:solidFill>
                  <a:srgbClr val="04182D"/>
                </a:solidFill>
                <a:latin typeface="Courier New"/>
                <a:cs typeface="Courier New"/>
              </a:rPr>
              <a:t>	cross_val_score, </a:t>
            </a:r>
            <a:r>
              <a:rPr sz="2250" spc="-10" dirty="0">
                <a:solidFill>
                  <a:srgbClr val="04182D"/>
                </a:solidFill>
                <a:latin typeface="Courier New"/>
                <a:cs typeface="Courier New"/>
              </a:rPr>
              <a:t>KFold </a:t>
            </a:r>
            <a:r>
              <a:rPr sz="2250" dirty="0">
                <a:solidFill>
                  <a:srgbClr val="04182D"/>
                </a:solidFill>
                <a:latin typeface="Courier New"/>
                <a:cs typeface="Courier New"/>
              </a:rPr>
              <a:t>kf</a:t>
            </a:r>
            <a:r>
              <a:rPr sz="2250" spc="-15" dirty="0">
                <a:solidFill>
                  <a:srgbClr val="04182D"/>
                </a:solidFill>
                <a:latin typeface="Courier New"/>
                <a:cs typeface="Courier New"/>
              </a:rPr>
              <a:t> </a:t>
            </a:r>
            <a:r>
              <a:rPr sz="2250" dirty="0">
                <a:solidFill>
                  <a:srgbClr val="04182D"/>
                </a:solidFill>
                <a:latin typeface="Courier New"/>
                <a:cs typeface="Courier New"/>
              </a:rPr>
              <a:t>=</a:t>
            </a:r>
            <a:r>
              <a:rPr sz="2250" spc="-5" dirty="0">
                <a:solidFill>
                  <a:srgbClr val="04182D"/>
                </a:solidFill>
                <a:latin typeface="Courier New"/>
                <a:cs typeface="Courier New"/>
              </a:rPr>
              <a:t> </a:t>
            </a:r>
            <a:r>
              <a:rPr sz="2250" dirty="0">
                <a:solidFill>
                  <a:srgbClr val="04182D"/>
                </a:solidFill>
                <a:latin typeface="Courier New"/>
                <a:cs typeface="Courier New"/>
              </a:rPr>
              <a:t>KFold(n_splits=</a:t>
            </a:r>
            <a:r>
              <a:rPr sz="2250" dirty="0">
                <a:solidFill>
                  <a:srgbClr val="BE2F72"/>
                </a:solidFill>
                <a:latin typeface="Courier New"/>
                <a:cs typeface="Courier New"/>
              </a:rPr>
              <a:t>6</a:t>
            </a:r>
            <a:r>
              <a:rPr sz="2250" dirty="0">
                <a:solidFill>
                  <a:srgbClr val="04182D"/>
                </a:solidFill>
                <a:latin typeface="Courier New"/>
                <a:cs typeface="Courier New"/>
              </a:rPr>
              <a:t>,</a:t>
            </a:r>
            <a:r>
              <a:rPr sz="2250" spc="-5" dirty="0">
                <a:solidFill>
                  <a:srgbClr val="04182D"/>
                </a:solidFill>
                <a:latin typeface="Courier New"/>
                <a:cs typeface="Courier New"/>
              </a:rPr>
              <a:t> </a:t>
            </a:r>
            <a:r>
              <a:rPr sz="2250" dirty="0">
                <a:solidFill>
                  <a:srgbClr val="04182D"/>
                </a:solidFill>
                <a:latin typeface="Courier New"/>
                <a:cs typeface="Courier New"/>
              </a:rPr>
              <a:t>shuffle=</a:t>
            </a:r>
            <a:r>
              <a:rPr sz="2250" dirty="0">
                <a:solidFill>
                  <a:srgbClr val="BE2F72"/>
                </a:solidFill>
                <a:latin typeface="Courier New"/>
                <a:cs typeface="Courier New"/>
              </a:rPr>
              <a:t>True</a:t>
            </a:r>
            <a:r>
              <a:rPr sz="2250" dirty="0">
                <a:solidFill>
                  <a:srgbClr val="04182D"/>
                </a:solidFill>
                <a:latin typeface="Courier New"/>
                <a:cs typeface="Courier New"/>
              </a:rPr>
              <a:t>,</a:t>
            </a:r>
            <a:r>
              <a:rPr sz="2250" spc="-5" dirty="0">
                <a:solidFill>
                  <a:srgbClr val="04182D"/>
                </a:solidFill>
                <a:latin typeface="Courier New"/>
                <a:cs typeface="Courier New"/>
              </a:rPr>
              <a:t> </a:t>
            </a:r>
            <a:r>
              <a:rPr sz="2250" spc="-10" dirty="0">
                <a:solidFill>
                  <a:srgbClr val="04182D"/>
                </a:solidFill>
                <a:latin typeface="Courier New"/>
                <a:cs typeface="Courier New"/>
              </a:rPr>
              <a:t>random_state=</a:t>
            </a:r>
            <a:r>
              <a:rPr sz="2250" spc="-10" dirty="0">
                <a:solidFill>
                  <a:srgbClr val="BE2F72"/>
                </a:solidFill>
                <a:latin typeface="Courier New"/>
                <a:cs typeface="Courier New"/>
              </a:rPr>
              <a:t>42</a:t>
            </a:r>
            <a:r>
              <a:rPr sz="2250" spc="-10" dirty="0">
                <a:solidFill>
                  <a:srgbClr val="04182D"/>
                </a:solidFill>
                <a:latin typeface="Courier New"/>
                <a:cs typeface="Courier New"/>
              </a:rPr>
              <a:t>)</a:t>
            </a:r>
            <a:endParaRPr sz="2250" dirty="0">
              <a:latin typeface="Courier New"/>
              <a:cs typeface="Courier New"/>
            </a:endParaRPr>
          </a:p>
          <a:p>
            <a:pPr marL="12700">
              <a:lnSpc>
                <a:spcPct val="100000"/>
              </a:lnSpc>
              <a:spcBef>
                <a:spcPts val="1170"/>
              </a:spcBef>
            </a:pPr>
            <a:r>
              <a:rPr sz="2250" dirty="0">
                <a:solidFill>
                  <a:srgbClr val="04182D"/>
                </a:solidFill>
                <a:latin typeface="Courier New"/>
                <a:cs typeface="Courier New"/>
              </a:rPr>
              <a:t>reg = </a:t>
            </a:r>
            <a:r>
              <a:rPr sz="2250" spc="-10" dirty="0">
                <a:solidFill>
                  <a:srgbClr val="04182D"/>
                </a:solidFill>
                <a:latin typeface="Courier New"/>
                <a:cs typeface="Courier New"/>
              </a:rPr>
              <a:t>LinearRegression()</a:t>
            </a:r>
            <a:endParaRPr sz="2250" dirty="0">
              <a:latin typeface="Courier New"/>
              <a:cs typeface="Courier New"/>
            </a:endParaRPr>
          </a:p>
          <a:p>
            <a:pPr marL="12700">
              <a:lnSpc>
                <a:spcPct val="100000"/>
              </a:lnSpc>
              <a:spcBef>
                <a:spcPts val="1170"/>
              </a:spcBef>
            </a:pPr>
            <a:r>
              <a:rPr sz="2250" dirty="0">
                <a:solidFill>
                  <a:srgbClr val="04182D"/>
                </a:solidFill>
                <a:latin typeface="Courier New"/>
                <a:cs typeface="Courier New"/>
              </a:rPr>
              <a:t>cv_results = cross_val_score(reg, X, y, </a:t>
            </a:r>
            <a:r>
              <a:rPr sz="2250" spc="-10" dirty="0">
                <a:solidFill>
                  <a:srgbClr val="04182D"/>
                </a:solidFill>
                <a:latin typeface="Courier New"/>
                <a:cs typeface="Courier New"/>
              </a:rPr>
              <a:t>cv=kf)</a:t>
            </a:r>
            <a:endParaRPr sz="2250" dirty="0">
              <a:latin typeface="Courier New"/>
              <a:cs typeface="Courier New"/>
            </a:endParaRPr>
          </a:p>
        </p:txBody>
      </p:sp>
      <p:sp>
        <p:nvSpPr>
          <p:cNvPr id="10" name="슬라이드 번호 개체 틀 9">
            <a:extLst>
              <a:ext uri="{FF2B5EF4-FFF2-40B4-BE49-F238E27FC236}">
                <a16:creationId xmlns:a16="http://schemas.microsoft.com/office/drawing/2014/main" id="{FF079A16-3F45-C848-B481-ACC3D9A703AC}"/>
              </a:ext>
            </a:extLst>
          </p:cNvPr>
          <p:cNvSpPr>
            <a:spLocks noGrp="1"/>
          </p:cNvSpPr>
          <p:nvPr>
            <p:ph type="sldNum" sz="quarter" idx="7"/>
          </p:nvPr>
        </p:nvSpPr>
        <p:spPr/>
        <p:txBody>
          <a:bodyPr/>
          <a:lstStyle/>
          <a:p>
            <a:fld id="{B6F15528-21DE-4FAA-801E-634DDDAF4B2B}" type="slidenum">
              <a:rPr lang="en-US" altLang="ko-KR" smtClean="0"/>
              <a:t>27</a:t>
            </a:fld>
            <a:endParaRPr lang="en-US" altLang="ko-KR"/>
          </a:p>
        </p:txBody>
      </p:sp>
      <p:sp>
        <p:nvSpPr>
          <p:cNvPr id="11" name="Rectangle 1">
            <a:extLst>
              <a:ext uri="{FF2B5EF4-FFF2-40B4-BE49-F238E27FC236}">
                <a16:creationId xmlns:a16="http://schemas.microsoft.com/office/drawing/2014/main" id="{9A0E8794-BD39-3AEA-AE8D-CC840696C8C6}"/>
              </a:ext>
            </a:extLst>
          </p:cNvPr>
          <p:cNvSpPr>
            <a:spLocks noChangeArrowheads="1"/>
          </p:cNvSpPr>
          <p:nvPr/>
        </p:nvSpPr>
        <p:spPr bwMode="auto">
          <a:xfrm>
            <a:off x="311150" y="4252437"/>
            <a:ext cx="902041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b="1" i="0" u="none" strike="noStrike" cap="none" normalizeH="0" baseline="0" dirty="0" err="1">
                <a:ln>
                  <a:noFill/>
                </a:ln>
                <a:solidFill>
                  <a:schemeClr val="tx1"/>
                </a:solidFill>
                <a:effectLst/>
                <a:latin typeface="Arial Unicode MS"/>
              </a:rPr>
              <a:t>shuffle</a:t>
            </a:r>
            <a:r>
              <a:rPr kumimoji="0" lang="ko-KR" altLang="ko-KR" b="1" i="0" u="none" strike="noStrike" cap="none" normalizeH="0" baseline="0" dirty="0">
                <a:ln>
                  <a:noFill/>
                </a:ln>
                <a:solidFill>
                  <a:schemeClr val="tx1"/>
                </a:solidFill>
                <a:effectLst/>
                <a:latin typeface="Arial Unicode MS"/>
              </a:rPr>
              <a:t>=</a:t>
            </a:r>
            <a:r>
              <a:rPr kumimoji="0" lang="ko-KR" altLang="ko-KR" b="1" i="0" u="none" strike="noStrike" cap="none" normalizeH="0" baseline="0" dirty="0" err="1">
                <a:ln>
                  <a:noFill/>
                </a:ln>
                <a:solidFill>
                  <a:schemeClr val="tx1"/>
                </a:solidFill>
                <a:effectLst/>
                <a:latin typeface="Arial Unicode MS"/>
              </a:rPr>
              <a:t>True</a:t>
            </a:r>
            <a:r>
              <a:rPr kumimoji="0" lang="ko-KR" altLang="ko-KR" b="0" i="0" u="none" strike="noStrike" cap="none" normalizeH="0" baseline="0" dirty="0">
                <a:ln>
                  <a:noFill/>
                </a:ln>
                <a:solidFill>
                  <a:schemeClr val="tx1"/>
                </a:solidFill>
                <a:effectLst/>
              </a:rPr>
              <a:t>:</a:t>
            </a:r>
            <a:endParaRPr kumimoji="0" lang="ko-KR" altLang="ko-KR"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ko-KR" altLang="ko-KR" b="0" i="0" u="none" strike="noStrike" cap="none" normalizeH="0" baseline="0" dirty="0" err="1">
                <a:ln>
                  <a:noFill/>
                </a:ln>
                <a:solidFill>
                  <a:schemeClr val="tx1"/>
                </a:solidFill>
                <a:effectLst/>
                <a:latin typeface="Arial" panose="020B0604020202020204" pitchFamily="34" charset="0"/>
              </a:rPr>
              <a:t>Randomly</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shuffles</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the</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data</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before</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splitting</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it</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into</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folds</a:t>
            </a:r>
            <a:r>
              <a:rPr kumimoji="0" lang="ko-KR" altLang="ko-KR"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ko-KR" altLang="ko-KR" b="0" i="0" u="none" strike="noStrike" cap="none" normalizeH="0" baseline="0" dirty="0" err="1">
                <a:ln>
                  <a:noFill/>
                </a:ln>
                <a:solidFill>
                  <a:schemeClr val="tx1"/>
                </a:solidFill>
                <a:effectLst/>
                <a:latin typeface="Arial" panose="020B0604020202020204" pitchFamily="34" charset="0"/>
              </a:rPr>
              <a:t>This</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ensures</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that</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the</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data</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is</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not</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divided</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in</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the</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same</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order</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as</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it</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appears</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in</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the</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dataset</a:t>
            </a:r>
            <a:r>
              <a:rPr kumimoji="0" lang="ko-KR" altLang="ko-KR" b="0" i="0" u="none" strike="noStrike" cap="none" normalizeH="0" baseline="0" dirty="0">
                <a:ln>
                  <a:noFill/>
                </a:ln>
                <a:solidFill>
                  <a:schemeClr val="tx1"/>
                </a:solidFill>
                <a:effectLst/>
                <a:latin typeface="Arial" panose="020B0604020202020204" pitchFamily="34" charset="0"/>
              </a:rPr>
              <a:t>,</a:t>
            </a:r>
            <a:endParaRPr kumimoji="0" lang="en-US" altLang="ko-KR"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ko-KR" dirty="0">
                <a:solidFill>
                  <a:schemeClr val="tx1"/>
                </a:solidFill>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which</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can</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improve</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the</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robustness</a:t>
            </a:r>
            <a:r>
              <a:rPr kumimoji="0" lang="ko-KR" altLang="ko-KR" b="0" i="0" u="none" strike="noStrike" cap="none" normalizeH="0" baseline="0" dirty="0">
                <a:ln>
                  <a:noFill/>
                </a:ln>
                <a:solidFill>
                  <a:schemeClr val="tx1"/>
                </a:solidFill>
                <a:effectLst/>
                <a:latin typeface="Arial" panose="020B0604020202020204" pitchFamily="34" charset="0"/>
              </a:rPr>
              <a:t> of </a:t>
            </a:r>
            <a:r>
              <a:rPr kumimoji="0" lang="ko-KR" altLang="ko-KR" b="0" i="0" u="none" strike="noStrike" cap="none" normalizeH="0" baseline="0" dirty="0" err="1">
                <a:ln>
                  <a:noFill/>
                </a:ln>
                <a:solidFill>
                  <a:schemeClr val="tx1"/>
                </a:solidFill>
                <a:effectLst/>
                <a:latin typeface="Arial" panose="020B0604020202020204" pitchFamily="34" charset="0"/>
              </a:rPr>
              <a:t>the</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cross-validation</a:t>
            </a:r>
            <a:r>
              <a:rPr kumimoji="0" lang="ko-KR" altLang="ko-KR"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err="1">
                <a:ln>
                  <a:noFill/>
                </a:ln>
                <a:solidFill>
                  <a:schemeClr val="tx1"/>
                </a:solidFill>
                <a:effectLst/>
                <a:latin typeface="Arial" panose="020B0604020202020204" pitchFamily="34" charset="0"/>
              </a:rPr>
              <a:t>process</a:t>
            </a:r>
            <a:r>
              <a:rPr kumimoji="0" lang="ko-KR" altLang="ko-KR"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ko-KR"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8589" y="273885"/>
            <a:ext cx="10488295" cy="713740"/>
          </a:xfrm>
          <a:prstGeom prst="rect">
            <a:avLst/>
          </a:prstGeom>
        </p:spPr>
        <p:txBody>
          <a:bodyPr vert="horz" wrap="square" lIns="0" tIns="13970" rIns="0" bIns="0" rtlCol="0">
            <a:spAutoFit/>
          </a:bodyPr>
          <a:lstStyle/>
          <a:p>
            <a:pPr marL="12700">
              <a:lnSpc>
                <a:spcPct val="100000"/>
              </a:lnSpc>
              <a:spcBef>
                <a:spcPts val="110"/>
              </a:spcBef>
            </a:pPr>
            <a:r>
              <a:rPr spc="-215" dirty="0"/>
              <a:t>Evaluating</a:t>
            </a:r>
            <a:r>
              <a:rPr spc="-70" dirty="0"/>
              <a:t> </a:t>
            </a:r>
            <a:r>
              <a:rPr spc="-250" dirty="0"/>
              <a:t>cross-</a:t>
            </a:r>
            <a:r>
              <a:rPr spc="-225" dirty="0"/>
              <a:t>validation</a:t>
            </a:r>
            <a:r>
              <a:rPr spc="-65" dirty="0"/>
              <a:t> </a:t>
            </a:r>
            <a:r>
              <a:rPr spc="-114" dirty="0"/>
              <a:t>peformance</a:t>
            </a:r>
          </a:p>
        </p:txBody>
      </p:sp>
      <p:sp>
        <p:nvSpPr>
          <p:cNvPr id="3" name="object 3"/>
          <p:cNvSpPr/>
          <p:nvPr/>
        </p:nvSpPr>
        <p:spPr>
          <a:xfrm>
            <a:off x="491289" y="1166812"/>
            <a:ext cx="14575155" cy="819150"/>
          </a:xfrm>
          <a:custGeom>
            <a:avLst/>
            <a:gdLst/>
            <a:ahLst/>
            <a:cxnLst/>
            <a:rect l="l" t="t" r="r" b="b"/>
            <a:pathLst>
              <a:path w="14575155" h="819150">
                <a:moveTo>
                  <a:pt x="14498413" y="818815"/>
                </a:moveTo>
                <a:lnTo>
                  <a:pt x="76505" y="818815"/>
                </a:lnTo>
                <a:lnTo>
                  <a:pt x="71180" y="818291"/>
                </a:lnTo>
                <a:lnTo>
                  <a:pt x="31920" y="802028"/>
                </a:lnTo>
                <a:lnTo>
                  <a:pt x="4175" y="763301"/>
                </a:lnTo>
                <a:lnTo>
                  <a:pt x="0" y="742310"/>
                </a:lnTo>
                <a:lnTo>
                  <a:pt x="0" y="736934"/>
                </a:lnTo>
                <a:lnTo>
                  <a:pt x="0" y="76505"/>
                </a:lnTo>
                <a:lnTo>
                  <a:pt x="16786" y="31920"/>
                </a:lnTo>
                <a:lnTo>
                  <a:pt x="55513" y="4175"/>
                </a:lnTo>
                <a:lnTo>
                  <a:pt x="76505" y="0"/>
                </a:lnTo>
                <a:lnTo>
                  <a:pt x="14498413" y="0"/>
                </a:lnTo>
                <a:lnTo>
                  <a:pt x="14542998" y="16786"/>
                </a:lnTo>
                <a:lnTo>
                  <a:pt x="14570742" y="55513"/>
                </a:lnTo>
                <a:lnTo>
                  <a:pt x="14574918" y="76505"/>
                </a:lnTo>
                <a:lnTo>
                  <a:pt x="14574918" y="742310"/>
                </a:lnTo>
                <a:lnTo>
                  <a:pt x="14558132" y="786895"/>
                </a:lnTo>
                <a:lnTo>
                  <a:pt x="14519404" y="814639"/>
                </a:lnTo>
                <a:lnTo>
                  <a:pt x="14503737" y="818291"/>
                </a:lnTo>
                <a:lnTo>
                  <a:pt x="14498413" y="818815"/>
                </a:lnTo>
                <a:close/>
              </a:path>
            </a:pathLst>
          </a:custGeom>
          <a:solidFill>
            <a:srgbClr val="F6F2EB"/>
          </a:solidFill>
        </p:spPr>
        <p:txBody>
          <a:bodyPr wrap="square" lIns="0" tIns="0" rIns="0" bIns="0" rtlCol="0"/>
          <a:lstStyle/>
          <a:p>
            <a:endParaRPr/>
          </a:p>
        </p:txBody>
      </p:sp>
      <p:sp>
        <p:nvSpPr>
          <p:cNvPr id="4" name="object 4"/>
          <p:cNvSpPr/>
          <p:nvPr/>
        </p:nvSpPr>
        <p:spPr>
          <a:xfrm>
            <a:off x="491289" y="2231272"/>
            <a:ext cx="14575155" cy="819150"/>
          </a:xfrm>
          <a:custGeom>
            <a:avLst/>
            <a:gdLst/>
            <a:ahLst/>
            <a:cxnLst/>
            <a:rect l="l" t="t" r="r" b="b"/>
            <a:pathLst>
              <a:path w="14575155" h="819150">
                <a:moveTo>
                  <a:pt x="14498413" y="818815"/>
                </a:moveTo>
                <a:lnTo>
                  <a:pt x="76505" y="818815"/>
                </a:lnTo>
                <a:lnTo>
                  <a:pt x="71180" y="818290"/>
                </a:lnTo>
                <a:lnTo>
                  <a:pt x="31920" y="802028"/>
                </a:lnTo>
                <a:lnTo>
                  <a:pt x="4175" y="763300"/>
                </a:lnTo>
                <a:lnTo>
                  <a:pt x="0" y="742310"/>
                </a:lnTo>
                <a:lnTo>
                  <a:pt x="0" y="736933"/>
                </a:lnTo>
                <a:lnTo>
                  <a:pt x="0" y="76505"/>
                </a:lnTo>
                <a:lnTo>
                  <a:pt x="16786" y="31919"/>
                </a:lnTo>
                <a:lnTo>
                  <a:pt x="55513" y="4175"/>
                </a:lnTo>
                <a:lnTo>
                  <a:pt x="76505" y="0"/>
                </a:lnTo>
                <a:lnTo>
                  <a:pt x="14498413" y="0"/>
                </a:lnTo>
                <a:lnTo>
                  <a:pt x="14542998" y="16786"/>
                </a:lnTo>
                <a:lnTo>
                  <a:pt x="14570742" y="55513"/>
                </a:lnTo>
                <a:lnTo>
                  <a:pt x="14574918" y="76505"/>
                </a:lnTo>
                <a:lnTo>
                  <a:pt x="14574918" y="742310"/>
                </a:lnTo>
                <a:lnTo>
                  <a:pt x="14558132" y="786894"/>
                </a:lnTo>
                <a:lnTo>
                  <a:pt x="14519404" y="814639"/>
                </a:lnTo>
                <a:lnTo>
                  <a:pt x="14503737" y="818290"/>
                </a:lnTo>
                <a:lnTo>
                  <a:pt x="14498413" y="818815"/>
                </a:lnTo>
                <a:close/>
              </a:path>
            </a:pathLst>
          </a:custGeom>
          <a:solidFill>
            <a:srgbClr val="04182D"/>
          </a:solidFill>
        </p:spPr>
        <p:txBody>
          <a:bodyPr wrap="square" lIns="0" tIns="0" rIns="0" bIns="0" rtlCol="0"/>
          <a:lstStyle/>
          <a:p>
            <a:endParaRPr/>
          </a:p>
        </p:txBody>
      </p:sp>
      <p:sp>
        <p:nvSpPr>
          <p:cNvPr id="5" name="object 5"/>
          <p:cNvSpPr/>
          <p:nvPr/>
        </p:nvSpPr>
        <p:spPr>
          <a:xfrm>
            <a:off x="491289" y="3295733"/>
            <a:ext cx="14575155" cy="819150"/>
          </a:xfrm>
          <a:custGeom>
            <a:avLst/>
            <a:gdLst/>
            <a:ahLst/>
            <a:cxnLst/>
            <a:rect l="l" t="t" r="r" b="b"/>
            <a:pathLst>
              <a:path w="14575155" h="819150">
                <a:moveTo>
                  <a:pt x="14498413" y="818815"/>
                </a:moveTo>
                <a:lnTo>
                  <a:pt x="76505" y="818815"/>
                </a:lnTo>
                <a:lnTo>
                  <a:pt x="71180" y="818291"/>
                </a:lnTo>
                <a:lnTo>
                  <a:pt x="31920" y="802029"/>
                </a:lnTo>
                <a:lnTo>
                  <a:pt x="4175" y="763301"/>
                </a:lnTo>
                <a:lnTo>
                  <a:pt x="0" y="742310"/>
                </a:lnTo>
                <a:lnTo>
                  <a:pt x="0" y="736934"/>
                </a:lnTo>
                <a:lnTo>
                  <a:pt x="0" y="76505"/>
                </a:lnTo>
                <a:lnTo>
                  <a:pt x="16786" y="31919"/>
                </a:lnTo>
                <a:lnTo>
                  <a:pt x="55513" y="4174"/>
                </a:lnTo>
                <a:lnTo>
                  <a:pt x="76505" y="0"/>
                </a:lnTo>
                <a:lnTo>
                  <a:pt x="14498413" y="0"/>
                </a:lnTo>
                <a:lnTo>
                  <a:pt x="14542998" y="16786"/>
                </a:lnTo>
                <a:lnTo>
                  <a:pt x="14570742" y="55513"/>
                </a:lnTo>
                <a:lnTo>
                  <a:pt x="14574918" y="76505"/>
                </a:lnTo>
                <a:lnTo>
                  <a:pt x="14574918" y="742310"/>
                </a:lnTo>
                <a:lnTo>
                  <a:pt x="14558132" y="786895"/>
                </a:lnTo>
                <a:lnTo>
                  <a:pt x="14519404" y="814640"/>
                </a:lnTo>
                <a:lnTo>
                  <a:pt x="14503737" y="818291"/>
                </a:lnTo>
                <a:lnTo>
                  <a:pt x="14498413" y="818815"/>
                </a:lnTo>
                <a:close/>
              </a:path>
            </a:pathLst>
          </a:custGeom>
          <a:solidFill>
            <a:srgbClr val="F6F2EB"/>
          </a:solidFill>
        </p:spPr>
        <p:txBody>
          <a:bodyPr wrap="square" lIns="0" tIns="0" rIns="0" bIns="0" rtlCol="0"/>
          <a:lstStyle/>
          <a:p>
            <a:endParaRPr/>
          </a:p>
        </p:txBody>
      </p:sp>
      <p:sp>
        <p:nvSpPr>
          <p:cNvPr id="6" name="object 6"/>
          <p:cNvSpPr/>
          <p:nvPr/>
        </p:nvSpPr>
        <p:spPr>
          <a:xfrm>
            <a:off x="491289" y="4360193"/>
            <a:ext cx="14575155" cy="819150"/>
          </a:xfrm>
          <a:custGeom>
            <a:avLst/>
            <a:gdLst/>
            <a:ahLst/>
            <a:cxnLst/>
            <a:rect l="l" t="t" r="r" b="b"/>
            <a:pathLst>
              <a:path w="14575155" h="819150">
                <a:moveTo>
                  <a:pt x="14498413" y="818815"/>
                </a:moveTo>
                <a:lnTo>
                  <a:pt x="76505" y="818815"/>
                </a:lnTo>
                <a:lnTo>
                  <a:pt x="71180" y="818291"/>
                </a:lnTo>
                <a:lnTo>
                  <a:pt x="31920" y="802028"/>
                </a:lnTo>
                <a:lnTo>
                  <a:pt x="4175" y="763301"/>
                </a:lnTo>
                <a:lnTo>
                  <a:pt x="0" y="742310"/>
                </a:lnTo>
                <a:lnTo>
                  <a:pt x="0" y="736934"/>
                </a:lnTo>
                <a:lnTo>
                  <a:pt x="0" y="76505"/>
                </a:lnTo>
                <a:lnTo>
                  <a:pt x="16786" y="31920"/>
                </a:lnTo>
                <a:lnTo>
                  <a:pt x="55513" y="4174"/>
                </a:lnTo>
                <a:lnTo>
                  <a:pt x="76505" y="0"/>
                </a:lnTo>
                <a:lnTo>
                  <a:pt x="14498413" y="0"/>
                </a:lnTo>
                <a:lnTo>
                  <a:pt x="14542998" y="16786"/>
                </a:lnTo>
                <a:lnTo>
                  <a:pt x="14570742" y="55513"/>
                </a:lnTo>
                <a:lnTo>
                  <a:pt x="14574918" y="76505"/>
                </a:lnTo>
                <a:lnTo>
                  <a:pt x="14574918" y="742310"/>
                </a:lnTo>
                <a:lnTo>
                  <a:pt x="14558132" y="786894"/>
                </a:lnTo>
                <a:lnTo>
                  <a:pt x="14519404" y="814639"/>
                </a:lnTo>
                <a:lnTo>
                  <a:pt x="14503737" y="818291"/>
                </a:lnTo>
                <a:lnTo>
                  <a:pt x="14498413" y="818815"/>
                </a:lnTo>
                <a:close/>
              </a:path>
            </a:pathLst>
          </a:custGeom>
          <a:solidFill>
            <a:srgbClr val="04182D"/>
          </a:solidFill>
        </p:spPr>
        <p:txBody>
          <a:bodyPr wrap="square" lIns="0" tIns="0" rIns="0" bIns="0" rtlCol="0"/>
          <a:lstStyle/>
          <a:p>
            <a:endParaRPr/>
          </a:p>
        </p:txBody>
      </p:sp>
      <p:sp>
        <p:nvSpPr>
          <p:cNvPr id="7" name="object 7"/>
          <p:cNvSpPr/>
          <p:nvPr/>
        </p:nvSpPr>
        <p:spPr>
          <a:xfrm>
            <a:off x="491289" y="5424654"/>
            <a:ext cx="14575155" cy="819150"/>
          </a:xfrm>
          <a:custGeom>
            <a:avLst/>
            <a:gdLst/>
            <a:ahLst/>
            <a:cxnLst/>
            <a:rect l="l" t="t" r="r" b="b"/>
            <a:pathLst>
              <a:path w="14575155" h="819150">
                <a:moveTo>
                  <a:pt x="14498413" y="818815"/>
                </a:moveTo>
                <a:lnTo>
                  <a:pt x="76505" y="818815"/>
                </a:lnTo>
                <a:lnTo>
                  <a:pt x="71180" y="818291"/>
                </a:lnTo>
                <a:lnTo>
                  <a:pt x="31920" y="802029"/>
                </a:lnTo>
                <a:lnTo>
                  <a:pt x="4175" y="763301"/>
                </a:lnTo>
                <a:lnTo>
                  <a:pt x="0" y="742310"/>
                </a:lnTo>
                <a:lnTo>
                  <a:pt x="0" y="736934"/>
                </a:lnTo>
                <a:lnTo>
                  <a:pt x="0" y="76504"/>
                </a:lnTo>
                <a:lnTo>
                  <a:pt x="16786" y="31920"/>
                </a:lnTo>
                <a:lnTo>
                  <a:pt x="55513" y="4175"/>
                </a:lnTo>
                <a:lnTo>
                  <a:pt x="76505" y="0"/>
                </a:lnTo>
                <a:lnTo>
                  <a:pt x="14498413" y="0"/>
                </a:lnTo>
                <a:lnTo>
                  <a:pt x="14542998" y="16785"/>
                </a:lnTo>
                <a:lnTo>
                  <a:pt x="14570742" y="55513"/>
                </a:lnTo>
                <a:lnTo>
                  <a:pt x="14574918" y="76504"/>
                </a:lnTo>
                <a:lnTo>
                  <a:pt x="14574918" y="742310"/>
                </a:lnTo>
                <a:lnTo>
                  <a:pt x="14558132" y="786894"/>
                </a:lnTo>
                <a:lnTo>
                  <a:pt x="14519404" y="814640"/>
                </a:lnTo>
                <a:lnTo>
                  <a:pt x="14503737" y="818291"/>
                </a:lnTo>
                <a:lnTo>
                  <a:pt x="14498413" y="818815"/>
                </a:lnTo>
                <a:close/>
              </a:path>
            </a:pathLst>
          </a:custGeom>
          <a:solidFill>
            <a:srgbClr val="F6F2EB"/>
          </a:solidFill>
        </p:spPr>
        <p:txBody>
          <a:bodyPr wrap="square" lIns="0" tIns="0" rIns="0" bIns="0" rtlCol="0"/>
          <a:lstStyle/>
          <a:p>
            <a:endParaRPr/>
          </a:p>
        </p:txBody>
      </p:sp>
      <p:sp>
        <p:nvSpPr>
          <p:cNvPr id="8" name="object 8"/>
          <p:cNvSpPr/>
          <p:nvPr/>
        </p:nvSpPr>
        <p:spPr>
          <a:xfrm>
            <a:off x="491289" y="6489114"/>
            <a:ext cx="14575155" cy="819150"/>
          </a:xfrm>
          <a:custGeom>
            <a:avLst/>
            <a:gdLst/>
            <a:ahLst/>
            <a:cxnLst/>
            <a:rect l="l" t="t" r="r" b="b"/>
            <a:pathLst>
              <a:path w="14575155" h="819150">
                <a:moveTo>
                  <a:pt x="14498413" y="818815"/>
                </a:moveTo>
                <a:lnTo>
                  <a:pt x="76505" y="818815"/>
                </a:lnTo>
                <a:lnTo>
                  <a:pt x="71180" y="818290"/>
                </a:lnTo>
                <a:lnTo>
                  <a:pt x="31920" y="802028"/>
                </a:lnTo>
                <a:lnTo>
                  <a:pt x="4175" y="763300"/>
                </a:lnTo>
                <a:lnTo>
                  <a:pt x="0" y="742310"/>
                </a:lnTo>
                <a:lnTo>
                  <a:pt x="0" y="736934"/>
                </a:lnTo>
                <a:lnTo>
                  <a:pt x="0" y="76504"/>
                </a:lnTo>
                <a:lnTo>
                  <a:pt x="16786" y="31918"/>
                </a:lnTo>
                <a:lnTo>
                  <a:pt x="55513" y="4174"/>
                </a:lnTo>
                <a:lnTo>
                  <a:pt x="76505" y="0"/>
                </a:lnTo>
                <a:lnTo>
                  <a:pt x="14498413" y="0"/>
                </a:lnTo>
                <a:lnTo>
                  <a:pt x="14542998" y="16785"/>
                </a:lnTo>
                <a:lnTo>
                  <a:pt x="14570742" y="55513"/>
                </a:lnTo>
                <a:lnTo>
                  <a:pt x="14574918" y="76504"/>
                </a:lnTo>
                <a:lnTo>
                  <a:pt x="14574918" y="742310"/>
                </a:lnTo>
                <a:lnTo>
                  <a:pt x="14558132" y="786894"/>
                </a:lnTo>
                <a:lnTo>
                  <a:pt x="14519404" y="814639"/>
                </a:lnTo>
                <a:lnTo>
                  <a:pt x="14503737" y="818290"/>
                </a:lnTo>
                <a:lnTo>
                  <a:pt x="14498413" y="818815"/>
                </a:lnTo>
                <a:close/>
              </a:path>
            </a:pathLst>
          </a:custGeom>
          <a:solidFill>
            <a:srgbClr val="04182D"/>
          </a:solidFill>
        </p:spPr>
        <p:txBody>
          <a:bodyPr wrap="square" lIns="0" tIns="0" rIns="0" bIns="0" rtlCol="0"/>
          <a:lstStyle/>
          <a:p>
            <a:endParaRPr/>
          </a:p>
        </p:txBody>
      </p:sp>
      <p:sp>
        <p:nvSpPr>
          <p:cNvPr id="9" name="object 9"/>
          <p:cNvSpPr txBox="1"/>
          <p:nvPr/>
        </p:nvSpPr>
        <p:spPr>
          <a:xfrm>
            <a:off x="642352" y="1379286"/>
            <a:ext cx="2948305" cy="369570"/>
          </a:xfrm>
          <a:prstGeom prst="rect">
            <a:avLst/>
          </a:prstGeom>
        </p:spPr>
        <p:txBody>
          <a:bodyPr vert="horz" wrap="square" lIns="0" tIns="13335" rIns="0" bIns="0" rtlCol="0">
            <a:spAutoFit/>
          </a:bodyPr>
          <a:lstStyle/>
          <a:p>
            <a:pPr marL="12700">
              <a:lnSpc>
                <a:spcPct val="100000"/>
              </a:lnSpc>
              <a:spcBef>
                <a:spcPts val="105"/>
              </a:spcBef>
            </a:pPr>
            <a:r>
              <a:rPr sz="2250" spc="-10" dirty="0">
                <a:solidFill>
                  <a:srgbClr val="008600"/>
                </a:solidFill>
                <a:latin typeface="Courier New"/>
                <a:cs typeface="Courier New"/>
              </a:rPr>
              <a:t>print</a:t>
            </a:r>
            <a:r>
              <a:rPr sz="2250" spc="-10" dirty="0">
                <a:solidFill>
                  <a:srgbClr val="04182D"/>
                </a:solidFill>
                <a:latin typeface="Courier New"/>
                <a:cs typeface="Courier New"/>
              </a:rPr>
              <a:t>(cv_results)</a:t>
            </a:r>
            <a:endParaRPr sz="2250">
              <a:latin typeface="Courier New"/>
              <a:cs typeface="Courier New"/>
            </a:endParaRPr>
          </a:p>
        </p:txBody>
      </p:sp>
      <p:sp>
        <p:nvSpPr>
          <p:cNvPr id="10" name="object 10"/>
          <p:cNvSpPr txBox="1"/>
          <p:nvPr/>
        </p:nvSpPr>
        <p:spPr>
          <a:xfrm>
            <a:off x="642352" y="2443747"/>
            <a:ext cx="12233910" cy="369570"/>
          </a:xfrm>
          <a:prstGeom prst="rect">
            <a:avLst/>
          </a:prstGeom>
        </p:spPr>
        <p:txBody>
          <a:bodyPr vert="horz" wrap="square" lIns="0" tIns="13335" rIns="0" bIns="0" rtlCol="0">
            <a:spAutoFit/>
          </a:bodyPr>
          <a:lstStyle/>
          <a:p>
            <a:pPr marL="12700">
              <a:lnSpc>
                <a:spcPct val="100000"/>
              </a:lnSpc>
              <a:spcBef>
                <a:spcPts val="105"/>
              </a:spcBef>
            </a:pPr>
            <a:r>
              <a:rPr sz="2250" dirty="0">
                <a:solidFill>
                  <a:srgbClr val="FFFFFF"/>
                </a:solidFill>
                <a:latin typeface="Courier New"/>
                <a:cs typeface="Courier New"/>
              </a:rPr>
              <a:t>[0.70262578, 0.7659624, 0.75188205, 0.76914482, 0.72551151, </a:t>
            </a:r>
            <a:r>
              <a:rPr sz="2250" spc="-10" dirty="0">
                <a:solidFill>
                  <a:srgbClr val="FFFFFF"/>
                </a:solidFill>
                <a:latin typeface="Courier New"/>
                <a:cs typeface="Courier New"/>
              </a:rPr>
              <a:t>0.73608277]</a:t>
            </a:r>
            <a:endParaRPr sz="2250">
              <a:latin typeface="Courier New"/>
              <a:cs typeface="Courier New"/>
            </a:endParaRPr>
          </a:p>
        </p:txBody>
      </p:sp>
      <p:sp>
        <p:nvSpPr>
          <p:cNvPr id="11" name="object 11"/>
          <p:cNvSpPr txBox="1"/>
          <p:nvPr/>
        </p:nvSpPr>
        <p:spPr>
          <a:xfrm>
            <a:off x="642352" y="3508207"/>
            <a:ext cx="7934959" cy="369570"/>
          </a:xfrm>
          <a:prstGeom prst="rect">
            <a:avLst/>
          </a:prstGeom>
        </p:spPr>
        <p:txBody>
          <a:bodyPr vert="horz" wrap="square" lIns="0" tIns="13335" rIns="0" bIns="0" rtlCol="0">
            <a:spAutoFit/>
          </a:bodyPr>
          <a:lstStyle/>
          <a:p>
            <a:pPr marL="12700">
              <a:lnSpc>
                <a:spcPct val="100000"/>
              </a:lnSpc>
              <a:spcBef>
                <a:spcPts val="105"/>
              </a:spcBef>
            </a:pPr>
            <a:r>
              <a:rPr sz="2250" dirty="0">
                <a:solidFill>
                  <a:srgbClr val="008600"/>
                </a:solidFill>
                <a:latin typeface="Courier New"/>
                <a:cs typeface="Courier New"/>
              </a:rPr>
              <a:t>print</a:t>
            </a:r>
            <a:r>
              <a:rPr sz="2250" dirty="0">
                <a:solidFill>
                  <a:srgbClr val="04182D"/>
                </a:solidFill>
                <a:latin typeface="Courier New"/>
                <a:cs typeface="Courier New"/>
              </a:rPr>
              <a:t>(np.mean(cv_results),</a:t>
            </a:r>
            <a:r>
              <a:rPr sz="2250" spc="-5" dirty="0">
                <a:solidFill>
                  <a:srgbClr val="04182D"/>
                </a:solidFill>
                <a:latin typeface="Courier New"/>
                <a:cs typeface="Courier New"/>
              </a:rPr>
              <a:t> </a:t>
            </a:r>
            <a:r>
              <a:rPr sz="2250" spc="-10" dirty="0">
                <a:solidFill>
                  <a:srgbClr val="04182D"/>
                </a:solidFill>
                <a:latin typeface="Courier New"/>
                <a:cs typeface="Courier New"/>
              </a:rPr>
              <a:t>np.std(cv_results))</a:t>
            </a:r>
            <a:endParaRPr sz="2250">
              <a:latin typeface="Courier New"/>
              <a:cs typeface="Courier New"/>
            </a:endParaRPr>
          </a:p>
        </p:txBody>
      </p:sp>
      <p:sp>
        <p:nvSpPr>
          <p:cNvPr id="12" name="object 12"/>
          <p:cNvSpPr txBox="1"/>
          <p:nvPr/>
        </p:nvSpPr>
        <p:spPr>
          <a:xfrm>
            <a:off x="642352" y="4572667"/>
            <a:ext cx="6731634" cy="369570"/>
          </a:xfrm>
          <a:prstGeom prst="rect">
            <a:avLst/>
          </a:prstGeom>
        </p:spPr>
        <p:txBody>
          <a:bodyPr vert="horz" wrap="square" lIns="0" tIns="13335" rIns="0" bIns="0" rtlCol="0">
            <a:spAutoFit/>
          </a:bodyPr>
          <a:lstStyle/>
          <a:p>
            <a:pPr marL="12700">
              <a:lnSpc>
                <a:spcPct val="100000"/>
              </a:lnSpc>
              <a:spcBef>
                <a:spcPts val="105"/>
              </a:spcBef>
            </a:pPr>
            <a:r>
              <a:rPr sz="2250" dirty="0">
                <a:solidFill>
                  <a:srgbClr val="FFFFFF"/>
                </a:solidFill>
                <a:latin typeface="Courier New"/>
                <a:cs typeface="Courier New"/>
              </a:rPr>
              <a:t>0.7418682216666667 </a:t>
            </a:r>
            <a:r>
              <a:rPr sz="2250" spc="-10" dirty="0">
                <a:solidFill>
                  <a:srgbClr val="FFFFFF"/>
                </a:solidFill>
                <a:latin typeface="Courier New"/>
                <a:cs typeface="Courier New"/>
              </a:rPr>
              <a:t>0.023330243960652888</a:t>
            </a:r>
            <a:endParaRPr sz="2250">
              <a:latin typeface="Courier New"/>
              <a:cs typeface="Courier New"/>
            </a:endParaRPr>
          </a:p>
        </p:txBody>
      </p:sp>
      <p:sp>
        <p:nvSpPr>
          <p:cNvPr id="13" name="object 13"/>
          <p:cNvSpPr txBox="1"/>
          <p:nvPr/>
        </p:nvSpPr>
        <p:spPr>
          <a:xfrm>
            <a:off x="642352" y="5637128"/>
            <a:ext cx="7934325" cy="369570"/>
          </a:xfrm>
          <a:prstGeom prst="rect">
            <a:avLst/>
          </a:prstGeom>
        </p:spPr>
        <p:txBody>
          <a:bodyPr vert="horz" wrap="square" lIns="0" tIns="13335" rIns="0" bIns="0" rtlCol="0">
            <a:spAutoFit/>
          </a:bodyPr>
          <a:lstStyle/>
          <a:p>
            <a:pPr marL="12700">
              <a:lnSpc>
                <a:spcPct val="100000"/>
              </a:lnSpc>
              <a:spcBef>
                <a:spcPts val="105"/>
              </a:spcBef>
            </a:pPr>
            <a:r>
              <a:rPr sz="2250" dirty="0">
                <a:solidFill>
                  <a:srgbClr val="008600"/>
                </a:solidFill>
                <a:latin typeface="Courier New"/>
                <a:cs typeface="Courier New"/>
              </a:rPr>
              <a:t>print</a:t>
            </a:r>
            <a:r>
              <a:rPr sz="2250" dirty="0">
                <a:solidFill>
                  <a:srgbClr val="04182D"/>
                </a:solidFill>
                <a:latin typeface="Courier New"/>
                <a:cs typeface="Courier New"/>
              </a:rPr>
              <a:t>(np.quantile(cv_results,</a:t>
            </a:r>
            <a:r>
              <a:rPr sz="2250" spc="-20" dirty="0">
                <a:solidFill>
                  <a:srgbClr val="04182D"/>
                </a:solidFill>
                <a:latin typeface="Courier New"/>
                <a:cs typeface="Courier New"/>
              </a:rPr>
              <a:t> </a:t>
            </a:r>
            <a:r>
              <a:rPr sz="2250" dirty="0">
                <a:solidFill>
                  <a:srgbClr val="04182D"/>
                </a:solidFill>
                <a:latin typeface="Courier New"/>
                <a:cs typeface="Courier New"/>
              </a:rPr>
              <a:t>[</a:t>
            </a:r>
            <a:r>
              <a:rPr sz="2250" dirty="0">
                <a:solidFill>
                  <a:srgbClr val="BE2F72"/>
                </a:solidFill>
                <a:latin typeface="Courier New"/>
                <a:cs typeface="Courier New"/>
              </a:rPr>
              <a:t>0.025</a:t>
            </a:r>
            <a:r>
              <a:rPr sz="2250" dirty="0">
                <a:solidFill>
                  <a:srgbClr val="04182D"/>
                </a:solidFill>
                <a:latin typeface="Courier New"/>
                <a:cs typeface="Courier New"/>
              </a:rPr>
              <a:t>,</a:t>
            </a:r>
            <a:r>
              <a:rPr sz="2250" spc="-5" dirty="0">
                <a:solidFill>
                  <a:srgbClr val="04182D"/>
                </a:solidFill>
                <a:latin typeface="Courier New"/>
                <a:cs typeface="Courier New"/>
              </a:rPr>
              <a:t> </a:t>
            </a:r>
            <a:r>
              <a:rPr sz="2250" spc="-10" dirty="0">
                <a:solidFill>
                  <a:srgbClr val="BE2F72"/>
                </a:solidFill>
                <a:latin typeface="Courier New"/>
                <a:cs typeface="Courier New"/>
              </a:rPr>
              <a:t>0.975</a:t>
            </a:r>
            <a:r>
              <a:rPr sz="2250" spc="-10" dirty="0">
                <a:solidFill>
                  <a:srgbClr val="04182D"/>
                </a:solidFill>
                <a:latin typeface="Courier New"/>
                <a:cs typeface="Courier New"/>
              </a:rPr>
              <a:t>]))</a:t>
            </a:r>
            <a:endParaRPr sz="2250">
              <a:latin typeface="Courier New"/>
              <a:cs typeface="Courier New"/>
            </a:endParaRPr>
          </a:p>
        </p:txBody>
      </p:sp>
      <p:sp>
        <p:nvSpPr>
          <p:cNvPr id="14" name="object 14"/>
          <p:cNvSpPr txBox="1"/>
          <p:nvPr/>
        </p:nvSpPr>
        <p:spPr>
          <a:xfrm>
            <a:off x="642352" y="6701588"/>
            <a:ext cx="5184140" cy="369570"/>
          </a:xfrm>
          <a:prstGeom prst="rect">
            <a:avLst/>
          </a:prstGeom>
        </p:spPr>
        <p:txBody>
          <a:bodyPr vert="horz" wrap="square" lIns="0" tIns="13335" rIns="0" bIns="0" rtlCol="0">
            <a:spAutoFit/>
          </a:bodyPr>
          <a:lstStyle/>
          <a:p>
            <a:pPr marL="12700">
              <a:lnSpc>
                <a:spcPct val="100000"/>
              </a:lnSpc>
              <a:spcBef>
                <a:spcPts val="105"/>
              </a:spcBef>
            </a:pPr>
            <a:r>
              <a:rPr sz="2250" dirty="0">
                <a:solidFill>
                  <a:srgbClr val="FFFFFF"/>
                </a:solidFill>
                <a:latin typeface="Courier New"/>
                <a:cs typeface="Courier New"/>
              </a:rPr>
              <a:t>array([0.7054865, </a:t>
            </a:r>
            <a:r>
              <a:rPr sz="2250" spc="-10" dirty="0">
                <a:solidFill>
                  <a:srgbClr val="FFFFFF"/>
                </a:solidFill>
                <a:latin typeface="Courier New"/>
                <a:cs typeface="Courier New"/>
              </a:rPr>
              <a:t>0.76874702])</a:t>
            </a:r>
            <a:endParaRPr sz="2250">
              <a:latin typeface="Courier New"/>
              <a:cs typeface="Courier New"/>
            </a:endParaRPr>
          </a:p>
        </p:txBody>
      </p:sp>
      <p:sp>
        <p:nvSpPr>
          <p:cNvPr id="18" name="슬라이드 번호 개체 틀 17">
            <a:extLst>
              <a:ext uri="{FF2B5EF4-FFF2-40B4-BE49-F238E27FC236}">
                <a16:creationId xmlns:a16="http://schemas.microsoft.com/office/drawing/2014/main" id="{D748839F-4995-F9C2-7A43-5045ADED506A}"/>
              </a:ext>
            </a:extLst>
          </p:cNvPr>
          <p:cNvSpPr>
            <a:spLocks noGrp="1"/>
          </p:cNvSpPr>
          <p:nvPr>
            <p:ph type="sldNum" sz="quarter" idx="7"/>
          </p:nvPr>
        </p:nvSpPr>
        <p:spPr/>
        <p:txBody>
          <a:bodyPr/>
          <a:lstStyle/>
          <a:p>
            <a:fld id="{B6F15528-21DE-4FAA-801E-634DDDAF4B2B}" type="slidenum">
              <a:rPr lang="en-US" altLang="ko-KR" smtClean="0"/>
              <a:t>28</a:t>
            </a:fld>
            <a:endParaRPr lang="en-US" altLang="ko-K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body" idx="1"/>
          </p:nvPr>
        </p:nvSpPr>
        <p:spPr>
          <a:prstGeom prst="rect">
            <a:avLst/>
          </a:prstGeom>
        </p:spPr>
        <p:txBody>
          <a:bodyPr vert="horz" wrap="square" lIns="0" tIns="143510" rIns="0" bIns="0" rtlCol="0">
            <a:spAutoFit/>
          </a:bodyPr>
          <a:lstStyle/>
          <a:p>
            <a:pPr marL="1634489" marR="1565275" algn="ctr">
              <a:lnSpc>
                <a:spcPts val="6770"/>
              </a:lnSpc>
              <a:spcBef>
                <a:spcPts val="1130"/>
              </a:spcBef>
            </a:pPr>
            <a:r>
              <a:rPr spc="-409" dirty="0"/>
              <a:t>Regularized </a:t>
            </a:r>
            <a:r>
              <a:rPr spc="-415" dirty="0"/>
              <a:t>regression</a:t>
            </a:r>
          </a:p>
          <a:p>
            <a:pPr algn="ctr">
              <a:lnSpc>
                <a:spcPct val="100000"/>
              </a:lnSpc>
              <a:spcBef>
                <a:spcPts val="910"/>
              </a:spcBef>
              <a:tabLst>
                <a:tab pos="2252345" algn="l"/>
                <a:tab pos="4152900" algn="l"/>
                <a:tab pos="5172710" algn="l"/>
              </a:tabLst>
            </a:pPr>
            <a:r>
              <a:rPr sz="2250" spc="-150" dirty="0"/>
              <a:t>S</a:t>
            </a:r>
            <a:r>
              <a:rPr sz="2250" spc="-335" dirty="0"/>
              <a:t> </a:t>
            </a:r>
            <a:r>
              <a:rPr sz="2250" spc="-125" dirty="0"/>
              <a:t>U</a:t>
            </a:r>
            <a:r>
              <a:rPr sz="2250" spc="-330" dirty="0"/>
              <a:t> </a:t>
            </a:r>
            <a:r>
              <a:rPr sz="2250" spc="-95" dirty="0"/>
              <a:t>P</a:t>
            </a:r>
            <a:r>
              <a:rPr sz="2250" spc="-330" dirty="0"/>
              <a:t> </a:t>
            </a:r>
            <a:r>
              <a:rPr sz="2250" dirty="0"/>
              <a:t>E</a:t>
            </a:r>
            <a:r>
              <a:rPr sz="2250" spc="-330" dirty="0"/>
              <a:t> </a:t>
            </a:r>
            <a:r>
              <a:rPr sz="2250" spc="-254" dirty="0"/>
              <a:t>R</a:t>
            </a:r>
            <a:r>
              <a:rPr sz="2250" spc="-335" dirty="0"/>
              <a:t> </a:t>
            </a:r>
            <a:r>
              <a:rPr sz="2250" spc="-55" dirty="0"/>
              <a:t>V</a:t>
            </a:r>
            <a:r>
              <a:rPr sz="2250" spc="-330" dirty="0"/>
              <a:t> </a:t>
            </a:r>
            <a:r>
              <a:rPr sz="2250" spc="-470" dirty="0"/>
              <a:t>I</a:t>
            </a:r>
            <a:r>
              <a:rPr sz="2250" spc="-330" dirty="0"/>
              <a:t> </a:t>
            </a:r>
            <a:r>
              <a:rPr sz="2250" spc="-150" dirty="0"/>
              <a:t>S</a:t>
            </a:r>
            <a:r>
              <a:rPr sz="2250" spc="-330" dirty="0"/>
              <a:t> </a:t>
            </a:r>
            <a:r>
              <a:rPr sz="2250" dirty="0"/>
              <a:t>E</a:t>
            </a:r>
            <a:r>
              <a:rPr sz="2250" spc="-335" dirty="0"/>
              <a:t> </a:t>
            </a:r>
            <a:r>
              <a:rPr sz="2250" spc="-50" dirty="0"/>
              <a:t>D</a:t>
            </a:r>
            <a:r>
              <a:rPr sz="2250" dirty="0"/>
              <a:t>	</a:t>
            </a:r>
            <a:r>
              <a:rPr sz="2250" spc="-100" dirty="0"/>
              <a:t>L</a:t>
            </a:r>
            <a:r>
              <a:rPr sz="2250" spc="-335" dirty="0"/>
              <a:t> </a:t>
            </a:r>
            <a:r>
              <a:rPr sz="2250" dirty="0"/>
              <a:t>E</a:t>
            </a:r>
            <a:r>
              <a:rPr sz="2250" spc="-330" dirty="0"/>
              <a:t> </a:t>
            </a:r>
            <a:r>
              <a:rPr sz="2250" spc="60" dirty="0"/>
              <a:t>A</a:t>
            </a:r>
            <a:r>
              <a:rPr sz="2250" spc="-335" dirty="0"/>
              <a:t> </a:t>
            </a:r>
            <a:r>
              <a:rPr sz="2250" spc="-254" dirty="0"/>
              <a:t>R</a:t>
            </a:r>
            <a:r>
              <a:rPr sz="2250" spc="-330" dirty="0"/>
              <a:t> </a:t>
            </a:r>
            <a:r>
              <a:rPr sz="2250" spc="-60" dirty="0"/>
              <a:t>N</a:t>
            </a:r>
            <a:r>
              <a:rPr sz="2250" spc="-335" dirty="0"/>
              <a:t> </a:t>
            </a:r>
            <a:r>
              <a:rPr sz="2250" spc="-470" dirty="0"/>
              <a:t>I</a:t>
            </a:r>
            <a:r>
              <a:rPr sz="2250" spc="-330" dirty="0"/>
              <a:t> </a:t>
            </a:r>
            <a:r>
              <a:rPr sz="2250" spc="-60" dirty="0"/>
              <a:t>N</a:t>
            </a:r>
            <a:r>
              <a:rPr sz="2250" spc="-335" dirty="0"/>
              <a:t> </a:t>
            </a:r>
            <a:r>
              <a:rPr sz="2250" spc="30" dirty="0"/>
              <a:t>G</a:t>
            </a:r>
            <a:r>
              <a:rPr sz="2250" dirty="0"/>
              <a:t>	</a:t>
            </a:r>
            <a:r>
              <a:rPr sz="2250" spc="-170" dirty="0"/>
              <a:t>W</a:t>
            </a:r>
            <a:r>
              <a:rPr sz="2250" spc="-335" dirty="0"/>
              <a:t> </a:t>
            </a:r>
            <a:r>
              <a:rPr sz="2250" spc="-470" dirty="0"/>
              <a:t>I</a:t>
            </a:r>
            <a:r>
              <a:rPr sz="2250" spc="-335" dirty="0"/>
              <a:t> </a:t>
            </a:r>
            <a:r>
              <a:rPr sz="2250" spc="-90" dirty="0"/>
              <a:t>T</a:t>
            </a:r>
            <a:r>
              <a:rPr sz="2250" spc="-335" dirty="0"/>
              <a:t> </a:t>
            </a:r>
            <a:r>
              <a:rPr sz="2250" spc="-50" dirty="0"/>
              <a:t>H</a:t>
            </a:r>
            <a:r>
              <a:rPr sz="2250" dirty="0"/>
              <a:t>	</a:t>
            </a:r>
            <a:r>
              <a:rPr sz="2250" spc="-150" dirty="0"/>
              <a:t>S</a:t>
            </a:r>
            <a:r>
              <a:rPr sz="2250" spc="-335" dirty="0"/>
              <a:t> </a:t>
            </a:r>
            <a:r>
              <a:rPr sz="2250" spc="210" dirty="0"/>
              <a:t>C</a:t>
            </a:r>
            <a:r>
              <a:rPr sz="2250" spc="-335" dirty="0"/>
              <a:t> </a:t>
            </a:r>
            <a:r>
              <a:rPr sz="2250" spc="-470" dirty="0"/>
              <a:t>I</a:t>
            </a:r>
            <a:r>
              <a:rPr sz="2250" spc="-335" dirty="0"/>
              <a:t> </a:t>
            </a:r>
            <a:r>
              <a:rPr sz="2250" dirty="0"/>
              <a:t>K</a:t>
            </a:r>
            <a:r>
              <a:rPr sz="2250" spc="-335" dirty="0"/>
              <a:t> </a:t>
            </a:r>
            <a:r>
              <a:rPr sz="2250" spc="-470" dirty="0"/>
              <a:t>I</a:t>
            </a:r>
            <a:r>
              <a:rPr sz="2250" spc="-335" dirty="0"/>
              <a:t> </a:t>
            </a:r>
            <a:r>
              <a:rPr sz="2250" spc="-35" dirty="0"/>
              <a:t>T-</a:t>
            </a:r>
            <a:r>
              <a:rPr sz="2250" spc="-330" dirty="0"/>
              <a:t> </a:t>
            </a:r>
            <a:r>
              <a:rPr sz="2250" spc="-100" dirty="0"/>
              <a:t>L</a:t>
            </a:r>
            <a:r>
              <a:rPr sz="2250" spc="-335" dirty="0"/>
              <a:t> </a:t>
            </a:r>
            <a:r>
              <a:rPr sz="2250" dirty="0"/>
              <a:t>E</a:t>
            </a:r>
            <a:r>
              <a:rPr sz="2250" spc="-335" dirty="0"/>
              <a:t> </a:t>
            </a:r>
            <a:r>
              <a:rPr sz="2250" spc="60" dirty="0"/>
              <a:t>A</a:t>
            </a:r>
            <a:r>
              <a:rPr sz="2250" spc="-335" dirty="0"/>
              <a:t> </a:t>
            </a:r>
            <a:r>
              <a:rPr sz="2250" spc="-254" dirty="0"/>
              <a:t>R</a:t>
            </a:r>
            <a:r>
              <a:rPr sz="2250" spc="-335" dirty="0"/>
              <a:t> </a:t>
            </a:r>
            <a:r>
              <a:rPr sz="2250" spc="-50" dirty="0"/>
              <a:t>N</a:t>
            </a:r>
            <a:endParaRPr sz="2250"/>
          </a:p>
        </p:txBody>
      </p:sp>
      <p:sp>
        <p:nvSpPr>
          <p:cNvPr id="7" name="object 7"/>
          <p:cNvSpPr txBox="1"/>
          <p:nvPr/>
        </p:nvSpPr>
        <p:spPr>
          <a:xfrm>
            <a:off x="314826" y="6185734"/>
            <a:ext cx="5164455" cy="885190"/>
          </a:xfrm>
          <a:prstGeom prst="rect">
            <a:avLst/>
          </a:prstGeom>
        </p:spPr>
        <p:txBody>
          <a:bodyPr vert="horz" wrap="square" lIns="0" tIns="81915" rIns="0" bIns="0" rtlCol="0">
            <a:spAutoFit/>
          </a:bodyPr>
          <a:lstStyle/>
          <a:p>
            <a:pPr marL="12700">
              <a:lnSpc>
                <a:spcPct val="100000"/>
              </a:lnSpc>
              <a:spcBef>
                <a:spcPts val="645"/>
              </a:spcBef>
            </a:pPr>
            <a:r>
              <a:rPr sz="2550" b="1" dirty="0">
                <a:solidFill>
                  <a:srgbClr val="FFFFFF"/>
                </a:solidFill>
                <a:latin typeface="Tahoma"/>
                <a:cs typeface="Tahoma"/>
              </a:rPr>
              <a:t>George</a:t>
            </a:r>
            <a:r>
              <a:rPr sz="2550" b="1" spc="-180" dirty="0">
                <a:solidFill>
                  <a:srgbClr val="FFFFFF"/>
                </a:solidFill>
                <a:latin typeface="Tahoma"/>
                <a:cs typeface="Tahoma"/>
              </a:rPr>
              <a:t> </a:t>
            </a:r>
            <a:r>
              <a:rPr sz="2550" b="1" spc="-10" dirty="0">
                <a:solidFill>
                  <a:srgbClr val="FFFFFF"/>
                </a:solidFill>
                <a:latin typeface="Tahoma"/>
                <a:cs typeface="Tahoma"/>
              </a:rPr>
              <a:t>Boorman</a:t>
            </a:r>
            <a:endParaRPr sz="2550">
              <a:latin typeface="Tahoma"/>
              <a:cs typeface="Tahoma"/>
            </a:endParaRPr>
          </a:p>
          <a:p>
            <a:pPr marL="12700">
              <a:lnSpc>
                <a:spcPct val="100000"/>
              </a:lnSpc>
              <a:spcBef>
                <a:spcPts val="459"/>
              </a:spcBef>
            </a:pPr>
            <a:r>
              <a:rPr sz="2250" spc="125" dirty="0">
                <a:solidFill>
                  <a:srgbClr val="FFFFFF"/>
                </a:solidFill>
                <a:latin typeface="Tahoma"/>
                <a:cs typeface="Tahoma"/>
              </a:rPr>
              <a:t>Core</a:t>
            </a:r>
            <a:r>
              <a:rPr sz="2250" spc="-25" dirty="0">
                <a:solidFill>
                  <a:srgbClr val="FFFFFF"/>
                </a:solidFill>
                <a:latin typeface="Tahoma"/>
                <a:cs typeface="Tahoma"/>
              </a:rPr>
              <a:t> </a:t>
            </a:r>
            <a:r>
              <a:rPr sz="2250" spc="90" dirty="0">
                <a:solidFill>
                  <a:srgbClr val="FFFFFF"/>
                </a:solidFill>
                <a:latin typeface="Tahoma"/>
                <a:cs typeface="Tahoma"/>
              </a:rPr>
              <a:t>Curriculum</a:t>
            </a:r>
            <a:r>
              <a:rPr sz="2250" spc="-25" dirty="0">
                <a:solidFill>
                  <a:srgbClr val="FFFFFF"/>
                </a:solidFill>
                <a:latin typeface="Tahoma"/>
                <a:cs typeface="Tahoma"/>
              </a:rPr>
              <a:t> </a:t>
            </a:r>
            <a:r>
              <a:rPr sz="2250" spc="85" dirty="0">
                <a:solidFill>
                  <a:srgbClr val="FFFFFF"/>
                </a:solidFill>
                <a:latin typeface="Tahoma"/>
                <a:cs typeface="Tahoma"/>
              </a:rPr>
              <a:t>Manager,</a:t>
            </a:r>
            <a:r>
              <a:rPr sz="2250" spc="-25" dirty="0">
                <a:solidFill>
                  <a:srgbClr val="FFFFFF"/>
                </a:solidFill>
                <a:latin typeface="Tahoma"/>
                <a:cs typeface="Tahoma"/>
              </a:rPr>
              <a:t> </a:t>
            </a:r>
            <a:r>
              <a:rPr sz="2250" spc="160" dirty="0">
                <a:solidFill>
                  <a:srgbClr val="FFFFFF"/>
                </a:solidFill>
                <a:latin typeface="Tahoma"/>
                <a:cs typeface="Tahoma"/>
              </a:rPr>
              <a:t>DataCamp</a:t>
            </a:r>
            <a:endParaRPr sz="2250">
              <a:latin typeface="Tahoma"/>
              <a:cs typeface="Tahoma"/>
            </a:endParaRPr>
          </a:p>
        </p:txBody>
      </p:sp>
      <p:sp>
        <p:nvSpPr>
          <p:cNvPr id="10" name="슬라이드 번호 개체 틀 9">
            <a:extLst>
              <a:ext uri="{FF2B5EF4-FFF2-40B4-BE49-F238E27FC236}">
                <a16:creationId xmlns:a16="http://schemas.microsoft.com/office/drawing/2014/main" id="{4DFAD35B-FE04-A533-4EC6-5C9842F32536}"/>
              </a:ext>
            </a:extLst>
          </p:cNvPr>
          <p:cNvSpPr>
            <a:spLocks noGrp="1"/>
          </p:cNvSpPr>
          <p:nvPr>
            <p:ph type="sldNum" sz="quarter" idx="7"/>
          </p:nvPr>
        </p:nvSpPr>
        <p:spPr/>
        <p:txBody>
          <a:bodyPr/>
          <a:lstStyle/>
          <a:p>
            <a:fld id="{B6F15528-21DE-4FAA-801E-634DDDAF4B2B}" type="slidenum">
              <a:rPr lang="en-US" altLang="ko-KR" smtClean="0"/>
              <a:t>29</a:t>
            </a:fld>
            <a:endParaRPr lang="en-US" altLang="ko-K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254" dirty="0"/>
              <a:t>Why</a:t>
            </a:r>
            <a:r>
              <a:rPr spc="-155" dirty="0"/>
              <a:t> </a:t>
            </a:r>
            <a:r>
              <a:rPr spc="-210" dirty="0"/>
              <a:t>regularize?</a:t>
            </a:r>
          </a:p>
        </p:txBody>
      </p:sp>
      <p:pic>
        <p:nvPicPr>
          <p:cNvPr id="3" name="object 3"/>
          <p:cNvPicPr/>
          <p:nvPr/>
        </p:nvPicPr>
        <p:blipFill>
          <a:blip r:embed="rId2" cstate="print"/>
          <a:stretch>
            <a:fillRect/>
          </a:stretch>
        </p:blipFill>
        <p:spPr>
          <a:xfrm>
            <a:off x="511759" y="1351045"/>
            <a:ext cx="102352" cy="102351"/>
          </a:xfrm>
          <a:prstGeom prst="rect">
            <a:avLst/>
          </a:prstGeom>
        </p:spPr>
      </p:pic>
      <p:sp>
        <p:nvSpPr>
          <p:cNvPr id="4" name="object 4"/>
          <p:cNvSpPr txBox="1"/>
          <p:nvPr/>
        </p:nvSpPr>
        <p:spPr>
          <a:xfrm>
            <a:off x="847056" y="1014880"/>
            <a:ext cx="9052560" cy="2543810"/>
          </a:xfrm>
          <a:prstGeom prst="rect">
            <a:avLst/>
          </a:prstGeom>
        </p:spPr>
        <p:txBody>
          <a:bodyPr vert="horz" wrap="square" lIns="0" tIns="175895" rIns="0" bIns="0" rtlCol="0">
            <a:spAutoFit/>
          </a:bodyPr>
          <a:lstStyle/>
          <a:p>
            <a:pPr marL="12700">
              <a:lnSpc>
                <a:spcPct val="100000"/>
              </a:lnSpc>
              <a:spcBef>
                <a:spcPts val="1385"/>
              </a:spcBef>
            </a:pPr>
            <a:r>
              <a:rPr sz="2550" spc="55" dirty="0">
                <a:solidFill>
                  <a:srgbClr val="04182D"/>
                </a:solidFill>
                <a:latin typeface="Tahoma"/>
                <a:cs typeface="Tahoma"/>
              </a:rPr>
              <a:t>Recall:</a:t>
            </a:r>
            <a:r>
              <a:rPr sz="2550" spc="-40" dirty="0">
                <a:solidFill>
                  <a:srgbClr val="04182D"/>
                </a:solidFill>
                <a:latin typeface="Tahoma"/>
                <a:cs typeface="Tahoma"/>
              </a:rPr>
              <a:t> </a:t>
            </a:r>
            <a:r>
              <a:rPr sz="2550" spc="90" dirty="0">
                <a:solidFill>
                  <a:srgbClr val="04182D"/>
                </a:solidFill>
                <a:latin typeface="Tahoma"/>
                <a:cs typeface="Tahoma"/>
              </a:rPr>
              <a:t>Linear</a:t>
            </a:r>
            <a:r>
              <a:rPr sz="2550" spc="-40" dirty="0">
                <a:solidFill>
                  <a:srgbClr val="04182D"/>
                </a:solidFill>
                <a:latin typeface="Tahoma"/>
                <a:cs typeface="Tahoma"/>
              </a:rPr>
              <a:t> </a:t>
            </a:r>
            <a:r>
              <a:rPr sz="2550" spc="70" dirty="0">
                <a:solidFill>
                  <a:srgbClr val="04182D"/>
                </a:solidFill>
                <a:latin typeface="Tahoma"/>
                <a:cs typeface="Tahoma"/>
              </a:rPr>
              <a:t>regression</a:t>
            </a:r>
            <a:r>
              <a:rPr sz="2550" spc="-35" dirty="0">
                <a:solidFill>
                  <a:srgbClr val="04182D"/>
                </a:solidFill>
                <a:latin typeface="Tahoma"/>
                <a:cs typeface="Tahoma"/>
              </a:rPr>
              <a:t> </a:t>
            </a:r>
            <a:r>
              <a:rPr sz="2550" spc="90" dirty="0">
                <a:solidFill>
                  <a:srgbClr val="04182D"/>
                </a:solidFill>
                <a:latin typeface="Tahoma"/>
                <a:cs typeface="Tahoma"/>
              </a:rPr>
              <a:t>minimizes</a:t>
            </a:r>
            <a:r>
              <a:rPr sz="2550" spc="-40" dirty="0">
                <a:solidFill>
                  <a:srgbClr val="04182D"/>
                </a:solidFill>
                <a:latin typeface="Tahoma"/>
                <a:cs typeface="Tahoma"/>
              </a:rPr>
              <a:t> </a:t>
            </a:r>
            <a:r>
              <a:rPr sz="2550" spc="225" dirty="0">
                <a:solidFill>
                  <a:srgbClr val="04182D"/>
                </a:solidFill>
                <a:latin typeface="Tahoma"/>
                <a:cs typeface="Tahoma"/>
              </a:rPr>
              <a:t>a</a:t>
            </a:r>
            <a:r>
              <a:rPr sz="2550" spc="-40" dirty="0">
                <a:solidFill>
                  <a:srgbClr val="04182D"/>
                </a:solidFill>
                <a:latin typeface="Tahoma"/>
                <a:cs typeface="Tahoma"/>
              </a:rPr>
              <a:t> </a:t>
            </a:r>
            <a:r>
              <a:rPr sz="2550" spc="70" dirty="0">
                <a:solidFill>
                  <a:srgbClr val="04182D"/>
                </a:solidFill>
                <a:latin typeface="Tahoma"/>
                <a:cs typeface="Tahoma"/>
              </a:rPr>
              <a:t>loss</a:t>
            </a:r>
            <a:r>
              <a:rPr sz="2550" spc="-35" dirty="0">
                <a:solidFill>
                  <a:srgbClr val="04182D"/>
                </a:solidFill>
                <a:latin typeface="Tahoma"/>
                <a:cs typeface="Tahoma"/>
              </a:rPr>
              <a:t> </a:t>
            </a:r>
            <a:r>
              <a:rPr sz="2550" spc="85" dirty="0">
                <a:solidFill>
                  <a:srgbClr val="04182D"/>
                </a:solidFill>
                <a:latin typeface="Tahoma"/>
                <a:cs typeface="Tahoma"/>
              </a:rPr>
              <a:t>function</a:t>
            </a:r>
            <a:endParaRPr sz="2550">
              <a:latin typeface="Tahoma"/>
              <a:cs typeface="Tahoma"/>
            </a:endParaRPr>
          </a:p>
          <a:p>
            <a:pPr marL="12700">
              <a:lnSpc>
                <a:spcPct val="100000"/>
              </a:lnSpc>
              <a:spcBef>
                <a:spcPts val="1550"/>
              </a:spcBef>
            </a:pPr>
            <a:r>
              <a:rPr sz="2550" spc="-55" dirty="0">
                <a:solidFill>
                  <a:srgbClr val="04182D"/>
                </a:solidFill>
                <a:latin typeface="Tahoma"/>
                <a:cs typeface="Tahoma"/>
              </a:rPr>
              <a:t>It</a:t>
            </a:r>
            <a:r>
              <a:rPr sz="2550" spc="-50" dirty="0">
                <a:solidFill>
                  <a:srgbClr val="04182D"/>
                </a:solidFill>
                <a:latin typeface="Tahoma"/>
                <a:cs typeface="Tahoma"/>
              </a:rPr>
              <a:t> </a:t>
            </a:r>
            <a:r>
              <a:rPr sz="2550" spc="120" dirty="0">
                <a:solidFill>
                  <a:srgbClr val="04182D"/>
                </a:solidFill>
                <a:latin typeface="Tahoma"/>
                <a:cs typeface="Tahoma"/>
              </a:rPr>
              <a:t>chooses</a:t>
            </a:r>
            <a:r>
              <a:rPr sz="2550" spc="-50" dirty="0">
                <a:solidFill>
                  <a:srgbClr val="04182D"/>
                </a:solidFill>
                <a:latin typeface="Tahoma"/>
                <a:cs typeface="Tahoma"/>
              </a:rPr>
              <a:t> </a:t>
            </a:r>
            <a:r>
              <a:rPr sz="2550" spc="225" dirty="0">
                <a:solidFill>
                  <a:srgbClr val="04182D"/>
                </a:solidFill>
                <a:latin typeface="Tahoma"/>
                <a:cs typeface="Tahoma"/>
              </a:rPr>
              <a:t>a</a:t>
            </a:r>
            <a:r>
              <a:rPr sz="2550" spc="-50" dirty="0">
                <a:solidFill>
                  <a:srgbClr val="04182D"/>
                </a:solidFill>
                <a:latin typeface="Tahoma"/>
                <a:cs typeface="Tahoma"/>
              </a:rPr>
              <a:t> </a:t>
            </a:r>
            <a:r>
              <a:rPr sz="2550" spc="95" dirty="0">
                <a:solidFill>
                  <a:srgbClr val="04182D"/>
                </a:solidFill>
                <a:latin typeface="Tahoma"/>
                <a:cs typeface="Tahoma"/>
              </a:rPr>
              <a:t>coefficient,</a:t>
            </a:r>
            <a:r>
              <a:rPr sz="2550" spc="-50" dirty="0">
                <a:solidFill>
                  <a:srgbClr val="04182D"/>
                </a:solidFill>
                <a:latin typeface="Tahoma"/>
                <a:cs typeface="Tahoma"/>
              </a:rPr>
              <a:t> </a:t>
            </a:r>
            <a:r>
              <a:rPr sz="3100" i="1" spc="-85" dirty="0">
                <a:solidFill>
                  <a:srgbClr val="04182D"/>
                </a:solidFill>
                <a:latin typeface="Arial"/>
                <a:cs typeface="Arial"/>
              </a:rPr>
              <a:t>a</a:t>
            </a:r>
            <a:r>
              <a:rPr sz="2550" spc="-85" dirty="0">
                <a:solidFill>
                  <a:srgbClr val="04182D"/>
                </a:solidFill>
                <a:latin typeface="Tahoma"/>
                <a:cs typeface="Tahoma"/>
              </a:rPr>
              <a:t>,</a:t>
            </a:r>
            <a:r>
              <a:rPr sz="2550" spc="-45" dirty="0">
                <a:solidFill>
                  <a:srgbClr val="04182D"/>
                </a:solidFill>
                <a:latin typeface="Tahoma"/>
                <a:cs typeface="Tahoma"/>
              </a:rPr>
              <a:t> </a:t>
            </a:r>
            <a:r>
              <a:rPr sz="2550" spc="50" dirty="0">
                <a:solidFill>
                  <a:srgbClr val="04182D"/>
                </a:solidFill>
                <a:latin typeface="Tahoma"/>
                <a:cs typeface="Tahoma"/>
              </a:rPr>
              <a:t>for</a:t>
            </a:r>
            <a:r>
              <a:rPr sz="2550" spc="-50" dirty="0">
                <a:solidFill>
                  <a:srgbClr val="04182D"/>
                </a:solidFill>
                <a:latin typeface="Tahoma"/>
                <a:cs typeface="Tahoma"/>
              </a:rPr>
              <a:t> </a:t>
            </a:r>
            <a:r>
              <a:rPr sz="2550" spc="165" dirty="0">
                <a:solidFill>
                  <a:srgbClr val="04182D"/>
                </a:solidFill>
                <a:latin typeface="Tahoma"/>
                <a:cs typeface="Tahoma"/>
              </a:rPr>
              <a:t>each</a:t>
            </a:r>
            <a:r>
              <a:rPr sz="2550" spc="-50" dirty="0">
                <a:solidFill>
                  <a:srgbClr val="04182D"/>
                </a:solidFill>
                <a:latin typeface="Tahoma"/>
                <a:cs typeface="Tahoma"/>
              </a:rPr>
              <a:t> </a:t>
            </a:r>
            <a:r>
              <a:rPr sz="2550" spc="95" dirty="0">
                <a:solidFill>
                  <a:srgbClr val="04182D"/>
                </a:solidFill>
                <a:latin typeface="Tahoma"/>
                <a:cs typeface="Tahoma"/>
              </a:rPr>
              <a:t>feature</a:t>
            </a:r>
            <a:r>
              <a:rPr sz="2550" spc="-50" dirty="0">
                <a:solidFill>
                  <a:srgbClr val="04182D"/>
                </a:solidFill>
                <a:latin typeface="Tahoma"/>
                <a:cs typeface="Tahoma"/>
              </a:rPr>
              <a:t> </a:t>
            </a:r>
            <a:r>
              <a:rPr sz="2550" spc="80" dirty="0">
                <a:solidFill>
                  <a:srgbClr val="04182D"/>
                </a:solidFill>
                <a:latin typeface="Tahoma"/>
                <a:cs typeface="Tahoma"/>
              </a:rPr>
              <a:t>variable,</a:t>
            </a:r>
            <a:r>
              <a:rPr sz="2550" spc="-45" dirty="0">
                <a:solidFill>
                  <a:srgbClr val="04182D"/>
                </a:solidFill>
                <a:latin typeface="Tahoma"/>
                <a:cs typeface="Tahoma"/>
              </a:rPr>
              <a:t> </a:t>
            </a:r>
            <a:r>
              <a:rPr sz="2550" spc="65" dirty="0">
                <a:solidFill>
                  <a:srgbClr val="04182D"/>
                </a:solidFill>
                <a:latin typeface="Tahoma"/>
                <a:cs typeface="Tahoma"/>
              </a:rPr>
              <a:t>plus</a:t>
            </a:r>
            <a:r>
              <a:rPr sz="2550" spc="-50" dirty="0">
                <a:solidFill>
                  <a:srgbClr val="04182D"/>
                </a:solidFill>
                <a:latin typeface="Tahoma"/>
                <a:cs typeface="Tahoma"/>
              </a:rPr>
              <a:t> </a:t>
            </a:r>
            <a:r>
              <a:rPr sz="3100" i="1" spc="-450" dirty="0">
                <a:solidFill>
                  <a:srgbClr val="04182D"/>
                </a:solidFill>
                <a:latin typeface="Arial"/>
                <a:cs typeface="Arial"/>
              </a:rPr>
              <a:t>b</a:t>
            </a:r>
            <a:endParaRPr sz="3100">
              <a:latin typeface="Arial"/>
              <a:cs typeface="Arial"/>
            </a:endParaRPr>
          </a:p>
          <a:p>
            <a:pPr marL="12700" marR="2622550">
              <a:lnSpc>
                <a:spcPts val="5160"/>
              </a:lnSpc>
              <a:spcBef>
                <a:spcPts val="209"/>
              </a:spcBef>
            </a:pPr>
            <a:r>
              <a:rPr sz="2550" spc="95" dirty="0">
                <a:solidFill>
                  <a:srgbClr val="04182D"/>
                </a:solidFill>
                <a:latin typeface="Tahoma"/>
                <a:cs typeface="Tahoma"/>
              </a:rPr>
              <a:t>Large</a:t>
            </a:r>
            <a:r>
              <a:rPr sz="2550" spc="-45" dirty="0">
                <a:solidFill>
                  <a:srgbClr val="04182D"/>
                </a:solidFill>
                <a:latin typeface="Tahoma"/>
                <a:cs typeface="Tahoma"/>
              </a:rPr>
              <a:t> </a:t>
            </a:r>
            <a:r>
              <a:rPr sz="2550" spc="114" dirty="0">
                <a:solidFill>
                  <a:srgbClr val="04182D"/>
                </a:solidFill>
                <a:latin typeface="Tahoma"/>
                <a:cs typeface="Tahoma"/>
              </a:rPr>
              <a:t>coefficients</a:t>
            </a:r>
            <a:r>
              <a:rPr sz="2550" spc="-40" dirty="0">
                <a:solidFill>
                  <a:srgbClr val="04182D"/>
                </a:solidFill>
                <a:latin typeface="Tahoma"/>
                <a:cs typeface="Tahoma"/>
              </a:rPr>
              <a:t> </a:t>
            </a:r>
            <a:r>
              <a:rPr sz="2550" spc="180" dirty="0">
                <a:solidFill>
                  <a:srgbClr val="04182D"/>
                </a:solidFill>
                <a:latin typeface="Tahoma"/>
                <a:cs typeface="Tahoma"/>
              </a:rPr>
              <a:t>can</a:t>
            </a:r>
            <a:r>
              <a:rPr sz="2550" spc="-40" dirty="0">
                <a:solidFill>
                  <a:srgbClr val="04182D"/>
                </a:solidFill>
                <a:latin typeface="Tahoma"/>
                <a:cs typeface="Tahoma"/>
              </a:rPr>
              <a:t> </a:t>
            </a:r>
            <a:r>
              <a:rPr sz="2550" spc="135" dirty="0">
                <a:solidFill>
                  <a:srgbClr val="04182D"/>
                </a:solidFill>
                <a:latin typeface="Tahoma"/>
                <a:cs typeface="Tahoma"/>
              </a:rPr>
              <a:t>lead</a:t>
            </a:r>
            <a:r>
              <a:rPr sz="2550" spc="-45" dirty="0">
                <a:solidFill>
                  <a:srgbClr val="04182D"/>
                </a:solidFill>
                <a:latin typeface="Tahoma"/>
                <a:cs typeface="Tahoma"/>
              </a:rPr>
              <a:t> </a:t>
            </a:r>
            <a:r>
              <a:rPr sz="2550" spc="80" dirty="0">
                <a:solidFill>
                  <a:srgbClr val="04182D"/>
                </a:solidFill>
                <a:latin typeface="Tahoma"/>
                <a:cs typeface="Tahoma"/>
              </a:rPr>
              <a:t>to</a:t>
            </a:r>
            <a:r>
              <a:rPr sz="2550" spc="-40" dirty="0">
                <a:solidFill>
                  <a:srgbClr val="04182D"/>
                </a:solidFill>
                <a:latin typeface="Tahoma"/>
                <a:cs typeface="Tahoma"/>
              </a:rPr>
              <a:t> </a:t>
            </a:r>
            <a:r>
              <a:rPr sz="2550" spc="70" dirty="0">
                <a:solidFill>
                  <a:srgbClr val="04182D"/>
                </a:solidFill>
                <a:latin typeface="Tahoma"/>
                <a:cs typeface="Tahoma"/>
              </a:rPr>
              <a:t>overfitting </a:t>
            </a:r>
            <a:r>
              <a:rPr sz="2550" spc="60" dirty="0">
                <a:solidFill>
                  <a:srgbClr val="04182D"/>
                </a:solidFill>
                <a:latin typeface="Tahoma"/>
                <a:cs typeface="Tahoma"/>
              </a:rPr>
              <a:t>Regularization:</a:t>
            </a:r>
            <a:r>
              <a:rPr sz="2550" spc="-30" dirty="0">
                <a:solidFill>
                  <a:srgbClr val="04182D"/>
                </a:solidFill>
                <a:latin typeface="Tahoma"/>
                <a:cs typeface="Tahoma"/>
              </a:rPr>
              <a:t> </a:t>
            </a:r>
            <a:r>
              <a:rPr sz="2550" spc="105" dirty="0">
                <a:solidFill>
                  <a:srgbClr val="04182D"/>
                </a:solidFill>
                <a:latin typeface="Tahoma"/>
                <a:cs typeface="Tahoma"/>
              </a:rPr>
              <a:t>Penalize</a:t>
            </a:r>
            <a:r>
              <a:rPr sz="2550" spc="-30" dirty="0">
                <a:solidFill>
                  <a:srgbClr val="04182D"/>
                </a:solidFill>
                <a:latin typeface="Tahoma"/>
                <a:cs typeface="Tahoma"/>
              </a:rPr>
              <a:t> </a:t>
            </a:r>
            <a:r>
              <a:rPr sz="2550" spc="105" dirty="0">
                <a:solidFill>
                  <a:srgbClr val="04182D"/>
                </a:solidFill>
                <a:latin typeface="Tahoma"/>
                <a:cs typeface="Tahoma"/>
              </a:rPr>
              <a:t>large</a:t>
            </a:r>
            <a:r>
              <a:rPr sz="2550" spc="-30" dirty="0">
                <a:solidFill>
                  <a:srgbClr val="04182D"/>
                </a:solidFill>
                <a:latin typeface="Tahoma"/>
                <a:cs typeface="Tahoma"/>
              </a:rPr>
              <a:t> </a:t>
            </a:r>
            <a:r>
              <a:rPr sz="2550" spc="105" dirty="0">
                <a:solidFill>
                  <a:srgbClr val="04182D"/>
                </a:solidFill>
                <a:latin typeface="Tahoma"/>
                <a:cs typeface="Tahoma"/>
              </a:rPr>
              <a:t>coefficients</a:t>
            </a:r>
            <a:endParaRPr sz="2550">
              <a:latin typeface="Tahoma"/>
              <a:cs typeface="Tahoma"/>
            </a:endParaRPr>
          </a:p>
        </p:txBody>
      </p:sp>
      <p:pic>
        <p:nvPicPr>
          <p:cNvPr id="5" name="object 5"/>
          <p:cNvPicPr/>
          <p:nvPr/>
        </p:nvPicPr>
        <p:blipFill>
          <a:blip r:embed="rId3" cstate="print"/>
          <a:stretch>
            <a:fillRect/>
          </a:stretch>
        </p:blipFill>
        <p:spPr>
          <a:xfrm>
            <a:off x="511759" y="2006098"/>
            <a:ext cx="102352" cy="102351"/>
          </a:xfrm>
          <a:prstGeom prst="rect">
            <a:avLst/>
          </a:prstGeom>
        </p:spPr>
      </p:pic>
      <p:pic>
        <p:nvPicPr>
          <p:cNvPr id="6" name="object 6"/>
          <p:cNvPicPr/>
          <p:nvPr/>
        </p:nvPicPr>
        <p:blipFill>
          <a:blip r:embed="rId2" cstate="print"/>
          <a:stretch>
            <a:fillRect/>
          </a:stretch>
        </p:blipFill>
        <p:spPr>
          <a:xfrm>
            <a:off x="511759" y="2661150"/>
            <a:ext cx="102352" cy="102351"/>
          </a:xfrm>
          <a:prstGeom prst="rect">
            <a:avLst/>
          </a:prstGeom>
        </p:spPr>
      </p:pic>
      <p:pic>
        <p:nvPicPr>
          <p:cNvPr id="7" name="object 7"/>
          <p:cNvPicPr/>
          <p:nvPr/>
        </p:nvPicPr>
        <p:blipFill>
          <a:blip r:embed="rId3" cstate="print"/>
          <a:stretch>
            <a:fillRect/>
          </a:stretch>
        </p:blipFill>
        <p:spPr>
          <a:xfrm>
            <a:off x="511759" y="3316203"/>
            <a:ext cx="102352" cy="102351"/>
          </a:xfrm>
          <a:prstGeom prst="rect">
            <a:avLst/>
          </a:prstGeom>
        </p:spPr>
      </p:pic>
      <p:sp>
        <p:nvSpPr>
          <p:cNvPr id="11" name="슬라이드 번호 개체 틀 10">
            <a:extLst>
              <a:ext uri="{FF2B5EF4-FFF2-40B4-BE49-F238E27FC236}">
                <a16:creationId xmlns:a16="http://schemas.microsoft.com/office/drawing/2014/main" id="{D56B0A73-BEA6-AFF3-6544-62A22F9BD40C}"/>
              </a:ext>
            </a:extLst>
          </p:cNvPr>
          <p:cNvSpPr>
            <a:spLocks noGrp="1"/>
          </p:cNvSpPr>
          <p:nvPr>
            <p:ph type="sldNum" sz="quarter" idx="7"/>
          </p:nvPr>
        </p:nvSpPr>
        <p:spPr/>
        <p:txBody>
          <a:bodyPr/>
          <a:lstStyle/>
          <a:p>
            <a:fld id="{B6F15528-21DE-4FAA-801E-634DDDAF4B2B}" type="slidenum">
              <a:rPr lang="en-US" altLang="ko-KR" smtClean="0"/>
              <a:t>30</a:t>
            </a:fld>
            <a:endParaRPr lang="en-US" altLang="ko-K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254" dirty="0"/>
              <a:t>Ridge</a:t>
            </a:r>
            <a:r>
              <a:rPr spc="-130" dirty="0"/>
              <a:t> </a:t>
            </a:r>
            <a:r>
              <a:rPr spc="-225" dirty="0"/>
              <a:t>regression</a:t>
            </a:r>
          </a:p>
        </p:txBody>
      </p:sp>
      <p:pic>
        <p:nvPicPr>
          <p:cNvPr id="3" name="object 3"/>
          <p:cNvPicPr/>
          <p:nvPr/>
        </p:nvPicPr>
        <p:blipFill>
          <a:blip r:embed="rId2" cstate="print"/>
          <a:stretch>
            <a:fillRect/>
          </a:stretch>
        </p:blipFill>
        <p:spPr>
          <a:xfrm>
            <a:off x="511759" y="1351045"/>
            <a:ext cx="102352" cy="102351"/>
          </a:xfrm>
          <a:prstGeom prst="rect">
            <a:avLst/>
          </a:prstGeom>
        </p:spPr>
      </p:pic>
      <p:sp>
        <p:nvSpPr>
          <p:cNvPr id="4" name="object 4"/>
          <p:cNvSpPr txBox="1"/>
          <p:nvPr/>
        </p:nvSpPr>
        <p:spPr>
          <a:xfrm>
            <a:off x="821656" y="1174582"/>
            <a:ext cx="8363584" cy="3073400"/>
          </a:xfrm>
          <a:prstGeom prst="rect">
            <a:avLst/>
          </a:prstGeom>
        </p:spPr>
        <p:txBody>
          <a:bodyPr vert="horz" wrap="square" lIns="0" tIns="15875" rIns="0" bIns="0" rtlCol="0">
            <a:spAutoFit/>
          </a:bodyPr>
          <a:lstStyle/>
          <a:p>
            <a:pPr marL="38100">
              <a:lnSpc>
                <a:spcPts val="2940"/>
              </a:lnSpc>
              <a:spcBef>
                <a:spcPts val="125"/>
              </a:spcBef>
            </a:pPr>
            <a:r>
              <a:rPr sz="2550" spc="60" dirty="0">
                <a:solidFill>
                  <a:srgbClr val="04182D"/>
                </a:solidFill>
                <a:latin typeface="Tahoma"/>
                <a:cs typeface="Tahoma"/>
              </a:rPr>
              <a:t>Loss</a:t>
            </a:r>
            <a:r>
              <a:rPr sz="2550" spc="-50" dirty="0">
                <a:solidFill>
                  <a:srgbClr val="04182D"/>
                </a:solidFill>
                <a:latin typeface="Tahoma"/>
                <a:cs typeface="Tahoma"/>
              </a:rPr>
              <a:t> </a:t>
            </a:r>
            <a:r>
              <a:rPr sz="2550" spc="95" dirty="0">
                <a:solidFill>
                  <a:srgbClr val="04182D"/>
                </a:solidFill>
                <a:latin typeface="Tahoma"/>
                <a:cs typeface="Tahoma"/>
              </a:rPr>
              <a:t>function</a:t>
            </a:r>
            <a:r>
              <a:rPr sz="2550" spc="-45" dirty="0">
                <a:solidFill>
                  <a:srgbClr val="04182D"/>
                </a:solidFill>
                <a:latin typeface="Tahoma"/>
                <a:cs typeface="Tahoma"/>
              </a:rPr>
              <a:t> </a:t>
            </a:r>
            <a:r>
              <a:rPr sz="2550" spc="-390" dirty="0">
                <a:solidFill>
                  <a:srgbClr val="04182D"/>
                </a:solidFill>
                <a:latin typeface="Tahoma"/>
                <a:cs typeface="Tahoma"/>
              </a:rPr>
              <a:t>=</a:t>
            </a:r>
            <a:r>
              <a:rPr sz="2550" spc="-45" dirty="0">
                <a:solidFill>
                  <a:srgbClr val="04182D"/>
                </a:solidFill>
                <a:latin typeface="Tahoma"/>
                <a:cs typeface="Tahoma"/>
              </a:rPr>
              <a:t> </a:t>
            </a:r>
            <a:r>
              <a:rPr sz="2550" spc="114" dirty="0">
                <a:solidFill>
                  <a:srgbClr val="04182D"/>
                </a:solidFill>
                <a:latin typeface="Tahoma"/>
                <a:cs typeface="Tahoma"/>
              </a:rPr>
              <a:t>OLS</a:t>
            </a:r>
            <a:r>
              <a:rPr sz="2550" spc="-50" dirty="0">
                <a:solidFill>
                  <a:srgbClr val="04182D"/>
                </a:solidFill>
                <a:latin typeface="Tahoma"/>
                <a:cs typeface="Tahoma"/>
              </a:rPr>
              <a:t> </a:t>
            </a:r>
            <a:r>
              <a:rPr sz="2550" spc="70" dirty="0">
                <a:solidFill>
                  <a:srgbClr val="04182D"/>
                </a:solidFill>
                <a:latin typeface="Tahoma"/>
                <a:cs typeface="Tahoma"/>
              </a:rPr>
              <a:t>loss</a:t>
            </a:r>
            <a:r>
              <a:rPr sz="2550" spc="-45" dirty="0">
                <a:solidFill>
                  <a:srgbClr val="04182D"/>
                </a:solidFill>
                <a:latin typeface="Tahoma"/>
                <a:cs typeface="Tahoma"/>
              </a:rPr>
              <a:t> </a:t>
            </a:r>
            <a:r>
              <a:rPr sz="2550" spc="95" dirty="0">
                <a:solidFill>
                  <a:srgbClr val="04182D"/>
                </a:solidFill>
                <a:latin typeface="Tahoma"/>
                <a:cs typeface="Tahoma"/>
              </a:rPr>
              <a:t>function</a:t>
            </a:r>
            <a:r>
              <a:rPr sz="2550" spc="-45" dirty="0">
                <a:solidFill>
                  <a:srgbClr val="04182D"/>
                </a:solidFill>
                <a:latin typeface="Tahoma"/>
                <a:cs typeface="Tahoma"/>
              </a:rPr>
              <a:t> </a:t>
            </a:r>
            <a:r>
              <a:rPr sz="4000" b="1" spc="-440" dirty="0">
                <a:solidFill>
                  <a:srgbClr val="04182D"/>
                </a:solidFill>
                <a:latin typeface="Tahoma"/>
                <a:cs typeface="Tahoma"/>
              </a:rPr>
              <a:t>+</a:t>
            </a:r>
            <a:endParaRPr sz="4000" b="1" dirty="0">
              <a:latin typeface="Tahoma"/>
              <a:cs typeface="Tahoma"/>
            </a:endParaRPr>
          </a:p>
          <a:p>
            <a:pPr marL="5996305" algn="ctr">
              <a:lnSpc>
                <a:spcPts val="2460"/>
              </a:lnSpc>
            </a:pPr>
            <a:r>
              <a:rPr sz="2150" i="1" spc="55" dirty="0">
                <a:solidFill>
                  <a:srgbClr val="04182D"/>
                </a:solidFill>
                <a:latin typeface="Arial"/>
                <a:cs typeface="Arial"/>
              </a:rPr>
              <a:t>n</a:t>
            </a:r>
            <a:endParaRPr sz="2150" dirty="0">
              <a:latin typeface="Arial"/>
              <a:cs typeface="Arial"/>
            </a:endParaRPr>
          </a:p>
          <a:p>
            <a:pPr marR="359410" algn="r">
              <a:lnSpc>
                <a:spcPct val="100000"/>
              </a:lnSpc>
              <a:spcBef>
                <a:spcPts val="340"/>
              </a:spcBef>
            </a:pPr>
            <a:r>
              <a:rPr sz="3100" i="1" spc="225" dirty="0">
                <a:solidFill>
                  <a:srgbClr val="04182D"/>
                </a:solidFill>
                <a:latin typeface="Arial"/>
                <a:cs typeface="Arial"/>
              </a:rPr>
              <a:t>α</a:t>
            </a:r>
            <a:r>
              <a:rPr sz="3100" i="1" spc="-165" dirty="0">
                <a:solidFill>
                  <a:srgbClr val="04182D"/>
                </a:solidFill>
                <a:latin typeface="Arial"/>
                <a:cs typeface="Arial"/>
              </a:rPr>
              <a:t> </a:t>
            </a:r>
            <a:r>
              <a:rPr sz="3100" spc="-915" dirty="0">
                <a:solidFill>
                  <a:srgbClr val="04182D"/>
                </a:solidFill>
                <a:latin typeface="Lucida Sans Unicode"/>
                <a:cs typeface="Lucida Sans Unicode"/>
              </a:rPr>
              <a:t>∗</a:t>
            </a:r>
            <a:r>
              <a:rPr sz="3100" spc="-285" dirty="0">
                <a:solidFill>
                  <a:srgbClr val="04182D"/>
                </a:solidFill>
                <a:latin typeface="Lucida Sans Unicode"/>
                <a:cs typeface="Lucida Sans Unicode"/>
              </a:rPr>
              <a:t> </a:t>
            </a:r>
            <a:r>
              <a:rPr sz="3100" spc="2275" dirty="0">
                <a:solidFill>
                  <a:srgbClr val="04182D"/>
                </a:solidFill>
                <a:latin typeface="Arial"/>
                <a:cs typeface="Arial"/>
              </a:rPr>
              <a:t>∑</a:t>
            </a:r>
            <a:r>
              <a:rPr sz="3100" spc="-340" dirty="0">
                <a:solidFill>
                  <a:srgbClr val="04182D"/>
                </a:solidFill>
                <a:latin typeface="Arial"/>
                <a:cs typeface="Arial"/>
              </a:rPr>
              <a:t> </a:t>
            </a:r>
            <a:r>
              <a:rPr sz="3100" i="1" spc="-25" dirty="0">
                <a:solidFill>
                  <a:srgbClr val="04182D"/>
                </a:solidFill>
                <a:latin typeface="Arial"/>
                <a:cs typeface="Arial"/>
              </a:rPr>
              <a:t>a</a:t>
            </a:r>
            <a:r>
              <a:rPr sz="3225" i="1" spc="-37" baseline="-12919" dirty="0">
                <a:solidFill>
                  <a:srgbClr val="04182D"/>
                </a:solidFill>
                <a:latin typeface="Arial"/>
                <a:cs typeface="Arial"/>
              </a:rPr>
              <a:t>i</a:t>
            </a:r>
            <a:r>
              <a:rPr sz="3225" spc="-37" baseline="33591" dirty="0">
                <a:solidFill>
                  <a:srgbClr val="04182D"/>
                </a:solidFill>
                <a:latin typeface="Lucida Sans Unicode"/>
                <a:cs typeface="Lucida Sans Unicode"/>
              </a:rPr>
              <a:t>2</a:t>
            </a:r>
            <a:endParaRPr sz="3225" baseline="33591" dirty="0">
              <a:latin typeface="Lucida Sans Unicode"/>
              <a:cs typeface="Lucida Sans Unicode"/>
            </a:endParaRPr>
          </a:p>
          <a:p>
            <a:pPr marL="5996305" algn="ctr">
              <a:lnSpc>
                <a:spcPct val="100000"/>
              </a:lnSpc>
              <a:spcBef>
                <a:spcPts val="940"/>
              </a:spcBef>
            </a:pPr>
            <a:r>
              <a:rPr sz="2150" i="1" spc="-25" dirty="0">
                <a:solidFill>
                  <a:srgbClr val="04182D"/>
                </a:solidFill>
                <a:latin typeface="Arial"/>
                <a:cs typeface="Arial"/>
              </a:rPr>
              <a:t>i</a:t>
            </a:r>
            <a:r>
              <a:rPr sz="2150" spc="-25" dirty="0">
                <a:solidFill>
                  <a:srgbClr val="04182D"/>
                </a:solidFill>
                <a:latin typeface="Lucida Sans Unicode"/>
                <a:cs typeface="Lucida Sans Unicode"/>
              </a:rPr>
              <a:t>=1</a:t>
            </a:r>
            <a:endParaRPr sz="2150" dirty="0">
              <a:latin typeface="Lucida Sans Unicode"/>
              <a:cs typeface="Lucida Sans Unicode"/>
            </a:endParaRPr>
          </a:p>
          <a:p>
            <a:pPr marL="38100">
              <a:lnSpc>
                <a:spcPct val="100000"/>
              </a:lnSpc>
              <a:spcBef>
                <a:spcPts val="2660"/>
              </a:spcBef>
            </a:pPr>
            <a:r>
              <a:rPr sz="2550" spc="100" dirty="0">
                <a:solidFill>
                  <a:srgbClr val="04182D"/>
                </a:solidFill>
                <a:latin typeface="Tahoma"/>
                <a:cs typeface="Tahoma"/>
              </a:rPr>
              <a:t>Ridge</a:t>
            </a:r>
            <a:r>
              <a:rPr sz="2550" spc="-40" dirty="0">
                <a:solidFill>
                  <a:srgbClr val="04182D"/>
                </a:solidFill>
                <a:latin typeface="Tahoma"/>
                <a:cs typeface="Tahoma"/>
              </a:rPr>
              <a:t> </a:t>
            </a:r>
            <a:r>
              <a:rPr sz="2550" spc="110" dirty="0">
                <a:solidFill>
                  <a:srgbClr val="04182D"/>
                </a:solidFill>
                <a:latin typeface="Tahoma"/>
                <a:cs typeface="Tahoma"/>
              </a:rPr>
              <a:t>penalizes</a:t>
            </a:r>
            <a:r>
              <a:rPr sz="2550" spc="-35" dirty="0">
                <a:solidFill>
                  <a:srgbClr val="04182D"/>
                </a:solidFill>
                <a:latin typeface="Tahoma"/>
                <a:cs typeface="Tahoma"/>
              </a:rPr>
              <a:t> </a:t>
            </a:r>
            <a:r>
              <a:rPr sz="2550" spc="105" dirty="0">
                <a:solidFill>
                  <a:srgbClr val="04182D"/>
                </a:solidFill>
                <a:latin typeface="Tahoma"/>
                <a:cs typeface="Tahoma"/>
              </a:rPr>
              <a:t>large</a:t>
            </a:r>
            <a:r>
              <a:rPr sz="2550" spc="-40" dirty="0">
                <a:solidFill>
                  <a:srgbClr val="04182D"/>
                </a:solidFill>
                <a:latin typeface="Tahoma"/>
                <a:cs typeface="Tahoma"/>
              </a:rPr>
              <a:t> </a:t>
            </a:r>
            <a:r>
              <a:rPr sz="2550" spc="90" dirty="0">
                <a:solidFill>
                  <a:srgbClr val="04182D"/>
                </a:solidFill>
                <a:latin typeface="Tahoma"/>
                <a:cs typeface="Tahoma"/>
              </a:rPr>
              <a:t>positive</a:t>
            </a:r>
            <a:r>
              <a:rPr sz="2550" spc="-35" dirty="0">
                <a:solidFill>
                  <a:srgbClr val="04182D"/>
                </a:solidFill>
                <a:latin typeface="Tahoma"/>
                <a:cs typeface="Tahoma"/>
              </a:rPr>
              <a:t> </a:t>
            </a:r>
            <a:r>
              <a:rPr sz="2550" spc="55" dirty="0">
                <a:solidFill>
                  <a:srgbClr val="04182D"/>
                </a:solidFill>
                <a:latin typeface="Tahoma"/>
                <a:cs typeface="Tahoma"/>
              </a:rPr>
              <a:t>or</a:t>
            </a:r>
            <a:r>
              <a:rPr sz="2550" spc="-35" dirty="0">
                <a:solidFill>
                  <a:srgbClr val="04182D"/>
                </a:solidFill>
                <a:latin typeface="Tahoma"/>
                <a:cs typeface="Tahoma"/>
              </a:rPr>
              <a:t> </a:t>
            </a:r>
            <a:r>
              <a:rPr sz="2550" spc="110" dirty="0">
                <a:solidFill>
                  <a:srgbClr val="04182D"/>
                </a:solidFill>
                <a:latin typeface="Tahoma"/>
                <a:cs typeface="Tahoma"/>
              </a:rPr>
              <a:t>negative</a:t>
            </a:r>
            <a:r>
              <a:rPr sz="2550" spc="-40" dirty="0">
                <a:solidFill>
                  <a:srgbClr val="04182D"/>
                </a:solidFill>
                <a:latin typeface="Tahoma"/>
                <a:cs typeface="Tahoma"/>
              </a:rPr>
              <a:t> </a:t>
            </a:r>
            <a:r>
              <a:rPr sz="2550" spc="105" dirty="0">
                <a:solidFill>
                  <a:srgbClr val="04182D"/>
                </a:solidFill>
                <a:latin typeface="Tahoma"/>
                <a:cs typeface="Tahoma"/>
              </a:rPr>
              <a:t>coefficients</a:t>
            </a:r>
            <a:endParaRPr sz="2550" dirty="0">
              <a:latin typeface="Tahoma"/>
              <a:cs typeface="Tahoma"/>
            </a:endParaRPr>
          </a:p>
          <a:p>
            <a:pPr marL="38100">
              <a:lnSpc>
                <a:spcPct val="100000"/>
              </a:lnSpc>
              <a:spcBef>
                <a:spcPts val="1545"/>
              </a:spcBef>
            </a:pPr>
            <a:r>
              <a:rPr sz="3100" i="1" dirty="0">
                <a:solidFill>
                  <a:srgbClr val="04182D"/>
                </a:solidFill>
                <a:latin typeface="Arial"/>
                <a:cs typeface="Arial"/>
              </a:rPr>
              <a:t>α</a:t>
            </a:r>
            <a:r>
              <a:rPr sz="2550" dirty="0">
                <a:solidFill>
                  <a:srgbClr val="04182D"/>
                </a:solidFill>
                <a:latin typeface="Tahoma"/>
                <a:cs typeface="Tahoma"/>
              </a:rPr>
              <a:t>:</a:t>
            </a:r>
            <a:r>
              <a:rPr sz="2550" spc="-55" dirty="0">
                <a:solidFill>
                  <a:srgbClr val="04182D"/>
                </a:solidFill>
                <a:latin typeface="Tahoma"/>
                <a:cs typeface="Tahoma"/>
              </a:rPr>
              <a:t> </a:t>
            </a:r>
            <a:r>
              <a:rPr sz="2550" spc="114" dirty="0">
                <a:solidFill>
                  <a:srgbClr val="04182D"/>
                </a:solidFill>
                <a:latin typeface="Tahoma"/>
                <a:cs typeface="Tahoma"/>
              </a:rPr>
              <a:t>parameter</a:t>
            </a:r>
            <a:r>
              <a:rPr sz="2550" spc="-55" dirty="0">
                <a:solidFill>
                  <a:srgbClr val="04182D"/>
                </a:solidFill>
                <a:latin typeface="Tahoma"/>
                <a:cs typeface="Tahoma"/>
              </a:rPr>
              <a:t> </a:t>
            </a:r>
            <a:r>
              <a:rPr sz="2550" spc="130" dirty="0">
                <a:solidFill>
                  <a:srgbClr val="04182D"/>
                </a:solidFill>
                <a:latin typeface="Tahoma"/>
                <a:cs typeface="Tahoma"/>
              </a:rPr>
              <a:t>we</a:t>
            </a:r>
            <a:r>
              <a:rPr sz="2550" spc="-50" dirty="0">
                <a:solidFill>
                  <a:srgbClr val="04182D"/>
                </a:solidFill>
                <a:latin typeface="Tahoma"/>
                <a:cs typeface="Tahoma"/>
              </a:rPr>
              <a:t> </a:t>
            </a:r>
            <a:r>
              <a:rPr sz="2550" spc="130" dirty="0">
                <a:solidFill>
                  <a:srgbClr val="04182D"/>
                </a:solidFill>
                <a:latin typeface="Tahoma"/>
                <a:cs typeface="Tahoma"/>
              </a:rPr>
              <a:t>need</a:t>
            </a:r>
            <a:r>
              <a:rPr sz="2550" spc="-55" dirty="0">
                <a:solidFill>
                  <a:srgbClr val="04182D"/>
                </a:solidFill>
                <a:latin typeface="Tahoma"/>
                <a:cs typeface="Tahoma"/>
              </a:rPr>
              <a:t> </a:t>
            </a:r>
            <a:r>
              <a:rPr sz="2550" spc="80" dirty="0">
                <a:solidFill>
                  <a:srgbClr val="04182D"/>
                </a:solidFill>
                <a:latin typeface="Tahoma"/>
                <a:cs typeface="Tahoma"/>
              </a:rPr>
              <a:t>to</a:t>
            </a:r>
            <a:r>
              <a:rPr sz="2550" spc="-50" dirty="0">
                <a:solidFill>
                  <a:srgbClr val="04182D"/>
                </a:solidFill>
                <a:latin typeface="Tahoma"/>
                <a:cs typeface="Tahoma"/>
              </a:rPr>
              <a:t> </a:t>
            </a:r>
            <a:r>
              <a:rPr sz="2550" spc="120" dirty="0">
                <a:solidFill>
                  <a:srgbClr val="04182D"/>
                </a:solidFill>
                <a:latin typeface="Tahoma"/>
                <a:cs typeface="Tahoma"/>
              </a:rPr>
              <a:t>choose</a:t>
            </a:r>
            <a:endParaRPr sz="2550" dirty="0">
              <a:latin typeface="Tahoma"/>
              <a:cs typeface="Tahoma"/>
            </a:endParaRPr>
          </a:p>
        </p:txBody>
      </p:sp>
      <p:pic>
        <p:nvPicPr>
          <p:cNvPr id="5" name="object 5"/>
          <p:cNvPicPr/>
          <p:nvPr/>
        </p:nvPicPr>
        <p:blipFill>
          <a:blip r:embed="rId3" cstate="print"/>
          <a:stretch>
            <a:fillRect/>
          </a:stretch>
        </p:blipFill>
        <p:spPr>
          <a:xfrm>
            <a:off x="511759" y="3336673"/>
            <a:ext cx="102352" cy="102351"/>
          </a:xfrm>
          <a:prstGeom prst="rect">
            <a:avLst/>
          </a:prstGeom>
        </p:spPr>
      </p:pic>
      <p:pic>
        <p:nvPicPr>
          <p:cNvPr id="6" name="object 6"/>
          <p:cNvPicPr/>
          <p:nvPr/>
        </p:nvPicPr>
        <p:blipFill>
          <a:blip r:embed="rId4" cstate="print"/>
          <a:stretch>
            <a:fillRect/>
          </a:stretch>
        </p:blipFill>
        <p:spPr>
          <a:xfrm>
            <a:off x="511759" y="3991726"/>
            <a:ext cx="102352" cy="102351"/>
          </a:xfrm>
          <a:prstGeom prst="rect">
            <a:avLst/>
          </a:prstGeom>
        </p:spPr>
      </p:pic>
      <p:pic>
        <p:nvPicPr>
          <p:cNvPr id="7" name="object 7"/>
          <p:cNvPicPr/>
          <p:nvPr/>
        </p:nvPicPr>
        <p:blipFill>
          <a:blip r:embed="rId2" cstate="print"/>
          <a:stretch>
            <a:fillRect/>
          </a:stretch>
        </p:blipFill>
        <p:spPr>
          <a:xfrm>
            <a:off x="511759" y="4646779"/>
            <a:ext cx="102352" cy="102351"/>
          </a:xfrm>
          <a:prstGeom prst="rect">
            <a:avLst/>
          </a:prstGeom>
        </p:spPr>
      </p:pic>
      <p:sp>
        <p:nvSpPr>
          <p:cNvPr id="8" name="object 8"/>
          <p:cNvSpPr/>
          <p:nvPr/>
        </p:nvSpPr>
        <p:spPr>
          <a:xfrm>
            <a:off x="5506535" y="4503486"/>
            <a:ext cx="245745" cy="429895"/>
          </a:xfrm>
          <a:custGeom>
            <a:avLst/>
            <a:gdLst/>
            <a:ahLst/>
            <a:cxnLst/>
            <a:rect l="l" t="t" r="r" b="b"/>
            <a:pathLst>
              <a:path w="245745" h="429895">
                <a:moveTo>
                  <a:pt x="169139" y="429878"/>
                </a:moveTo>
                <a:lnTo>
                  <a:pt x="76504" y="429878"/>
                </a:lnTo>
                <a:lnTo>
                  <a:pt x="71179" y="429353"/>
                </a:lnTo>
                <a:lnTo>
                  <a:pt x="31919" y="413090"/>
                </a:lnTo>
                <a:lnTo>
                  <a:pt x="4174" y="374363"/>
                </a:lnTo>
                <a:lnTo>
                  <a:pt x="0" y="353372"/>
                </a:lnTo>
                <a:lnTo>
                  <a:pt x="0" y="347996"/>
                </a:lnTo>
                <a:lnTo>
                  <a:pt x="0" y="76505"/>
                </a:lnTo>
                <a:lnTo>
                  <a:pt x="16786" y="31919"/>
                </a:lnTo>
                <a:lnTo>
                  <a:pt x="55513" y="4175"/>
                </a:lnTo>
                <a:lnTo>
                  <a:pt x="76504" y="0"/>
                </a:lnTo>
                <a:lnTo>
                  <a:pt x="169139" y="0"/>
                </a:lnTo>
                <a:lnTo>
                  <a:pt x="213724" y="16785"/>
                </a:lnTo>
                <a:lnTo>
                  <a:pt x="241469" y="55513"/>
                </a:lnTo>
                <a:lnTo>
                  <a:pt x="245645" y="76505"/>
                </a:lnTo>
                <a:lnTo>
                  <a:pt x="245645" y="353372"/>
                </a:lnTo>
                <a:lnTo>
                  <a:pt x="228857" y="397957"/>
                </a:lnTo>
                <a:lnTo>
                  <a:pt x="190130" y="425702"/>
                </a:lnTo>
                <a:lnTo>
                  <a:pt x="174463" y="429353"/>
                </a:lnTo>
                <a:lnTo>
                  <a:pt x="169139" y="429878"/>
                </a:lnTo>
                <a:close/>
              </a:path>
            </a:pathLst>
          </a:custGeom>
          <a:solidFill>
            <a:srgbClr val="EFEBE3"/>
          </a:solidFill>
        </p:spPr>
        <p:txBody>
          <a:bodyPr wrap="square" lIns="0" tIns="0" rIns="0" bIns="0" rtlCol="0"/>
          <a:lstStyle/>
          <a:p>
            <a:endParaRPr/>
          </a:p>
        </p:txBody>
      </p:sp>
      <p:sp>
        <p:nvSpPr>
          <p:cNvPr id="9" name="object 9"/>
          <p:cNvSpPr txBox="1"/>
          <p:nvPr/>
        </p:nvSpPr>
        <p:spPr>
          <a:xfrm>
            <a:off x="847056" y="4401535"/>
            <a:ext cx="4878070" cy="501015"/>
          </a:xfrm>
          <a:prstGeom prst="rect">
            <a:avLst/>
          </a:prstGeom>
        </p:spPr>
        <p:txBody>
          <a:bodyPr vert="horz" wrap="square" lIns="0" tIns="15240" rIns="0" bIns="0" rtlCol="0">
            <a:spAutoFit/>
          </a:bodyPr>
          <a:lstStyle/>
          <a:p>
            <a:pPr marL="12700">
              <a:lnSpc>
                <a:spcPct val="100000"/>
              </a:lnSpc>
              <a:spcBef>
                <a:spcPts val="120"/>
              </a:spcBef>
              <a:tabLst>
                <a:tab pos="4693285" algn="l"/>
              </a:tabLst>
            </a:pPr>
            <a:r>
              <a:rPr sz="2550" spc="114" dirty="0">
                <a:solidFill>
                  <a:srgbClr val="04182D"/>
                </a:solidFill>
                <a:latin typeface="Tahoma"/>
                <a:cs typeface="Tahoma"/>
              </a:rPr>
              <a:t>Picking</a:t>
            </a:r>
            <a:r>
              <a:rPr sz="2550" spc="-40" dirty="0">
                <a:solidFill>
                  <a:srgbClr val="04182D"/>
                </a:solidFill>
                <a:latin typeface="Tahoma"/>
                <a:cs typeface="Tahoma"/>
              </a:rPr>
              <a:t> </a:t>
            </a:r>
            <a:r>
              <a:rPr sz="3100" i="1" spc="225" dirty="0">
                <a:solidFill>
                  <a:srgbClr val="04182D"/>
                </a:solidFill>
                <a:latin typeface="Arial"/>
                <a:cs typeface="Arial"/>
              </a:rPr>
              <a:t>α</a:t>
            </a:r>
            <a:r>
              <a:rPr sz="3100" i="1" spc="-90" dirty="0">
                <a:solidFill>
                  <a:srgbClr val="04182D"/>
                </a:solidFill>
                <a:latin typeface="Arial"/>
                <a:cs typeface="Arial"/>
              </a:rPr>
              <a:t> </a:t>
            </a:r>
            <a:r>
              <a:rPr sz="2550" spc="55" dirty="0">
                <a:solidFill>
                  <a:srgbClr val="04182D"/>
                </a:solidFill>
                <a:latin typeface="Tahoma"/>
                <a:cs typeface="Tahoma"/>
              </a:rPr>
              <a:t>is</a:t>
            </a:r>
            <a:r>
              <a:rPr sz="2550" spc="-35" dirty="0">
                <a:solidFill>
                  <a:srgbClr val="04182D"/>
                </a:solidFill>
                <a:latin typeface="Tahoma"/>
                <a:cs typeface="Tahoma"/>
              </a:rPr>
              <a:t> </a:t>
            </a:r>
            <a:r>
              <a:rPr sz="2550" spc="80" dirty="0">
                <a:solidFill>
                  <a:srgbClr val="04182D"/>
                </a:solidFill>
                <a:latin typeface="Tahoma"/>
                <a:cs typeface="Tahoma"/>
              </a:rPr>
              <a:t>similar</a:t>
            </a:r>
            <a:r>
              <a:rPr sz="2550" spc="-40" dirty="0">
                <a:solidFill>
                  <a:srgbClr val="04182D"/>
                </a:solidFill>
                <a:latin typeface="Tahoma"/>
                <a:cs typeface="Tahoma"/>
              </a:rPr>
              <a:t> </a:t>
            </a:r>
            <a:r>
              <a:rPr sz="2550" spc="80" dirty="0">
                <a:solidFill>
                  <a:srgbClr val="04182D"/>
                </a:solidFill>
                <a:latin typeface="Tahoma"/>
                <a:cs typeface="Tahoma"/>
              </a:rPr>
              <a:t>to</a:t>
            </a:r>
            <a:r>
              <a:rPr sz="2550" spc="-35" dirty="0">
                <a:solidFill>
                  <a:srgbClr val="04182D"/>
                </a:solidFill>
                <a:latin typeface="Tahoma"/>
                <a:cs typeface="Tahoma"/>
              </a:rPr>
              <a:t> </a:t>
            </a:r>
            <a:r>
              <a:rPr sz="2550" spc="105" dirty="0">
                <a:solidFill>
                  <a:srgbClr val="04182D"/>
                </a:solidFill>
                <a:latin typeface="Tahoma"/>
                <a:cs typeface="Tahoma"/>
              </a:rPr>
              <a:t>picking</a:t>
            </a:r>
            <a:r>
              <a:rPr sz="2550" dirty="0">
                <a:solidFill>
                  <a:srgbClr val="04182D"/>
                </a:solidFill>
                <a:latin typeface="Tahoma"/>
                <a:cs typeface="Tahoma"/>
              </a:rPr>
              <a:t>	</a:t>
            </a:r>
            <a:r>
              <a:rPr sz="2250" spc="-50" dirty="0">
                <a:solidFill>
                  <a:srgbClr val="04182D"/>
                </a:solidFill>
                <a:latin typeface="Courier New"/>
                <a:cs typeface="Courier New"/>
              </a:rPr>
              <a:t>k</a:t>
            </a:r>
            <a:endParaRPr sz="2250" dirty="0">
              <a:latin typeface="Courier New"/>
              <a:cs typeface="Courier New"/>
            </a:endParaRPr>
          </a:p>
        </p:txBody>
      </p:sp>
      <p:sp>
        <p:nvSpPr>
          <p:cNvPr id="10" name="object 10"/>
          <p:cNvSpPr txBox="1"/>
          <p:nvPr/>
        </p:nvSpPr>
        <p:spPr>
          <a:xfrm>
            <a:off x="5917951" y="4470315"/>
            <a:ext cx="1105535" cy="418465"/>
          </a:xfrm>
          <a:prstGeom prst="rect">
            <a:avLst/>
          </a:prstGeom>
        </p:spPr>
        <p:txBody>
          <a:bodyPr vert="horz" wrap="square" lIns="0" tIns="15875" rIns="0" bIns="0" rtlCol="0">
            <a:spAutoFit/>
          </a:bodyPr>
          <a:lstStyle/>
          <a:p>
            <a:pPr marL="12700">
              <a:lnSpc>
                <a:spcPct val="100000"/>
              </a:lnSpc>
              <a:spcBef>
                <a:spcPts val="125"/>
              </a:spcBef>
            </a:pPr>
            <a:r>
              <a:rPr sz="2550" spc="50" dirty="0">
                <a:solidFill>
                  <a:srgbClr val="04182D"/>
                </a:solidFill>
                <a:latin typeface="Tahoma"/>
                <a:cs typeface="Tahoma"/>
              </a:rPr>
              <a:t>in</a:t>
            </a:r>
            <a:r>
              <a:rPr sz="2550" spc="-50" dirty="0">
                <a:solidFill>
                  <a:srgbClr val="04182D"/>
                </a:solidFill>
                <a:latin typeface="Tahoma"/>
                <a:cs typeface="Tahoma"/>
              </a:rPr>
              <a:t> </a:t>
            </a:r>
            <a:r>
              <a:rPr sz="2550" spc="200" dirty="0">
                <a:solidFill>
                  <a:srgbClr val="04182D"/>
                </a:solidFill>
                <a:latin typeface="Tahoma"/>
                <a:cs typeface="Tahoma"/>
              </a:rPr>
              <a:t>KNN</a:t>
            </a:r>
            <a:endParaRPr sz="2550">
              <a:latin typeface="Tahoma"/>
              <a:cs typeface="Tahoma"/>
            </a:endParaRPr>
          </a:p>
        </p:txBody>
      </p:sp>
      <p:pic>
        <p:nvPicPr>
          <p:cNvPr id="11" name="object 11"/>
          <p:cNvPicPr/>
          <p:nvPr/>
        </p:nvPicPr>
        <p:blipFill>
          <a:blip r:embed="rId5" cstate="print"/>
          <a:stretch>
            <a:fillRect/>
          </a:stretch>
        </p:blipFill>
        <p:spPr>
          <a:xfrm>
            <a:off x="511759" y="5301831"/>
            <a:ext cx="102352" cy="102351"/>
          </a:xfrm>
          <a:prstGeom prst="rect">
            <a:avLst/>
          </a:prstGeom>
        </p:spPr>
      </p:pic>
      <p:pic>
        <p:nvPicPr>
          <p:cNvPr id="12" name="object 12"/>
          <p:cNvPicPr/>
          <p:nvPr/>
        </p:nvPicPr>
        <p:blipFill>
          <a:blip r:embed="rId2" cstate="print"/>
          <a:stretch>
            <a:fillRect/>
          </a:stretch>
        </p:blipFill>
        <p:spPr>
          <a:xfrm>
            <a:off x="511759" y="5956884"/>
            <a:ext cx="102352" cy="102350"/>
          </a:xfrm>
          <a:prstGeom prst="rect">
            <a:avLst/>
          </a:prstGeom>
        </p:spPr>
      </p:pic>
      <p:pic>
        <p:nvPicPr>
          <p:cNvPr id="13" name="object 13"/>
          <p:cNvPicPr/>
          <p:nvPr/>
        </p:nvPicPr>
        <p:blipFill>
          <a:blip r:embed="rId6" cstate="print"/>
          <a:stretch>
            <a:fillRect/>
          </a:stretch>
        </p:blipFill>
        <p:spPr>
          <a:xfrm>
            <a:off x="869991" y="6437938"/>
            <a:ext cx="122822" cy="122822"/>
          </a:xfrm>
          <a:prstGeom prst="rect">
            <a:avLst/>
          </a:prstGeom>
        </p:spPr>
      </p:pic>
      <p:pic>
        <p:nvPicPr>
          <p:cNvPr id="14" name="object 14"/>
          <p:cNvPicPr/>
          <p:nvPr/>
        </p:nvPicPr>
        <p:blipFill>
          <a:blip r:embed="rId7" cstate="print"/>
          <a:stretch>
            <a:fillRect/>
          </a:stretch>
        </p:blipFill>
        <p:spPr>
          <a:xfrm>
            <a:off x="869991" y="7092991"/>
            <a:ext cx="122822" cy="122822"/>
          </a:xfrm>
          <a:prstGeom prst="rect">
            <a:avLst/>
          </a:prstGeom>
        </p:spPr>
      </p:pic>
      <p:sp>
        <p:nvSpPr>
          <p:cNvPr id="15" name="object 15"/>
          <p:cNvSpPr txBox="1"/>
          <p:nvPr/>
        </p:nvSpPr>
        <p:spPr>
          <a:xfrm>
            <a:off x="847056" y="4965665"/>
            <a:ext cx="9531350" cy="2393315"/>
          </a:xfrm>
          <a:prstGeom prst="rect">
            <a:avLst/>
          </a:prstGeom>
        </p:spPr>
        <p:txBody>
          <a:bodyPr vert="horz" wrap="square" lIns="0" tIns="175895" rIns="0" bIns="0" rtlCol="0">
            <a:spAutoFit/>
          </a:bodyPr>
          <a:lstStyle/>
          <a:p>
            <a:pPr marL="12700">
              <a:lnSpc>
                <a:spcPct val="100000"/>
              </a:lnSpc>
              <a:spcBef>
                <a:spcPts val="1385"/>
              </a:spcBef>
            </a:pPr>
            <a:r>
              <a:rPr sz="2550" spc="95" dirty="0">
                <a:solidFill>
                  <a:srgbClr val="04182D"/>
                </a:solidFill>
                <a:latin typeface="Tahoma"/>
                <a:cs typeface="Tahoma"/>
              </a:rPr>
              <a:t>Hyperparameter:</a:t>
            </a:r>
            <a:r>
              <a:rPr sz="2550" spc="-40" dirty="0">
                <a:solidFill>
                  <a:srgbClr val="04182D"/>
                </a:solidFill>
                <a:latin typeface="Tahoma"/>
                <a:cs typeface="Tahoma"/>
              </a:rPr>
              <a:t> </a:t>
            </a:r>
            <a:r>
              <a:rPr sz="2550" spc="110" dirty="0">
                <a:solidFill>
                  <a:srgbClr val="04182D"/>
                </a:solidFill>
                <a:latin typeface="Tahoma"/>
                <a:cs typeface="Tahoma"/>
              </a:rPr>
              <a:t>variable</a:t>
            </a:r>
            <a:r>
              <a:rPr sz="2550" spc="-35" dirty="0">
                <a:solidFill>
                  <a:srgbClr val="04182D"/>
                </a:solidFill>
                <a:latin typeface="Tahoma"/>
                <a:cs typeface="Tahoma"/>
              </a:rPr>
              <a:t> </a:t>
            </a:r>
            <a:r>
              <a:rPr sz="2550" spc="110" dirty="0">
                <a:solidFill>
                  <a:srgbClr val="04182D"/>
                </a:solidFill>
                <a:latin typeface="Tahoma"/>
                <a:cs typeface="Tahoma"/>
              </a:rPr>
              <a:t>used</a:t>
            </a:r>
            <a:r>
              <a:rPr sz="2550" spc="-35" dirty="0">
                <a:solidFill>
                  <a:srgbClr val="04182D"/>
                </a:solidFill>
                <a:latin typeface="Tahoma"/>
                <a:cs typeface="Tahoma"/>
              </a:rPr>
              <a:t> </a:t>
            </a:r>
            <a:r>
              <a:rPr sz="2550" spc="80" dirty="0">
                <a:solidFill>
                  <a:srgbClr val="04182D"/>
                </a:solidFill>
                <a:latin typeface="Tahoma"/>
                <a:cs typeface="Tahoma"/>
              </a:rPr>
              <a:t>to</a:t>
            </a:r>
            <a:r>
              <a:rPr sz="2550" spc="-40" dirty="0">
                <a:solidFill>
                  <a:srgbClr val="04182D"/>
                </a:solidFill>
                <a:latin typeface="Tahoma"/>
                <a:cs typeface="Tahoma"/>
              </a:rPr>
              <a:t> </a:t>
            </a:r>
            <a:r>
              <a:rPr sz="2550" spc="100" dirty="0">
                <a:solidFill>
                  <a:srgbClr val="04182D"/>
                </a:solidFill>
                <a:latin typeface="Tahoma"/>
                <a:cs typeface="Tahoma"/>
              </a:rPr>
              <a:t>optimize</a:t>
            </a:r>
            <a:r>
              <a:rPr sz="2550" spc="-35" dirty="0">
                <a:solidFill>
                  <a:srgbClr val="04182D"/>
                </a:solidFill>
                <a:latin typeface="Tahoma"/>
                <a:cs typeface="Tahoma"/>
              </a:rPr>
              <a:t> </a:t>
            </a:r>
            <a:r>
              <a:rPr sz="2550" spc="114" dirty="0">
                <a:solidFill>
                  <a:srgbClr val="04182D"/>
                </a:solidFill>
                <a:latin typeface="Tahoma"/>
                <a:cs typeface="Tahoma"/>
              </a:rPr>
              <a:t>model</a:t>
            </a:r>
            <a:r>
              <a:rPr sz="2550" spc="-35" dirty="0">
                <a:solidFill>
                  <a:srgbClr val="04182D"/>
                </a:solidFill>
                <a:latin typeface="Tahoma"/>
                <a:cs typeface="Tahoma"/>
              </a:rPr>
              <a:t> </a:t>
            </a:r>
            <a:r>
              <a:rPr sz="2550" spc="95" dirty="0">
                <a:solidFill>
                  <a:srgbClr val="04182D"/>
                </a:solidFill>
                <a:latin typeface="Tahoma"/>
                <a:cs typeface="Tahoma"/>
              </a:rPr>
              <a:t>parameters</a:t>
            </a:r>
            <a:endParaRPr sz="2550" dirty="0">
              <a:latin typeface="Tahoma"/>
              <a:cs typeface="Tahoma"/>
            </a:endParaRPr>
          </a:p>
          <a:p>
            <a:pPr marL="12700">
              <a:lnSpc>
                <a:spcPct val="100000"/>
              </a:lnSpc>
              <a:spcBef>
                <a:spcPts val="1550"/>
              </a:spcBef>
            </a:pPr>
            <a:r>
              <a:rPr sz="3100" i="1" spc="225" dirty="0">
                <a:solidFill>
                  <a:srgbClr val="04182D"/>
                </a:solidFill>
                <a:latin typeface="Arial"/>
                <a:cs typeface="Arial"/>
              </a:rPr>
              <a:t>α</a:t>
            </a:r>
            <a:r>
              <a:rPr sz="3100" i="1" spc="-95" dirty="0">
                <a:solidFill>
                  <a:srgbClr val="04182D"/>
                </a:solidFill>
                <a:latin typeface="Arial"/>
                <a:cs typeface="Arial"/>
              </a:rPr>
              <a:t> </a:t>
            </a:r>
            <a:r>
              <a:rPr sz="2550" spc="80" dirty="0">
                <a:solidFill>
                  <a:srgbClr val="04182D"/>
                </a:solidFill>
                <a:latin typeface="Tahoma"/>
                <a:cs typeface="Tahoma"/>
              </a:rPr>
              <a:t>controls</a:t>
            </a:r>
            <a:r>
              <a:rPr sz="2550" spc="-35" dirty="0">
                <a:solidFill>
                  <a:srgbClr val="04182D"/>
                </a:solidFill>
                <a:latin typeface="Tahoma"/>
                <a:cs typeface="Tahoma"/>
              </a:rPr>
              <a:t> </a:t>
            </a:r>
            <a:r>
              <a:rPr sz="2550" spc="114" dirty="0">
                <a:solidFill>
                  <a:srgbClr val="04182D"/>
                </a:solidFill>
                <a:latin typeface="Tahoma"/>
                <a:cs typeface="Tahoma"/>
              </a:rPr>
              <a:t>model</a:t>
            </a:r>
            <a:r>
              <a:rPr sz="2550" spc="-35" dirty="0">
                <a:solidFill>
                  <a:srgbClr val="04182D"/>
                </a:solidFill>
                <a:latin typeface="Tahoma"/>
                <a:cs typeface="Tahoma"/>
              </a:rPr>
              <a:t> </a:t>
            </a:r>
            <a:r>
              <a:rPr sz="2550" spc="105" dirty="0">
                <a:solidFill>
                  <a:srgbClr val="04182D"/>
                </a:solidFill>
                <a:latin typeface="Tahoma"/>
                <a:cs typeface="Tahoma"/>
              </a:rPr>
              <a:t>complexity</a:t>
            </a:r>
            <a:endParaRPr sz="2550" dirty="0">
              <a:latin typeface="Tahoma"/>
              <a:cs typeface="Tahoma"/>
            </a:endParaRPr>
          </a:p>
          <a:p>
            <a:pPr marL="381000">
              <a:lnSpc>
                <a:spcPct val="100000"/>
              </a:lnSpc>
              <a:spcBef>
                <a:spcPts val="145"/>
              </a:spcBef>
            </a:pPr>
            <a:r>
              <a:rPr sz="3100" i="1" spc="225" dirty="0">
                <a:solidFill>
                  <a:srgbClr val="04182D"/>
                </a:solidFill>
                <a:latin typeface="Arial"/>
                <a:cs typeface="Arial"/>
              </a:rPr>
              <a:t>α</a:t>
            </a:r>
            <a:r>
              <a:rPr sz="3100" i="1" spc="-100" dirty="0">
                <a:solidFill>
                  <a:srgbClr val="04182D"/>
                </a:solidFill>
                <a:latin typeface="Arial"/>
                <a:cs typeface="Arial"/>
              </a:rPr>
              <a:t> </a:t>
            </a:r>
            <a:r>
              <a:rPr sz="2550" spc="-390" dirty="0">
                <a:solidFill>
                  <a:srgbClr val="04182D"/>
                </a:solidFill>
                <a:latin typeface="Tahoma"/>
                <a:cs typeface="Tahoma"/>
              </a:rPr>
              <a:t>=</a:t>
            </a:r>
            <a:r>
              <a:rPr sz="2550" spc="-45" dirty="0">
                <a:solidFill>
                  <a:srgbClr val="04182D"/>
                </a:solidFill>
                <a:latin typeface="Tahoma"/>
                <a:cs typeface="Tahoma"/>
              </a:rPr>
              <a:t> </a:t>
            </a:r>
            <a:r>
              <a:rPr sz="2550" spc="330" dirty="0">
                <a:solidFill>
                  <a:srgbClr val="04182D"/>
                </a:solidFill>
                <a:latin typeface="Tahoma"/>
                <a:cs typeface="Tahoma"/>
              </a:rPr>
              <a:t>0</a:t>
            </a:r>
            <a:r>
              <a:rPr sz="2550" spc="-45" dirty="0">
                <a:solidFill>
                  <a:srgbClr val="04182D"/>
                </a:solidFill>
                <a:latin typeface="Tahoma"/>
                <a:cs typeface="Tahoma"/>
              </a:rPr>
              <a:t> </a:t>
            </a:r>
            <a:r>
              <a:rPr sz="2550" spc="-390" dirty="0">
                <a:solidFill>
                  <a:srgbClr val="04182D"/>
                </a:solidFill>
                <a:latin typeface="Tahoma"/>
                <a:cs typeface="Tahoma"/>
              </a:rPr>
              <a:t>=</a:t>
            </a:r>
            <a:r>
              <a:rPr sz="2550" spc="-45" dirty="0">
                <a:solidFill>
                  <a:srgbClr val="04182D"/>
                </a:solidFill>
                <a:latin typeface="Tahoma"/>
                <a:cs typeface="Tahoma"/>
              </a:rPr>
              <a:t> </a:t>
            </a:r>
            <a:r>
              <a:rPr sz="2550" spc="114" dirty="0">
                <a:solidFill>
                  <a:srgbClr val="04182D"/>
                </a:solidFill>
                <a:latin typeface="Tahoma"/>
                <a:cs typeface="Tahoma"/>
              </a:rPr>
              <a:t>OLS</a:t>
            </a:r>
            <a:r>
              <a:rPr sz="2550" spc="-45" dirty="0">
                <a:solidFill>
                  <a:srgbClr val="04182D"/>
                </a:solidFill>
                <a:latin typeface="Tahoma"/>
                <a:cs typeface="Tahoma"/>
              </a:rPr>
              <a:t> </a:t>
            </a:r>
            <a:r>
              <a:rPr sz="2550" spc="135" dirty="0">
                <a:solidFill>
                  <a:srgbClr val="04182D"/>
                </a:solidFill>
                <a:latin typeface="Tahoma"/>
                <a:cs typeface="Tahoma"/>
              </a:rPr>
              <a:t>(Can</a:t>
            </a:r>
            <a:r>
              <a:rPr sz="2550" spc="-45" dirty="0">
                <a:solidFill>
                  <a:srgbClr val="04182D"/>
                </a:solidFill>
                <a:latin typeface="Tahoma"/>
                <a:cs typeface="Tahoma"/>
              </a:rPr>
              <a:t> </a:t>
            </a:r>
            <a:r>
              <a:rPr sz="2550" spc="135" dirty="0">
                <a:solidFill>
                  <a:srgbClr val="04182D"/>
                </a:solidFill>
                <a:latin typeface="Tahoma"/>
                <a:cs typeface="Tahoma"/>
              </a:rPr>
              <a:t>lead</a:t>
            </a:r>
            <a:r>
              <a:rPr sz="2550" spc="-45" dirty="0">
                <a:solidFill>
                  <a:srgbClr val="04182D"/>
                </a:solidFill>
                <a:latin typeface="Tahoma"/>
                <a:cs typeface="Tahoma"/>
              </a:rPr>
              <a:t> </a:t>
            </a:r>
            <a:r>
              <a:rPr sz="2550" spc="80" dirty="0">
                <a:solidFill>
                  <a:srgbClr val="04182D"/>
                </a:solidFill>
                <a:latin typeface="Tahoma"/>
                <a:cs typeface="Tahoma"/>
              </a:rPr>
              <a:t>to</a:t>
            </a:r>
            <a:r>
              <a:rPr sz="2550" spc="-45" dirty="0">
                <a:solidFill>
                  <a:srgbClr val="04182D"/>
                </a:solidFill>
                <a:latin typeface="Tahoma"/>
                <a:cs typeface="Tahoma"/>
              </a:rPr>
              <a:t> </a:t>
            </a:r>
            <a:r>
              <a:rPr sz="2550" spc="50" dirty="0">
                <a:solidFill>
                  <a:srgbClr val="04182D"/>
                </a:solidFill>
                <a:latin typeface="Tahoma"/>
                <a:cs typeface="Tahoma"/>
              </a:rPr>
              <a:t>overfitting)</a:t>
            </a:r>
            <a:endParaRPr sz="2550" dirty="0">
              <a:latin typeface="Tahoma"/>
              <a:cs typeface="Tahoma"/>
            </a:endParaRPr>
          </a:p>
          <a:p>
            <a:pPr marL="381000">
              <a:lnSpc>
                <a:spcPct val="100000"/>
              </a:lnSpc>
              <a:spcBef>
                <a:spcPts val="1440"/>
              </a:spcBef>
            </a:pPr>
            <a:r>
              <a:rPr sz="2550" spc="80" dirty="0">
                <a:solidFill>
                  <a:srgbClr val="04182D"/>
                </a:solidFill>
                <a:latin typeface="Tahoma"/>
                <a:cs typeface="Tahoma"/>
              </a:rPr>
              <a:t>Very</a:t>
            </a:r>
            <a:r>
              <a:rPr sz="2550" spc="-50" dirty="0">
                <a:solidFill>
                  <a:srgbClr val="04182D"/>
                </a:solidFill>
                <a:latin typeface="Tahoma"/>
                <a:cs typeface="Tahoma"/>
              </a:rPr>
              <a:t> </a:t>
            </a:r>
            <a:r>
              <a:rPr sz="2550" spc="90" dirty="0">
                <a:solidFill>
                  <a:srgbClr val="04182D"/>
                </a:solidFill>
                <a:latin typeface="Tahoma"/>
                <a:cs typeface="Tahoma"/>
              </a:rPr>
              <a:t>high</a:t>
            </a:r>
            <a:r>
              <a:rPr sz="2550" spc="-50" dirty="0">
                <a:solidFill>
                  <a:srgbClr val="04182D"/>
                </a:solidFill>
                <a:latin typeface="Tahoma"/>
                <a:cs typeface="Tahoma"/>
              </a:rPr>
              <a:t> </a:t>
            </a:r>
            <a:r>
              <a:rPr sz="3100" i="1" dirty="0">
                <a:solidFill>
                  <a:srgbClr val="04182D"/>
                </a:solidFill>
                <a:latin typeface="Arial"/>
                <a:cs typeface="Arial"/>
              </a:rPr>
              <a:t>α</a:t>
            </a:r>
            <a:r>
              <a:rPr sz="2550" dirty="0">
                <a:solidFill>
                  <a:srgbClr val="04182D"/>
                </a:solidFill>
                <a:latin typeface="Tahoma"/>
                <a:cs typeface="Tahoma"/>
              </a:rPr>
              <a:t>:</a:t>
            </a:r>
            <a:r>
              <a:rPr sz="2550" spc="-45" dirty="0">
                <a:solidFill>
                  <a:srgbClr val="04182D"/>
                </a:solidFill>
                <a:latin typeface="Tahoma"/>
                <a:cs typeface="Tahoma"/>
              </a:rPr>
              <a:t> </a:t>
            </a:r>
            <a:r>
              <a:rPr sz="2550" spc="229" dirty="0">
                <a:solidFill>
                  <a:srgbClr val="04182D"/>
                </a:solidFill>
                <a:latin typeface="Tahoma"/>
                <a:cs typeface="Tahoma"/>
              </a:rPr>
              <a:t>Can</a:t>
            </a:r>
            <a:r>
              <a:rPr sz="2550" spc="-50" dirty="0">
                <a:solidFill>
                  <a:srgbClr val="04182D"/>
                </a:solidFill>
                <a:latin typeface="Tahoma"/>
                <a:cs typeface="Tahoma"/>
              </a:rPr>
              <a:t> </a:t>
            </a:r>
            <a:r>
              <a:rPr sz="2550" spc="135" dirty="0">
                <a:solidFill>
                  <a:srgbClr val="04182D"/>
                </a:solidFill>
                <a:latin typeface="Tahoma"/>
                <a:cs typeface="Tahoma"/>
              </a:rPr>
              <a:t>lead</a:t>
            </a:r>
            <a:r>
              <a:rPr sz="2550" spc="-45" dirty="0">
                <a:solidFill>
                  <a:srgbClr val="04182D"/>
                </a:solidFill>
                <a:latin typeface="Tahoma"/>
                <a:cs typeface="Tahoma"/>
              </a:rPr>
              <a:t> </a:t>
            </a:r>
            <a:r>
              <a:rPr sz="2550" spc="80" dirty="0">
                <a:solidFill>
                  <a:srgbClr val="04182D"/>
                </a:solidFill>
                <a:latin typeface="Tahoma"/>
                <a:cs typeface="Tahoma"/>
              </a:rPr>
              <a:t>to</a:t>
            </a:r>
            <a:r>
              <a:rPr sz="2550" spc="-50" dirty="0">
                <a:solidFill>
                  <a:srgbClr val="04182D"/>
                </a:solidFill>
                <a:latin typeface="Tahoma"/>
                <a:cs typeface="Tahoma"/>
              </a:rPr>
              <a:t> </a:t>
            </a:r>
            <a:r>
              <a:rPr sz="2550" spc="70" dirty="0">
                <a:solidFill>
                  <a:srgbClr val="04182D"/>
                </a:solidFill>
                <a:latin typeface="Tahoma"/>
                <a:cs typeface="Tahoma"/>
              </a:rPr>
              <a:t>underfitting</a:t>
            </a:r>
            <a:endParaRPr sz="2550" dirty="0">
              <a:latin typeface="Tahoma"/>
              <a:cs typeface="Tahoma"/>
            </a:endParaRPr>
          </a:p>
        </p:txBody>
      </p:sp>
      <p:sp>
        <p:nvSpPr>
          <p:cNvPr id="19" name="슬라이드 번호 개체 틀 18">
            <a:extLst>
              <a:ext uri="{FF2B5EF4-FFF2-40B4-BE49-F238E27FC236}">
                <a16:creationId xmlns:a16="http://schemas.microsoft.com/office/drawing/2014/main" id="{AD30B007-41AD-869D-E053-841B2A154550}"/>
              </a:ext>
            </a:extLst>
          </p:cNvPr>
          <p:cNvSpPr>
            <a:spLocks noGrp="1"/>
          </p:cNvSpPr>
          <p:nvPr>
            <p:ph type="sldNum" sz="quarter" idx="7"/>
          </p:nvPr>
        </p:nvSpPr>
        <p:spPr/>
        <p:txBody>
          <a:bodyPr/>
          <a:lstStyle/>
          <a:p>
            <a:fld id="{B6F15528-21DE-4FAA-801E-634DDDAF4B2B}" type="slidenum">
              <a:rPr lang="en-US" altLang="ko-KR" smtClean="0"/>
              <a:t>31</a:t>
            </a:fld>
            <a:endParaRPr lang="en-US" altLang="ko-KR"/>
          </a:p>
        </p:txBody>
      </p:sp>
      <p:sp>
        <p:nvSpPr>
          <p:cNvPr id="21" name="TextBox 20">
            <a:extLst>
              <a:ext uri="{FF2B5EF4-FFF2-40B4-BE49-F238E27FC236}">
                <a16:creationId xmlns:a16="http://schemas.microsoft.com/office/drawing/2014/main" id="{B9BCD2D5-6AF9-A981-540F-672E76F83BD8}"/>
              </a:ext>
            </a:extLst>
          </p:cNvPr>
          <p:cNvSpPr txBox="1"/>
          <p:nvPr/>
        </p:nvSpPr>
        <p:spPr>
          <a:xfrm>
            <a:off x="7047008" y="30566"/>
            <a:ext cx="8363583" cy="1200329"/>
          </a:xfrm>
          <a:prstGeom prst="rect">
            <a:avLst/>
          </a:prstGeom>
          <a:noFill/>
        </p:spPr>
        <p:txBody>
          <a:bodyPr wrap="square">
            <a:spAutoFit/>
          </a:bodyPr>
          <a:lstStyle/>
          <a:p>
            <a:r>
              <a:rPr lang="en-US" altLang="ko-KR" b="1" dirty="0"/>
              <a:t>Ridge regression</a:t>
            </a:r>
            <a:r>
              <a:rPr lang="en-US" altLang="ko-KR" dirty="0"/>
              <a:t> is a type of linear regression that includes </a:t>
            </a:r>
            <a:r>
              <a:rPr lang="en-US" altLang="ko-KR" b="1" dirty="0"/>
              <a:t>L2 regularization</a:t>
            </a:r>
            <a:r>
              <a:rPr lang="en-US" altLang="ko-KR" dirty="0"/>
              <a:t>. It is used to prevent overfitting and handle multicollinearity in the data by introducing a penalty term to the loss function that shrinks the regression coefficients towards zero.</a:t>
            </a:r>
            <a:endParaRPr lang="ko-KR" altLang="en-US" dirty="0"/>
          </a:p>
        </p:txBody>
      </p:sp>
      <p:sp>
        <p:nvSpPr>
          <p:cNvPr id="23" name="TextBox 22">
            <a:extLst>
              <a:ext uri="{FF2B5EF4-FFF2-40B4-BE49-F238E27FC236}">
                <a16:creationId xmlns:a16="http://schemas.microsoft.com/office/drawing/2014/main" id="{9ABF72B0-1EF6-D7F7-1F82-87F0F9AA589D}"/>
              </a:ext>
            </a:extLst>
          </p:cNvPr>
          <p:cNvSpPr txBox="1"/>
          <p:nvPr/>
        </p:nvSpPr>
        <p:spPr>
          <a:xfrm>
            <a:off x="7541750" y="7154402"/>
            <a:ext cx="7778838" cy="646331"/>
          </a:xfrm>
          <a:prstGeom prst="rect">
            <a:avLst/>
          </a:prstGeom>
          <a:noFill/>
        </p:spPr>
        <p:txBody>
          <a:bodyPr wrap="square">
            <a:spAutoFit/>
          </a:bodyPr>
          <a:lstStyle/>
          <a:p>
            <a:r>
              <a:rPr lang="en-US" altLang="ko-KR" sz="1800" i="1" spc="-25" dirty="0">
                <a:solidFill>
                  <a:srgbClr val="04182D"/>
                </a:solidFill>
                <a:latin typeface="Arial"/>
                <a:cs typeface="Arial"/>
              </a:rPr>
              <a:t>a</a:t>
            </a:r>
            <a:r>
              <a:rPr lang="en-US" altLang="ko-KR" sz="2000" i="1" spc="-37" baseline="-12919" dirty="0">
                <a:solidFill>
                  <a:srgbClr val="04182D"/>
                </a:solidFill>
                <a:latin typeface="Arial"/>
                <a:cs typeface="Arial"/>
              </a:rPr>
              <a:t>i</a:t>
            </a:r>
            <a:r>
              <a:rPr lang="en-US" altLang="ko-KR" i="1" spc="-25" dirty="0">
                <a:solidFill>
                  <a:srgbClr val="04182D"/>
                </a:solidFill>
                <a:latin typeface="Arial"/>
                <a:cs typeface="Arial"/>
              </a:rPr>
              <a:t> </a:t>
            </a:r>
            <a:r>
              <a:rPr lang="en-US" altLang="ko-KR" dirty="0"/>
              <a:t>Coefficients of the regression model</a:t>
            </a:r>
          </a:p>
          <a:p>
            <a:r>
              <a:rPr lang="en-US" altLang="ko-KR" dirty="0"/>
              <a:t>n Number of predictors</a:t>
            </a:r>
            <a:endParaRPr lang="ko-KR" altLang="en-US" dirty="0"/>
          </a:p>
        </p:txBody>
      </p:sp>
      <p:sp>
        <p:nvSpPr>
          <p:cNvPr id="25" name="TextBox 24">
            <a:extLst>
              <a:ext uri="{FF2B5EF4-FFF2-40B4-BE49-F238E27FC236}">
                <a16:creationId xmlns:a16="http://schemas.microsoft.com/office/drawing/2014/main" id="{1EB8FEAD-C165-7643-179F-F27A30E3FA08}"/>
              </a:ext>
            </a:extLst>
          </p:cNvPr>
          <p:cNvSpPr txBox="1"/>
          <p:nvPr/>
        </p:nvSpPr>
        <p:spPr>
          <a:xfrm>
            <a:off x="7778750" y="3702221"/>
            <a:ext cx="7778838" cy="1200329"/>
          </a:xfrm>
          <a:prstGeom prst="rect">
            <a:avLst/>
          </a:prstGeom>
          <a:noFill/>
        </p:spPr>
        <p:txBody>
          <a:bodyPr wrap="square">
            <a:spAutoFit/>
          </a:bodyPr>
          <a:lstStyle/>
          <a:p>
            <a:r>
              <a:rPr lang="en-US" altLang="ko-KR" b="1" dirty="0"/>
              <a:t>Multicollinearity</a:t>
            </a:r>
            <a:r>
              <a:rPr lang="en-US" altLang="ko-KR" dirty="0"/>
              <a:t> refers to a situation in regression analysis where two or more independent variables (predictors) are highly correlated with each other. This means they provide redundant information about the dependent variable, making it difficult to isolate the individual effect of each predictor.</a:t>
            </a:r>
            <a:endParaRPr lang="ko-KR"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8589" y="273885"/>
            <a:ext cx="8079105" cy="713740"/>
          </a:xfrm>
          <a:prstGeom prst="rect">
            <a:avLst/>
          </a:prstGeom>
        </p:spPr>
        <p:txBody>
          <a:bodyPr vert="horz" wrap="square" lIns="0" tIns="13970" rIns="0" bIns="0" rtlCol="0">
            <a:spAutoFit/>
          </a:bodyPr>
          <a:lstStyle/>
          <a:p>
            <a:pPr marL="12700">
              <a:lnSpc>
                <a:spcPct val="100000"/>
              </a:lnSpc>
              <a:spcBef>
                <a:spcPts val="110"/>
              </a:spcBef>
            </a:pPr>
            <a:r>
              <a:rPr spc="-254" dirty="0"/>
              <a:t>Ridge</a:t>
            </a:r>
            <a:r>
              <a:rPr spc="-114" dirty="0"/>
              <a:t> </a:t>
            </a:r>
            <a:r>
              <a:rPr spc="-254" dirty="0"/>
              <a:t>regression</a:t>
            </a:r>
            <a:r>
              <a:rPr spc="-114" dirty="0"/>
              <a:t> </a:t>
            </a:r>
            <a:r>
              <a:rPr spc="-265" dirty="0"/>
              <a:t>in</a:t>
            </a:r>
            <a:r>
              <a:rPr spc="-110" dirty="0"/>
              <a:t> </a:t>
            </a:r>
            <a:r>
              <a:rPr spc="-250" dirty="0"/>
              <a:t>scikit-</a:t>
            </a:r>
            <a:r>
              <a:rPr spc="-100" dirty="0"/>
              <a:t>learn</a:t>
            </a:r>
          </a:p>
        </p:txBody>
      </p:sp>
      <p:grpSp>
        <p:nvGrpSpPr>
          <p:cNvPr id="3" name="object 3"/>
          <p:cNvGrpSpPr/>
          <p:nvPr/>
        </p:nvGrpSpPr>
        <p:grpSpPr>
          <a:xfrm>
            <a:off x="491289" y="1166812"/>
            <a:ext cx="14575155" cy="3992245"/>
            <a:chOff x="491289" y="1166812"/>
            <a:chExt cx="14575155" cy="3992245"/>
          </a:xfrm>
        </p:grpSpPr>
        <p:sp>
          <p:nvSpPr>
            <p:cNvPr id="4" name="object 4"/>
            <p:cNvSpPr/>
            <p:nvPr/>
          </p:nvSpPr>
          <p:spPr>
            <a:xfrm>
              <a:off x="491289" y="1166812"/>
              <a:ext cx="14575155" cy="3992245"/>
            </a:xfrm>
            <a:custGeom>
              <a:avLst/>
              <a:gdLst/>
              <a:ahLst/>
              <a:cxnLst/>
              <a:rect l="l" t="t" r="r" b="b"/>
              <a:pathLst>
                <a:path w="14575155" h="3992245">
                  <a:moveTo>
                    <a:pt x="14498413" y="3991726"/>
                  </a:moveTo>
                  <a:lnTo>
                    <a:pt x="76505" y="3991726"/>
                  </a:lnTo>
                  <a:lnTo>
                    <a:pt x="71180" y="3991201"/>
                  </a:lnTo>
                  <a:lnTo>
                    <a:pt x="31920" y="3974939"/>
                  </a:lnTo>
                  <a:lnTo>
                    <a:pt x="4175" y="3936212"/>
                  </a:lnTo>
                  <a:lnTo>
                    <a:pt x="0" y="3915220"/>
                  </a:lnTo>
                  <a:lnTo>
                    <a:pt x="0" y="3909844"/>
                  </a:lnTo>
                  <a:lnTo>
                    <a:pt x="0" y="76505"/>
                  </a:lnTo>
                  <a:lnTo>
                    <a:pt x="16786" y="31920"/>
                  </a:lnTo>
                  <a:lnTo>
                    <a:pt x="55513" y="4175"/>
                  </a:lnTo>
                  <a:lnTo>
                    <a:pt x="76505" y="0"/>
                  </a:lnTo>
                  <a:lnTo>
                    <a:pt x="14498413" y="0"/>
                  </a:lnTo>
                  <a:lnTo>
                    <a:pt x="14542998" y="16786"/>
                  </a:lnTo>
                  <a:lnTo>
                    <a:pt x="14570742" y="55513"/>
                  </a:lnTo>
                  <a:lnTo>
                    <a:pt x="14574918" y="76505"/>
                  </a:lnTo>
                  <a:lnTo>
                    <a:pt x="14574918" y="3915220"/>
                  </a:lnTo>
                  <a:lnTo>
                    <a:pt x="14558132" y="3959805"/>
                  </a:lnTo>
                  <a:lnTo>
                    <a:pt x="14519404" y="3987550"/>
                  </a:lnTo>
                  <a:lnTo>
                    <a:pt x="14503737" y="3991201"/>
                  </a:lnTo>
                  <a:lnTo>
                    <a:pt x="14498413" y="3991726"/>
                  </a:lnTo>
                  <a:close/>
                </a:path>
              </a:pathLst>
            </a:custGeom>
            <a:solidFill>
              <a:srgbClr val="F6F2EB"/>
            </a:solidFill>
          </p:spPr>
          <p:txBody>
            <a:bodyPr wrap="square" lIns="0" tIns="0" rIns="0" bIns="0" rtlCol="0"/>
            <a:lstStyle/>
            <a:p>
              <a:endParaRPr/>
            </a:p>
          </p:txBody>
        </p:sp>
        <p:sp>
          <p:nvSpPr>
            <p:cNvPr id="5" name="object 5"/>
            <p:cNvSpPr/>
            <p:nvPr/>
          </p:nvSpPr>
          <p:spPr>
            <a:xfrm>
              <a:off x="659536" y="1422717"/>
              <a:ext cx="5089525" cy="1118870"/>
            </a:xfrm>
            <a:custGeom>
              <a:avLst/>
              <a:gdLst/>
              <a:ahLst/>
              <a:cxnLst/>
              <a:rect l="l" t="t" r="r" b="b"/>
              <a:pathLst>
                <a:path w="5089525" h="1118870">
                  <a:moveTo>
                    <a:pt x="137629" y="909993"/>
                  </a:moveTo>
                  <a:lnTo>
                    <a:pt x="86804" y="909993"/>
                  </a:lnTo>
                  <a:lnTo>
                    <a:pt x="77279" y="910717"/>
                  </a:lnTo>
                  <a:lnTo>
                    <a:pt x="45631" y="934859"/>
                  </a:lnTo>
                  <a:lnTo>
                    <a:pt x="42621" y="952296"/>
                  </a:lnTo>
                  <a:lnTo>
                    <a:pt x="42621" y="960882"/>
                  </a:lnTo>
                  <a:lnTo>
                    <a:pt x="0" y="960882"/>
                  </a:lnTo>
                  <a:lnTo>
                    <a:pt x="0" y="993813"/>
                  </a:lnTo>
                  <a:lnTo>
                    <a:pt x="42621" y="993813"/>
                  </a:lnTo>
                  <a:lnTo>
                    <a:pt x="42621" y="1115618"/>
                  </a:lnTo>
                  <a:lnTo>
                    <a:pt x="77698" y="1115618"/>
                  </a:lnTo>
                  <a:lnTo>
                    <a:pt x="77698" y="993813"/>
                  </a:lnTo>
                  <a:lnTo>
                    <a:pt x="137629" y="993813"/>
                  </a:lnTo>
                  <a:lnTo>
                    <a:pt x="137629" y="960882"/>
                  </a:lnTo>
                  <a:lnTo>
                    <a:pt x="77698" y="960882"/>
                  </a:lnTo>
                  <a:lnTo>
                    <a:pt x="77698" y="948956"/>
                  </a:lnTo>
                  <a:lnTo>
                    <a:pt x="78435" y="946670"/>
                  </a:lnTo>
                  <a:lnTo>
                    <a:pt x="81419" y="943686"/>
                  </a:lnTo>
                  <a:lnTo>
                    <a:pt x="83731" y="942924"/>
                  </a:lnTo>
                  <a:lnTo>
                    <a:pt x="137629" y="942924"/>
                  </a:lnTo>
                  <a:lnTo>
                    <a:pt x="137629" y="909993"/>
                  </a:lnTo>
                  <a:close/>
                </a:path>
                <a:path w="5089525" h="1118870">
                  <a:moveTo>
                    <a:pt x="137629" y="9296"/>
                  </a:moveTo>
                  <a:lnTo>
                    <a:pt x="86804" y="9296"/>
                  </a:lnTo>
                  <a:lnTo>
                    <a:pt x="77279" y="10020"/>
                  </a:lnTo>
                  <a:lnTo>
                    <a:pt x="45631" y="34163"/>
                  </a:lnTo>
                  <a:lnTo>
                    <a:pt x="42621" y="51600"/>
                  </a:lnTo>
                  <a:lnTo>
                    <a:pt x="42621" y="60185"/>
                  </a:lnTo>
                  <a:lnTo>
                    <a:pt x="0" y="60185"/>
                  </a:lnTo>
                  <a:lnTo>
                    <a:pt x="0" y="93103"/>
                  </a:lnTo>
                  <a:lnTo>
                    <a:pt x="42621" y="93103"/>
                  </a:lnTo>
                  <a:lnTo>
                    <a:pt x="42621" y="214922"/>
                  </a:lnTo>
                  <a:lnTo>
                    <a:pt x="77698" y="214922"/>
                  </a:lnTo>
                  <a:lnTo>
                    <a:pt x="77698" y="93103"/>
                  </a:lnTo>
                  <a:lnTo>
                    <a:pt x="137629" y="93103"/>
                  </a:lnTo>
                  <a:lnTo>
                    <a:pt x="137629" y="60185"/>
                  </a:lnTo>
                  <a:lnTo>
                    <a:pt x="77698" y="60185"/>
                  </a:lnTo>
                  <a:lnTo>
                    <a:pt x="77698" y="48260"/>
                  </a:lnTo>
                  <a:lnTo>
                    <a:pt x="78435" y="45974"/>
                  </a:lnTo>
                  <a:lnTo>
                    <a:pt x="81419" y="42989"/>
                  </a:lnTo>
                  <a:lnTo>
                    <a:pt x="83731" y="42227"/>
                  </a:lnTo>
                  <a:lnTo>
                    <a:pt x="137629" y="42227"/>
                  </a:lnTo>
                  <a:lnTo>
                    <a:pt x="137629" y="9296"/>
                  </a:lnTo>
                  <a:close/>
                </a:path>
                <a:path w="5089525" h="1118870">
                  <a:moveTo>
                    <a:pt x="291363" y="1016520"/>
                  </a:moveTo>
                  <a:lnTo>
                    <a:pt x="290309" y="1003160"/>
                  </a:lnTo>
                  <a:lnTo>
                    <a:pt x="287159" y="991247"/>
                  </a:lnTo>
                  <a:lnTo>
                    <a:pt x="285356" y="987691"/>
                  </a:lnTo>
                  <a:lnTo>
                    <a:pt x="281889" y="980808"/>
                  </a:lnTo>
                  <a:lnTo>
                    <a:pt x="274510" y="971816"/>
                  </a:lnTo>
                  <a:lnTo>
                    <a:pt x="265391" y="964577"/>
                  </a:lnTo>
                  <a:lnTo>
                    <a:pt x="256362" y="960183"/>
                  </a:lnTo>
                  <a:lnTo>
                    <a:pt x="256362" y="1007059"/>
                  </a:lnTo>
                  <a:lnTo>
                    <a:pt x="256362" y="1066507"/>
                  </a:lnTo>
                  <a:lnTo>
                    <a:pt x="254063" y="1073797"/>
                  </a:lnTo>
                  <a:lnTo>
                    <a:pt x="244906" y="1083475"/>
                  </a:lnTo>
                  <a:lnTo>
                    <a:pt x="238201" y="1085875"/>
                  </a:lnTo>
                  <a:lnTo>
                    <a:pt x="220459" y="1085875"/>
                  </a:lnTo>
                  <a:lnTo>
                    <a:pt x="213741" y="1083475"/>
                  </a:lnTo>
                  <a:lnTo>
                    <a:pt x="204635" y="1073797"/>
                  </a:lnTo>
                  <a:lnTo>
                    <a:pt x="202349" y="1066507"/>
                  </a:lnTo>
                  <a:lnTo>
                    <a:pt x="202349" y="1007059"/>
                  </a:lnTo>
                  <a:lnTo>
                    <a:pt x="204635" y="999794"/>
                  </a:lnTo>
                  <a:lnTo>
                    <a:pt x="213741" y="990117"/>
                  </a:lnTo>
                  <a:lnTo>
                    <a:pt x="220459" y="987691"/>
                  </a:lnTo>
                  <a:lnTo>
                    <a:pt x="238201" y="987691"/>
                  </a:lnTo>
                  <a:lnTo>
                    <a:pt x="244906" y="990117"/>
                  </a:lnTo>
                  <a:lnTo>
                    <a:pt x="249466" y="994981"/>
                  </a:lnTo>
                  <a:lnTo>
                    <a:pt x="254063" y="999794"/>
                  </a:lnTo>
                  <a:lnTo>
                    <a:pt x="256362" y="960183"/>
                  </a:lnTo>
                  <a:lnTo>
                    <a:pt x="229362" y="955281"/>
                  </a:lnTo>
                  <a:lnTo>
                    <a:pt x="215861" y="956322"/>
                  </a:lnTo>
                  <a:lnTo>
                    <a:pt x="176733" y="980808"/>
                  </a:lnTo>
                  <a:lnTo>
                    <a:pt x="167284" y="1056792"/>
                  </a:lnTo>
                  <a:lnTo>
                    <a:pt x="168325" y="1070267"/>
                  </a:lnTo>
                  <a:lnTo>
                    <a:pt x="193217" y="1108989"/>
                  </a:lnTo>
                  <a:lnTo>
                    <a:pt x="229362" y="1118285"/>
                  </a:lnTo>
                  <a:lnTo>
                    <a:pt x="242811" y="1117257"/>
                  </a:lnTo>
                  <a:lnTo>
                    <a:pt x="281889" y="1092746"/>
                  </a:lnTo>
                  <a:lnTo>
                    <a:pt x="285330" y="1085875"/>
                  </a:lnTo>
                  <a:lnTo>
                    <a:pt x="287159" y="1082255"/>
                  </a:lnTo>
                  <a:lnTo>
                    <a:pt x="290309" y="1070267"/>
                  </a:lnTo>
                  <a:lnTo>
                    <a:pt x="291363" y="1056792"/>
                  </a:lnTo>
                  <a:lnTo>
                    <a:pt x="291363" y="1016520"/>
                  </a:lnTo>
                  <a:close/>
                </a:path>
                <a:path w="5089525" h="1118870">
                  <a:moveTo>
                    <a:pt x="297218" y="113995"/>
                  </a:moveTo>
                  <a:lnTo>
                    <a:pt x="296265" y="101168"/>
                  </a:lnTo>
                  <a:lnTo>
                    <a:pt x="293395" y="89700"/>
                  </a:lnTo>
                  <a:lnTo>
                    <a:pt x="291630" y="85953"/>
                  </a:lnTo>
                  <a:lnTo>
                    <a:pt x="288620" y="79565"/>
                  </a:lnTo>
                  <a:lnTo>
                    <a:pt x="253212" y="55600"/>
                  </a:lnTo>
                  <a:lnTo>
                    <a:pt x="241071" y="54584"/>
                  </a:lnTo>
                  <a:lnTo>
                    <a:pt x="225259" y="56730"/>
                  </a:lnTo>
                  <a:lnTo>
                    <a:pt x="213550" y="63182"/>
                  </a:lnTo>
                  <a:lnTo>
                    <a:pt x="205930" y="73914"/>
                  </a:lnTo>
                  <a:lnTo>
                    <a:pt x="202412" y="88950"/>
                  </a:lnTo>
                  <a:lnTo>
                    <a:pt x="202501" y="88493"/>
                  </a:lnTo>
                  <a:lnTo>
                    <a:pt x="207949" y="57251"/>
                  </a:lnTo>
                  <a:lnTo>
                    <a:pt x="173456" y="57251"/>
                  </a:lnTo>
                  <a:lnTo>
                    <a:pt x="173456" y="214922"/>
                  </a:lnTo>
                  <a:lnTo>
                    <a:pt x="208470" y="214922"/>
                  </a:lnTo>
                  <a:lnTo>
                    <a:pt x="208521" y="106146"/>
                  </a:lnTo>
                  <a:lnTo>
                    <a:pt x="210832" y="98856"/>
                  </a:lnTo>
                  <a:lnTo>
                    <a:pt x="219951" y="88950"/>
                  </a:lnTo>
                  <a:lnTo>
                    <a:pt x="220446" y="88493"/>
                  </a:lnTo>
                  <a:lnTo>
                    <a:pt x="226974" y="85953"/>
                  </a:lnTo>
                  <a:lnTo>
                    <a:pt x="244144" y="85953"/>
                  </a:lnTo>
                  <a:lnTo>
                    <a:pt x="250761" y="88493"/>
                  </a:lnTo>
                  <a:lnTo>
                    <a:pt x="259918" y="98640"/>
                  </a:lnTo>
                  <a:lnTo>
                    <a:pt x="259981" y="98856"/>
                  </a:lnTo>
                  <a:lnTo>
                    <a:pt x="262216" y="106146"/>
                  </a:lnTo>
                  <a:lnTo>
                    <a:pt x="262216" y="128308"/>
                  </a:lnTo>
                  <a:lnTo>
                    <a:pt x="297218" y="128308"/>
                  </a:lnTo>
                  <a:lnTo>
                    <a:pt x="297218" y="113995"/>
                  </a:lnTo>
                  <a:close/>
                </a:path>
                <a:path w="5089525" h="1118870">
                  <a:moveTo>
                    <a:pt x="451231" y="115824"/>
                  </a:moveTo>
                  <a:lnTo>
                    <a:pt x="434378" y="71120"/>
                  </a:lnTo>
                  <a:lnTo>
                    <a:pt x="416217" y="59474"/>
                  </a:lnTo>
                  <a:lnTo>
                    <a:pt x="416217" y="106362"/>
                  </a:lnTo>
                  <a:lnTo>
                    <a:pt x="416217" y="165811"/>
                  </a:lnTo>
                  <a:lnTo>
                    <a:pt x="413918" y="173101"/>
                  </a:lnTo>
                  <a:lnTo>
                    <a:pt x="404761" y="182778"/>
                  </a:lnTo>
                  <a:lnTo>
                    <a:pt x="398068" y="185178"/>
                  </a:lnTo>
                  <a:lnTo>
                    <a:pt x="380326" y="185178"/>
                  </a:lnTo>
                  <a:lnTo>
                    <a:pt x="373595" y="182778"/>
                  </a:lnTo>
                  <a:lnTo>
                    <a:pt x="364490" y="173101"/>
                  </a:lnTo>
                  <a:lnTo>
                    <a:pt x="362216" y="165811"/>
                  </a:lnTo>
                  <a:lnTo>
                    <a:pt x="362216" y="106362"/>
                  </a:lnTo>
                  <a:lnTo>
                    <a:pt x="364490" y="99098"/>
                  </a:lnTo>
                  <a:lnTo>
                    <a:pt x="373595" y="89420"/>
                  </a:lnTo>
                  <a:lnTo>
                    <a:pt x="380326" y="86995"/>
                  </a:lnTo>
                  <a:lnTo>
                    <a:pt x="398068" y="86995"/>
                  </a:lnTo>
                  <a:lnTo>
                    <a:pt x="404761" y="89420"/>
                  </a:lnTo>
                  <a:lnTo>
                    <a:pt x="409321" y="94284"/>
                  </a:lnTo>
                  <a:lnTo>
                    <a:pt x="413918" y="99098"/>
                  </a:lnTo>
                  <a:lnTo>
                    <a:pt x="416217" y="59474"/>
                  </a:lnTo>
                  <a:lnTo>
                    <a:pt x="389216" y="54584"/>
                  </a:lnTo>
                  <a:lnTo>
                    <a:pt x="375716" y="55626"/>
                  </a:lnTo>
                  <a:lnTo>
                    <a:pt x="336600" y="80111"/>
                  </a:lnTo>
                  <a:lnTo>
                    <a:pt x="327139" y="156095"/>
                  </a:lnTo>
                  <a:lnTo>
                    <a:pt x="328193" y="169570"/>
                  </a:lnTo>
                  <a:lnTo>
                    <a:pt x="353072" y="208292"/>
                  </a:lnTo>
                  <a:lnTo>
                    <a:pt x="389216" y="217589"/>
                  </a:lnTo>
                  <a:lnTo>
                    <a:pt x="402678" y="216560"/>
                  </a:lnTo>
                  <a:lnTo>
                    <a:pt x="441744" y="192049"/>
                  </a:lnTo>
                  <a:lnTo>
                    <a:pt x="451231" y="156095"/>
                  </a:lnTo>
                  <a:lnTo>
                    <a:pt x="451231" y="115824"/>
                  </a:lnTo>
                  <a:close/>
                </a:path>
                <a:path w="5089525" h="1118870">
                  <a:moveTo>
                    <a:pt x="457085" y="1014691"/>
                  </a:moveTo>
                  <a:lnTo>
                    <a:pt x="456133" y="1001864"/>
                  </a:lnTo>
                  <a:lnTo>
                    <a:pt x="453263" y="990396"/>
                  </a:lnTo>
                  <a:lnTo>
                    <a:pt x="451497" y="986650"/>
                  </a:lnTo>
                  <a:lnTo>
                    <a:pt x="448487" y="980262"/>
                  </a:lnTo>
                  <a:lnTo>
                    <a:pt x="413067" y="956297"/>
                  </a:lnTo>
                  <a:lnTo>
                    <a:pt x="400926" y="955281"/>
                  </a:lnTo>
                  <a:lnTo>
                    <a:pt x="385114" y="957427"/>
                  </a:lnTo>
                  <a:lnTo>
                    <a:pt x="373405" y="963879"/>
                  </a:lnTo>
                  <a:lnTo>
                    <a:pt x="365785" y="974610"/>
                  </a:lnTo>
                  <a:lnTo>
                    <a:pt x="362280" y="989647"/>
                  </a:lnTo>
                  <a:lnTo>
                    <a:pt x="362356" y="989190"/>
                  </a:lnTo>
                  <a:lnTo>
                    <a:pt x="367804" y="957948"/>
                  </a:lnTo>
                  <a:lnTo>
                    <a:pt x="333324" y="957948"/>
                  </a:lnTo>
                  <a:lnTo>
                    <a:pt x="333324" y="1115618"/>
                  </a:lnTo>
                  <a:lnTo>
                    <a:pt x="368325" y="1115618"/>
                  </a:lnTo>
                  <a:lnTo>
                    <a:pt x="368388" y="1006843"/>
                  </a:lnTo>
                  <a:lnTo>
                    <a:pt x="370687" y="999553"/>
                  </a:lnTo>
                  <a:lnTo>
                    <a:pt x="375539" y="994257"/>
                  </a:lnTo>
                  <a:lnTo>
                    <a:pt x="379806" y="989647"/>
                  </a:lnTo>
                  <a:lnTo>
                    <a:pt x="380301" y="989190"/>
                  </a:lnTo>
                  <a:lnTo>
                    <a:pt x="386829" y="986650"/>
                  </a:lnTo>
                  <a:lnTo>
                    <a:pt x="404012" y="986650"/>
                  </a:lnTo>
                  <a:lnTo>
                    <a:pt x="410629" y="989190"/>
                  </a:lnTo>
                  <a:lnTo>
                    <a:pt x="415302" y="994397"/>
                  </a:lnTo>
                  <a:lnTo>
                    <a:pt x="419773" y="999337"/>
                  </a:lnTo>
                  <a:lnTo>
                    <a:pt x="419849" y="999553"/>
                  </a:lnTo>
                  <a:lnTo>
                    <a:pt x="422071" y="1006843"/>
                  </a:lnTo>
                  <a:lnTo>
                    <a:pt x="422071" y="1029004"/>
                  </a:lnTo>
                  <a:lnTo>
                    <a:pt x="457085" y="1029004"/>
                  </a:lnTo>
                  <a:lnTo>
                    <a:pt x="457085" y="1014691"/>
                  </a:lnTo>
                  <a:close/>
                </a:path>
                <a:path w="5089525" h="1118870">
                  <a:moveTo>
                    <a:pt x="616940" y="97993"/>
                  </a:moveTo>
                  <a:lnTo>
                    <a:pt x="616369" y="88861"/>
                  </a:lnTo>
                  <a:lnTo>
                    <a:pt x="615378" y="84061"/>
                  </a:lnTo>
                  <a:lnTo>
                    <a:pt x="614667" y="80619"/>
                  </a:lnTo>
                  <a:lnTo>
                    <a:pt x="613981" y="78854"/>
                  </a:lnTo>
                  <a:lnTo>
                    <a:pt x="613867" y="78536"/>
                  </a:lnTo>
                  <a:lnTo>
                    <a:pt x="582396" y="54584"/>
                  </a:lnTo>
                  <a:lnTo>
                    <a:pt x="574624" y="54584"/>
                  </a:lnTo>
                  <a:lnTo>
                    <a:pt x="568413" y="56730"/>
                  </a:lnTo>
                  <a:lnTo>
                    <a:pt x="567613" y="57251"/>
                  </a:lnTo>
                  <a:lnTo>
                    <a:pt x="557555" y="65862"/>
                  </a:lnTo>
                  <a:lnTo>
                    <a:pt x="557276" y="66738"/>
                  </a:lnTo>
                  <a:lnTo>
                    <a:pt x="556755" y="65278"/>
                  </a:lnTo>
                  <a:lnTo>
                    <a:pt x="555929" y="64592"/>
                  </a:lnTo>
                  <a:lnTo>
                    <a:pt x="555929" y="73253"/>
                  </a:lnTo>
                  <a:lnTo>
                    <a:pt x="555701" y="71640"/>
                  </a:lnTo>
                  <a:lnTo>
                    <a:pt x="555802" y="71285"/>
                  </a:lnTo>
                  <a:lnTo>
                    <a:pt x="555929" y="73253"/>
                  </a:lnTo>
                  <a:lnTo>
                    <a:pt x="555929" y="64592"/>
                  </a:lnTo>
                  <a:lnTo>
                    <a:pt x="551675" y="61036"/>
                  </a:lnTo>
                  <a:lnTo>
                    <a:pt x="546646" y="56730"/>
                  </a:lnTo>
                  <a:lnTo>
                    <a:pt x="540448" y="54584"/>
                  </a:lnTo>
                  <a:lnTo>
                    <a:pt x="525297" y="54584"/>
                  </a:lnTo>
                  <a:lnTo>
                    <a:pt x="519188" y="56730"/>
                  </a:lnTo>
                  <a:lnTo>
                    <a:pt x="518972" y="56730"/>
                  </a:lnTo>
                  <a:lnTo>
                    <a:pt x="512318" y="62522"/>
                  </a:lnTo>
                  <a:lnTo>
                    <a:pt x="513283" y="57251"/>
                  </a:lnTo>
                  <a:lnTo>
                    <a:pt x="506742" y="57251"/>
                  </a:lnTo>
                  <a:lnTo>
                    <a:pt x="506742" y="73253"/>
                  </a:lnTo>
                  <a:lnTo>
                    <a:pt x="506450" y="71640"/>
                  </a:lnTo>
                  <a:lnTo>
                    <a:pt x="506577" y="71285"/>
                  </a:lnTo>
                  <a:lnTo>
                    <a:pt x="506603" y="71640"/>
                  </a:lnTo>
                  <a:lnTo>
                    <a:pt x="506742" y="73253"/>
                  </a:lnTo>
                  <a:lnTo>
                    <a:pt x="506742" y="57251"/>
                  </a:lnTo>
                  <a:lnTo>
                    <a:pt x="481139" y="57251"/>
                  </a:lnTo>
                  <a:lnTo>
                    <a:pt x="481139" y="214922"/>
                  </a:lnTo>
                  <a:lnTo>
                    <a:pt x="514324" y="214922"/>
                  </a:lnTo>
                  <a:lnTo>
                    <a:pt x="514324" y="92659"/>
                  </a:lnTo>
                  <a:lnTo>
                    <a:pt x="515124" y="89230"/>
                  </a:lnTo>
                  <a:lnTo>
                    <a:pt x="518388" y="85102"/>
                  </a:lnTo>
                  <a:lnTo>
                    <a:pt x="520725" y="84061"/>
                  </a:lnTo>
                  <a:lnTo>
                    <a:pt x="526973" y="84061"/>
                  </a:lnTo>
                  <a:lnTo>
                    <a:pt x="529323" y="85102"/>
                  </a:lnTo>
                  <a:lnTo>
                    <a:pt x="532765" y="89230"/>
                  </a:lnTo>
                  <a:lnTo>
                    <a:pt x="533819" y="92659"/>
                  </a:lnTo>
                  <a:lnTo>
                    <a:pt x="533908" y="214922"/>
                  </a:lnTo>
                  <a:lnTo>
                    <a:pt x="564172" y="214922"/>
                  </a:lnTo>
                  <a:lnTo>
                    <a:pt x="564197" y="92659"/>
                  </a:lnTo>
                  <a:lnTo>
                    <a:pt x="565150" y="89230"/>
                  </a:lnTo>
                  <a:lnTo>
                    <a:pt x="568667" y="85102"/>
                  </a:lnTo>
                  <a:lnTo>
                    <a:pt x="571042" y="84061"/>
                  </a:lnTo>
                  <a:lnTo>
                    <a:pt x="577291" y="84061"/>
                  </a:lnTo>
                  <a:lnTo>
                    <a:pt x="579589" y="85102"/>
                  </a:lnTo>
                  <a:lnTo>
                    <a:pt x="582739" y="89230"/>
                  </a:lnTo>
                  <a:lnTo>
                    <a:pt x="583679" y="92659"/>
                  </a:lnTo>
                  <a:lnTo>
                    <a:pt x="583755" y="214922"/>
                  </a:lnTo>
                  <a:lnTo>
                    <a:pt x="616940" y="214922"/>
                  </a:lnTo>
                  <a:lnTo>
                    <a:pt x="616940" y="97993"/>
                  </a:lnTo>
                  <a:close/>
                </a:path>
                <a:path w="5089525" h="1118870">
                  <a:moveTo>
                    <a:pt x="1695958" y="916051"/>
                  </a:moveTo>
                  <a:lnTo>
                    <a:pt x="1693811" y="910844"/>
                  </a:lnTo>
                  <a:lnTo>
                    <a:pt x="1685226" y="902728"/>
                  </a:lnTo>
                  <a:lnTo>
                    <a:pt x="1679752" y="900696"/>
                  </a:lnTo>
                  <a:lnTo>
                    <a:pt x="1661147" y="900696"/>
                  </a:lnTo>
                  <a:lnTo>
                    <a:pt x="1655686" y="902728"/>
                  </a:lnTo>
                  <a:lnTo>
                    <a:pt x="1647088" y="910844"/>
                  </a:lnTo>
                  <a:lnTo>
                    <a:pt x="1644942" y="916051"/>
                  </a:lnTo>
                  <a:lnTo>
                    <a:pt x="1644942" y="928839"/>
                  </a:lnTo>
                  <a:lnTo>
                    <a:pt x="1647050" y="934008"/>
                  </a:lnTo>
                  <a:lnTo>
                    <a:pt x="1651254" y="937907"/>
                  </a:lnTo>
                  <a:lnTo>
                    <a:pt x="1655508" y="941768"/>
                  </a:lnTo>
                  <a:lnTo>
                    <a:pt x="1661020" y="943698"/>
                  </a:lnTo>
                  <a:lnTo>
                    <a:pt x="1679676" y="943698"/>
                  </a:lnTo>
                  <a:lnTo>
                    <a:pt x="1685112" y="941768"/>
                  </a:lnTo>
                  <a:lnTo>
                    <a:pt x="1693811" y="934008"/>
                  </a:lnTo>
                  <a:lnTo>
                    <a:pt x="1695958" y="928839"/>
                  </a:lnTo>
                  <a:lnTo>
                    <a:pt x="1695958" y="916051"/>
                  </a:lnTo>
                  <a:close/>
                </a:path>
                <a:path w="5089525" h="1118870">
                  <a:moveTo>
                    <a:pt x="1739950" y="1082687"/>
                  </a:moveTo>
                  <a:lnTo>
                    <a:pt x="1690624" y="1082687"/>
                  </a:lnTo>
                  <a:lnTo>
                    <a:pt x="1690624" y="957948"/>
                  </a:lnTo>
                  <a:lnTo>
                    <a:pt x="1610271" y="957948"/>
                  </a:lnTo>
                  <a:lnTo>
                    <a:pt x="1610271" y="990879"/>
                  </a:lnTo>
                  <a:lnTo>
                    <a:pt x="1655559" y="990879"/>
                  </a:lnTo>
                  <a:lnTo>
                    <a:pt x="1655559" y="1082687"/>
                  </a:lnTo>
                  <a:lnTo>
                    <a:pt x="1603629" y="1082687"/>
                  </a:lnTo>
                  <a:lnTo>
                    <a:pt x="1603629" y="1115618"/>
                  </a:lnTo>
                  <a:lnTo>
                    <a:pt x="1739950" y="1115618"/>
                  </a:lnTo>
                  <a:lnTo>
                    <a:pt x="1739950" y="1082687"/>
                  </a:lnTo>
                  <a:close/>
                </a:path>
                <a:path w="5089525" h="1118870">
                  <a:moveTo>
                    <a:pt x="1889137" y="1011440"/>
                  </a:moveTo>
                  <a:lnTo>
                    <a:pt x="1888223" y="999375"/>
                  </a:lnTo>
                  <a:lnTo>
                    <a:pt x="1885480" y="988568"/>
                  </a:lnTo>
                  <a:lnTo>
                    <a:pt x="1884553" y="986650"/>
                  </a:lnTo>
                  <a:lnTo>
                    <a:pt x="1880895" y="979017"/>
                  </a:lnTo>
                  <a:lnTo>
                    <a:pt x="1847011" y="956246"/>
                  </a:lnTo>
                  <a:lnTo>
                    <a:pt x="1835391" y="955281"/>
                  </a:lnTo>
                  <a:lnTo>
                    <a:pt x="1826475" y="955865"/>
                  </a:lnTo>
                  <a:lnTo>
                    <a:pt x="1818424" y="957618"/>
                  </a:lnTo>
                  <a:lnTo>
                    <a:pt x="1811223" y="960526"/>
                  </a:lnTo>
                  <a:lnTo>
                    <a:pt x="1804873" y="964590"/>
                  </a:lnTo>
                  <a:lnTo>
                    <a:pt x="1799882" y="969670"/>
                  </a:lnTo>
                  <a:lnTo>
                    <a:pt x="1801685" y="957948"/>
                  </a:lnTo>
                  <a:lnTo>
                    <a:pt x="1766671" y="957948"/>
                  </a:lnTo>
                  <a:lnTo>
                    <a:pt x="1766671" y="1115618"/>
                  </a:lnTo>
                  <a:lnTo>
                    <a:pt x="1801685" y="1115618"/>
                  </a:lnTo>
                  <a:lnTo>
                    <a:pt x="1801685" y="1007021"/>
                  </a:lnTo>
                  <a:lnTo>
                    <a:pt x="1802218" y="1005306"/>
                  </a:lnTo>
                  <a:lnTo>
                    <a:pt x="1804187" y="999375"/>
                  </a:lnTo>
                  <a:lnTo>
                    <a:pt x="1811718" y="991069"/>
                  </a:lnTo>
                  <a:lnTo>
                    <a:pt x="1813572" y="989037"/>
                  </a:lnTo>
                  <a:lnTo>
                    <a:pt x="1813890" y="989037"/>
                  </a:lnTo>
                  <a:lnTo>
                    <a:pt x="1819973" y="986650"/>
                  </a:lnTo>
                  <a:lnTo>
                    <a:pt x="1836458" y="986650"/>
                  </a:lnTo>
                  <a:lnTo>
                    <a:pt x="1842719" y="989037"/>
                  </a:lnTo>
                  <a:lnTo>
                    <a:pt x="1847227" y="993813"/>
                  </a:lnTo>
                  <a:lnTo>
                    <a:pt x="1851787" y="998537"/>
                  </a:lnTo>
                  <a:lnTo>
                    <a:pt x="1854060" y="1005306"/>
                  </a:lnTo>
                  <a:lnTo>
                    <a:pt x="1854060" y="1115618"/>
                  </a:lnTo>
                  <a:lnTo>
                    <a:pt x="1889137" y="1115618"/>
                  </a:lnTo>
                  <a:lnTo>
                    <a:pt x="1889137" y="1011440"/>
                  </a:lnTo>
                  <a:close/>
                </a:path>
                <a:path w="5089525" h="1118870">
                  <a:moveTo>
                    <a:pt x="4253801" y="15354"/>
                  </a:moveTo>
                  <a:lnTo>
                    <a:pt x="4251655" y="10147"/>
                  </a:lnTo>
                  <a:lnTo>
                    <a:pt x="4243070" y="2032"/>
                  </a:lnTo>
                  <a:lnTo>
                    <a:pt x="4237596" y="0"/>
                  </a:lnTo>
                  <a:lnTo>
                    <a:pt x="4218991" y="0"/>
                  </a:lnTo>
                  <a:lnTo>
                    <a:pt x="4213517" y="2032"/>
                  </a:lnTo>
                  <a:lnTo>
                    <a:pt x="4204932" y="10147"/>
                  </a:lnTo>
                  <a:lnTo>
                    <a:pt x="4202785" y="15354"/>
                  </a:lnTo>
                  <a:lnTo>
                    <a:pt x="4202785" y="28143"/>
                  </a:lnTo>
                  <a:lnTo>
                    <a:pt x="4204893" y="33312"/>
                  </a:lnTo>
                  <a:lnTo>
                    <a:pt x="4209097" y="37211"/>
                  </a:lnTo>
                  <a:lnTo>
                    <a:pt x="4213352" y="41071"/>
                  </a:lnTo>
                  <a:lnTo>
                    <a:pt x="4218864" y="43002"/>
                  </a:lnTo>
                  <a:lnTo>
                    <a:pt x="4237507" y="43002"/>
                  </a:lnTo>
                  <a:lnTo>
                    <a:pt x="4242955" y="41071"/>
                  </a:lnTo>
                  <a:lnTo>
                    <a:pt x="4251655" y="33312"/>
                  </a:lnTo>
                  <a:lnTo>
                    <a:pt x="4253801" y="28143"/>
                  </a:lnTo>
                  <a:lnTo>
                    <a:pt x="4253801" y="15354"/>
                  </a:lnTo>
                  <a:close/>
                </a:path>
                <a:path w="5089525" h="1118870">
                  <a:moveTo>
                    <a:pt x="4297781" y="181991"/>
                  </a:moveTo>
                  <a:lnTo>
                    <a:pt x="4248467" y="181991"/>
                  </a:lnTo>
                  <a:lnTo>
                    <a:pt x="4248467" y="57251"/>
                  </a:lnTo>
                  <a:lnTo>
                    <a:pt x="4168102" y="57251"/>
                  </a:lnTo>
                  <a:lnTo>
                    <a:pt x="4168102" y="90182"/>
                  </a:lnTo>
                  <a:lnTo>
                    <a:pt x="4213390" y="90182"/>
                  </a:lnTo>
                  <a:lnTo>
                    <a:pt x="4213390" y="181991"/>
                  </a:lnTo>
                  <a:lnTo>
                    <a:pt x="4161472" y="181991"/>
                  </a:lnTo>
                  <a:lnTo>
                    <a:pt x="4161472" y="214922"/>
                  </a:lnTo>
                  <a:lnTo>
                    <a:pt x="4297781" y="214922"/>
                  </a:lnTo>
                  <a:lnTo>
                    <a:pt x="4297781" y="181991"/>
                  </a:lnTo>
                  <a:close/>
                </a:path>
                <a:path w="5089525" h="1118870">
                  <a:moveTo>
                    <a:pt x="4453356" y="97993"/>
                  </a:moveTo>
                  <a:lnTo>
                    <a:pt x="4450270" y="78536"/>
                  </a:lnTo>
                  <a:lnTo>
                    <a:pt x="4448226" y="73253"/>
                  </a:lnTo>
                  <a:lnTo>
                    <a:pt x="4418800" y="54584"/>
                  </a:lnTo>
                  <a:lnTo>
                    <a:pt x="4411040" y="54584"/>
                  </a:lnTo>
                  <a:lnTo>
                    <a:pt x="4404817" y="56730"/>
                  </a:lnTo>
                  <a:lnTo>
                    <a:pt x="4404030" y="57251"/>
                  </a:lnTo>
                  <a:lnTo>
                    <a:pt x="4395305" y="64731"/>
                  </a:lnTo>
                  <a:lnTo>
                    <a:pt x="4395305" y="71285"/>
                  </a:lnTo>
                  <a:lnTo>
                    <a:pt x="4395279" y="71640"/>
                  </a:lnTo>
                  <a:lnTo>
                    <a:pt x="4394581" y="78536"/>
                  </a:lnTo>
                  <a:lnTo>
                    <a:pt x="4395305" y="71285"/>
                  </a:lnTo>
                  <a:lnTo>
                    <a:pt x="4395305" y="64731"/>
                  </a:lnTo>
                  <a:lnTo>
                    <a:pt x="4393971" y="65862"/>
                  </a:lnTo>
                  <a:lnTo>
                    <a:pt x="4393679" y="66738"/>
                  </a:lnTo>
                  <a:lnTo>
                    <a:pt x="4393158" y="65278"/>
                  </a:lnTo>
                  <a:lnTo>
                    <a:pt x="4392346" y="64604"/>
                  </a:lnTo>
                  <a:lnTo>
                    <a:pt x="4392346" y="73253"/>
                  </a:lnTo>
                  <a:lnTo>
                    <a:pt x="4392104" y="71640"/>
                  </a:lnTo>
                  <a:lnTo>
                    <a:pt x="4392219" y="71285"/>
                  </a:lnTo>
                  <a:lnTo>
                    <a:pt x="4392346" y="73253"/>
                  </a:lnTo>
                  <a:lnTo>
                    <a:pt x="4392346" y="64604"/>
                  </a:lnTo>
                  <a:lnTo>
                    <a:pt x="4388091" y="61036"/>
                  </a:lnTo>
                  <a:lnTo>
                    <a:pt x="4383062" y="56730"/>
                  </a:lnTo>
                  <a:lnTo>
                    <a:pt x="4376852" y="54584"/>
                  </a:lnTo>
                  <a:lnTo>
                    <a:pt x="4361713" y="54584"/>
                  </a:lnTo>
                  <a:lnTo>
                    <a:pt x="4355604" y="56730"/>
                  </a:lnTo>
                  <a:lnTo>
                    <a:pt x="4355376" y="56730"/>
                  </a:lnTo>
                  <a:lnTo>
                    <a:pt x="4348734" y="62522"/>
                  </a:lnTo>
                  <a:lnTo>
                    <a:pt x="4349699" y="57251"/>
                  </a:lnTo>
                  <a:lnTo>
                    <a:pt x="4344162" y="57251"/>
                  </a:lnTo>
                  <a:lnTo>
                    <a:pt x="4344162" y="78536"/>
                  </a:lnTo>
                  <a:lnTo>
                    <a:pt x="4342866" y="71640"/>
                  </a:lnTo>
                  <a:lnTo>
                    <a:pt x="4342981" y="71285"/>
                  </a:lnTo>
                  <a:lnTo>
                    <a:pt x="4343019" y="71640"/>
                  </a:lnTo>
                  <a:lnTo>
                    <a:pt x="4343171" y="73253"/>
                  </a:lnTo>
                  <a:lnTo>
                    <a:pt x="4344162" y="78536"/>
                  </a:lnTo>
                  <a:lnTo>
                    <a:pt x="4344162" y="57251"/>
                  </a:lnTo>
                  <a:lnTo>
                    <a:pt x="4317555" y="57251"/>
                  </a:lnTo>
                  <a:lnTo>
                    <a:pt x="4317555" y="214922"/>
                  </a:lnTo>
                  <a:lnTo>
                    <a:pt x="4350740" y="214922"/>
                  </a:lnTo>
                  <a:lnTo>
                    <a:pt x="4350740" y="92659"/>
                  </a:lnTo>
                  <a:lnTo>
                    <a:pt x="4351540" y="89230"/>
                  </a:lnTo>
                  <a:lnTo>
                    <a:pt x="4354792" y="85102"/>
                  </a:lnTo>
                  <a:lnTo>
                    <a:pt x="4357141" y="84061"/>
                  </a:lnTo>
                  <a:lnTo>
                    <a:pt x="4363390" y="84061"/>
                  </a:lnTo>
                  <a:lnTo>
                    <a:pt x="4365726" y="85102"/>
                  </a:lnTo>
                  <a:lnTo>
                    <a:pt x="4369168" y="89230"/>
                  </a:lnTo>
                  <a:lnTo>
                    <a:pt x="4370235" y="92659"/>
                  </a:lnTo>
                  <a:lnTo>
                    <a:pt x="4370324" y="214922"/>
                  </a:lnTo>
                  <a:lnTo>
                    <a:pt x="4400575" y="214922"/>
                  </a:lnTo>
                  <a:lnTo>
                    <a:pt x="4400601" y="92659"/>
                  </a:lnTo>
                  <a:lnTo>
                    <a:pt x="4401566" y="89230"/>
                  </a:lnTo>
                  <a:lnTo>
                    <a:pt x="4405084" y="85102"/>
                  </a:lnTo>
                  <a:lnTo>
                    <a:pt x="4407459" y="84061"/>
                  </a:lnTo>
                  <a:lnTo>
                    <a:pt x="4413707" y="84061"/>
                  </a:lnTo>
                  <a:lnTo>
                    <a:pt x="4415993" y="85102"/>
                  </a:lnTo>
                  <a:lnTo>
                    <a:pt x="4419143" y="89230"/>
                  </a:lnTo>
                  <a:lnTo>
                    <a:pt x="4420095" y="92659"/>
                  </a:lnTo>
                  <a:lnTo>
                    <a:pt x="4420171" y="214922"/>
                  </a:lnTo>
                  <a:lnTo>
                    <a:pt x="4453356" y="214922"/>
                  </a:lnTo>
                  <a:lnTo>
                    <a:pt x="4453356" y="97993"/>
                  </a:lnTo>
                  <a:close/>
                </a:path>
                <a:path w="5089525" h="1118870">
                  <a:moveTo>
                    <a:pt x="4607357" y="114515"/>
                  </a:moveTo>
                  <a:lnTo>
                    <a:pt x="4606468" y="101625"/>
                  </a:lnTo>
                  <a:lnTo>
                    <a:pt x="4603775" y="90068"/>
                  </a:lnTo>
                  <a:lnTo>
                    <a:pt x="4602200" y="86474"/>
                  </a:lnTo>
                  <a:lnTo>
                    <a:pt x="4599305" y="79857"/>
                  </a:lnTo>
                  <a:lnTo>
                    <a:pt x="4593044" y="70980"/>
                  </a:lnTo>
                  <a:lnTo>
                    <a:pt x="4585271" y="63817"/>
                  </a:lnTo>
                  <a:lnTo>
                    <a:pt x="4576191" y="58686"/>
                  </a:lnTo>
                  <a:lnTo>
                    <a:pt x="4572343" y="57556"/>
                  </a:lnTo>
                  <a:lnTo>
                    <a:pt x="4572343" y="106146"/>
                  </a:lnTo>
                  <a:lnTo>
                    <a:pt x="4572343" y="166027"/>
                  </a:lnTo>
                  <a:lnTo>
                    <a:pt x="4570120" y="173443"/>
                  </a:lnTo>
                  <a:lnTo>
                    <a:pt x="4561256" y="183172"/>
                  </a:lnTo>
                  <a:lnTo>
                    <a:pt x="4554677" y="185699"/>
                  </a:lnTo>
                  <a:lnTo>
                    <a:pt x="4537799" y="185699"/>
                  </a:lnTo>
                  <a:lnTo>
                    <a:pt x="4531245" y="183172"/>
                  </a:lnTo>
                  <a:lnTo>
                    <a:pt x="4530395" y="182257"/>
                  </a:lnTo>
                  <a:lnTo>
                    <a:pt x="4526470" y="178092"/>
                  </a:lnTo>
                  <a:lnTo>
                    <a:pt x="4521746" y="172974"/>
                  </a:lnTo>
                  <a:lnTo>
                    <a:pt x="4519511" y="166027"/>
                  </a:lnTo>
                  <a:lnTo>
                    <a:pt x="4519511" y="106146"/>
                  </a:lnTo>
                  <a:lnTo>
                    <a:pt x="4537799" y="86474"/>
                  </a:lnTo>
                  <a:lnTo>
                    <a:pt x="4554677" y="86474"/>
                  </a:lnTo>
                  <a:lnTo>
                    <a:pt x="4561179" y="88925"/>
                  </a:lnTo>
                  <a:lnTo>
                    <a:pt x="4570120" y="98729"/>
                  </a:lnTo>
                  <a:lnTo>
                    <a:pt x="4572343" y="106146"/>
                  </a:lnTo>
                  <a:lnTo>
                    <a:pt x="4572343" y="57556"/>
                  </a:lnTo>
                  <a:lnTo>
                    <a:pt x="4565815" y="55613"/>
                  </a:lnTo>
                  <a:lnTo>
                    <a:pt x="4554131" y="54584"/>
                  </a:lnTo>
                  <a:lnTo>
                    <a:pt x="4545317" y="55181"/>
                  </a:lnTo>
                  <a:lnTo>
                    <a:pt x="4517314" y="70472"/>
                  </a:lnTo>
                  <a:lnTo>
                    <a:pt x="4519384" y="57251"/>
                  </a:lnTo>
                  <a:lnTo>
                    <a:pt x="4513338" y="57251"/>
                  </a:lnTo>
                  <a:lnTo>
                    <a:pt x="4513338" y="182257"/>
                  </a:lnTo>
                  <a:lnTo>
                    <a:pt x="4513300" y="183172"/>
                  </a:lnTo>
                  <a:lnTo>
                    <a:pt x="4513211" y="185026"/>
                  </a:lnTo>
                  <a:lnTo>
                    <a:pt x="4513338" y="182257"/>
                  </a:lnTo>
                  <a:lnTo>
                    <a:pt x="4513338" y="57251"/>
                  </a:lnTo>
                  <a:lnTo>
                    <a:pt x="4484370" y="57251"/>
                  </a:lnTo>
                  <a:lnTo>
                    <a:pt x="4484370" y="262877"/>
                  </a:lnTo>
                  <a:lnTo>
                    <a:pt x="4519384" y="262877"/>
                  </a:lnTo>
                  <a:lnTo>
                    <a:pt x="4519193" y="213487"/>
                  </a:lnTo>
                  <a:lnTo>
                    <a:pt x="4517314" y="201790"/>
                  </a:lnTo>
                  <a:lnTo>
                    <a:pt x="4517949" y="202895"/>
                  </a:lnTo>
                  <a:lnTo>
                    <a:pt x="4554131" y="217589"/>
                  </a:lnTo>
                  <a:lnTo>
                    <a:pt x="4565815" y="216560"/>
                  </a:lnTo>
                  <a:lnTo>
                    <a:pt x="4599305" y="192303"/>
                  </a:lnTo>
                  <a:lnTo>
                    <a:pt x="4607357" y="157403"/>
                  </a:lnTo>
                  <a:lnTo>
                    <a:pt x="4607357" y="114515"/>
                  </a:lnTo>
                  <a:close/>
                </a:path>
                <a:path w="5089525" h="1118870">
                  <a:moveTo>
                    <a:pt x="4767211" y="115824"/>
                  </a:moveTo>
                  <a:lnTo>
                    <a:pt x="4766157" y="102463"/>
                  </a:lnTo>
                  <a:lnTo>
                    <a:pt x="4763008" y="90551"/>
                  </a:lnTo>
                  <a:lnTo>
                    <a:pt x="4761204" y="86995"/>
                  </a:lnTo>
                  <a:lnTo>
                    <a:pt x="4757737" y="80111"/>
                  </a:lnTo>
                  <a:lnTo>
                    <a:pt x="4750359" y="71120"/>
                  </a:lnTo>
                  <a:lnTo>
                    <a:pt x="4741240" y="63881"/>
                  </a:lnTo>
                  <a:lnTo>
                    <a:pt x="4732210" y="59486"/>
                  </a:lnTo>
                  <a:lnTo>
                    <a:pt x="4732210" y="106362"/>
                  </a:lnTo>
                  <a:lnTo>
                    <a:pt x="4732210" y="165811"/>
                  </a:lnTo>
                  <a:lnTo>
                    <a:pt x="4729912" y="173101"/>
                  </a:lnTo>
                  <a:lnTo>
                    <a:pt x="4720755" y="182778"/>
                  </a:lnTo>
                  <a:lnTo>
                    <a:pt x="4714049" y="185178"/>
                  </a:lnTo>
                  <a:lnTo>
                    <a:pt x="4696307" y="185178"/>
                  </a:lnTo>
                  <a:lnTo>
                    <a:pt x="4689589" y="182778"/>
                  </a:lnTo>
                  <a:lnTo>
                    <a:pt x="4680483" y="173101"/>
                  </a:lnTo>
                  <a:lnTo>
                    <a:pt x="4678197" y="165811"/>
                  </a:lnTo>
                  <a:lnTo>
                    <a:pt x="4678197" y="106362"/>
                  </a:lnTo>
                  <a:lnTo>
                    <a:pt x="4680483" y="99098"/>
                  </a:lnTo>
                  <a:lnTo>
                    <a:pt x="4689589" y="89420"/>
                  </a:lnTo>
                  <a:lnTo>
                    <a:pt x="4696307" y="86995"/>
                  </a:lnTo>
                  <a:lnTo>
                    <a:pt x="4714049" y="86995"/>
                  </a:lnTo>
                  <a:lnTo>
                    <a:pt x="4720755" y="89420"/>
                  </a:lnTo>
                  <a:lnTo>
                    <a:pt x="4725314" y="94284"/>
                  </a:lnTo>
                  <a:lnTo>
                    <a:pt x="4729912" y="99098"/>
                  </a:lnTo>
                  <a:lnTo>
                    <a:pt x="4732210" y="59486"/>
                  </a:lnTo>
                  <a:lnTo>
                    <a:pt x="4705210" y="54584"/>
                  </a:lnTo>
                  <a:lnTo>
                    <a:pt x="4691710" y="55626"/>
                  </a:lnTo>
                  <a:lnTo>
                    <a:pt x="4652581" y="80111"/>
                  </a:lnTo>
                  <a:lnTo>
                    <a:pt x="4643132" y="156095"/>
                  </a:lnTo>
                  <a:lnTo>
                    <a:pt x="4644174" y="169570"/>
                  </a:lnTo>
                  <a:lnTo>
                    <a:pt x="4669066" y="208292"/>
                  </a:lnTo>
                  <a:lnTo>
                    <a:pt x="4705210" y="217589"/>
                  </a:lnTo>
                  <a:lnTo>
                    <a:pt x="4718659" y="216560"/>
                  </a:lnTo>
                  <a:lnTo>
                    <a:pt x="4757737" y="192049"/>
                  </a:lnTo>
                  <a:lnTo>
                    <a:pt x="4761179" y="185178"/>
                  </a:lnTo>
                  <a:lnTo>
                    <a:pt x="4763008" y="181559"/>
                  </a:lnTo>
                  <a:lnTo>
                    <a:pt x="4766157" y="169570"/>
                  </a:lnTo>
                  <a:lnTo>
                    <a:pt x="4767211" y="156095"/>
                  </a:lnTo>
                  <a:lnTo>
                    <a:pt x="4767211" y="115824"/>
                  </a:lnTo>
                  <a:close/>
                </a:path>
                <a:path w="5089525" h="1118870">
                  <a:moveTo>
                    <a:pt x="4932934" y="113995"/>
                  </a:moveTo>
                  <a:lnTo>
                    <a:pt x="4931981" y="101168"/>
                  </a:lnTo>
                  <a:lnTo>
                    <a:pt x="4929111" y="89700"/>
                  </a:lnTo>
                  <a:lnTo>
                    <a:pt x="4927346" y="85953"/>
                  </a:lnTo>
                  <a:lnTo>
                    <a:pt x="4924336" y="79565"/>
                  </a:lnTo>
                  <a:lnTo>
                    <a:pt x="4888916" y="55600"/>
                  </a:lnTo>
                  <a:lnTo>
                    <a:pt x="4876774" y="54584"/>
                  </a:lnTo>
                  <a:lnTo>
                    <a:pt x="4860963" y="56730"/>
                  </a:lnTo>
                  <a:lnTo>
                    <a:pt x="4849253" y="63182"/>
                  </a:lnTo>
                  <a:lnTo>
                    <a:pt x="4841633" y="73914"/>
                  </a:lnTo>
                  <a:lnTo>
                    <a:pt x="4838128" y="88950"/>
                  </a:lnTo>
                  <a:lnTo>
                    <a:pt x="4838204" y="88493"/>
                  </a:lnTo>
                  <a:lnTo>
                    <a:pt x="4843653" y="57251"/>
                  </a:lnTo>
                  <a:lnTo>
                    <a:pt x="4809172" y="57251"/>
                  </a:lnTo>
                  <a:lnTo>
                    <a:pt x="4809172" y="214922"/>
                  </a:lnTo>
                  <a:lnTo>
                    <a:pt x="4844173" y="214922"/>
                  </a:lnTo>
                  <a:lnTo>
                    <a:pt x="4844237" y="106146"/>
                  </a:lnTo>
                  <a:lnTo>
                    <a:pt x="4846536" y="98856"/>
                  </a:lnTo>
                  <a:lnTo>
                    <a:pt x="4855667" y="88950"/>
                  </a:lnTo>
                  <a:lnTo>
                    <a:pt x="4856150" y="88493"/>
                  </a:lnTo>
                  <a:lnTo>
                    <a:pt x="4862677" y="85953"/>
                  </a:lnTo>
                  <a:lnTo>
                    <a:pt x="4879860" y="85953"/>
                  </a:lnTo>
                  <a:lnTo>
                    <a:pt x="4886477" y="88493"/>
                  </a:lnTo>
                  <a:lnTo>
                    <a:pt x="4895621" y="98640"/>
                  </a:lnTo>
                  <a:lnTo>
                    <a:pt x="4895697" y="98856"/>
                  </a:lnTo>
                  <a:lnTo>
                    <a:pt x="4897920" y="106146"/>
                  </a:lnTo>
                  <a:lnTo>
                    <a:pt x="4897920" y="128308"/>
                  </a:lnTo>
                  <a:lnTo>
                    <a:pt x="4932934" y="128308"/>
                  </a:lnTo>
                  <a:lnTo>
                    <a:pt x="4932934" y="113995"/>
                  </a:lnTo>
                  <a:close/>
                </a:path>
                <a:path w="5089525" h="1118870">
                  <a:moveTo>
                    <a:pt x="5089080" y="57251"/>
                  </a:moveTo>
                  <a:lnTo>
                    <a:pt x="5030457" y="57251"/>
                  </a:lnTo>
                  <a:lnTo>
                    <a:pt x="5030457" y="17310"/>
                  </a:lnTo>
                  <a:lnTo>
                    <a:pt x="4995380" y="17310"/>
                  </a:lnTo>
                  <a:lnTo>
                    <a:pt x="4995380" y="57251"/>
                  </a:lnTo>
                  <a:lnTo>
                    <a:pt x="4954067" y="57251"/>
                  </a:lnTo>
                  <a:lnTo>
                    <a:pt x="4954067" y="90182"/>
                  </a:lnTo>
                  <a:lnTo>
                    <a:pt x="4995380" y="90182"/>
                  </a:lnTo>
                  <a:lnTo>
                    <a:pt x="4995380" y="170738"/>
                  </a:lnTo>
                  <a:lnTo>
                    <a:pt x="4996142" y="180555"/>
                  </a:lnTo>
                  <a:lnTo>
                    <a:pt x="5022012" y="211988"/>
                  </a:lnTo>
                  <a:lnTo>
                    <a:pt x="5040935" y="214922"/>
                  </a:lnTo>
                  <a:lnTo>
                    <a:pt x="5086413" y="214922"/>
                  </a:lnTo>
                  <a:lnTo>
                    <a:pt x="5086413" y="181991"/>
                  </a:lnTo>
                  <a:lnTo>
                    <a:pt x="5037023" y="181991"/>
                  </a:lnTo>
                  <a:lnTo>
                    <a:pt x="5034292" y="181165"/>
                  </a:lnTo>
                  <a:lnTo>
                    <a:pt x="5031219" y="177876"/>
                  </a:lnTo>
                  <a:lnTo>
                    <a:pt x="5030457" y="174942"/>
                  </a:lnTo>
                  <a:lnTo>
                    <a:pt x="5030457" y="90182"/>
                  </a:lnTo>
                  <a:lnTo>
                    <a:pt x="5089080" y="90182"/>
                  </a:lnTo>
                  <a:lnTo>
                    <a:pt x="5089080" y="57251"/>
                  </a:lnTo>
                  <a:close/>
                </a:path>
              </a:pathLst>
            </a:custGeom>
            <a:solidFill>
              <a:srgbClr val="007BB5"/>
            </a:solidFill>
          </p:spPr>
          <p:txBody>
            <a:bodyPr wrap="square" lIns="0" tIns="0" rIns="0" bIns="0" rtlCol="0"/>
            <a:lstStyle/>
            <a:p>
              <a:endParaRPr/>
            </a:p>
          </p:txBody>
        </p:sp>
      </p:grpSp>
      <p:sp>
        <p:nvSpPr>
          <p:cNvPr id="6" name="object 6"/>
          <p:cNvSpPr/>
          <p:nvPr/>
        </p:nvSpPr>
        <p:spPr>
          <a:xfrm>
            <a:off x="491289" y="5404183"/>
            <a:ext cx="14575155" cy="1207770"/>
          </a:xfrm>
          <a:custGeom>
            <a:avLst/>
            <a:gdLst/>
            <a:ahLst/>
            <a:cxnLst/>
            <a:rect l="l" t="t" r="r" b="b"/>
            <a:pathLst>
              <a:path w="14575155" h="1207770">
                <a:moveTo>
                  <a:pt x="14498413" y="1207753"/>
                </a:moveTo>
                <a:lnTo>
                  <a:pt x="76505" y="1207753"/>
                </a:lnTo>
                <a:lnTo>
                  <a:pt x="71180" y="1207228"/>
                </a:lnTo>
                <a:lnTo>
                  <a:pt x="31920" y="1190966"/>
                </a:lnTo>
                <a:lnTo>
                  <a:pt x="4175" y="1152238"/>
                </a:lnTo>
                <a:lnTo>
                  <a:pt x="0" y="1131247"/>
                </a:lnTo>
                <a:lnTo>
                  <a:pt x="0" y="1125871"/>
                </a:lnTo>
                <a:lnTo>
                  <a:pt x="0" y="76504"/>
                </a:lnTo>
                <a:lnTo>
                  <a:pt x="16786" y="31920"/>
                </a:lnTo>
                <a:lnTo>
                  <a:pt x="55513" y="4175"/>
                </a:lnTo>
                <a:lnTo>
                  <a:pt x="76505" y="0"/>
                </a:lnTo>
                <a:lnTo>
                  <a:pt x="14498413" y="0"/>
                </a:lnTo>
                <a:lnTo>
                  <a:pt x="14542998" y="16786"/>
                </a:lnTo>
                <a:lnTo>
                  <a:pt x="14570742" y="55513"/>
                </a:lnTo>
                <a:lnTo>
                  <a:pt x="14574918" y="76504"/>
                </a:lnTo>
                <a:lnTo>
                  <a:pt x="14574918" y="1131247"/>
                </a:lnTo>
                <a:lnTo>
                  <a:pt x="14558132" y="1175832"/>
                </a:lnTo>
                <a:lnTo>
                  <a:pt x="14519404" y="1203576"/>
                </a:lnTo>
                <a:lnTo>
                  <a:pt x="14503737" y="1207228"/>
                </a:lnTo>
                <a:lnTo>
                  <a:pt x="14498413" y="1207753"/>
                </a:lnTo>
                <a:close/>
              </a:path>
            </a:pathLst>
          </a:custGeom>
          <a:solidFill>
            <a:srgbClr val="04182D"/>
          </a:solidFill>
        </p:spPr>
        <p:txBody>
          <a:bodyPr wrap="square" lIns="0" tIns="0" rIns="0" bIns="0" rtlCol="0"/>
          <a:lstStyle/>
          <a:p>
            <a:endParaRPr/>
          </a:p>
        </p:txBody>
      </p:sp>
      <p:sp>
        <p:nvSpPr>
          <p:cNvPr id="7" name="object 7"/>
          <p:cNvSpPr txBox="1"/>
          <p:nvPr/>
        </p:nvSpPr>
        <p:spPr>
          <a:xfrm>
            <a:off x="630837" y="1227886"/>
            <a:ext cx="7379334" cy="3689985"/>
          </a:xfrm>
          <a:prstGeom prst="rect">
            <a:avLst/>
          </a:prstGeom>
        </p:spPr>
        <p:txBody>
          <a:bodyPr vert="horz" wrap="square" lIns="0" tIns="12700" rIns="0" bIns="0" rtlCol="0">
            <a:spAutoFit/>
          </a:bodyPr>
          <a:lstStyle/>
          <a:p>
            <a:pPr marL="12700" marR="1283970" indent="798830">
              <a:lnSpc>
                <a:spcPct val="140700"/>
              </a:lnSpc>
              <a:spcBef>
                <a:spcPts val="100"/>
              </a:spcBef>
              <a:tabLst>
                <a:tab pos="5287010" algn="l"/>
              </a:tabLst>
            </a:pPr>
            <a:r>
              <a:rPr sz="2100" spc="-10" dirty="0">
                <a:solidFill>
                  <a:srgbClr val="04182D"/>
                </a:solidFill>
                <a:latin typeface="Courier New"/>
                <a:cs typeface="Courier New"/>
              </a:rPr>
              <a:t>sklearn.linear_model</a:t>
            </a:r>
            <a:r>
              <a:rPr sz="2100" dirty="0">
                <a:solidFill>
                  <a:srgbClr val="04182D"/>
                </a:solidFill>
                <a:latin typeface="Courier New"/>
                <a:cs typeface="Courier New"/>
              </a:rPr>
              <a:t>	</a:t>
            </a:r>
            <a:r>
              <a:rPr sz="2100" spc="-10" dirty="0">
                <a:solidFill>
                  <a:srgbClr val="04182D"/>
                </a:solidFill>
                <a:latin typeface="Courier New"/>
                <a:cs typeface="Courier New"/>
              </a:rPr>
              <a:t>Ridge </a:t>
            </a:r>
            <a:r>
              <a:rPr sz="2100" dirty="0">
                <a:solidFill>
                  <a:srgbClr val="04182D"/>
                </a:solidFill>
                <a:latin typeface="Courier New"/>
                <a:cs typeface="Courier New"/>
              </a:rPr>
              <a:t>scores</a:t>
            </a:r>
            <a:r>
              <a:rPr sz="2100" spc="-65" dirty="0">
                <a:solidFill>
                  <a:srgbClr val="04182D"/>
                </a:solidFill>
                <a:latin typeface="Courier New"/>
                <a:cs typeface="Courier New"/>
              </a:rPr>
              <a:t> </a:t>
            </a:r>
            <a:r>
              <a:rPr sz="2100" dirty="0">
                <a:solidFill>
                  <a:srgbClr val="04182D"/>
                </a:solidFill>
                <a:latin typeface="Courier New"/>
                <a:cs typeface="Courier New"/>
              </a:rPr>
              <a:t>=</a:t>
            </a:r>
            <a:r>
              <a:rPr sz="2100" spc="-60" dirty="0">
                <a:solidFill>
                  <a:srgbClr val="04182D"/>
                </a:solidFill>
                <a:latin typeface="Courier New"/>
                <a:cs typeface="Courier New"/>
              </a:rPr>
              <a:t> </a:t>
            </a:r>
            <a:r>
              <a:rPr sz="2100" spc="-25" dirty="0">
                <a:solidFill>
                  <a:srgbClr val="04182D"/>
                </a:solidFill>
                <a:latin typeface="Courier New"/>
                <a:cs typeface="Courier New"/>
              </a:rPr>
              <a:t>[]</a:t>
            </a:r>
            <a:endParaRPr sz="2100">
              <a:latin typeface="Courier New"/>
              <a:cs typeface="Courier New"/>
            </a:endParaRPr>
          </a:p>
          <a:p>
            <a:pPr marL="651510">
              <a:lnSpc>
                <a:spcPct val="100000"/>
              </a:lnSpc>
              <a:spcBef>
                <a:spcPts val="1025"/>
              </a:spcBef>
              <a:tabLst>
                <a:tab pos="2089785" algn="l"/>
              </a:tabLst>
            </a:pPr>
            <a:r>
              <a:rPr sz="2100" spc="-10" dirty="0">
                <a:solidFill>
                  <a:srgbClr val="04182D"/>
                </a:solidFill>
                <a:latin typeface="Courier New"/>
                <a:cs typeface="Courier New"/>
              </a:rPr>
              <a:t>alpha</a:t>
            </a:r>
            <a:r>
              <a:rPr sz="2100" dirty="0">
                <a:solidFill>
                  <a:srgbClr val="04182D"/>
                </a:solidFill>
                <a:latin typeface="Courier New"/>
                <a:cs typeface="Courier New"/>
              </a:rPr>
              <a:t>	[</a:t>
            </a:r>
            <a:r>
              <a:rPr sz="2100" dirty="0">
                <a:solidFill>
                  <a:srgbClr val="BE2F72"/>
                </a:solidFill>
                <a:latin typeface="Courier New"/>
                <a:cs typeface="Courier New"/>
              </a:rPr>
              <a:t>0.1</a:t>
            </a:r>
            <a:r>
              <a:rPr sz="2100" dirty="0">
                <a:solidFill>
                  <a:srgbClr val="04182D"/>
                </a:solidFill>
                <a:latin typeface="Courier New"/>
                <a:cs typeface="Courier New"/>
              </a:rPr>
              <a:t>,</a:t>
            </a:r>
            <a:r>
              <a:rPr sz="2100" spc="-90" dirty="0">
                <a:solidFill>
                  <a:srgbClr val="04182D"/>
                </a:solidFill>
                <a:latin typeface="Courier New"/>
                <a:cs typeface="Courier New"/>
              </a:rPr>
              <a:t> </a:t>
            </a:r>
            <a:r>
              <a:rPr sz="2100" dirty="0">
                <a:solidFill>
                  <a:srgbClr val="BE2F72"/>
                </a:solidFill>
                <a:latin typeface="Courier New"/>
                <a:cs typeface="Courier New"/>
              </a:rPr>
              <a:t>1.0</a:t>
            </a:r>
            <a:r>
              <a:rPr sz="2100" dirty="0">
                <a:solidFill>
                  <a:srgbClr val="04182D"/>
                </a:solidFill>
                <a:latin typeface="Courier New"/>
                <a:cs typeface="Courier New"/>
              </a:rPr>
              <a:t>,</a:t>
            </a:r>
            <a:r>
              <a:rPr sz="2100" spc="-90" dirty="0">
                <a:solidFill>
                  <a:srgbClr val="04182D"/>
                </a:solidFill>
                <a:latin typeface="Courier New"/>
                <a:cs typeface="Courier New"/>
              </a:rPr>
              <a:t> </a:t>
            </a:r>
            <a:r>
              <a:rPr sz="2100" dirty="0">
                <a:solidFill>
                  <a:srgbClr val="BE2F72"/>
                </a:solidFill>
                <a:latin typeface="Courier New"/>
                <a:cs typeface="Courier New"/>
              </a:rPr>
              <a:t>10.0</a:t>
            </a:r>
            <a:r>
              <a:rPr sz="2100" dirty="0">
                <a:solidFill>
                  <a:srgbClr val="04182D"/>
                </a:solidFill>
                <a:latin typeface="Courier New"/>
                <a:cs typeface="Courier New"/>
              </a:rPr>
              <a:t>,</a:t>
            </a:r>
            <a:r>
              <a:rPr sz="2100" spc="-85" dirty="0">
                <a:solidFill>
                  <a:srgbClr val="04182D"/>
                </a:solidFill>
                <a:latin typeface="Courier New"/>
                <a:cs typeface="Courier New"/>
              </a:rPr>
              <a:t> </a:t>
            </a:r>
            <a:r>
              <a:rPr sz="2100" dirty="0">
                <a:solidFill>
                  <a:srgbClr val="BE2F72"/>
                </a:solidFill>
                <a:latin typeface="Courier New"/>
                <a:cs typeface="Courier New"/>
              </a:rPr>
              <a:t>100.0</a:t>
            </a:r>
            <a:r>
              <a:rPr sz="2100" dirty="0">
                <a:solidFill>
                  <a:srgbClr val="04182D"/>
                </a:solidFill>
                <a:latin typeface="Courier New"/>
                <a:cs typeface="Courier New"/>
              </a:rPr>
              <a:t>,</a:t>
            </a:r>
            <a:r>
              <a:rPr sz="2100" spc="-90" dirty="0">
                <a:solidFill>
                  <a:srgbClr val="04182D"/>
                </a:solidFill>
                <a:latin typeface="Courier New"/>
                <a:cs typeface="Courier New"/>
              </a:rPr>
              <a:t> </a:t>
            </a:r>
            <a:r>
              <a:rPr sz="2100" spc="-10" dirty="0">
                <a:solidFill>
                  <a:srgbClr val="BE2F72"/>
                </a:solidFill>
                <a:latin typeface="Courier New"/>
                <a:cs typeface="Courier New"/>
              </a:rPr>
              <a:t>1000.0</a:t>
            </a:r>
            <a:r>
              <a:rPr sz="2100" spc="-10" dirty="0">
                <a:solidFill>
                  <a:srgbClr val="04182D"/>
                </a:solidFill>
                <a:latin typeface="Courier New"/>
                <a:cs typeface="Courier New"/>
              </a:rPr>
              <a:t>]:</a:t>
            </a:r>
            <a:endParaRPr sz="2100">
              <a:latin typeface="Courier New"/>
              <a:cs typeface="Courier New"/>
            </a:endParaRPr>
          </a:p>
          <a:p>
            <a:pPr marL="651510" marR="1922780">
              <a:lnSpc>
                <a:spcPct val="140700"/>
              </a:lnSpc>
              <a:spcBef>
                <a:spcPts val="160"/>
              </a:spcBef>
            </a:pPr>
            <a:r>
              <a:rPr sz="2100" dirty="0">
                <a:solidFill>
                  <a:srgbClr val="04182D"/>
                </a:solidFill>
                <a:latin typeface="Courier New"/>
                <a:cs typeface="Courier New"/>
              </a:rPr>
              <a:t>ridge</a:t>
            </a:r>
            <a:r>
              <a:rPr sz="2100" spc="-55" dirty="0">
                <a:solidFill>
                  <a:srgbClr val="04182D"/>
                </a:solidFill>
                <a:latin typeface="Courier New"/>
                <a:cs typeface="Courier New"/>
              </a:rPr>
              <a:t> </a:t>
            </a:r>
            <a:r>
              <a:rPr sz="2100" dirty="0">
                <a:solidFill>
                  <a:srgbClr val="04182D"/>
                </a:solidFill>
                <a:latin typeface="Courier New"/>
                <a:cs typeface="Courier New"/>
              </a:rPr>
              <a:t>=</a:t>
            </a:r>
            <a:r>
              <a:rPr sz="2100" spc="-55" dirty="0">
                <a:solidFill>
                  <a:srgbClr val="04182D"/>
                </a:solidFill>
                <a:latin typeface="Courier New"/>
                <a:cs typeface="Courier New"/>
              </a:rPr>
              <a:t> </a:t>
            </a:r>
            <a:r>
              <a:rPr sz="2100" spc="-10" dirty="0">
                <a:solidFill>
                  <a:srgbClr val="04182D"/>
                </a:solidFill>
                <a:latin typeface="Courier New"/>
                <a:cs typeface="Courier New"/>
              </a:rPr>
              <a:t>Ridge(alpha=alpha) ridge.fit(X_train,</a:t>
            </a:r>
            <a:r>
              <a:rPr sz="2100" spc="-140" dirty="0">
                <a:solidFill>
                  <a:srgbClr val="04182D"/>
                </a:solidFill>
                <a:latin typeface="Courier New"/>
                <a:cs typeface="Courier New"/>
              </a:rPr>
              <a:t> </a:t>
            </a:r>
            <a:r>
              <a:rPr sz="2100" spc="-10" dirty="0">
                <a:solidFill>
                  <a:srgbClr val="04182D"/>
                </a:solidFill>
                <a:latin typeface="Courier New"/>
                <a:cs typeface="Courier New"/>
              </a:rPr>
              <a:t>y_train) </a:t>
            </a:r>
            <a:r>
              <a:rPr sz="2100" dirty="0">
                <a:solidFill>
                  <a:srgbClr val="04182D"/>
                </a:solidFill>
                <a:latin typeface="Courier New"/>
                <a:cs typeface="Courier New"/>
              </a:rPr>
              <a:t>y_pred</a:t>
            </a:r>
            <a:r>
              <a:rPr sz="2100" spc="-65" dirty="0">
                <a:solidFill>
                  <a:srgbClr val="04182D"/>
                </a:solidFill>
                <a:latin typeface="Courier New"/>
                <a:cs typeface="Courier New"/>
              </a:rPr>
              <a:t> </a:t>
            </a:r>
            <a:r>
              <a:rPr sz="2100" dirty="0">
                <a:solidFill>
                  <a:srgbClr val="04182D"/>
                </a:solidFill>
                <a:latin typeface="Courier New"/>
                <a:cs typeface="Courier New"/>
              </a:rPr>
              <a:t>=</a:t>
            </a:r>
            <a:r>
              <a:rPr sz="2100" spc="-60" dirty="0">
                <a:solidFill>
                  <a:srgbClr val="04182D"/>
                </a:solidFill>
                <a:latin typeface="Courier New"/>
                <a:cs typeface="Courier New"/>
              </a:rPr>
              <a:t> </a:t>
            </a:r>
            <a:r>
              <a:rPr sz="2100" spc="-10" dirty="0">
                <a:solidFill>
                  <a:srgbClr val="04182D"/>
                </a:solidFill>
                <a:latin typeface="Courier New"/>
                <a:cs typeface="Courier New"/>
              </a:rPr>
              <a:t>ridge.predict(X_test)</a:t>
            </a:r>
            <a:endParaRPr sz="2100">
              <a:latin typeface="Courier New"/>
              <a:cs typeface="Courier New"/>
            </a:endParaRPr>
          </a:p>
          <a:p>
            <a:pPr marL="12700" marR="5080" indent="638810">
              <a:lnSpc>
                <a:spcPct val="147100"/>
              </a:lnSpc>
            </a:pPr>
            <a:r>
              <a:rPr sz="2100" spc="-10" dirty="0">
                <a:solidFill>
                  <a:srgbClr val="04182D"/>
                </a:solidFill>
                <a:latin typeface="Courier New"/>
                <a:cs typeface="Courier New"/>
              </a:rPr>
              <a:t>scores.append(ridge.score(X_test,</a:t>
            </a:r>
            <a:r>
              <a:rPr sz="2100" spc="-254" dirty="0">
                <a:solidFill>
                  <a:srgbClr val="04182D"/>
                </a:solidFill>
                <a:latin typeface="Courier New"/>
                <a:cs typeface="Courier New"/>
              </a:rPr>
              <a:t> </a:t>
            </a:r>
            <a:r>
              <a:rPr sz="2100" spc="-10" dirty="0">
                <a:solidFill>
                  <a:srgbClr val="04182D"/>
                </a:solidFill>
                <a:latin typeface="Courier New"/>
                <a:cs typeface="Courier New"/>
              </a:rPr>
              <a:t>y_test)) </a:t>
            </a:r>
            <a:r>
              <a:rPr sz="2100" spc="-10" dirty="0">
                <a:solidFill>
                  <a:srgbClr val="008600"/>
                </a:solidFill>
                <a:latin typeface="Courier New"/>
                <a:cs typeface="Courier New"/>
              </a:rPr>
              <a:t>print</a:t>
            </a:r>
            <a:r>
              <a:rPr sz="2100" spc="-10" dirty="0">
                <a:solidFill>
                  <a:srgbClr val="04182D"/>
                </a:solidFill>
                <a:latin typeface="Courier New"/>
                <a:cs typeface="Courier New"/>
              </a:rPr>
              <a:t>(scores)</a:t>
            </a:r>
            <a:endParaRPr sz="2100">
              <a:latin typeface="Courier New"/>
              <a:cs typeface="Courier New"/>
            </a:endParaRPr>
          </a:p>
        </p:txBody>
      </p:sp>
      <p:sp>
        <p:nvSpPr>
          <p:cNvPr id="8" name="object 8"/>
          <p:cNvSpPr txBox="1"/>
          <p:nvPr/>
        </p:nvSpPr>
        <p:spPr>
          <a:xfrm>
            <a:off x="630837" y="5444788"/>
            <a:ext cx="9777095" cy="926465"/>
          </a:xfrm>
          <a:prstGeom prst="rect">
            <a:avLst/>
          </a:prstGeom>
        </p:spPr>
        <p:txBody>
          <a:bodyPr vert="horz" wrap="square" lIns="0" tIns="142875" rIns="0" bIns="0" rtlCol="0">
            <a:spAutoFit/>
          </a:bodyPr>
          <a:lstStyle/>
          <a:p>
            <a:pPr marL="12700">
              <a:lnSpc>
                <a:spcPct val="100000"/>
              </a:lnSpc>
              <a:spcBef>
                <a:spcPts val="1125"/>
              </a:spcBef>
            </a:pPr>
            <a:r>
              <a:rPr sz="2100" spc="-10" dirty="0">
                <a:solidFill>
                  <a:srgbClr val="FFFFFF"/>
                </a:solidFill>
                <a:latin typeface="Courier New"/>
                <a:cs typeface="Courier New"/>
              </a:rPr>
              <a:t>[0.2828466623222221,</a:t>
            </a:r>
            <a:r>
              <a:rPr sz="2100" spc="-165" dirty="0">
                <a:solidFill>
                  <a:srgbClr val="FFFFFF"/>
                </a:solidFill>
                <a:latin typeface="Courier New"/>
                <a:cs typeface="Courier New"/>
              </a:rPr>
              <a:t> </a:t>
            </a:r>
            <a:r>
              <a:rPr sz="2100" spc="-10" dirty="0">
                <a:solidFill>
                  <a:srgbClr val="FFFFFF"/>
                </a:solidFill>
                <a:latin typeface="Courier New"/>
                <a:cs typeface="Courier New"/>
              </a:rPr>
              <a:t>0.28320633574804777,</a:t>
            </a:r>
            <a:r>
              <a:rPr sz="2100" spc="-150" dirty="0">
                <a:solidFill>
                  <a:srgbClr val="FFFFFF"/>
                </a:solidFill>
                <a:latin typeface="Courier New"/>
                <a:cs typeface="Courier New"/>
              </a:rPr>
              <a:t> </a:t>
            </a:r>
            <a:r>
              <a:rPr sz="2100" spc="-10" dirty="0">
                <a:solidFill>
                  <a:srgbClr val="FFFFFF"/>
                </a:solidFill>
                <a:latin typeface="Courier New"/>
                <a:cs typeface="Courier New"/>
              </a:rPr>
              <a:t>0.2853000732200006,</a:t>
            </a:r>
            <a:endParaRPr sz="2100">
              <a:latin typeface="Courier New"/>
              <a:cs typeface="Courier New"/>
            </a:endParaRPr>
          </a:p>
          <a:p>
            <a:pPr marL="172085">
              <a:lnSpc>
                <a:spcPct val="100000"/>
              </a:lnSpc>
              <a:spcBef>
                <a:spcPts val="1025"/>
              </a:spcBef>
            </a:pPr>
            <a:r>
              <a:rPr sz="2100" spc="-10" dirty="0">
                <a:solidFill>
                  <a:srgbClr val="FFFFFF"/>
                </a:solidFill>
                <a:latin typeface="Courier New"/>
                <a:cs typeface="Courier New"/>
              </a:rPr>
              <a:t>0.26423984812668133,</a:t>
            </a:r>
            <a:r>
              <a:rPr sz="2100" spc="-155" dirty="0">
                <a:solidFill>
                  <a:srgbClr val="FFFFFF"/>
                </a:solidFill>
                <a:latin typeface="Courier New"/>
                <a:cs typeface="Courier New"/>
              </a:rPr>
              <a:t> </a:t>
            </a:r>
            <a:r>
              <a:rPr sz="2100" spc="-10" dirty="0">
                <a:solidFill>
                  <a:srgbClr val="FFFFFF"/>
                </a:solidFill>
                <a:latin typeface="Courier New"/>
                <a:cs typeface="Courier New"/>
              </a:rPr>
              <a:t>0.19292424694100963]</a:t>
            </a:r>
            <a:endParaRPr sz="2100">
              <a:latin typeface="Courier New"/>
              <a:cs typeface="Courier New"/>
            </a:endParaRPr>
          </a:p>
        </p:txBody>
      </p:sp>
      <p:sp>
        <p:nvSpPr>
          <p:cNvPr id="12" name="슬라이드 번호 개체 틀 11">
            <a:extLst>
              <a:ext uri="{FF2B5EF4-FFF2-40B4-BE49-F238E27FC236}">
                <a16:creationId xmlns:a16="http://schemas.microsoft.com/office/drawing/2014/main" id="{C802A5B1-7542-2800-5187-C209273E2678}"/>
              </a:ext>
            </a:extLst>
          </p:cNvPr>
          <p:cNvSpPr>
            <a:spLocks noGrp="1"/>
          </p:cNvSpPr>
          <p:nvPr>
            <p:ph type="sldNum" sz="quarter" idx="7"/>
          </p:nvPr>
        </p:nvSpPr>
        <p:spPr/>
        <p:txBody>
          <a:bodyPr/>
          <a:lstStyle/>
          <a:p>
            <a:fld id="{B6F15528-21DE-4FAA-801E-634DDDAF4B2B}" type="slidenum">
              <a:rPr lang="en-US" altLang="ko-KR" smtClean="0"/>
              <a:t>32</a:t>
            </a:fld>
            <a:endParaRPr lang="en-US" altLang="ko-KR"/>
          </a:p>
        </p:txBody>
      </p:sp>
      <p:sp>
        <p:nvSpPr>
          <p:cNvPr id="14" name="TextBox 13">
            <a:extLst>
              <a:ext uri="{FF2B5EF4-FFF2-40B4-BE49-F238E27FC236}">
                <a16:creationId xmlns:a16="http://schemas.microsoft.com/office/drawing/2014/main" id="{2F03DF08-2ABE-923B-3FDE-68429A142A09}"/>
              </a:ext>
            </a:extLst>
          </p:cNvPr>
          <p:cNvSpPr txBox="1"/>
          <p:nvPr/>
        </p:nvSpPr>
        <p:spPr>
          <a:xfrm>
            <a:off x="466682" y="6652558"/>
            <a:ext cx="13103268" cy="1200329"/>
          </a:xfrm>
          <a:prstGeom prst="rect">
            <a:avLst/>
          </a:prstGeom>
          <a:noFill/>
        </p:spPr>
        <p:txBody>
          <a:bodyPr wrap="square">
            <a:spAutoFit/>
          </a:bodyPr>
          <a:lstStyle/>
          <a:p>
            <a:r>
              <a:rPr lang="en-US" altLang="ko-KR" b="1" dirty="0"/>
              <a:t>Interpreting the Ridge Score:</a:t>
            </a:r>
          </a:p>
          <a:p>
            <a:r>
              <a:rPr lang="en-US" altLang="ko-KR" b="1" dirty="0"/>
              <a:t>High R2R^2R2 (close to 1)</a:t>
            </a:r>
            <a:r>
              <a:rPr lang="en-US" altLang="ko-KR" dirty="0"/>
              <a:t>: Indicates the model explains most of the variability in the data.</a:t>
            </a:r>
          </a:p>
          <a:p>
            <a:r>
              <a:rPr lang="en-US" altLang="ko-KR" b="1" dirty="0"/>
              <a:t>Low R2R^2R2 (close to 0)</a:t>
            </a:r>
            <a:r>
              <a:rPr lang="en-US" altLang="ko-KR" dirty="0"/>
              <a:t>: Indicates the model explains very little of the variability.</a:t>
            </a:r>
          </a:p>
          <a:p>
            <a:r>
              <a:rPr lang="en-US" altLang="ko-KR" dirty="0"/>
              <a:t>A better R2R^2R2 on test data compared to training data suggests that Ridge regression is effectively reducing overfitting.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235" dirty="0"/>
              <a:t>Lasso</a:t>
            </a:r>
            <a:r>
              <a:rPr spc="-120" dirty="0"/>
              <a:t> </a:t>
            </a:r>
            <a:r>
              <a:rPr spc="-229" dirty="0"/>
              <a:t>regression</a:t>
            </a:r>
          </a:p>
        </p:txBody>
      </p:sp>
      <p:pic>
        <p:nvPicPr>
          <p:cNvPr id="3" name="object 3"/>
          <p:cNvPicPr/>
          <p:nvPr/>
        </p:nvPicPr>
        <p:blipFill>
          <a:blip r:embed="rId2" cstate="print"/>
          <a:stretch>
            <a:fillRect/>
          </a:stretch>
        </p:blipFill>
        <p:spPr>
          <a:xfrm>
            <a:off x="511759" y="1351045"/>
            <a:ext cx="102352" cy="102351"/>
          </a:xfrm>
          <a:prstGeom prst="rect">
            <a:avLst/>
          </a:prstGeom>
        </p:spPr>
      </p:pic>
      <p:sp>
        <p:nvSpPr>
          <p:cNvPr id="4" name="object 4"/>
          <p:cNvSpPr txBox="1"/>
          <p:nvPr/>
        </p:nvSpPr>
        <p:spPr>
          <a:xfrm>
            <a:off x="834356" y="1174582"/>
            <a:ext cx="8084820" cy="1677670"/>
          </a:xfrm>
          <a:prstGeom prst="rect">
            <a:avLst/>
          </a:prstGeom>
        </p:spPr>
        <p:txBody>
          <a:bodyPr vert="horz" wrap="square" lIns="0" tIns="15875" rIns="0" bIns="0" rtlCol="0">
            <a:spAutoFit/>
          </a:bodyPr>
          <a:lstStyle/>
          <a:p>
            <a:pPr marL="25400">
              <a:lnSpc>
                <a:spcPts val="2940"/>
              </a:lnSpc>
              <a:spcBef>
                <a:spcPts val="125"/>
              </a:spcBef>
            </a:pPr>
            <a:r>
              <a:rPr sz="2550" spc="60" dirty="0">
                <a:solidFill>
                  <a:srgbClr val="04182D"/>
                </a:solidFill>
                <a:latin typeface="Tahoma"/>
                <a:cs typeface="Tahoma"/>
              </a:rPr>
              <a:t>Loss</a:t>
            </a:r>
            <a:r>
              <a:rPr sz="2550" spc="-50" dirty="0">
                <a:solidFill>
                  <a:srgbClr val="04182D"/>
                </a:solidFill>
                <a:latin typeface="Tahoma"/>
                <a:cs typeface="Tahoma"/>
              </a:rPr>
              <a:t> </a:t>
            </a:r>
            <a:r>
              <a:rPr sz="2550" spc="95" dirty="0">
                <a:solidFill>
                  <a:srgbClr val="04182D"/>
                </a:solidFill>
                <a:latin typeface="Tahoma"/>
                <a:cs typeface="Tahoma"/>
              </a:rPr>
              <a:t>function</a:t>
            </a:r>
            <a:r>
              <a:rPr sz="2550" spc="-45" dirty="0">
                <a:solidFill>
                  <a:srgbClr val="04182D"/>
                </a:solidFill>
                <a:latin typeface="Tahoma"/>
                <a:cs typeface="Tahoma"/>
              </a:rPr>
              <a:t> </a:t>
            </a:r>
            <a:r>
              <a:rPr sz="2550" spc="-390" dirty="0">
                <a:solidFill>
                  <a:srgbClr val="04182D"/>
                </a:solidFill>
                <a:latin typeface="Tahoma"/>
                <a:cs typeface="Tahoma"/>
              </a:rPr>
              <a:t>=</a:t>
            </a:r>
            <a:r>
              <a:rPr sz="2550" spc="-45" dirty="0">
                <a:solidFill>
                  <a:srgbClr val="04182D"/>
                </a:solidFill>
                <a:latin typeface="Tahoma"/>
                <a:cs typeface="Tahoma"/>
              </a:rPr>
              <a:t> </a:t>
            </a:r>
            <a:r>
              <a:rPr sz="2550" spc="114" dirty="0">
                <a:solidFill>
                  <a:srgbClr val="04182D"/>
                </a:solidFill>
                <a:latin typeface="Tahoma"/>
                <a:cs typeface="Tahoma"/>
              </a:rPr>
              <a:t>OLS</a:t>
            </a:r>
            <a:r>
              <a:rPr sz="2550" spc="-50" dirty="0">
                <a:solidFill>
                  <a:srgbClr val="04182D"/>
                </a:solidFill>
                <a:latin typeface="Tahoma"/>
                <a:cs typeface="Tahoma"/>
              </a:rPr>
              <a:t> </a:t>
            </a:r>
            <a:r>
              <a:rPr sz="2550" spc="70" dirty="0">
                <a:solidFill>
                  <a:srgbClr val="04182D"/>
                </a:solidFill>
                <a:latin typeface="Tahoma"/>
                <a:cs typeface="Tahoma"/>
              </a:rPr>
              <a:t>loss</a:t>
            </a:r>
            <a:r>
              <a:rPr sz="2550" spc="-45" dirty="0">
                <a:solidFill>
                  <a:srgbClr val="04182D"/>
                </a:solidFill>
                <a:latin typeface="Tahoma"/>
                <a:cs typeface="Tahoma"/>
              </a:rPr>
              <a:t> </a:t>
            </a:r>
            <a:r>
              <a:rPr sz="2550" spc="95" dirty="0">
                <a:solidFill>
                  <a:srgbClr val="04182D"/>
                </a:solidFill>
                <a:latin typeface="Tahoma"/>
                <a:cs typeface="Tahoma"/>
              </a:rPr>
              <a:t>function</a:t>
            </a:r>
            <a:r>
              <a:rPr sz="2550" spc="-45" dirty="0">
                <a:solidFill>
                  <a:srgbClr val="04182D"/>
                </a:solidFill>
                <a:latin typeface="Tahoma"/>
                <a:cs typeface="Tahoma"/>
              </a:rPr>
              <a:t> </a:t>
            </a:r>
            <a:r>
              <a:rPr sz="4000" b="1" spc="-440" dirty="0">
                <a:solidFill>
                  <a:srgbClr val="04182D"/>
                </a:solidFill>
                <a:latin typeface="Tahoma"/>
                <a:cs typeface="Tahoma"/>
              </a:rPr>
              <a:t>+</a:t>
            </a:r>
            <a:endParaRPr sz="4000" b="1" dirty="0">
              <a:latin typeface="Tahoma"/>
              <a:cs typeface="Tahoma"/>
            </a:endParaRPr>
          </a:p>
          <a:p>
            <a:pPr marL="6187440" algn="ctr">
              <a:lnSpc>
                <a:spcPts val="2460"/>
              </a:lnSpc>
            </a:pPr>
            <a:r>
              <a:rPr sz="2150" i="1" spc="55" dirty="0">
                <a:solidFill>
                  <a:srgbClr val="04182D"/>
                </a:solidFill>
                <a:latin typeface="Arial"/>
                <a:cs typeface="Arial"/>
              </a:rPr>
              <a:t>n</a:t>
            </a:r>
            <a:endParaRPr sz="2150" dirty="0">
              <a:latin typeface="Arial"/>
              <a:cs typeface="Arial"/>
            </a:endParaRPr>
          </a:p>
          <a:p>
            <a:pPr marL="6170930" algn="ctr">
              <a:lnSpc>
                <a:spcPct val="100000"/>
              </a:lnSpc>
              <a:spcBef>
                <a:spcPts val="340"/>
              </a:spcBef>
            </a:pPr>
            <a:r>
              <a:rPr sz="3100" i="1" spc="225" dirty="0">
                <a:solidFill>
                  <a:srgbClr val="04182D"/>
                </a:solidFill>
                <a:latin typeface="Arial"/>
                <a:cs typeface="Arial"/>
              </a:rPr>
              <a:t>α</a:t>
            </a:r>
            <a:r>
              <a:rPr sz="3100" i="1" spc="-165" dirty="0">
                <a:solidFill>
                  <a:srgbClr val="04182D"/>
                </a:solidFill>
                <a:latin typeface="Arial"/>
                <a:cs typeface="Arial"/>
              </a:rPr>
              <a:t> </a:t>
            </a:r>
            <a:r>
              <a:rPr sz="3100" spc="-915" dirty="0">
                <a:solidFill>
                  <a:srgbClr val="04182D"/>
                </a:solidFill>
                <a:latin typeface="Lucida Sans Unicode"/>
                <a:cs typeface="Lucida Sans Unicode"/>
              </a:rPr>
              <a:t>∗</a:t>
            </a:r>
            <a:r>
              <a:rPr sz="3100" spc="-285" dirty="0">
                <a:solidFill>
                  <a:srgbClr val="04182D"/>
                </a:solidFill>
                <a:latin typeface="Lucida Sans Unicode"/>
                <a:cs typeface="Lucida Sans Unicode"/>
              </a:rPr>
              <a:t> </a:t>
            </a:r>
            <a:r>
              <a:rPr sz="3100" spc="2275" dirty="0">
                <a:solidFill>
                  <a:srgbClr val="04182D"/>
                </a:solidFill>
                <a:latin typeface="Arial"/>
                <a:cs typeface="Arial"/>
              </a:rPr>
              <a:t>∑</a:t>
            </a:r>
            <a:r>
              <a:rPr sz="3100" spc="-340" dirty="0">
                <a:solidFill>
                  <a:srgbClr val="04182D"/>
                </a:solidFill>
                <a:latin typeface="Arial"/>
                <a:cs typeface="Arial"/>
              </a:rPr>
              <a:t> </a:t>
            </a:r>
            <a:r>
              <a:rPr sz="3100" spc="-20" dirty="0">
                <a:solidFill>
                  <a:srgbClr val="04182D"/>
                </a:solidFill>
                <a:latin typeface="Lucida Sans Unicode"/>
                <a:cs typeface="Lucida Sans Unicode"/>
              </a:rPr>
              <a:t>∣</a:t>
            </a:r>
            <a:r>
              <a:rPr sz="3100" i="1" spc="-20" dirty="0">
                <a:solidFill>
                  <a:srgbClr val="04182D"/>
                </a:solidFill>
                <a:latin typeface="Arial"/>
                <a:cs typeface="Arial"/>
              </a:rPr>
              <a:t>a</a:t>
            </a:r>
            <a:r>
              <a:rPr sz="3225" i="1" spc="-30" baseline="-12919" dirty="0">
                <a:solidFill>
                  <a:srgbClr val="04182D"/>
                </a:solidFill>
                <a:latin typeface="Arial"/>
                <a:cs typeface="Arial"/>
              </a:rPr>
              <a:t>i</a:t>
            </a:r>
            <a:r>
              <a:rPr sz="3100" spc="-20" dirty="0">
                <a:solidFill>
                  <a:srgbClr val="04182D"/>
                </a:solidFill>
                <a:latin typeface="Lucida Sans Unicode"/>
                <a:cs typeface="Lucida Sans Unicode"/>
              </a:rPr>
              <a:t>∣</a:t>
            </a:r>
            <a:endParaRPr sz="3100" dirty="0">
              <a:latin typeface="Lucida Sans Unicode"/>
              <a:cs typeface="Lucida Sans Unicode"/>
            </a:endParaRPr>
          </a:p>
          <a:p>
            <a:pPr marL="6187440" algn="ctr">
              <a:lnSpc>
                <a:spcPct val="100000"/>
              </a:lnSpc>
              <a:spcBef>
                <a:spcPts val="940"/>
              </a:spcBef>
            </a:pPr>
            <a:r>
              <a:rPr sz="2150" i="1" spc="-25" dirty="0">
                <a:solidFill>
                  <a:srgbClr val="04182D"/>
                </a:solidFill>
                <a:latin typeface="Arial"/>
                <a:cs typeface="Arial"/>
              </a:rPr>
              <a:t>i</a:t>
            </a:r>
            <a:r>
              <a:rPr sz="2150" spc="-25" dirty="0">
                <a:solidFill>
                  <a:srgbClr val="04182D"/>
                </a:solidFill>
                <a:latin typeface="Lucida Sans Unicode"/>
                <a:cs typeface="Lucida Sans Unicode"/>
              </a:rPr>
              <a:t>=1</a:t>
            </a:r>
            <a:endParaRPr sz="2150" dirty="0">
              <a:latin typeface="Lucida Sans Unicode"/>
              <a:cs typeface="Lucida Sans Unicode"/>
            </a:endParaRPr>
          </a:p>
        </p:txBody>
      </p:sp>
      <p:sp>
        <p:nvSpPr>
          <p:cNvPr id="8" name="슬라이드 번호 개체 틀 7">
            <a:extLst>
              <a:ext uri="{FF2B5EF4-FFF2-40B4-BE49-F238E27FC236}">
                <a16:creationId xmlns:a16="http://schemas.microsoft.com/office/drawing/2014/main" id="{C84B5487-6333-4690-3C38-944934A0FADC}"/>
              </a:ext>
            </a:extLst>
          </p:cNvPr>
          <p:cNvSpPr>
            <a:spLocks noGrp="1"/>
          </p:cNvSpPr>
          <p:nvPr>
            <p:ph type="sldNum" sz="quarter" idx="7"/>
          </p:nvPr>
        </p:nvSpPr>
        <p:spPr/>
        <p:txBody>
          <a:bodyPr/>
          <a:lstStyle/>
          <a:p>
            <a:fld id="{B6F15528-21DE-4FAA-801E-634DDDAF4B2B}" type="slidenum">
              <a:rPr lang="en-US" altLang="ko-KR" smtClean="0"/>
              <a:t>33</a:t>
            </a:fld>
            <a:endParaRPr lang="en-US" altLang="ko-KR"/>
          </a:p>
        </p:txBody>
      </p:sp>
      <p:sp>
        <p:nvSpPr>
          <p:cNvPr id="10" name="TextBox 9">
            <a:extLst>
              <a:ext uri="{FF2B5EF4-FFF2-40B4-BE49-F238E27FC236}">
                <a16:creationId xmlns:a16="http://schemas.microsoft.com/office/drawing/2014/main" id="{7DB847B0-BF6F-09EA-CE5D-65643DF7287D}"/>
              </a:ext>
            </a:extLst>
          </p:cNvPr>
          <p:cNvSpPr txBox="1"/>
          <p:nvPr/>
        </p:nvSpPr>
        <p:spPr>
          <a:xfrm>
            <a:off x="757912" y="4000500"/>
            <a:ext cx="14183637" cy="1200329"/>
          </a:xfrm>
          <a:prstGeom prst="rect">
            <a:avLst/>
          </a:prstGeom>
          <a:noFill/>
        </p:spPr>
        <p:txBody>
          <a:bodyPr wrap="square">
            <a:spAutoFit/>
          </a:bodyPr>
          <a:lstStyle/>
          <a:p>
            <a:r>
              <a:rPr lang="en-US" altLang="ko-KR" dirty="0"/>
              <a:t>Lasso regression (short for </a:t>
            </a:r>
            <a:r>
              <a:rPr lang="en-US" altLang="ko-KR" b="1" dirty="0"/>
              <a:t>Least Absolute Shrinkage and Selection Operator</a:t>
            </a:r>
            <a:r>
              <a:rPr lang="en-US" altLang="ko-KR" dirty="0"/>
              <a:t>) is a linear regression method that includes </a:t>
            </a:r>
            <a:r>
              <a:rPr lang="en-US" altLang="ko-KR" b="1" dirty="0"/>
              <a:t>L1 regularization</a:t>
            </a:r>
            <a:r>
              <a:rPr lang="en-US" altLang="ko-KR" dirty="0"/>
              <a:t>. It is used for both preventing overfitting and performing feature selection.</a:t>
            </a:r>
          </a:p>
          <a:p>
            <a:endParaRPr lang="en-US" altLang="ko-KR" dirty="0"/>
          </a:p>
          <a:p>
            <a:r>
              <a:rPr lang="en-US" altLang="ko-KR" b="1" dirty="0"/>
              <a:t>L1 Regularization</a:t>
            </a:r>
            <a:r>
              <a:rPr lang="en-US" altLang="ko-KR" dirty="0"/>
              <a:t>: The loss function in Lasso regression adds a penalty proportional to the absolute values of the regression coefficients</a:t>
            </a:r>
            <a:endParaRPr lang="ko-KR"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8589" y="273885"/>
            <a:ext cx="8051800" cy="713740"/>
          </a:xfrm>
          <a:prstGeom prst="rect">
            <a:avLst/>
          </a:prstGeom>
        </p:spPr>
        <p:txBody>
          <a:bodyPr vert="horz" wrap="square" lIns="0" tIns="13970" rIns="0" bIns="0" rtlCol="0">
            <a:spAutoFit/>
          </a:bodyPr>
          <a:lstStyle/>
          <a:p>
            <a:pPr marL="12700">
              <a:lnSpc>
                <a:spcPct val="100000"/>
              </a:lnSpc>
              <a:spcBef>
                <a:spcPts val="110"/>
              </a:spcBef>
            </a:pPr>
            <a:r>
              <a:rPr spc="-235" dirty="0"/>
              <a:t>Lasso</a:t>
            </a:r>
            <a:r>
              <a:rPr spc="-114" dirty="0"/>
              <a:t> </a:t>
            </a:r>
            <a:r>
              <a:rPr spc="-254" dirty="0"/>
              <a:t>regression</a:t>
            </a:r>
            <a:r>
              <a:rPr spc="-110" dirty="0"/>
              <a:t> </a:t>
            </a:r>
            <a:r>
              <a:rPr spc="-265" dirty="0"/>
              <a:t>in</a:t>
            </a:r>
            <a:r>
              <a:rPr spc="-110" dirty="0"/>
              <a:t> </a:t>
            </a:r>
            <a:r>
              <a:rPr spc="-250" dirty="0"/>
              <a:t>scikit-</a:t>
            </a:r>
            <a:r>
              <a:rPr spc="-105" dirty="0"/>
              <a:t>learn</a:t>
            </a:r>
          </a:p>
        </p:txBody>
      </p:sp>
      <p:grpSp>
        <p:nvGrpSpPr>
          <p:cNvPr id="3" name="object 3"/>
          <p:cNvGrpSpPr/>
          <p:nvPr/>
        </p:nvGrpSpPr>
        <p:grpSpPr>
          <a:xfrm>
            <a:off x="491289" y="1166812"/>
            <a:ext cx="14575155" cy="3726179"/>
            <a:chOff x="491289" y="1166812"/>
            <a:chExt cx="14575155" cy="3726179"/>
          </a:xfrm>
        </p:grpSpPr>
        <p:sp>
          <p:nvSpPr>
            <p:cNvPr id="4" name="object 4"/>
            <p:cNvSpPr/>
            <p:nvPr/>
          </p:nvSpPr>
          <p:spPr>
            <a:xfrm>
              <a:off x="491289" y="1166812"/>
              <a:ext cx="14575155" cy="3726179"/>
            </a:xfrm>
            <a:custGeom>
              <a:avLst/>
              <a:gdLst/>
              <a:ahLst/>
              <a:cxnLst/>
              <a:rect l="l" t="t" r="r" b="b"/>
              <a:pathLst>
                <a:path w="14575155" h="3726179">
                  <a:moveTo>
                    <a:pt x="14498413" y="3725610"/>
                  </a:moveTo>
                  <a:lnTo>
                    <a:pt x="76505" y="3725610"/>
                  </a:lnTo>
                  <a:lnTo>
                    <a:pt x="71180" y="3725086"/>
                  </a:lnTo>
                  <a:lnTo>
                    <a:pt x="31920" y="3708824"/>
                  </a:lnTo>
                  <a:lnTo>
                    <a:pt x="4175" y="3670096"/>
                  </a:lnTo>
                  <a:lnTo>
                    <a:pt x="0" y="3649105"/>
                  </a:lnTo>
                  <a:lnTo>
                    <a:pt x="0" y="3643729"/>
                  </a:lnTo>
                  <a:lnTo>
                    <a:pt x="0" y="76505"/>
                  </a:lnTo>
                  <a:lnTo>
                    <a:pt x="16786" y="31920"/>
                  </a:lnTo>
                  <a:lnTo>
                    <a:pt x="55513" y="4175"/>
                  </a:lnTo>
                  <a:lnTo>
                    <a:pt x="76505" y="0"/>
                  </a:lnTo>
                  <a:lnTo>
                    <a:pt x="14498413" y="0"/>
                  </a:lnTo>
                  <a:lnTo>
                    <a:pt x="14542998" y="16786"/>
                  </a:lnTo>
                  <a:lnTo>
                    <a:pt x="14570742" y="55513"/>
                  </a:lnTo>
                  <a:lnTo>
                    <a:pt x="14574918" y="76505"/>
                  </a:lnTo>
                  <a:lnTo>
                    <a:pt x="14574918" y="3649105"/>
                  </a:lnTo>
                  <a:lnTo>
                    <a:pt x="14558132" y="3693690"/>
                  </a:lnTo>
                  <a:lnTo>
                    <a:pt x="14519404" y="3721435"/>
                  </a:lnTo>
                  <a:lnTo>
                    <a:pt x="14503737" y="3725086"/>
                  </a:lnTo>
                  <a:lnTo>
                    <a:pt x="14498413" y="3725610"/>
                  </a:lnTo>
                  <a:close/>
                </a:path>
              </a:pathLst>
            </a:custGeom>
            <a:solidFill>
              <a:srgbClr val="F6F2EB"/>
            </a:solidFill>
          </p:spPr>
          <p:txBody>
            <a:bodyPr wrap="square" lIns="0" tIns="0" rIns="0" bIns="0" rtlCol="0"/>
            <a:lstStyle/>
            <a:p>
              <a:endParaRPr/>
            </a:p>
          </p:txBody>
        </p:sp>
        <p:sp>
          <p:nvSpPr>
            <p:cNvPr id="5" name="object 5"/>
            <p:cNvSpPr/>
            <p:nvPr/>
          </p:nvSpPr>
          <p:spPr>
            <a:xfrm>
              <a:off x="653910" y="1409178"/>
              <a:ext cx="4924425" cy="1070610"/>
            </a:xfrm>
            <a:custGeom>
              <a:avLst/>
              <a:gdLst/>
              <a:ahLst/>
              <a:cxnLst/>
              <a:rect l="l" t="t" r="r" b="b"/>
              <a:pathLst>
                <a:path w="4924425" h="1070610">
                  <a:moveTo>
                    <a:pt x="133172" y="868756"/>
                  </a:moveTo>
                  <a:lnTo>
                    <a:pt x="83997" y="868756"/>
                  </a:lnTo>
                  <a:lnTo>
                    <a:pt x="74777" y="869454"/>
                  </a:lnTo>
                  <a:lnTo>
                    <a:pt x="44157" y="892810"/>
                  </a:lnTo>
                  <a:lnTo>
                    <a:pt x="41236" y="909688"/>
                  </a:lnTo>
                  <a:lnTo>
                    <a:pt x="41236" y="918006"/>
                  </a:lnTo>
                  <a:lnTo>
                    <a:pt x="0" y="918006"/>
                  </a:lnTo>
                  <a:lnTo>
                    <a:pt x="0" y="949858"/>
                  </a:lnTo>
                  <a:lnTo>
                    <a:pt x="41236" y="949858"/>
                  </a:lnTo>
                  <a:lnTo>
                    <a:pt x="41236" y="1067739"/>
                  </a:lnTo>
                  <a:lnTo>
                    <a:pt x="75184" y="1067739"/>
                  </a:lnTo>
                  <a:lnTo>
                    <a:pt x="75184" y="949858"/>
                  </a:lnTo>
                  <a:lnTo>
                    <a:pt x="133172" y="949858"/>
                  </a:lnTo>
                  <a:lnTo>
                    <a:pt x="133172" y="918006"/>
                  </a:lnTo>
                  <a:lnTo>
                    <a:pt x="75184" y="918006"/>
                  </a:lnTo>
                  <a:lnTo>
                    <a:pt x="75184" y="906449"/>
                  </a:lnTo>
                  <a:lnTo>
                    <a:pt x="75895" y="904252"/>
                  </a:lnTo>
                  <a:lnTo>
                    <a:pt x="78790" y="901357"/>
                  </a:lnTo>
                  <a:lnTo>
                    <a:pt x="81013" y="900620"/>
                  </a:lnTo>
                  <a:lnTo>
                    <a:pt x="133172" y="900620"/>
                  </a:lnTo>
                  <a:lnTo>
                    <a:pt x="133172" y="868756"/>
                  </a:lnTo>
                  <a:close/>
                </a:path>
                <a:path w="4924425" h="1070610">
                  <a:moveTo>
                    <a:pt x="133172" y="9004"/>
                  </a:moveTo>
                  <a:lnTo>
                    <a:pt x="83997" y="9004"/>
                  </a:lnTo>
                  <a:lnTo>
                    <a:pt x="74777" y="9690"/>
                  </a:lnTo>
                  <a:lnTo>
                    <a:pt x="44157" y="33058"/>
                  </a:lnTo>
                  <a:lnTo>
                    <a:pt x="41236" y="49936"/>
                  </a:lnTo>
                  <a:lnTo>
                    <a:pt x="41236" y="58242"/>
                  </a:lnTo>
                  <a:lnTo>
                    <a:pt x="0" y="58242"/>
                  </a:lnTo>
                  <a:lnTo>
                    <a:pt x="0" y="90106"/>
                  </a:lnTo>
                  <a:lnTo>
                    <a:pt x="41236" y="90106"/>
                  </a:lnTo>
                  <a:lnTo>
                    <a:pt x="41236" y="207987"/>
                  </a:lnTo>
                  <a:lnTo>
                    <a:pt x="75184" y="207987"/>
                  </a:lnTo>
                  <a:lnTo>
                    <a:pt x="75184" y="90106"/>
                  </a:lnTo>
                  <a:lnTo>
                    <a:pt x="133172" y="90106"/>
                  </a:lnTo>
                  <a:lnTo>
                    <a:pt x="133172" y="58242"/>
                  </a:lnTo>
                  <a:lnTo>
                    <a:pt x="75184" y="58242"/>
                  </a:lnTo>
                  <a:lnTo>
                    <a:pt x="75184" y="46697"/>
                  </a:lnTo>
                  <a:lnTo>
                    <a:pt x="75895" y="44500"/>
                  </a:lnTo>
                  <a:lnTo>
                    <a:pt x="78790" y="41605"/>
                  </a:lnTo>
                  <a:lnTo>
                    <a:pt x="81013" y="40868"/>
                  </a:lnTo>
                  <a:lnTo>
                    <a:pt x="133172" y="40868"/>
                  </a:lnTo>
                  <a:lnTo>
                    <a:pt x="133172" y="9004"/>
                  </a:lnTo>
                  <a:close/>
                </a:path>
                <a:path w="4924425" h="1070610">
                  <a:moveTo>
                    <a:pt x="281940" y="971842"/>
                  </a:moveTo>
                  <a:lnTo>
                    <a:pt x="265633" y="928585"/>
                  </a:lnTo>
                  <a:lnTo>
                    <a:pt x="248056" y="917308"/>
                  </a:lnTo>
                  <a:lnTo>
                    <a:pt x="248056" y="962685"/>
                  </a:lnTo>
                  <a:lnTo>
                    <a:pt x="248056" y="1020216"/>
                  </a:lnTo>
                  <a:lnTo>
                    <a:pt x="245833" y="1027277"/>
                  </a:lnTo>
                  <a:lnTo>
                    <a:pt x="236982" y="1036637"/>
                  </a:lnTo>
                  <a:lnTo>
                    <a:pt x="230492" y="1038961"/>
                  </a:lnTo>
                  <a:lnTo>
                    <a:pt x="213321" y="1038961"/>
                  </a:lnTo>
                  <a:lnTo>
                    <a:pt x="206819" y="1036637"/>
                  </a:lnTo>
                  <a:lnTo>
                    <a:pt x="197993" y="1027277"/>
                  </a:lnTo>
                  <a:lnTo>
                    <a:pt x="195795" y="1020216"/>
                  </a:lnTo>
                  <a:lnTo>
                    <a:pt x="195795" y="962685"/>
                  </a:lnTo>
                  <a:lnTo>
                    <a:pt x="197993" y="955662"/>
                  </a:lnTo>
                  <a:lnTo>
                    <a:pt x="206819" y="946289"/>
                  </a:lnTo>
                  <a:lnTo>
                    <a:pt x="213321" y="943940"/>
                  </a:lnTo>
                  <a:lnTo>
                    <a:pt x="230492" y="943940"/>
                  </a:lnTo>
                  <a:lnTo>
                    <a:pt x="236982" y="946289"/>
                  </a:lnTo>
                  <a:lnTo>
                    <a:pt x="241388" y="951001"/>
                  </a:lnTo>
                  <a:lnTo>
                    <a:pt x="245833" y="955662"/>
                  </a:lnTo>
                  <a:lnTo>
                    <a:pt x="248056" y="917308"/>
                  </a:lnTo>
                  <a:lnTo>
                    <a:pt x="221932" y="912583"/>
                  </a:lnTo>
                  <a:lnTo>
                    <a:pt x="208864" y="913587"/>
                  </a:lnTo>
                  <a:lnTo>
                    <a:pt x="171005" y="937285"/>
                  </a:lnTo>
                  <a:lnTo>
                    <a:pt x="161848" y="1010818"/>
                  </a:lnTo>
                  <a:lnTo>
                    <a:pt x="162864" y="1023861"/>
                  </a:lnTo>
                  <a:lnTo>
                    <a:pt x="186956" y="1061326"/>
                  </a:lnTo>
                  <a:lnTo>
                    <a:pt x="221932" y="1070330"/>
                  </a:lnTo>
                  <a:lnTo>
                    <a:pt x="234950" y="1069327"/>
                  </a:lnTo>
                  <a:lnTo>
                    <a:pt x="272757" y="1045616"/>
                  </a:lnTo>
                  <a:lnTo>
                    <a:pt x="276098" y="1038961"/>
                  </a:lnTo>
                  <a:lnTo>
                    <a:pt x="277863" y="1035456"/>
                  </a:lnTo>
                  <a:lnTo>
                    <a:pt x="280924" y="1023861"/>
                  </a:lnTo>
                  <a:lnTo>
                    <a:pt x="281940" y="1010818"/>
                  </a:lnTo>
                  <a:lnTo>
                    <a:pt x="281940" y="971842"/>
                  </a:lnTo>
                  <a:close/>
                </a:path>
                <a:path w="4924425" h="1070610">
                  <a:moveTo>
                    <a:pt x="287604" y="110324"/>
                  </a:moveTo>
                  <a:lnTo>
                    <a:pt x="286677" y="97904"/>
                  </a:lnTo>
                  <a:lnTo>
                    <a:pt x="283908" y="86804"/>
                  </a:lnTo>
                  <a:lnTo>
                    <a:pt x="282194" y="83185"/>
                  </a:lnTo>
                  <a:lnTo>
                    <a:pt x="279285" y="77000"/>
                  </a:lnTo>
                  <a:lnTo>
                    <a:pt x="245008" y="53809"/>
                  </a:lnTo>
                  <a:lnTo>
                    <a:pt x="233260" y="52832"/>
                  </a:lnTo>
                  <a:lnTo>
                    <a:pt x="217957" y="54902"/>
                  </a:lnTo>
                  <a:lnTo>
                    <a:pt x="206629" y="61137"/>
                  </a:lnTo>
                  <a:lnTo>
                    <a:pt x="199263" y="71526"/>
                  </a:lnTo>
                  <a:lnTo>
                    <a:pt x="195859" y="86080"/>
                  </a:lnTo>
                  <a:lnTo>
                    <a:pt x="195935" y="85636"/>
                  </a:lnTo>
                  <a:lnTo>
                    <a:pt x="201206" y="55410"/>
                  </a:lnTo>
                  <a:lnTo>
                    <a:pt x="167830" y="55410"/>
                  </a:lnTo>
                  <a:lnTo>
                    <a:pt x="167830" y="207987"/>
                  </a:lnTo>
                  <a:lnTo>
                    <a:pt x="201714" y="207987"/>
                  </a:lnTo>
                  <a:lnTo>
                    <a:pt x="201764" y="102717"/>
                  </a:lnTo>
                  <a:lnTo>
                    <a:pt x="204000" y="95669"/>
                  </a:lnTo>
                  <a:lnTo>
                    <a:pt x="212826" y="86080"/>
                  </a:lnTo>
                  <a:lnTo>
                    <a:pt x="213296" y="85636"/>
                  </a:lnTo>
                  <a:lnTo>
                    <a:pt x="219621" y="83185"/>
                  </a:lnTo>
                  <a:lnTo>
                    <a:pt x="236245" y="83185"/>
                  </a:lnTo>
                  <a:lnTo>
                    <a:pt x="242646" y="85636"/>
                  </a:lnTo>
                  <a:lnTo>
                    <a:pt x="251498" y="95453"/>
                  </a:lnTo>
                  <a:lnTo>
                    <a:pt x="251561" y="95669"/>
                  </a:lnTo>
                  <a:lnTo>
                    <a:pt x="253720" y="102717"/>
                  </a:lnTo>
                  <a:lnTo>
                    <a:pt x="253720" y="124167"/>
                  </a:lnTo>
                  <a:lnTo>
                    <a:pt x="287604" y="124167"/>
                  </a:lnTo>
                  <a:lnTo>
                    <a:pt x="287604" y="110324"/>
                  </a:lnTo>
                  <a:close/>
                </a:path>
                <a:path w="4924425" h="1070610">
                  <a:moveTo>
                    <a:pt x="436613" y="112077"/>
                  </a:moveTo>
                  <a:lnTo>
                    <a:pt x="435597" y="99148"/>
                  </a:lnTo>
                  <a:lnTo>
                    <a:pt x="432536" y="87630"/>
                  </a:lnTo>
                  <a:lnTo>
                    <a:pt x="430796" y="84188"/>
                  </a:lnTo>
                  <a:lnTo>
                    <a:pt x="427443" y="77520"/>
                  </a:lnTo>
                  <a:lnTo>
                    <a:pt x="420306" y="68821"/>
                  </a:lnTo>
                  <a:lnTo>
                    <a:pt x="411480" y="61823"/>
                  </a:lnTo>
                  <a:lnTo>
                    <a:pt x="402742" y="57569"/>
                  </a:lnTo>
                  <a:lnTo>
                    <a:pt x="402742" y="102933"/>
                  </a:lnTo>
                  <a:lnTo>
                    <a:pt x="402742" y="160464"/>
                  </a:lnTo>
                  <a:lnTo>
                    <a:pt x="400507" y="167513"/>
                  </a:lnTo>
                  <a:lnTo>
                    <a:pt x="391655" y="176885"/>
                  </a:lnTo>
                  <a:lnTo>
                    <a:pt x="385165" y="179209"/>
                  </a:lnTo>
                  <a:lnTo>
                    <a:pt x="367995" y="179209"/>
                  </a:lnTo>
                  <a:lnTo>
                    <a:pt x="361492" y="176885"/>
                  </a:lnTo>
                  <a:lnTo>
                    <a:pt x="352679" y="167513"/>
                  </a:lnTo>
                  <a:lnTo>
                    <a:pt x="350469" y="160464"/>
                  </a:lnTo>
                  <a:lnTo>
                    <a:pt x="350469" y="102933"/>
                  </a:lnTo>
                  <a:lnTo>
                    <a:pt x="352679" y="95897"/>
                  </a:lnTo>
                  <a:lnTo>
                    <a:pt x="361492" y="86537"/>
                  </a:lnTo>
                  <a:lnTo>
                    <a:pt x="367995" y="84188"/>
                  </a:lnTo>
                  <a:lnTo>
                    <a:pt x="385165" y="84188"/>
                  </a:lnTo>
                  <a:lnTo>
                    <a:pt x="391655" y="86537"/>
                  </a:lnTo>
                  <a:lnTo>
                    <a:pt x="396062" y="91236"/>
                  </a:lnTo>
                  <a:lnTo>
                    <a:pt x="400507" y="95897"/>
                  </a:lnTo>
                  <a:lnTo>
                    <a:pt x="402742" y="57569"/>
                  </a:lnTo>
                  <a:lnTo>
                    <a:pt x="376605" y="52832"/>
                  </a:lnTo>
                  <a:lnTo>
                    <a:pt x="363550" y="53822"/>
                  </a:lnTo>
                  <a:lnTo>
                    <a:pt x="325678" y="77520"/>
                  </a:lnTo>
                  <a:lnTo>
                    <a:pt x="316534" y="151066"/>
                  </a:lnTo>
                  <a:lnTo>
                    <a:pt x="317550" y="164096"/>
                  </a:lnTo>
                  <a:lnTo>
                    <a:pt x="341630" y="201574"/>
                  </a:lnTo>
                  <a:lnTo>
                    <a:pt x="376605" y="210566"/>
                  </a:lnTo>
                  <a:lnTo>
                    <a:pt x="389636" y="209575"/>
                  </a:lnTo>
                  <a:lnTo>
                    <a:pt x="427443" y="185851"/>
                  </a:lnTo>
                  <a:lnTo>
                    <a:pt x="430771" y="179209"/>
                  </a:lnTo>
                  <a:lnTo>
                    <a:pt x="432536" y="175704"/>
                  </a:lnTo>
                  <a:lnTo>
                    <a:pt x="435597" y="164096"/>
                  </a:lnTo>
                  <a:lnTo>
                    <a:pt x="436613" y="151066"/>
                  </a:lnTo>
                  <a:lnTo>
                    <a:pt x="436613" y="112077"/>
                  </a:lnTo>
                  <a:close/>
                </a:path>
                <a:path w="4924425" h="1070610">
                  <a:moveTo>
                    <a:pt x="442277" y="970076"/>
                  </a:moveTo>
                  <a:lnTo>
                    <a:pt x="427482" y="928268"/>
                  </a:lnTo>
                  <a:lnTo>
                    <a:pt x="387934" y="912583"/>
                  </a:lnTo>
                  <a:lnTo>
                    <a:pt x="372643" y="914666"/>
                  </a:lnTo>
                  <a:lnTo>
                    <a:pt x="361302" y="920902"/>
                  </a:lnTo>
                  <a:lnTo>
                    <a:pt x="353936" y="931291"/>
                  </a:lnTo>
                  <a:lnTo>
                    <a:pt x="350532" y="945832"/>
                  </a:lnTo>
                  <a:lnTo>
                    <a:pt x="350608" y="945388"/>
                  </a:lnTo>
                  <a:lnTo>
                    <a:pt x="355892" y="915162"/>
                  </a:lnTo>
                  <a:lnTo>
                    <a:pt x="322516" y="915162"/>
                  </a:lnTo>
                  <a:lnTo>
                    <a:pt x="322516" y="1067739"/>
                  </a:lnTo>
                  <a:lnTo>
                    <a:pt x="356387" y="1067739"/>
                  </a:lnTo>
                  <a:lnTo>
                    <a:pt x="356450" y="962482"/>
                  </a:lnTo>
                  <a:lnTo>
                    <a:pt x="358686" y="955421"/>
                  </a:lnTo>
                  <a:lnTo>
                    <a:pt x="367499" y="945832"/>
                  </a:lnTo>
                  <a:lnTo>
                    <a:pt x="367982" y="945388"/>
                  </a:lnTo>
                  <a:lnTo>
                    <a:pt x="374294" y="942936"/>
                  </a:lnTo>
                  <a:lnTo>
                    <a:pt x="390918" y="942936"/>
                  </a:lnTo>
                  <a:lnTo>
                    <a:pt x="397319" y="945388"/>
                  </a:lnTo>
                  <a:lnTo>
                    <a:pt x="401726" y="950302"/>
                  </a:lnTo>
                  <a:lnTo>
                    <a:pt x="406184" y="955217"/>
                  </a:lnTo>
                  <a:lnTo>
                    <a:pt x="406247" y="955421"/>
                  </a:lnTo>
                  <a:lnTo>
                    <a:pt x="408406" y="962482"/>
                  </a:lnTo>
                  <a:lnTo>
                    <a:pt x="408406" y="983932"/>
                  </a:lnTo>
                  <a:lnTo>
                    <a:pt x="442277" y="983932"/>
                  </a:lnTo>
                  <a:lnTo>
                    <a:pt x="442277" y="970076"/>
                  </a:lnTo>
                  <a:close/>
                </a:path>
                <a:path w="4924425" h="1070610">
                  <a:moveTo>
                    <a:pt x="596963" y="94830"/>
                  </a:moveTo>
                  <a:lnTo>
                    <a:pt x="593979" y="75996"/>
                  </a:lnTo>
                  <a:lnTo>
                    <a:pt x="591997" y="70891"/>
                  </a:lnTo>
                  <a:lnTo>
                    <a:pt x="563524" y="52832"/>
                  </a:lnTo>
                  <a:lnTo>
                    <a:pt x="556006" y="52832"/>
                  </a:lnTo>
                  <a:lnTo>
                    <a:pt x="549998" y="54902"/>
                  </a:lnTo>
                  <a:lnTo>
                    <a:pt x="549224" y="55410"/>
                  </a:lnTo>
                  <a:lnTo>
                    <a:pt x="539496" y="63741"/>
                  </a:lnTo>
                  <a:lnTo>
                    <a:pt x="539216" y="64592"/>
                  </a:lnTo>
                  <a:lnTo>
                    <a:pt x="538721" y="63182"/>
                  </a:lnTo>
                  <a:lnTo>
                    <a:pt x="537921" y="62522"/>
                  </a:lnTo>
                  <a:lnTo>
                    <a:pt x="537921" y="70891"/>
                  </a:lnTo>
                  <a:lnTo>
                    <a:pt x="537692" y="69329"/>
                  </a:lnTo>
                  <a:lnTo>
                    <a:pt x="537794" y="68986"/>
                  </a:lnTo>
                  <a:lnTo>
                    <a:pt x="537921" y="70891"/>
                  </a:lnTo>
                  <a:lnTo>
                    <a:pt x="537921" y="62522"/>
                  </a:lnTo>
                  <a:lnTo>
                    <a:pt x="533806" y="59067"/>
                  </a:lnTo>
                  <a:lnTo>
                    <a:pt x="528929" y="54902"/>
                  </a:lnTo>
                  <a:lnTo>
                    <a:pt x="522935" y="52832"/>
                  </a:lnTo>
                  <a:lnTo>
                    <a:pt x="508279" y="52832"/>
                  </a:lnTo>
                  <a:lnTo>
                    <a:pt x="502361" y="54902"/>
                  </a:lnTo>
                  <a:lnTo>
                    <a:pt x="502145" y="54902"/>
                  </a:lnTo>
                  <a:lnTo>
                    <a:pt x="495719" y="60515"/>
                  </a:lnTo>
                  <a:lnTo>
                    <a:pt x="496646" y="55410"/>
                  </a:lnTo>
                  <a:lnTo>
                    <a:pt x="490321" y="55410"/>
                  </a:lnTo>
                  <a:lnTo>
                    <a:pt x="490321" y="70866"/>
                  </a:lnTo>
                  <a:lnTo>
                    <a:pt x="490042" y="69329"/>
                  </a:lnTo>
                  <a:lnTo>
                    <a:pt x="490156" y="68986"/>
                  </a:lnTo>
                  <a:lnTo>
                    <a:pt x="490181" y="69329"/>
                  </a:lnTo>
                  <a:lnTo>
                    <a:pt x="490321" y="70866"/>
                  </a:lnTo>
                  <a:lnTo>
                    <a:pt x="490321" y="55410"/>
                  </a:lnTo>
                  <a:lnTo>
                    <a:pt x="465543" y="55410"/>
                  </a:lnTo>
                  <a:lnTo>
                    <a:pt x="465543" y="207987"/>
                  </a:lnTo>
                  <a:lnTo>
                    <a:pt x="497662" y="207987"/>
                  </a:lnTo>
                  <a:lnTo>
                    <a:pt x="497662" y="89662"/>
                  </a:lnTo>
                  <a:lnTo>
                    <a:pt x="498436" y="86347"/>
                  </a:lnTo>
                  <a:lnTo>
                    <a:pt x="501586" y="82359"/>
                  </a:lnTo>
                  <a:lnTo>
                    <a:pt x="503847" y="81356"/>
                  </a:lnTo>
                  <a:lnTo>
                    <a:pt x="509892" y="81356"/>
                  </a:lnTo>
                  <a:lnTo>
                    <a:pt x="512165" y="82359"/>
                  </a:lnTo>
                  <a:lnTo>
                    <a:pt x="515493" y="86347"/>
                  </a:lnTo>
                  <a:lnTo>
                    <a:pt x="516521" y="89662"/>
                  </a:lnTo>
                  <a:lnTo>
                    <a:pt x="516610" y="207987"/>
                  </a:lnTo>
                  <a:lnTo>
                    <a:pt x="545896" y="207987"/>
                  </a:lnTo>
                  <a:lnTo>
                    <a:pt x="545909" y="89662"/>
                  </a:lnTo>
                  <a:lnTo>
                    <a:pt x="546849" y="86347"/>
                  </a:lnTo>
                  <a:lnTo>
                    <a:pt x="550240" y="82359"/>
                  </a:lnTo>
                  <a:lnTo>
                    <a:pt x="552551" y="81356"/>
                  </a:lnTo>
                  <a:lnTo>
                    <a:pt x="558596" y="81356"/>
                  </a:lnTo>
                  <a:lnTo>
                    <a:pt x="560806" y="82359"/>
                  </a:lnTo>
                  <a:lnTo>
                    <a:pt x="563867" y="86347"/>
                  </a:lnTo>
                  <a:lnTo>
                    <a:pt x="564781" y="89662"/>
                  </a:lnTo>
                  <a:lnTo>
                    <a:pt x="564845" y="207987"/>
                  </a:lnTo>
                  <a:lnTo>
                    <a:pt x="596963" y="207987"/>
                  </a:lnTo>
                  <a:lnTo>
                    <a:pt x="596963" y="94830"/>
                  </a:lnTo>
                  <a:close/>
                </a:path>
                <a:path w="4924425" h="1070610">
                  <a:moveTo>
                    <a:pt x="1640992" y="874610"/>
                  </a:moveTo>
                  <a:lnTo>
                    <a:pt x="1638909" y="869581"/>
                  </a:lnTo>
                  <a:lnTo>
                    <a:pt x="1630591" y="861720"/>
                  </a:lnTo>
                  <a:lnTo>
                    <a:pt x="1625307" y="859751"/>
                  </a:lnTo>
                  <a:lnTo>
                    <a:pt x="1607299" y="859751"/>
                  </a:lnTo>
                  <a:lnTo>
                    <a:pt x="1602003" y="861720"/>
                  </a:lnTo>
                  <a:lnTo>
                    <a:pt x="1593697" y="869581"/>
                  </a:lnTo>
                  <a:lnTo>
                    <a:pt x="1591614" y="874610"/>
                  </a:lnTo>
                  <a:lnTo>
                    <a:pt x="1591614" y="886993"/>
                  </a:lnTo>
                  <a:lnTo>
                    <a:pt x="1593659" y="891997"/>
                  </a:lnTo>
                  <a:lnTo>
                    <a:pt x="1597723" y="895769"/>
                  </a:lnTo>
                  <a:lnTo>
                    <a:pt x="1601838" y="899502"/>
                  </a:lnTo>
                  <a:lnTo>
                    <a:pt x="1607172" y="901382"/>
                  </a:lnTo>
                  <a:lnTo>
                    <a:pt x="1625219" y="901382"/>
                  </a:lnTo>
                  <a:lnTo>
                    <a:pt x="1630489" y="899502"/>
                  </a:lnTo>
                  <a:lnTo>
                    <a:pt x="1638909" y="891997"/>
                  </a:lnTo>
                  <a:lnTo>
                    <a:pt x="1640992" y="886993"/>
                  </a:lnTo>
                  <a:lnTo>
                    <a:pt x="1640992" y="874610"/>
                  </a:lnTo>
                  <a:close/>
                </a:path>
                <a:path w="4924425" h="1070610">
                  <a:moveTo>
                    <a:pt x="1683550" y="1035875"/>
                  </a:moveTo>
                  <a:lnTo>
                    <a:pt x="1635823" y="1035875"/>
                  </a:lnTo>
                  <a:lnTo>
                    <a:pt x="1635823" y="915162"/>
                  </a:lnTo>
                  <a:lnTo>
                    <a:pt x="1558061" y="915162"/>
                  </a:lnTo>
                  <a:lnTo>
                    <a:pt x="1558061" y="947026"/>
                  </a:lnTo>
                  <a:lnTo>
                    <a:pt x="1601876" y="947026"/>
                  </a:lnTo>
                  <a:lnTo>
                    <a:pt x="1601876" y="1035875"/>
                  </a:lnTo>
                  <a:lnTo>
                    <a:pt x="1551635" y="1035875"/>
                  </a:lnTo>
                  <a:lnTo>
                    <a:pt x="1551635" y="1067739"/>
                  </a:lnTo>
                  <a:lnTo>
                    <a:pt x="1683550" y="1067739"/>
                  </a:lnTo>
                  <a:lnTo>
                    <a:pt x="1683550" y="1035875"/>
                  </a:lnTo>
                  <a:close/>
                </a:path>
                <a:path w="4924425" h="1070610">
                  <a:moveTo>
                    <a:pt x="1827911" y="966927"/>
                  </a:moveTo>
                  <a:lnTo>
                    <a:pt x="1827022" y="955255"/>
                  </a:lnTo>
                  <a:lnTo>
                    <a:pt x="1824367" y="944791"/>
                  </a:lnTo>
                  <a:lnTo>
                    <a:pt x="1823478" y="942936"/>
                  </a:lnTo>
                  <a:lnTo>
                    <a:pt x="1819935" y="935545"/>
                  </a:lnTo>
                  <a:lnTo>
                    <a:pt x="1787144" y="913523"/>
                  </a:lnTo>
                  <a:lnTo>
                    <a:pt x="1775891" y="912583"/>
                  </a:lnTo>
                  <a:lnTo>
                    <a:pt x="1767268" y="913142"/>
                  </a:lnTo>
                  <a:lnTo>
                    <a:pt x="1741449" y="926769"/>
                  </a:lnTo>
                  <a:lnTo>
                    <a:pt x="1741487" y="926566"/>
                  </a:lnTo>
                  <a:lnTo>
                    <a:pt x="1743278" y="915162"/>
                  </a:lnTo>
                  <a:lnTo>
                    <a:pt x="1709394" y="915162"/>
                  </a:lnTo>
                  <a:lnTo>
                    <a:pt x="1709394" y="1067739"/>
                  </a:lnTo>
                  <a:lnTo>
                    <a:pt x="1743278" y="1067739"/>
                  </a:lnTo>
                  <a:lnTo>
                    <a:pt x="1743278" y="962647"/>
                  </a:lnTo>
                  <a:lnTo>
                    <a:pt x="1743798" y="960983"/>
                  </a:lnTo>
                  <a:lnTo>
                    <a:pt x="1745691" y="955255"/>
                  </a:lnTo>
                  <a:lnTo>
                    <a:pt x="1752993" y="947216"/>
                  </a:lnTo>
                  <a:lnTo>
                    <a:pt x="1754784" y="945248"/>
                  </a:lnTo>
                  <a:lnTo>
                    <a:pt x="1755089" y="945248"/>
                  </a:lnTo>
                  <a:lnTo>
                    <a:pt x="1760969" y="942936"/>
                  </a:lnTo>
                  <a:lnTo>
                    <a:pt x="1776920" y="942936"/>
                  </a:lnTo>
                  <a:lnTo>
                    <a:pt x="1782991" y="945248"/>
                  </a:lnTo>
                  <a:lnTo>
                    <a:pt x="1787359" y="949858"/>
                  </a:lnTo>
                  <a:lnTo>
                    <a:pt x="1791766" y="954443"/>
                  </a:lnTo>
                  <a:lnTo>
                    <a:pt x="1793963" y="960983"/>
                  </a:lnTo>
                  <a:lnTo>
                    <a:pt x="1793963" y="1067739"/>
                  </a:lnTo>
                  <a:lnTo>
                    <a:pt x="1827911" y="1067739"/>
                  </a:lnTo>
                  <a:lnTo>
                    <a:pt x="1827911" y="966927"/>
                  </a:lnTo>
                  <a:close/>
                </a:path>
                <a:path w="4924425" h="1070610">
                  <a:moveTo>
                    <a:pt x="4115981" y="14859"/>
                  </a:moveTo>
                  <a:lnTo>
                    <a:pt x="4113911" y="9817"/>
                  </a:lnTo>
                  <a:lnTo>
                    <a:pt x="4105592" y="1968"/>
                  </a:lnTo>
                  <a:lnTo>
                    <a:pt x="4100309" y="0"/>
                  </a:lnTo>
                  <a:lnTo>
                    <a:pt x="4082300" y="0"/>
                  </a:lnTo>
                  <a:lnTo>
                    <a:pt x="4077004" y="1968"/>
                  </a:lnTo>
                  <a:lnTo>
                    <a:pt x="4068699" y="9817"/>
                  </a:lnTo>
                  <a:lnTo>
                    <a:pt x="4066616" y="14859"/>
                  </a:lnTo>
                  <a:lnTo>
                    <a:pt x="4066616" y="27241"/>
                  </a:lnTo>
                  <a:lnTo>
                    <a:pt x="4068648" y="32232"/>
                  </a:lnTo>
                  <a:lnTo>
                    <a:pt x="4072725" y="36017"/>
                  </a:lnTo>
                  <a:lnTo>
                    <a:pt x="4076839" y="39751"/>
                  </a:lnTo>
                  <a:lnTo>
                    <a:pt x="4082173" y="41617"/>
                  </a:lnTo>
                  <a:lnTo>
                    <a:pt x="4100220" y="41617"/>
                  </a:lnTo>
                  <a:lnTo>
                    <a:pt x="4105491" y="39751"/>
                  </a:lnTo>
                  <a:lnTo>
                    <a:pt x="4113898" y="32232"/>
                  </a:lnTo>
                  <a:lnTo>
                    <a:pt x="4115981" y="27241"/>
                  </a:lnTo>
                  <a:lnTo>
                    <a:pt x="4115981" y="14859"/>
                  </a:lnTo>
                  <a:close/>
                </a:path>
                <a:path w="4924425" h="1070610">
                  <a:moveTo>
                    <a:pt x="4158551" y="176123"/>
                  </a:moveTo>
                  <a:lnTo>
                    <a:pt x="4110825" y="176123"/>
                  </a:lnTo>
                  <a:lnTo>
                    <a:pt x="4110825" y="55410"/>
                  </a:lnTo>
                  <a:lnTo>
                    <a:pt x="4033050" y="55410"/>
                  </a:lnTo>
                  <a:lnTo>
                    <a:pt x="4033050" y="87274"/>
                  </a:lnTo>
                  <a:lnTo>
                    <a:pt x="4076877" y="87274"/>
                  </a:lnTo>
                  <a:lnTo>
                    <a:pt x="4076877" y="176123"/>
                  </a:lnTo>
                  <a:lnTo>
                    <a:pt x="4026636" y="176123"/>
                  </a:lnTo>
                  <a:lnTo>
                    <a:pt x="4026636" y="207987"/>
                  </a:lnTo>
                  <a:lnTo>
                    <a:pt x="4158551" y="207987"/>
                  </a:lnTo>
                  <a:lnTo>
                    <a:pt x="4158551" y="176123"/>
                  </a:lnTo>
                  <a:close/>
                </a:path>
                <a:path w="4924425" h="1070610">
                  <a:moveTo>
                    <a:pt x="4309072" y="94830"/>
                  </a:moveTo>
                  <a:lnTo>
                    <a:pt x="4308526" y="86004"/>
                  </a:lnTo>
                  <a:lnTo>
                    <a:pt x="4307560" y="81356"/>
                  </a:lnTo>
                  <a:lnTo>
                    <a:pt x="4306875" y="78016"/>
                  </a:lnTo>
                  <a:lnTo>
                    <a:pt x="4306214" y="76314"/>
                  </a:lnTo>
                  <a:lnTo>
                    <a:pt x="4306100" y="75996"/>
                  </a:lnTo>
                  <a:lnTo>
                    <a:pt x="4304119" y="70891"/>
                  </a:lnTo>
                  <a:lnTo>
                    <a:pt x="4275645" y="52832"/>
                  </a:lnTo>
                  <a:lnTo>
                    <a:pt x="4268127" y="52832"/>
                  </a:lnTo>
                  <a:lnTo>
                    <a:pt x="4262107" y="54902"/>
                  </a:lnTo>
                  <a:lnTo>
                    <a:pt x="4261345" y="55410"/>
                  </a:lnTo>
                  <a:lnTo>
                    <a:pt x="4251604" y="63741"/>
                  </a:lnTo>
                  <a:lnTo>
                    <a:pt x="4251337" y="64592"/>
                  </a:lnTo>
                  <a:lnTo>
                    <a:pt x="4250829" y="63182"/>
                  </a:lnTo>
                  <a:lnTo>
                    <a:pt x="4250029" y="62522"/>
                  </a:lnTo>
                  <a:lnTo>
                    <a:pt x="4250029" y="70891"/>
                  </a:lnTo>
                  <a:lnTo>
                    <a:pt x="4249801" y="69329"/>
                  </a:lnTo>
                  <a:lnTo>
                    <a:pt x="4249915" y="68986"/>
                  </a:lnTo>
                  <a:lnTo>
                    <a:pt x="4250029" y="70891"/>
                  </a:lnTo>
                  <a:lnTo>
                    <a:pt x="4250029" y="62522"/>
                  </a:lnTo>
                  <a:lnTo>
                    <a:pt x="4245915" y="59067"/>
                  </a:lnTo>
                  <a:lnTo>
                    <a:pt x="4241050" y="54902"/>
                  </a:lnTo>
                  <a:lnTo>
                    <a:pt x="4235043" y="52832"/>
                  </a:lnTo>
                  <a:lnTo>
                    <a:pt x="4220388" y="52832"/>
                  </a:lnTo>
                  <a:lnTo>
                    <a:pt x="4214469" y="54902"/>
                  </a:lnTo>
                  <a:lnTo>
                    <a:pt x="4214266" y="54902"/>
                  </a:lnTo>
                  <a:lnTo>
                    <a:pt x="4207827" y="60515"/>
                  </a:lnTo>
                  <a:lnTo>
                    <a:pt x="4208767" y="55410"/>
                  </a:lnTo>
                  <a:lnTo>
                    <a:pt x="4202430" y="55410"/>
                  </a:lnTo>
                  <a:lnTo>
                    <a:pt x="4202430" y="70878"/>
                  </a:lnTo>
                  <a:lnTo>
                    <a:pt x="4202150" y="69329"/>
                  </a:lnTo>
                  <a:lnTo>
                    <a:pt x="4202265" y="68986"/>
                  </a:lnTo>
                  <a:lnTo>
                    <a:pt x="4202303" y="69329"/>
                  </a:lnTo>
                  <a:lnTo>
                    <a:pt x="4202430" y="70878"/>
                  </a:lnTo>
                  <a:lnTo>
                    <a:pt x="4202430" y="55410"/>
                  </a:lnTo>
                  <a:lnTo>
                    <a:pt x="4177652" y="55410"/>
                  </a:lnTo>
                  <a:lnTo>
                    <a:pt x="4177652" y="207987"/>
                  </a:lnTo>
                  <a:lnTo>
                    <a:pt x="4209770" y="207987"/>
                  </a:lnTo>
                  <a:lnTo>
                    <a:pt x="4209770" y="89662"/>
                  </a:lnTo>
                  <a:lnTo>
                    <a:pt x="4210545" y="86347"/>
                  </a:lnTo>
                  <a:lnTo>
                    <a:pt x="4213695" y="82359"/>
                  </a:lnTo>
                  <a:lnTo>
                    <a:pt x="4215968" y="81356"/>
                  </a:lnTo>
                  <a:lnTo>
                    <a:pt x="4222013" y="81356"/>
                  </a:lnTo>
                  <a:lnTo>
                    <a:pt x="4224286" y="82359"/>
                  </a:lnTo>
                  <a:lnTo>
                    <a:pt x="4227614" y="86347"/>
                  </a:lnTo>
                  <a:lnTo>
                    <a:pt x="4228643" y="89662"/>
                  </a:lnTo>
                  <a:lnTo>
                    <a:pt x="4228731" y="207987"/>
                  </a:lnTo>
                  <a:lnTo>
                    <a:pt x="4258005" y="207987"/>
                  </a:lnTo>
                  <a:lnTo>
                    <a:pt x="4258030" y="89662"/>
                  </a:lnTo>
                  <a:lnTo>
                    <a:pt x="4258957" y="86347"/>
                  </a:lnTo>
                  <a:lnTo>
                    <a:pt x="4262361" y="82359"/>
                  </a:lnTo>
                  <a:lnTo>
                    <a:pt x="4264660" y="81356"/>
                  </a:lnTo>
                  <a:lnTo>
                    <a:pt x="4270705" y="81356"/>
                  </a:lnTo>
                  <a:lnTo>
                    <a:pt x="4272927" y="82359"/>
                  </a:lnTo>
                  <a:lnTo>
                    <a:pt x="4275975" y="86347"/>
                  </a:lnTo>
                  <a:lnTo>
                    <a:pt x="4276890" y="89662"/>
                  </a:lnTo>
                  <a:lnTo>
                    <a:pt x="4276966" y="207987"/>
                  </a:lnTo>
                  <a:lnTo>
                    <a:pt x="4309072" y="207987"/>
                  </a:lnTo>
                  <a:lnTo>
                    <a:pt x="4309072" y="94830"/>
                  </a:lnTo>
                  <a:close/>
                </a:path>
                <a:path w="4924425" h="1070610">
                  <a:moveTo>
                    <a:pt x="4458093" y="110820"/>
                  </a:moveTo>
                  <a:lnTo>
                    <a:pt x="4444238" y="68694"/>
                  </a:lnTo>
                  <a:lnTo>
                    <a:pt x="4424210" y="55702"/>
                  </a:lnTo>
                  <a:lnTo>
                    <a:pt x="4424210" y="102717"/>
                  </a:lnTo>
                  <a:lnTo>
                    <a:pt x="4424210" y="160680"/>
                  </a:lnTo>
                  <a:lnTo>
                    <a:pt x="4422051" y="167855"/>
                  </a:lnTo>
                  <a:lnTo>
                    <a:pt x="4413478" y="177253"/>
                  </a:lnTo>
                  <a:lnTo>
                    <a:pt x="4407103" y="179717"/>
                  </a:lnTo>
                  <a:lnTo>
                    <a:pt x="4390771" y="179717"/>
                  </a:lnTo>
                  <a:lnTo>
                    <a:pt x="4384433" y="177253"/>
                  </a:lnTo>
                  <a:lnTo>
                    <a:pt x="4383608" y="176377"/>
                  </a:lnTo>
                  <a:lnTo>
                    <a:pt x="4379811" y="172351"/>
                  </a:lnTo>
                  <a:lnTo>
                    <a:pt x="4375239" y="167398"/>
                  </a:lnTo>
                  <a:lnTo>
                    <a:pt x="4373080" y="160680"/>
                  </a:lnTo>
                  <a:lnTo>
                    <a:pt x="4373080" y="102717"/>
                  </a:lnTo>
                  <a:lnTo>
                    <a:pt x="4375239" y="96024"/>
                  </a:lnTo>
                  <a:lnTo>
                    <a:pt x="4383227" y="87464"/>
                  </a:lnTo>
                  <a:lnTo>
                    <a:pt x="4383494" y="87160"/>
                  </a:lnTo>
                  <a:lnTo>
                    <a:pt x="4384700" y="86055"/>
                  </a:lnTo>
                  <a:lnTo>
                    <a:pt x="4390771" y="83680"/>
                  </a:lnTo>
                  <a:lnTo>
                    <a:pt x="4407103" y="83680"/>
                  </a:lnTo>
                  <a:lnTo>
                    <a:pt x="4413402" y="86055"/>
                  </a:lnTo>
                  <a:lnTo>
                    <a:pt x="4422051" y="95542"/>
                  </a:lnTo>
                  <a:lnTo>
                    <a:pt x="4424210" y="102717"/>
                  </a:lnTo>
                  <a:lnTo>
                    <a:pt x="4424210" y="55702"/>
                  </a:lnTo>
                  <a:lnTo>
                    <a:pt x="4417885" y="53822"/>
                  </a:lnTo>
                  <a:lnTo>
                    <a:pt x="4406582" y="52832"/>
                  </a:lnTo>
                  <a:lnTo>
                    <a:pt x="4398048" y="53403"/>
                  </a:lnTo>
                  <a:lnTo>
                    <a:pt x="4370946" y="68199"/>
                  </a:lnTo>
                  <a:lnTo>
                    <a:pt x="4372953" y="55410"/>
                  </a:lnTo>
                  <a:lnTo>
                    <a:pt x="4367060" y="55410"/>
                  </a:lnTo>
                  <a:lnTo>
                    <a:pt x="4367060" y="177253"/>
                  </a:lnTo>
                  <a:lnTo>
                    <a:pt x="4366958" y="179717"/>
                  </a:lnTo>
                  <a:lnTo>
                    <a:pt x="4366768" y="183908"/>
                  </a:lnTo>
                  <a:lnTo>
                    <a:pt x="4367060" y="177253"/>
                  </a:lnTo>
                  <a:lnTo>
                    <a:pt x="4367060" y="55410"/>
                  </a:lnTo>
                  <a:lnTo>
                    <a:pt x="4339069" y="55410"/>
                  </a:lnTo>
                  <a:lnTo>
                    <a:pt x="4339069" y="254393"/>
                  </a:lnTo>
                  <a:lnTo>
                    <a:pt x="4372953" y="254393"/>
                  </a:lnTo>
                  <a:lnTo>
                    <a:pt x="4372775" y="206603"/>
                  </a:lnTo>
                  <a:lnTo>
                    <a:pt x="4370946" y="195275"/>
                  </a:lnTo>
                  <a:lnTo>
                    <a:pt x="4371556" y="196354"/>
                  </a:lnTo>
                  <a:lnTo>
                    <a:pt x="4406582" y="210566"/>
                  </a:lnTo>
                  <a:lnTo>
                    <a:pt x="4417885" y="209575"/>
                  </a:lnTo>
                  <a:lnTo>
                    <a:pt x="4450296" y="186105"/>
                  </a:lnTo>
                  <a:lnTo>
                    <a:pt x="4453077" y="179717"/>
                  </a:lnTo>
                  <a:lnTo>
                    <a:pt x="4454626" y="176174"/>
                  </a:lnTo>
                  <a:lnTo>
                    <a:pt x="4457217" y="164909"/>
                  </a:lnTo>
                  <a:lnTo>
                    <a:pt x="4458093" y="152323"/>
                  </a:lnTo>
                  <a:lnTo>
                    <a:pt x="4458093" y="110820"/>
                  </a:lnTo>
                  <a:close/>
                </a:path>
                <a:path w="4924425" h="1070610">
                  <a:moveTo>
                    <a:pt x="4612767" y="112077"/>
                  </a:moveTo>
                  <a:lnTo>
                    <a:pt x="4611751" y="99148"/>
                  </a:lnTo>
                  <a:lnTo>
                    <a:pt x="4608690" y="87630"/>
                  </a:lnTo>
                  <a:lnTo>
                    <a:pt x="4606950" y="84188"/>
                  </a:lnTo>
                  <a:lnTo>
                    <a:pt x="4603597" y="77520"/>
                  </a:lnTo>
                  <a:lnTo>
                    <a:pt x="4596460" y="68821"/>
                  </a:lnTo>
                  <a:lnTo>
                    <a:pt x="4587633" y="61823"/>
                  </a:lnTo>
                  <a:lnTo>
                    <a:pt x="4578896" y="57569"/>
                  </a:lnTo>
                  <a:lnTo>
                    <a:pt x="4578896" y="102933"/>
                  </a:lnTo>
                  <a:lnTo>
                    <a:pt x="4578896" y="160464"/>
                  </a:lnTo>
                  <a:lnTo>
                    <a:pt x="4576661" y="167513"/>
                  </a:lnTo>
                  <a:lnTo>
                    <a:pt x="4567809" y="176885"/>
                  </a:lnTo>
                  <a:lnTo>
                    <a:pt x="4561319" y="179209"/>
                  </a:lnTo>
                  <a:lnTo>
                    <a:pt x="4544149" y="179209"/>
                  </a:lnTo>
                  <a:lnTo>
                    <a:pt x="4537646" y="176885"/>
                  </a:lnTo>
                  <a:lnTo>
                    <a:pt x="4528832" y="167513"/>
                  </a:lnTo>
                  <a:lnTo>
                    <a:pt x="4526623" y="160464"/>
                  </a:lnTo>
                  <a:lnTo>
                    <a:pt x="4526623" y="102933"/>
                  </a:lnTo>
                  <a:lnTo>
                    <a:pt x="4528832" y="95897"/>
                  </a:lnTo>
                  <a:lnTo>
                    <a:pt x="4537646" y="86537"/>
                  </a:lnTo>
                  <a:lnTo>
                    <a:pt x="4544149" y="84188"/>
                  </a:lnTo>
                  <a:lnTo>
                    <a:pt x="4561319" y="84188"/>
                  </a:lnTo>
                  <a:lnTo>
                    <a:pt x="4567809" y="86537"/>
                  </a:lnTo>
                  <a:lnTo>
                    <a:pt x="4572216" y="91236"/>
                  </a:lnTo>
                  <a:lnTo>
                    <a:pt x="4576661" y="95897"/>
                  </a:lnTo>
                  <a:lnTo>
                    <a:pt x="4578896" y="57569"/>
                  </a:lnTo>
                  <a:lnTo>
                    <a:pt x="4552759" y="52832"/>
                  </a:lnTo>
                  <a:lnTo>
                    <a:pt x="4539704" y="53822"/>
                  </a:lnTo>
                  <a:lnTo>
                    <a:pt x="4501832" y="77520"/>
                  </a:lnTo>
                  <a:lnTo>
                    <a:pt x="4492688" y="151066"/>
                  </a:lnTo>
                  <a:lnTo>
                    <a:pt x="4493704" y="164096"/>
                  </a:lnTo>
                  <a:lnTo>
                    <a:pt x="4517783" y="201574"/>
                  </a:lnTo>
                  <a:lnTo>
                    <a:pt x="4552759" y="210566"/>
                  </a:lnTo>
                  <a:lnTo>
                    <a:pt x="4565789" y="209575"/>
                  </a:lnTo>
                  <a:lnTo>
                    <a:pt x="4603597" y="185851"/>
                  </a:lnTo>
                  <a:lnTo>
                    <a:pt x="4606925" y="179209"/>
                  </a:lnTo>
                  <a:lnTo>
                    <a:pt x="4608690" y="175704"/>
                  </a:lnTo>
                  <a:lnTo>
                    <a:pt x="4611751" y="164096"/>
                  </a:lnTo>
                  <a:lnTo>
                    <a:pt x="4612767" y="151066"/>
                  </a:lnTo>
                  <a:lnTo>
                    <a:pt x="4612767" y="112077"/>
                  </a:lnTo>
                  <a:close/>
                </a:path>
                <a:path w="4924425" h="1070610">
                  <a:moveTo>
                    <a:pt x="4773117" y="110324"/>
                  </a:moveTo>
                  <a:lnTo>
                    <a:pt x="4772190" y="97904"/>
                  </a:lnTo>
                  <a:lnTo>
                    <a:pt x="4769421" y="86804"/>
                  </a:lnTo>
                  <a:lnTo>
                    <a:pt x="4767707" y="83185"/>
                  </a:lnTo>
                  <a:lnTo>
                    <a:pt x="4764786" y="77000"/>
                  </a:lnTo>
                  <a:lnTo>
                    <a:pt x="4730521" y="53809"/>
                  </a:lnTo>
                  <a:lnTo>
                    <a:pt x="4718774" y="52832"/>
                  </a:lnTo>
                  <a:lnTo>
                    <a:pt x="4703470" y="54902"/>
                  </a:lnTo>
                  <a:lnTo>
                    <a:pt x="4692129" y="61137"/>
                  </a:lnTo>
                  <a:lnTo>
                    <a:pt x="4684763" y="71526"/>
                  </a:lnTo>
                  <a:lnTo>
                    <a:pt x="4681372" y="86080"/>
                  </a:lnTo>
                  <a:lnTo>
                    <a:pt x="4681448" y="85636"/>
                  </a:lnTo>
                  <a:lnTo>
                    <a:pt x="4686719" y="55410"/>
                  </a:lnTo>
                  <a:lnTo>
                    <a:pt x="4653343" y="55410"/>
                  </a:lnTo>
                  <a:lnTo>
                    <a:pt x="4653343" y="207987"/>
                  </a:lnTo>
                  <a:lnTo>
                    <a:pt x="4687227" y="207987"/>
                  </a:lnTo>
                  <a:lnTo>
                    <a:pt x="4687278" y="102717"/>
                  </a:lnTo>
                  <a:lnTo>
                    <a:pt x="4689513" y="95669"/>
                  </a:lnTo>
                  <a:lnTo>
                    <a:pt x="4698339" y="86080"/>
                  </a:lnTo>
                  <a:lnTo>
                    <a:pt x="4698809" y="85636"/>
                  </a:lnTo>
                  <a:lnTo>
                    <a:pt x="4705121" y="83185"/>
                  </a:lnTo>
                  <a:lnTo>
                    <a:pt x="4721745" y="83185"/>
                  </a:lnTo>
                  <a:lnTo>
                    <a:pt x="4728159" y="85636"/>
                  </a:lnTo>
                  <a:lnTo>
                    <a:pt x="4737011" y="95453"/>
                  </a:lnTo>
                  <a:lnTo>
                    <a:pt x="4737074" y="95669"/>
                  </a:lnTo>
                  <a:lnTo>
                    <a:pt x="4739233" y="102717"/>
                  </a:lnTo>
                  <a:lnTo>
                    <a:pt x="4739233" y="124167"/>
                  </a:lnTo>
                  <a:lnTo>
                    <a:pt x="4773117" y="124167"/>
                  </a:lnTo>
                  <a:lnTo>
                    <a:pt x="4773117" y="110324"/>
                  </a:lnTo>
                  <a:close/>
                </a:path>
                <a:path w="4924425" h="1070610">
                  <a:moveTo>
                    <a:pt x="4924209" y="55410"/>
                  </a:moveTo>
                  <a:lnTo>
                    <a:pt x="4867465" y="55410"/>
                  </a:lnTo>
                  <a:lnTo>
                    <a:pt x="4867465" y="16751"/>
                  </a:lnTo>
                  <a:lnTo>
                    <a:pt x="4833531" y="16751"/>
                  </a:lnTo>
                  <a:lnTo>
                    <a:pt x="4833531" y="55410"/>
                  </a:lnTo>
                  <a:lnTo>
                    <a:pt x="4793539" y="55410"/>
                  </a:lnTo>
                  <a:lnTo>
                    <a:pt x="4793539" y="87274"/>
                  </a:lnTo>
                  <a:lnTo>
                    <a:pt x="4833531" y="87274"/>
                  </a:lnTo>
                  <a:lnTo>
                    <a:pt x="4833531" y="165227"/>
                  </a:lnTo>
                  <a:lnTo>
                    <a:pt x="4834267" y="174726"/>
                  </a:lnTo>
                  <a:lnTo>
                    <a:pt x="4859299" y="205155"/>
                  </a:lnTo>
                  <a:lnTo>
                    <a:pt x="4877613" y="207987"/>
                  </a:lnTo>
                  <a:lnTo>
                    <a:pt x="4921618" y="207987"/>
                  </a:lnTo>
                  <a:lnTo>
                    <a:pt x="4921618" y="176123"/>
                  </a:lnTo>
                  <a:lnTo>
                    <a:pt x="4873828" y="176123"/>
                  </a:lnTo>
                  <a:lnTo>
                    <a:pt x="4871186" y="175323"/>
                  </a:lnTo>
                  <a:lnTo>
                    <a:pt x="4868202" y="172135"/>
                  </a:lnTo>
                  <a:lnTo>
                    <a:pt x="4867465" y="169303"/>
                  </a:lnTo>
                  <a:lnTo>
                    <a:pt x="4867465" y="87274"/>
                  </a:lnTo>
                  <a:lnTo>
                    <a:pt x="4924209" y="87274"/>
                  </a:lnTo>
                  <a:lnTo>
                    <a:pt x="4924209" y="55410"/>
                  </a:lnTo>
                  <a:close/>
                </a:path>
              </a:pathLst>
            </a:custGeom>
            <a:solidFill>
              <a:srgbClr val="007BB5"/>
            </a:solidFill>
          </p:spPr>
          <p:txBody>
            <a:bodyPr wrap="square" lIns="0" tIns="0" rIns="0" bIns="0" rtlCol="0"/>
            <a:lstStyle/>
            <a:p>
              <a:endParaRPr/>
            </a:p>
          </p:txBody>
        </p:sp>
      </p:grpSp>
      <p:sp>
        <p:nvSpPr>
          <p:cNvPr id="6" name="object 6"/>
          <p:cNvSpPr/>
          <p:nvPr/>
        </p:nvSpPr>
        <p:spPr>
          <a:xfrm>
            <a:off x="491289" y="5138068"/>
            <a:ext cx="14575155" cy="737235"/>
          </a:xfrm>
          <a:custGeom>
            <a:avLst/>
            <a:gdLst/>
            <a:ahLst/>
            <a:cxnLst/>
            <a:rect l="l" t="t" r="r" b="b"/>
            <a:pathLst>
              <a:path w="14575155" h="737235">
                <a:moveTo>
                  <a:pt x="14498413" y="736933"/>
                </a:moveTo>
                <a:lnTo>
                  <a:pt x="76505" y="736933"/>
                </a:lnTo>
                <a:lnTo>
                  <a:pt x="71180" y="736409"/>
                </a:lnTo>
                <a:lnTo>
                  <a:pt x="31920" y="720146"/>
                </a:lnTo>
                <a:lnTo>
                  <a:pt x="4175" y="681419"/>
                </a:lnTo>
                <a:lnTo>
                  <a:pt x="0" y="660428"/>
                </a:lnTo>
                <a:lnTo>
                  <a:pt x="0" y="655052"/>
                </a:lnTo>
                <a:lnTo>
                  <a:pt x="0" y="76505"/>
                </a:lnTo>
                <a:lnTo>
                  <a:pt x="16786" y="31919"/>
                </a:lnTo>
                <a:lnTo>
                  <a:pt x="55513" y="4174"/>
                </a:lnTo>
                <a:lnTo>
                  <a:pt x="76505" y="0"/>
                </a:lnTo>
                <a:lnTo>
                  <a:pt x="14498413" y="0"/>
                </a:lnTo>
                <a:lnTo>
                  <a:pt x="14542998" y="16786"/>
                </a:lnTo>
                <a:lnTo>
                  <a:pt x="14570742" y="55513"/>
                </a:lnTo>
                <a:lnTo>
                  <a:pt x="14574918" y="76505"/>
                </a:lnTo>
                <a:lnTo>
                  <a:pt x="14574918" y="660428"/>
                </a:lnTo>
                <a:lnTo>
                  <a:pt x="14558132" y="705013"/>
                </a:lnTo>
                <a:lnTo>
                  <a:pt x="14519404" y="732757"/>
                </a:lnTo>
                <a:lnTo>
                  <a:pt x="14503737" y="736409"/>
                </a:lnTo>
                <a:lnTo>
                  <a:pt x="14498413" y="736933"/>
                </a:lnTo>
                <a:close/>
              </a:path>
            </a:pathLst>
          </a:custGeom>
          <a:solidFill>
            <a:srgbClr val="04182D"/>
          </a:solidFill>
        </p:spPr>
        <p:txBody>
          <a:bodyPr wrap="square" lIns="0" tIns="0" rIns="0" bIns="0" rtlCol="0"/>
          <a:lstStyle/>
          <a:p>
            <a:endParaRPr/>
          </a:p>
        </p:txBody>
      </p:sp>
      <p:sp>
        <p:nvSpPr>
          <p:cNvPr id="7" name="object 7"/>
          <p:cNvSpPr txBox="1"/>
          <p:nvPr/>
        </p:nvSpPr>
        <p:spPr>
          <a:xfrm>
            <a:off x="625720" y="1226167"/>
            <a:ext cx="6831965" cy="3464560"/>
          </a:xfrm>
          <a:prstGeom prst="rect">
            <a:avLst/>
          </a:prstGeom>
        </p:spPr>
        <p:txBody>
          <a:bodyPr vert="horz" wrap="square" lIns="0" tIns="12065" rIns="0" bIns="0" rtlCol="0">
            <a:spAutoFit/>
          </a:bodyPr>
          <a:lstStyle/>
          <a:p>
            <a:pPr marL="12700" marR="933450" indent="772795">
              <a:lnSpc>
                <a:spcPct val="141000"/>
              </a:lnSpc>
              <a:spcBef>
                <a:spcPts val="95"/>
              </a:spcBef>
              <a:tabLst>
                <a:tab pos="5116195" algn="l"/>
              </a:tabLst>
            </a:pPr>
            <a:r>
              <a:rPr sz="2000" spc="-10" dirty="0">
                <a:solidFill>
                  <a:srgbClr val="04182D"/>
                </a:solidFill>
                <a:latin typeface="Courier New"/>
                <a:cs typeface="Courier New"/>
              </a:rPr>
              <a:t>sklearn.linear_model</a:t>
            </a:r>
            <a:r>
              <a:rPr sz="2000" dirty="0">
                <a:solidFill>
                  <a:srgbClr val="04182D"/>
                </a:solidFill>
                <a:latin typeface="Courier New"/>
                <a:cs typeface="Courier New"/>
              </a:rPr>
              <a:t>	</a:t>
            </a:r>
            <a:r>
              <a:rPr sz="2000" spc="-10" dirty="0">
                <a:solidFill>
                  <a:srgbClr val="04182D"/>
                </a:solidFill>
                <a:latin typeface="Courier New"/>
                <a:cs typeface="Courier New"/>
              </a:rPr>
              <a:t>Lasso </a:t>
            </a:r>
            <a:r>
              <a:rPr sz="2000" dirty="0">
                <a:solidFill>
                  <a:srgbClr val="04182D"/>
                </a:solidFill>
                <a:latin typeface="Courier New"/>
                <a:cs typeface="Courier New"/>
              </a:rPr>
              <a:t>scores</a:t>
            </a:r>
            <a:r>
              <a:rPr sz="2000" spc="40" dirty="0">
                <a:solidFill>
                  <a:srgbClr val="04182D"/>
                </a:solidFill>
                <a:latin typeface="Courier New"/>
                <a:cs typeface="Courier New"/>
              </a:rPr>
              <a:t> </a:t>
            </a:r>
            <a:r>
              <a:rPr sz="2000" dirty="0">
                <a:solidFill>
                  <a:srgbClr val="04182D"/>
                </a:solidFill>
                <a:latin typeface="Courier New"/>
                <a:cs typeface="Courier New"/>
              </a:rPr>
              <a:t>=</a:t>
            </a:r>
            <a:r>
              <a:rPr sz="2000" spc="45" dirty="0">
                <a:solidFill>
                  <a:srgbClr val="04182D"/>
                </a:solidFill>
                <a:latin typeface="Courier New"/>
                <a:cs typeface="Courier New"/>
              </a:rPr>
              <a:t> </a:t>
            </a:r>
            <a:r>
              <a:rPr sz="2000" spc="-25" dirty="0">
                <a:solidFill>
                  <a:srgbClr val="04182D"/>
                </a:solidFill>
                <a:latin typeface="Courier New"/>
                <a:cs typeface="Courier New"/>
              </a:rPr>
              <a:t>[]</a:t>
            </a:r>
            <a:endParaRPr sz="2000">
              <a:latin typeface="Courier New"/>
              <a:cs typeface="Courier New"/>
            </a:endParaRPr>
          </a:p>
          <a:p>
            <a:pPr marL="630555">
              <a:lnSpc>
                <a:spcPct val="100000"/>
              </a:lnSpc>
              <a:spcBef>
                <a:spcPts val="985"/>
              </a:spcBef>
              <a:tabLst>
                <a:tab pos="2022475" algn="l"/>
              </a:tabLst>
            </a:pPr>
            <a:r>
              <a:rPr sz="2000" spc="-10" dirty="0">
                <a:solidFill>
                  <a:srgbClr val="04182D"/>
                </a:solidFill>
                <a:latin typeface="Courier New"/>
                <a:cs typeface="Courier New"/>
              </a:rPr>
              <a:t>alpha</a:t>
            </a:r>
            <a:r>
              <a:rPr sz="2000" dirty="0">
                <a:solidFill>
                  <a:srgbClr val="04182D"/>
                </a:solidFill>
                <a:latin typeface="Courier New"/>
                <a:cs typeface="Courier New"/>
              </a:rPr>
              <a:t>	[</a:t>
            </a:r>
            <a:r>
              <a:rPr sz="2000" dirty="0">
                <a:solidFill>
                  <a:srgbClr val="BE2F72"/>
                </a:solidFill>
                <a:latin typeface="Courier New"/>
                <a:cs typeface="Courier New"/>
              </a:rPr>
              <a:t>0.01</a:t>
            </a:r>
            <a:r>
              <a:rPr sz="2000" dirty="0">
                <a:solidFill>
                  <a:srgbClr val="04182D"/>
                </a:solidFill>
                <a:latin typeface="Courier New"/>
                <a:cs typeface="Courier New"/>
              </a:rPr>
              <a:t>,</a:t>
            </a:r>
            <a:r>
              <a:rPr sz="2000" spc="45" dirty="0">
                <a:solidFill>
                  <a:srgbClr val="04182D"/>
                </a:solidFill>
                <a:latin typeface="Courier New"/>
                <a:cs typeface="Courier New"/>
              </a:rPr>
              <a:t> </a:t>
            </a:r>
            <a:r>
              <a:rPr sz="2000" dirty="0">
                <a:solidFill>
                  <a:srgbClr val="BE2F72"/>
                </a:solidFill>
                <a:latin typeface="Courier New"/>
                <a:cs typeface="Courier New"/>
              </a:rPr>
              <a:t>1.0</a:t>
            </a:r>
            <a:r>
              <a:rPr sz="2000" dirty="0">
                <a:solidFill>
                  <a:srgbClr val="04182D"/>
                </a:solidFill>
                <a:latin typeface="Courier New"/>
                <a:cs typeface="Courier New"/>
              </a:rPr>
              <a:t>,</a:t>
            </a:r>
            <a:r>
              <a:rPr sz="2000" spc="55" dirty="0">
                <a:solidFill>
                  <a:srgbClr val="04182D"/>
                </a:solidFill>
                <a:latin typeface="Courier New"/>
                <a:cs typeface="Courier New"/>
              </a:rPr>
              <a:t> </a:t>
            </a:r>
            <a:r>
              <a:rPr sz="2000" dirty="0">
                <a:solidFill>
                  <a:srgbClr val="BE2F72"/>
                </a:solidFill>
                <a:latin typeface="Courier New"/>
                <a:cs typeface="Courier New"/>
              </a:rPr>
              <a:t>10.0</a:t>
            </a:r>
            <a:r>
              <a:rPr sz="2000" dirty="0">
                <a:solidFill>
                  <a:srgbClr val="04182D"/>
                </a:solidFill>
                <a:latin typeface="Courier New"/>
                <a:cs typeface="Courier New"/>
              </a:rPr>
              <a:t>,</a:t>
            </a:r>
            <a:r>
              <a:rPr sz="2000" spc="55" dirty="0">
                <a:solidFill>
                  <a:srgbClr val="04182D"/>
                </a:solidFill>
                <a:latin typeface="Courier New"/>
                <a:cs typeface="Courier New"/>
              </a:rPr>
              <a:t> </a:t>
            </a:r>
            <a:r>
              <a:rPr sz="2000" dirty="0">
                <a:solidFill>
                  <a:srgbClr val="BE2F72"/>
                </a:solidFill>
                <a:latin typeface="Courier New"/>
                <a:cs typeface="Courier New"/>
              </a:rPr>
              <a:t>20.0</a:t>
            </a:r>
            <a:r>
              <a:rPr sz="2000" dirty="0">
                <a:solidFill>
                  <a:srgbClr val="04182D"/>
                </a:solidFill>
                <a:latin typeface="Courier New"/>
                <a:cs typeface="Courier New"/>
              </a:rPr>
              <a:t>,</a:t>
            </a:r>
            <a:r>
              <a:rPr sz="2000" spc="55" dirty="0">
                <a:solidFill>
                  <a:srgbClr val="04182D"/>
                </a:solidFill>
                <a:latin typeface="Courier New"/>
                <a:cs typeface="Courier New"/>
              </a:rPr>
              <a:t> </a:t>
            </a:r>
            <a:r>
              <a:rPr sz="2000" spc="-10" dirty="0">
                <a:solidFill>
                  <a:srgbClr val="BE2F72"/>
                </a:solidFill>
                <a:latin typeface="Courier New"/>
                <a:cs typeface="Courier New"/>
              </a:rPr>
              <a:t>50.0</a:t>
            </a:r>
            <a:r>
              <a:rPr sz="2000" spc="-10" dirty="0">
                <a:solidFill>
                  <a:srgbClr val="04182D"/>
                </a:solidFill>
                <a:latin typeface="Courier New"/>
                <a:cs typeface="Courier New"/>
              </a:rPr>
              <a:t>]:</a:t>
            </a:r>
            <a:endParaRPr sz="2000">
              <a:latin typeface="Courier New"/>
              <a:cs typeface="Courier New"/>
            </a:endParaRPr>
          </a:p>
          <a:p>
            <a:pPr marL="321945" marR="1242060">
              <a:lnSpc>
                <a:spcPct val="141000"/>
              </a:lnSpc>
            </a:pPr>
            <a:r>
              <a:rPr sz="2000" dirty="0">
                <a:solidFill>
                  <a:srgbClr val="04182D"/>
                </a:solidFill>
                <a:latin typeface="Courier New"/>
                <a:cs typeface="Courier New"/>
              </a:rPr>
              <a:t>lasso</a:t>
            </a:r>
            <a:r>
              <a:rPr sz="2000" spc="40" dirty="0">
                <a:solidFill>
                  <a:srgbClr val="04182D"/>
                </a:solidFill>
                <a:latin typeface="Courier New"/>
                <a:cs typeface="Courier New"/>
              </a:rPr>
              <a:t> </a:t>
            </a:r>
            <a:r>
              <a:rPr sz="2000" dirty="0">
                <a:solidFill>
                  <a:srgbClr val="04182D"/>
                </a:solidFill>
                <a:latin typeface="Courier New"/>
                <a:cs typeface="Courier New"/>
              </a:rPr>
              <a:t>=</a:t>
            </a:r>
            <a:r>
              <a:rPr sz="2000" spc="40" dirty="0">
                <a:solidFill>
                  <a:srgbClr val="04182D"/>
                </a:solidFill>
                <a:latin typeface="Courier New"/>
                <a:cs typeface="Courier New"/>
              </a:rPr>
              <a:t> </a:t>
            </a:r>
            <a:r>
              <a:rPr sz="2000" spc="-10" dirty="0">
                <a:solidFill>
                  <a:srgbClr val="04182D"/>
                </a:solidFill>
                <a:latin typeface="Courier New"/>
                <a:cs typeface="Courier New"/>
              </a:rPr>
              <a:t>Lasso(alpha=alpha) </a:t>
            </a:r>
            <a:r>
              <a:rPr sz="2000" dirty="0">
                <a:solidFill>
                  <a:srgbClr val="04182D"/>
                </a:solidFill>
                <a:latin typeface="Courier New"/>
                <a:cs typeface="Courier New"/>
              </a:rPr>
              <a:t>lasso.fit(X_train,</a:t>
            </a:r>
            <a:r>
              <a:rPr sz="2000" spc="145" dirty="0">
                <a:solidFill>
                  <a:srgbClr val="04182D"/>
                </a:solidFill>
                <a:latin typeface="Courier New"/>
                <a:cs typeface="Courier New"/>
              </a:rPr>
              <a:t> </a:t>
            </a:r>
            <a:r>
              <a:rPr sz="2000" spc="-10" dirty="0">
                <a:solidFill>
                  <a:srgbClr val="04182D"/>
                </a:solidFill>
                <a:latin typeface="Courier New"/>
                <a:cs typeface="Courier New"/>
              </a:rPr>
              <a:t>y_train) </a:t>
            </a:r>
            <a:r>
              <a:rPr sz="2000" dirty="0">
                <a:solidFill>
                  <a:srgbClr val="04182D"/>
                </a:solidFill>
                <a:latin typeface="Courier New"/>
                <a:cs typeface="Courier New"/>
              </a:rPr>
              <a:t>lasso_pred</a:t>
            </a:r>
            <a:r>
              <a:rPr sz="2000" spc="55" dirty="0">
                <a:solidFill>
                  <a:srgbClr val="04182D"/>
                </a:solidFill>
                <a:latin typeface="Courier New"/>
                <a:cs typeface="Courier New"/>
              </a:rPr>
              <a:t> </a:t>
            </a:r>
            <a:r>
              <a:rPr sz="2000" dirty="0">
                <a:solidFill>
                  <a:srgbClr val="04182D"/>
                </a:solidFill>
                <a:latin typeface="Courier New"/>
                <a:cs typeface="Courier New"/>
              </a:rPr>
              <a:t>=</a:t>
            </a:r>
            <a:r>
              <a:rPr sz="2000" spc="60" dirty="0">
                <a:solidFill>
                  <a:srgbClr val="04182D"/>
                </a:solidFill>
                <a:latin typeface="Courier New"/>
                <a:cs typeface="Courier New"/>
              </a:rPr>
              <a:t> </a:t>
            </a:r>
            <a:r>
              <a:rPr sz="2000" spc="-10" dirty="0">
                <a:solidFill>
                  <a:srgbClr val="04182D"/>
                </a:solidFill>
                <a:latin typeface="Courier New"/>
                <a:cs typeface="Courier New"/>
              </a:rPr>
              <a:t>lasso.predict(X_test)</a:t>
            </a:r>
            <a:endParaRPr sz="2000">
              <a:latin typeface="Courier New"/>
              <a:cs typeface="Courier New"/>
            </a:endParaRPr>
          </a:p>
          <a:p>
            <a:pPr marL="12700" marR="5080" indent="309245">
              <a:lnSpc>
                <a:spcPct val="141000"/>
              </a:lnSpc>
            </a:pPr>
            <a:r>
              <a:rPr sz="2000" dirty="0">
                <a:solidFill>
                  <a:srgbClr val="04182D"/>
                </a:solidFill>
                <a:latin typeface="Courier New"/>
                <a:cs typeface="Courier New"/>
              </a:rPr>
              <a:t>scores.append(lasso.score(X_test,</a:t>
            </a:r>
            <a:r>
              <a:rPr sz="2000" spc="250" dirty="0">
                <a:solidFill>
                  <a:srgbClr val="04182D"/>
                </a:solidFill>
                <a:latin typeface="Courier New"/>
                <a:cs typeface="Courier New"/>
              </a:rPr>
              <a:t> </a:t>
            </a:r>
            <a:r>
              <a:rPr sz="2000" spc="-10" dirty="0">
                <a:solidFill>
                  <a:srgbClr val="04182D"/>
                </a:solidFill>
                <a:latin typeface="Courier New"/>
                <a:cs typeface="Courier New"/>
              </a:rPr>
              <a:t>y_test)) </a:t>
            </a:r>
            <a:r>
              <a:rPr sz="2000" spc="-10" dirty="0">
                <a:solidFill>
                  <a:srgbClr val="008600"/>
                </a:solidFill>
                <a:latin typeface="Courier New"/>
                <a:cs typeface="Courier New"/>
              </a:rPr>
              <a:t>print</a:t>
            </a:r>
            <a:r>
              <a:rPr sz="2000" spc="-10" dirty="0">
                <a:solidFill>
                  <a:srgbClr val="04182D"/>
                </a:solidFill>
                <a:latin typeface="Courier New"/>
                <a:cs typeface="Courier New"/>
              </a:rPr>
              <a:t>(scores)</a:t>
            </a:r>
            <a:endParaRPr sz="2000">
              <a:latin typeface="Courier New"/>
              <a:cs typeface="Courier New"/>
            </a:endParaRPr>
          </a:p>
        </p:txBody>
      </p:sp>
      <p:sp>
        <p:nvSpPr>
          <p:cNvPr id="8" name="object 8"/>
          <p:cNvSpPr txBox="1"/>
          <p:nvPr/>
        </p:nvSpPr>
        <p:spPr>
          <a:xfrm>
            <a:off x="625720" y="5338260"/>
            <a:ext cx="14101444" cy="335280"/>
          </a:xfrm>
          <a:prstGeom prst="rect">
            <a:avLst/>
          </a:prstGeom>
        </p:spPr>
        <p:txBody>
          <a:bodyPr vert="horz" wrap="square" lIns="0" tIns="16510" rIns="0" bIns="0" rtlCol="0">
            <a:spAutoFit/>
          </a:bodyPr>
          <a:lstStyle/>
          <a:p>
            <a:pPr marL="12700">
              <a:lnSpc>
                <a:spcPct val="100000"/>
              </a:lnSpc>
              <a:spcBef>
                <a:spcPts val="130"/>
              </a:spcBef>
            </a:pPr>
            <a:r>
              <a:rPr sz="2000" dirty="0">
                <a:solidFill>
                  <a:srgbClr val="FFFFFF"/>
                </a:solidFill>
                <a:latin typeface="Courier New"/>
                <a:cs typeface="Courier New"/>
              </a:rPr>
              <a:t>[0.99991649071123,</a:t>
            </a:r>
            <a:r>
              <a:rPr sz="2000" spc="140" dirty="0">
                <a:solidFill>
                  <a:srgbClr val="FFFFFF"/>
                </a:solidFill>
                <a:latin typeface="Courier New"/>
                <a:cs typeface="Courier New"/>
              </a:rPr>
              <a:t> </a:t>
            </a:r>
            <a:r>
              <a:rPr sz="2000" dirty="0">
                <a:solidFill>
                  <a:srgbClr val="FFFFFF"/>
                </a:solidFill>
                <a:latin typeface="Courier New"/>
                <a:cs typeface="Courier New"/>
              </a:rPr>
              <a:t>0.99961700284223,</a:t>
            </a:r>
            <a:r>
              <a:rPr sz="2000" spc="145" dirty="0">
                <a:solidFill>
                  <a:srgbClr val="FFFFFF"/>
                </a:solidFill>
                <a:latin typeface="Courier New"/>
                <a:cs typeface="Courier New"/>
              </a:rPr>
              <a:t> </a:t>
            </a:r>
            <a:r>
              <a:rPr sz="2000" dirty="0">
                <a:solidFill>
                  <a:srgbClr val="FFFFFF"/>
                </a:solidFill>
                <a:latin typeface="Courier New"/>
                <a:cs typeface="Courier New"/>
              </a:rPr>
              <a:t>0.93882227671069,</a:t>
            </a:r>
            <a:r>
              <a:rPr sz="2000" spc="140" dirty="0">
                <a:solidFill>
                  <a:srgbClr val="FFFFFF"/>
                </a:solidFill>
                <a:latin typeface="Courier New"/>
                <a:cs typeface="Courier New"/>
              </a:rPr>
              <a:t> </a:t>
            </a:r>
            <a:r>
              <a:rPr sz="2000" dirty="0">
                <a:solidFill>
                  <a:srgbClr val="FFFFFF"/>
                </a:solidFill>
                <a:latin typeface="Courier New"/>
                <a:cs typeface="Courier New"/>
              </a:rPr>
              <a:t>0.74855318676232,</a:t>
            </a:r>
            <a:r>
              <a:rPr sz="2000" spc="145" dirty="0">
                <a:solidFill>
                  <a:srgbClr val="FFFFFF"/>
                </a:solidFill>
                <a:latin typeface="Courier New"/>
                <a:cs typeface="Courier New"/>
              </a:rPr>
              <a:t> </a:t>
            </a:r>
            <a:r>
              <a:rPr sz="2000" dirty="0">
                <a:solidFill>
                  <a:srgbClr val="FFFFFF"/>
                </a:solidFill>
                <a:latin typeface="Courier New"/>
                <a:cs typeface="Courier New"/>
              </a:rPr>
              <a:t>-</a:t>
            </a:r>
            <a:r>
              <a:rPr sz="2000" spc="-10" dirty="0">
                <a:solidFill>
                  <a:srgbClr val="FFFFFF"/>
                </a:solidFill>
                <a:latin typeface="Courier New"/>
                <a:cs typeface="Courier New"/>
              </a:rPr>
              <a:t>0.05741034640016]</a:t>
            </a:r>
            <a:endParaRPr sz="2000">
              <a:latin typeface="Courier New"/>
              <a:cs typeface="Courier New"/>
            </a:endParaRPr>
          </a:p>
        </p:txBody>
      </p:sp>
      <p:sp>
        <p:nvSpPr>
          <p:cNvPr id="12" name="슬라이드 번호 개체 틀 11">
            <a:extLst>
              <a:ext uri="{FF2B5EF4-FFF2-40B4-BE49-F238E27FC236}">
                <a16:creationId xmlns:a16="http://schemas.microsoft.com/office/drawing/2014/main" id="{A88C361C-EE59-02F1-AFBB-CCE387B5FAB4}"/>
              </a:ext>
            </a:extLst>
          </p:cNvPr>
          <p:cNvSpPr>
            <a:spLocks noGrp="1"/>
          </p:cNvSpPr>
          <p:nvPr>
            <p:ph type="sldNum" sz="quarter" idx="7"/>
          </p:nvPr>
        </p:nvSpPr>
        <p:spPr/>
        <p:txBody>
          <a:bodyPr/>
          <a:lstStyle/>
          <a:p>
            <a:fld id="{B6F15528-21DE-4FAA-801E-634DDDAF4B2B}" type="slidenum">
              <a:rPr lang="en-US" altLang="ko-KR" smtClean="0"/>
              <a:t>34</a:t>
            </a:fld>
            <a:endParaRPr lang="en-US" altLang="ko-KR"/>
          </a:p>
        </p:txBody>
      </p:sp>
      <p:sp>
        <p:nvSpPr>
          <p:cNvPr id="14" name="TextBox 13">
            <a:extLst>
              <a:ext uri="{FF2B5EF4-FFF2-40B4-BE49-F238E27FC236}">
                <a16:creationId xmlns:a16="http://schemas.microsoft.com/office/drawing/2014/main" id="{5AC82B3B-43F2-5907-E5DA-A17401BCBBBA}"/>
              </a:ext>
            </a:extLst>
          </p:cNvPr>
          <p:cNvSpPr txBox="1"/>
          <p:nvPr/>
        </p:nvSpPr>
        <p:spPr>
          <a:xfrm>
            <a:off x="625720" y="6067317"/>
            <a:ext cx="12884150" cy="2308324"/>
          </a:xfrm>
          <a:prstGeom prst="rect">
            <a:avLst/>
          </a:prstGeom>
          <a:noFill/>
        </p:spPr>
        <p:txBody>
          <a:bodyPr wrap="square">
            <a:spAutoFit/>
          </a:bodyPr>
          <a:lstStyle/>
          <a:p>
            <a:r>
              <a:rPr lang="en-US" altLang="ko-KR" b="1" dirty="0"/>
              <a:t>Interpreting Lasso Score:</a:t>
            </a:r>
          </a:p>
          <a:p>
            <a:pPr>
              <a:buFont typeface="+mj-lt"/>
              <a:buAutoNum type="arabicPeriod"/>
            </a:pPr>
            <a:r>
              <a:rPr lang="en-US" altLang="ko-KR" b="1" dirty="0"/>
              <a:t>High</a:t>
            </a:r>
            <a:r>
              <a:rPr lang="en-US" altLang="ko-KR" dirty="0"/>
              <a:t>:</a:t>
            </a:r>
          </a:p>
          <a:p>
            <a:pPr marL="742950" lvl="1" indent="-285750">
              <a:buFont typeface="+mj-lt"/>
              <a:buAutoNum type="arabicPeriod"/>
            </a:pPr>
            <a:r>
              <a:rPr lang="en-US" altLang="ko-KR" dirty="0"/>
              <a:t>Indicates the model explains a significant portion of the variance in the target variable.</a:t>
            </a:r>
          </a:p>
          <a:p>
            <a:pPr marL="742950" lvl="1" indent="-285750">
              <a:buFont typeface="+mj-lt"/>
              <a:buAutoNum type="arabicPeriod"/>
            </a:pPr>
            <a:r>
              <a:rPr lang="en-US" altLang="ko-KR" dirty="0"/>
              <a:t>For Lasso, this means that the selected features (non-zero coefficients) are strong predictors of the target.</a:t>
            </a:r>
          </a:p>
          <a:p>
            <a:pPr>
              <a:buFont typeface="+mj-lt"/>
              <a:buAutoNum type="arabicPeriod"/>
            </a:pPr>
            <a:r>
              <a:rPr lang="en-US" altLang="ko-KR" b="1" dirty="0"/>
              <a:t>Low</a:t>
            </a:r>
            <a:r>
              <a:rPr lang="en-US" altLang="ko-KR" dirty="0"/>
              <a:t>:</a:t>
            </a:r>
          </a:p>
          <a:p>
            <a:pPr marL="742950" lvl="1" indent="-285750">
              <a:buFont typeface="+mj-lt"/>
              <a:buAutoNum type="arabicPeriod"/>
            </a:pPr>
            <a:r>
              <a:rPr lang="en-US" altLang="ko-KR" dirty="0"/>
              <a:t>Suggests that the model does not explain much of the variance in the target variable.</a:t>
            </a:r>
          </a:p>
          <a:p>
            <a:pPr marL="742950" lvl="1" indent="-285750">
              <a:buFont typeface="+mj-lt"/>
              <a:buAutoNum type="arabicPeriod"/>
            </a:pPr>
            <a:r>
              <a:rPr lang="en-US" altLang="ko-KR" dirty="0"/>
              <a:t>For Lasso, a low R2R^2R2 may occur if the regularization parameter (α\alphaα) is too high, leading to excessive shrinkage of coefficients (or all coefficients being reduced to zero).</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8589" y="273933"/>
            <a:ext cx="9815830" cy="713740"/>
          </a:xfrm>
          <a:prstGeom prst="rect">
            <a:avLst/>
          </a:prstGeom>
        </p:spPr>
        <p:txBody>
          <a:bodyPr vert="horz" wrap="square" lIns="0" tIns="13970" rIns="0" bIns="0" rtlCol="0">
            <a:spAutoFit/>
          </a:bodyPr>
          <a:lstStyle/>
          <a:p>
            <a:pPr marL="12700">
              <a:lnSpc>
                <a:spcPct val="100000"/>
              </a:lnSpc>
              <a:spcBef>
                <a:spcPts val="110"/>
              </a:spcBef>
            </a:pPr>
            <a:r>
              <a:rPr spc="-235" dirty="0"/>
              <a:t>Lasso</a:t>
            </a:r>
            <a:r>
              <a:rPr spc="-125" dirty="0"/>
              <a:t> </a:t>
            </a:r>
            <a:r>
              <a:rPr spc="-254" dirty="0"/>
              <a:t>regression</a:t>
            </a:r>
            <a:r>
              <a:rPr spc="-125" dirty="0"/>
              <a:t> </a:t>
            </a:r>
            <a:r>
              <a:rPr spc="-215" dirty="0"/>
              <a:t>for</a:t>
            </a:r>
            <a:r>
              <a:rPr spc="-120" dirty="0"/>
              <a:t> </a:t>
            </a:r>
            <a:r>
              <a:rPr spc="-210" dirty="0"/>
              <a:t>feature</a:t>
            </a:r>
            <a:r>
              <a:rPr spc="-125" dirty="0"/>
              <a:t> </a:t>
            </a:r>
            <a:r>
              <a:rPr spc="-160" dirty="0"/>
              <a:t>selection</a:t>
            </a:r>
          </a:p>
        </p:txBody>
      </p:sp>
      <p:pic>
        <p:nvPicPr>
          <p:cNvPr id="3" name="object 3"/>
          <p:cNvPicPr/>
          <p:nvPr/>
        </p:nvPicPr>
        <p:blipFill>
          <a:blip r:embed="rId2" cstate="print"/>
          <a:stretch>
            <a:fillRect/>
          </a:stretch>
        </p:blipFill>
        <p:spPr>
          <a:xfrm>
            <a:off x="511759" y="1351093"/>
            <a:ext cx="102352" cy="102351"/>
          </a:xfrm>
          <a:prstGeom prst="rect">
            <a:avLst/>
          </a:prstGeom>
        </p:spPr>
      </p:pic>
      <p:sp>
        <p:nvSpPr>
          <p:cNvPr id="4" name="object 4"/>
          <p:cNvSpPr txBox="1"/>
          <p:nvPr/>
        </p:nvSpPr>
        <p:spPr>
          <a:xfrm>
            <a:off x="847056" y="1174630"/>
            <a:ext cx="8794115" cy="1729105"/>
          </a:xfrm>
          <a:prstGeom prst="rect">
            <a:avLst/>
          </a:prstGeom>
        </p:spPr>
        <p:txBody>
          <a:bodyPr vert="horz" wrap="square" lIns="0" tIns="15875" rIns="0" bIns="0" rtlCol="0">
            <a:spAutoFit/>
          </a:bodyPr>
          <a:lstStyle/>
          <a:p>
            <a:pPr marL="12700">
              <a:lnSpc>
                <a:spcPct val="100000"/>
              </a:lnSpc>
              <a:spcBef>
                <a:spcPts val="125"/>
              </a:spcBef>
            </a:pPr>
            <a:r>
              <a:rPr sz="2550" spc="90" dirty="0">
                <a:solidFill>
                  <a:srgbClr val="04182D"/>
                </a:solidFill>
                <a:latin typeface="Tahoma"/>
                <a:cs typeface="Tahoma"/>
              </a:rPr>
              <a:t>Lasso</a:t>
            </a:r>
            <a:r>
              <a:rPr sz="2550" spc="-40" dirty="0">
                <a:solidFill>
                  <a:srgbClr val="04182D"/>
                </a:solidFill>
                <a:latin typeface="Tahoma"/>
                <a:cs typeface="Tahoma"/>
              </a:rPr>
              <a:t> </a:t>
            </a:r>
            <a:r>
              <a:rPr sz="2550" spc="180" dirty="0">
                <a:solidFill>
                  <a:srgbClr val="04182D"/>
                </a:solidFill>
                <a:latin typeface="Tahoma"/>
                <a:cs typeface="Tahoma"/>
              </a:rPr>
              <a:t>can</a:t>
            </a:r>
            <a:r>
              <a:rPr sz="2550" spc="-40" dirty="0">
                <a:solidFill>
                  <a:srgbClr val="04182D"/>
                </a:solidFill>
                <a:latin typeface="Tahoma"/>
                <a:cs typeface="Tahoma"/>
              </a:rPr>
              <a:t> </a:t>
            </a:r>
            <a:r>
              <a:rPr sz="2550" spc="114" dirty="0">
                <a:solidFill>
                  <a:srgbClr val="04182D"/>
                </a:solidFill>
                <a:latin typeface="Tahoma"/>
                <a:cs typeface="Tahoma"/>
              </a:rPr>
              <a:t>select</a:t>
            </a:r>
            <a:r>
              <a:rPr sz="2550" spc="-40" dirty="0">
                <a:solidFill>
                  <a:srgbClr val="04182D"/>
                </a:solidFill>
                <a:latin typeface="Tahoma"/>
                <a:cs typeface="Tahoma"/>
              </a:rPr>
              <a:t> </a:t>
            </a:r>
            <a:r>
              <a:rPr sz="2550" spc="95" dirty="0">
                <a:solidFill>
                  <a:srgbClr val="04182D"/>
                </a:solidFill>
                <a:latin typeface="Tahoma"/>
                <a:cs typeface="Tahoma"/>
              </a:rPr>
              <a:t>important</a:t>
            </a:r>
            <a:r>
              <a:rPr sz="2550" spc="-40" dirty="0">
                <a:solidFill>
                  <a:srgbClr val="04182D"/>
                </a:solidFill>
                <a:latin typeface="Tahoma"/>
                <a:cs typeface="Tahoma"/>
              </a:rPr>
              <a:t> </a:t>
            </a:r>
            <a:r>
              <a:rPr sz="2550" spc="90" dirty="0">
                <a:solidFill>
                  <a:srgbClr val="04182D"/>
                </a:solidFill>
                <a:latin typeface="Tahoma"/>
                <a:cs typeface="Tahoma"/>
              </a:rPr>
              <a:t>features</a:t>
            </a:r>
            <a:r>
              <a:rPr sz="2550" spc="-40" dirty="0">
                <a:solidFill>
                  <a:srgbClr val="04182D"/>
                </a:solidFill>
                <a:latin typeface="Tahoma"/>
                <a:cs typeface="Tahoma"/>
              </a:rPr>
              <a:t> </a:t>
            </a:r>
            <a:r>
              <a:rPr sz="2550" spc="114" dirty="0">
                <a:solidFill>
                  <a:srgbClr val="04182D"/>
                </a:solidFill>
                <a:latin typeface="Tahoma"/>
                <a:cs typeface="Tahoma"/>
              </a:rPr>
              <a:t>of</a:t>
            </a:r>
            <a:r>
              <a:rPr sz="2550" spc="-40" dirty="0">
                <a:solidFill>
                  <a:srgbClr val="04182D"/>
                </a:solidFill>
                <a:latin typeface="Tahoma"/>
                <a:cs typeface="Tahoma"/>
              </a:rPr>
              <a:t> </a:t>
            </a:r>
            <a:r>
              <a:rPr sz="2550" spc="225" dirty="0">
                <a:solidFill>
                  <a:srgbClr val="04182D"/>
                </a:solidFill>
                <a:latin typeface="Tahoma"/>
                <a:cs typeface="Tahoma"/>
              </a:rPr>
              <a:t>a</a:t>
            </a:r>
            <a:r>
              <a:rPr sz="2550" spc="-40" dirty="0">
                <a:solidFill>
                  <a:srgbClr val="04182D"/>
                </a:solidFill>
                <a:latin typeface="Tahoma"/>
                <a:cs typeface="Tahoma"/>
              </a:rPr>
              <a:t> </a:t>
            </a:r>
            <a:r>
              <a:rPr sz="2550" spc="120" dirty="0">
                <a:solidFill>
                  <a:srgbClr val="04182D"/>
                </a:solidFill>
                <a:latin typeface="Tahoma"/>
                <a:cs typeface="Tahoma"/>
              </a:rPr>
              <a:t>dataset</a:t>
            </a:r>
            <a:endParaRPr sz="2550">
              <a:latin typeface="Tahoma"/>
              <a:cs typeface="Tahoma"/>
            </a:endParaRPr>
          </a:p>
          <a:p>
            <a:pPr marL="12700" marR="5080">
              <a:lnSpc>
                <a:spcPts val="5160"/>
              </a:lnSpc>
              <a:spcBef>
                <a:spcPts val="320"/>
              </a:spcBef>
            </a:pPr>
            <a:r>
              <a:rPr sz="2550" spc="50" dirty="0">
                <a:solidFill>
                  <a:srgbClr val="04182D"/>
                </a:solidFill>
                <a:latin typeface="Tahoma"/>
                <a:cs typeface="Tahoma"/>
              </a:rPr>
              <a:t>Shrinks</a:t>
            </a:r>
            <a:r>
              <a:rPr sz="2550" spc="-40" dirty="0">
                <a:solidFill>
                  <a:srgbClr val="04182D"/>
                </a:solidFill>
                <a:latin typeface="Tahoma"/>
                <a:cs typeface="Tahoma"/>
              </a:rPr>
              <a:t> </a:t>
            </a:r>
            <a:r>
              <a:rPr sz="2550" spc="95" dirty="0">
                <a:solidFill>
                  <a:srgbClr val="04182D"/>
                </a:solidFill>
                <a:latin typeface="Tahoma"/>
                <a:cs typeface="Tahoma"/>
              </a:rPr>
              <a:t>the</a:t>
            </a:r>
            <a:r>
              <a:rPr sz="2550" spc="-35" dirty="0">
                <a:solidFill>
                  <a:srgbClr val="04182D"/>
                </a:solidFill>
                <a:latin typeface="Tahoma"/>
                <a:cs typeface="Tahoma"/>
              </a:rPr>
              <a:t> </a:t>
            </a:r>
            <a:r>
              <a:rPr sz="2550" spc="114" dirty="0">
                <a:solidFill>
                  <a:srgbClr val="04182D"/>
                </a:solidFill>
                <a:latin typeface="Tahoma"/>
                <a:cs typeface="Tahoma"/>
              </a:rPr>
              <a:t>coefficients</a:t>
            </a:r>
            <a:r>
              <a:rPr sz="2550" spc="-40" dirty="0">
                <a:solidFill>
                  <a:srgbClr val="04182D"/>
                </a:solidFill>
                <a:latin typeface="Tahoma"/>
                <a:cs typeface="Tahoma"/>
              </a:rPr>
              <a:t> </a:t>
            </a:r>
            <a:r>
              <a:rPr sz="2550" spc="114" dirty="0">
                <a:solidFill>
                  <a:srgbClr val="04182D"/>
                </a:solidFill>
                <a:latin typeface="Tahoma"/>
                <a:cs typeface="Tahoma"/>
              </a:rPr>
              <a:t>of</a:t>
            </a:r>
            <a:r>
              <a:rPr sz="2550" spc="-35" dirty="0">
                <a:solidFill>
                  <a:srgbClr val="04182D"/>
                </a:solidFill>
                <a:latin typeface="Tahoma"/>
                <a:cs typeface="Tahoma"/>
              </a:rPr>
              <a:t> </a:t>
            </a:r>
            <a:r>
              <a:rPr sz="2550" spc="75" dirty="0">
                <a:solidFill>
                  <a:srgbClr val="04182D"/>
                </a:solidFill>
                <a:latin typeface="Tahoma"/>
                <a:cs typeface="Tahoma"/>
              </a:rPr>
              <a:t>less</a:t>
            </a:r>
            <a:r>
              <a:rPr sz="2550" spc="-35" dirty="0">
                <a:solidFill>
                  <a:srgbClr val="04182D"/>
                </a:solidFill>
                <a:latin typeface="Tahoma"/>
                <a:cs typeface="Tahoma"/>
              </a:rPr>
              <a:t> </a:t>
            </a:r>
            <a:r>
              <a:rPr sz="2550" spc="95" dirty="0">
                <a:solidFill>
                  <a:srgbClr val="04182D"/>
                </a:solidFill>
                <a:latin typeface="Tahoma"/>
                <a:cs typeface="Tahoma"/>
              </a:rPr>
              <a:t>important</a:t>
            </a:r>
            <a:r>
              <a:rPr sz="2550" spc="-40" dirty="0">
                <a:solidFill>
                  <a:srgbClr val="04182D"/>
                </a:solidFill>
                <a:latin typeface="Tahoma"/>
                <a:cs typeface="Tahoma"/>
              </a:rPr>
              <a:t> </a:t>
            </a:r>
            <a:r>
              <a:rPr sz="2550" spc="90" dirty="0">
                <a:solidFill>
                  <a:srgbClr val="04182D"/>
                </a:solidFill>
                <a:latin typeface="Tahoma"/>
                <a:cs typeface="Tahoma"/>
              </a:rPr>
              <a:t>features</a:t>
            </a:r>
            <a:r>
              <a:rPr sz="2550" spc="-35" dirty="0">
                <a:solidFill>
                  <a:srgbClr val="04182D"/>
                </a:solidFill>
                <a:latin typeface="Tahoma"/>
                <a:cs typeface="Tahoma"/>
              </a:rPr>
              <a:t> </a:t>
            </a:r>
            <a:r>
              <a:rPr sz="2550" spc="80" dirty="0">
                <a:solidFill>
                  <a:srgbClr val="04182D"/>
                </a:solidFill>
                <a:latin typeface="Tahoma"/>
                <a:cs typeface="Tahoma"/>
              </a:rPr>
              <a:t>to</a:t>
            </a:r>
            <a:r>
              <a:rPr sz="2550" spc="-40" dirty="0">
                <a:solidFill>
                  <a:srgbClr val="04182D"/>
                </a:solidFill>
                <a:latin typeface="Tahoma"/>
                <a:cs typeface="Tahoma"/>
              </a:rPr>
              <a:t> </a:t>
            </a:r>
            <a:r>
              <a:rPr sz="2550" spc="60" dirty="0">
                <a:solidFill>
                  <a:srgbClr val="04182D"/>
                </a:solidFill>
                <a:latin typeface="Tahoma"/>
                <a:cs typeface="Tahoma"/>
              </a:rPr>
              <a:t>zero </a:t>
            </a:r>
            <a:r>
              <a:rPr sz="2550" spc="95" dirty="0">
                <a:solidFill>
                  <a:srgbClr val="04182D"/>
                </a:solidFill>
                <a:latin typeface="Tahoma"/>
                <a:cs typeface="Tahoma"/>
              </a:rPr>
              <a:t>Features</a:t>
            </a:r>
            <a:r>
              <a:rPr sz="2550" spc="-45" dirty="0">
                <a:solidFill>
                  <a:srgbClr val="04182D"/>
                </a:solidFill>
                <a:latin typeface="Tahoma"/>
                <a:cs typeface="Tahoma"/>
              </a:rPr>
              <a:t> </a:t>
            </a:r>
            <a:r>
              <a:rPr sz="2550" spc="80" dirty="0">
                <a:solidFill>
                  <a:srgbClr val="04182D"/>
                </a:solidFill>
                <a:latin typeface="Tahoma"/>
                <a:cs typeface="Tahoma"/>
              </a:rPr>
              <a:t>not</a:t>
            </a:r>
            <a:r>
              <a:rPr sz="2550" spc="-45" dirty="0">
                <a:solidFill>
                  <a:srgbClr val="04182D"/>
                </a:solidFill>
                <a:latin typeface="Tahoma"/>
                <a:cs typeface="Tahoma"/>
              </a:rPr>
              <a:t> </a:t>
            </a:r>
            <a:r>
              <a:rPr sz="2550" spc="60" dirty="0">
                <a:solidFill>
                  <a:srgbClr val="04182D"/>
                </a:solidFill>
                <a:latin typeface="Tahoma"/>
                <a:cs typeface="Tahoma"/>
              </a:rPr>
              <a:t>shrunk</a:t>
            </a:r>
            <a:r>
              <a:rPr sz="2550" spc="-45" dirty="0">
                <a:solidFill>
                  <a:srgbClr val="04182D"/>
                </a:solidFill>
                <a:latin typeface="Tahoma"/>
                <a:cs typeface="Tahoma"/>
              </a:rPr>
              <a:t> </a:t>
            </a:r>
            <a:r>
              <a:rPr sz="2550" spc="80" dirty="0">
                <a:solidFill>
                  <a:srgbClr val="04182D"/>
                </a:solidFill>
                <a:latin typeface="Tahoma"/>
                <a:cs typeface="Tahoma"/>
              </a:rPr>
              <a:t>to</a:t>
            </a:r>
            <a:r>
              <a:rPr sz="2550" spc="-45" dirty="0">
                <a:solidFill>
                  <a:srgbClr val="04182D"/>
                </a:solidFill>
                <a:latin typeface="Tahoma"/>
                <a:cs typeface="Tahoma"/>
              </a:rPr>
              <a:t> </a:t>
            </a:r>
            <a:r>
              <a:rPr sz="2550" spc="80" dirty="0">
                <a:solidFill>
                  <a:srgbClr val="04182D"/>
                </a:solidFill>
                <a:latin typeface="Tahoma"/>
                <a:cs typeface="Tahoma"/>
              </a:rPr>
              <a:t>zero</a:t>
            </a:r>
            <a:r>
              <a:rPr sz="2550" spc="-40" dirty="0">
                <a:solidFill>
                  <a:srgbClr val="04182D"/>
                </a:solidFill>
                <a:latin typeface="Tahoma"/>
                <a:cs typeface="Tahoma"/>
              </a:rPr>
              <a:t> </a:t>
            </a:r>
            <a:r>
              <a:rPr sz="2550" spc="110" dirty="0">
                <a:solidFill>
                  <a:srgbClr val="04182D"/>
                </a:solidFill>
                <a:latin typeface="Tahoma"/>
                <a:cs typeface="Tahoma"/>
              </a:rPr>
              <a:t>are</a:t>
            </a:r>
            <a:r>
              <a:rPr sz="2550" spc="-45" dirty="0">
                <a:solidFill>
                  <a:srgbClr val="04182D"/>
                </a:solidFill>
                <a:latin typeface="Tahoma"/>
                <a:cs typeface="Tahoma"/>
              </a:rPr>
              <a:t> </a:t>
            </a:r>
            <a:r>
              <a:rPr sz="2550" spc="120" dirty="0">
                <a:solidFill>
                  <a:srgbClr val="04182D"/>
                </a:solidFill>
                <a:latin typeface="Tahoma"/>
                <a:cs typeface="Tahoma"/>
              </a:rPr>
              <a:t>selected</a:t>
            </a:r>
            <a:r>
              <a:rPr sz="2550" spc="-45" dirty="0">
                <a:solidFill>
                  <a:srgbClr val="04182D"/>
                </a:solidFill>
                <a:latin typeface="Tahoma"/>
                <a:cs typeface="Tahoma"/>
              </a:rPr>
              <a:t> </a:t>
            </a:r>
            <a:r>
              <a:rPr sz="2550" spc="180" dirty="0">
                <a:solidFill>
                  <a:srgbClr val="04182D"/>
                </a:solidFill>
                <a:latin typeface="Tahoma"/>
                <a:cs typeface="Tahoma"/>
              </a:rPr>
              <a:t>by</a:t>
            </a:r>
            <a:r>
              <a:rPr sz="2550" spc="-45" dirty="0">
                <a:solidFill>
                  <a:srgbClr val="04182D"/>
                </a:solidFill>
                <a:latin typeface="Tahoma"/>
                <a:cs typeface="Tahoma"/>
              </a:rPr>
              <a:t> </a:t>
            </a:r>
            <a:r>
              <a:rPr sz="2550" spc="90" dirty="0">
                <a:solidFill>
                  <a:srgbClr val="04182D"/>
                </a:solidFill>
                <a:latin typeface="Tahoma"/>
                <a:cs typeface="Tahoma"/>
              </a:rPr>
              <a:t>lasso</a:t>
            </a:r>
            <a:endParaRPr sz="2550">
              <a:latin typeface="Tahoma"/>
              <a:cs typeface="Tahoma"/>
            </a:endParaRPr>
          </a:p>
        </p:txBody>
      </p:sp>
      <p:pic>
        <p:nvPicPr>
          <p:cNvPr id="5" name="object 5"/>
          <p:cNvPicPr/>
          <p:nvPr/>
        </p:nvPicPr>
        <p:blipFill>
          <a:blip r:embed="rId3" cstate="print"/>
          <a:stretch>
            <a:fillRect/>
          </a:stretch>
        </p:blipFill>
        <p:spPr>
          <a:xfrm>
            <a:off x="511759" y="2006146"/>
            <a:ext cx="102352" cy="102351"/>
          </a:xfrm>
          <a:prstGeom prst="rect">
            <a:avLst/>
          </a:prstGeom>
        </p:spPr>
      </p:pic>
      <p:pic>
        <p:nvPicPr>
          <p:cNvPr id="6" name="object 6"/>
          <p:cNvPicPr/>
          <p:nvPr/>
        </p:nvPicPr>
        <p:blipFill>
          <a:blip r:embed="rId2" cstate="print"/>
          <a:stretch>
            <a:fillRect/>
          </a:stretch>
        </p:blipFill>
        <p:spPr>
          <a:xfrm>
            <a:off x="511759" y="2661198"/>
            <a:ext cx="102352" cy="102351"/>
          </a:xfrm>
          <a:prstGeom prst="rect">
            <a:avLst/>
          </a:prstGeom>
        </p:spPr>
      </p:pic>
      <p:sp>
        <p:nvSpPr>
          <p:cNvPr id="10" name="슬라이드 번호 개체 틀 9">
            <a:extLst>
              <a:ext uri="{FF2B5EF4-FFF2-40B4-BE49-F238E27FC236}">
                <a16:creationId xmlns:a16="http://schemas.microsoft.com/office/drawing/2014/main" id="{4340C2AB-A901-4C49-3D9E-8187E85E842F}"/>
              </a:ext>
            </a:extLst>
          </p:cNvPr>
          <p:cNvSpPr>
            <a:spLocks noGrp="1"/>
          </p:cNvSpPr>
          <p:nvPr>
            <p:ph type="sldNum" sz="quarter" idx="7"/>
          </p:nvPr>
        </p:nvSpPr>
        <p:spPr/>
        <p:txBody>
          <a:bodyPr/>
          <a:lstStyle/>
          <a:p>
            <a:fld id="{B6F15528-21DE-4FAA-801E-634DDDAF4B2B}" type="slidenum">
              <a:rPr lang="en-US" altLang="ko-KR" smtClean="0"/>
              <a:t>35</a:t>
            </a:fld>
            <a:endParaRPr lang="en-US" altLang="ko-K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8589" y="273933"/>
            <a:ext cx="10641965" cy="713740"/>
          </a:xfrm>
          <a:prstGeom prst="rect">
            <a:avLst/>
          </a:prstGeom>
        </p:spPr>
        <p:txBody>
          <a:bodyPr vert="horz" wrap="square" lIns="0" tIns="13970" rIns="0" bIns="0" rtlCol="0">
            <a:spAutoFit/>
          </a:bodyPr>
          <a:lstStyle/>
          <a:p>
            <a:pPr marL="12700">
              <a:lnSpc>
                <a:spcPct val="100000"/>
              </a:lnSpc>
              <a:spcBef>
                <a:spcPts val="110"/>
              </a:spcBef>
            </a:pPr>
            <a:r>
              <a:rPr spc="-235" dirty="0"/>
              <a:t>Lasso</a:t>
            </a:r>
            <a:r>
              <a:rPr spc="-120" dirty="0"/>
              <a:t> </a:t>
            </a:r>
            <a:r>
              <a:rPr spc="-215" dirty="0"/>
              <a:t>for</a:t>
            </a:r>
            <a:r>
              <a:rPr spc="-120" dirty="0"/>
              <a:t> </a:t>
            </a:r>
            <a:r>
              <a:rPr spc="-210" dirty="0"/>
              <a:t>feature</a:t>
            </a:r>
            <a:r>
              <a:rPr spc="-114" dirty="0"/>
              <a:t> </a:t>
            </a:r>
            <a:r>
              <a:rPr spc="-225" dirty="0"/>
              <a:t>selection</a:t>
            </a:r>
            <a:r>
              <a:rPr spc="-120" dirty="0"/>
              <a:t> </a:t>
            </a:r>
            <a:r>
              <a:rPr spc="-265" dirty="0"/>
              <a:t>in</a:t>
            </a:r>
            <a:r>
              <a:rPr spc="-114" dirty="0"/>
              <a:t> </a:t>
            </a:r>
            <a:r>
              <a:rPr spc="-250" dirty="0"/>
              <a:t>scikit-</a:t>
            </a:r>
            <a:r>
              <a:rPr spc="-80" dirty="0"/>
              <a:t>learn</a:t>
            </a:r>
          </a:p>
        </p:txBody>
      </p:sp>
      <p:grpSp>
        <p:nvGrpSpPr>
          <p:cNvPr id="3" name="object 3"/>
          <p:cNvGrpSpPr/>
          <p:nvPr/>
        </p:nvGrpSpPr>
        <p:grpSpPr>
          <a:xfrm>
            <a:off x="491289" y="1166859"/>
            <a:ext cx="14575155" cy="4749165"/>
            <a:chOff x="491289" y="1166859"/>
            <a:chExt cx="14575155" cy="4749165"/>
          </a:xfrm>
        </p:grpSpPr>
        <p:sp>
          <p:nvSpPr>
            <p:cNvPr id="4" name="object 4"/>
            <p:cNvSpPr/>
            <p:nvPr/>
          </p:nvSpPr>
          <p:spPr>
            <a:xfrm>
              <a:off x="491289" y="1166859"/>
              <a:ext cx="14575155" cy="4749165"/>
            </a:xfrm>
            <a:custGeom>
              <a:avLst/>
              <a:gdLst/>
              <a:ahLst/>
              <a:cxnLst/>
              <a:rect l="l" t="t" r="r" b="b"/>
              <a:pathLst>
                <a:path w="14575155" h="4749165">
                  <a:moveTo>
                    <a:pt x="14498413" y="4749130"/>
                  </a:moveTo>
                  <a:lnTo>
                    <a:pt x="76505" y="4749130"/>
                  </a:lnTo>
                  <a:lnTo>
                    <a:pt x="71180" y="4748606"/>
                  </a:lnTo>
                  <a:lnTo>
                    <a:pt x="31920" y="4732343"/>
                  </a:lnTo>
                  <a:lnTo>
                    <a:pt x="4175" y="4693616"/>
                  </a:lnTo>
                  <a:lnTo>
                    <a:pt x="0" y="4672625"/>
                  </a:lnTo>
                  <a:lnTo>
                    <a:pt x="0" y="4667249"/>
                  </a:lnTo>
                  <a:lnTo>
                    <a:pt x="0" y="76505"/>
                  </a:lnTo>
                  <a:lnTo>
                    <a:pt x="16786" y="31920"/>
                  </a:lnTo>
                  <a:lnTo>
                    <a:pt x="55513" y="4175"/>
                  </a:lnTo>
                  <a:lnTo>
                    <a:pt x="76505" y="0"/>
                  </a:lnTo>
                  <a:lnTo>
                    <a:pt x="14498413" y="0"/>
                  </a:lnTo>
                  <a:lnTo>
                    <a:pt x="14542998" y="16786"/>
                  </a:lnTo>
                  <a:lnTo>
                    <a:pt x="14570742" y="55513"/>
                  </a:lnTo>
                  <a:lnTo>
                    <a:pt x="14574918" y="76505"/>
                  </a:lnTo>
                  <a:lnTo>
                    <a:pt x="14574918" y="4672625"/>
                  </a:lnTo>
                  <a:lnTo>
                    <a:pt x="14558132" y="4717210"/>
                  </a:lnTo>
                  <a:lnTo>
                    <a:pt x="14519404" y="4744954"/>
                  </a:lnTo>
                  <a:lnTo>
                    <a:pt x="14503737" y="4748606"/>
                  </a:lnTo>
                  <a:lnTo>
                    <a:pt x="14498413" y="4749130"/>
                  </a:lnTo>
                  <a:close/>
                </a:path>
              </a:pathLst>
            </a:custGeom>
            <a:solidFill>
              <a:srgbClr val="F6F2EB"/>
            </a:solidFill>
          </p:spPr>
          <p:txBody>
            <a:bodyPr wrap="square" lIns="0" tIns="0" rIns="0" bIns="0" rtlCol="0"/>
            <a:lstStyle/>
            <a:p>
              <a:endParaRPr/>
            </a:p>
          </p:txBody>
        </p:sp>
        <p:sp>
          <p:nvSpPr>
            <p:cNvPr id="5" name="object 5"/>
            <p:cNvSpPr/>
            <p:nvPr/>
          </p:nvSpPr>
          <p:spPr>
            <a:xfrm>
              <a:off x="672261" y="1447520"/>
              <a:ext cx="5474335" cy="283210"/>
            </a:xfrm>
            <a:custGeom>
              <a:avLst/>
              <a:gdLst/>
              <a:ahLst/>
              <a:cxnLst/>
              <a:rect l="l" t="t" r="r" b="b"/>
              <a:pathLst>
                <a:path w="5474335" h="283210">
                  <a:moveTo>
                    <a:pt x="147980" y="10007"/>
                  </a:moveTo>
                  <a:lnTo>
                    <a:pt x="93332" y="10007"/>
                  </a:lnTo>
                  <a:lnTo>
                    <a:pt x="83096" y="10782"/>
                  </a:lnTo>
                  <a:lnTo>
                    <a:pt x="49060" y="36741"/>
                  </a:lnTo>
                  <a:lnTo>
                    <a:pt x="45821" y="55486"/>
                  </a:lnTo>
                  <a:lnTo>
                    <a:pt x="45821" y="64719"/>
                  </a:lnTo>
                  <a:lnTo>
                    <a:pt x="0" y="64719"/>
                  </a:lnTo>
                  <a:lnTo>
                    <a:pt x="0" y="100126"/>
                  </a:lnTo>
                  <a:lnTo>
                    <a:pt x="45821" y="100126"/>
                  </a:lnTo>
                  <a:lnTo>
                    <a:pt x="45821" y="231101"/>
                  </a:lnTo>
                  <a:lnTo>
                    <a:pt x="83540" y="231101"/>
                  </a:lnTo>
                  <a:lnTo>
                    <a:pt x="83540" y="100126"/>
                  </a:lnTo>
                  <a:lnTo>
                    <a:pt x="147980" y="100126"/>
                  </a:lnTo>
                  <a:lnTo>
                    <a:pt x="147980" y="64719"/>
                  </a:lnTo>
                  <a:lnTo>
                    <a:pt x="83540" y="64719"/>
                  </a:lnTo>
                  <a:lnTo>
                    <a:pt x="83540" y="51892"/>
                  </a:lnTo>
                  <a:lnTo>
                    <a:pt x="84328" y="49453"/>
                  </a:lnTo>
                  <a:lnTo>
                    <a:pt x="87553" y="46228"/>
                  </a:lnTo>
                  <a:lnTo>
                    <a:pt x="90017" y="45415"/>
                  </a:lnTo>
                  <a:lnTo>
                    <a:pt x="147980" y="45415"/>
                  </a:lnTo>
                  <a:lnTo>
                    <a:pt x="147980" y="10007"/>
                  </a:lnTo>
                  <a:close/>
                </a:path>
                <a:path w="5474335" h="283210">
                  <a:moveTo>
                    <a:pt x="319646" y="122580"/>
                  </a:moveTo>
                  <a:lnTo>
                    <a:pt x="310400" y="85559"/>
                  </a:lnTo>
                  <a:lnTo>
                    <a:pt x="272326" y="59791"/>
                  </a:lnTo>
                  <a:lnTo>
                    <a:pt x="259270" y="58712"/>
                  </a:lnTo>
                  <a:lnTo>
                    <a:pt x="242265" y="61010"/>
                  </a:lnTo>
                  <a:lnTo>
                    <a:pt x="229666" y="67945"/>
                  </a:lnTo>
                  <a:lnTo>
                    <a:pt x="221488" y="79489"/>
                  </a:lnTo>
                  <a:lnTo>
                    <a:pt x="217703" y="95643"/>
                  </a:lnTo>
                  <a:lnTo>
                    <a:pt x="217792" y="95161"/>
                  </a:lnTo>
                  <a:lnTo>
                    <a:pt x="223647" y="61569"/>
                  </a:lnTo>
                  <a:lnTo>
                    <a:pt x="186575" y="61569"/>
                  </a:lnTo>
                  <a:lnTo>
                    <a:pt x="186575" y="231101"/>
                  </a:lnTo>
                  <a:lnTo>
                    <a:pt x="224218" y="231101"/>
                  </a:lnTo>
                  <a:lnTo>
                    <a:pt x="224269" y="114147"/>
                  </a:lnTo>
                  <a:lnTo>
                    <a:pt x="226758" y="106311"/>
                  </a:lnTo>
                  <a:lnTo>
                    <a:pt x="236562" y="95643"/>
                  </a:lnTo>
                  <a:lnTo>
                    <a:pt x="237083" y="95161"/>
                  </a:lnTo>
                  <a:lnTo>
                    <a:pt x="244106" y="92430"/>
                  </a:lnTo>
                  <a:lnTo>
                    <a:pt x="262572" y="92430"/>
                  </a:lnTo>
                  <a:lnTo>
                    <a:pt x="269697" y="95161"/>
                  </a:lnTo>
                  <a:lnTo>
                    <a:pt x="279527" y="106070"/>
                  </a:lnTo>
                  <a:lnTo>
                    <a:pt x="279603" y="106311"/>
                  </a:lnTo>
                  <a:lnTo>
                    <a:pt x="282003" y="114147"/>
                  </a:lnTo>
                  <a:lnTo>
                    <a:pt x="282003" y="137985"/>
                  </a:lnTo>
                  <a:lnTo>
                    <a:pt x="319646" y="137985"/>
                  </a:lnTo>
                  <a:lnTo>
                    <a:pt x="319646" y="122580"/>
                  </a:lnTo>
                  <a:close/>
                </a:path>
                <a:path w="5474335" h="283210">
                  <a:moveTo>
                    <a:pt x="485305" y="124548"/>
                  </a:moveTo>
                  <a:lnTo>
                    <a:pt x="475107" y="86144"/>
                  </a:lnTo>
                  <a:lnTo>
                    <a:pt x="447662" y="63957"/>
                  </a:lnTo>
                  <a:lnTo>
                    <a:pt x="447662" y="114376"/>
                  </a:lnTo>
                  <a:lnTo>
                    <a:pt x="447662" y="178308"/>
                  </a:lnTo>
                  <a:lnTo>
                    <a:pt x="445185" y="186143"/>
                  </a:lnTo>
                  <a:lnTo>
                    <a:pt x="435343" y="196545"/>
                  </a:lnTo>
                  <a:lnTo>
                    <a:pt x="428142" y="199136"/>
                  </a:lnTo>
                  <a:lnTo>
                    <a:pt x="409054" y="199136"/>
                  </a:lnTo>
                  <a:lnTo>
                    <a:pt x="401828" y="196545"/>
                  </a:lnTo>
                  <a:lnTo>
                    <a:pt x="392036" y="186143"/>
                  </a:lnTo>
                  <a:lnTo>
                    <a:pt x="389585" y="178308"/>
                  </a:lnTo>
                  <a:lnTo>
                    <a:pt x="389585" y="114376"/>
                  </a:lnTo>
                  <a:lnTo>
                    <a:pt x="392036" y="106565"/>
                  </a:lnTo>
                  <a:lnTo>
                    <a:pt x="401828" y="96164"/>
                  </a:lnTo>
                  <a:lnTo>
                    <a:pt x="409054" y="93548"/>
                  </a:lnTo>
                  <a:lnTo>
                    <a:pt x="428142" y="93548"/>
                  </a:lnTo>
                  <a:lnTo>
                    <a:pt x="435343" y="96164"/>
                  </a:lnTo>
                  <a:lnTo>
                    <a:pt x="440245" y="101384"/>
                  </a:lnTo>
                  <a:lnTo>
                    <a:pt x="445185" y="106565"/>
                  </a:lnTo>
                  <a:lnTo>
                    <a:pt x="447662" y="63957"/>
                  </a:lnTo>
                  <a:lnTo>
                    <a:pt x="418617" y="58712"/>
                  </a:lnTo>
                  <a:lnTo>
                    <a:pt x="404114" y="59817"/>
                  </a:lnTo>
                  <a:lnTo>
                    <a:pt x="362038" y="86144"/>
                  </a:lnTo>
                  <a:lnTo>
                    <a:pt x="351891" y="124548"/>
                  </a:lnTo>
                  <a:lnTo>
                    <a:pt x="351878" y="167855"/>
                  </a:lnTo>
                  <a:lnTo>
                    <a:pt x="352996" y="182346"/>
                  </a:lnTo>
                  <a:lnTo>
                    <a:pt x="379768" y="223977"/>
                  </a:lnTo>
                  <a:lnTo>
                    <a:pt x="418617" y="233972"/>
                  </a:lnTo>
                  <a:lnTo>
                    <a:pt x="433095" y="232867"/>
                  </a:lnTo>
                  <a:lnTo>
                    <a:pt x="475107" y="206514"/>
                  </a:lnTo>
                  <a:lnTo>
                    <a:pt x="485305" y="167855"/>
                  </a:lnTo>
                  <a:lnTo>
                    <a:pt x="485305" y="124548"/>
                  </a:lnTo>
                  <a:close/>
                </a:path>
                <a:path w="5474335" h="283210">
                  <a:moveTo>
                    <a:pt x="663549" y="105371"/>
                  </a:moveTo>
                  <a:lnTo>
                    <a:pt x="662940" y="95567"/>
                  </a:lnTo>
                  <a:lnTo>
                    <a:pt x="661873" y="90398"/>
                  </a:lnTo>
                  <a:lnTo>
                    <a:pt x="661098" y="86690"/>
                  </a:lnTo>
                  <a:lnTo>
                    <a:pt x="660450" y="85013"/>
                  </a:lnTo>
                  <a:lnTo>
                    <a:pt x="660374" y="84810"/>
                  </a:lnTo>
                  <a:lnTo>
                    <a:pt x="626402" y="58712"/>
                  </a:lnTo>
                  <a:lnTo>
                    <a:pt x="618045" y="58712"/>
                  </a:lnTo>
                  <a:lnTo>
                    <a:pt x="611365" y="61010"/>
                  </a:lnTo>
                  <a:lnTo>
                    <a:pt x="610514" y="61569"/>
                  </a:lnTo>
                  <a:lnTo>
                    <a:pt x="599694" y="70840"/>
                  </a:lnTo>
                  <a:lnTo>
                    <a:pt x="599389" y="71767"/>
                  </a:lnTo>
                  <a:lnTo>
                    <a:pt x="598830" y="70205"/>
                  </a:lnTo>
                  <a:lnTo>
                    <a:pt x="597941" y="69469"/>
                  </a:lnTo>
                  <a:lnTo>
                    <a:pt x="597941" y="78765"/>
                  </a:lnTo>
                  <a:lnTo>
                    <a:pt x="597687" y="77038"/>
                  </a:lnTo>
                  <a:lnTo>
                    <a:pt x="597814" y="76669"/>
                  </a:lnTo>
                  <a:lnTo>
                    <a:pt x="597839" y="77038"/>
                  </a:lnTo>
                  <a:lnTo>
                    <a:pt x="597941" y="78765"/>
                  </a:lnTo>
                  <a:lnTo>
                    <a:pt x="597941" y="69469"/>
                  </a:lnTo>
                  <a:lnTo>
                    <a:pt x="593369" y="65633"/>
                  </a:lnTo>
                  <a:lnTo>
                    <a:pt x="587959" y="61010"/>
                  </a:lnTo>
                  <a:lnTo>
                    <a:pt x="581291" y="58712"/>
                  </a:lnTo>
                  <a:lnTo>
                    <a:pt x="565010" y="58712"/>
                  </a:lnTo>
                  <a:lnTo>
                    <a:pt x="558431" y="61010"/>
                  </a:lnTo>
                  <a:lnTo>
                    <a:pt x="558203" y="61010"/>
                  </a:lnTo>
                  <a:lnTo>
                    <a:pt x="551053" y="67246"/>
                  </a:lnTo>
                  <a:lnTo>
                    <a:pt x="552094" y="61569"/>
                  </a:lnTo>
                  <a:lnTo>
                    <a:pt x="546138" y="61569"/>
                  </a:lnTo>
                  <a:lnTo>
                    <a:pt x="546138" y="84455"/>
                  </a:lnTo>
                  <a:lnTo>
                    <a:pt x="544741" y="77038"/>
                  </a:lnTo>
                  <a:lnTo>
                    <a:pt x="544868" y="76669"/>
                  </a:lnTo>
                  <a:lnTo>
                    <a:pt x="544906" y="77038"/>
                  </a:lnTo>
                  <a:lnTo>
                    <a:pt x="545071" y="78765"/>
                  </a:lnTo>
                  <a:lnTo>
                    <a:pt x="546138" y="84455"/>
                  </a:lnTo>
                  <a:lnTo>
                    <a:pt x="546138" y="61569"/>
                  </a:lnTo>
                  <a:lnTo>
                    <a:pt x="517525" y="61569"/>
                  </a:lnTo>
                  <a:lnTo>
                    <a:pt x="517525" y="231101"/>
                  </a:lnTo>
                  <a:lnTo>
                    <a:pt x="553212" y="231101"/>
                  </a:lnTo>
                  <a:lnTo>
                    <a:pt x="553212" y="99631"/>
                  </a:lnTo>
                  <a:lnTo>
                    <a:pt x="554075" y="95948"/>
                  </a:lnTo>
                  <a:lnTo>
                    <a:pt x="557568" y="91516"/>
                  </a:lnTo>
                  <a:lnTo>
                    <a:pt x="560095" y="90398"/>
                  </a:lnTo>
                  <a:lnTo>
                    <a:pt x="566813" y="90398"/>
                  </a:lnTo>
                  <a:lnTo>
                    <a:pt x="569328" y="91516"/>
                  </a:lnTo>
                  <a:lnTo>
                    <a:pt x="573024" y="95948"/>
                  </a:lnTo>
                  <a:lnTo>
                    <a:pt x="574179" y="99631"/>
                  </a:lnTo>
                  <a:lnTo>
                    <a:pt x="574268" y="231101"/>
                  </a:lnTo>
                  <a:lnTo>
                    <a:pt x="606806" y="231101"/>
                  </a:lnTo>
                  <a:lnTo>
                    <a:pt x="606831" y="99631"/>
                  </a:lnTo>
                  <a:lnTo>
                    <a:pt x="607860" y="95948"/>
                  </a:lnTo>
                  <a:lnTo>
                    <a:pt x="611644" y="91516"/>
                  </a:lnTo>
                  <a:lnTo>
                    <a:pt x="614197" y="90398"/>
                  </a:lnTo>
                  <a:lnTo>
                    <a:pt x="620915" y="90398"/>
                  </a:lnTo>
                  <a:lnTo>
                    <a:pt x="623379" y="91516"/>
                  </a:lnTo>
                  <a:lnTo>
                    <a:pt x="626770" y="95948"/>
                  </a:lnTo>
                  <a:lnTo>
                    <a:pt x="627786" y="99631"/>
                  </a:lnTo>
                  <a:lnTo>
                    <a:pt x="627862" y="231101"/>
                  </a:lnTo>
                  <a:lnTo>
                    <a:pt x="663549" y="231101"/>
                  </a:lnTo>
                  <a:lnTo>
                    <a:pt x="663549" y="105371"/>
                  </a:lnTo>
                  <a:close/>
                </a:path>
                <a:path w="5474335" h="283210">
                  <a:moveTo>
                    <a:pt x="4575556" y="16522"/>
                  </a:moveTo>
                  <a:lnTo>
                    <a:pt x="4573244" y="10922"/>
                  </a:lnTo>
                  <a:lnTo>
                    <a:pt x="4564011" y="2197"/>
                  </a:lnTo>
                  <a:lnTo>
                    <a:pt x="4558131" y="0"/>
                  </a:lnTo>
                  <a:lnTo>
                    <a:pt x="4538129" y="0"/>
                  </a:lnTo>
                  <a:lnTo>
                    <a:pt x="4532249" y="2197"/>
                  </a:lnTo>
                  <a:lnTo>
                    <a:pt x="4523016" y="10922"/>
                  </a:lnTo>
                  <a:lnTo>
                    <a:pt x="4520704" y="16522"/>
                  </a:lnTo>
                  <a:lnTo>
                    <a:pt x="4520704" y="30276"/>
                  </a:lnTo>
                  <a:lnTo>
                    <a:pt x="4522965" y="35826"/>
                  </a:lnTo>
                  <a:lnTo>
                    <a:pt x="4527486" y="40030"/>
                  </a:lnTo>
                  <a:lnTo>
                    <a:pt x="4532058" y="44170"/>
                  </a:lnTo>
                  <a:lnTo>
                    <a:pt x="4537989" y="46253"/>
                  </a:lnTo>
                  <a:lnTo>
                    <a:pt x="4558042" y="46253"/>
                  </a:lnTo>
                  <a:lnTo>
                    <a:pt x="4563897" y="44170"/>
                  </a:lnTo>
                  <a:lnTo>
                    <a:pt x="4573244" y="35826"/>
                  </a:lnTo>
                  <a:lnTo>
                    <a:pt x="4575556" y="30276"/>
                  </a:lnTo>
                  <a:lnTo>
                    <a:pt x="4575556" y="16522"/>
                  </a:lnTo>
                  <a:close/>
                </a:path>
                <a:path w="5474335" h="283210">
                  <a:moveTo>
                    <a:pt x="4622851" y="195707"/>
                  </a:moveTo>
                  <a:lnTo>
                    <a:pt x="4569815" y="195707"/>
                  </a:lnTo>
                  <a:lnTo>
                    <a:pt x="4569815" y="61569"/>
                  </a:lnTo>
                  <a:lnTo>
                    <a:pt x="4483417" y="61569"/>
                  </a:lnTo>
                  <a:lnTo>
                    <a:pt x="4483417" y="96977"/>
                  </a:lnTo>
                  <a:lnTo>
                    <a:pt x="4532109" y="96977"/>
                  </a:lnTo>
                  <a:lnTo>
                    <a:pt x="4532109" y="195707"/>
                  </a:lnTo>
                  <a:lnTo>
                    <a:pt x="4476280" y="195707"/>
                  </a:lnTo>
                  <a:lnTo>
                    <a:pt x="4476280" y="231101"/>
                  </a:lnTo>
                  <a:lnTo>
                    <a:pt x="4622851" y="231101"/>
                  </a:lnTo>
                  <a:lnTo>
                    <a:pt x="4622851" y="195707"/>
                  </a:lnTo>
                  <a:close/>
                </a:path>
                <a:path w="5474335" h="283210">
                  <a:moveTo>
                    <a:pt x="4790186" y="105371"/>
                  </a:moveTo>
                  <a:lnTo>
                    <a:pt x="4789576" y="95567"/>
                  </a:lnTo>
                  <a:lnTo>
                    <a:pt x="4788509" y="90398"/>
                  </a:lnTo>
                  <a:lnTo>
                    <a:pt x="4787735" y="86690"/>
                  </a:lnTo>
                  <a:lnTo>
                    <a:pt x="4787087" y="85013"/>
                  </a:lnTo>
                  <a:lnTo>
                    <a:pt x="4787011" y="84810"/>
                  </a:lnTo>
                  <a:lnTo>
                    <a:pt x="4753038" y="58712"/>
                  </a:lnTo>
                  <a:lnTo>
                    <a:pt x="4744682" y="58712"/>
                  </a:lnTo>
                  <a:lnTo>
                    <a:pt x="4738001" y="61010"/>
                  </a:lnTo>
                  <a:lnTo>
                    <a:pt x="4737151" y="61569"/>
                  </a:lnTo>
                  <a:lnTo>
                    <a:pt x="4726330" y="70840"/>
                  </a:lnTo>
                  <a:lnTo>
                    <a:pt x="4726025" y="71767"/>
                  </a:lnTo>
                  <a:lnTo>
                    <a:pt x="4725467" y="70205"/>
                  </a:lnTo>
                  <a:lnTo>
                    <a:pt x="4724590" y="69481"/>
                  </a:lnTo>
                  <a:lnTo>
                    <a:pt x="4724590" y="78765"/>
                  </a:lnTo>
                  <a:lnTo>
                    <a:pt x="4724336" y="77038"/>
                  </a:lnTo>
                  <a:lnTo>
                    <a:pt x="4724451" y="76669"/>
                  </a:lnTo>
                  <a:lnTo>
                    <a:pt x="4724476" y="77038"/>
                  </a:lnTo>
                  <a:lnTo>
                    <a:pt x="4724590" y="78765"/>
                  </a:lnTo>
                  <a:lnTo>
                    <a:pt x="4724590" y="69481"/>
                  </a:lnTo>
                  <a:lnTo>
                    <a:pt x="4720018" y="65633"/>
                  </a:lnTo>
                  <a:lnTo>
                    <a:pt x="4714595" y="61010"/>
                  </a:lnTo>
                  <a:lnTo>
                    <a:pt x="4707928" y="58712"/>
                  </a:lnTo>
                  <a:lnTo>
                    <a:pt x="4691646" y="58712"/>
                  </a:lnTo>
                  <a:lnTo>
                    <a:pt x="4685081" y="61010"/>
                  </a:lnTo>
                  <a:lnTo>
                    <a:pt x="4684839" y="61010"/>
                  </a:lnTo>
                  <a:lnTo>
                    <a:pt x="4677689" y="67246"/>
                  </a:lnTo>
                  <a:lnTo>
                    <a:pt x="4678731" y="61569"/>
                  </a:lnTo>
                  <a:lnTo>
                    <a:pt x="4671695" y="61569"/>
                  </a:lnTo>
                  <a:lnTo>
                    <a:pt x="4671695" y="78689"/>
                  </a:lnTo>
                  <a:lnTo>
                    <a:pt x="4671390" y="77038"/>
                  </a:lnTo>
                  <a:lnTo>
                    <a:pt x="4671517" y="76669"/>
                  </a:lnTo>
                  <a:lnTo>
                    <a:pt x="4671542" y="77038"/>
                  </a:lnTo>
                  <a:lnTo>
                    <a:pt x="4671695" y="78689"/>
                  </a:lnTo>
                  <a:lnTo>
                    <a:pt x="4671695" y="61569"/>
                  </a:lnTo>
                  <a:lnTo>
                    <a:pt x="4644174" y="61569"/>
                  </a:lnTo>
                  <a:lnTo>
                    <a:pt x="4644174" y="231101"/>
                  </a:lnTo>
                  <a:lnTo>
                    <a:pt x="4679848" y="231101"/>
                  </a:lnTo>
                  <a:lnTo>
                    <a:pt x="4679848" y="99631"/>
                  </a:lnTo>
                  <a:lnTo>
                    <a:pt x="4680712" y="95948"/>
                  </a:lnTo>
                  <a:lnTo>
                    <a:pt x="4684217" y="91516"/>
                  </a:lnTo>
                  <a:lnTo>
                    <a:pt x="4686732" y="90398"/>
                  </a:lnTo>
                  <a:lnTo>
                    <a:pt x="4693450" y="90398"/>
                  </a:lnTo>
                  <a:lnTo>
                    <a:pt x="4695977" y="91516"/>
                  </a:lnTo>
                  <a:lnTo>
                    <a:pt x="4699673" y="95948"/>
                  </a:lnTo>
                  <a:lnTo>
                    <a:pt x="4700816" y="99631"/>
                  </a:lnTo>
                  <a:lnTo>
                    <a:pt x="4700905" y="231101"/>
                  </a:lnTo>
                  <a:lnTo>
                    <a:pt x="4733442" y="231101"/>
                  </a:lnTo>
                  <a:lnTo>
                    <a:pt x="4733468" y="99631"/>
                  </a:lnTo>
                  <a:lnTo>
                    <a:pt x="4734496" y="95948"/>
                  </a:lnTo>
                  <a:lnTo>
                    <a:pt x="4738281" y="91516"/>
                  </a:lnTo>
                  <a:lnTo>
                    <a:pt x="4740834" y="90398"/>
                  </a:lnTo>
                  <a:lnTo>
                    <a:pt x="4747552" y="90398"/>
                  </a:lnTo>
                  <a:lnTo>
                    <a:pt x="4750016" y="91516"/>
                  </a:lnTo>
                  <a:lnTo>
                    <a:pt x="4753407" y="95948"/>
                  </a:lnTo>
                  <a:lnTo>
                    <a:pt x="4754423" y="99631"/>
                  </a:lnTo>
                  <a:lnTo>
                    <a:pt x="4754511" y="231101"/>
                  </a:lnTo>
                  <a:lnTo>
                    <a:pt x="4790186" y="231101"/>
                  </a:lnTo>
                  <a:lnTo>
                    <a:pt x="4790186" y="105371"/>
                  </a:lnTo>
                  <a:close/>
                </a:path>
                <a:path w="5474335" h="283210">
                  <a:moveTo>
                    <a:pt x="4955845" y="123151"/>
                  </a:moveTo>
                  <a:lnTo>
                    <a:pt x="4947183" y="85877"/>
                  </a:lnTo>
                  <a:lnTo>
                    <a:pt x="4918202" y="61899"/>
                  </a:lnTo>
                  <a:lnTo>
                    <a:pt x="4918202" y="114147"/>
                  </a:lnTo>
                  <a:lnTo>
                    <a:pt x="4918202" y="178536"/>
                  </a:lnTo>
                  <a:lnTo>
                    <a:pt x="4915801" y="186512"/>
                  </a:lnTo>
                  <a:lnTo>
                    <a:pt x="4906276" y="196964"/>
                  </a:lnTo>
                  <a:lnTo>
                    <a:pt x="4899190" y="199694"/>
                  </a:lnTo>
                  <a:lnTo>
                    <a:pt x="4881042" y="199694"/>
                  </a:lnTo>
                  <a:lnTo>
                    <a:pt x="4861382" y="178536"/>
                  </a:lnTo>
                  <a:lnTo>
                    <a:pt x="4861382" y="114147"/>
                  </a:lnTo>
                  <a:lnTo>
                    <a:pt x="4863795" y="106705"/>
                  </a:lnTo>
                  <a:lnTo>
                    <a:pt x="4872660" y="97193"/>
                  </a:lnTo>
                  <a:lnTo>
                    <a:pt x="4872964" y="96850"/>
                  </a:lnTo>
                  <a:lnTo>
                    <a:pt x="4874298" y="95631"/>
                  </a:lnTo>
                  <a:lnTo>
                    <a:pt x="4881042" y="92989"/>
                  </a:lnTo>
                  <a:lnTo>
                    <a:pt x="4899190" y="92989"/>
                  </a:lnTo>
                  <a:lnTo>
                    <a:pt x="4906188" y="95631"/>
                  </a:lnTo>
                  <a:lnTo>
                    <a:pt x="4915801" y="106172"/>
                  </a:lnTo>
                  <a:lnTo>
                    <a:pt x="4918202" y="114147"/>
                  </a:lnTo>
                  <a:lnTo>
                    <a:pt x="4918202" y="61899"/>
                  </a:lnTo>
                  <a:lnTo>
                    <a:pt x="4911166" y="59804"/>
                  </a:lnTo>
                  <a:lnTo>
                    <a:pt x="4898606" y="58712"/>
                  </a:lnTo>
                  <a:lnTo>
                    <a:pt x="4889131" y="59347"/>
                  </a:lnTo>
                  <a:lnTo>
                    <a:pt x="4859020" y="75793"/>
                  </a:lnTo>
                  <a:lnTo>
                    <a:pt x="4861242" y="61569"/>
                  </a:lnTo>
                  <a:lnTo>
                    <a:pt x="4854740" y="61569"/>
                  </a:lnTo>
                  <a:lnTo>
                    <a:pt x="4854740" y="195986"/>
                  </a:lnTo>
                  <a:lnTo>
                    <a:pt x="4854702" y="196964"/>
                  </a:lnTo>
                  <a:lnTo>
                    <a:pt x="4854587" y="199694"/>
                  </a:lnTo>
                  <a:lnTo>
                    <a:pt x="4854384" y="204355"/>
                  </a:lnTo>
                  <a:lnTo>
                    <a:pt x="4854740" y="195986"/>
                  </a:lnTo>
                  <a:lnTo>
                    <a:pt x="4854740" y="61569"/>
                  </a:lnTo>
                  <a:lnTo>
                    <a:pt x="4823599" y="61569"/>
                  </a:lnTo>
                  <a:lnTo>
                    <a:pt x="4823599" y="282676"/>
                  </a:lnTo>
                  <a:lnTo>
                    <a:pt x="4861242" y="282676"/>
                  </a:lnTo>
                  <a:lnTo>
                    <a:pt x="4861039" y="229565"/>
                  </a:lnTo>
                  <a:lnTo>
                    <a:pt x="4859020" y="216979"/>
                  </a:lnTo>
                  <a:lnTo>
                    <a:pt x="4859693" y="218173"/>
                  </a:lnTo>
                  <a:lnTo>
                    <a:pt x="4898606" y="233972"/>
                  </a:lnTo>
                  <a:lnTo>
                    <a:pt x="4911166" y="232867"/>
                  </a:lnTo>
                  <a:lnTo>
                    <a:pt x="4947183" y="206794"/>
                  </a:lnTo>
                  <a:lnTo>
                    <a:pt x="4955845" y="169252"/>
                  </a:lnTo>
                  <a:lnTo>
                    <a:pt x="4955845" y="123151"/>
                  </a:lnTo>
                  <a:close/>
                </a:path>
                <a:path w="5474335" h="283210">
                  <a:moveTo>
                    <a:pt x="5127790" y="124548"/>
                  </a:moveTo>
                  <a:lnTo>
                    <a:pt x="5117604" y="86144"/>
                  </a:lnTo>
                  <a:lnTo>
                    <a:pt x="5090147" y="63957"/>
                  </a:lnTo>
                  <a:lnTo>
                    <a:pt x="5090147" y="114376"/>
                  </a:lnTo>
                  <a:lnTo>
                    <a:pt x="5090147" y="178308"/>
                  </a:lnTo>
                  <a:lnTo>
                    <a:pt x="5087683" y="186143"/>
                  </a:lnTo>
                  <a:lnTo>
                    <a:pt x="5077841" y="196545"/>
                  </a:lnTo>
                  <a:lnTo>
                    <a:pt x="5070627" y="199136"/>
                  </a:lnTo>
                  <a:lnTo>
                    <a:pt x="5051552" y="199136"/>
                  </a:lnTo>
                  <a:lnTo>
                    <a:pt x="5044325" y="196545"/>
                  </a:lnTo>
                  <a:lnTo>
                    <a:pt x="5034521" y="186143"/>
                  </a:lnTo>
                  <a:lnTo>
                    <a:pt x="5032083" y="178308"/>
                  </a:lnTo>
                  <a:lnTo>
                    <a:pt x="5032083" y="114376"/>
                  </a:lnTo>
                  <a:lnTo>
                    <a:pt x="5034521" y="106565"/>
                  </a:lnTo>
                  <a:lnTo>
                    <a:pt x="5044325" y="96164"/>
                  </a:lnTo>
                  <a:lnTo>
                    <a:pt x="5051552" y="93548"/>
                  </a:lnTo>
                  <a:lnTo>
                    <a:pt x="5070627" y="93548"/>
                  </a:lnTo>
                  <a:lnTo>
                    <a:pt x="5077841" y="96164"/>
                  </a:lnTo>
                  <a:lnTo>
                    <a:pt x="5082730" y="101384"/>
                  </a:lnTo>
                  <a:lnTo>
                    <a:pt x="5087683" y="106565"/>
                  </a:lnTo>
                  <a:lnTo>
                    <a:pt x="5090147" y="63957"/>
                  </a:lnTo>
                  <a:lnTo>
                    <a:pt x="5061115" y="58712"/>
                  </a:lnTo>
                  <a:lnTo>
                    <a:pt x="5046611" y="59817"/>
                  </a:lnTo>
                  <a:lnTo>
                    <a:pt x="5004536" y="86144"/>
                  </a:lnTo>
                  <a:lnTo>
                    <a:pt x="4994389" y="124548"/>
                  </a:lnTo>
                  <a:lnTo>
                    <a:pt x="4994364" y="167855"/>
                  </a:lnTo>
                  <a:lnTo>
                    <a:pt x="4995494" y="182346"/>
                  </a:lnTo>
                  <a:lnTo>
                    <a:pt x="5022253" y="223977"/>
                  </a:lnTo>
                  <a:lnTo>
                    <a:pt x="5061115" y="233972"/>
                  </a:lnTo>
                  <a:lnTo>
                    <a:pt x="5075593" y="232867"/>
                  </a:lnTo>
                  <a:lnTo>
                    <a:pt x="5117604" y="206514"/>
                  </a:lnTo>
                  <a:lnTo>
                    <a:pt x="5121300" y="199136"/>
                  </a:lnTo>
                  <a:lnTo>
                    <a:pt x="5123269" y="195224"/>
                  </a:lnTo>
                  <a:lnTo>
                    <a:pt x="5126660" y="182346"/>
                  </a:lnTo>
                  <a:lnTo>
                    <a:pt x="5127790" y="167855"/>
                  </a:lnTo>
                  <a:lnTo>
                    <a:pt x="5127790" y="124548"/>
                  </a:lnTo>
                  <a:close/>
                </a:path>
                <a:path w="5474335" h="283210">
                  <a:moveTo>
                    <a:pt x="5306047" y="122580"/>
                  </a:moveTo>
                  <a:lnTo>
                    <a:pt x="5305018" y="108788"/>
                  </a:lnTo>
                  <a:lnTo>
                    <a:pt x="5301932" y="96456"/>
                  </a:lnTo>
                  <a:lnTo>
                    <a:pt x="5300027" y="92430"/>
                  </a:lnTo>
                  <a:lnTo>
                    <a:pt x="5296789" y="85559"/>
                  </a:lnTo>
                  <a:lnTo>
                    <a:pt x="5258714" y="59791"/>
                  </a:lnTo>
                  <a:lnTo>
                    <a:pt x="5245659" y="58712"/>
                  </a:lnTo>
                  <a:lnTo>
                    <a:pt x="5228653" y="61010"/>
                  </a:lnTo>
                  <a:lnTo>
                    <a:pt x="5216068" y="67945"/>
                  </a:lnTo>
                  <a:lnTo>
                    <a:pt x="5207876" y="79489"/>
                  </a:lnTo>
                  <a:lnTo>
                    <a:pt x="5204104" y="95643"/>
                  </a:lnTo>
                  <a:lnTo>
                    <a:pt x="5204180" y="95161"/>
                  </a:lnTo>
                  <a:lnTo>
                    <a:pt x="5210048" y="61569"/>
                  </a:lnTo>
                  <a:lnTo>
                    <a:pt x="5172964" y="61569"/>
                  </a:lnTo>
                  <a:lnTo>
                    <a:pt x="5172964" y="231101"/>
                  </a:lnTo>
                  <a:lnTo>
                    <a:pt x="5210607" y="231101"/>
                  </a:lnTo>
                  <a:lnTo>
                    <a:pt x="5210670" y="114147"/>
                  </a:lnTo>
                  <a:lnTo>
                    <a:pt x="5213147" y="106311"/>
                  </a:lnTo>
                  <a:lnTo>
                    <a:pt x="5222951" y="95643"/>
                  </a:lnTo>
                  <a:lnTo>
                    <a:pt x="5223484" y="95161"/>
                  </a:lnTo>
                  <a:lnTo>
                    <a:pt x="5230495" y="92430"/>
                  </a:lnTo>
                  <a:lnTo>
                    <a:pt x="5248973" y="92430"/>
                  </a:lnTo>
                  <a:lnTo>
                    <a:pt x="5256085" y="95161"/>
                  </a:lnTo>
                  <a:lnTo>
                    <a:pt x="5265928" y="106070"/>
                  </a:lnTo>
                  <a:lnTo>
                    <a:pt x="5266004" y="106311"/>
                  </a:lnTo>
                  <a:lnTo>
                    <a:pt x="5268404" y="114147"/>
                  </a:lnTo>
                  <a:lnTo>
                    <a:pt x="5268404" y="137985"/>
                  </a:lnTo>
                  <a:lnTo>
                    <a:pt x="5306047" y="137985"/>
                  </a:lnTo>
                  <a:lnTo>
                    <a:pt x="5306047" y="122580"/>
                  </a:lnTo>
                  <a:close/>
                </a:path>
                <a:path w="5474335" h="283210">
                  <a:moveTo>
                    <a:pt x="5474005" y="61569"/>
                  </a:moveTo>
                  <a:lnTo>
                    <a:pt x="5410962" y="61569"/>
                  </a:lnTo>
                  <a:lnTo>
                    <a:pt x="5410962" y="18618"/>
                  </a:lnTo>
                  <a:lnTo>
                    <a:pt x="5373255" y="18618"/>
                  </a:lnTo>
                  <a:lnTo>
                    <a:pt x="5373255" y="61569"/>
                  </a:lnTo>
                  <a:lnTo>
                    <a:pt x="5328818" y="61569"/>
                  </a:lnTo>
                  <a:lnTo>
                    <a:pt x="5328818" y="96977"/>
                  </a:lnTo>
                  <a:lnTo>
                    <a:pt x="5373255" y="96977"/>
                  </a:lnTo>
                  <a:lnTo>
                    <a:pt x="5373255" y="183603"/>
                  </a:lnTo>
                  <a:lnTo>
                    <a:pt x="5374068" y="194144"/>
                  </a:lnTo>
                  <a:lnTo>
                    <a:pt x="5401881" y="227952"/>
                  </a:lnTo>
                  <a:lnTo>
                    <a:pt x="5422227" y="231101"/>
                  </a:lnTo>
                  <a:lnTo>
                    <a:pt x="5471134" y="231101"/>
                  </a:lnTo>
                  <a:lnTo>
                    <a:pt x="5471134" y="195707"/>
                  </a:lnTo>
                  <a:lnTo>
                    <a:pt x="5418036" y="195707"/>
                  </a:lnTo>
                  <a:lnTo>
                    <a:pt x="5415089" y="194818"/>
                  </a:lnTo>
                  <a:lnTo>
                    <a:pt x="5411775" y="191274"/>
                  </a:lnTo>
                  <a:lnTo>
                    <a:pt x="5410962" y="188125"/>
                  </a:lnTo>
                  <a:lnTo>
                    <a:pt x="5410962" y="96977"/>
                  </a:lnTo>
                  <a:lnTo>
                    <a:pt x="5474005" y="96977"/>
                  </a:lnTo>
                  <a:lnTo>
                    <a:pt x="5474005" y="61569"/>
                  </a:lnTo>
                  <a:close/>
                </a:path>
              </a:pathLst>
            </a:custGeom>
            <a:solidFill>
              <a:srgbClr val="007BB5"/>
            </a:solidFill>
          </p:spPr>
          <p:txBody>
            <a:bodyPr wrap="square" lIns="0" tIns="0" rIns="0" bIns="0" rtlCol="0"/>
            <a:lstStyle/>
            <a:p>
              <a:endParaRPr/>
            </a:p>
          </p:txBody>
        </p:sp>
      </p:grpSp>
      <p:sp>
        <p:nvSpPr>
          <p:cNvPr id="6" name="object 6"/>
          <p:cNvSpPr txBox="1"/>
          <p:nvPr/>
        </p:nvSpPr>
        <p:spPr>
          <a:xfrm>
            <a:off x="642352" y="1231947"/>
            <a:ext cx="8794750" cy="4447540"/>
          </a:xfrm>
          <a:prstGeom prst="rect">
            <a:avLst/>
          </a:prstGeom>
        </p:spPr>
        <p:txBody>
          <a:bodyPr vert="horz" wrap="square" lIns="0" tIns="160655" rIns="0" bIns="0" rtlCol="0">
            <a:spAutoFit/>
          </a:bodyPr>
          <a:lstStyle/>
          <a:p>
            <a:pPr marL="871855">
              <a:lnSpc>
                <a:spcPct val="100000"/>
              </a:lnSpc>
              <a:spcBef>
                <a:spcPts val="1265"/>
              </a:spcBef>
              <a:tabLst>
                <a:tab pos="5686425" algn="l"/>
              </a:tabLst>
            </a:pPr>
            <a:r>
              <a:rPr sz="2250" spc="-10" dirty="0">
                <a:solidFill>
                  <a:srgbClr val="04182D"/>
                </a:solidFill>
                <a:latin typeface="Courier New"/>
                <a:cs typeface="Courier New"/>
              </a:rPr>
              <a:t>sklearn.linear_model</a:t>
            </a:r>
            <a:r>
              <a:rPr sz="2250" dirty="0">
                <a:solidFill>
                  <a:srgbClr val="04182D"/>
                </a:solidFill>
                <a:latin typeface="Courier New"/>
                <a:cs typeface="Courier New"/>
              </a:rPr>
              <a:t>	</a:t>
            </a:r>
            <a:r>
              <a:rPr sz="2250" spc="-10" dirty="0">
                <a:solidFill>
                  <a:srgbClr val="04182D"/>
                </a:solidFill>
                <a:latin typeface="Courier New"/>
                <a:cs typeface="Courier New"/>
              </a:rPr>
              <a:t>Lasso</a:t>
            </a:r>
            <a:endParaRPr sz="2250">
              <a:latin typeface="Courier New"/>
              <a:cs typeface="Courier New"/>
            </a:endParaRPr>
          </a:p>
          <a:p>
            <a:pPr marL="12700" marR="864235">
              <a:lnSpc>
                <a:spcPct val="143300"/>
              </a:lnSpc>
            </a:pPr>
            <a:r>
              <a:rPr sz="2250" dirty="0">
                <a:solidFill>
                  <a:srgbClr val="04182D"/>
                </a:solidFill>
                <a:latin typeface="Courier New"/>
                <a:cs typeface="Courier New"/>
              </a:rPr>
              <a:t>X</a:t>
            </a:r>
            <a:r>
              <a:rPr sz="2250" spc="-5" dirty="0">
                <a:solidFill>
                  <a:srgbClr val="04182D"/>
                </a:solidFill>
                <a:latin typeface="Courier New"/>
                <a:cs typeface="Courier New"/>
              </a:rPr>
              <a:t> </a:t>
            </a:r>
            <a:r>
              <a:rPr sz="2250" dirty="0">
                <a:solidFill>
                  <a:srgbClr val="04182D"/>
                </a:solidFill>
                <a:latin typeface="Courier New"/>
                <a:cs typeface="Courier New"/>
              </a:rPr>
              <a:t>=</a:t>
            </a:r>
            <a:r>
              <a:rPr sz="2250" spc="-5" dirty="0">
                <a:solidFill>
                  <a:srgbClr val="04182D"/>
                </a:solidFill>
                <a:latin typeface="Courier New"/>
                <a:cs typeface="Courier New"/>
              </a:rPr>
              <a:t> </a:t>
            </a:r>
            <a:r>
              <a:rPr sz="2250" dirty="0">
                <a:solidFill>
                  <a:srgbClr val="04182D"/>
                </a:solidFill>
                <a:latin typeface="Courier New"/>
                <a:cs typeface="Courier New"/>
              </a:rPr>
              <a:t>diabetes_df.drop(</a:t>
            </a:r>
            <a:r>
              <a:rPr sz="2250" dirty="0">
                <a:solidFill>
                  <a:srgbClr val="BE2F72"/>
                </a:solidFill>
                <a:latin typeface="Courier New"/>
                <a:cs typeface="Courier New"/>
              </a:rPr>
              <a:t>"glucose"</a:t>
            </a:r>
            <a:r>
              <a:rPr sz="2250" dirty="0">
                <a:solidFill>
                  <a:srgbClr val="04182D"/>
                </a:solidFill>
                <a:latin typeface="Courier New"/>
                <a:cs typeface="Courier New"/>
              </a:rPr>
              <a:t>, </a:t>
            </a:r>
            <a:r>
              <a:rPr sz="2250" spc="-10" dirty="0">
                <a:solidFill>
                  <a:srgbClr val="04182D"/>
                </a:solidFill>
                <a:latin typeface="Courier New"/>
                <a:cs typeface="Courier New"/>
              </a:rPr>
              <a:t>axis=</a:t>
            </a:r>
            <a:r>
              <a:rPr sz="2250" spc="-10" dirty="0">
                <a:solidFill>
                  <a:srgbClr val="BE2F72"/>
                </a:solidFill>
                <a:latin typeface="Courier New"/>
                <a:cs typeface="Courier New"/>
              </a:rPr>
              <a:t>1</a:t>
            </a:r>
            <a:r>
              <a:rPr sz="2250" spc="-10" dirty="0">
                <a:solidFill>
                  <a:srgbClr val="04182D"/>
                </a:solidFill>
                <a:latin typeface="Courier New"/>
                <a:cs typeface="Courier New"/>
              </a:rPr>
              <a:t>).values </a:t>
            </a:r>
            <a:r>
              <a:rPr sz="2250" dirty="0">
                <a:solidFill>
                  <a:srgbClr val="04182D"/>
                </a:solidFill>
                <a:latin typeface="Courier New"/>
                <a:cs typeface="Courier New"/>
              </a:rPr>
              <a:t>y = </a:t>
            </a:r>
            <a:r>
              <a:rPr sz="2250" spc="-10" dirty="0">
                <a:solidFill>
                  <a:srgbClr val="04182D"/>
                </a:solidFill>
                <a:latin typeface="Courier New"/>
                <a:cs typeface="Courier New"/>
              </a:rPr>
              <a:t>diabetes_df[</a:t>
            </a:r>
            <a:r>
              <a:rPr sz="2250" spc="-10" dirty="0">
                <a:solidFill>
                  <a:srgbClr val="BE2F72"/>
                </a:solidFill>
                <a:latin typeface="Courier New"/>
                <a:cs typeface="Courier New"/>
              </a:rPr>
              <a:t>"glucose"</a:t>
            </a:r>
            <a:r>
              <a:rPr sz="2250" spc="-10" dirty="0">
                <a:solidFill>
                  <a:srgbClr val="04182D"/>
                </a:solidFill>
                <a:latin typeface="Courier New"/>
                <a:cs typeface="Courier New"/>
              </a:rPr>
              <a:t>].values</a:t>
            </a:r>
            <a:endParaRPr sz="2250">
              <a:latin typeface="Courier New"/>
              <a:cs typeface="Courier New"/>
            </a:endParaRPr>
          </a:p>
          <a:p>
            <a:pPr marL="12700" marR="5080">
              <a:lnSpc>
                <a:spcPct val="143300"/>
              </a:lnSpc>
            </a:pPr>
            <a:r>
              <a:rPr sz="2250" dirty="0">
                <a:solidFill>
                  <a:srgbClr val="04182D"/>
                </a:solidFill>
                <a:latin typeface="Courier New"/>
                <a:cs typeface="Courier New"/>
              </a:rPr>
              <a:t>names</a:t>
            </a:r>
            <a:r>
              <a:rPr sz="2250" spc="-5" dirty="0">
                <a:solidFill>
                  <a:srgbClr val="04182D"/>
                </a:solidFill>
                <a:latin typeface="Courier New"/>
                <a:cs typeface="Courier New"/>
              </a:rPr>
              <a:t> </a:t>
            </a:r>
            <a:r>
              <a:rPr sz="2250" dirty="0">
                <a:solidFill>
                  <a:srgbClr val="04182D"/>
                </a:solidFill>
                <a:latin typeface="Courier New"/>
                <a:cs typeface="Courier New"/>
              </a:rPr>
              <a:t>=</a:t>
            </a:r>
            <a:r>
              <a:rPr sz="2250" spc="-5" dirty="0">
                <a:solidFill>
                  <a:srgbClr val="04182D"/>
                </a:solidFill>
                <a:latin typeface="Courier New"/>
                <a:cs typeface="Courier New"/>
              </a:rPr>
              <a:t> </a:t>
            </a:r>
            <a:r>
              <a:rPr sz="2250" dirty="0">
                <a:solidFill>
                  <a:srgbClr val="04182D"/>
                </a:solidFill>
                <a:latin typeface="Courier New"/>
                <a:cs typeface="Courier New"/>
              </a:rPr>
              <a:t>diabetes_df.drop(</a:t>
            </a:r>
            <a:r>
              <a:rPr sz="2250" dirty="0">
                <a:solidFill>
                  <a:srgbClr val="BE2F72"/>
                </a:solidFill>
                <a:latin typeface="Courier New"/>
                <a:cs typeface="Courier New"/>
              </a:rPr>
              <a:t>"glucose"</a:t>
            </a:r>
            <a:r>
              <a:rPr sz="2250" dirty="0">
                <a:solidFill>
                  <a:srgbClr val="04182D"/>
                </a:solidFill>
                <a:latin typeface="Courier New"/>
                <a:cs typeface="Courier New"/>
              </a:rPr>
              <a:t>, </a:t>
            </a:r>
            <a:r>
              <a:rPr sz="2250" spc="-10" dirty="0">
                <a:solidFill>
                  <a:srgbClr val="04182D"/>
                </a:solidFill>
                <a:latin typeface="Courier New"/>
                <a:cs typeface="Courier New"/>
              </a:rPr>
              <a:t>axis=</a:t>
            </a:r>
            <a:r>
              <a:rPr sz="2250" spc="-10" dirty="0">
                <a:solidFill>
                  <a:srgbClr val="BE2F72"/>
                </a:solidFill>
                <a:latin typeface="Courier New"/>
                <a:cs typeface="Courier New"/>
              </a:rPr>
              <a:t>1</a:t>
            </a:r>
            <a:r>
              <a:rPr sz="2250" spc="-10" dirty="0">
                <a:solidFill>
                  <a:srgbClr val="04182D"/>
                </a:solidFill>
                <a:latin typeface="Courier New"/>
                <a:cs typeface="Courier New"/>
              </a:rPr>
              <a:t>).columns </a:t>
            </a:r>
            <a:r>
              <a:rPr sz="2250" dirty="0">
                <a:solidFill>
                  <a:srgbClr val="04182D"/>
                </a:solidFill>
                <a:latin typeface="Courier New"/>
                <a:cs typeface="Courier New"/>
              </a:rPr>
              <a:t>lasso</a:t>
            </a:r>
            <a:r>
              <a:rPr sz="2250" spc="-10" dirty="0">
                <a:solidFill>
                  <a:srgbClr val="04182D"/>
                </a:solidFill>
                <a:latin typeface="Courier New"/>
                <a:cs typeface="Courier New"/>
              </a:rPr>
              <a:t> </a:t>
            </a:r>
            <a:r>
              <a:rPr sz="2250" dirty="0">
                <a:solidFill>
                  <a:srgbClr val="04182D"/>
                </a:solidFill>
                <a:latin typeface="Courier New"/>
                <a:cs typeface="Courier New"/>
              </a:rPr>
              <a:t>= </a:t>
            </a:r>
            <a:r>
              <a:rPr sz="2250" spc="-10" dirty="0">
                <a:solidFill>
                  <a:srgbClr val="04182D"/>
                </a:solidFill>
                <a:latin typeface="Courier New"/>
                <a:cs typeface="Courier New"/>
              </a:rPr>
              <a:t>Lasso(alpha=</a:t>
            </a:r>
            <a:r>
              <a:rPr sz="2250" spc="-10" dirty="0">
                <a:solidFill>
                  <a:srgbClr val="BE2F72"/>
                </a:solidFill>
                <a:latin typeface="Courier New"/>
                <a:cs typeface="Courier New"/>
              </a:rPr>
              <a:t>0.1</a:t>
            </a:r>
            <a:r>
              <a:rPr sz="2250" spc="-10" dirty="0">
                <a:solidFill>
                  <a:srgbClr val="04182D"/>
                </a:solidFill>
                <a:latin typeface="Courier New"/>
                <a:cs typeface="Courier New"/>
              </a:rPr>
              <a:t>)</a:t>
            </a:r>
            <a:endParaRPr sz="2250">
              <a:latin typeface="Courier New"/>
              <a:cs typeface="Courier New"/>
            </a:endParaRPr>
          </a:p>
          <a:p>
            <a:pPr marL="12700" marR="2927350">
              <a:lnSpc>
                <a:spcPct val="143300"/>
              </a:lnSpc>
            </a:pPr>
            <a:r>
              <a:rPr sz="2250" dirty="0">
                <a:solidFill>
                  <a:srgbClr val="04182D"/>
                </a:solidFill>
                <a:latin typeface="Courier New"/>
                <a:cs typeface="Courier New"/>
              </a:rPr>
              <a:t>lasso_coef = lasso.fit(X, </a:t>
            </a:r>
            <a:r>
              <a:rPr sz="2250" spc="-10" dirty="0">
                <a:solidFill>
                  <a:srgbClr val="04182D"/>
                </a:solidFill>
                <a:latin typeface="Courier New"/>
                <a:cs typeface="Courier New"/>
              </a:rPr>
              <a:t>y).coef_ </a:t>
            </a:r>
            <a:r>
              <a:rPr sz="2250" dirty="0">
                <a:solidFill>
                  <a:srgbClr val="04182D"/>
                </a:solidFill>
                <a:latin typeface="Courier New"/>
                <a:cs typeface="Courier New"/>
              </a:rPr>
              <a:t>plt.bar(names, </a:t>
            </a:r>
            <a:r>
              <a:rPr sz="2250" spc="-10" dirty="0">
                <a:solidFill>
                  <a:srgbClr val="04182D"/>
                </a:solidFill>
                <a:latin typeface="Courier New"/>
                <a:cs typeface="Courier New"/>
              </a:rPr>
              <a:t>lasso_coef) plt.xticks(rotation=</a:t>
            </a:r>
            <a:r>
              <a:rPr sz="2250" spc="-10" dirty="0">
                <a:solidFill>
                  <a:srgbClr val="BE2F72"/>
                </a:solidFill>
                <a:latin typeface="Courier New"/>
                <a:cs typeface="Courier New"/>
              </a:rPr>
              <a:t>45</a:t>
            </a:r>
            <a:r>
              <a:rPr sz="2250" spc="-10" dirty="0">
                <a:solidFill>
                  <a:srgbClr val="04182D"/>
                </a:solidFill>
                <a:latin typeface="Courier New"/>
                <a:cs typeface="Courier New"/>
              </a:rPr>
              <a:t>)</a:t>
            </a:r>
            <a:endParaRPr sz="2250">
              <a:latin typeface="Courier New"/>
              <a:cs typeface="Courier New"/>
            </a:endParaRPr>
          </a:p>
          <a:p>
            <a:pPr marL="12700">
              <a:lnSpc>
                <a:spcPct val="100000"/>
              </a:lnSpc>
              <a:spcBef>
                <a:spcPts val="1165"/>
              </a:spcBef>
            </a:pPr>
            <a:r>
              <a:rPr sz="2250" spc="-10" dirty="0">
                <a:solidFill>
                  <a:srgbClr val="04182D"/>
                </a:solidFill>
                <a:latin typeface="Courier New"/>
                <a:cs typeface="Courier New"/>
              </a:rPr>
              <a:t>plt.show()</a:t>
            </a:r>
            <a:endParaRPr sz="2250">
              <a:latin typeface="Courier New"/>
              <a:cs typeface="Courier New"/>
            </a:endParaRPr>
          </a:p>
        </p:txBody>
      </p:sp>
      <p:sp>
        <p:nvSpPr>
          <p:cNvPr id="10" name="슬라이드 번호 개체 틀 9">
            <a:extLst>
              <a:ext uri="{FF2B5EF4-FFF2-40B4-BE49-F238E27FC236}">
                <a16:creationId xmlns:a16="http://schemas.microsoft.com/office/drawing/2014/main" id="{F5F9A0FB-4044-2196-274B-79D8F8AAF183}"/>
              </a:ext>
            </a:extLst>
          </p:cNvPr>
          <p:cNvSpPr>
            <a:spLocks noGrp="1"/>
          </p:cNvSpPr>
          <p:nvPr>
            <p:ph type="sldNum" sz="quarter" idx="7"/>
          </p:nvPr>
        </p:nvSpPr>
        <p:spPr/>
        <p:txBody>
          <a:bodyPr/>
          <a:lstStyle/>
          <a:p>
            <a:fld id="{B6F15528-21DE-4FAA-801E-634DDDAF4B2B}" type="slidenum">
              <a:rPr lang="en-US" altLang="ko-KR" smtClean="0"/>
              <a:t>36</a:t>
            </a:fld>
            <a:endParaRPr lang="en-US" altLang="ko-K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8589" y="273885"/>
            <a:ext cx="10641965" cy="713740"/>
          </a:xfrm>
          <a:prstGeom prst="rect">
            <a:avLst/>
          </a:prstGeom>
        </p:spPr>
        <p:txBody>
          <a:bodyPr vert="horz" wrap="square" lIns="0" tIns="13970" rIns="0" bIns="0" rtlCol="0">
            <a:spAutoFit/>
          </a:bodyPr>
          <a:lstStyle/>
          <a:p>
            <a:pPr marL="12700">
              <a:lnSpc>
                <a:spcPct val="100000"/>
              </a:lnSpc>
              <a:spcBef>
                <a:spcPts val="110"/>
              </a:spcBef>
            </a:pPr>
            <a:r>
              <a:rPr spc="-235" dirty="0"/>
              <a:t>Lasso</a:t>
            </a:r>
            <a:r>
              <a:rPr spc="-120" dirty="0"/>
              <a:t> </a:t>
            </a:r>
            <a:r>
              <a:rPr spc="-215" dirty="0"/>
              <a:t>for</a:t>
            </a:r>
            <a:r>
              <a:rPr spc="-120" dirty="0"/>
              <a:t> </a:t>
            </a:r>
            <a:r>
              <a:rPr spc="-210" dirty="0"/>
              <a:t>feature</a:t>
            </a:r>
            <a:r>
              <a:rPr spc="-114" dirty="0"/>
              <a:t> </a:t>
            </a:r>
            <a:r>
              <a:rPr spc="-225" dirty="0"/>
              <a:t>selection</a:t>
            </a:r>
            <a:r>
              <a:rPr spc="-120" dirty="0"/>
              <a:t> </a:t>
            </a:r>
            <a:r>
              <a:rPr spc="-265" dirty="0"/>
              <a:t>in</a:t>
            </a:r>
            <a:r>
              <a:rPr spc="-114" dirty="0"/>
              <a:t> </a:t>
            </a:r>
            <a:r>
              <a:rPr spc="-250" dirty="0"/>
              <a:t>scikit-</a:t>
            </a:r>
            <a:r>
              <a:rPr spc="-80" dirty="0"/>
              <a:t>learn</a:t>
            </a:r>
          </a:p>
        </p:txBody>
      </p:sp>
      <p:pic>
        <p:nvPicPr>
          <p:cNvPr id="3" name="object 3"/>
          <p:cNvPicPr/>
          <p:nvPr/>
        </p:nvPicPr>
        <p:blipFill>
          <a:blip r:embed="rId2" cstate="print"/>
          <a:stretch>
            <a:fillRect/>
          </a:stretch>
        </p:blipFill>
        <p:spPr>
          <a:xfrm>
            <a:off x="3557381" y="1348834"/>
            <a:ext cx="8465490" cy="6234268"/>
          </a:xfrm>
          <a:prstGeom prst="rect">
            <a:avLst/>
          </a:prstGeom>
        </p:spPr>
      </p:pic>
      <p:sp>
        <p:nvSpPr>
          <p:cNvPr id="7" name="슬라이드 번호 개체 틀 6">
            <a:extLst>
              <a:ext uri="{FF2B5EF4-FFF2-40B4-BE49-F238E27FC236}">
                <a16:creationId xmlns:a16="http://schemas.microsoft.com/office/drawing/2014/main" id="{A1F6877E-5E78-CE14-D63B-2FD97232CCFE}"/>
              </a:ext>
            </a:extLst>
          </p:cNvPr>
          <p:cNvSpPr>
            <a:spLocks noGrp="1"/>
          </p:cNvSpPr>
          <p:nvPr>
            <p:ph type="sldNum" sz="quarter" idx="7"/>
          </p:nvPr>
        </p:nvSpPr>
        <p:spPr/>
        <p:txBody>
          <a:bodyPr/>
          <a:lstStyle/>
          <a:p>
            <a:fld id="{B6F15528-21DE-4FAA-801E-634DDDAF4B2B}" type="slidenum">
              <a:rPr lang="en-US" altLang="ko-KR" smtClean="0"/>
              <a:t>37</a:t>
            </a:fld>
            <a:endParaRPr lang="en-US" altLang="ko-K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196</TotalTime>
  <Words>2005</Words>
  <Application>Microsoft Office PowerPoint</Application>
  <PresentationFormat>사용자 지정</PresentationFormat>
  <Paragraphs>267</Paragraphs>
  <Slides>37</Slides>
  <Notes>2</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37</vt:i4>
      </vt:variant>
    </vt:vector>
  </HeadingPairs>
  <TitlesOfParts>
    <vt:vector size="45" baseType="lpstr">
      <vt:lpstr>Arial Unicode MS</vt:lpstr>
      <vt:lpstr>맑은 고딕</vt:lpstr>
      <vt:lpstr>Arial</vt:lpstr>
      <vt:lpstr>Courier New</vt:lpstr>
      <vt:lpstr>Lucida Sans Unicode</vt:lpstr>
      <vt:lpstr>Tahoma</vt:lpstr>
      <vt:lpstr>Times New Roman</vt:lpstr>
      <vt:lpstr>Office Theme</vt:lpstr>
      <vt:lpstr>PowerPoint 프레젠테이션</vt:lpstr>
      <vt:lpstr>Predicting blood glucose levels</vt:lpstr>
      <vt:lpstr>Creating feature and target arrays</vt:lpstr>
      <vt:lpstr>Making predictions from a single feature</vt:lpstr>
      <vt:lpstr>Plotting glucose vs. body mass index</vt:lpstr>
      <vt:lpstr>Plotting glucose vs. body mass index</vt:lpstr>
      <vt:lpstr>Fitting a regression model</vt:lpstr>
      <vt:lpstr>Fitting a regression model</vt:lpstr>
      <vt:lpstr>PowerPoint 프레젠테이션</vt:lpstr>
      <vt:lpstr>Regression mechanics</vt:lpstr>
      <vt:lpstr>The loss function</vt:lpstr>
      <vt:lpstr>The loss function</vt:lpstr>
      <vt:lpstr>The loss function</vt:lpstr>
      <vt:lpstr>The loss function</vt:lpstr>
      <vt:lpstr>The loss function</vt:lpstr>
      <vt:lpstr>Ordinary Least Squares</vt:lpstr>
      <vt:lpstr>Linear regression in higher dimensions</vt:lpstr>
      <vt:lpstr>Linear regression using all features</vt:lpstr>
      <vt:lpstr>R-squared</vt:lpstr>
      <vt:lpstr>R-squared in scikit-learn</vt:lpstr>
      <vt:lpstr>Mean squared error and root mean squared error</vt:lpstr>
      <vt:lpstr>RMSE in scikit-learn</vt:lpstr>
      <vt:lpstr>PowerPoint 프레젠테이션</vt:lpstr>
      <vt:lpstr>Cross-validation motivation Model performance is dependent on the way we split up the data Not representative of the model's ability to generalize to unseen data Solution: Cross-validation!</vt:lpstr>
      <vt:lpstr>Cross-validation basics</vt:lpstr>
      <vt:lpstr>Cross-validation and model performance</vt:lpstr>
      <vt:lpstr>Cross-validation in scikit-learn</vt:lpstr>
      <vt:lpstr>Evaluating cross-validation peformance</vt:lpstr>
      <vt:lpstr>PowerPoint 프레젠테이션</vt:lpstr>
      <vt:lpstr>Why regularize?</vt:lpstr>
      <vt:lpstr>Ridge regression</vt:lpstr>
      <vt:lpstr>Ridge regression in scikit-learn</vt:lpstr>
      <vt:lpstr>Lasso regression</vt:lpstr>
      <vt:lpstr>Lasso regression in scikit-learn</vt:lpstr>
      <vt:lpstr>Lasso regression for feature selection</vt:lpstr>
      <vt:lpstr>Lasso for feature selection in scikit-learn</vt:lpstr>
      <vt:lpstr>Lasso for feature selection in scikit-learn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Woojin Paik</cp:lastModifiedBy>
  <cp:revision>15</cp:revision>
  <dcterms:created xsi:type="dcterms:W3CDTF">2024-12-30T09:06:52Z</dcterms:created>
  <dcterms:modified xsi:type="dcterms:W3CDTF">2024-12-30T12:23:43Z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2024-08-27T00:00:00Z</vt:filetime>
  </property>
  <property fmtid="{D5CDD505-2E9C-101B-9397-08002B2CF9AE}" pid="3" name="Creator">
    <vt:lpwstr>Chromium</vt:lpwstr>
  </property>
  <property fmtid="{D5CDD505-2E9C-101B-9397-08002B2CF9AE}" pid="4" name="LastSaved">
    <vt:filetime>2024-12-30T00:00:00Z</vt:filetime>
  </property>
  <property fmtid="{D5CDD505-2E9C-101B-9397-08002B2CF9AE}" pid="5" name="Producer">
    <vt:lpwstr>Skia/PDF m89</vt:lpwstr>
  </property>
</Properties>
</file>