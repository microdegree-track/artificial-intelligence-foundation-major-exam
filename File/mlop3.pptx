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97" r:id="rId4"/>
    <p:sldId id="298" r:id="rId5"/>
    <p:sldId id="299" r:id="rId6"/>
    <p:sldId id="300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301" r:id="rId16"/>
    <p:sldId id="302" r:id="rId17"/>
    <p:sldId id="303" r:id="rId18"/>
    <p:sldId id="268" r:id="rId19"/>
    <p:sldId id="269" r:id="rId20"/>
    <p:sldId id="272" r:id="rId21"/>
    <p:sldId id="273" r:id="rId22"/>
    <p:sldId id="275" r:id="rId23"/>
    <p:sldId id="276" r:id="rId24"/>
    <p:sldId id="277" r:id="rId25"/>
    <p:sldId id="278" r:id="rId26"/>
    <p:sldId id="279" r:id="rId27"/>
    <p:sldId id="280" r:id="rId28"/>
    <p:sldId id="304" r:id="rId29"/>
    <p:sldId id="305" r:id="rId30"/>
    <p:sldId id="306" r:id="rId31"/>
    <p:sldId id="283" r:id="rId32"/>
    <p:sldId id="284" r:id="rId33"/>
    <p:sldId id="286" r:id="rId34"/>
    <p:sldId id="308" r:id="rId35"/>
    <p:sldId id="309" r:id="rId36"/>
    <p:sldId id="288" r:id="rId37"/>
    <p:sldId id="290" r:id="rId38"/>
    <p:sldId id="292" r:id="rId39"/>
    <p:sldId id="295" r:id="rId40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77"/>
    <p:restoredTop sz="94694"/>
  </p:normalViewPr>
  <p:slideViewPr>
    <p:cSldViewPr>
      <p:cViewPr varScale="1">
        <p:scale>
          <a:sx n="76" d="100"/>
          <a:sy n="76" d="100"/>
        </p:scale>
        <p:origin x="232" y="7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D13B4-F9F9-9A4B-9867-C57F42EAEB85}" type="datetimeFigureOut">
              <a:rPr kumimoji="1" lang="ko-KR" altLang="en-US" smtClean="0"/>
              <a:t>2025. 1. 14.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F39077-0DEE-134D-8654-058808526CD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4892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8589" y="273885"/>
            <a:ext cx="10081895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B1AC5-83B0-564D-A019-46142D1D7FBE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A2B50-FD9F-554D-8AC0-714E70C610F9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4FE3F-E9A5-9E42-8D7D-36FC0BCB10EA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ADE5F-3FA5-9B48-8EFD-C96293497F0A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0E510-1938-4844-BA94-18ADBCC355F6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93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73"/>
            <a:ext cx="10718800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99063" y="2157161"/>
            <a:ext cx="7780020" cy="2334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586186" y="8207366"/>
            <a:ext cx="2656840" cy="371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40DC1-1CFC-8748-BBE5-3E2E76EBF4E2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8584" y="2157161"/>
            <a:ext cx="7440930" cy="233489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 marR="5080" algn="ctr">
              <a:lnSpc>
                <a:spcPts val="6770"/>
              </a:lnSpc>
              <a:spcBef>
                <a:spcPts val="1130"/>
              </a:spcBef>
            </a:pPr>
            <a:r>
              <a:rPr sz="6450" spc="-175" dirty="0"/>
              <a:t>Preparing</a:t>
            </a:r>
            <a:r>
              <a:rPr sz="6450" spc="-229" dirty="0"/>
              <a:t> </a:t>
            </a:r>
            <a:r>
              <a:rPr sz="6450" spc="-170" dirty="0"/>
              <a:t>model</a:t>
            </a:r>
            <a:r>
              <a:rPr sz="6450" spc="-225" dirty="0"/>
              <a:t> </a:t>
            </a:r>
            <a:r>
              <a:rPr sz="6450" spc="-25" dirty="0"/>
              <a:t>for </a:t>
            </a:r>
            <a:r>
              <a:rPr sz="6450" spc="-45" dirty="0"/>
              <a:t>deployment</a:t>
            </a:r>
            <a:endParaRPr sz="6450"/>
          </a:p>
          <a:p>
            <a:pPr marR="53340" algn="ctr">
              <a:lnSpc>
                <a:spcPct val="100000"/>
              </a:lnSpc>
              <a:spcBef>
                <a:spcPts val="910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A6873A7-1A23-1544-C8B0-86E6ED1F63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</a:t>
            </a:fld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35" dirty="0"/>
              <a:t>Runtime</a:t>
            </a:r>
            <a:r>
              <a:rPr spc="-160" dirty="0"/>
              <a:t> </a:t>
            </a:r>
            <a:r>
              <a:rPr spc="-105" dirty="0"/>
              <a:t>environment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1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7127CA-1E8B-7314-62E7-0F887BF075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</a:t>
            </a:fld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3BBC0BA-A700-4949-DCE9-C23182B27D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</a:t>
            </a:fld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11CAC-9114-CAD9-1547-185CAF16AEDF}"/>
              </a:ext>
            </a:extLst>
          </p:cNvPr>
          <p:cNvSpPr txBox="1"/>
          <p:nvPr/>
        </p:nvSpPr>
        <p:spPr>
          <a:xfrm>
            <a:off x="615950" y="571500"/>
            <a:ext cx="14401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 err="1"/>
              <a:t>MLOps</a:t>
            </a:r>
            <a:r>
              <a:rPr lang="ko-KR" altLang="en-US" dirty="0"/>
              <a:t>에서 </a:t>
            </a:r>
            <a:r>
              <a:rPr lang="en" altLang="ko-KR" dirty="0"/>
              <a:t>Runtime Environment(</a:t>
            </a:r>
            <a:r>
              <a:rPr lang="ko-KR" altLang="en-US" dirty="0"/>
              <a:t>런타임 환경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ko-KR" altLang="en-US" b="1" dirty="0" err="1"/>
              <a:t>머신러닝</a:t>
            </a:r>
            <a:r>
              <a:rPr lang="ko-KR" altLang="en-US" b="1" dirty="0"/>
              <a:t> 모델의 실행과 관련된 모든 소프트웨어</a:t>
            </a:r>
            <a:r>
              <a:rPr lang="en-US" altLang="ko-KR" b="1" dirty="0"/>
              <a:t>, </a:t>
            </a:r>
            <a:r>
              <a:rPr lang="ko-KR" altLang="en-US" b="1" dirty="0"/>
              <a:t>라이브러리</a:t>
            </a:r>
            <a:r>
              <a:rPr lang="en-US" altLang="ko-KR" b="1" dirty="0"/>
              <a:t>, </a:t>
            </a:r>
            <a:r>
              <a:rPr lang="ko-KR" altLang="en-US" b="1" dirty="0"/>
              <a:t>설정</a:t>
            </a:r>
            <a:r>
              <a:rPr lang="en-US" altLang="ko-KR" b="1" dirty="0"/>
              <a:t>, </a:t>
            </a:r>
            <a:r>
              <a:rPr lang="ko-KR" altLang="en-US" b="1" dirty="0"/>
              <a:t>그리고 하드웨어 환경</a:t>
            </a:r>
            <a:r>
              <a:rPr lang="ko-KR" altLang="en-US" dirty="0"/>
              <a:t>을 의미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이는 </a:t>
            </a:r>
            <a:r>
              <a:rPr lang="ko-KR" altLang="en-US" dirty="0" err="1"/>
              <a:t>머신러닝</a:t>
            </a:r>
            <a:r>
              <a:rPr lang="ko-KR" altLang="en-US" dirty="0"/>
              <a:t> 모델이 배포 및 운영되는 환경에서 안정적이고 일관되게 작동하도록 보장하기 위해 필수적인 요소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" altLang="ko-KR" b="1" dirty="0"/>
              <a:t>Runtime Environment</a:t>
            </a:r>
            <a:r>
              <a:rPr lang="ko-KR" altLang="en-US" b="1" dirty="0"/>
              <a:t>의 구성 요소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소프트웨어 스택 </a:t>
            </a:r>
            <a:r>
              <a:rPr lang="en-US" altLang="ko-KR" b="1" dirty="0"/>
              <a:t>(</a:t>
            </a:r>
            <a:r>
              <a:rPr lang="en" altLang="ko-KR" b="1" dirty="0"/>
              <a:t>Software Stack)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모델 실행에 필요한 모든 소프트웨어 구성 요소를 포함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운영 체제</a:t>
            </a:r>
            <a:r>
              <a:rPr lang="en-US" altLang="ko-KR" dirty="0"/>
              <a:t>, </a:t>
            </a:r>
            <a:r>
              <a:rPr lang="en" altLang="ko-KR" dirty="0"/>
              <a:t>Python </a:t>
            </a:r>
            <a:r>
              <a:rPr lang="ko-KR" altLang="en-US" dirty="0"/>
              <a:t>인터프리터</a:t>
            </a:r>
            <a:r>
              <a:rPr lang="en-US" altLang="ko-KR" dirty="0"/>
              <a:t>, </a:t>
            </a:r>
            <a:r>
              <a:rPr lang="ko-KR" altLang="en-US" dirty="0"/>
              <a:t>라이브러리</a:t>
            </a:r>
            <a:r>
              <a:rPr lang="en-US" altLang="ko-KR" dirty="0"/>
              <a:t>, </a:t>
            </a:r>
            <a:r>
              <a:rPr lang="ko-KR" altLang="en-US" dirty="0"/>
              <a:t>드라이버 등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종속 라이브러리 </a:t>
            </a:r>
            <a:r>
              <a:rPr lang="en-US" altLang="ko-KR" b="1" dirty="0"/>
              <a:t>(</a:t>
            </a:r>
            <a:r>
              <a:rPr lang="en" altLang="ko-KR" b="1" dirty="0"/>
              <a:t>Dependencies)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 err="1"/>
              <a:t>머신러닝</a:t>
            </a:r>
            <a:r>
              <a:rPr lang="ko-KR" altLang="en-US" dirty="0"/>
              <a:t> 모델 실행에 필요한 라이브러리 및 프레임워크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TensorFlow, </a:t>
            </a:r>
            <a:r>
              <a:rPr lang="en" altLang="ko-KR" dirty="0" err="1"/>
              <a:t>PyTorch</a:t>
            </a:r>
            <a:r>
              <a:rPr lang="en" altLang="ko-KR" dirty="0"/>
              <a:t>, NumPy, Pandas, Scikit-learn </a:t>
            </a:r>
            <a:r>
              <a:rPr lang="ko-KR" altLang="en-US" dirty="0"/>
              <a:t>등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하드웨어 환경 </a:t>
            </a:r>
            <a:r>
              <a:rPr lang="en-US" altLang="ko-KR" b="1" dirty="0"/>
              <a:t>(</a:t>
            </a:r>
            <a:r>
              <a:rPr lang="en" altLang="ko-KR" b="1" dirty="0"/>
              <a:t>Hardware Environment)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모델 실행에 필요한 물리적 또는 가상 하드웨어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CPU, GPU, TPU, </a:t>
            </a:r>
            <a:r>
              <a:rPr lang="ko-KR" altLang="en-US" dirty="0"/>
              <a:t>메모리</a:t>
            </a:r>
            <a:r>
              <a:rPr lang="en-US" altLang="ko-KR" dirty="0"/>
              <a:t>, </a:t>
            </a:r>
            <a:r>
              <a:rPr lang="ko-KR" altLang="en-US" dirty="0"/>
              <a:t>디스크 등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환경 설정 </a:t>
            </a:r>
            <a:r>
              <a:rPr lang="en-US" altLang="ko-KR" b="1" dirty="0"/>
              <a:t>(</a:t>
            </a:r>
            <a:r>
              <a:rPr lang="en" altLang="ko-KR" b="1" dirty="0"/>
              <a:t>Environment Configuration)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모델 실행에 필요한 설정 정보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환경 변수</a:t>
            </a:r>
            <a:r>
              <a:rPr lang="en-US" altLang="ko-KR" dirty="0"/>
              <a:t>, </a:t>
            </a:r>
            <a:r>
              <a:rPr lang="ko-KR" altLang="en-US" dirty="0"/>
              <a:t>파일 경로</a:t>
            </a:r>
            <a:r>
              <a:rPr lang="en-US" altLang="ko-KR" dirty="0"/>
              <a:t>, </a:t>
            </a:r>
            <a:r>
              <a:rPr lang="ko-KR" altLang="en-US" dirty="0"/>
              <a:t>네트워크 설정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컨테이너화 도구 </a:t>
            </a:r>
            <a:r>
              <a:rPr lang="en-US" altLang="ko-KR" b="1" dirty="0"/>
              <a:t>(</a:t>
            </a:r>
            <a:r>
              <a:rPr lang="en" altLang="ko-KR" b="1" dirty="0"/>
              <a:t>Containerization Tools)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런타임 환경을 패키징하고 배포하기 위해 사용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Docker, Kubernetes.</a:t>
            </a:r>
          </a:p>
        </p:txBody>
      </p:sp>
    </p:spTree>
    <p:extLst>
      <p:ext uri="{BB962C8B-B14F-4D97-AF65-F5344CB8AC3E}">
        <p14:creationId xmlns:p14="http://schemas.microsoft.com/office/powerpoint/2010/main" val="1121208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470DC-7C7E-B6CB-C15E-5986FA97B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F14A57A-0FFB-E1E8-3246-DBE88DBF38B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4</a:t>
            </a:fld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E3D96-14DD-8DC9-AA23-E59683226799}"/>
              </a:ext>
            </a:extLst>
          </p:cNvPr>
          <p:cNvSpPr txBox="1"/>
          <p:nvPr/>
        </p:nvSpPr>
        <p:spPr>
          <a:xfrm>
            <a:off x="615950" y="571500"/>
            <a:ext cx="144018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Runtime Environment</a:t>
            </a:r>
            <a:r>
              <a:rPr lang="ko-KR" altLang="en-US" b="1" dirty="0"/>
              <a:t>의 중요성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재현성 </a:t>
            </a:r>
            <a:r>
              <a:rPr lang="en-US" altLang="ko-KR" b="1" dirty="0"/>
              <a:t>(</a:t>
            </a:r>
            <a:r>
              <a:rPr lang="en" altLang="ko-KR" b="1" dirty="0"/>
              <a:t>Reproducibility)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동일한 코드와 데이터를 사용하더라도</a:t>
            </a:r>
            <a:r>
              <a:rPr lang="en-US" altLang="ko-KR" dirty="0"/>
              <a:t>, </a:t>
            </a:r>
            <a:r>
              <a:rPr lang="ko-KR" altLang="en-US" dirty="0"/>
              <a:t>실행 환경이 다르면 결과가 달라질 수 있음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런타임 환경을 일관되게 설정하면 모델의 결과를 재현할 수 있음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 err="1"/>
              <a:t>이식성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en" altLang="ko-KR" b="1" dirty="0"/>
              <a:t>Portability)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특정 환경에서 잘 작동하는 모델을 다른 환경으로 쉽게 옮길 수 있음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개발 환경에서 실행한 모델을 프로덕션 환경으로 배포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디버깅과 문제 해결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환경 문제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라이브러리 버전 충돌</a:t>
            </a:r>
            <a:r>
              <a:rPr lang="en-US" altLang="ko-KR" dirty="0"/>
              <a:t>)</a:t>
            </a:r>
            <a:r>
              <a:rPr lang="ko-KR" altLang="en-US" dirty="0"/>
              <a:t>가 모델의 성능 저하나 예기치 않은 결과를 초래할 수 있음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명확한 런타임 환경 정의는 문제 해결을 용이하게 함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스케일링 </a:t>
            </a:r>
            <a:r>
              <a:rPr lang="en-US" altLang="ko-KR" b="1" dirty="0"/>
              <a:t>(</a:t>
            </a:r>
            <a:r>
              <a:rPr lang="en" altLang="ko-KR" b="1" dirty="0"/>
              <a:t>Scalability)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동일한 환경 설정으로 여러 인스턴스에서 모델을 실행할 수 있어 확장 가능성을 높임</a:t>
            </a:r>
            <a:r>
              <a:rPr lang="en-US" altLang="ko-KR" dirty="0"/>
              <a:t>.</a:t>
            </a:r>
          </a:p>
          <a:p>
            <a:endParaRPr lang="en" altLang="ko-KR" dirty="0"/>
          </a:p>
          <a:p>
            <a:r>
              <a:rPr lang="en" altLang="ko-KR" b="1" dirty="0"/>
              <a:t>Runtime Environment</a:t>
            </a:r>
            <a:r>
              <a:rPr lang="ko-KR" altLang="en-US" b="1" dirty="0"/>
              <a:t>의 설계 원칙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일관성 유지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개발 환경과 배포 환경 간의 차이를 최소화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동일한 </a:t>
            </a:r>
            <a:r>
              <a:rPr lang="en" altLang="ko-KR" dirty="0"/>
              <a:t>Docker </a:t>
            </a:r>
            <a:r>
              <a:rPr lang="ko-KR" altLang="en-US" dirty="0"/>
              <a:t>이미지 사용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경량화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런타임 환경을 구성할 때 필요하지 않은 요소는 제외하여 크기를 최소화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Slim Docker </a:t>
            </a:r>
            <a:r>
              <a:rPr lang="ko-KR" altLang="en-US" dirty="0"/>
              <a:t>이미지 사용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확장성 고려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모델이 대규모 트래픽을 처리할 수 있도록 설계</a:t>
            </a:r>
            <a:r>
              <a:rPr lang="en-US" altLang="ko-KR" dirty="0"/>
              <a:t>.</a:t>
            </a:r>
          </a:p>
          <a:p>
            <a:pPr marL="457200" lvl="1"/>
            <a:r>
              <a:rPr lang="en" altLang="ko-KR" dirty="0"/>
              <a:t>GPU/TPU </a:t>
            </a:r>
            <a:r>
              <a:rPr lang="ko-KR" altLang="en-US" dirty="0"/>
              <a:t>활용 가능성 포함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보안 강화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환경 설정 파일과 민감 정보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API </a:t>
            </a:r>
            <a:r>
              <a:rPr lang="ko-KR" altLang="en-US" dirty="0"/>
              <a:t>키</a:t>
            </a:r>
            <a:r>
              <a:rPr lang="en-US" altLang="ko-KR" dirty="0"/>
              <a:t>, </a:t>
            </a:r>
            <a:r>
              <a:rPr lang="ko-KR" altLang="en-US" dirty="0"/>
              <a:t>비밀번호</a:t>
            </a:r>
            <a:r>
              <a:rPr lang="en-US" altLang="ko-KR" dirty="0"/>
              <a:t>)</a:t>
            </a:r>
            <a:r>
              <a:rPr lang="ko-KR" altLang="en-US" dirty="0"/>
              <a:t>는 안전하게 관리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Vault, </a:t>
            </a:r>
            <a:r>
              <a:rPr lang="ko-KR" altLang="en-US" dirty="0"/>
              <a:t>환경 변수 암호화</a:t>
            </a:r>
            <a:r>
              <a:rPr lang="en-US" altLang="ko-KR" dirty="0"/>
              <a:t>.</a:t>
            </a:r>
          </a:p>
          <a:p>
            <a:endParaRPr lang="en" altLang="ko-KR" dirty="0"/>
          </a:p>
        </p:txBody>
      </p:sp>
    </p:spTree>
    <p:extLst>
      <p:ext uri="{BB962C8B-B14F-4D97-AF65-F5344CB8AC3E}">
        <p14:creationId xmlns:p14="http://schemas.microsoft.com/office/powerpoint/2010/main" val="375240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EA08F-DED9-7B62-40C5-CEDE7492C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AFE236C-110A-A800-6F35-5BF6C7C1C6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5</a:t>
            </a:fld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84AE4-EC5F-56C8-5AEF-2C43B92EDC18}"/>
              </a:ext>
            </a:extLst>
          </p:cNvPr>
          <p:cNvSpPr txBox="1"/>
          <p:nvPr/>
        </p:nvSpPr>
        <p:spPr>
          <a:xfrm>
            <a:off x="615950" y="571500"/>
            <a:ext cx="144018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Runtime Environment </a:t>
            </a:r>
            <a:r>
              <a:rPr lang="ko-KR" altLang="en-US" b="1" dirty="0"/>
              <a:t>관리 도구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환경 정의</a:t>
            </a:r>
            <a:r>
              <a:rPr lang="en-US" altLang="ko-KR" dirty="0"/>
              <a:t>:</a:t>
            </a:r>
          </a:p>
          <a:p>
            <a:pPr marL="457200" lvl="1"/>
            <a:r>
              <a:rPr lang="en" altLang="ko-KR" b="1" dirty="0"/>
              <a:t>Docker</a:t>
            </a:r>
            <a:r>
              <a:rPr lang="en" altLang="ko-KR" dirty="0"/>
              <a:t>:</a:t>
            </a:r>
          </a:p>
          <a:p>
            <a:pPr marL="914400" lvl="2"/>
            <a:r>
              <a:rPr lang="ko-KR" altLang="en-US" dirty="0"/>
              <a:t>컨테이너를 사용하여 실행 환경을 패키징</a:t>
            </a:r>
            <a:r>
              <a:rPr lang="en-US" altLang="ko-KR" dirty="0"/>
              <a:t>.</a:t>
            </a:r>
          </a:p>
          <a:p>
            <a:pPr marL="914400" lvl="2"/>
            <a:r>
              <a:rPr lang="ko-KR" altLang="en-US" dirty="0"/>
              <a:t>코드</a:t>
            </a:r>
            <a:r>
              <a:rPr lang="en-US" altLang="ko-KR" dirty="0"/>
              <a:t>, </a:t>
            </a:r>
            <a:r>
              <a:rPr lang="ko-KR" altLang="en-US" dirty="0"/>
              <a:t>라이브러리</a:t>
            </a:r>
            <a:r>
              <a:rPr lang="en-US" altLang="ko-KR" dirty="0"/>
              <a:t>, </a:t>
            </a:r>
            <a:r>
              <a:rPr lang="ko-KR" altLang="en-US" dirty="0"/>
              <a:t>설정 파일을 포함한 </a:t>
            </a:r>
            <a:r>
              <a:rPr lang="en-US" altLang="ko-KR" dirty="0"/>
              <a:t>"</a:t>
            </a:r>
            <a:r>
              <a:rPr lang="ko-KR" altLang="en-US" dirty="0"/>
              <a:t>모든 것</a:t>
            </a:r>
            <a:r>
              <a:rPr lang="en-US" altLang="ko-KR" dirty="0"/>
              <a:t>"</a:t>
            </a:r>
            <a:r>
              <a:rPr lang="ko-KR" altLang="en-US" dirty="0"/>
              <a:t>을 하나의 이미지로 관리</a:t>
            </a:r>
            <a:r>
              <a:rPr lang="en-US" altLang="ko-KR" dirty="0"/>
              <a:t>.</a:t>
            </a:r>
          </a:p>
          <a:p>
            <a:pPr marL="457200" lvl="1"/>
            <a:r>
              <a:rPr lang="en" altLang="ko-KR" b="1" dirty="0" err="1"/>
              <a:t>Conda</a:t>
            </a:r>
            <a:r>
              <a:rPr lang="en" altLang="ko-KR" b="1" dirty="0"/>
              <a:t>/</a:t>
            </a:r>
            <a:r>
              <a:rPr lang="en" altLang="ko-KR" b="1" dirty="0" err="1"/>
              <a:t>Virtualenv</a:t>
            </a:r>
            <a:r>
              <a:rPr lang="en" altLang="ko-KR" dirty="0"/>
              <a:t>:</a:t>
            </a:r>
          </a:p>
          <a:p>
            <a:pPr marL="914400" lvl="2"/>
            <a:r>
              <a:rPr lang="en" altLang="ko-KR" dirty="0"/>
              <a:t>Python </a:t>
            </a:r>
            <a:r>
              <a:rPr lang="ko-KR" altLang="en-US" dirty="0"/>
              <a:t>패키지와 환경을 격리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오케스트레이션 도구</a:t>
            </a:r>
            <a:r>
              <a:rPr lang="en-US" altLang="ko-KR" dirty="0"/>
              <a:t>:</a:t>
            </a:r>
          </a:p>
          <a:p>
            <a:pPr marL="457200" lvl="1"/>
            <a:r>
              <a:rPr lang="en" altLang="ko-KR" b="1" dirty="0"/>
              <a:t>Kubernetes</a:t>
            </a:r>
            <a:r>
              <a:rPr lang="en" altLang="ko-KR" dirty="0"/>
              <a:t>:</a:t>
            </a:r>
          </a:p>
          <a:p>
            <a:pPr marL="914400" lvl="2"/>
            <a:r>
              <a:rPr lang="ko-KR" altLang="en-US" dirty="0" err="1"/>
              <a:t>컨테이너화된</a:t>
            </a:r>
            <a:r>
              <a:rPr lang="ko-KR" altLang="en-US" dirty="0"/>
              <a:t> 애플리케이션을 대규모로 배포하고 관리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종속성 관리</a:t>
            </a:r>
            <a:r>
              <a:rPr lang="en-US" altLang="ko-KR" dirty="0"/>
              <a:t>:</a:t>
            </a:r>
          </a:p>
          <a:p>
            <a:pPr marL="457200" lvl="1"/>
            <a:r>
              <a:rPr lang="en" altLang="ko-KR" b="1" dirty="0"/>
              <a:t>Pip requirements</a:t>
            </a:r>
            <a:r>
              <a:rPr lang="en" altLang="ko-KR" dirty="0"/>
              <a:t>:</a:t>
            </a:r>
          </a:p>
          <a:p>
            <a:pPr marL="914400" lvl="2"/>
            <a:r>
              <a:rPr lang="en" altLang="ko-KR" dirty="0" err="1"/>
              <a:t>requirements.txt</a:t>
            </a:r>
            <a:r>
              <a:rPr lang="en" altLang="ko-KR" dirty="0"/>
              <a:t> </a:t>
            </a:r>
            <a:r>
              <a:rPr lang="ko-KR" altLang="en-US" dirty="0"/>
              <a:t>파일로 </a:t>
            </a:r>
            <a:r>
              <a:rPr lang="en" altLang="ko-KR" dirty="0"/>
              <a:t>Python </a:t>
            </a:r>
            <a:r>
              <a:rPr lang="ko-KR" altLang="en-US" dirty="0"/>
              <a:t>라이브러리의 종속성을 관리</a:t>
            </a:r>
            <a:r>
              <a:rPr lang="en-US" altLang="ko-KR" dirty="0"/>
              <a:t>.</a:t>
            </a:r>
          </a:p>
          <a:p>
            <a:pPr marL="457200" lvl="1"/>
            <a:r>
              <a:rPr lang="en" altLang="ko-KR" b="1" dirty="0"/>
              <a:t>Poetry</a:t>
            </a:r>
            <a:r>
              <a:rPr lang="en" altLang="ko-KR" dirty="0"/>
              <a:t>:</a:t>
            </a:r>
          </a:p>
          <a:p>
            <a:pPr marL="914400" lvl="2"/>
            <a:r>
              <a:rPr lang="ko-KR" altLang="en-US" dirty="0"/>
              <a:t>프로젝트 종속성 및 가상 환경 관리</a:t>
            </a:r>
            <a:r>
              <a:rPr lang="en-US" altLang="ko-KR" dirty="0"/>
              <a:t>.</a:t>
            </a:r>
          </a:p>
          <a:p>
            <a:pPr marL="457200" lvl="1"/>
            <a:r>
              <a:rPr lang="en" altLang="ko-KR" b="1" dirty="0" err="1"/>
              <a:t>Pyenv</a:t>
            </a:r>
            <a:r>
              <a:rPr lang="en" altLang="ko-KR" dirty="0"/>
              <a:t>:</a:t>
            </a:r>
          </a:p>
          <a:p>
            <a:pPr marL="914400" lvl="2"/>
            <a:r>
              <a:rPr lang="ko-KR" altLang="en-US" dirty="0"/>
              <a:t>다양한 </a:t>
            </a:r>
            <a:r>
              <a:rPr lang="en" altLang="ko-KR" dirty="0"/>
              <a:t>Python </a:t>
            </a:r>
            <a:r>
              <a:rPr lang="ko-KR" altLang="en-US" dirty="0"/>
              <a:t>버전을 프로젝트별로 관리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프로덕션 환경 모니터링</a:t>
            </a:r>
            <a:r>
              <a:rPr lang="en-US" altLang="ko-KR" dirty="0"/>
              <a:t>:</a:t>
            </a:r>
          </a:p>
          <a:p>
            <a:pPr marL="457200" lvl="1"/>
            <a:r>
              <a:rPr lang="en" altLang="ko-KR" b="1" dirty="0"/>
              <a:t>Prometheus, Grafana</a:t>
            </a:r>
            <a:r>
              <a:rPr lang="en" altLang="ko-KR" dirty="0"/>
              <a:t>:</a:t>
            </a:r>
          </a:p>
          <a:p>
            <a:pPr marL="914400" lvl="2"/>
            <a:r>
              <a:rPr lang="ko-KR" altLang="en-US" dirty="0"/>
              <a:t>런타임 상태와 성능 모니터링</a:t>
            </a:r>
            <a:r>
              <a:rPr lang="en-US" altLang="ko-KR" dirty="0"/>
              <a:t>.</a:t>
            </a:r>
          </a:p>
          <a:p>
            <a:pPr marL="457200" lvl="1"/>
            <a:r>
              <a:rPr lang="en" altLang="ko-KR" b="1" dirty="0"/>
              <a:t>Sentry</a:t>
            </a:r>
            <a:r>
              <a:rPr lang="en" altLang="ko-KR" dirty="0"/>
              <a:t>:</a:t>
            </a:r>
          </a:p>
          <a:p>
            <a:pPr marL="914400" lvl="2"/>
            <a:r>
              <a:rPr lang="ko-KR" altLang="en-US" dirty="0"/>
              <a:t>오류 및 충돌 감지</a:t>
            </a:r>
            <a:r>
              <a:rPr lang="en-US" altLang="ko-KR" dirty="0"/>
              <a:t>.</a:t>
            </a:r>
          </a:p>
          <a:p>
            <a:endParaRPr lang="en" altLang="ko-KR" dirty="0"/>
          </a:p>
        </p:txBody>
      </p:sp>
    </p:spTree>
    <p:extLst>
      <p:ext uri="{BB962C8B-B14F-4D97-AF65-F5344CB8AC3E}">
        <p14:creationId xmlns:p14="http://schemas.microsoft.com/office/powerpoint/2010/main" val="3410146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53862-382A-D564-6EDD-0CEAC7B57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03F541F-7783-867F-4B56-8F00BDC44C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6</a:t>
            </a:fld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3BDB5-5A03-39D1-9900-698E72FB1D4E}"/>
              </a:ext>
            </a:extLst>
          </p:cNvPr>
          <p:cNvSpPr txBox="1"/>
          <p:nvPr/>
        </p:nvSpPr>
        <p:spPr>
          <a:xfrm>
            <a:off x="615950" y="571500"/>
            <a:ext cx="144018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실제 </a:t>
            </a:r>
            <a:r>
              <a:rPr lang="en" altLang="ko-KR" b="1" dirty="0" err="1"/>
              <a:t>MLOps</a:t>
            </a:r>
            <a:r>
              <a:rPr lang="ko-KR" altLang="en-US" b="1" dirty="0"/>
              <a:t>에서 </a:t>
            </a:r>
            <a:r>
              <a:rPr lang="en" altLang="ko-KR" b="1" dirty="0"/>
              <a:t>Runtime Environment </a:t>
            </a:r>
            <a:r>
              <a:rPr lang="ko-KR" altLang="en-US" b="1" dirty="0"/>
              <a:t>사용 예시</a:t>
            </a:r>
          </a:p>
          <a:p>
            <a:endParaRPr lang="en-US" altLang="ko-KR" b="1" dirty="0"/>
          </a:p>
          <a:p>
            <a:r>
              <a:rPr lang="en-US" altLang="ko-KR" b="1" dirty="0"/>
              <a:t>1. </a:t>
            </a:r>
            <a:r>
              <a:rPr lang="ko-KR" altLang="en-US" b="1" dirty="0" err="1"/>
              <a:t>머신러닝</a:t>
            </a:r>
            <a:r>
              <a:rPr lang="ko-KR" altLang="en-US" b="1" dirty="0"/>
              <a:t> 모델 배포</a:t>
            </a:r>
          </a:p>
          <a:p>
            <a:r>
              <a:rPr lang="ko-KR" altLang="en-US" dirty="0"/>
              <a:t>모델 학습 및 저장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개발 환경에서 학습된 모델을 저장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런타임 환경 패키징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Docker </a:t>
            </a:r>
            <a:r>
              <a:rPr lang="ko-KR" altLang="en-US" dirty="0"/>
              <a:t>이미지를 생성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 err="1"/>
              <a:t>Dockerfile</a:t>
            </a:r>
            <a:r>
              <a:rPr lang="en" altLang="ko-KR" dirty="0"/>
              <a:t> </a:t>
            </a:r>
            <a:r>
              <a:rPr lang="ko-KR" altLang="en-US" dirty="0"/>
              <a:t>작성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배포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Kubernetes </a:t>
            </a:r>
            <a:r>
              <a:rPr lang="ko-KR" altLang="en-US" dirty="0"/>
              <a:t>클러스터에 컨테이너 배포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en-US" altLang="ko-KR" b="1" dirty="0"/>
              <a:t>2. </a:t>
            </a:r>
            <a:r>
              <a:rPr lang="en" altLang="ko-KR" b="1" dirty="0"/>
              <a:t>API</a:t>
            </a:r>
            <a:r>
              <a:rPr lang="ko-KR" altLang="en-US" b="1" dirty="0" err="1"/>
              <a:t>를</a:t>
            </a:r>
            <a:r>
              <a:rPr lang="ko-KR" altLang="en-US" b="1" dirty="0"/>
              <a:t> 통한 예측 제공</a:t>
            </a:r>
          </a:p>
          <a:p>
            <a:r>
              <a:rPr lang="ko-KR" altLang="en-US" dirty="0"/>
              <a:t>런타임 환경에서 </a:t>
            </a:r>
            <a:r>
              <a:rPr lang="en" altLang="ko-KR" dirty="0"/>
              <a:t>Flask/</a:t>
            </a:r>
            <a:r>
              <a:rPr lang="en" altLang="ko-KR" dirty="0" err="1"/>
              <a:t>FastAPI</a:t>
            </a:r>
            <a:r>
              <a:rPr lang="ko-KR" altLang="en-US" dirty="0" err="1"/>
              <a:t>를</a:t>
            </a:r>
            <a:r>
              <a:rPr lang="ko-KR" altLang="en-US" dirty="0"/>
              <a:t> 통해 모델 예측 결과 제공</a:t>
            </a:r>
            <a:r>
              <a:rPr lang="en-US" altLang="ko-KR" dirty="0"/>
              <a:t>.</a:t>
            </a:r>
          </a:p>
          <a:p>
            <a:r>
              <a:rPr lang="en" altLang="ko-KR" dirty="0"/>
              <a:t>Docker </a:t>
            </a:r>
            <a:r>
              <a:rPr lang="ko-KR" altLang="en-US" dirty="0"/>
              <a:t>컨테이너를 활용하여 동일한 </a:t>
            </a:r>
            <a:r>
              <a:rPr lang="en" altLang="ko-KR" dirty="0"/>
              <a:t>API </a:t>
            </a:r>
            <a:r>
              <a:rPr lang="ko-KR" altLang="en-US" dirty="0"/>
              <a:t>환경 유지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데이터 파이프라인 통합</a:t>
            </a:r>
          </a:p>
          <a:p>
            <a:r>
              <a:rPr lang="ko-KR" altLang="en-US" dirty="0"/>
              <a:t>데이터 수집</a:t>
            </a:r>
            <a:r>
              <a:rPr lang="en-US" altLang="ko-KR" dirty="0"/>
              <a:t>, </a:t>
            </a:r>
            <a:r>
              <a:rPr lang="ko-KR" altLang="en-US" dirty="0" err="1"/>
              <a:t>전처리</a:t>
            </a:r>
            <a:r>
              <a:rPr lang="en-US" altLang="ko-KR" dirty="0"/>
              <a:t>, </a:t>
            </a:r>
            <a:r>
              <a:rPr lang="ko-KR" altLang="en-US" dirty="0"/>
              <a:t>모델 예측을 위한 통합 런타임 환경 구성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Apache Airflow</a:t>
            </a:r>
            <a:r>
              <a:rPr lang="ko-KR" altLang="en-US" dirty="0"/>
              <a:t>와 함께 동작하는 </a:t>
            </a:r>
            <a:r>
              <a:rPr lang="en" altLang="ko-KR" dirty="0"/>
              <a:t>Docker </a:t>
            </a:r>
            <a:r>
              <a:rPr lang="ko-KR" altLang="en-US" dirty="0"/>
              <a:t>기반 데이터 처리 파이프라인</a:t>
            </a:r>
            <a:r>
              <a:rPr lang="en-US" altLang="ko-KR" dirty="0"/>
              <a:t>.</a:t>
            </a:r>
          </a:p>
          <a:p>
            <a:endParaRPr lang="en" altLang="ko-KR" dirty="0"/>
          </a:p>
          <a:p>
            <a:r>
              <a:rPr lang="en" altLang="ko-KR" dirty="0" err="1"/>
              <a:t>MLOps</a:t>
            </a:r>
            <a:r>
              <a:rPr lang="ko-KR" altLang="en-US" dirty="0"/>
              <a:t>에서 </a:t>
            </a:r>
            <a:r>
              <a:rPr lang="en" altLang="ko-KR" b="1" dirty="0"/>
              <a:t>Runtime Environment</a:t>
            </a:r>
            <a:r>
              <a:rPr lang="ko-KR" altLang="en-US" dirty="0"/>
              <a:t>는 </a:t>
            </a:r>
            <a:r>
              <a:rPr lang="ko-KR" altLang="en-US" dirty="0" err="1"/>
              <a:t>머신러닝</a:t>
            </a:r>
            <a:r>
              <a:rPr lang="ko-KR" altLang="en-US" dirty="0"/>
              <a:t> 모델의 안정적인 실행과 배포를 보장하는 데 핵심적인 역할을 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이를 효과적으로 관리하면 재현성과 확장성이 확보되고</a:t>
            </a:r>
            <a:r>
              <a:rPr lang="en-US" altLang="ko-KR" dirty="0"/>
              <a:t>, </a:t>
            </a:r>
            <a:r>
              <a:rPr lang="ko-KR" altLang="en-US" dirty="0"/>
              <a:t>배포와 운영 단계에서의 오류 가능성을 줄일 수 있음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/>
              <a:t>Docker</a:t>
            </a:r>
            <a:r>
              <a:rPr lang="ko-KR" altLang="en-US" dirty="0"/>
              <a:t>와 같은 컨테이너 도구</a:t>
            </a:r>
            <a:r>
              <a:rPr lang="en-US" altLang="ko-KR" dirty="0"/>
              <a:t>, </a:t>
            </a:r>
            <a:r>
              <a:rPr lang="en" altLang="ko-KR" dirty="0"/>
              <a:t>Kubernetes </a:t>
            </a:r>
            <a:r>
              <a:rPr lang="ko-KR" altLang="en-US" dirty="0"/>
              <a:t>오케스트레이션</a:t>
            </a:r>
            <a:r>
              <a:rPr lang="en-US" altLang="ko-KR" dirty="0"/>
              <a:t>, </a:t>
            </a:r>
            <a:r>
              <a:rPr lang="ko-KR" altLang="en-US" dirty="0"/>
              <a:t>종속성 관리 시스템을 활용하면 이러한 환경을 체계적으로 설계하고 유지할 수 있음</a:t>
            </a:r>
            <a:endParaRPr lang="en-US" altLang="ko-KR" dirty="0"/>
          </a:p>
          <a:p>
            <a:endParaRPr lang="en" altLang="ko-KR" dirty="0"/>
          </a:p>
        </p:txBody>
      </p:sp>
    </p:spTree>
    <p:extLst>
      <p:ext uri="{BB962C8B-B14F-4D97-AF65-F5344CB8AC3E}">
        <p14:creationId xmlns:p14="http://schemas.microsoft.com/office/powerpoint/2010/main" val="3528322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75" dirty="0"/>
              <a:t>Development</a:t>
            </a:r>
            <a:r>
              <a:rPr spc="-165" dirty="0"/>
              <a:t> </a:t>
            </a:r>
            <a:r>
              <a:rPr dirty="0"/>
              <a:t>to</a:t>
            </a:r>
            <a:r>
              <a:rPr spc="-165" dirty="0"/>
              <a:t> </a:t>
            </a:r>
            <a:r>
              <a:rPr spc="-35" dirty="0"/>
              <a:t>deployment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2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527792-7E09-D811-D351-DF85453D09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7</a:t>
            </a:fld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75" dirty="0"/>
              <a:t>Development</a:t>
            </a:r>
            <a:r>
              <a:rPr spc="-165" dirty="0"/>
              <a:t> </a:t>
            </a:r>
            <a:r>
              <a:rPr dirty="0"/>
              <a:t>to</a:t>
            </a:r>
            <a:r>
              <a:rPr spc="-165" dirty="0"/>
              <a:t> </a:t>
            </a:r>
            <a:r>
              <a:rPr spc="-35" dirty="0"/>
              <a:t>deployment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09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7BCEC2-6668-8B42-DD65-05B9440072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8</a:t>
            </a:fld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35" dirty="0"/>
              <a:t>Runtime</a:t>
            </a:r>
            <a:r>
              <a:rPr spc="-160" dirty="0"/>
              <a:t> </a:t>
            </a:r>
            <a:r>
              <a:rPr spc="-135" dirty="0"/>
              <a:t>environments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286" y="1166812"/>
            <a:ext cx="6427703" cy="42783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0508" y="1166812"/>
            <a:ext cx="6427703" cy="4278311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15D5938-5124-0704-83BD-B84D3F98D5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9</a:t>
            </a:fld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35" dirty="0"/>
              <a:t>Runtime</a:t>
            </a:r>
            <a:r>
              <a:rPr spc="-160" dirty="0"/>
              <a:t> </a:t>
            </a:r>
            <a:r>
              <a:rPr spc="-135" dirty="0"/>
              <a:t>environments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2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D7675E-E1B9-40C9-E9B5-88CDE449E7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10</a:t>
            </a:fld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264096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Container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7039" y="1849872"/>
            <a:ext cx="11463419" cy="5232240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16C65E-E2EC-E82F-2BFF-CFB53208B0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11</a:t>
            </a:fld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5" dirty="0"/>
              <a:t>Benefits</a:t>
            </a:r>
            <a:r>
              <a:rPr spc="-160" dirty="0"/>
              <a:t> </a:t>
            </a:r>
            <a:r>
              <a:rPr spc="-95" dirty="0"/>
              <a:t>containers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5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993392"/>
            <a:ext cx="2802255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Easier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maintain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Portable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Fast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start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up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82490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479961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90508" y="1166806"/>
            <a:ext cx="6427703" cy="4278312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40A94847-E452-6DD6-0F5B-12B8AFBD8E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4925" y="1727283"/>
            <a:ext cx="6508115" cy="319468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065" marR="5080" algn="ctr">
              <a:lnSpc>
                <a:spcPts val="6770"/>
              </a:lnSpc>
              <a:spcBef>
                <a:spcPts val="1130"/>
              </a:spcBef>
            </a:pPr>
            <a:r>
              <a:rPr sz="6450" spc="-50" dirty="0"/>
              <a:t>Machine</a:t>
            </a:r>
            <a:r>
              <a:rPr sz="6450" spc="-390" dirty="0"/>
              <a:t> </a:t>
            </a:r>
            <a:r>
              <a:rPr sz="6450" spc="-120" dirty="0"/>
              <a:t>learning </a:t>
            </a:r>
            <a:r>
              <a:rPr sz="6450" spc="-45" dirty="0"/>
              <a:t>deployment </a:t>
            </a:r>
            <a:r>
              <a:rPr sz="6450" spc="-20" dirty="0"/>
              <a:t>architecture</a:t>
            </a:r>
            <a:endParaRPr sz="6450"/>
          </a:p>
          <a:p>
            <a:pPr marR="53340" algn="ctr">
              <a:lnSpc>
                <a:spcPct val="100000"/>
              </a:lnSpc>
              <a:spcBef>
                <a:spcPts val="910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325F52B9-4C4A-88FC-EC0B-83088E851A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13</a:t>
            </a:fld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5" dirty="0"/>
              <a:t>Microservices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2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5FE9E8-3251-DD1C-A6B6-BF141B77F0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14</a:t>
            </a:fld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C4BF16F-781C-2AA1-4E48-8D109ADAC0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15</a:t>
            </a:fld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5A073-8C77-BDC1-ACB7-F0FA9BE7CD6C}"/>
              </a:ext>
            </a:extLst>
          </p:cNvPr>
          <p:cNvSpPr txBox="1"/>
          <p:nvPr/>
        </p:nvSpPr>
        <p:spPr>
          <a:xfrm>
            <a:off x="539750" y="495300"/>
            <a:ext cx="14478000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Microservice Architecture(</a:t>
            </a:r>
            <a:r>
              <a:rPr lang="ko-KR" altLang="en-US" b="1" dirty="0" err="1"/>
              <a:t>마이크로서비스</a:t>
            </a:r>
            <a:r>
              <a:rPr lang="ko-KR" altLang="en-US" b="1" dirty="0"/>
              <a:t> 아키텍처</a:t>
            </a:r>
            <a:r>
              <a:rPr lang="en-US" altLang="ko-KR" b="1" dirty="0"/>
              <a:t>)</a:t>
            </a:r>
            <a:r>
              <a:rPr lang="ko-KR" altLang="en-US" dirty="0"/>
              <a:t>는 애플리케이션을 독립적으로 배포하고 관리할 수 있는 작은 서비스들로 나누는 설계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 err="1"/>
              <a:t>MLOps</a:t>
            </a:r>
            <a:r>
              <a:rPr lang="ko-KR" altLang="en-US" dirty="0"/>
              <a:t>에서 </a:t>
            </a:r>
            <a:r>
              <a:rPr lang="ko-KR" altLang="en-US" dirty="0" err="1"/>
              <a:t>마이크로서비스</a:t>
            </a:r>
            <a:r>
              <a:rPr lang="ko-KR" altLang="en-US" dirty="0"/>
              <a:t> 아키텍처는 </a:t>
            </a:r>
            <a:r>
              <a:rPr lang="ko-KR" altLang="en-US" dirty="0" err="1"/>
              <a:t>머신러닝</a:t>
            </a:r>
            <a:r>
              <a:rPr lang="ko-KR" altLang="en-US" dirty="0"/>
              <a:t> 모델 및 관련 기능을 </a:t>
            </a:r>
            <a:r>
              <a:rPr lang="ko-KR" altLang="en-US" b="1" dirty="0"/>
              <a:t>작은 독립형 서비스</a:t>
            </a:r>
            <a:r>
              <a:rPr lang="ko-KR" altLang="en-US" dirty="0"/>
              <a:t>로 구축하고</a:t>
            </a:r>
            <a:r>
              <a:rPr lang="en-US" altLang="ko-KR" dirty="0"/>
              <a:t>, </a:t>
            </a:r>
            <a:r>
              <a:rPr lang="ko-KR" altLang="en-US" dirty="0"/>
              <a:t>이를 조합하여 전체 시스템을 운영하는 방법론을 의미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" altLang="ko-KR" b="1" dirty="0"/>
              <a:t>Microservice Architecture</a:t>
            </a:r>
            <a:r>
              <a:rPr lang="ko-KR" altLang="en-US" b="1" dirty="0"/>
              <a:t>의 주요 특징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독립적인 서비스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각각의 서비스가 독립적으로 개발</a:t>
            </a:r>
            <a:r>
              <a:rPr lang="en-US" altLang="ko-KR" dirty="0"/>
              <a:t>, </a:t>
            </a:r>
            <a:r>
              <a:rPr lang="ko-KR" altLang="en-US" dirty="0"/>
              <a:t>배포</a:t>
            </a:r>
            <a:r>
              <a:rPr lang="en-US" altLang="ko-KR" dirty="0"/>
              <a:t>, </a:t>
            </a:r>
            <a:r>
              <a:rPr lang="ko-KR" altLang="en-US" dirty="0"/>
              <a:t>확장 가능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데이터 수집 서비스</a:t>
            </a:r>
            <a:r>
              <a:rPr lang="en-US" altLang="ko-KR" dirty="0"/>
              <a:t>, </a:t>
            </a:r>
            <a:r>
              <a:rPr lang="ko-KR" altLang="en-US" dirty="0"/>
              <a:t>모델 학습 서비스</a:t>
            </a:r>
            <a:r>
              <a:rPr lang="en-US" altLang="ko-KR" dirty="0"/>
              <a:t>, </a:t>
            </a:r>
            <a:r>
              <a:rPr lang="ko-KR" altLang="en-US" dirty="0"/>
              <a:t>모델 배포 서비스 등이 독립적으로 실행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서비스 간 통신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각 서비스는 </a:t>
            </a:r>
            <a:r>
              <a:rPr lang="en" altLang="ko-KR" dirty="0"/>
              <a:t>HTTP REST API, </a:t>
            </a:r>
            <a:r>
              <a:rPr lang="en" altLang="ko-KR" dirty="0" err="1"/>
              <a:t>gRPC</a:t>
            </a:r>
            <a:r>
              <a:rPr lang="en" altLang="ko-KR" dirty="0"/>
              <a:t>, </a:t>
            </a:r>
            <a:r>
              <a:rPr lang="ko-KR" altLang="en-US" dirty="0"/>
              <a:t>메시지 큐</a:t>
            </a:r>
            <a:r>
              <a:rPr lang="en-US" altLang="ko-KR" dirty="0"/>
              <a:t>(</a:t>
            </a:r>
            <a:r>
              <a:rPr lang="en" altLang="ko-KR" dirty="0"/>
              <a:t>RabbitMQ, Kafka) </a:t>
            </a:r>
            <a:r>
              <a:rPr lang="ko-KR" altLang="en-US" dirty="0"/>
              <a:t>등을 통해 통신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유연성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특정 서비스만 업데이트하거나 확장 가능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새로운 모델을 배포해도 데이터 수집 시스템에는 영향을 미치지 않음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" altLang="ko-KR" b="1" dirty="0" err="1"/>
              <a:t>MLOps</a:t>
            </a:r>
            <a:r>
              <a:rPr lang="ko-KR" altLang="en-US" b="1" dirty="0"/>
              <a:t>에서 </a:t>
            </a:r>
            <a:r>
              <a:rPr lang="en" altLang="ko-KR" b="1" dirty="0"/>
              <a:t>Microservice Architecture</a:t>
            </a:r>
            <a:r>
              <a:rPr lang="ko-KR" altLang="en-US" b="1" dirty="0"/>
              <a:t>의 역할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모델 배포 및 관리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각 </a:t>
            </a:r>
            <a:r>
              <a:rPr lang="ko-KR" altLang="en-US" dirty="0" err="1"/>
              <a:t>머신러닝</a:t>
            </a:r>
            <a:r>
              <a:rPr lang="ko-KR" altLang="en-US" dirty="0"/>
              <a:t> 모델을 개별 </a:t>
            </a:r>
            <a:r>
              <a:rPr lang="ko-KR" altLang="en-US" dirty="0" err="1"/>
              <a:t>마이크로서비스로</a:t>
            </a:r>
            <a:r>
              <a:rPr lang="ko-KR" altLang="en-US" dirty="0"/>
              <a:t> 배포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새로운 모델 배포 시 기존 시스템에 최소한의 영향을 미침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스케일링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트래픽 증가 시 특정 서비스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모델 추론 </a:t>
            </a:r>
            <a:r>
              <a:rPr lang="en" altLang="ko-KR" dirty="0"/>
              <a:t>API)</a:t>
            </a:r>
            <a:r>
              <a:rPr lang="ko-KR" altLang="en-US" dirty="0" err="1"/>
              <a:t>를</a:t>
            </a:r>
            <a:r>
              <a:rPr lang="ko-KR" altLang="en-US" dirty="0"/>
              <a:t> 독립적으로 확장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자원을 효율적으로 사용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유지보수와 디버깅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문제 발생 시 해당 서비스만 수정 가능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전체 시스템을 중단하지 않고 부분적으로 업데이트 가능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다중 모델 지원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여러 모델을 각각의 </a:t>
            </a:r>
            <a:r>
              <a:rPr lang="ko-KR" altLang="en-US" dirty="0" err="1"/>
              <a:t>마이크로서비스로</a:t>
            </a:r>
            <a:r>
              <a:rPr lang="ko-KR" altLang="en-US" dirty="0"/>
              <a:t> 운영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추천 모델</a:t>
            </a:r>
            <a:r>
              <a:rPr lang="en-US" altLang="ko-KR" dirty="0"/>
              <a:t>, </a:t>
            </a:r>
            <a:r>
              <a:rPr lang="ko-KR" altLang="en-US" dirty="0"/>
              <a:t>예측 모델</a:t>
            </a:r>
            <a:r>
              <a:rPr lang="en-US" altLang="ko-KR" dirty="0"/>
              <a:t>, </a:t>
            </a:r>
            <a:r>
              <a:rPr lang="ko-KR" altLang="en-US" dirty="0"/>
              <a:t>분류 모델을 별도로 관리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0861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C30BD-932A-25A3-0B28-C9E6CFD04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9F28F25-6A3F-00DC-2E30-0E91C479839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16</a:t>
            </a:fld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90D96F-0FCE-0A92-9918-ED67641ECABA}"/>
              </a:ext>
            </a:extLst>
          </p:cNvPr>
          <p:cNvSpPr txBox="1"/>
          <p:nvPr/>
        </p:nvSpPr>
        <p:spPr>
          <a:xfrm>
            <a:off x="539750" y="495300"/>
            <a:ext cx="144780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Microservice Architecture</a:t>
            </a:r>
            <a:r>
              <a:rPr lang="ko-KR" altLang="en-US" b="1" dirty="0"/>
              <a:t>의 장점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확장성 </a:t>
            </a:r>
            <a:r>
              <a:rPr lang="en-US" altLang="ko-KR" b="1" dirty="0"/>
              <a:t>(</a:t>
            </a:r>
            <a:r>
              <a:rPr lang="en" altLang="ko-KR" b="1" dirty="0"/>
              <a:t>Scalability)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트래픽이 높은 서비스만 독립적으로 확장 가능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추론 </a:t>
            </a:r>
            <a:r>
              <a:rPr lang="en" altLang="ko-KR" dirty="0"/>
              <a:t>API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" altLang="ko-KR" dirty="0"/>
              <a:t>GPU </a:t>
            </a:r>
            <a:r>
              <a:rPr lang="ko-KR" altLang="en-US" dirty="0"/>
              <a:t>인스턴스에서 스케일링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유연성 </a:t>
            </a:r>
            <a:r>
              <a:rPr lang="en-US" altLang="ko-KR" b="1" dirty="0"/>
              <a:t>(</a:t>
            </a:r>
            <a:r>
              <a:rPr lang="en" altLang="ko-KR" b="1" dirty="0"/>
              <a:t>Flexibility)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특정 서비스만 수정하거나 교체 가능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모델 학습 로직을 업데이트하면서도 배포 서비스는 그대로 유지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고가용성 </a:t>
            </a:r>
            <a:r>
              <a:rPr lang="en-US" altLang="ko-KR" b="1" dirty="0"/>
              <a:t>(</a:t>
            </a:r>
            <a:r>
              <a:rPr lang="en" altLang="ko-KR" b="1" dirty="0"/>
              <a:t>High Availability)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하나의 서비스 장애가 전체 시스템에 영향을 미치지 않음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서비스가 실패해도 추론 서비스는 계속 작동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다중 모델 및 워크로드 지원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여러 모델을 동시에 운영하며 서로 다른 워크로드를 처리 가능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효율적인 개발 및 배포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서비스별로 팀을 나누어 병렬로 개발 가능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각 서비스는 독립적인 배포 주기를 가짐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" altLang="ko-KR" b="1" dirty="0"/>
              <a:t>Microservice Architecture</a:t>
            </a:r>
            <a:r>
              <a:rPr lang="ko-KR" altLang="en-US" b="1" dirty="0"/>
              <a:t>의 단점 및 도전 과제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복잡성 증가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서비스 수가 많아질수록 아키텍처 관리가 </a:t>
            </a:r>
            <a:r>
              <a:rPr lang="ko-KR" altLang="en-US" dirty="0" err="1"/>
              <a:t>어려워짐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서비스 간 통신</a:t>
            </a:r>
            <a:r>
              <a:rPr lang="en-US" altLang="ko-KR" dirty="0"/>
              <a:t>, </a:t>
            </a:r>
            <a:r>
              <a:rPr lang="ko-KR" altLang="en-US" dirty="0"/>
              <a:t>인증</a:t>
            </a:r>
            <a:r>
              <a:rPr lang="en-US" altLang="ko-KR" dirty="0"/>
              <a:t>, </a:t>
            </a:r>
            <a:r>
              <a:rPr lang="ko-KR" altLang="en-US" dirty="0"/>
              <a:t>로깅 관리의 복잡성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통합 테스트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여러 서비스 간의 상호작용을 테스트하는 과정이 복잡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성능 오버헤드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네트워크를 통한 서비스 간 통신으로 인한 지연 발생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모니터링 및 디버깅 어려움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각 서비스의 로그와 </a:t>
            </a:r>
            <a:r>
              <a:rPr lang="ko-KR" altLang="en-US" dirty="0" err="1"/>
              <a:t>메트릭을</a:t>
            </a:r>
            <a:r>
              <a:rPr lang="ko-KR" altLang="en-US" dirty="0"/>
              <a:t> 통합적으로 관리해야 함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4393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C411D-4C70-32B4-7739-1040385B4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22F4327-F7FB-5A99-ACAC-9AD0269EDA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17</a:t>
            </a:fld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5990DB-3B03-8C2E-9F3A-80B7781E21B0}"/>
              </a:ext>
            </a:extLst>
          </p:cNvPr>
          <p:cNvSpPr txBox="1"/>
          <p:nvPr/>
        </p:nvSpPr>
        <p:spPr>
          <a:xfrm>
            <a:off x="539750" y="495300"/>
            <a:ext cx="14478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 err="1"/>
              <a:t>MLOps</a:t>
            </a:r>
            <a:r>
              <a:rPr lang="ko-KR" altLang="en-US" b="1" dirty="0"/>
              <a:t>에서의 활용 예제</a:t>
            </a:r>
          </a:p>
          <a:p>
            <a:r>
              <a:rPr lang="ko-KR" altLang="en-US" b="1" dirty="0" err="1"/>
              <a:t>마이크로서비스</a:t>
            </a:r>
            <a:r>
              <a:rPr lang="ko-KR" altLang="en-US" b="1" dirty="0"/>
              <a:t> 아키텍처 구성 예</a:t>
            </a:r>
          </a:p>
          <a:p>
            <a:endParaRPr lang="en-US" altLang="ko-KR" b="1" dirty="0"/>
          </a:p>
          <a:p>
            <a:r>
              <a:rPr lang="ko-KR" altLang="en-US" b="1" dirty="0"/>
              <a:t>데이터 처리 서비스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Kafka</a:t>
            </a:r>
            <a:r>
              <a:rPr lang="ko-KR" altLang="en-US" dirty="0"/>
              <a:t>로 실시간 데이터 수집 및 </a:t>
            </a:r>
            <a:r>
              <a:rPr lang="ko-KR" altLang="en-US" dirty="0" err="1"/>
              <a:t>전처리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모델 학습 서비스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새로운 데이터가 들어오면 모델 </a:t>
            </a:r>
            <a:r>
              <a:rPr lang="ko-KR" altLang="en-US" dirty="0" err="1"/>
              <a:t>재학습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모델 배포 서비스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학습된 모델을 </a:t>
            </a:r>
            <a:r>
              <a:rPr lang="en" altLang="ko-KR" dirty="0"/>
              <a:t>TensorFlow Serving</a:t>
            </a:r>
            <a:r>
              <a:rPr lang="ko-KR" altLang="en-US" dirty="0" err="1"/>
              <a:t>으로</a:t>
            </a:r>
            <a:r>
              <a:rPr lang="ko-KR" altLang="en-US" dirty="0"/>
              <a:t> </a:t>
            </a:r>
            <a:r>
              <a:rPr lang="en" altLang="ko-KR" dirty="0"/>
              <a:t>API </a:t>
            </a:r>
            <a:r>
              <a:rPr lang="ko-KR" altLang="en-US" dirty="0"/>
              <a:t>제공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모니터링 서비스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Evidently AI</a:t>
            </a:r>
            <a:r>
              <a:rPr lang="ko-KR" altLang="en-US" dirty="0"/>
              <a:t>로 데이터 </a:t>
            </a:r>
            <a:r>
              <a:rPr lang="ko-KR" altLang="en-US" dirty="0" err="1"/>
              <a:t>드리프트와</a:t>
            </a:r>
            <a:r>
              <a:rPr lang="ko-KR" altLang="en-US" dirty="0"/>
              <a:t> 모델 성능 모니터링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" altLang="ko-KR" dirty="0" err="1"/>
              <a:t>MLOps</a:t>
            </a:r>
            <a:r>
              <a:rPr lang="ko-KR" altLang="en-US" dirty="0"/>
              <a:t>에서 </a:t>
            </a:r>
            <a:r>
              <a:rPr lang="en" altLang="ko-KR" b="1" dirty="0"/>
              <a:t>Microservice Architecture</a:t>
            </a:r>
            <a:r>
              <a:rPr lang="ko-KR" altLang="en-US" dirty="0"/>
              <a:t>는 </a:t>
            </a:r>
            <a:r>
              <a:rPr lang="ko-KR" altLang="en-US" dirty="0" err="1"/>
              <a:t>머신러닝</a:t>
            </a:r>
            <a:r>
              <a:rPr lang="ko-KR" altLang="en-US" dirty="0"/>
              <a:t> 시스템의 </a:t>
            </a:r>
            <a:r>
              <a:rPr lang="ko-KR" altLang="en-US" b="1" dirty="0"/>
              <a:t>유연성</a:t>
            </a:r>
            <a:r>
              <a:rPr lang="en-US" altLang="ko-KR" dirty="0"/>
              <a:t>, </a:t>
            </a:r>
            <a:r>
              <a:rPr lang="ko-KR" altLang="en-US" b="1" dirty="0"/>
              <a:t>확장성</a:t>
            </a:r>
            <a:r>
              <a:rPr lang="en-US" altLang="ko-KR" dirty="0"/>
              <a:t>, </a:t>
            </a:r>
            <a:r>
              <a:rPr lang="ko-KR" altLang="en-US" b="1" dirty="0"/>
              <a:t>관리 효율성</a:t>
            </a:r>
            <a:r>
              <a:rPr lang="ko-KR" altLang="en-US" dirty="0"/>
              <a:t>을 극대화하는 설계 방식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각 기능을 독립적인 서비스로 구성함으로써 시스템이 더 안정적이고 유지보수가 용이해짐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그러나 복잡성이 증가하므로 서비스 간 통신</a:t>
            </a:r>
            <a:r>
              <a:rPr lang="en-US" altLang="ko-KR" dirty="0"/>
              <a:t>, </a:t>
            </a:r>
            <a:r>
              <a:rPr lang="ko-KR" altLang="en-US" dirty="0"/>
              <a:t>모니터링</a:t>
            </a:r>
            <a:r>
              <a:rPr lang="en-US" altLang="ko-KR" dirty="0"/>
              <a:t>, </a:t>
            </a:r>
            <a:r>
              <a:rPr lang="en" altLang="ko-KR" dirty="0"/>
              <a:t>CI/CD </a:t>
            </a:r>
            <a:r>
              <a:rPr lang="ko-KR" altLang="en-US" dirty="0"/>
              <a:t>파이프라인의 구축이 필수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/>
              <a:t>Microservice Architecture</a:t>
            </a:r>
            <a:r>
              <a:rPr lang="ko-KR" altLang="en-US" dirty="0"/>
              <a:t>는 특히 대규모 데이터와 다중 모델 환경에서 효과적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5334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60" dirty="0"/>
              <a:t>Monolith</a:t>
            </a:r>
            <a:r>
              <a:rPr spc="-225" dirty="0"/>
              <a:t> vs.</a:t>
            </a:r>
            <a:r>
              <a:rPr spc="-95" dirty="0"/>
              <a:t> </a:t>
            </a:r>
            <a:r>
              <a:rPr spc="-125" dirty="0"/>
              <a:t>microservice</a:t>
            </a:r>
            <a:r>
              <a:rPr spc="-15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286" y="1166812"/>
            <a:ext cx="6427703" cy="64072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2169861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98279" y="1895140"/>
            <a:ext cx="5926455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One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uniform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application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containing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all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services</a:t>
            </a:r>
            <a:endParaRPr sz="2550">
              <a:latin typeface="Arial"/>
              <a:cs typeface="Arial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16968D-FF24-653D-07D1-D1F1916D12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18</a:t>
            </a:fld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60" dirty="0"/>
              <a:t>Monolith</a:t>
            </a:r>
            <a:r>
              <a:rPr spc="-225" dirty="0"/>
              <a:t> vs.</a:t>
            </a:r>
            <a:r>
              <a:rPr spc="-95" dirty="0"/>
              <a:t> </a:t>
            </a:r>
            <a:r>
              <a:rPr spc="-125" dirty="0"/>
              <a:t>microservice</a:t>
            </a:r>
            <a:r>
              <a:rPr spc="-15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1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993398"/>
            <a:ext cx="660527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Collection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smaller,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independent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services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0508" y="1166812"/>
            <a:ext cx="6427703" cy="6407232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9A7BA6-4DBD-CAE6-D9FD-53A55D5FA2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19</a:t>
            </a:fld>
            <a:endParaRPr lang="en-US" altLang="ko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-70451"/>
            <a:ext cx="13761085" cy="2157095"/>
          </a:xfrm>
          <a:prstGeom prst="rect">
            <a:avLst/>
          </a:prstGeom>
        </p:spPr>
        <p:txBody>
          <a:bodyPr vert="horz" wrap="square" lIns="0" tIns="358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25"/>
              </a:spcBef>
            </a:pPr>
            <a:r>
              <a:rPr spc="-20" dirty="0"/>
              <a:t>Inferencing</a:t>
            </a:r>
          </a:p>
          <a:p>
            <a:pPr marL="12700" marR="5080">
              <a:lnSpc>
                <a:spcPct val="121600"/>
              </a:lnSpc>
              <a:spcBef>
                <a:spcPts val="919"/>
              </a:spcBef>
            </a:pPr>
            <a:r>
              <a:rPr sz="2650" b="0" i="1" dirty="0">
                <a:latin typeface="Arial"/>
                <a:cs typeface="Arial"/>
              </a:rPr>
              <a:t>Inferencing</a:t>
            </a:r>
            <a:r>
              <a:rPr sz="2650" b="0" i="1" spc="80" dirty="0">
                <a:latin typeface="Arial"/>
                <a:cs typeface="Arial"/>
              </a:rPr>
              <a:t> </a:t>
            </a:r>
            <a:r>
              <a:rPr sz="2650" b="0" i="1" dirty="0">
                <a:latin typeface="Arial"/>
                <a:cs typeface="Arial"/>
              </a:rPr>
              <a:t>is</a:t>
            </a:r>
            <a:r>
              <a:rPr sz="2650" b="0" i="1" spc="85" dirty="0">
                <a:latin typeface="Arial"/>
                <a:cs typeface="Arial"/>
              </a:rPr>
              <a:t> </a:t>
            </a:r>
            <a:r>
              <a:rPr sz="2650" b="0" i="1" spc="70" dirty="0">
                <a:latin typeface="Arial"/>
                <a:cs typeface="Arial"/>
              </a:rPr>
              <a:t>the</a:t>
            </a:r>
            <a:r>
              <a:rPr sz="2650" b="0" i="1" spc="90" dirty="0">
                <a:latin typeface="Arial"/>
                <a:cs typeface="Arial"/>
              </a:rPr>
              <a:t> </a:t>
            </a:r>
            <a:r>
              <a:rPr sz="2650" b="0" i="1" dirty="0">
                <a:latin typeface="Arial"/>
                <a:cs typeface="Arial"/>
              </a:rPr>
              <a:t>process</a:t>
            </a:r>
            <a:r>
              <a:rPr sz="2650" b="0" i="1" spc="90" dirty="0">
                <a:latin typeface="Arial"/>
                <a:cs typeface="Arial"/>
              </a:rPr>
              <a:t> </a:t>
            </a:r>
            <a:r>
              <a:rPr sz="2650" b="0" i="1" dirty="0">
                <a:latin typeface="Arial"/>
                <a:cs typeface="Arial"/>
              </a:rPr>
              <a:t>in</a:t>
            </a:r>
            <a:r>
              <a:rPr sz="2650" b="0" i="1" spc="85" dirty="0">
                <a:latin typeface="Arial"/>
                <a:cs typeface="Arial"/>
              </a:rPr>
              <a:t> </a:t>
            </a:r>
            <a:r>
              <a:rPr sz="2650" b="0" i="1" dirty="0">
                <a:latin typeface="Arial"/>
                <a:cs typeface="Arial"/>
              </a:rPr>
              <a:t>which</a:t>
            </a:r>
            <a:r>
              <a:rPr sz="2650" b="0" i="1" spc="90" dirty="0">
                <a:latin typeface="Arial"/>
                <a:cs typeface="Arial"/>
              </a:rPr>
              <a:t> </a:t>
            </a:r>
            <a:r>
              <a:rPr sz="2650" b="0" i="1" dirty="0">
                <a:latin typeface="Arial"/>
                <a:cs typeface="Arial"/>
              </a:rPr>
              <a:t>we</a:t>
            </a:r>
            <a:r>
              <a:rPr sz="2650" b="0" i="1" spc="90" dirty="0">
                <a:latin typeface="Arial"/>
                <a:cs typeface="Arial"/>
              </a:rPr>
              <a:t> </a:t>
            </a:r>
            <a:r>
              <a:rPr sz="2650" b="0" i="1" dirty="0">
                <a:latin typeface="Arial"/>
                <a:cs typeface="Arial"/>
              </a:rPr>
              <a:t>send</a:t>
            </a:r>
            <a:r>
              <a:rPr sz="2650" b="0" i="1" spc="85" dirty="0">
                <a:latin typeface="Arial"/>
                <a:cs typeface="Arial"/>
              </a:rPr>
              <a:t> </a:t>
            </a:r>
            <a:r>
              <a:rPr sz="2650" b="0" i="1" dirty="0">
                <a:latin typeface="Arial"/>
                <a:cs typeface="Arial"/>
              </a:rPr>
              <a:t>new</a:t>
            </a:r>
            <a:r>
              <a:rPr sz="2650" b="0" i="1" spc="90" dirty="0">
                <a:latin typeface="Arial"/>
                <a:cs typeface="Arial"/>
              </a:rPr>
              <a:t> </a:t>
            </a:r>
            <a:r>
              <a:rPr sz="2650" b="0" i="1" spc="70" dirty="0">
                <a:latin typeface="Arial"/>
                <a:cs typeface="Arial"/>
              </a:rPr>
              <a:t>input</a:t>
            </a:r>
            <a:r>
              <a:rPr sz="2650" b="0" i="1" spc="85" dirty="0">
                <a:latin typeface="Arial"/>
                <a:cs typeface="Arial"/>
              </a:rPr>
              <a:t> </a:t>
            </a:r>
            <a:r>
              <a:rPr sz="2650" b="0" i="1" spc="95" dirty="0">
                <a:latin typeface="Arial"/>
                <a:cs typeface="Arial"/>
              </a:rPr>
              <a:t>to</a:t>
            </a:r>
            <a:r>
              <a:rPr sz="2650" b="0" i="1" spc="90" dirty="0">
                <a:latin typeface="Arial"/>
                <a:cs typeface="Arial"/>
              </a:rPr>
              <a:t> </a:t>
            </a:r>
            <a:r>
              <a:rPr sz="2650" b="0" i="1" spc="70" dirty="0">
                <a:latin typeface="Arial"/>
                <a:cs typeface="Arial"/>
              </a:rPr>
              <a:t>the</a:t>
            </a:r>
            <a:r>
              <a:rPr sz="2650" b="0" i="1" spc="90" dirty="0">
                <a:latin typeface="Arial"/>
                <a:cs typeface="Arial"/>
              </a:rPr>
              <a:t> </a:t>
            </a:r>
            <a:r>
              <a:rPr sz="2650" b="0" i="1" spc="45" dirty="0">
                <a:latin typeface="Arial"/>
                <a:cs typeface="Arial"/>
              </a:rPr>
              <a:t>machine</a:t>
            </a:r>
            <a:r>
              <a:rPr sz="2650" b="0" i="1" spc="85" dirty="0">
                <a:latin typeface="Arial"/>
                <a:cs typeface="Arial"/>
              </a:rPr>
              <a:t> </a:t>
            </a:r>
            <a:r>
              <a:rPr sz="2650" b="0" i="1" dirty="0">
                <a:latin typeface="Arial"/>
                <a:cs typeface="Arial"/>
              </a:rPr>
              <a:t>learning</a:t>
            </a:r>
            <a:r>
              <a:rPr sz="2650" b="0" i="1" spc="90" dirty="0">
                <a:latin typeface="Arial"/>
                <a:cs typeface="Arial"/>
              </a:rPr>
              <a:t> </a:t>
            </a:r>
            <a:r>
              <a:rPr sz="2650" b="0" i="1" dirty="0">
                <a:latin typeface="Arial"/>
                <a:cs typeface="Arial"/>
              </a:rPr>
              <a:t>model</a:t>
            </a:r>
            <a:r>
              <a:rPr sz="2650" b="0" i="1" spc="90" dirty="0">
                <a:latin typeface="Arial"/>
                <a:cs typeface="Arial"/>
              </a:rPr>
              <a:t> </a:t>
            </a:r>
            <a:r>
              <a:rPr sz="2650" b="0" i="1" spc="40" dirty="0">
                <a:latin typeface="Arial"/>
                <a:cs typeface="Arial"/>
              </a:rPr>
              <a:t>and </a:t>
            </a:r>
            <a:r>
              <a:rPr sz="2650" b="0" i="1" dirty="0">
                <a:latin typeface="Arial"/>
                <a:cs typeface="Arial"/>
              </a:rPr>
              <a:t>receive</a:t>
            </a:r>
            <a:r>
              <a:rPr sz="2650" b="0" i="1" spc="50" dirty="0">
                <a:latin typeface="Arial"/>
                <a:cs typeface="Arial"/>
              </a:rPr>
              <a:t> </a:t>
            </a:r>
            <a:r>
              <a:rPr sz="2650" b="0" i="1" spc="90" dirty="0">
                <a:latin typeface="Arial"/>
                <a:cs typeface="Arial"/>
              </a:rPr>
              <a:t>output</a:t>
            </a:r>
            <a:r>
              <a:rPr sz="2650" b="0" i="1" spc="50" dirty="0">
                <a:latin typeface="Arial"/>
                <a:cs typeface="Arial"/>
              </a:rPr>
              <a:t> </a:t>
            </a:r>
            <a:r>
              <a:rPr sz="2650" b="0" i="1" spc="65" dirty="0">
                <a:latin typeface="Arial"/>
                <a:cs typeface="Arial"/>
              </a:rPr>
              <a:t>from</a:t>
            </a:r>
            <a:r>
              <a:rPr sz="2650" b="0" i="1" spc="55" dirty="0">
                <a:latin typeface="Arial"/>
                <a:cs typeface="Arial"/>
              </a:rPr>
              <a:t> </a:t>
            </a:r>
            <a:r>
              <a:rPr sz="2650" b="0" i="1" spc="70" dirty="0">
                <a:latin typeface="Arial"/>
                <a:cs typeface="Arial"/>
              </a:rPr>
              <a:t>the</a:t>
            </a:r>
            <a:r>
              <a:rPr sz="2650" b="0" i="1" spc="50" dirty="0">
                <a:latin typeface="Arial"/>
                <a:cs typeface="Arial"/>
              </a:rPr>
              <a:t> </a:t>
            </a:r>
            <a:r>
              <a:rPr sz="2650" b="0" i="1" spc="-10" dirty="0">
                <a:latin typeface="Arial"/>
                <a:cs typeface="Arial"/>
              </a:rPr>
              <a:t>model.</a:t>
            </a:r>
            <a:endParaRPr sz="26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21" y="2279771"/>
            <a:ext cx="10194255" cy="5183079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904D08-0CB8-53F2-9A08-1B8842C89E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20</a:t>
            </a:fld>
            <a:endParaRPr lang="en-US" altLang="ko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70" dirty="0"/>
              <a:t>Application</a:t>
            </a:r>
            <a:r>
              <a:rPr spc="-215" dirty="0"/>
              <a:t> </a:t>
            </a:r>
            <a:r>
              <a:rPr spc="-95" dirty="0"/>
              <a:t>Programming</a:t>
            </a:r>
            <a:r>
              <a:rPr spc="-204" dirty="0"/>
              <a:t> </a:t>
            </a:r>
            <a:r>
              <a:rPr spc="-10" dirty="0"/>
              <a:t>Interface</a:t>
            </a:r>
            <a:r>
              <a:rPr spc="-200" dirty="0"/>
              <a:t> </a:t>
            </a:r>
            <a:r>
              <a:rPr spc="-10" dirty="0"/>
              <a:t>(API)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00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1C3462-7747-03FE-A114-BCA24FC596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065" marR="5080" indent="-635" algn="ctr">
              <a:lnSpc>
                <a:spcPts val="6770"/>
              </a:lnSpc>
              <a:spcBef>
                <a:spcPts val="1130"/>
              </a:spcBef>
            </a:pPr>
            <a:r>
              <a:rPr spc="275" dirty="0"/>
              <a:t>CI/CD</a:t>
            </a:r>
            <a:r>
              <a:rPr spc="-220" dirty="0"/>
              <a:t> </a:t>
            </a:r>
            <a:r>
              <a:rPr spc="-25" dirty="0"/>
              <a:t>and </a:t>
            </a:r>
            <a:r>
              <a:rPr spc="-155" dirty="0"/>
              <a:t>deployment</a:t>
            </a:r>
            <a:r>
              <a:rPr spc="-260" dirty="0"/>
              <a:t> </a:t>
            </a:r>
            <a:r>
              <a:rPr spc="-40" dirty="0"/>
              <a:t>strategy</a:t>
            </a:r>
          </a:p>
          <a:p>
            <a:pPr marR="53340" algn="ctr">
              <a:lnSpc>
                <a:spcPct val="100000"/>
              </a:lnSpc>
              <a:spcBef>
                <a:spcPts val="910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10B0B4B-1FD3-A9F3-EB59-7E8DF5822AD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22</a:t>
            </a:fld>
            <a:endParaRPr lang="en-US" altLang="ko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225" dirty="0"/>
              <a:t>CI/CD</a:t>
            </a:r>
            <a:r>
              <a:rPr spc="-95" dirty="0"/>
              <a:t> </a:t>
            </a:r>
            <a:r>
              <a:rPr spc="-75" dirty="0"/>
              <a:t>pipeline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2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E3945C-BFD7-EDBF-A4E6-BF7805C22E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23</a:t>
            </a:fld>
            <a:endParaRPr lang="en-US" alt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225" dirty="0"/>
              <a:t>CI/CD</a:t>
            </a:r>
            <a:r>
              <a:rPr spc="-95" dirty="0"/>
              <a:t> </a:t>
            </a:r>
            <a:r>
              <a:rPr spc="-75" dirty="0"/>
              <a:t>pipeline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21" y="1166812"/>
            <a:ext cx="10194255" cy="509712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AA7478-DBF0-9962-F7DB-036B954122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24</a:t>
            </a:fld>
            <a:endParaRPr lang="en-US" alt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5" dirty="0"/>
              <a:t>Continuous</a:t>
            </a:r>
            <a:r>
              <a:rPr spc="-75" dirty="0"/>
              <a:t> </a:t>
            </a:r>
            <a:r>
              <a:rPr spc="-40" dirty="0"/>
              <a:t>Integration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2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251B61-802D-E3ED-2608-476401846A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25</a:t>
            </a:fld>
            <a:endParaRPr lang="en-US" altLang="ko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5" dirty="0"/>
              <a:t>Continuous</a:t>
            </a:r>
            <a:r>
              <a:rPr spc="-75" dirty="0"/>
              <a:t> </a:t>
            </a:r>
            <a:r>
              <a:rPr spc="-30" dirty="0"/>
              <a:t>Deployment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36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813FEF-07A1-17BB-D385-1F57269567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26</a:t>
            </a:fld>
            <a:endParaRPr lang="en-US" altLang="ko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Deployment</a:t>
            </a:r>
            <a:r>
              <a:rPr spc="-265" dirty="0"/>
              <a:t> </a:t>
            </a:r>
            <a:r>
              <a:rPr spc="-60" dirty="0"/>
              <a:t>strategies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1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993398"/>
            <a:ext cx="3162935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Basic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deployment</a:t>
            </a:r>
            <a:endParaRPr sz="2550" dirty="0">
              <a:latin typeface="Arial"/>
              <a:cs typeface="Arial"/>
            </a:endParaRPr>
          </a:p>
          <a:p>
            <a:pPr marL="12700" marR="5080">
              <a:lnSpc>
                <a:spcPts val="5160"/>
              </a:lnSpc>
              <a:spcBef>
                <a:spcPts val="320"/>
              </a:spcBef>
            </a:pP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Shadow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deployment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Canary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deployment</a:t>
            </a:r>
            <a:endParaRPr sz="255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824914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3479967"/>
            <a:ext cx="102352" cy="1023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AB0C3E7-C1B0-C674-577D-33808A3D60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27</a:t>
            </a:fld>
            <a:endParaRPr lang="en-US" altLang="ko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06F12D-B792-844A-565A-F9EC0161DA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28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10E01-BDEB-CF3E-CCC1-F4E932624E5B}"/>
              </a:ext>
            </a:extLst>
          </p:cNvPr>
          <p:cNvSpPr txBox="1"/>
          <p:nvPr/>
        </p:nvSpPr>
        <p:spPr>
          <a:xfrm>
            <a:off x="1377950" y="1409700"/>
            <a:ext cx="128016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Basic Deployment</a:t>
            </a:r>
          </a:p>
          <a:p>
            <a:endParaRPr lang="ko-KR" altLang="en-US" b="1" dirty="0"/>
          </a:p>
          <a:p>
            <a:r>
              <a:rPr lang="en" altLang="ko-KR" b="1" dirty="0"/>
              <a:t>Basic Deployment</a:t>
            </a:r>
            <a:r>
              <a:rPr lang="ko-KR" altLang="en-US" dirty="0"/>
              <a:t>는 기존 모델을 </a:t>
            </a:r>
            <a:r>
              <a:rPr lang="ko-KR" altLang="en-US" b="1" dirty="0"/>
              <a:t>새로운 모델로 즉시 교체</a:t>
            </a:r>
            <a:r>
              <a:rPr lang="ko-KR" altLang="en-US" dirty="0"/>
              <a:t>하는 가장 단순한 배포 방식</a:t>
            </a:r>
            <a:endParaRPr lang="en-US" altLang="ko-KR" dirty="0"/>
          </a:p>
          <a:p>
            <a:r>
              <a:rPr lang="ko-KR" altLang="en-US" dirty="0"/>
              <a:t>새로운 모델이 배포되면 이전 모델은 즉시 사용되지 않으며</a:t>
            </a:r>
            <a:r>
              <a:rPr lang="en-US" altLang="ko-KR" dirty="0"/>
              <a:t>, </a:t>
            </a:r>
            <a:r>
              <a:rPr lang="ko-KR" altLang="en-US" dirty="0"/>
              <a:t>모든 트래픽이 새로운 모델로 전환됨</a:t>
            </a:r>
            <a:endParaRPr lang="en-US" altLang="ko-KR" dirty="0"/>
          </a:p>
          <a:p>
            <a:endParaRPr lang="en-US" altLang="ko-KR" b="1" dirty="0"/>
          </a:p>
          <a:p>
            <a:r>
              <a:rPr lang="ko-KR" altLang="en-US" b="1" dirty="0"/>
              <a:t>장점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단순함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설정과 구현이 간단하여 빠르게 적용 가능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리소스 효율성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추가 리소스나 트래픽 분할이 필요하지 않아 리소스를 절약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단점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위험성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새 모델에 문제가 있을 경우 전체 서비스가 영향을 받을 수 있음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롤백 어려움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문제가 발생하면 빠른 롤백이 어렵거나 복잡할 수 있음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사용 사례</a:t>
            </a:r>
          </a:p>
          <a:p>
            <a:r>
              <a:rPr lang="ko-KR" altLang="en-US" dirty="0"/>
              <a:t>테스트가 충분히 완료된 상태에서 비교적 작은 위험이 예상되는 변경 사항을 배포할 때 사용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2440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2B318-E0EF-3D8D-D8C1-7F9547324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3BBDD5-A630-68DD-0525-078FB7953D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29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16AC6-1CC9-41F1-71FA-72D9E2AF163F}"/>
              </a:ext>
            </a:extLst>
          </p:cNvPr>
          <p:cNvSpPr txBox="1"/>
          <p:nvPr/>
        </p:nvSpPr>
        <p:spPr>
          <a:xfrm>
            <a:off x="1377950" y="318849"/>
            <a:ext cx="12801600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Shadow Deployment</a:t>
            </a:r>
          </a:p>
          <a:p>
            <a:endParaRPr lang="ko-KR" altLang="en-US" b="1" dirty="0"/>
          </a:p>
          <a:p>
            <a:r>
              <a:rPr lang="en" altLang="ko-KR" b="1" dirty="0"/>
              <a:t>Shadow Deployment</a:t>
            </a:r>
            <a:r>
              <a:rPr lang="ko-KR" altLang="en-US" dirty="0"/>
              <a:t>는 새로운 모델을 프로덕션 환경에 배포하지만</a:t>
            </a:r>
            <a:r>
              <a:rPr lang="en-US" altLang="ko-KR" dirty="0"/>
              <a:t>, </a:t>
            </a:r>
            <a:r>
              <a:rPr lang="ko-KR" altLang="en-US" b="1" dirty="0"/>
              <a:t>실제 사용자 요청에 영향을 미치지 않고</a:t>
            </a:r>
            <a:r>
              <a:rPr lang="ko-KR" altLang="en-US" dirty="0"/>
              <a:t> 요청의 복사본을 새 모델로 전달하여 모델 성능을 테스트하는 방식</a:t>
            </a:r>
            <a:endParaRPr lang="en-US" altLang="ko-KR" dirty="0"/>
          </a:p>
          <a:p>
            <a:r>
              <a:rPr lang="ko-KR" altLang="en-US" dirty="0"/>
              <a:t>결과는 로그나 분석에 사용되며</a:t>
            </a:r>
            <a:r>
              <a:rPr lang="en-US" altLang="ko-KR" dirty="0"/>
              <a:t>, </a:t>
            </a:r>
            <a:r>
              <a:rPr lang="ko-KR" altLang="en-US" dirty="0"/>
              <a:t>사용자 응답에는 영향을 주지 않습니다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작동 방식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 사용자 요청은 기존 모델로 전달되어 응답을 생성</a:t>
            </a:r>
            <a:endParaRPr lang="en-US" altLang="ko-KR" dirty="0"/>
          </a:p>
          <a:p>
            <a:pPr>
              <a:buFont typeface="+mj-lt"/>
              <a:buAutoNum type="arabicPeriod"/>
            </a:pPr>
            <a:r>
              <a:rPr lang="ko-KR" altLang="en-US" dirty="0"/>
              <a:t> 요청의 복사본은 새로운 모델로 전달되지만</a:t>
            </a:r>
            <a:r>
              <a:rPr lang="en-US" altLang="ko-KR" dirty="0"/>
              <a:t>, </a:t>
            </a:r>
            <a:r>
              <a:rPr lang="ko-KR" altLang="en-US" dirty="0"/>
              <a:t>이 모델의 응답은 사용자에게 반환되지 않음</a:t>
            </a:r>
            <a:endParaRPr lang="en-US" altLang="ko-KR" dirty="0"/>
          </a:p>
          <a:p>
            <a:pPr>
              <a:buFont typeface="+mj-lt"/>
              <a:buAutoNum type="arabicPeriod"/>
            </a:pPr>
            <a:r>
              <a:rPr lang="ko-KR" altLang="en-US" dirty="0"/>
              <a:t> 두 모델의 결과를 비교하여 새로운 모델의 성능을 평가</a:t>
            </a:r>
            <a:endParaRPr lang="en-US" altLang="ko-KR" dirty="0"/>
          </a:p>
          <a:p>
            <a:endParaRPr lang="en-US" altLang="ko-KR" b="1" dirty="0"/>
          </a:p>
          <a:p>
            <a:r>
              <a:rPr lang="ko-KR" altLang="en-US" b="1" dirty="0"/>
              <a:t>장점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안전성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새로운 모델의 문제가 사용자 경험에 영향을 미치지 않음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실제 트래픽 테스트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실시간 트래픽으로 모델 성능을 평가 가능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성능 분석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기존 모델과 새로운 모델의 결과를 비교하여 품질 보증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단점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리소스 요구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기존 모델과 새로운 모델 모두 요청을 처리해야 하므로 추가적인 리소스가 필요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복잡성 증가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트래픽 복제 및 분석 시스템 설정이 복잡할 수 있음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사용 사례</a:t>
            </a:r>
          </a:p>
          <a:p>
            <a:r>
              <a:rPr lang="ko-KR" altLang="en-US" dirty="0"/>
              <a:t>대규모 서비스에서 모델 변경이 사용자 경험에 중요한 영향을 미칠 가능성이 높을 때 사용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기존 모델과 새로운 모델의 성능을 실시간으로 비교하고 성능 데이터를 수집할 때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41917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0D14F-3873-46DF-D99E-48C26E019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02E607-FA29-D870-67FE-AB1A2A2C4E4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30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004C80-979A-F9AC-1633-72FFE2AC62E3}"/>
              </a:ext>
            </a:extLst>
          </p:cNvPr>
          <p:cNvSpPr txBox="1"/>
          <p:nvPr/>
        </p:nvSpPr>
        <p:spPr>
          <a:xfrm>
            <a:off x="1377950" y="175260"/>
            <a:ext cx="12801600" cy="867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Canary Deployment</a:t>
            </a:r>
            <a:r>
              <a:rPr lang="ko-KR" altLang="en-US" dirty="0"/>
              <a:t>는 새로운 모델을 일부 사용자 트래픽에만 적용하여 성능과 안정성을 검증하는 방식</a:t>
            </a:r>
            <a:endParaRPr lang="en-US" altLang="ko-KR" dirty="0"/>
          </a:p>
          <a:p>
            <a:r>
              <a:rPr lang="ko-KR" altLang="en-US" dirty="0"/>
              <a:t>초기에는 소수의 트래픽에 적용하고</a:t>
            </a:r>
            <a:r>
              <a:rPr lang="en-US" altLang="ko-KR" dirty="0"/>
              <a:t>, </a:t>
            </a:r>
            <a:r>
              <a:rPr lang="ko-KR" altLang="en-US" dirty="0"/>
              <a:t>안정성이 확인되면 점진적으로 더 많은 트래픽을 새로운 모델로 전환</a:t>
            </a:r>
            <a:endParaRPr lang="en-US" altLang="ko-KR" dirty="0"/>
          </a:p>
          <a:p>
            <a:endParaRPr lang="en-US" altLang="ko-KR" b="1" dirty="0"/>
          </a:p>
          <a:p>
            <a:r>
              <a:rPr lang="ko-KR" altLang="en-US" b="1" dirty="0"/>
              <a:t>작동 방식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 초기 단계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새로운 모델이 전체 트래픽의 </a:t>
            </a:r>
            <a:r>
              <a:rPr lang="en-US" altLang="ko-KR" dirty="0"/>
              <a:t>1%~5%</a:t>
            </a:r>
            <a:r>
              <a:rPr lang="ko-KR" altLang="en-US" dirty="0" err="1"/>
              <a:t>를</a:t>
            </a:r>
            <a:r>
              <a:rPr lang="ko-KR" altLang="en-US" dirty="0"/>
              <a:t> 처리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 안정성 검증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 err="1"/>
              <a:t>오류율</a:t>
            </a:r>
            <a:r>
              <a:rPr lang="en-US" altLang="ko-KR" dirty="0"/>
              <a:t>, </a:t>
            </a:r>
            <a:r>
              <a:rPr lang="ko-KR" altLang="en-US" dirty="0"/>
              <a:t>성능</a:t>
            </a:r>
            <a:r>
              <a:rPr lang="en-US" altLang="ko-KR" dirty="0"/>
              <a:t>, </a:t>
            </a:r>
            <a:r>
              <a:rPr lang="ko-KR" altLang="en-US" dirty="0"/>
              <a:t>사용자 피드백 등을 평가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 단계적 확장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안정성이 확인되면 점진적으로 트래픽 비율을 증가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 완전 배포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새로운 모델이 모든 트래픽을 처리하도록 전환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장점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리스크 완화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단계적으로 배포하므로 새로운 모델의 문제를 조기에 발견 가능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사용자 기반 피드백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초기 트래픽에서 사용자 경험과 성능 데이터를 수집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롤백 용이성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문제가 발생하면 초기 트래픽 비율로 쉽게 롤백 가능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단점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복잡한 관리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트래픽 분할과 단계적 확장이 필요하므로 관리가 복잡할 수 있음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추가 리소스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두 모델을 동시에 운영해야 하는 경우 리소스 부담 증가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사용 사례</a:t>
            </a:r>
          </a:p>
          <a:p>
            <a:r>
              <a:rPr lang="ko-KR" altLang="en-US" dirty="0"/>
              <a:t>모델 성능이 중요한 프로덕션 환경에서 새로운 모델의 안정성을 점검하며 배포할 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대규모 사용자 기반에서 신중한 변경이 필요한 상황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70657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Deployment</a:t>
            </a:r>
            <a:r>
              <a:rPr spc="-265" dirty="0"/>
              <a:t> </a:t>
            </a:r>
            <a:r>
              <a:rPr spc="-60" dirty="0"/>
              <a:t>strategies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2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E1145F-4B34-F729-9E43-E538ED89FC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31</a:t>
            </a:fld>
            <a:endParaRPr lang="en-US" altLang="ko-K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Deployment</a:t>
            </a:r>
            <a:r>
              <a:rPr spc="-265" dirty="0"/>
              <a:t> </a:t>
            </a:r>
            <a:r>
              <a:rPr spc="-60" dirty="0"/>
              <a:t>strategies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1289" y="1166812"/>
          <a:ext cx="14553563" cy="3355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0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5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7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Strategy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Pros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Cons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marL="132715" marR="224154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spc="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Basic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deployment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 marR="695960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Straightforward,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easy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implement,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low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3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resources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 marR="337185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risk </a:t>
                      </a:r>
                      <a:r>
                        <a:rPr sz="2550" spc="1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if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model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does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work 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2550" spc="13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expected.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marL="132715" marR="224154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Shadow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deployment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 marR="821690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Easy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implement,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risk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if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9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model 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does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work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9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expected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Double</a:t>
                      </a:r>
                      <a:r>
                        <a:rPr sz="2550" spc="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resources.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2387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marL="132715" marR="224154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spc="1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Canary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deployment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 marR="690245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Small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risk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if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model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does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work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as 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expected.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 marR="1298575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Slightly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harder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implement, </a:t>
                      </a:r>
                      <a:r>
                        <a:rPr sz="2550" spc="114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medium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amount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resources.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BE20E6-CDB2-23D6-9015-A2C4503CE23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32</a:t>
            </a:fld>
            <a:endParaRPr lang="en-US" altLang="ko-K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4258" y="2157161"/>
            <a:ext cx="6049645" cy="233489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 marR="5080" algn="ctr">
              <a:lnSpc>
                <a:spcPts val="6770"/>
              </a:lnSpc>
              <a:spcBef>
                <a:spcPts val="1130"/>
              </a:spcBef>
            </a:pPr>
            <a:r>
              <a:rPr sz="6450" spc="-165" dirty="0"/>
              <a:t>Automation</a:t>
            </a:r>
            <a:r>
              <a:rPr sz="6450" spc="-210" dirty="0"/>
              <a:t> </a:t>
            </a:r>
            <a:r>
              <a:rPr sz="6450" spc="-25" dirty="0"/>
              <a:t>and </a:t>
            </a:r>
            <a:r>
              <a:rPr sz="6450" spc="-70" dirty="0"/>
              <a:t>scaling</a:t>
            </a:r>
            <a:endParaRPr sz="6450"/>
          </a:p>
          <a:p>
            <a:pPr marR="53975" algn="ctr">
              <a:lnSpc>
                <a:spcPct val="100000"/>
              </a:lnSpc>
              <a:spcBef>
                <a:spcPts val="910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04ECDF0-24CA-12AC-5803-3B9F3C80567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33</a:t>
            </a:fld>
            <a:endParaRPr lang="en-US" altLang="ko-K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15A4B-BE77-65F2-49D6-EAFF4A7B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EC3B69-79CF-4034-DE95-A2E2DD8A0D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34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EA9F6-1078-E222-4F93-810AAD510BB9}"/>
              </a:ext>
            </a:extLst>
          </p:cNvPr>
          <p:cNvSpPr txBox="1"/>
          <p:nvPr/>
        </p:nvSpPr>
        <p:spPr>
          <a:xfrm>
            <a:off x="777875" y="175260"/>
            <a:ext cx="140970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Automation</a:t>
            </a:r>
            <a:r>
              <a:rPr lang="ko-KR" altLang="en-US" b="1" dirty="0"/>
              <a:t>의 개념</a:t>
            </a:r>
          </a:p>
          <a:p>
            <a:r>
              <a:rPr lang="ko-KR" altLang="en-US" dirty="0"/>
              <a:t>자동화는 </a:t>
            </a:r>
            <a:r>
              <a:rPr lang="ko-KR" altLang="en-US" dirty="0" err="1"/>
              <a:t>머신러닝</a:t>
            </a:r>
            <a:r>
              <a:rPr lang="ko-KR" altLang="en-US" dirty="0"/>
              <a:t> 워크플로우의 반복적이고 수동적인 작업을 자동으로 수행하도록 설정하는 것을 의미</a:t>
            </a:r>
            <a:endParaRPr lang="en-US" altLang="ko-KR" dirty="0"/>
          </a:p>
          <a:p>
            <a:r>
              <a:rPr lang="ko-KR" altLang="en-US" dirty="0"/>
              <a:t>모델 개발부터 배포</a:t>
            </a:r>
            <a:r>
              <a:rPr lang="en-US" altLang="ko-KR" dirty="0"/>
              <a:t>, </a:t>
            </a:r>
            <a:r>
              <a:rPr lang="ko-KR" altLang="en-US" dirty="0"/>
              <a:t>모니터링</a:t>
            </a:r>
            <a:r>
              <a:rPr lang="en-US" altLang="ko-KR" dirty="0"/>
              <a:t>, </a:t>
            </a:r>
            <a:r>
              <a:rPr lang="ko-KR" altLang="en-US" dirty="0"/>
              <a:t>재학습까지의 모든 과정을 자동화하여 개발 및 운영 속도를 향상시키고 오류를 줄임</a:t>
            </a:r>
            <a:endParaRPr lang="en-US" altLang="ko-KR" dirty="0"/>
          </a:p>
          <a:p>
            <a:endParaRPr lang="en-US" altLang="ko-KR" b="1" dirty="0"/>
          </a:p>
          <a:p>
            <a:r>
              <a:rPr lang="ko-KR" altLang="en-US" b="1" dirty="0"/>
              <a:t>자동화가 필요한 영역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데이터 준비 및 처리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데이터 수집</a:t>
            </a:r>
            <a:r>
              <a:rPr lang="en-US" altLang="ko-KR" dirty="0"/>
              <a:t>, </a:t>
            </a:r>
            <a:r>
              <a:rPr lang="ko-KR" altLang="en-US" dirty="0"/>
              <a:t>정제</a:t>
            </a:r>
            <a:r>
              <a:rPr lang="en-US" altLang="ko-KR" dirty="0"/>
              <a:t>, </a:t>
            </a:r>
            <a:r>
              <a:rPr lang="ko-KR" altLang="en-US" dirty="0"/>
              <a:t>변환</a:t>
            </a:r>
            <a:r>
              <a:rPr lang="en-US" altLang="ko-KR" dirty="0"/>
              <a:t>, </a:t>
            </a:r>
            <a:r>
              <a:rPr lang="ko-KR" altLang="en-US" dirty="0"/>
              <a:t>저장 과정을 자동화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스케줄링 도구로 데이터를 정기적으로 파이프라인에 공급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특성 엔지니어링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특성 생성</a:t>
            </a:r>
            <a:r>
              <a:rPr lang="en-US" altLang="ko-KR" dirty="0"/>
              <a:t>, </a:t>
            </a:r>
            <a:r>
              <a:rPr lang="ko-KR" altLang="en-US" dirty="0"/>
              <a:t>선택</a:t>
            </a:r>
            <a:r>
              <a:rPr lang="en-US" altLang="ko-KR" dirty="0"/>
              <a:t>, </a:t>
            </a:r>
            <a:r>
              <a:rPr lang="ko-KR" altLang="en-US" dirty="0"/>
              <a:t>변환 작업 자동화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Feature Store</a:t>
            </a:r>
            <a:r>
              <a:rPr lang="ko-KR" altLang="en-US" dirty="0" err="1"/>
              <a:t>를</a:t>
            </a:r>
            <a:r>
              <a:rPr lang="ko-KR" altLang="en-US" dirty="0"/>
              <a:t> 활용하여 재사용 가능한 특성 관리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모델 학습 및 실험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모델 학습과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 튜닝을 자동화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 err="1"/>
              <a:t>AutoML</a:t>
            </a:r>
            <a:r>
              <a:rPr lang="en" altLang="ko-KR" dirty="0"/>
              <a:t> </a:t>
            </a:r>
            <a:r>
              <a:rPr lang="ko-KR" altLang="en-US" dirty="0"/>
              <a:t>도구를 통해 다양한 알고리즘과 매개변수를 실험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모델 배포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모델을 프로덕션 환경으로 자동으로 배포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CI/CD </a:t>
            </a:r>
            <a:r>
              <a:rPr lang="ko-KR" altLang="en-US" dirty="0"/>
              <a:t>파이프라인을 설정하여 새로운 모델을 자동 배포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모니터링 및 알림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배포된 모델의 성능 및 데이터 변화를 실시간 모니터링하고 경고 알림을 자동으로 생성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</a:t>
            </a:r>
            <a:r>
              <a:rPr lang="ko-KR" altLang="en-US" b="1" dirty="0" err="1"/>
              <a:t>재학습</a:t>
            </a:r>
            <a:r>
              <a:rPr lang="ko-KR" altLang="en-US" b="1" dirty="0"/>
              <a:t> 및 업데이트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성능 저하가 감지되면 새 데이터를 기반으로 모델을 재학습하고 업데이트</a:t>
            </a:r>
            <a:r>
              <a:rPr lang="en-US" altLang="ko-KR" dirty="0"/>
              <a:t>.</a:t>
            </a:r>
          </a:p>
          <a:p>
            <a:endParaRPr lang="en" altLang="ko-KR" b="1" dirty="0"/>
          </a:p>
          <a:p>
            <a:r>
              <a:rPr lang="en" altLang="ko-KR" b="1" dirty="0"/>
              <a:t>Automation</a:t>
            </a:r>
            <a:r>
              <a:rPr lang="ko-KR" altLang="en-US" b="1" dirty="0"/>
              <a:t>의 장점</a:t>
            </a:r>
          </a:p>
          <a:p>
            <a:r>
              <a:rPr lang="ko-KR" altLang="en-US" b="1" dirty="0"/>
              <a:t>효율성</a:t>
            </a:r>
            <a:r>
              <a:rPr lang="en-US" altLang="ko-KR" dirty="0"/>
              <a:t>:</a:t>
            </a:r>
            <a:r>
              <a:rPr lang="ko-KR" altLang="en-US" dirty="0"/>
              <a:t> 수동 작업을 줄여 시간과 리소스를 절약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일관성</a:t>
            </a:r>
            <a:r>
              <a:rPr lang="en-US" altLang="ko-KR" dirty="0"/>
              <a:t>:</a:t>
            </a:r>
            <a:r>
              <a:rPr lang="ko-KR" altLang="en-US" dirty="0"/>
              <a:t> 파이프라인의 각 단계에서 동일한 결과를 보장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빠른 배포</a:t>
            </a:r>
            <a:r>
              <a:rPr lang="en-US" altLang="ko-KR" dirty="0"/>
              <a:t>:</a:t>
            </a:r>
            <a:r>
              <a:rPr lang="ko-KR" altLang="en-US" dirty="0"/>
              <a:t> 개발에서 배포까지의 시간을 단축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에러 감소</a:t>
            </a:r>
            <a:r>
              <a:rPr lang="en-US" altLang="ko-KR" dirty="0"/>
              <a:t>:</a:t>
            </a:r>
            <a:r>
              <a:rPr lang="ko-KR" altLang="en-US" dirty="0"/>
              <a:t> 수동 개입을 줄임으로써 인간 실수를 최소화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74802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4B652-ACC5-388A-4EF2-ECAA4F2D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332932-515A-C002-D572-F5BBC56E14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35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7915D7-33F7-69DD-390B-EC1E9170BC5C}"/>
              </a:ext>
            </a:extLst>
          </p:cNvPr>
          <p:cNvSpPr txBox="1"/>
          <p:nvPr/>
        </p:nvSpPr>
        <p:spPr>
          <a:xfrm>
            <a:off x="777875" y="175260"/>
            <a:ext cx="140970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Scaling</a:t>
            </a:r>
            <a:r>
              <a:rPr lang="ko-KR" altLang="en-US" b="1" dirty="0"/>
              <a:t>의 개념</a:t>
            </a:r>
          </a:p>
          <a:p>
            <a:r>
              <a:rPr lang="ko-KR" altLang="en-US" dirty="0"/>
              <a:t>확장성은 데이터</a:t>
            </a:r>
            <a:r>
              <a:rPr lang="en-US" altLang="ko-KR" dirty="0"/>
              <a:t>, </a:t>
            </a:r>
            <a:r>
              <a:rPr lang="ko-KR" altLang="en-US" dirty="0"/>
              <a:t>사용자 수</a:t>
            </a:r>
            <a:r>
              <a:rPr lang="en-US" altLang="ko-KR" dirty="0"/>
              <a:t>, </a:t>
            </a:r>
            <a:r>
              <a:rPr lang="ko-KR" altLang="en-US" dirty="0"/>
              <a:t>처리 요구사항이 증가하더라도 시스템이 안정적이고 효율적으로 작동할 수 있는 능력을 의미</a:t>
            </a:r>
            <a:r>
              <a:rPr lang="en-US" altLang="ko-KR" dirty="0"/>
              <a:t>.</a:t>
            </a:r>
          </a:p>
          <a:p>
            <a:r>
              <a:rPr lang="en" altLang="ko-KR" dirty="0" err="1"/>
              <a:t>MLOps</a:t>
            </a:r>
            <a:r>
              <a:rPr lang="ko-KR" altLang="en-US" dirty="0"/>
              <a:t>에서 확장성은 대규모 데이터 처리</a:t>
            </a:r>
            <a:r>
              <a:rPr lang="en-US" altLang="ko-KR" dirty="0"/>
              <a:t>, </a:t>
            </a:r>
            <a:r>
              <a:rPr lang="ko-KR" altLang="en-US" dirty="0"/>
              <a:t>다중 모델 배포</a:t>
            </a:r>
            <a:r>
              <a:rPr lang="en-US" altLang="ko-KR" dirty="0"/>
              <a:t>, </a:t>
            </a:r>
            <a:r>
              <a:rPr lang="ko-KR" altLang="en-US" dirty="0"/>
              <a:t>실시간 서비스 제공과 같은 요구사항을 충족하는 데 필수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확장이 필요한 영역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데이터 스케일링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데이터의 크기와 복잡도가 증가해도 데이터 준비와 학습 파이프라인이 안정적으로 작동해야 함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분산 데이터 저장소와 처리 시스템 사용</a:t>
            </a:r>
            <a:r>
              <a:rPr lang="en-US" altLang="ko-KR" dirty="0"/>
              <a:t>(</a:t>
            </a:r>
            <a:r>
              <a:rPr lang="en" altLang="ko-KR" dirty="0"/>
              <a:t>Apache Spark, Hadoop).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모델 학습 스케일링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모델 학습 프로세스를 병렬 처리하거나 분산 학습을 통해 처리 속도를 높임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 err="1"/>
              <a:t>Horovod</a:t>
            </a:r>
            <a:r>
              <a:rPr lang="en" altLang="ko-KR" dirty="0"/>
              <a:t>, </a:t>
            </a:r>
            <a:r>
              <a:rPr lang="en" altLang="ko-KR" dirty="0" err="1"/>
              <a:t>PyTorch</a:t>
            </a:r>
            <a:r>
              <a:rPr lang="en" altLang="ko-KR" dirty="0"/>
              <a:t> Distributed Training.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모델 배포 스케일링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여러 사용자 요청을 처리하기 위해 모델 배포를 확장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Kubernetes</a:t>
            </a:r>
            <a:r>
              <a:rPr lang="ko-KR" altLang="en-US" dirty="0" err="1"/>
              <a:t>를</a:t>
            </a:r>
            <a:r>
              <a:rPr lang="ko-KR" altLang="en-US" dirty="0"/>
              <a:t> 사용한 컨테이너 오케스트레이션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리소스 스케일링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클라우드 기반 인프라에서 필요에 따라 컴퓨팅 리소스를 동적으로 추가하거나 축소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AWS Auto Scaling, GCP </a:t>
            </a:r>
            <a:r>
              <a:rPr lang="en" altLang="ko-KR" dirty="0" err="1"/>
              <a:t>Autoscaler</a:t>
            </a:r>
            <a:r>
              <a:rPr lang="en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 모델 관리 스케일링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여러 모델과 버전을 동시에 관리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 err="1"/>
              <a:t>SageMaker</a:t>
            </a:r>
            <a:r>
              <a:rPr lang="en" altLang="ko-KR" dirty="0"/>
              <a:t> Model Registry, </a:t>
            </a:r>
            <a:r>
              <a:rPr lang="en" altLang="ko-KR" dirty="0" err="1"/>
              <a:t>MLflow</a:t>
            </a:r>
            <a:r>
              <a:rPr lang="en" altLang="ko-KR" dirty="0"/>
              <a:t>.</a:t>
            </a:r>
          </a:p>
          <a:p>
            <a:endParaRPr lang="en" altLang="ko-KR" b="1" dirty="0"/>
          </a:p>
          <a:p>
            <a:r>
              <a:rPr lang="en" altLang="ko-KR" b="1" dirty="0"/>
              <a:t>Scaling</a:t>
            </a:r>
            <a:r>
              <a:rPr lang="ko-KR" altLang="en-US" b="1" dirty="0"/>
              <a:t>의 장점</a:t>
            </a:r>
          </a:p>
          <a:p>
            <a:r>
              <a:rPr lang="ko-KR" altLang="en-US" b="1" dirty="0"/>
              <a:t>대규모 데이터 처리</a:t>
            </a:r>
            <a:r>
              <a:rPr lang="en-US" altLang="ko-KR" dirty="0"/>
              <a:t>:</a:t>
            </a:r>
            <a:r>
              <a:rPr lang="ko-KR" altLang="en-US" dirty="0"/>
              <a:t> 데이터 크기가 증가해도 처리 시간이 크게 증가하지 않음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사용자 증가 대응</a:t>
            </a:r>
            <a:r>
              <a:rPr lang="en-US" altLang="ko-KR" dirty="0"/>
              <a:t>:</a:t>
            </a:r>
            <a:r>
              <a:rPr lang="ko-KR" altLang="en-US" dirty="0"/>
              <a:t> 서비스 사용량이 증가해도 안정적으로 요청을 처리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유연성</a:t>
            </a:r>
            <a:r>
              <a:rPr lang="en-US" altLang="ko-KR" dirty="0"/>
              <a:t>:</a:t>
            </a:r>
            <a:r>
              <a:rPr lang="ko-KR" altLang="en-US" dirty="0"/>
              <a:t> 필요에 따라 리소스를 동적으로 할당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비용 효율성</a:t>
            </a:r>
            <a:r>
              <a:rPr lang="en-US" altLang="ko-KR" dirty="0"/>
              <a:t>:</a:t>
            </a:r>
            <a:r>
              <a:rPr lang="ko-KR" altLang="en-US" dirty="0"/>
              <a:t> 클라우드 기반의 확장을 통해 필요한 만큼만 리소스를 사용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60707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60" dirty="0"/>
              <a:t>Automation</a:t>
            </a:r>
            <a:r>
              <a:rPr spc="-160" dirty="0"/>
              <a:t> </a:t>
            </a:r>
            <a:r>
              <a:rPr dirty="0"/>
              <a:t>and</a:t>
            </a:r>
            <a:r>
              <a:rPr spc="-155" dirty="0"/>
              <a:t> </a:t>
            </a:r>
            <a:r>
              <a:rPr spc="-75" dirty="0"/>
              <a:t>scaling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788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4FB9E6-596E-7D03-FF86-01DF14251B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36</a:t>
            </a:fld>
            <a:endParaRPr lang="en-US" altLang="ko-K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61"/>
            <a:ext cx="3586479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0" dirty="0"/>
              <a:t>Design</a:t>
            </a:r>
            <a:r>
              <a:rPr spc="-170" dirty="0"/>
              <a:t> </a:t>
            </a:r>
            <a:r>
              <a:rPr spc="-60" dirty="0"/>
              <a:t>phase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285" y="1166788"/>
            <a:ext cx="6427703" cy="64072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2169837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2824890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4298758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2982" y="4953811"/>
            <a:ext cx="102352" cy="10235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929812" y="1174558"/>
            <a:ext cx="6716395" cy="402145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Project</a:t>
            </a:r>
            <a:r>
              <a:rPr sz="2550" b="1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design</a:t>
            </a:r>
            <a:endParaRPr sz="2550">
              <a:latin typeface="Arial"/>
              <a:cs typeface="Arial"/>
            </a:endParaRPr>
          </a:p>
          <a:p>
            <a:pPr marL="381000" marR="5080">
              <a:lnSpc>
                <a:spcPct val="168600"/>
              </a:lnSpc>
              <a:spcBef>
                <a:spcPts val="1290"/>
              </a:spcBef>
            </a:pP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Project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design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remains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manual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process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Use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templates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automate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scale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b="1" spc="114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b="1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acquisition</a:t>
            </a:r>
            <a:endParaRPr sz="2550">
              <a:latin typeface="Arial"/>
              <a:cs typeface="Arial"/>
            </a:endParaRPr>
          </a:p>
          <a:p>
            <a:pPr marL="381000" marR="2385060">
              <a:lnSpc>
                <a:spcPct val="168600"/>
              </a:lnSpc>
              <a:spcBef>
                <a:spcPts val="1285"/>
              </a:spcBef>
            </a:pP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Can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be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automated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Enables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high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quality</a:t>
            </a:r>
            <a:endParaRPr sz="2550">
              <a:latin typeface="Arial"/>
              <a:cs typeface="Arial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4057F6F-CE24-FDB7-847E-158F43EABB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37</a:t>
            </a:fld>
            <a:endParaRPr lang="en-US" altLang="ko-K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75" dirty="0"/>
              <a:t>Development</a:t>
            </a:r>
            <a:r>
              <a:rPr spc="-220" dirty="0"/>
              <a:t> </a:t>
            </a:r>
            <a:r>
              <a:rPr spc="-50" dirty="0"/>
              <a:t>phase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285" y="1166788"/>
            <a:ext cx="6427703" cy="64072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2169837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2824890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4298758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2982" y="4953811"/>
            <a:ext cx="102352" cy="10235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929812" y="1174558"/>
            <a:ext cx="6269990" cy="402145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b="1" spc="2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20" dirty="0">
                <a:solidFill>
                  <a:srgbClr val="04182D"/>
                </a:solidFill>
                <a:latin typeface="Arial"/>
                <a:cs typeface="Arial"/>
              </a:rPr>
              <a:t>store</a:t>
            </a:r>
            <a:endParaRPr sz="2550">
              <a:latin typeface="Arial"/>
              <a:cs typeface="Arial"/>
            </a:endParaRPr>
          </a:p>
          <a:p>
            <a:pPr marL="381000" marR="5080">
              <a:lnSpc>
                <a:spcPct val="168600"/>
              </a:lnSpc>
              <a:spcBef>
                <a:spcPts val="129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Saves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time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building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same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features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Helps</a:t>
            </a:r>
            <a:r>
              <a:rPr sz="2550" spc="1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1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scale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Experiment</a:t>
            </a:r>
            <a:r>
              <a:rPr sz="2550" b="1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tracking</a:t>
            </a:r>
            <a:endParaRPr sz="2550">
              <a:latin typeface="Arial"/>
              <a:cs typeface="Arial"/>
            </a:endParaRPr>
          </a:p>
          <a:p>
            <a:pPr marL="381000" marR="2381250">
              <a:lnSpc>
                <a:spcPct val="168600"/>
              </a:lnSpc>
              <a:spcBef>
                <a:spcPts val="1285"/>
              </a:spcBef>
            </a:pP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Automates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tracking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Ensures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reproducibility</a:t>
            </a:r>
            <a:endParaRPr sz="2550">
              <a:latin typeface="Arial"/>
              <a:cs typeface="Arial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85CC5B3-509A-8B09-7E68-74AD3C228A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38</a:t>
            </a:fld>
            <a:endParaRPr lang="en-US" altLang="ko-K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498348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Deployment</a:t>
            </a:r>
            <a:r>
              <a:rPr spc="-254" dirty="0"/>
              <a:t> </a:t>
            </a:r>
            <a:r>
              <a:rPr spc="-50" dirty="0"/>
              <a:t>phase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285" y="1166812"/>
            <a:ext cx="6427703" cy="64072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2169861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3316203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4790072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2982" y="5445124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62982" y="6918992"/>
            <a:ext cx="102352" cy="1023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2982" y="7574045"/>
            <a:ext cx="102352" cy="10235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929812" y="1174582"/>
            <a:ext cx="7015480" cy="6641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Containerization</a:t>
            </a:r>
            <a:endParaRPr sz="2550">
              <a:latin typeface="Arial"/>
              <a:cs typeface="Arial"/>
            </a:endParaRPr>
          </a:p>
          <a:p>
            <a:pPr marL="381000" marR="1172845">
              <a:lnSpc>
                <a:spcPct val="126400"/>
              </a:lnSpc>
              <a:spcBef>
                <a:spcPts val="258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Easy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start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up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copies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same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application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100"/>
              </a:spcBef>
            </a:pP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Improves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scalability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b="1" spc="175" dirty="0">
                <a:solidFill>
                  <a:srgbClr val="04182D"/>
                </a:solidFill>
                <a:latin typeface="Arial"/>
                <a:cs typeface="Arial"/>
              </a:rPr>
              <a:t>CI/CD</a:t>
            </a:r>
            <a:r>
              <a:rPr sz="2550" b="1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pipeline</a:t>
            </a:r>
            <a:endParaRPr sz="2550">
              <a:latin typeface="Arial"/>
              <a:cs typeface="Arial"/>
            </a:endParaRPr>
          </a:p>
          <a:p>
            <a:pPr marL="381000" marR="259079">
              <a:lnSpc>
                <a:spcPct val="168600"/>
              </a:lnSpc>
              <a:spcBef>
                <a:spcPts val="1285"/>
              </a:spcBef>
            </a:pP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Automates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development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deployment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Increases</a:t>
            </a:r>
            <a:r>
              <a:rPr sz="2550" spc="1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velocity</a:t>
            </a:r>
            <a:r>
              <a:rPr sz="2550" spc="1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1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processes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Microservices</a:t>
            </a:r>
            <a:r>
              <a:rPr sz="2550" b="1" spc="-1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architecture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</a:pP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Improves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scalability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Independent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development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deployment</a:t>
            </a:r>
            <a:endParaRPr sz="2550">
              <a:latin typeface="Arial"/>
              <a:cs typeface="Arial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3654BBCD-DBED-E89B-B85F-AB59BF097A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39</a:t>
            </a:fld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</TotalTime>
  <Words>2308</Words>
  <Application>Microsoft Macintosh PowerPoint</Application>
  <PresentationFormat>사용자 지정</PresentationFormat>
  <Paragraphs>402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2" baseType="lpstr">
      <vt:lpstr>맑은 고딕</vt:lpstr>
      <vt:lpstr>Arial</vt:lpstr>
      <vt:lpstr>Office Theme</vt:lpstr>
      <vt:lpstr>Preparing model for deployment M LO P S C O N C E P T S</vt:lpstr>
      <vt:lpstr>Runtime environment</vt:lpstr>
      <vt:lpstr>PowerPoint 프레젠테이션</vt:lpstr>
      <vt:lpstr>PowerPoint 프레젠테이션</vt:lpstr>
      <vt:lpstr>PowerPoint 프레젠테이션</vt:lpstr>
      <vt:lpstr>PowerPoint 프레젠테이션</vt:lpstr>
      <vt:lpstr>Development to deployment</vt:lpstr>
      <vt:lpstr>Development to deployment</vt:lpstr>
      <vt:lpstr>Runtime environments</vt:lpstr>
      <vt:lpstr>Runtime environments</vt:lpstr>
      <vt:lpstr>Container</vt:lpstr>
      <vt:lpstr>Benefits containers</vt:lpstr>
      <vt:lpstr>Machine learning deployment architecture M LO P S C O N C E P T S</vt:lpstr>
      <vt:lpstr>Microservices architecture</vt:lpstr>
      <vt:lpstr>PowerPoint 프레젠테이션</vt:lpstr>
      <vt:lpstr>PowerPoint 프레젠테이션</vt:lpstr>
      <vt:lpstr>PowerPoint 프레젠테이션</vt:lpstr>
      <vt:lpstr>Monolith vs. microservice architecture</vt:lpstr>
      <vt:lpstr>Monolith vs. microservice architecture</vt:lpstr>
      <vt:lpstr>Inferencing Inferencing is the process in which we send new input to the machine learning model and receive output from the model.</vt:lpstr>
      <vt:lpstr>Application Programming Interface (API)</vt:lpstr>
      <vt:lpstr>PowerPoint 프레젠테이션</vt:lpstr>
      <vt:lpstr>CI/CD pipeline</vt:lpstr>
      <vt:lpstr>CI/CD pipeline</vt:lpstr>
      <vt:lpstr>Continuous Integration</vt:lpstr>
      <vt:lpstr>Continuous Deployment</vt:lpstr>
      <vt:lpstr>Deployment strategies</vt:lpstr>
      <vt:lpstr>PowerPoint 프레젠테이션</vt:lpstr>
      <vt:lpstr>PowerPoint 프레젠테이션</vt:lpstr>
      <vt:lpstr>PowerPoint 프레젠테이션</vt:lpstr>
      <vt:lpstr>Deployment strategies</vt:lpstr>
      <vt:lpstr>Deployment strategies</vt:lpstr>
      <vt:lpstr>Automation and scaling M LO P S C O N C E P T S</vt:lpstr>
      <vt:lpstr>PowerPoint 프레젠테이션</vt:lpstr>
      <vt:lpstr>PowerPoint 프레젠테이션</vt:lpstr>
      <vt:lpstr>Automation and scaling</vt:lpstr>
      <vt:lpstr>Design phase</vt:lpstr>
      <vt:lpstr>Development phase</vt:lpstr>
      <vt:lpstr>Deployment phase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백우진</cp:lastModifiedBy>
  <cp:revision>13</cp:revision>
  <dcterms:created xsi:type="dcterms:W3CDTF">2025-01-14T04:20:08Z</dcterms:created>
  <dcterms:modified xsi:type="dcterms:W3CDTF">2025-01-14T09:15:37Z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2025-01-08T00:00:00Z</vt:filetime>
  </property>
  <property fmtid="{D5CDD505-2E9C-101B-9397-08002B2CF9AE}" pid="3" name="Creator">
    <vt:lpwstr>Chromium</vt:lpwstr>
  </property>
  <property fmtid="{D5CDD505-2E9C-101B-9397-08002B2CF9AE}" pid="4" name="LastSaved">
    <vt:filetime>2025-01-14T00:00:00Z</vt:filetime>
  </property>
  <property fmtid="{D5CDD505-2E9C-101B-9397-08002B2CF9AE}" pid="5" name="Producer">
    <vt:lpwstr>Skia/PDF m89</vt:lpwstr>
  </property>
</Properties>
</file>